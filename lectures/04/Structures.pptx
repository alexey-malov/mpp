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1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  <p:sldId id="275" r:id="rId20"/>
    <p:sldId id="273" r:id="rId21"/>
    <p:sldId id="276" r:id="rId22"/>
    <p:sldId id="277" r:id="rId23"/>
    <p:sldId id="278" r:id="rId24"/>
    <p:sldId id="279" r:id="rId25"/>
    <p:sldId id="280" r:id="rId26"/>
    <p:sldId id="282" r:id="rId27"/>
    <p:sldId id="281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8DDAECA6-E74B-49E0-8BBA-8C84DE2B26F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Структуры" id="{69EAB8C1-E7E9-4331-8F46-46BA6C05CC3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typedef" id="{A3D9D94F-5715-46FC-8A16-A420C14D73ED}">
          <p14:sldIdLst>
            <p14:sldId id="274"/>
            <p14:sldId id="272"/>
            <p14:sldId id="275"/>
            <p14:sldId id="273"/>
          </p14:sldIdLst>
        </p14:section>
        <p14:section name="Операции над стурктурами" id="{7CE943A5-502B-4B0B-8B69-3F182F5FCDE1}">
          <p14:sldIdLst>
            <p14:sldId id="276"/>
            <p14:sldId id="277"/>
            <p14:sldId id="278"/>
            <p14:sldId id="279"/>
            <p14:sldId id="280"/>
          </p14:sldIdLst>
        </p14:section>
        <p14:section name="Выравнивание" id="{225530A6-5E7D-4A61-A086-DAC2366EAD1F}">
          <p14:sldIdLst>
            <p14:sldId id="282"/>
            <p14:sldId id="281"/>
            <p14:sldId id="283"/>
            <p14:sldId id="284"/>
            <p14:sldId id="285"/>
            <p14:sldId id="286"/>
          </p14:sldIdLst>
        </p14:section>
        <p14:section name="Обработка структур в ассемблере" id="{74B78BA8-B4D6-4B54-821F-9DB1B981C2AA}">
          <p14:sldIdLst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651" autoAdjust="0"/>
  </p:normalViewPr>
  <p:slideViewPr>
    <p:cSldViewPr snapToGrid="0" showGuides="1">
      <p:cViewPr>
        <p:scale>
          <a:sx n="75" d="100"/>
          <a:sy n="75" d="100"/>
        </p:scale>
        <p:origin x="1872" y="47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84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100.52356" units="1/cm"/>
          <inkml:channelProperty channel="Y" name="resolution" value="50.23256" units="1/cm"/>
          <inkml:channelProperty channel="T" name="resolution" value="1" units="1/dev"/>
        </inkml:channelProperties>
      </inkml:inkSource>
      <inkml:timestamp xml:id="ts0" timeString="2026-02-28T08:25:37.01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4804 17531 0,'0'-60'63,"0"29"-63,60 31 16,-29-61-16,60 1 15,0-62-15,31 61 16,-31-60-16,61-1 15,0 31-15,-91 0 16,121 0-16,1-61 0,-62 30 16,-30 92-16,61-122 15,-30 61-15,-31-91 16,0 90-16,1-29 16,-32 60-16,123-60 15,-62 29-15,1 32 16,-61 29-16,91-60 15,-91 61-15,-31-31 16,61 31-16,-30-31 16,61 0-16,-31 0 15,-30 1 1,30-1-16,-30 0 16,30-60-16,0 121 15,0-61-15,-30 0 0,0 31 16,30-31-16,-61 30 31,-30 62 110,0 60-141,0 0 0,0 31 15,31 30-15,-1-61 16,-30 61-16,31-92 16,-1 62-16,0-1 15,1-29-15,60 90 16,-30 0-16,0-60 15,30 60-15,-61-30 16,31-30-16,0 60 16,0-91-16,-31 0 15,0 0-15,-30-60 16,0-1-16,31 0 16,-31 62-16,0-32 0,30-60 15,1 61-15,-1 61 16,-30-31-16,0-30 15,30-31 1,-30 31-16,0-31 16,0 0-1,0 1 79,-30-31-63,0 0-31,-31 0 16,-30 0-16,-31 0 16,-60-31-16,121 31 15,-91 0-15,-61-30 16,0 0-16,-30-1 15,30 31-15,0-30 16,31 0-16,0-1 16,-1 1-16,31 30 15,-30-31-15,30 31 16,-31 0-16,31-30 16,-60 0-16,60 30 0,-31 0 15,31 0-15,31 0 16,-31 0-16,60 0 15,1 0-15,0 0 16,0 0 0,0 60-16,60-60 15,-30 0-15,-30 31 16,30-31-16,-30 0 16,30 0-16,31 0 15,0 0-15,-1 0 16,1 0-16,-1 0 15,1 0-15,-31 0 16,31 0-16,-1 0 0,1 0 16,0 0-16,-31 0 15,30 0 1,31 30 0,-30-30 77,30-30-93,30-31 16,31 31-16</inkml:trace>
  <inkml:trace contextRef="#ctx0" brushRef="#br0" timeOffset="1757.7">11036 13430 0,'0'60'63,"-61"1"-48,61-30-15,0-1 16,0 0-16,-30 61 15,-1-30-15,31 0 16,0 30-16,0-30 0,-30 60 16,-1-29-16,1-1 15,30 30-15,-30-30 16,30 31-16,-31-92 16,31 61-16,-30 1 15,30-32-15,-31 62 16,31-31-16,-30 0 15,30-30-15,0 60 16,-30-90-16,-1 60 16,31 0-16,0-30 15,-30 0-15,30 30 16,0-30-16,-31-1 16,31 32-16,0-62 0,-30 0 15,30 61-15,0-60 16,0-1-16,0 31 15,0 0-15,0 0 16,-30-31-16,-1 0 16,31 31-16,0 0 15,0-31-15,0 1 16,0 29-16,0 1 16,-30-31-16,30 31 15,0 0-15,0 30 16,0-30-16,-31 30 15,31-30-15,0 30 16,0-30-16,0 0 16,0-1-16,0 1 0,0-31 15,0 31-15,-30 0 16,30 0-16,0 0 16,0 30-16,-30-61 15,30 92 1,0-92-16,0 31 15,0-31-15,0 31 16,0 0-16,-31-31 16,31 0-16,0 1 15,0 30 1,0-31-16,0 31 31,0-1-31,0-29 16,-30 30-1,30-31 1,0 0 0,0 1-1,0-1 1,-61-30 78,61-30-94,0-31 15,0 31 1</inkml:trace>
  <inkml:trace contextRef="#ctx0" brushRef="#br0" timeOffset="3750.29">8421 16346 0,'61'0'31,"-31"0"-15,122 0-16,-30 0 15,60 0-15,-121 0 16,30 0-16,31 0 16,30 0-16,30 0 15,-30 0-15,-91 0 16,91 0-16,61 0 16,0 0-16,30 0 15,0 0-15,1 0 16,-32 0-16,-181 0 15,-1 0 64,1 31-64,-1-1 63</inkml:trace>
  <inkml:trace contextRef="#ctx0" brushRef="#br0" timeOffset="4551.78">11401 15921 0,'790'304'0,"-760"-274"78,-30 1-62,-60-1-16,60 0 15,-31 1-15,-30-1 16,31 31-16,-61-61 16,91 30-16,-31-30 15,-29 31 1,29-31-1,-30 30-15,1 31 16,-1-31 0,30 31-1,31-31-15,0 1 16,0-1-16,0 31 16,31 0-1,30-61-15,-31 0 16</inkml:trace>
  <inkml:trace contextRef="#ctx0" brushRef="#br0" timeOffset="7838.81">11826 17410 0,'31'0'31,"-1"0"0,0-31-15,-30-29-1,61 60 1,-61-61 0,61 0-16,-61 31 15,61-31-15,-31 31 16,1-31 0,29 30-16,-60 1 0,31-31 15,-31 0 1,91 31-16,-61-31 15,-30 31 1,31-31 0,30 31-16,-61-1 15,0 1-15,30 0 16,0 30-16,-30-31 16,31-29-16,-1-1 15,1 30 1,-1 1-16,-30 0 15,30-1-15,1 1 16,-1-1 0,1-29-16,-31-1 31,30 61-31,-30-30 0,30-1 16,-30 1-16,31-92 15,-1 92-15,1-31 16,-31 31-16,30-1 15,0-29-15,31-1 16,-61 0-16,61 31 16,-61-1-1,0-30-15,0 31 16,61-31 0,-31 31-1,1-31-15,-1 31 16,0-1-16,62-29 15,-62 60-15,-30-61 16,0 31-16,30-1 16,-30-30-16,31 61 15,-31-60-15,30-1 16,-30 30 0,31 1-16,-1-31 15,-30 31 1,30-31 15,31 31-15,-30-31-1,-31 31 1,30 30-16,-30-31 31,30 1 79,-30-1-95,0 1-15,0 0 16,0-1 15,0 1 0,0 60 47,0 31-62,31 0-16,-1 0 16,1 30-16,-1 0 15,92 61-15,-1-31 16,-90-29-16,60-62 16,-30 91-16,30 1 15,-61-61-15,153 91 16,-183-61-16,152 30 15,-122-60-15,92 30 16,-62 0-16,62 1 16,-92-62-16,31 31 15,-30-1-15,60 1 16,0 0-16,-30 0 16,0 0-16,-1-31 0,32 31 15,-32-1-15,-60-29 16,31-31-16,-1 30 15,61 92-15,-60-122 16,-1 30-16,1-30 16,-1 30-16,0 1 15,123 121-15,-123-122 16,0-30-16,-30 31 16,31-31-16,-1 30 15,1-30-15,-31 30 16,60 1-1,-60-1 1,31-30 15,30 30-15,-31 1 0,-30-1-16,30 1 15,1-31 1,-31 30-16,30 0 15,1 1 1,-1-31 0,-30 30 15,30 1-15,-30-1-1,0 31 95,0-31-79,-30-30-31,0 0 15,-1 0 64,-30 0-64,1 0 1,-1 0-16,-30 0 15,30 0-15,0 0 16,-30 0-16,-1 0 16,1 0-16,0 61 15,30-61-15,-60 0 16,29 0-16,32 0 0,-32 30 16,-60-30-1,61 0-15,0 0 0,-31 0 16,1 0-16,60 31 15,-61-31-15,31 30 16,-30-30-16,60 0 16,-91 30-16,121-30 15,-90 0-15,60 0 16,31 0-16,-31 0 16,30 0-16,1 0 15,-92 0-15,92 0 16,-61 31-16,60-31 15,-29 0-15,29 0 16,1 0-16,-61 0 0,30 0 16,0 0-16,0 0 15,0 0 1,31 0-16,-31 0 0,0 0 16,31 0-1,0 30-15,-1-30 16,-30 0-1,31 0 1,0 0-16,-31 0 16,30 0-1,1 0 1,0 0 0,-1 0-16,-30 0 15,1 0-15,-1 0 16,0 0-1,31 0 1,-1 0 0,1 0-16,-1 0 15,-60-30 1,61 30-16,-31 0 16,31 0-16,-1 0 15,1 0 1,-1 0-1</inkml:trace>
  <inkml:trace contextRef="#ctx0" brushRef="#br0" timeOffset="13118.9">7813 10908 0,'31'0'47,"29"0"-32,32 0-15,29 0 16,62 0-16,-31 0 16,-92 0-16,62 0 0,60 0 15,-30 0 1,31 0-16,-31 0 0,-61 0 16,-61 0-16,31 0 15,-30 0-15,-1 0 16,0 0 31,1 0-32</inkml:trace>
  <inkml:trace contextRef="#ctx0" brushRef="#br0" timeOffset="14370.07">11644 10695 0,'30'0'0,"31"0"0,30 0 16,-30 0-16,-31 0 16,62 0-16,29 0 15,1 0-15,30 0 16,-31 0-16,1 31 15,30-1-15,-30-30 16,-1 61-16,1-61 0,30 30 16,0-30-16,-91 0 15,60 0-15,62 0 16,-31 30-16,-92-30 16,92 0-16,61 0 15,0 0-15,0 0 16,-61 0-16,0 0 15,0 0-15,-122 0 16,1 0-16,-1 0 16,0 0-16</inkml:trace>
  <inkml:trace contextRef="#ctx0" brushRef="#br0" timeOffset="20540.75">8239 10817 0,'0'30'31,"30"-30"-16,1 0-15,-1 0 16,92 0-16,-62 0 16,32 0-16,-1 0 15,61 0-15,-122 0 16,61 0-16,31 0 16,-31 0-16,0 0 0,-30 0 15,0 0-15,-31 0 16,31 0-16,0 0 15,0 0-15,-31 0 16,1 0-16,29 0 16,1 0-16,-30 0 15,-1 0-15</inkml:trace>
  <inkml:trace contextRef="#ctx0" brushRef="#br0" timeOffset="43892.38">8148 10999 0,'60'0'47,"32"0"-32,-1 0-15,0 0 0,-30 0 16,30 0-16,0 0 16,0 0-16,1 0 15,-1 0-15,0 0 16,-61 0-16,62 0 16,-62 0-16,31 0 15,30 0-15,-30 0 0,0 0 16,60 0-16,-30 0 15,31 0-15,-31 0 16,-60 0-16,-1 0 16,31 0-1,-61 30 110,-30-30-109,-1 0 15,31 61 0,-30-61 1</inkml:trace>
  <inkml:trace contextRef="#ctx0" brushRef="#br0" timeOffset="45396.73">11157 10847 0,'61'0'62,"0"-30"-46,0 30-16,30 0 16,-30 0-16,0 0 15,30 0-15,0 0 16,31 0-16,-1 0 16,1 0-16,30 0 15,-61 0-15,61 0 16,0 0-16,30 0 15,1 0-15,30 0 16,-31-31-16,0 1 16,1 0-16,-153 30 0,31-31 15,-31 31-15,1 0 32,-1 0-17,31 0 1,0 0-1,-31 0 1,61 0-16,1 0 16,-62 0-16,0 0 15,1 0 32,-1 0-31,1 0-1,-1 0 17,0 0-1,1 0-15,-1 0-16,1 0 15,29 0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C5F6CB-AE46-45F9-B39E-585F3F6F8600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A61BA5-818E-484C-847B-F07A631B46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782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3102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Начнём с полноценной программы, которая считывает координаты точки, а затем печатает их.</a:t>
            </a:r>
          </a:p>
          <a:p>
            <a:r>
              <a:rPr lang="ru-RU" dirty="0"/>
              <a:t>У нас есть две переменные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принимает два указателя, потому что должна изменить обе координаты. Она возвращает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в случае успеха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</a:t>
            </a:r>
            <a:r>
              <a:rPr lang="ru-RU" dirty="0"/>
              <a:t> при ошибке ввода.</a:t>
            </a:r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Объявляем две переменные.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Передаём их адреса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Проверяем код возврата.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Вызываем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PrintPoint</a:t>
            </a:r>
            <a:r>
              <a:rPr lang="ru-RU" dirty="0"/>
              <a:t>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Теперь важный вопрос: Где здесь точка? У нас нет типа "Point". У нас есть два независимых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r>
              <a:rPr lang="ru-RU" dirty="0"/>
              <a:t>И каждый раз мы обязаны: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помнить порядок аргументов,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передавать два значения,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поддерживать связь между ними вручную.</a:t>
            </a:r>
          </a:p>
          <a:p>
            <a:r>
              <a:rPr lang="ru-RU" dirty="0"/>
              <a:t>Это и есть проблема, которую мы будем решать дальше.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0670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88F7D-3F65-7619-8FDE-3821D5C83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000B8E-C6C5-7DCA-E7E8-A088F891A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AE797-9A8F-4076-B8B0-67CA9054E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представим, что точек несколько.</a:t>
            </a:r>
          </a:p>
          <a:p>
            <a:r>
              <a:rPr lang="ru-RU" dirty="0"/>
              <a:t>Мы создаём два массива: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массив координат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массив координат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endParaRPr lang="ru-RU" dirty="0"/>
          </a:p>
          <a:p>
            <a:r>
              <a:rPr lang="ru-RU" dirty="0"/>
              <a:t>Каждая i-я точка — это пара: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(x[i], y[i])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PrintPoints</a:t>
            </a:r>
            <a:r>
              <a:rPr lang="ru-RU" dirty="0"/>
              <a:t> принимает: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количество точек</a:t>
            </a:r>
          </a:p>
          <a:p>
            <a:r>
              <a:rPr lang="ru-RU" dirty="0"/>
              <a:t>И внутри цикла вызывает уже знакомую нам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PrintPoint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внимание:</a:t>
            </a:r>
          </a:p>
          <a:p>
            <a:r>
              <a:rPr lang="ru-RU" dirty="0"/>
              <a:t>Мы по-прежнему передаём два массива. Связь между ними держится только на том, что индексы совпадают.</a:t>
            </a:r>
          </a:p>
          <a:p>
            <a:r>
              <a:rPr lang="ru-RU" dirty="0"/>
              <a:t>Компилятор не знает,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x[i]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y[i]</a:t>
            </a:r>
            <a:r>
              <a:rPr lang="ru-RU" dirty="0"/>
              <a:t> — это одна точка. Это соглашение существует только в нашей голове.</a:t>
            </a:r>
          </a:p>
          <a:p>
            <a:endParaRPr lang="en-US" dirty="0"/>
          </a:p>
          <a:p>
            <a:r>
              <a:rPr lang="ru-RU" dirty="0"/>
              <a:t>И чем сложнее становится программа,</a:t>
            </a:r>
            <a:r>
              <a:rPr lang="en-US" dirty="0"/>
              <a:t> </a:t>
            </a:r>
            <a:r>
              <a:rPr lang="ru-RU" dirty="0"/>
              <a:t>тем выше риск, что это соглашение будет нарушено.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начинаем чувствовать, что модели данных не хватает выразительности.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E5BE62-D121-AF2D-3228-919460F1E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2445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20AAE-709A-8C8B-941B-23253A939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8021F-B4C4-E1B9-E314-89EB1C195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8E460C-77EF-C204-25F1-14CBC91BD5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рассмотрим один восьмиугольник. Он состоит из восьми точек, и мы снова используем два массива: один для координат x и один для координат y.</a:t>
            </a:r>
          </a:p>
          <a:p>
            <a:r>
              <a:rPr lang="ru-RU" dirty="0"/>
              <a:t>Функция </a:t>
            </a:r>
            <a:r>
              <a:rPr lang="ru-RU" dirty="0" err="1"/>
              <a:t>PrintOctagon</a:t>
            </a:r>
            <a:r>
              <a:rPr lang="ru-RU" dirty="0"/>
              <a:t> принимает оба массива и внутри цикла вызывает </a:t>
            </a:r>
            <a:r>
              <a:rPr lang="ru-RU" dirty="0" err="1"/>
              <a:t>PrintPoint</a:t>
            </a:r>
            <a:r>
              <a:rPr lang="ru-RU" dirty="0"/>
              <a:t> для каждой пары координат.</a:t>
            </a:r>
          </a:p>
          <a:p>
            <a:endParaRPr lang="ru-RU" dirty="0"/>
          </a:p>
          <a:p>
            <a:r>
              <a:rPr lang="ru-RU" dirty="0"/>
              <a:t>Обратите внимание, что восьмиугольник по-прежнему не является единой сущностью в языке. Мы вынуждены передавать два массива, и правильность работы программы зависит от того, что они согласованы по индексам.</a:t>
            </a:r>
          </a:p>
          <a:p>
            <a:endParaRPr lang="ru-RU" dirty="0"/>
          </a:p>
          <a:p>
            <a:r>
              <a:rPr lang="ru-RU" dirty="0"/>
              <a:t>Если по ошибке один массив окажется сдвинут или передан не тот порядок аргументов, компилятор этого не заметит.</a:t>
            </a:r>
            <a:endParaRPr lang="en-US" dirty="0"/>
          </a:p>
          <a:p>
            <a:endParaRPr lang="en-US" dirty="0"/>
          </a:p>
          <a:p>
            <a:r>
              <a:rPr lang="ru-RU" dirty="0"/>
              <a:t>Логически у нас есть геометрическая фигура, но в памяти она представлена как два независимых блока данных. Модель становится всё менее устойчивой по мере усложнения структуры.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0D1AA-7B62-A453-C719-7E9F6C680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9903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AC462-611D-657C-42E2-46A832F58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DB430-AB54-5971-B26F-79AA26AC90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0D3898-361A-5AF8-7F64-F47F1B42C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параметр функции выглядит более естественно: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x[][8]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y[][8]</a:t>
            </a:r>
            <a:r>
              <a:rPr lang="ru-RU" dirty="0"/>
              <a:t>. Мы фиксируем, что каждый восьмиугольник имеет 8 вершин, а количество фигур передаём отдельно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</a:t>
            </a:r>
            <a:r>
              <a:rPr lang="ru-RU" dirty="0"/>
              <a:t>.</a:t>
            </a:r>
          </a:p>
          <a:p>
            <a:r>
              <a:rPr lang="ru-RU" dirty="0"/>
              <a:t>Но концептуально проблема никуда не исчезла.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по-прежнему два независимых массива. Один хранит все координаты x, второй — все координаты y. Связь между ними поддерживается только совпадением индексов.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Чтобы передать один восьмиугольник, мы передаём два массива. Чтобы передать все восьмиугольники, мы снова передаём два массива. Если завтра у точки появится ещё одна координата, количество массивов снова увеличится.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Логическая структура задачи — «восьмиугольник состоит из точек» — никак не отражена в типах языка. И именно здесь становится очевидно, что нам нужен способ объединить связанные данные в единый объект памяти.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28AD8-AA2E-9199-CCBC-4C797BDBB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5664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FABB-7592-8015-9AE9-054E30552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6AA70-5CB0-E58C-2D83-CEC6F524B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92D661-E168-51B1-1F81-333DB9FE8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добавим ещё одно свойство — цвет восьмиугольника. Пусть это будет просто целое число.</a:t>
            </a:r>
          </a:p>
          <a:p>
            <a:endParaRPr lang="ru-RU" dirty="0"/>
          </a:p>
          <a:p>
            <a:r>
              <a:rPr lang="ru-RU" dirty="0"/>
              <a:t>Что произошло? Функция </a:t>
            </a:r>
            <a:r>
              <a:rPr lang="ru-RU" dirty="0" err="1"/>
              <a:t>PrintOctagon</a:t>
            </a:r>
            <a:r>
              <a:rPr lang="ru-RU" dirty="0"/>
              <a:t> теперь принимает три параметра: массив координат x, массив координат y и цвет. Функция </a:t>
            </a:r>
            <a:r>
              <a:rPr lang="ru-RU" dirty="0" err="1"/>
              <a:t>PrintAllOctagons</a:t>
            </a:r>
            <a:r>
              <a:rPr lang="ru-RU" dirty="0"/>
              <a:t> принимает уже три массива: координаты x, координаты y и массив цветов.</a:t>
            </a:r>
          </a:p>
          <a:p>
            <a:endParaRPr lang="ru-RU" dirty="0"/>
          </a:p>
          <a:p>
            <a:r>
              <a:rPr lang="ru-RU" dirty="0"/>
              <a:t>Каждый новый атрибут фигуры приводит к появлению нового массива и нового параметра.</a:t>
            </a:r>
          </a:p>
          <a:p>
            <a:r>
              <a:rPr lang="ru-RU" dirty="0"/>
              <a:t>Количество параметров растёт вместе со сложностью модели.</a:t>
            </a:r>
          </a:p>
          <a:p>
            <a:endParaRPr lang="ru-RU" dirty="0"/>
          </a:p>
          <a:p>
            <a:r>
              <a:rPr lang="ru-RU" dirty="0"/>
              <a:t>Связь между данными снова держится только на совпадении индексов. Цвет k-го восьмиугольника хранится в </a:t>
            </a:r>
            <a:r>
              <a:rPr lang="ru-RU" dirty="0" err="1"/>
              <a:t>colors</a:t>
            </a:r>
            <a:r>
              <a:rPr lang="ru-RU" dirty="0"/>
              <a:t>[k], его координаты — в x[k] и y[k]. Это соглашение не проверяется компилятором.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видим системную проблему: логически у нас есть фигура с набором свойств, но в памяти данные разорваны на параллельные массивы.</a:t>
            </a:r>
          </a:p>
          <a:p>
            <a:r>
              <a:rPr lang="ru-RU" dirty="0"/>
              <a:t>И вот теперь потребность в объединении данных становится совершенно естественной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A459E-D393-276F-8FFD-F1422EC29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743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Давайте подведём итог.</a:t>
            </a:r>
          </a:p>
          <a:p>
            <a:r>
              <a:rPr lang="ru-RU" dirty="0"/>
              <a:t>У нас нет типа «точка». Есть два </a:t>
            </a:r>
            <a:r>
              <a:rPr lang="ru-RU" dirty="0" err="1"/>
              <a:t>int</a:t>
            </a:r>
            <a:r>
              <a:rPr lang="ru-RU" dirty="0"/>
              <a:t>, которые мы договорились считать точкой.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нет типа «восьмиугольник». Есть несколько массивов, которые мы договорились считать фигурой.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Каждый раз, когда мы добавляем новое свойство — например, цвет — появляется новый массив и новый параметр в функциях. Интерфейсы усложняются.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Связь между данными поддерживается только совпадением индексов. Если перепутать массивы или передать их в неправильном порядке, компилятор не сможет нам помочь.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 самое главное — данные одного восьмиугольника физически лежат в разных областях памяти. Координаты x — в одном блоке, координаты y — в другом, цвета — в третьем.</a:t>
            </a:r>
          </a:p>
          <a:p>
            <a:r>
              <a:rPr lang="ru-RU" dirty="0"/>
              <a:t>Логически это одна фигура. В памяти — это несколько разрозненных массивов.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здесь возникает естественная потребность объединить связанные данные в один непрерывный блок памяти и дать этой сущности собственный тип.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254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Посмотрите внимательно на слайд. Здесь показано, как в памяти располагаются данные двух восьмиугольников, созданных нашей программой.</a:t>
            </a:r>
          </a:p>
          <a:p>
            <a:endParaRPr lang="ru-RU" dirty="0"/>
          </a:p>
          <a:p>
            <a:r>
              <a:rPr lang="ru-RU" dirty="0"/>
              <a:t>У нас есть три массива: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x[2][8]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y[2][8]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[2]</a:t>
            </a:r>
            <a:r>
              <a:rPr lang="ru-RU" dirty="0"/>
              <a:t>. В памяти это три независимых блока. Сначала идёт весь 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затем весь массив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затем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colors</a:t>
            </a:r>
            <a:r>
              <a:rPr lang="ru-RU" dirty="0"/>
              <a:t>. Они не образуют единого объекта «восьмиугольник». Это просто три разных области памяти.</a:t>
            </a:r>
          </a:p>
          <a:p>
            <a:endParaRPr lang="ru-RU" dirty="0"/>
          </a:p>
          <a:p>
            <a:r>
              <a:rPr lang="ru-RU" dirty="0"/>
              <a:t>Если мы хотим получить, например, вторую вершину первого восьмиугольника, мы берём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x[0][1]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y[0][1]</a:t>
            </a:r>
            <a:r>
              <a:rPr lang="ru-RU" dirty="0"/>
              <a:t>. Эти значения лежат в совершенно разных местах памяти. Они не соседствуют друг с другом физически. Чтобы получить точку, процессору нужно обратиться к двум разным областям.</a:t>
            </a:r>
          </a:p>
          <a:p>
            <a:endParaRPr lang="ru-RU" dirty="0"/>
          </a:p>
          <a:p>
            <a:r>
              <a:rPr lang="ru-RU" dirty="0"/>
              <a:t>Теперь попробуем мысленно ответить на вопрос Даши: «Помоги найти восьмиугольник». Где он? Его нельзя обвести одной рамкой в памяти. Его данные разбросаны: координаты x — в одном массиве, координаты y — в другом, цвет — в третьем.</a:t>
            </a:r>
          </a:p>
          <a:p>
            <a:endParaRPr lang="ru-RU" dirty="0"/>
          </a:p>
          <a:p>
            <a:r>
              <a:rPr lang="ru-RU" dirty="0"/>
              <a:t>Логически восьмиугольник — это единая фигура. В памяти — это три раздельных фрагмента. Даже одна точка одного восьмиугольника не является непрерывным блоком: её координаты лежат в двух разных массивах.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здесь становится очевидно, что наша текущая модель хранения данных не соответствует структуре задачи. Нам нужен способ объединить связанные данные так, чтобы один восьмиугольник занимал один непрерывный участок памяти. И это как раз то, что нам дадут структуры.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8087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— это способ объединить связанные данные в один тип.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массиве все элементы одного типа. В структуре — нет. Каждый член может иметь свой тип.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Главное: структура — это непрерывный участок памяти, внутри которого последовательно размещаются объекты-члены.</a:t>
            </a:r>
          </a:p>
          <a:p>
            <a:r>
              <a:rPr lang="ru-RU" dirty="0"/>
              <a:t>Это именно инструмент разметки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раньше мы хранили координаты и цвет в разных массивах, то теперь мы можем объединить их в один логический и физический блок.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3962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мы видим полный цикл работы со структурой.</a:t>
            </a:r>
          </a:p>
          <a:p>
            <a:endParaRPr lang="ru-RU" dirty="0"/>
          </a:p>
          <a:p>
            <a:r>
              <a:rPr lang="ru-RU" dirty="0"/>
              <a:t>Сначала объявляется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dirty="0"/>
              <a:t>. Затем создаётся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dirty="0"/>
              <a:t>. В этот момент в памяти выделяется один непрерывный блок, содержащий все поля структуры.</a:t>
            </a:r>
          </a:p>
          <a:p>
            <a:endParaRPr lang="ru-RU" dirty="0"/>
          </a:p>
          <a:p>
            <a:r>
              <a:rPr lang="ru-RU" dirty="0"/>
              <a:t>Прямой доступ к полям осуществляется через оператор точка. Мы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employee.salary</a:t>
            </a:r>
            <a:r>
              <a:rPr lang="ru-RU" dirty="0"/>
              <a:t>, и компилятор понимает, что нужно перейти к соответствующему смещению внутри структуры.</a:t>
            </a:r>
          </a:p>
          <a:p>
            <a:r>
              <a:rPr lang="ru-RU" dirty="0"/>
              <a:t>Далее мы создаём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employeePtr</a:t>
            </a:r>
            <a:r>
              <a:rPr lang="ru-RU" dirty="0"/>
              <a:t> и присваиваем ему адрес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у нас есть указатель на структуру, доступ к полям выполняется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. Это просто сокращённая запись для разыменования указателя с последующим обращением к полю.</a:t>
            </a:r>
          </a:p>
          <a:p>
            <a:endParaRPr lang="ru-RU" dirty="0"/>
          </a:p>
          <a:p>
            <a:r>
              <a:rPr lang="ru-RU" dirty="0"/>
              <a:t>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salary</a:t>
            </a:r>
            <a:r>
              <a:rPr lang="ru-RU" dirty="0"/>
              <a:t> полностью эквивалентна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salary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3431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Важно понимать, что структура в C — это не какая-то сложная сущность и не особый механизм хранения данных.</a:t>
            </a:r>
          </a:p>
          <a:p>
            <a:endParaRPr lang="ru-RU" dirty="0"/>
          </a:p>
          <a:p>
            <a:r>
              <a:rPr lang="ru-RU" dirty="0"/>
              <a:t>Когда мы объявляем: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компилятор просто выделяет </a:t>
            </a:r>
            <a:r>
              <a:rPr lang="ru-RU" b="1" dirty="0"/>
              <a:t>один непрерывный блок памяти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Внутри этого блока поля располагаются последовательно. Каждое поле занимает своё место и имеет фиксированное смещение от начала структуры.</a:t>
            </a:r>
          </a:p>
          <a:p>
            <a:endParaRPr lang="ru-RU" dirty="0"/>
          </a:p>
          <a:p>
            <a:r>
              <a:rPr lang="ru-RU" dirty="0"/>
              <a:t>Никакой дополнительной информации о полях во время выполнения программы не хранится. Нет скрытых таблиц, нет «описаний структуры» в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Имена полей нужны только компилятору. Во время выполнения программы остаются только байты.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employee.salary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компилятор заранее знает, на каком смещении внутри структуры находится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salary</a:t>
            </a:r>
            <a:r>
              <a:rPr lang="ru-RU" dirty="0"/>
              <a:t>, и генерирует обращение к памяти по этому смещению.</a:t>
            </a:r>
          </a:p>
          <a:p>
            <a:endParaRPr lang="en-US" dirty="0"/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salary</a:t>
            </a:r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происходит то же самое, только адрес структуры берётся из указателя.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структура — это просто способ описать, как данные расположены внутри одного непрерывного блока памяти. Всё сводится к адресам и смещениям.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935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применим структуры к нашей задаче.</a:t>
            </a:r>
          </a:p>
          <a:p>
            <a:endParaRPr lang="ru-RU" dirty="0"/>
          </a:p>
          <a:p>
            <a:r>
              <a:rPr lang="ru-RU" dirty="0"/>
              <a:t>Сначала мы объявляем структуру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Это просто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лежащие рядом в памяти.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занимает 4 байта, то одна точка занимает 8 байт: сначала 4 байта под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затем 4 байта под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 На рисунке слева это показано как два соседних блока.</a:t>
            </a:r>
          </a:p>
          <a:p>
            <a:endParaRPr lang="ru-RU" dirty="0"/>
          </a:p>
          <a:p>
            <a:r>
              <a:rPr lang="ru-RU" dirty="0"/>
              <a:t>Затем мы объявляем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dirty="0"/>
              <a:t>.</a:t>
            </a:r>
          </a:p>
          <a:p>
            <a:r>
              <a:rPr lang="ru-RU" dirty="0"/>
              <a:t>Внутри неё находятся:</a:t>
            </a:r>
            <a:br>
              <a:rPr lang="ru-RU" dirty="0"/>
            </a:br>
            <a:r>
              <a:rPr lang="ru-RU" dirty="0"/>
              <a:t>— массив из восьми структур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;</a:t>
            </a:r>
            <a:br>
              <a:rPr lang="ru-RU" dirty="0"/>
            </a:br>
            <a:r>
              <a:rPr lang="ru-RU" dirty="0"/>
              <a:t>—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Обратите внимание на важный момент: структура может содержать не только простые типы, но и массивы, и даже массивы других структур.</a:t>
            </a:r>
          </a:p>
          <a:p>
            <a:r>
              <a:rPr lang="ru-RU" dirty="0"/>
              <a:t>Посмотрим на правую часть рисунка. Там показано, как один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dirty="0"/>
              <a:t> располагается в памяти.</a:t>
            </a:r>
          </a:p>
          <a:p>
            <a:endParaRPr lang="ru-RU" dirty="0"/>
          </a:p>
          <a:p>
            <a:r>
              <a:rPr lang="ru-RU" dirty="0"/>
              <a:t>Смещения идут последовательно: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адресу 0x00 начинается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</a:t>
            </a:r>
            <a:r>
              <a:rPr lang="ru-RU" dirty="0"/>
              <a:t> — первая точка (8 байт),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адресу 0x08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адресу 0x10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[2]</a:t>
            </a:r>
            <a:r>
              <a:rPr lang="ru-RU" dirty="0"/>
              <a:t>,</a:t>
            </a:r>
            <a:br>
              <a:rPr lang="ru-RU" dirty="0"/>
            </a:br>
            <a:r>
              <a:rPr lang="ru-RU" dirty="0"/>
              <a:t>и так далее,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адресу 0x38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[7]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Каждая вершина занимает 8 байт, и все восемь точек идут подряд, без разрывов между ними.</a:t>
            </a:r>
          </a:p>
          <a:p>
            <a:r>
              <a:rPr lang="ru-RU" dirty="0"/>
              <a:t>После них, по адресу 0x40, располагается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ru-RU" dirty="0"/>
              <a:t>, которое занимает ещё 4 байта.</a:t>
            </a:r>
          </a:p>
          <a:p>
            <a:endParaRPr lang="ru-RU" dirty="0"/>
          </a:p>
          <a:p>
            <a:r>
              <a:rPr lang="ru-RU" dirty="0"/>
              <a:t>Таким образом, весь восьмиугольник занимает один непрерывный участок памяти: сначала 8 точек подряд, затем цвет.</a:t>
            </a:r>
          </a:p>
          <a:p>
            <a:r>
              <a:rPr lang="ru-RU" dirty="0"/>
              <a:t>Данные фигуры больше не разбросаны по разным массивам. Координаты и цвет одного восьмиугольника физически находятся рядом.</a:t>
            </a:r>
          </a:p>
          <a:p>
            <a:endParaRPr lang="ru-RU" dirty="0"/>
          </a:p>
          <a:p>
            <a:r>
              <a:rPr lang="ru-RU" dirty="0"/>
              <a:t>Логическая структура задачи теперь напрямую отражена в типах языка и в размещении данных в памяти. Это и есть основное преимущество структур: мы управляем форматом памяти так, чтобы он соответствовал смыслу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7622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Сначала мы объявляем типы структур вне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Это описание формата памяти. Пока мы только говорим компилятору, как должны выглядеть объекты этих типов.</a:t>
            </a:r>
          </a:p>
          <a:p>
            <a:r>
              <a:rPr lang="ru-RU" dirty="0"/>
              <a:t>Затем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создаём переменные и сразу инициализируем их.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Первая инициализация — простая структура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Значения в фигурных скобках соответствуют полям по порядку: сначала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затем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LineSegment</a:t>
            </a:r>
            <a:r>
              <a:rPr lang="ru-RU" dirty="0"/>
              <a:t> содержит две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Поэтому мы используем вложенные фигурные скобки: первая пара относится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</a:t>
            </a:r>
            <a:r>
              <a:rPr lang="ru-RU" dirty="0"/>
              <a:t>, вторая —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третьем примере внутри структуры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находится массив из трёх точек. Здесь мы видим уже два уровня вложенности: сначала скобки для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dirty="0"/>
              <a:t>, а внутри — три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инициализация повторяет форму данных в памяти. Компилятор просто последовательно заполняет поля и элементы массива в том порядке, в котором они объявлены в структуре.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314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 для полной нулевой инициализации используется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{0}</a:t>
            </a:r>
            <a:r>
              <a:rPr lang="ru-RU" dirty="0"/>
              <a:t>.</a:t>
            </a:r>
          </a:p>
          <a:p>
            <a:r>
              <a:rPr lang="ru-RU" dirty="0"/>
              <a:t>Это означает: первый элемент получает значение 0, а все остальные поля автоматически обнуляются. Это работает рекурсивно — для вложенных структур и массивов внутри структур.</a:t>
            </a:r>
          </a:p>
          <a:p>
            <a:endParaRPr lang="ru-RU" dirty="0"/>
          </a:p>
          <a:p>
            <a:r>
              <a:rPr lang="ru-RU" dirty="0"/>
              <a:t>При частичной инициализации значения перечисляются по порядку полей. Если мы указали меньше значений, чем элементов, оставшиеся автоматически заполняются нулями. Это поведение полностью совпадает с массивами.</a:t>
            </a:r>
          </a:p>
          <a:p>
            <a:endParaRPr lang="ru-RU" dirty="0"/>
          </a:p>
          <a:p>
            <a:r>
              <a:rPr lang="ru-RU" dirty="0"/>
              <a:t>Также обратите внимание на завершающие запятые. В C их можно ставить — это корректно и часто упрощает редактирование кода.</a:t>
            </a:r>
          </a:p>
          <a:p>
            <a:endParaRPr lang="ru-RU" dirty="0"/>
          </a:p>
          <a:p>
            <a:r>
              <a:rPr lang="ru-RU" dirty="0"/>
              <a:t>Таким образом, правила инициализации структур полностью согласованы с правилами инициализации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2153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 можно инициализировать поля структуры по имени — это называется </a:t>
            </a:r>
            <a:r>
              <a:rPr lang="ru-RU" dirty="0" err="1"/>
              <a:t>designated</a:t>
            </a:r>
            <a:r>
              <a:rPr lang="ru-RU" dirty="0"/>
              <a:t> </a:t>
            </a:r>
            <a:r>
              <a:rPr lang="ru-RU" dirty="0" err="1"/>
              <a:t>initializers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порядок перечисления полей </a:t>
            </a:r>
            <a:r>
              <a:rPr lang="ru-RU" b="1" dirty="0"/>
              <a:t>не обязан совпадать</a:t>
            </a:r>
            <a:r>
              <a:rPr lang="ru-RU" dirty="0"/>
              <a:t> с порядком их объявления в структуре. Мы можем писать поля в любом порядке, и компилятор корректно сопоставит значения с нужными смещениями внутри структуры.</a:t>
            </a:r>
          </a:p>
          <a:p>
            <a:endParaRPr lang="ru-RU" dirty="0"/>
          </a:p>
          <a:p>
            <a:r>
              <a:rPr lang="ru-RU" dirty="0"/>
              <a:t>Например, можно сначала задать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fuel</a:t>
            </a:r>
            <a:r>
              <a:rPr lang="ru-RU" dirty="0"/>
              <a:t>, потом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position</a:t>
            </a:r>
            <a:r>
              <a:rPr lang="ru-RU" dirty="0"/>
              <a:t>, потом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velocity</a:t>
            </a:r>
            <a:r>
              <a:rPr lang="ru-RU" dirty="0"/>
              <a:t> — это будет корректно.</a:t>
            </a:r>
          </a:p>
          <a:p>
            <a:r>
              <a:rPr lang="ru-RU" dirty="0"/>
              <a:t>Пропущенные поля автоматически инициализируются нулями, как и при обычной частичной инициализации.</a:t>
            </a:r>
          </a:p>
          <a:p>
            <a:endParaRPr lang="ru-RU" dirty="0"/>
          </a:p>
          <a:p>
            <a:r>
              <a:rPr lang="ru-RU" dirty="0"/>
              <a:t>Отмечу, что в C++ правила строже: там порядок </a:t>
            </a:r>
            <a:r>
              <a:rPr lang="ru-RU" dirty="0" err="1"/>
              <a:t>designated</a:t>
            </a:r>
            <a:r>
              <a:rPr lang="ru-RU" dirty="0"/>
              <a:t> </a:t>
            </a:r>
            <a:r>
              <a:rPr lang="ru-RU" dirty="0" err="1"/>
              <a:t>initializers</a:t>
            </a:r>
            <a:r>
              <a:rPr lang="ru-RU" dirty="0"/>
              <a:t> должен совпадать с порядком объявления полей. В C такого ограничения нет.</a:t>
            </a:r>
          </a:p>
          <a:p>
            <a:endParaRPr lang="ru-RU" dirty="0"/>
          </a:p>
          <a:p>
            <a:r>
              <a:rPr lang="ru-RU" dirty="0"/>
              <a:t>Тем не менее, на практике рекомендуется придерживаться порядка объявления полей даже в C. Это улучшает читаемость кода и делает структуру данных более понятной для того, кто будет читать программу позже.</a:t>
            </a:r>
          </a:p>
          <a:p>
            <a:endParaRPr lang="ru-RU" dirty="0"/>
          </a:p>
          <a:p>
            <a:r>
              <a:rPr lang="ru-RU" dirty="0"/>
              <a:t>И важно помнить: несмотря на удобный синтаксис, компилятор всё равно просто заполняет значения по фиксированным смещениям внутри одного непрерывного блока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11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инициализации структур можно использовать не только константы, но и произвольные выражения.</a:t>
            </a:r>
          </a:p>
          <a:p>
            <a:endParaRPr lang="ru-RU" dirty="0"/>
          </a:p>
          <a:p>
            <a:r>
              <a:rPr lang="ru-RU" dirty="0"/>
              <a:t>В примере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инициализируется выражением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* 2</a:t>
            </a:r>
            <a:r>
              <a:rPr lang="ru-RU" dirty="0"/>
              <a:t>. Это обычное вычисление во время выполнения программы.</a:t>
            </a:r>
          </a:p>
          <a:p>
            <a:r>
              <a:rPr lang="ru-RU" dirty="0"/>
              <a:t>Также можно использовать вызовы функций, как в примере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 ограничение: такие инициализации допустимы для автоматических переменных, то есть переменных внутри функций. Для глобальных и статических переменных стандарт C требует константные выражения.</a:t>
            </a:r>
          </a:p>
          <a:p>
            <a:endParaRPr lang="ru-RU" dirty="0"/>
          </a:p>
          <a:p>
            <a:r>
              <a:rPr lang="ru-RU" dirty="0"/>
              <a:t>Теперь важная тонкость. Стандарт C </a:t>
            </a:r>
            <a:r>
              <a:rPr lang="ru-RU" b="1" dirty="0"/>
              <a:t>не гарантирует порядок вычисления инициализаторов полей структуры</a:t>
            </a:r>
            <a:r>
              <a:rPr lang="ru-RU" dirty="0"/>
              <a:t>. Это означает, что если в инициализаторе вызываются функции, нельзя полагаться на то, что сначала будет вызвана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порядок важен, нужно выполнить вычисления отдельно, а затем использовать уже готовые значения в инициализации.</a:t>
            </a:r>
          </a:p>
          <a:p>
            <a:r>
              <a:rPr lang="ru-RU" dirty="0"/>
              <a:t>Это ещё один пример того, что структура — это просто способ заполнить непрерывный блок памяти значениями, а вычисление этих значений подчиняется общим правилам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71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25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Обратите внимание: при объявлении переменной мы обязаны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Point</a:t>
            </a:r>
            <a:r>
              <a:rPr lang="ru-RU" dirty="0"/>
              <a:t>, а не просто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</a:p>
          <a:p>
            <a:r>
              <a:rPr lang="ru-RU" dirty="0"/>
              <a:t>Почему так?</a:t>
            </a:r>
          </a:p>
          <a:p>
            <a:r>
              <a:rPr lang="ru-RU" dirty="0"/>
              <a:t>В языке C имя структуры и имя типа — это не одно и то же.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— это тег структуры.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Point</a:t>
            </a:r>
            <a:r>
              <a:rPr lang="ru-RU" dirty="0"/>
              <a:t> — это полноценное имя типа.</a:t>
            </a:r>
          </a:p>
          <a:p>
            <a:r>
              <a:rPr lang="ru-RU" dirty="0"/>
              <a:t>То есть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является частью имени типа.</a:t>
            </a:r>
          </a:p>
          <a:p>
            <a:endParaRPr lang="en-US" dirty="0"/>
          </a:p>
          <a:p>
            <a:r>
              <a:rPr lang="ru-RU" dirty="0"/>
              <a:t>Для встроенных типов,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никакого дополнительного ключевого слова писать не нужно. Но для структур — нужно.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историческая особенность языка C.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в реальном коде почти всегда используют другой приём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7424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позволяет создать новое имя для уже существующего типа.</a:t>
            </a:r>
          </a:p>
          <a:p>
            <a:r>
              <a:rPr lang="ru-RU" dirty="0"/>
              <a:t>Например: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Health;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Coord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Теперь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Health</a:t>
            </a:r>
            <a:r>
              <a:rPr lang="ru-RU" dirty="0"/>
              <a:t> — это просто другое имя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Coord</a:t>
            </a:r>
            <a:r>
              <a:rPr lang="ru-RU" dirty="0"/>
              <a:t> — другое имя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не создаёт новый тип в памяти. Это всего лишь синоним.</a:t>
            </a:r>
          </a:p>
          <a:p>
            <a:endParaRPr lang="ru-RU" dirty="0"/>
          </a:p>
          <a:p>
            <a:r>
              <a:rPr lang="ru-RU" dirty="0"/>
              <a:t>Далее мы используем эти имена в структуре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y;</a:t>
            </a:r>
            <a:r>
              <a:rPr lang="ru-RU" dirty="0"/>
              <a:t> мы пишем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Coord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x;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Coord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y;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 точки зрения памяти ничего не изменилось — это всё те 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Но код становится более выразительным. Мы явно показываем, что эти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используются как координаты.</a:t>
            </a:r>
          </a:p>
          <a:p>
            <a:endParaRPr lang="ru-RU" dirty="0"/>
          </a:p>
          <a:p>
            <a:r>
              <a:rPr lang="ru-RU" dirty="0"/>
              <a:t>В структуре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Warrior</a:t>
            </a:r>
            <a:r>
              <a:rPr lang="ru-RU" dirty="0"/>
              <a:t> мы используем структуру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Health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важное преимущество. Если позже мы решим, что здоровье должно храниться не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а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нам не нужно менять все структуры и функции. Достаточно изменить одну строку:</a:t>
            </a:r>
            <a:endParaRPr lang="en-US" dirty="0"/>
          </a:p>
          <a:p>
            <a:endParaRPr lang="ru-RU" dirty="0"/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Health;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И весь код автоматически начнёт использовать новый тип.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повышает гибкость программы. Он не меняет представление данных в памяти сам по себе, но позволяет централизованно управлять тем, какой реальный тип стоит за логическим именем.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403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Ранее мы объявляли структуру так: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Point {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y; };</a:t>
            </a:r>
          </a:p>
          <a:p>
            <a:r>
              <a:rPr lang="ru-RU" dirty="0"/>
              <a:t>И при использовании были вынуждены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и создаём полноценное имя типа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Ключевой момент: мы объявляем структуру и сразу создаём для неё синоним типа. После этого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становится обычным именем типа,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можно писать:</a:t>
            </a:r>
          </a:p>
          <a:p>
            <a:pPr rtl="0"/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 p;</a:t>
            </a:r>
          </a:p>
          <a:p>
            <a:r>
              <a:rPr lang="ru-RU" dirty="0"/>
              <a:t>без слова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точки зрения памяти ничего не изменилось. Структура по-прежнему описывает непрерывный блок, состоящий из двух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лишь добавляет удобное имя для этого типа.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наиболее распространённый стиль в современном C-коде. Он делает объявления короче и код — чище.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1816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Структуры можно копировать целиком с помощью оператора присваивания.</a:t>
            </a:r>
          </a:p>
          <a:p>
            <a:r>
              <a:rPr lang="ru-RU" dirty="0"/>
              <a:t>Когда мы пишем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p2 = p1;</a:t>
            </a:r>
            <a:r>
              <a:rPr lang="ru-RU" dirty="0"/>
              <a:t>, копируются все поля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Это побайтовое копирование всего блока памяти.</a:t>
            </a:r>
          </a:p>
          <a:p>
            <a:endParaRPr lang="ru-RU" dirty="0"/>
          </a:p>
          <a:p>
            <a:r>
              <a:rPr lang="ru-RU" dirty="0"/>
              <a:t>Теперь посмотрим на более сложный тип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. Он содержит массив из трёх структур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</a:p>
          <a:p>
            <a:r>
              <a:rPr lang="ru-RU" dirty="0"/>
              <a:t>Когда мы пишем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t2 = t1;</a:t>
            </a:r>
            <a:r>
              <a:rPr lang="ru-RU" dirty="0"/>
              <a:t>, копируется весь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, включая весь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dirty="0"/>
              <a:t>. То есть копируются все три точки.</a:t>
            </a:r>
          </a:p>
          <a:p>
            <a:endParaRPr lang="ru-RU" dirty="0"/>
          </a:p>
          <a:p>
            <a:r>
              <a:rPr lang="ru-RU" dirty="0"/>
              <a:t>Но мы можем копировать и части структуры.</a:t>
            </a:r>
          </a:p>
          <a:p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t2.vertices[0] = p1;</a:t>
            </a:r>
            <a:r>
              <a:rPr lang="ru-RU" dirty="0"/>
              <a:t> копирует одну точку в первую вершину треугольника.</a:t>
            </a:r>
          </a:p>
          <a:p>
            <a:r>
              <a:rPr lang="ru-RU" dirty="0"/>
              <a:t>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t2.vertices[1] = t1.vertices[2];</a:t>
            </a:r>
            <a:r>
              <a:rPr lang="ru-RU" dirty="0"/>
              <a:t> — копируем одну вершину из одного треугольника в другой.</a:t>
            </a:r>
          </a:p>
          <a:p>
            <a:endParaRPr lang="ru-RU" dirty="0"/>
          </a:p>
          <a:p>
            <a:r>
              <a:rPr lang="ru-RU" dirty="0"/>
              <a:t>Это возможно потому, что вложенные структуры — это такие же полноценные объекты, как и простые структуры.</a:t>
            </a:r>
          </a:p>
          <a:p>
            <a:r>
              <a:rPr lang="ru-RU" dirty="0"/>
              <a:t>Таким образом, структура — это агрегат, который можно копировать:</a:t>
            </a:r>
          </a:p>
          <a:p>
            <a:r>
              <a:rPr lang="ru-RU" dirty="0"/>
              <a:t>— целиком;</a:t>
            </a:r>
            <a:br>
              <a:rPr lang="ru-RU" dirty="0"/>
            </a:br>
            <a:r>
              <a:rPr lang="ru-RU" dirty="0"/>
              <a:t>— по частям;</a:t>
            </a:r>
            <a:br>
              <a:rPr lang="ru-RU" dirty="0"/>
            </a:br>
            <a:r>
              <a:rPr lang="ru-RU" dirty="0"/>
              <a:t>— на любом уровне вложенности.</a:t>
            </a:r>
          </a:p>
          <a:p>
            <a:r>
              <a:rPr lang="ru-RU" dirty="0"/>
              <a:t>И всё это работает через обычное присваивание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7046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структура передаётся в функцию по значению.</a:t>
            </a:r>
          </a:p>
          <a:p>
            <a:r>
              <a:rPr lang="ru-RU" dirty="0"/>
              <a:t>Это означает, что создаётся копия аргумента.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внутри функции — это отдельный объект.</a:t>
            </a:r>
          </a:p>
          <a:p>
            <a:r>
              <a:rPr lang="ru-RU" dirty="0"/>
              <a:t>Мы изменяем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но меняется только копия.</a:t>
            </a:r>
          </a:p>
          <a:p>
            <a:endParaRPr lang="ru-RU" dirty="0"/>
          </a:p>
          <a:p>
            <a:r>
              <a:rPr lang="ru-RU" dirty="0"/>
              <a:t>Затем функция возвращает новую структуру, и эта возвращённая копия присваивается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reflectedPoint</a:t>
            </a:r>
            <a:r>
              <a:rPr lang="ru-RU" dirty="0"/>
              <a:t>.</a:t>
            </a:r>
          </a:p>
          <a:p>
            <a:r>
              <a:rPr lang="ru-RU" dirty="0"/>
              <a:t>Исходная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остаётся неизменной.</a:t>
            </a:r>
          </a:p>
          <a:p>
            <a:endParaRPr lang="ru-RU" dirty="0"/>
          </a:p>
          <a:p>
            <a:r>
              <a:rPr lang="ru-RU" dirty="0"/>
              <a:t>Обратите внимание на важный момент: мы не только передаём структуру по значению, но и </a:t>
            </a:r>
            <a:r>
              <a:rPr lang="ru-RU" b="1" dirty="0"/>
              <a:t>возвращаем структуру по значению</a:t>
            </a:r>
            <a:r>
              <a:rPr lang="ru-RU" dirty="0"/>
              <a:t>.</a:t>
            </a:r>
          </a:p>
          <a:p>
            <a:r>
              <a:rPr lang="ru-RU" dirty="0"/>
              <a:t>Это принципиально отличается от массивов. Массивы в C нельзя возвращать из функции по значению и нельзя присваивать целиком. Структуры — можно.</a:t>
            </a:r>
          </a:p>
          <a:p>
            <a:endParaRPr lang="ru-RU" dirty="0"/>
          </a:p>
          <a:p>
            <a:r>
              <a:rPr lang="ru-RU" dirty="0"/>
              <a:t>Таким образом, структура ведёт себя как полноценный тип: её можно копировать, передавать в функцию и возвращать из функции.</a:t>
            </a:r>
          </a:p>
          <a:p>
            <a:endParaRPr lang="ru-RU" dirty="0"/>
          </a:p>
          <a:p>
            <a:r>
              <a:rPr lang="ru-RU" dirty="0"/>
              <a:t>И всё это — обычное копирование непрерывного блока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26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функция должна изменить структуру, её нужно передавать по указателю.</a:t>
            </a:r>
          </a:p>
          <a:p>
            <a:r>
              <a:rPr lang="ru-RU" dirty="0"/>
              <a:t>В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получает адрес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 Внутри функции мы обращаемся к полям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 и записываем данные непосредственно в исходный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мы передаём адрес структуры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случае копирования всей структуры не происходит. Функция работает с тем же участком памяти, который был создан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полностью аналогично работе с обычными переменными: если нужно изменить значение — передаём адрес.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1789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содержит массив из трёх точек.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HFlipTriangle</a:t>
            </a:r>
            <a:r>
              <a:rPr lang="ru-RU" dirty="0"/>
              <a:t> принимает структуру по значению. Это означает, что весь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, включая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dirty="0"/>
              <a:t>, копируется при входе в функцию.</a:t>
            </a:r>
          </a:p>
          <a:p>
            <a:r>
              <a:rPr lang="ru-RU" dirty="0"/>
              <a:t>Внутри функции мы изменяем координату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каждой вершины. Но изменяется копия.</a:t>
            </a:r>
            <a:endParaRPr lang="en-US" dirty="0"/>
          </a:p>
          <a:p>
            <a:r>
              <a:rPr lang="ru-RU" dirty="0"/>
              <a:t>Затем структура возвращается по значению. При возврате снова происходит копирование.</a:t>
            </a:r>
          </a:p>
          <a:p>
            <a:endParaRPr lang="en-US" dirty="0"/>
          </a:p>
          <a:p>
            <a:r>
              <a:rPr lang="ru-RU" dirty="0"/>
              <a:t>Таким образом, в строке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flipped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HFlipTriangle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(t1);</a:t>
            </a:r>
          </a:p>
          <a:p>
            <a:r>
              <a:rPr lang="ru-RU" dirty="0"/>
              <a:t>происходит два копирования: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Копирование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t1</a:t>
            </a:r>
            <a:r>
              <a:rPr lang="ru-RU" dirty="0"/>
              <a:t> при передаче в функцию.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Копирование результата при возврате.</a:t>
            </a:r>
          </a:p>
          <a:p>
            <a:r>
              <a:rPr lang="ru-RU" dirty="0"/>
              <a:t>При этом исходный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t1</a:t>
            </a:r>
            <a:r>
              <a:rPr lang="ru-RU" dirty="0"/>
              <a:t> остаётся неизменным.</a:t>
            </a:r>
          </a:p>
          <a:p>
            <a:endParaRPr lang="en-US" dirty="0"/>
          </a:p>
          <a:p>
            <a:r>
              <a:rPr lang="ru-RU" dirty="0"/>
              <a:t>А в строке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t2 = t1;</a:t>
            </a:r>
          </a:p>
          <a:p>
            <a:r>
              <a:rPr lang="ru-RU" dirty="0"/>
              <a:t>происходит копирование всей структуры, включая весь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важный момент: если структура содержит массив, то при присваивании, передаче по значению и возврате из функции копируется всё содержимое массива.</a:t>
            </a:r>
          </a:p>
          <a:p>
            <a:endParaRPr lang="en-US" dirty="0"/>
          </a:p>
          <a:p>
            <a:r>
              <a:rPr lang="ru-RU" dirty="0"/>
              <a:t>В отличие от массивов, которые нельзя присваивать напрямую, массив внутри структуры копируется автоматически вместе со всей структурой.</a:t>
            </a:r>
          </a:p>
          <a:p>
            <a:endParaRPr lang="en-US" dirty="0"/>
          </a:p>
          <a:p>
            <a:r>
              <a:rPr lang="ru-RU" dirty="0"/>
              <a:t>Это очень мощная возможность. Мы можем строить сложные агрегаты и работать с ними как с единым объектом.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93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Напомним, как устроена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Она содержит массив из восьми точек и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ru-RU" dirty="0"/>
              <a:t>. Если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занимает 8 байт (два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по 4 байта), 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vertices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[8]</a:t>
            </a:r>
            <a:r>
              <a:rPr lang="ru-RU" dirty="0"/>
              <a:t> занимает 64 байта. Плюс 4 байта на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color</a:t>
            </a:r>
            <a:r>
              <a:rPr lang="ru-RU" dirty="0"/>
              <a:t>. В сумме получаем 68 байт. Именно это и выводит программа: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 68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bytes</a:t>
            </a:r>
            <a:r>
              <a:rPr lang="ru-RU" dirty="0"/>
              <a:t>. На некоторых платформах размер может отличаться из-за выравнивания, но порядок величины остаётся тем же.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Теперь посмотрим на передачу в функцию.</a:t>
            </a:r>
          </a:p>
          <a:p>
            <a:endParaRPr lang="en-US" dirty="0"/>
          </a:p>
          <a:p>
            <a:r>
              <a:rPr lang="ru-RU" dirty="0"/>
              <a:t>В варианте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o)</a:t>
            </a:r>
          </a:p>
          <a:p>
            <a:r>
              <a:rPr lang="ru-RU" dirty="0"/>
              <a:t>структура передаётся по значению. Это означает, что копируется весь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dirty="0"/>
              <a:t>, то есть все 68 байт. Если таких вызовов много, копирование может стать заметным.</a:t>
            </a:r>
          </a:p>
          <a:p>
            <a:endParaRPr lang="en-US" dirty="0"/>
          </a:p>
          <a:p>
            <a:r>
              <a:rPr lang="ru-RU" dirty="0"/>
              <a:t>Во втором варианте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ProcessOctagonConst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o)</a:t>
            </a:r>
          </a:p>
          <a:p>
            <a:r>
              <a:rPr lang="ru-RU" dirty="0"/>
              <a:t>мы передаём структуру </a:t>
            </a:r>
            <a:r>
              <a:rPr lang="ru-RU" b="1" dirty="0"/>
              <a:t>по указателю на константные данные</a:t>
            </a:r>
            <a:r>
              <a:rPr lang="ru-RU" dirty="0"/>
              <a:t>. Копирования всей структуры не происходит — передаётся только адрес. При этом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гарантирует, что функция не сможет изменить содержимое структуры.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Важно различать: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o</a:t>
            </a:r>
            <a:r>
              <a:rPr lang="ru-RU" dirty="0"/>
              <a:t> — это указатель на константные данные;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o</a:t>
            </a:r>
            <a:r>
              <a:rPr lang="ru-RU" dirty="0"/>
              <a:t> — это константный указатель.</a:t>
            </a:r>
          </a:p>
          <a:p>
            <a:r>
              <a:rPr lang="ru-RU" dirty="0"/>
              <a:t>В нашем случае мы хотим запретить изменение данных, поэтому используем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современных процессорах структуры размером примерно до 16–32 байт часто передаются достаточно эффективно, иногда через регистры. Но более крупные структуры, такие как наш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Octagon</a:t>
            </a:r>
            <a:r>
              <a:rPr lang="ru-RU" dirty="0"/>
              <a:t>, обычно передаются через стек с копированием всей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правило практики такое:</a:t>
            </a:r>
          </a:p>
          <a:p>
            <a:r>
              <a:rPr lang="ru-RU" dirty="0"/>
              <a:t>— небольшие структуры можно спокойно передавать по значению;</a:t>
            </a:r>
            <a:br>
              <a:rPr lang="ru-RU" dirty="0"/>
            </a:br>
            <a:r>
              <a:rPr lang="ru-RU" dirty="0"/>
              <a:t>— большие структуры лучше передавать по указателю на константные данные, если их не нужно изменять.</a:t>
            </a:r>
          </a:p>
          <a:p>
            <a:endParaRPr lang="en-US" dirty="0"/>
          </a:p>
          <a:p>
            <a:r>
              <a:rPr lang="ru-RU" dirty="0"/>
              <a:t>Это инженерный баланс между удобством кода и производительностью.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3177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5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Процессор может работать с памятью не только как с набором отдельных байтов, но и как с более крупными блоками — например по 2, 4 или 8 байт за одну операцию.</a:t>
            </a:r>
          </a:p>
          <a:p>
            <a:endParaRPr lang="ru-RU" dirty="0"/>
          </a:p>
          <a:p>
            <a:r>
              <a:rPr lang="ru-RU" dirty="0"/>
              <a:t>Для многих типов данных,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процессору удобнее, когда адрес значения кратен размеру такого блока. Например, если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занимает 4 байта, то желательно, чтобы его адрес был кратен 4.</a:t>
            </a:r>
          </a:p>
          <a:p>
            <a:endParaRPr lang="ru-RU" dirty="0"/>
          </a:p>
          <a:p>
            <a:r>
              <a:rPr lang="ru-RU" dirty="0"/>
              <a:t>На некоторых архитектурах чтение или запись по </a:t>
            </a:r>
            <a:r>
              <a:rPr lang="ru-RU" dirty="0" err="1"/>
              <a:t>невыровненному</a:t>
            </a:r>
            <a:r>
              <a:rPr lang="ru-RU" dirty="0"/>
              <a:t> адресу может быть просто медленнее. На других — может привести к аппаратному исключению и остановке программы.</a:t>
            </a:r>
          </a:p>
          <a:p>
            <a:endParaRPr lang="ru-RU" dirty="0"/>
          </a:p>
          <a:p>
            <a:r>
              <a:rPr lang="ru-RU" dirty="0"/>
              <a:t>В языке C для каждого встроенного типа существуют требования к выравниванию. Формально, доступ к объекту по адресу, который не удовлетворяет его требованиям выравнивания, считается неопределённым поведением.</a:t>
            </a:r>
          </a:p>
          <a:p>
            <a:endParaRPr lang="ru-RU" dirty="0"/>
          </a:p>
          <a:p>
            <a:r>
              <a:rPr lang="ru-RU" dirty="0"/>
              <a:t>Когда компилятор размещает обычные переменные в памяти, он сам следит за тем, чтобы их адреса удовлетворяли требованиям выравнивания.</a:t>
            </a:r>
          </a:p>
          <a:p>
            <a:endParaRPr lang="ru-RU" dirty="0"/>
          </a:p>
          <a:p>
            <a:r>
              <a:rPr lang="ru-RU" dirty="0"/>
              <a:t>Однако структуры позволяют программисту создавать собственные типы данных. Поля внутри структуры тоже должны быть размещены так, чтобы соблюдались требования выравнивания каждого поля.</a:t>
            </a:r>
          </a:p>
          <a:p>
            <a:endParaRPr lang="ru-RU" dirty="0"/>
          </a:p>
          <a:p>
            <a:r>
              <a:rPr lang="ru-RU" dirty="0"/>
              <a:t>Чтобы этого добиться, компилятор может вставлять между полями несколько неиспользуемых байтов. Эти байты называются </a:t>
            </a:r>
            <a:r>
              <a:rPr lang="ru-RU" dirty="0" err="1"/>
              <a:t>padding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Отсюда важное следствие: размер структуры, который показывает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, может быть больше, чем сумма размеров всех её полей.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10988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Начнём с примера, где всё “честно”.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обычно выравниваются на 4, и компилятору не нужно вставлять </a:t>
            </a:r>
            <a:r>
              <a:rPr lang="ru-RU" dirty="0" err="1"/>
              <a:t>padding</a:t>
            </a:r>
            <a:r>
              <a:rPr lang="ru-RU" dirty="0"/>
              <a:t>. Это хороший базовый случай перед тем, как показывать, когда возникают “дыры”.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1242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dirty="0"/>
              <a:t> содержит два поля: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grade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на большинстве современных платформ — 4 байта.</a:t>
            </a:r>
            <a:br>
              <a:rPr lang="ru-RU" dirty="0"/>
            </a:br>
            <a:r>
              <a:rPr lang="ru-RU" dirty="0"/>
              <a:t>Размер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всегда равен 1 байту.</a:t>
            </a:r>
          </a:p>
          <a:p>
            <a:r>
              <a:rPr lang="ru-RU" dirty="0"/>
              <a:t>Если просто сложить размеры полей, мы получим: 4 + 1 = 5 байт.</a:t>
            </a:r>
          </a:p>
          <a:p>
            <a:endParaRPr lang="en-US" dirty="0"/>
          </a:p>
          <a:p>
            <a:r>
              <a:rPr lang="ru-RU" dirty="0"/>
              <a:t>Но программа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равен 8 байтам.</a:t>
            </a:r>
          </a:p>
          <a:p>
            <a:r>
              <a:rPr lang="ru-RU" dirty="0"/>
              <a:t>Почему так происходит?</a:t>
            </a:r>
          </a:p>
          <a:p>
            <a:endParaRPr lang="en-US" dirty="0"/>
          </a:p>
          <a:p>
            <a:r>
              <a:rPr lang="ru-RU" dirty="0"/>
              <a:t>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 занимает 4 байта и размещается по адресу, кратному 4 — всё в порядке.</a:t>
            </a:r>
          </a:p>
          <a:p>
            <a:r>
              <a:rPr lang="ru-RU" dirty="0"/>
              <a:t>Следом идёт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grade</a:t>
            </a:r>
            <a:r>
              <a:rPr lang="ru-RU" dirty="0"/>
              <a:t>, которое занимает 1 байт. После него структура пока занимает 5 байт.</a:t>
            </a:r>
          </a:p>
          <a:p>
            <a:r>
              <a:rPr lang="ru-RU" dirty="0"/>
              <a:t>Но теперь важный момент: компилятор должен обеспечить корректное выравнивание всей структуры. Размер структуры обычно округляется до кратности максимального требования выравнивания её полей. В данном случае самое строгое требование —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то есть 4 байта.</a:t>
            </a:r>
          </a:p>
          <a:p>
            <a:endParaRPr lang="en-US" dirty="0"/>
          </a:p>
          <a:p>
            <a:r>
              <a:rPr lang="ru-RU" dirty="0"/>
              <a:t>Чтобы массив таких структур работал корректно, каждый следующий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Employee</a:t>
            </a:r>
            <a:r>
              <a:rPr lang="ru-RU" dirty="0"/>
              <a:t> должен начинаться с адреса, кратного 4.</a:t>
            </a:r>
          </a:p>
          <a:p>
            <a:endParaRPr lang="en-US" dirty="0"/>
          </a:p>
          <a:p>
            <a:r>
              <a:rPr lang="ru-RU" dirty="0"/>
              <a:t>Поэтому компилятор добавляет в конец структуры 3 байта </a:t>
            </a:r>
            <a:r>
              <a:rPr lang="ru-RU" dirty="0" err="1"/>
              <a:t>padding</a:t>
            </a:r>
            <a:r>
              <a:rPr lang="ru-RU" dirty="0"/>
              <a:t>.</a:t>
            </a:r>
          </a:p>
          <a:p>
            <a:r>
              <a:rPr lang="ru-RU" dirty="0"/>
              <a:t>В итоге структура занимает 8 байт, а не 5.</a:t>
            </a:r>
          </a:p>
          <a:p>
            <a:endParaRPr lang="en-US" dirty="0"/>
          </a:p>
          <a:p>
            <a:r>
              <a:rPr lang="ru-RU" dirty="0"/>
              <a:t>Эти дополнительные байты никак не используются программой, но они необходимы для соблюдения правил выравнивания.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7369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как порядок полей влияет на размер структуры.</a:t>
            </a:r>
          </a:p>
          <a:p>
            <a:r>
              <a:rPr lang="ru-RU" dirty="0"/>
              <a:t>В первой структуре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</a:t>
            </a:r>
            <a:r>
              <a:rPr lang="ru-RU" dirty="0"/>
              <a:t> поля объявлены в порядке: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</a:t>
            </a:r>
            <a:r>
              <a:rPr lang="ru-RU" dirty="0"/>
              <a:t>.</a:t>
            </a:r>
          </a:p>
          <a:p>
            <a:r>
              <a:rPr lang="ru-RU" dirty="0"/>
              <a:t>Посмотрим на размещение в памяти.</a:t>
            </a:r>
          </a:p>
          <a:p>
            <a:endParaRPr lang="ru-RU" dirty="0"/>
          </a:p>
          <a:p>
            <a:r>
              <a:rPr lang="ru-RU" dirty="0"/>
              <a:t>Сначала идёт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</a:t>
            </a:r>
            <a:r>
              <a:rPr lang="ru-RU" dirty="0"/>
              <a:t> — он занимает 1 байт.</a:t>
            </a:r>
            <a:br>
              <a:rPr lang="ru-RU" dirty="0"/>
            </a:br>
            <a:r>
              <a:rPr lang="ru-RU" dirty="0"/>
              <a:t>Далее должен идти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</a:t>
            </a:r>
            <a:r>
              <a:rPr lang="ru-RU" dirty="0"/>
              <a:t>, которому обычно требуется выравнивание по 4 байта. Но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текущий адрес не кратен 4, поэтому компилятор вставляет 3 байта </a:t>
            </a:r>
            <a:r>
              <a:rPr lang="ru-RU" dirty="0" err="1"/>
              <a:t>padding</a:t>
            </a:r>
            <a:r>
              <a:rPr lang="ru-RU" dirty="0"/>
              <a:t>.</a:t>
            </a:r>
          </a:p>
          <a:p>
            <a:r>
              <a:rPr lang="ru-RU" dirty="0"/>
              <a:t>Затем размещается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</a:t>
            </a:r>
            <a:r>
              <a:rPr lang="ru-RU" dirty="0"/>
              <a:t> — 4 байта.</a:t>
            </a:r>
          </a:p>
          <a:p>
            <a:r>
              <a:rPr lang="ru-RU" dirty="0"/>
              <a:t>После него идёт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</a:t>
            </a:r>
            <a:r>
              <a:rPr lang="ru-RU" dirty="0"/>
              <a:t> — ещё 1 байт.</a:t>
            </a:r>
          </a:p>
          <a:p>
            <a:endParaRPr lang="ru-RU" dirty="0"/>
          </a:p>
          <a:p>
            <a:r>
              <a:rPr lang="ru-RU" dirty="0"/>
              <a:t>Но теперь вся структура должна иметь размер, кратный 4, потому что самое строгое требование выравнивания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d</a:t>
            </a:r>
            <a:r>
              <a:rPr lang="ru-RU" dirty="0"/>
              <a:t> компилятор снова добавляет 3 байта </a:t>
            </a:r>
            <a:r>
              <a:rPr lang="ru-RU" dirty="0" err="1"/>
              <a:t>padding</a:t>
            </a:r>
            <a:r>
              <a:rPr lang="ru-RU" dirty="0"/>
              <a:t> в конце.</a:t>
            </a:r>
          </a:p>
          <a:p>
            <a:r>
              <a:rPr lang="ru-RU" dirty="0"/>
              <a:t>В итоге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Bad</a:t>
            </a:r>
            <a:r>
              <a:rPr lang="ru-RU" dirty="0"/>
              <a:t> занимает 12 байт.</a:t>
            </a:r>
          </a:p>
          <a:p>
            <a:endParaRPr lang="ru-RU" dirty="0"/>
          </a:p>
          <a:p>
            <a:r>
              <a:rPr lang="ru-RU" dirty="0"/>
              <a:t>Теперь посмотрим на структуру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</a:t>
            </a:r>
            <a:r>
              <a:rPr lang="ru-RU" dirty="0"/>
              <a:t>, где поля переставлены: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</a:t>
            </a:r>
            <a:r>
              <a:rPr lang="ru-RU" dirty="0"/>
              <a:t>, затем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Сначала размещается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— 4 байта, всё выровнено.</a:t>
            </a:r>
          </a:p>
          <a:p>
            <a:r>
              <a:rPr lang="ru-RU" dirty="0"/>
              <a:t>Затем идут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которые занимают по одному байту. После них суммарный размер — 6 байт.</a:t>
            </a:r>
          </a:p>
          <a:p>
            <a:r>
              <a:rPr lang="ru-RU" dirty="0"/>
              <a:t>Чтобы обеспечить выравнивание всей структуры, компилятор добавляет 2 байта </a:t>
            </a:r>
            <a:r>
              <a:rPr lang="ru-RU" dirty="0" err="1"/>
              <a:t>padding</a:t>
            </a:r>
            <a:r>
              <a:rPr lang="ru-RU" dirty="0"/>
              <a:t> в конце, чтобы итоговый размер стал кратен 4.</a:t>
            </a:r>
          </a:p>
          <a:p>
            <a:r>
              <a:rPr lang="ru-RU" dirty="0"/>
              <a:t>В результате структура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</a:t>
            </a:r>
            <a:r>
              <a:rPr lang="ru-RU" dirty="0"/>
              <a:t> занимает 8 байт вместо 12.</a:t>
            </a:r>
          </a:p>
          <a:p>
            <a:endParaRPr lang="ru-RU" dirty="0"/>
          </a:p>
          <a:p>
            <a:r>
              <a:rPr lang="ru-RU" dirty="0"/>
              <a:t>Мы ничего не меняли в типах полей — изменился только порядок объявления. Но экономия составила 4 байта на одну структуру.</a:t>
            </a:r>
          </a:p>
          <a:p>
            <a:r>
              <a:rPr lang="ru-RU" dirty="0"/>
              <a:t>Если таких структур миллион, это уже 4 мегабайта памяти.</a:t>
            </a:r>
          </a:p>
          <a:p>
            <a:endParaRPr lang="ru-RU" dirty="0"/>
          </a:p>
          <a:p>
            <a:r>
              <a:rPr lang="ru-RU" dirty="0"/>
              <a:t>Вывод простой: порядок полей влияет на размер структуры. Обычно разумно группировать поля по убыванию размера или требований к выравниванию, чтобы уменьшить количество </a:t>
            </a:r>
            <a:r>
              <a:rPr lang="ru-RU" dirty="0" err="1"/>
              <a:t>padding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3607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говорили, что структура — это непрерывный блок памяти, а поля располагаются по определённым смещениям.</a:t>
            </a:r>
          </a:p>
          <a:p>
            <a:r>
              <a:rPr lang="ru-RU" dirty="0"/>
              <a:t>Теперь посмотрим, как это можно измерить.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alignof</a:t>
            </a:r>
            <a:r>
              <a:rPr lang="ru-RU" dirty="0"/>
              <a:t> (начиная с C11) возвращает требование к выравниванию типа. В нашем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alignof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обычно равен 4, потому что самое строгое требование выравнивания у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Макрос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offsetof</a:t>
            </a:r>
            <a:r>
              <a:rPr lang="ru-RU" dirty="0"/>
              <a:t>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stddef.h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возвращает смещение поля от начала структуры.</a:t>
            </a:r>
          </a:p>
          <a:p>
            <a:r>
              <a:rPr lang="ru-RU" dirty="0"/>
              <a:t>Из вывода видно: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начинается с байта 0,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 начинается с байта 4,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</a:t>
            </a:r>
            <a:r>
              <a:rPr lang="ru-RU" dirty="0"/>
              <a:t> начинается с байта 8.</a:t>
            </a:r>
          </a:p>
          <a:p>
            <a:r>
              <a:rPr lang="ru-RU" dirty="0"/>
              <a:t>Между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 появились 3 байта </a:t>
            </a:r>
            <a:r>
              <a:rPr lang="ru-RU" dirty="0" err="1"/>
              <a:t>padding</a:t>
            </a:r>
            <a:r>
              <a:rPr lang="ru-RU" dirty="0"/>
              <a:t>, чтобы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 начинался по адресу, кратному 4.</a:t>
            </a:r>
          </a:p>
          <a:p>
            <a:r>
              <a:rPr lang="ru-RU" dirty="0"/>
              <a:t>После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</a:t>
            </a:r>
            <a:r>
              <a:rPr lang="ru-RU" dirty="0"/>
              <a:t> компилятор добавил ещё 3 байта </a:t>
            </a:r>
            <a:r>
              <a:rPr lang="ru-RU" dirty="0" err="1"/>
              <a:t>padding</a:t>
            </a:r>
            <a:r>
              <a:rPr lang="ru-RU" dirty="0"/>
              <a:t>, чтобы общий размер структуры стал кратен 4.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равен 12.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мы можем экспериментально подтвердить: структура = база + фиксированные смещения полей + возможный </a:t>
            </a:r>
            <a:r>
              <a:rPr lang="ru-RU" dirty="0" err="1"/>
              <a:t>padding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147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645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3505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Посмотрим внимательно на ассемблерный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Напомню, что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— это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то есть 8 байт. В ABI x86-64 такие небольшие структуры передаются и возвращаются через регистры. Поэтому первый аргумент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</a:t>
            </a:r>
            <a:r>
              <a:rPr lang="ru-RU" dirty="0"/>
              <a:t> приходит в регистре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rdi</a:t>
            </a:r>
            <a:r>
              <a:rPr lang="ru-RU" dirty="0"/>
              <a:t>, второй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rsi</a:t>
            </a:r>
            <a:r>
              <a:rPr lang="ru-RU" dirty="0"/>
              <a:t>, а результат возвращается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Первые две инструкции загружают оба аргумента в SIMD-регистры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xmm0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xmm2</a:t>
            </a:r>
            <a:r>
              <a:rPr lang="ru-RU" dirty="0"/>
              <a:t>. Несмотря на то что мы писали обычный C-код, компилятор решил использовать векторные инструкции.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paddd</a:t>
            </a:r>
            <a:r>
              <a:rPr lang="ru-RU" dirty="0"/>
              <a:t> выполняет попарное сложение двух 32-битных чисел внутри регистра. То есть одновременно вычисляются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(x1 + x2)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(y1 + y2)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выполняется корректное деление на 2. Просто сделать арифметический сдвиг вправо недостаточно, потому что для отрицательных чисел нужно корректное округление. Поэтому сначала извлекается знаковый бит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psrld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xmm1, 31</a:t>
            </a:r>
            <a:r>
              <a:rPr lang="ru-RU" dirty="0"/>
              <a:t>), затем он прибавляется к сумме, и только после этого выполняется арифметический сдвиг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psrad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xmm0, 1</a:t>
            </a:r>
            <a:r>
              <a:rPr lang="ru-RU" dirty="0"/>
              <a:t>).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итоге обе координаты обрабатываются одновременно как вектор из двух 32-битных чисел.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Последняя 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movq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xmm0</a:t>
            </a:r>
            <a:r>
              <a:rPr lang="ru-RU" dirty="0"/>
              <a:t> помещает результат в регистр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rax</a:t>
            </a:r>
            <a:r>
              <a:rPr lang="ru-RU" dirty="0"/>
              <a:t>, откуда он возвращается вызывающему коду.</a:t>
            </a:r>
          </a:p>
          <a:p>
            <a:r>
              <a:rPr lang="ru-RU" dirty="0"/>
              <a:t>Обратите внимание на компактность кода: обе координаты вычисляются параллельно, нет записи в память, всё происходит в регистрах.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хороший пример того, что структура — это просто 8 байт данных. Компилятор может оптимизировать работу с ней так же эффективно, как и с примитивными типами, а иногда даже лучше, используя векторные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785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646A5-CFCD-2B90-61F9-D5FE244A3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A136D-0B7E-8AD7-FA37-573594765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F1223-6116-7C41-4AC5-2AE1D36E4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ассемблер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MidPointNoStruct</a:t>
            </a:r>
            <a:r>
              <a:rPr lang="ru-RU" dirty="0"/>
              <a:t>.</a:t>
            </a:r>
          </a:p>
          <a:p>
            <a:r>
              <a:rPr lang="ru-RU" dirty="0"/>
              <a:t>Здесь аргументы передаются по отдельности: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edi</a:t>
            </a:r>
            <a:r>
              <a:rPr lang="ru-RU" dirty="0"/>
              <a:t> содержит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x1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esi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y1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edx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x2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ecx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y2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Адреса для записи результата передаются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r8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r9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Сначала выполняется сложение координат: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x1 += x2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y1 += y2</a:t>
            </a:r>
            <a:r>
              <a:rPr lang="ru-RU" dirty="0"/>
              <a:t>.</a:t>
            </a:r>
          </a:p>
          <a:p>
            <a:r>
              <a:rPr lang="ru-RU" dirty="0"/>
              <a:t>Далее для каждой координаты по отдельности выполняется корректное деление на 2. Мы видим ту же последовательность действий: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Копирование суммы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Извлечение знакового бита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31</a:t>
            </a:r>
            <a:r>
              <a:rPr lang="ru-RU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Добавление знакового бита к сумме для корректного округления.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Арифметический сдвиг вправо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eax</a:t>
            </a:r>
            <a:r>
              <a:rPr lang="ru-RU" dirty="0"/>
              <a:t>, что эквивалентно делению на 2 с сохранением знака.</a:t>
            </a:r>
          </a:p>
          <a:p>
            <a:r>
              <a:rPr lang="ru-RU" dirty="0"/>
              <a:t>После этого результат записывается по адресу, переданному через указатель — сначала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xMid</a:t>
            </a:r>
            <a:r>
              <a:rPr lang="ru-RU" dirty="0"/>
              <a:t>, затем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yMid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версии со структурой: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обработка идёт последовательно, сначала 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потом 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используется обычная арифметика без SIMD-регистров;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результат обязательно записывается в память через указатели.</a:t>
            </a:r>
          </a:p>
          <a:p>
            <a:endParaRPr lang="ru-RU" dirty="0"/>
          </a:p>
          <a:p>
            <a:r>
              <a:rPr lang="ru-RU" dirty="0"/>
              <a:t>Таким образом, здесь мы явно видим, что функция работает с отдельными значениями и вынуждена выполнять запись в память, тогда как версия со структурой возвращала результат через регистр и позволила компилятору использовать векторные инструкции.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EFD20-57D1-3F54-4D1A-3CB04D9DF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870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Сравним обе версии на уровне машинного кода.</a:t>
            </a:r>
          </a:p>
          <a:p>
            <a:endParaRPr lang="ru-RU" dirty="0"/>
          </a:p>
          <a:p>
            <a:r>
              <a:rPr lang="ru-RU" dirty="0"/>
              <a:t>В версии со структурой два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передаются как один 64-битный объект. Компилятор использует SIMD-регистры и обрабатывает обе координаты одновременно. Результат возвращается через регистр, без записи в память.</a:t>
            </a:r>
          </a:p>
          <a:p>
            <a:endParaRPr lang="ru-RU" dirty="0"/>
          </a:p>
          <a:p>
            <a:r>
              <a:rPr lang="ru-RU" dirty="0"/>
              <a:t>В версии без структуры аргументы передаются отдельно, а результат записывается по указателям. Обработка идёт последовательно — сначала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, затем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Главный вывод: структура — это просто агрегат данных. Она не делает код автоматически медленнее и не создаёт скрытых накладных расходов. В нашем случае версия со структурой даже позволила сгенерировать более компактный и “векторизованный” код.</a:t>
            </a:r>
          </a:p>
          <a:p>
            <a:endParaRPr lang="ru-RU" dirty="0"/>
          </a:p>
          <a:p>
            <a:r>
              <a:rPr lang="ru-RU" dirty="0"/>
              <a:t>Поэтому при работе с C важно ориентироваться на реальный машинный код и ABI, а не на интуитивные предположения.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1064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Сегодня произошёл важный шаг.</a:t>
            </a:r>
          </a:p>
          <a:p>
            <a:endParaRPr lang="ru-RU" dirty="0"/>
          </a:p>
          <a:p>
            <a:r>
              <a:rPr lang="ru-RU" dirty="0"/>
              <a:t>До этого мы работали только с базовыми типами и массивами. Теперь мы можем создавать собственные типы данных, которые отражают структуру задачи.</a:t>
            </a:r>
          </a:p>
          <a:p>
            <a:endParaRPr lang="ru-RU" dirty="0"/>
          </a:p>
          <a:p>
            <a:r>
              <a:rPr lang="ru-RU" dirty="0"/>
              <a:t>Мы научились объединять связанные данные в один объект и один непрерывный блок памяти. Точка стала типом. Восьмиугольник стал типом. Это уже не набор параллельных массивов, а полноценная сущность языка.</a:t>
            </a:r>
          </a:p>
          <a:p>
            <a:endParaRPr lang="ru-RU" dirty="0"/>
          </a:p>
          <a:p>
            <a:r>
              <a:rPr lang="ru-RU" dirty="0"/>
              <a:t>Мы увидели, что структура — это не “магия”, а просто способ разметить память. Поняли, как происходит копирование, передача в функции, возврат значений.</a:t>
            </a:r>
          </a:p>
          <a:p>
            <a:endParaRPr lang="ru-RU" dirty="0"/>
          </a:p>
          <a:p>
            <a:r>
              <a:rPr lang="ru-RU" dirty="0"/>
              <a:t>Мы разобрали выравнивание и увидели, что размер структуры может быть больше суммы её полей.</a:t>
            </a:r>
          </a:p>
          <a:p>
            <a:r>
              <a:rPr lang="ru-RU" dirty="0"/>
              <a:t>И наконец, мы посмотрели, как компилятор реально работает со структурами на уровне ассемблера.</a:t>
            </a:r>
          </a:p>
          <a:p>
            <a:endParaRPr lang="ru-RU" dirty="0"/>
          </a:p>
          <a:p>
            <a:r>
              <a:rPr lang="ru-RU" dirty="0"/>
              <a:t>Теперь вы больше не ограничены скалярными типами. Вы можете проектировать собственные типы данных и управлять тем, как они размещаются в памяти. Это качественно новый уровень владения языком C.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A61BA5-818E-484C-847B-F07A631B46E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121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4159B-B6BE-2DE8-6DB0-EA208655FD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156332-1EFF-178C-803F-1701051F97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1F014-FE09-B323-83FC-9766DE3B6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13293F-CB98-477A-9198-002DEC9AE050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4E376F-30E4-DF0B-D6DF-309BD0EE0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9990C-6664-2DA2-87BC-C3A118096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956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F700E-7111-176B-5272-00E7D4BED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99E6F-AE3E-0819-56E2-A634C9482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83CB8-5581-FD58-1491-265D6B8E3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46648B-2E11-4251-B130-4D47158D6C2E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5A130-A684-999B-2CFA-D023213E9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2BC17-7082-808E-80DC-A2C2EE7B4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50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7995E-8B63-1525-B549-C47D7B08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29352-28D8-E5CF-3F7B-A0760D5B0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098C9-8478-2460-6C33-5F10D14AC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2B148-9AA2-4707-A41B-275BEA63CCE6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8AEDB-A9F6-D87E-9479-B27422A73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274DA-BA25-C52C-C434-BFFC84B35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282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03A0F-A6A9-9797-CE54-E3DD3EE58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D8231-8035-C355-51D6-34D22D58C2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2BAD0A-C591-4DA9-7919-1B1B88A707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8330A6-9E14-E30A-F775-D8867FD2B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D7C4DA-E338-444C-ADE2-607C031D2584}" type="datetime1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2D795-D0F0-01A6-C213-A4CC8C58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46852D-2F71-DF50-7824-628AFF2D6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9994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4A68B-DFE2-E012-8B89-266111627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420A5-00F5-AFEB-5A77-372EE6793E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68B91-8DB1-2F2D-5E1D-7DAB01C84F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C8422B-42A1-8710-B68C-55191558D7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23F2E1-D089-97A9-0599-5911B1BB03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2A50C3-845A-3867-D818-5F74B6E6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FC0D-B371-42FA-9A63-289955246709}" type="datetime1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C14297-8FD9-8EC7-BE75-E57897EFE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A1FE97-62A0-1162-9C22-F101C48E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650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C3E38-0837-1867-FF46-CF2652414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A3AE1-F327-1FFB-5C29-F329C84E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8AB97-3ADF-4CA4-ADF4-7388B15AD157}" type="datetime1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9FCFD7-38F5-CBAC-B7B4-1453F0575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19FB68-E7FE-4543-E310-14FFA9B2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46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815B0C-DE5D-A43C-3831-9F8CF68A4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AA1CB-D418-4F87-811F-5E2A59DE903B}" type="datetime1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E3FE1E-C7F6-48C3-ECF8-474AAD971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467B92-1CC4-E13F-6DE3-0CAFF519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27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A73B2-3196-CD71-445B-F73C4A302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367DC-4ABE-2FE2-09CA-D20E0EC9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743549-9C5D-130D-1644-6DE7AAA1A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D104A-6CCE-2D5D-8020-875BA319E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4355D-C1AE-4F6C-882C-199BD1D2877B}" type="datetime1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3FE14-0201-40A1-4F5A-D421518E8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326C2-C538-B8BF-FB67-A6D2EA9DA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476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94BCF-FE16-C48A-DF0B-BF10039BF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AAC816-1D39-A855-AFD1-4344071C82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DDCA69-FFF5-77F6-BF1B-079A2DDE3B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520324-9AAB-A75D-8AC3-AA75A7185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6DD71-D1F9-4993-A2D6-C0B18EA7A8C0}" type="datetime1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25A76-A18A-54F0-3A86-2343B41E0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C44CA-B630-0B6D-CEE6-BB4B232C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44830-87A4-A587-1FBA-C445F232F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6D3D5-1A25-507C-509D-ED69AED412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C7FA2-AE9C-27D9-AB22-E0943C2F3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7F5F1-C0A3-4748-9851-38F3F14EB302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3E213-542D-1EB7-5F08-6625313E2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D3DFC-A11E-BD20-84C7-21230EB15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135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EF5E5-4DE1-C129-A220-20AC4E9B72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94B883-EC6C-4C9A-B92C-8CB428C8D4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7CCBB-167E-5DD3-3423-6CB1A5A81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56CD-321D-4044-AB89-9E6DA4649322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A5FA1-105C-20B9-EB65-F5CF816E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12625D-5E65-826C-99A1-9C10A3685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983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BC4BB-8A3A-678F-05A9-BD040392A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6C0E4-1B79-58D2-31E2-3C80C3FAC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8A81B9-62CF-8490-1B09-F0D8F2F418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1D3645-369D-4AF4-9F6C-7A49384E2CB5}" type="datetime1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5919D-AF98-8DFB-7B24-19C695B2FA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B62B01-0459-83AE-A615-65F80A84A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A95A98-87F4-4AF7-B1D7-3988D3B1E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0914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c6vrroja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zaznsn41z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ExreKo75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3YE1h8TeW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KP6d4Kv35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z9aheo9rj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bTrc7dfWW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CF2AF-7FA7-1F3C-6CA6-EA0A6198E6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8D82C9-78CB-AD25-DAE6-9180653935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50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FC349-1FE9-2884-524D-393FC975C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Точка на плоскости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DEEB2-4FFF-4091-89D8-CA5D6A238D10}"/>
              </a:ext>
            </a:extLst>
          </p:cNvPr>
          <p:cNvSpPr txBox="1"/>
          <p:nvPr/>
        </p:nvSpPr>
        <p:spPr>
          <a:xfrm>
            <a:off x="838200" y="1595021"/>
            <a:ext cx="52578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*x,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*y)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x, y) !=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"(%d, %d)\n"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x, y);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ReadPoint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(&amp;x, &amp;y) !=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"Input error\n"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(x, y);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7AD57C-A299-FA8C-E352-205E709BD9FB}"/>
              </a:ext>
            </a:extLst>
          </p:cNvPr>
          <p:cNvSpPr txBox="1"/>
          <p:nvPr/>
        </p:nvSpPr>
        <p:spPr>
          <a:xfrm>
            <a:off x="6604462" y="5758934"/>
            <a:ext cx="3930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https://godbolt.org/z/3c6vrroja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E7F18A4-2DC3-2B82-AEA4-DD3D9027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784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8F39C-B59E-99AE-5D6F-8BEB11FA9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C9EAC-1660-91CE-B083-21231D1DA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Несколько точек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9204E-CDBF-C4E2-14EF-CE88BE016CD4}"/>
              </a:ext>
            </a:extLst>
          </p:cNvPr>
          <p:cNvSpPr txBox="1"/>
          <p:nvPr/>
        </p:nvSpPr>
        <p:spPr>
          <a:xfrm>
            <a:off x="7188431" y="5777984"/>
            <a:ext cx="3930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https://godbolt.org/z/zaznsn41z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71D60-8873-2E9D-8312-6D73E09ED95A}"/>
              </a:ext>
            </a:extLst>
          </p:cNvPr>
          <p:cNvSpPr txBox="1"/>
          <p:nvPr/>
        </p:nvSpPr>
        <p:spPr>
          <a:xfrm>
            <a:off x="838200" y="1880949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x[],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y[],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count;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y[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(x, y,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E1FD6A-9E69-06EE-8ECF-C2D45874D55A}"/>
              </a:ext>
            </a:extLst>
          </p:cNvPr>
          <p:cNvSpPr txBox="1"/>
          <p:nvPr/>
        </p:nvSpPr>
        <p:spPr>
          <a:xfrm>
            <a:off x="7188431" y="3727608"/>
            <a:ext cx="276225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(0, 0)</a:t>
            </a:r>
          </a:p>
          <a:p>
            <a:r>
              <a:rPr lang="en-US" dirty="0">
                <a:latin typeface="Consolas" panose="020B0609020204030204" pitchFamily="49" charset="0"/>
              </a:rPr>
              <a:t>(1, 1)</a:t>
            </a:r>
          </a:p>
          <a:p>
            <a:r>
              <a:rPr lang="en-US" dirty="0">
                <a:latin typeface="Consolas" panose="020B0609020204030204" pitchFamily="49" charset="0"/>
              </a:rPr>
              <a:t>(2, 4)</a:t>
            </a:r>
          </a:p>
          <a:p>
            <a:r>
              <a:rPr lang="en-US" dirty="0">
                <a:latin typeface="Consolas" panose="020B0609020204030204" pitchFamily="49" charset="0"/>
              </a:rPr>
              <a:t>(3, 9)</a:t>
            </a:r>
          </a:p>
          <a:p>
            <a:r>
              <a:rPr lang="en-US" dirty="0">
                <a:latin typeface="Consolas" panose="020B0609020204030204" pitchFamily="49" charset="0"/>
              </a:rPr>
              <a:t>(4, 16)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E1A99A-8925-0E50-E50F-CE981B4F3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712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4B17F-A20B-FF62-A8BD-B3073829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2B94E-217E-2E8F-C3CB-4A38D1A86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Восьмиугольник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D16F46-C98D-2203-5DA2-3DAC947FFF1C}"/>
              </a:ext>
            </a:extLst>
          </p:cNvPr>
          <p:cNvSpPr txBox="1"/>
          <p:nvPr/>
        </p:nvSpPr>
        <p:spPr>
          <a:xfrm>
            <a:off x="7188431" y="5777984"/>
            <a:ext cx="3930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https://godbolt.org/z/ExreKo75e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AF2DF-EEE7-1AD2-85FB-6AE87CE37D67}"/>
              </a:ext>
            </a:extLst>
          </p:cNvPr>
          <p:cNvSpPr txBox="1"/>
          <p:nvPr/>
        </p:nvSpPr>
        <p:spPr>
          <a:xfrm>
            <a:off x="7255106" y="2998561"/>
            <a:ext cx="2762250" cy="230832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(1, 0)</a:t>
            </a:r>
          </a:p>
          <a:p>
            <a:r>
              <a:rPr lang="en-US" dirty="0">
                <a:latin typeface="Consolas" panose="020B0609020204030204" pitchFamily="49" charset="0"/>
              </a:rPr>
              <a:t>(2, 0)</a:t>
            </a:r>
          </a:p>
          <a:p>
            <a:r>
              <a:rPr lang="en-US" dirty="0">
                <a:latin typeface="Consolas" panose="020B0609020204030204" pitchFamily="49" charset="0"/>
              </a:rPr>
              <a:t>(3, 1)</a:t>
            </a:r>
          </a:p>
          <a:p>
            <a:r>
              <a:rPr lang="en-US" dirty="0">
                <a:latin typeface="Consolas" panose="020B0609020204030204" pitchFamily="49" charset="0"/>
              </a:rPr>
              <a:t>(3, 2)</a:t>
            </a:r>
          </a:p>
          <a:p>
            <a:r>
              <a:rPr lang="en-US" dirty="0">
                <a:latin typeface="Consolas" panose="020B0609020204030204" pitchFamily="49" charset="0"/>
              </a:rPr>
              <a:t>(2, 3)</a:t>
            </a:r>
          </a:p>
          <a:p>
            <a:r>
              <a:rPr lang="en-US" dirty="0">
                <a:latin typeface="Consolas" panose="020B0609020204030204" pitchFamily="49" charset="0"/>
              </a:rPr>
              <a:t>(1, 3)</a:t>
            </a:r>
          </a:p>
          <a:p>
            <a:r>
              <a:rPr lang="en-US" dirty="0">
                <a:latin typeface="Consolas" panose="020B0609020204030204" pitchFamily="49" charset="0"/>
              </a:rPr>
              <a:t>(0, 2)</a:t>
            </a:r>
          </a:p>
          <a:p>
            <a:r>
              <a:rPr lang="en-US" dirty="0">
                <a:latin typeface="Consolas" panose="020B0609020204030204" pitchFamily="49" charset="0"/>
              </a:rPr>
              <a:t>(0, 1)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525FED-F60D-C65A-2601-6D8116BB0E6C}"/>
              </a:ext>
            </a:extLst>
          </p:cNvPr>
          <p:cNvSpPr txBox="1"/>
          <p:nvPr/>
        </p:nvSpPr>
        <p:spPr>
          <a:xfrm>
            <a:off x="838200" y="2029065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y[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(x, 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FFEFF-3831-2BA0-CD35-8B5744E48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498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020EF-B15B-FDEE-DD0E-D2BE243DB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983EA-DF14-EEB3-81E9-C500BE859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Несколько восьмиугольников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41F706-5E93-1B23-B1D8-ED04E49CEE5B}"/>
              </a:ext>
            </a:extLst>
          </p:cNvPr>
          <p:cNvSpPr txBox="1"/>
          <p:nvPr/>
        </p:nvSpPr>
        <p:spPr>
          <a:xfrm>
            <a:off x="8261812" y="5985331"/>
            <a:ext cx="3930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https://godbolt.org/z/3YE1h8TeW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63945-1E54-18DA-E81B-2F896EF579C2}"/>
              </a:ext>
            </a:extLst>
          </p:cNvPr>
          <p:cNvSpPr txBox="1"/>
          <p:nvPr/>
        </p:nvSpPr>
        <p:spPr>
          <a:xfrm>
            <a:off x="8296275" y="1027906"/>
            <a:ext cx="2762250" cy="464742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Octagon 0: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(1, 0)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(2, 0)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(3, 1)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(3, 2)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(2, 3)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(1, 3)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(0, 2)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(0, 1)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Octagon 1: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(10, 5)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(11, 5)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(12, 6)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(12, 7)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(11, 8)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(10, 8)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(9, 7)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(9, 6)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81D8AD-23B2-DA5A-C77B-D367AE2B3F68}"/>
              </a:ext>
            </a:extLst>
          </p:cNvPr>
          <p:cNvSpPr txBox="1"/>
          <p:nvPr/>
        </p:nvSpPr>
        <p:spPr>
          <a:xfrm>
            <a:off x="838200" y="1690688"/>
            <a:ext cx="71628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PrintOctagons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x[][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y[][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count)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k =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 k &lt; count; k++)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"Octagon %d:\n"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k);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PrintOctagon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(x[k], y[k]);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main(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x[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{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{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y[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][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{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{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{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};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PrintOctagons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(x, y,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D6AA6-BD6F-167C-EC66-2B42AF4E5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576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4CFBA-AE69-0C6B-E1C9-F639BF0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21E77-CE76-7E4C-F540-636D80A21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Цветные восьмиугольники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3C6D90-E965-45E3-9AE6-0D9A585CE2C1}"/>
              </a:ext>
            </a:extLst>
          </p:cNvPr>
          <p:cNvSpPr txBox="1"/>
          <p:nvPr/>
        </p:nvSpPr>
        <p:spPr>
          <a:xfrm>
            <a:off x="992419" y="5987018"/>
            <a:ext cx="39301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https://godbolt.org/z/KP6d4Kv35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41B3B-D904-C3F7-A95D-09C591E35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6AAFE-6459-CCAC-3CD7-43C9F98A6C87}"/>
              </a:ext>
            </a:extLst>
          </p:cNvPr>
          <p:cNvSpPr txBox="1"/>
          <p:nvPr/>
        </p:nvSpPr>
        <p:spPr>
          <a:xfrm>
            <a:off x="838200" y="1523998"/>
            <a:ext cx="6096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PrintOctagon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color)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"Color: %d\n"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color);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y[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PrintAllOctagons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x[][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y[][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colors[],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k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k &lt; count; k++)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"Octagon %d:\n"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k);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PrintOctagon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(x[k], y[k], colors[k]);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298CEA-486D-94C2-FA04-7FD688076E5B}"/>
              </a:ext>
            </a:extLst>
          </p:cNvPr>
          <p:cNvSpPr txBox="1"/>
          <p:nvPr/>
        </p:nvSpPr>
        <p:spPr>
          <a:xfrm>
            <a:off x="7231295" y="3063141"/>
            <a:ext cx="4686300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colors[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PrintAllOctagons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(x, y, colors,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6506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B689D-0243-B2A5-088E-552BBB7B4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текущей модели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60A44B-7B72-FD35-9E2D-51AEAA7CE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У точки нет собственного типа</a:t>
            </a:r>
          </a:p>
          <a:p>
            <a:r>
              <a:rPr lang="ru-RU" dirty="0"/>
              <a:t>Восьмиугольник не является единой сущностью</a:t>
            </a:r>
          </a:p>
          <a:p>
            <a:r>
              <a:rPr lang="ru-RU" dirty="0"/>
              <a:t>Количество параметров растёт при добавлении новых свойств</a:t>
            </a:r>
          </a:p>
          <a:p>
            <a:r>
              <a:rPr lang="ru-RU" dirty="0"/>
              <a:t>Связь между данными держится только на совпадении индексов</a:t>
            </a:r>
          </a:p>
          <a:p>
            <a:r>
              <a:rPr lang="ru-RU" dirty="0"/>
              <a:t>Компилятор не контролирует целостность структуры</a:t>
            </a:r>
          </a:p>
          <a:p>
            <a:r>
              <a:rPr lang="ru-RU" dirty="0"/>
              <a:t>Данные одного восьмиугольника лежат в разных областях памяти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30A01F-1F80-E9A9-D274-795A626D1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66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3AEA24C-0BD8-0BF5-714D-1310E6A2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Где здесь восьмиугольник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0F8EC-FC8C-C464-1CAA-516AE33CB5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E55757-2D96-BB60-E101-1C5E894F0211}"/>
              </a:ext>
            </a:extLst>
          </p:cNvPr>
          <p:cNvSpPr/>
          <p:nvPr/>
        </p:nvSpPr>
        <p:spPr>
          <a:xfrm>
            <a:off x="1130301" y="1821268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AF3DB2-6ED8-D736-2A1D-BC7A6D7CF2BC}"/>
              </a:ext>
            </a:extLst>
          </p:cNvPr>
          <p:cNvSpPr/>
          <p:nvPr/>
        </p:nvSpPr>
        <p:spPr>
          <a:xfrm>
            <a:off x="1905001" y="1822924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F1DFE2-8964-907A-4380-B65AD91D65B3}"/>
              </a:ext>
            </a:extLst>
          </p:cNvPr>
          <p:cNvSpPr/>
          <p:nvPr/>
        </p:nvSpPr>
        <p:spPr>
          <a:xfrm>
            <a:off x="2679701" y="1824580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17BE34D-3465-7557-7C7E-34F200D0B003}"/>
              </a:ext>
            </a:extLst>
          </p:cNvPr>
          <p:cNvSpPr/>
          <p:nvPr/>
        </p:nvSpPr>
        <p:spPr>
          <a:xfrm>
            <a:off x="3454401" y="1826236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B229C3-62E7-69A7-BE15-38E621B9D2C5}"/>
              </a:ext>
            </a:extLst>
          </p:cNvPr>
          <p:cNvSpPr/>
          <p:nvPr/>
        </p:nvSpPr>
        <p:spPr>
          <a:xfrm>
            <a:off x="4229101" y="1827892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49EC84-5D5A-2FE6-EF19-81D2AC744ADA}"/>
              </a:ext>
            </a:extLst>
          </p:cNvPr>
          <p:cNvSpPr/>
          <p:nvPr/>
        </p:nvSpPr>
        <p:spPr>
          <a:xfrm>
            <a:off x="5003801" y="1829548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12FE85-FCA8-5E13-0EE5-9DC4A590A026}"/>
              </a:ext>
            </a:extLst>
          </p:cNvPr>
          <p:cNvSpPr/>
          <p:nvPr/>
        </p:nvSpPr>
        <p:spPr>
          <a:xfrm>
            <a:off x="5778501" y="1831204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54219F-2001-DA96-6E92-0EA415061C12}"/>
              </a:ext>
            </a:extLst>
          </p:cNvPr>
          <p:cNvSpPr/>
          <p:nvPr/>
        </p:nvSpPr>
        <p:spPr>
          <a:xfrm>
            <a:off x="6553201" y="1832860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936D99-17A0-1BC6-BD1E-184B14018B98}"/>
              </a:ext>
            </a:extLst>
          </p:cNvPr>
          <p:cNvSpPr/>
          <p:nvPr/>
        </p:nvSpPr>
        <p:spPr>
          <a:xfrm>
            <a:off x="1130301" y="2493373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2C9283-7A5B-E06E-FE91-5C818BDE7C23}"/>
              </a:ext>
            </a:extLst>
          </p:cNvPr>
          <p:cNvSpPr/>
          <p:nvPr/>
        </p:nvSpPr>
        <p:spPr>
          <a:xfrm>
            <a:off x="1905001" y="2495029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38BD93-AFFB-E012-CE3A-3481691B7751}"/>
              </a:ext>
            </a:extLst>
          </p:cNvPr>
          <p:cNvSpPr/>
          <p:nvPr/>
        </p:nvSpPr>
        <p:spPr>
          <a:xfrm>
            <a:off x="2679701" y="2496685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19608B3-8158-C642-2018-3058B7DEC0A2}"/>
              </a:ext>
            </a:extLst>
          </p:cNvPr>
          <p:cNvSpPr/>
          <p:nvPr/>
        </p:nvSpPr>
        <p:spPr>
          <a:xfrm>
            <a:off x="3454401" y="2498341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AF8F92-CA10-F971-997A-5AA8020EC91D}"/>
              </a:ext>
            </a:extLst>
          </p:cNvPr>
          <p:cNvSpPr/>
          <p:nvPr/>
        </p:nvSpPr>
        <p:spPr>
          <a:xfrm>
            <a:off x="4229101" y="2499997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5899C19-6F1C-E279-9F05-194A6EAD34FB}"/>
              </a:ext>
            </a:extLst>
          </p:cNvPr>
          <p:cNvSpPr/>
          <p:nvPr/>
        </p:nvSpPr>
        <p:spPr>
          <a:xfrm>
            <a:off x="5003801" y="2501653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937803-042C-196F-C675-6A4EE164DBA5}"/>
              </a:ext>
            </a:extLst>
          </p:cNvPr>
          <p:cNvSpPr/>
          <p:nvPr/>
        </p:nvSpPr>
        <p:spPr>
          <a:xfrm>
            <a:off x="5778501" y="2503309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9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30D90E5-2A05-CB6B-0710-F46EEC46D31E}"/>
              </a:ext>
            </a:extLst>
          </p:cNvPr>
          <p:cNvSpPr/>
          <p:nvPr/>
        </p:nvSpPr>
        <p:spPr>
          <a:xfrm>
            <a:off x="6553201" y="2504965"/>
            <a:ext cx="659296" cy="54333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9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4573B8-B086-F046-E5EF-087F3A0B825E}"/>
              </a:ext>
            </a:extLst>
          </p:cNvPr>
          <p:cNvSpPr/>
          <p:nvPr/>
        </p:nvSpPr>
        <p:spPr>
          <a:xfrm>
            <a:off x="1130301" y="3748294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2E54405-6F95-2ABA-C565-824F9623AB7A}"/>
              </a:ext>
            </a:extLst>
          </p:cNvPr>
          <p:cNvSpPr/>
          <p:nvPr/>
        </p:nvSpPr>
        <p:spPr>
          <a:xfrm>
            <a:off x="1905001" y="3749950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0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4F6DD2-B7B1-0A00-60E5-A2D493A1E24D}"/>
              </a:ext>
            </a:extLst>
          </p:cNvPr>
          <p:cNvSpPr/>
          <p:nvPr/>
        </p:nvSpPr>
        <p:spPr>
          <a:xfrm>
            <a:off x="2679701" y="3751606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D74AA0-01B0-BBD7-EB1D-1948F7DBFB36}"/>
              </a:ext>
            </a:extLst>
          </p:cNvPr>
          <p:cNvSpPr/>
          <p:nvPr/>
        </p:nvSpPr>
        <p:spPr>
          <a:xfrm>
            <a:off x="3454401" y="3753262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990676F-5EE3-CBB0-3B3C-0E34795E8ACF}"/>
              </a:ext>
            </a:extLst>
          </p:cNvPr>
          <p:cNvSpPr/>
          <p:nvPr/>
        </p:nvSpPr>
        <p:spPr>
          <a:xfrm>
            <a:off x="4229101" y="3754918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5F99655-AF8E-4B73-0D71-94AD15426BA2}"/>
              </a:ext>
            </a:extLst>
          </p:cNvPr>
          <p:cNvSpPr/>
          <p:nvPr/>
        </p:nvSpPr>
        <p:spPr>
          <a:xfrm>
            <a:off x="5003801" y="3756574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3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AB3C49-7E6A-47AE-BDB5-259453FB0149}"/>
              </a:ext>
            </a:extLst>
          </p:cNvPr>
          <p:cNvSpPr/>
          <p:nvPr/>
        </p:nvSpPr>
        <p:spPr>
          <a:xfrm>
            <a:off x="5778501" y="3758230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EF1850-9266-B9C0-65A8-EE085005ABB2}"/>
              </a:ext>
            </a:extLst>
          </p:cNvPr>
          <p:cNvSpPr/>
          <p:nvPr/>
        </p:nvSpPr>
        <p:spPr>
          <a:xfrm>
            <a:off x="6553201" y="3759886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56B8EEA-0C25-B995-9E72-BDDBE74FDBE6}"/>
              </a:ext>
            </a:extLst>
          </p:cNvPr>
          <p:cNvSpPr/>
          <p:nvPr/>
        </p:nvSpPr>
        <p:spPr>
          <a:xfrm>
            <a:off x="1130301" y="4420399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CB254D7-DE2E-396A-C875-211005A5CBA5}"/>
              </a:ext>
            </a:extLst>
          </p:cNvPr>
          <p:cNvSpPr/>
          <p:nvPr/>
        </p:nvSpPr>
        <p:spPr>
          <a:xfrm>
            <a:off x="1905001" y="4422055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5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2C7F0A-4D54-992B-5FCA-159FCF24FB6F}"/>
              </a:ext>
            </a:extLst>
          </p:cNvPr>
          <p:cNvSpPr/>
          <p:nvPr/>
        </p:nvSpPr>
        <p:spPr>
          <a:xfrm>
            <a:off x="2679701" y="4423711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6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ECA7966-4BAE-A292-E3F6-F4D0803B2469}"/>
              </a:ext>
            </a:extLst>
          </p:cNvPr>
          <p:cNvSpPr/>
          <p:nvPr/>
        </p:nvSpPr>
        <p:spPr>
          <a:xfrm>
            <a:off x="3454401" y="4425367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7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E85357-C518-D44F-82A0-1D06CA042B4A}"/>
              </a:ext>
            </a:extLst>
          </p:cNvPr>
          <p:cNvSpPr/>
          <p:nvPr/>
        </p:nvSpPr>
        <p:spPr>
          <a:xfrm>
            <a:off x="4229101" y="4427023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349D3A4-58EB-1900-04D6-C502364F0997}"/>
              </a:ext>
            </a:extLst>
          </p:cNvPr>
          <p:cNvSpPr/>
          <p:nvPr/>
        </p:nvSpPr>
        <p:spPr>
          <a:xfrm>
            <a:off x="5003801" y="4428679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85D455E-7E56-D395-F8F9-EF441E9F86BD}"/>
              </a:ext>
            </a:extLst>
          </p:cNvPr>
          <p:cNvSpPr/>
          <p:nvPr/>
        </p:nvSpPr>
        <p:spPr>
          <a:xfrm>
            <a:off x="5778501" y="4430335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7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B525A0-6AED-FE20-708D-DDB50EAFAB40}"/>
              </a:ext>
            </a:extLst>
          </p:cNvPr>
          <p:cNvSpPr/>
          <p:nvPr/>
        </p:nvSpPr>
        <p:spPr>
          <a:xfrm>
            <a:off x="6553201" y="4431991"/>
            <a:ext cx="659296" cy="54333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6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F5211AB-B99D-EB6A-C720-E48EFCE1421D}"/>
              </a:ext>
            </a:extLst>
          </p:cNvPr>
          <p:cNvSpPr/>
          <p:nvPr/>
        </p:nvSpPr>
        <p:spPr>
          <a:xfrm>
            <a:off x="1130301" y="5369505"/>
            <a:ext cx="659296" cy="54333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1EB365B-211A-CF49-EC34-442B82487949}"/>
              </a:ext>
            </a:extLst>
          </p:cNvPr>
          <p:cNvSpPr/>
          <p:nvPr/>
        </p:nvSpPr>
        <p:spPr>
          <a:xfrm>
            <a:off x="1905001" y="5369504"/>
            <a:ext cx="659296" cy="54333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0C1FD7E3-88E4-C8CF-2DAC-62F271C21B51}"/>
              </a:ext>
            </a:extLst>
          </p:cNvPr>
          <p:cNvSpPr/>
          <p:nvPr/>
        </p:nvSpPr>
        <p:spPr>
          <a:xfrm>
            <a:off x="6494780" y="1722871"/>
            <a:ext cx="1091539" cy="2644737"/>
          </a:xfrm>
          <a:custGeom>
            <a:avLst/>
            <a:gdLst>
              <a:gd name="csX0" fmla="*/ 1 w 1091539"/>
              <a:gd name="csY0" fmla="*/ 0 h 2644737"/>
              <a:gd name="csX1" fmla="*/ 802420 w 1091539"/>
              <a:gd name="csY1" fmla="*/ 0 h 2644737"/>
              <a:gd name="csX2" fmla="*/ 833121 w 1091539"/>
              <a:gd name="csY2" fmla="*/ 0 h 2644737"/>
              <a:gd name="csX3" fmla="*/ 1091539 w 1091539"/>
              <a:gd name="csY3" fmla="*/ 0 h 2644737"/>
              <a:gd name="csX4" fmla="*/ 1091539 w 1091539"/>
              <a:gd name="csY4" fmla="*/ 2644737 h 2644737"/>
              <a:gd name="csX5" fmla="*/ 802420 w 1091539"/>
              <a:gd name="csY5" fmla="*/ 2644737 h 2644737"/>
              <a:gd name="csX6" fmla="*/ 802420 w 1091539"/>
              <a:gd name="csY6" fmla="*/ 2644736 h 2644737"/>
              <a:gd name="csX7" fmla="*/ 0 w 1091539"/>
              <a:gd name="csY7" fmla="*/ 2644736 h 2644737"/>
              <a:gd name="csX8" fmla="*/ 0 w 1091539"/>
              <a:gd name="csY8" fmla="*/ 1927025 h 2644737"/>
              <a:gd name="csX9" fmla="*/ 802420 w 1091539"/>
              <a:gd name="csY9" fmla="*/ 1927025 h 2644737"/>
              <a:gd name="csX10" fmla="*/ 802420 w 1091539"/>
              <a:gd name="csY10" fmla="*/ 717711 h 2644737"/>
              <a:gd name="csX11" fmla="*/ 1 w 1091539"/>
              <a:gd name="csY11" fmla="*/ 717711 h 2644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091539" h="2644737">
                <a:moveTo>
                  <a:pt x="1" y="0"/>
                </a:moveTo>
                <a:lnTo>
                  <a:pt x="802420" y="0"/>
                </a:lnTo>
                <a:lnTo>
                  <a:pt x="833121" y="0"/>
                </a:lnTo>
                <a:lnTo>
                  <a:pt x="1091539" y="0"/>
                </a:lnTo>
                <a:lnTo>
                  <a:pt x="1091539" y="2644737"/>
                </a:lnTo>
                <a:lnTo>
                  <a:pt x="802420" y="2644737"/>
                </a:lnTo>
                <a:lnTo>
                  <a:pt x="802420" y="2644736"/>
                </a:lnTo>
                <a:lnTo>
                  <a:pt x="0" y="2644736"/>
                </a:lnTo>
                <a:lnTo>
                  <a:pt x="0" y="1927025"/>
                </a:lnTo>
                <a:lnTo>
                  <a:pt x="802420" y="1927025"/>
                </a:lnTo>
                <a:lnTo>
                  <a:pt x="802420" y="717711"/>
                </a:lnTo>
                <a:lnTo>
                  <a:pt x="1" y="717711"/>
                </a:lnTo>
                <a:close/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B1FB4D1-CEA4-9F6C-42F3-994E73E5668B}"/>
              </a:ext>
            </a:extLst>
          </p:cNvPr>
          <p:cNvGrpSpPr/>
          <p:nvPr/>
        </p:nvGrpSpPr>
        <p:grpSpPr>
          <a:xfrm>
            <a:off x="7752079" y="1735138"/>
            <a:ext cx="4075545" cy="4075545"/>
            <a:chOff x="7752079" y="1735138"/>
            <a:chExt cx="4075545" cy="4075545"/>
          </a:xfrm>
        </p:grpSpPr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E13E6959-CAF3-9BA1-4896-B122420B3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52079" y="1735138"/>
              <a:ext cx="4075545" cy="4075545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7AFFD9C-1D80-24AA-B3FC-CE670E42870F}"/>
                </a:ext>
              </a:extLst>
            </p:cNvPr>
            <p:cNvSpPr txBox="1"/>
            <p:nvPr/>
          </p:nvSpPr>
          <p:spPr>
            <a:xfrm>
              <a:off x="8125901" y="2053708"/>
              <a:ext cx="216109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omic Sans MS" panose="030F0702030302020204" pitchFamily="66" charset="0"/>
                </a:rPr>
                <a:t>Помоги найти восьмиугольник!</a:t>
              </a:r>
              <a:endParaRPr lang="en-US" dirty="0">
                <a:latin typeface="Comic Sans MS" panose="030F0702030302020204" pitchFamily="66" charset="0"/>
              </a:endParaRP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C396000-743F-8A06-ACB7-B4DBF8261BA0}"/>
              </a:ext>
            </a:extLst>
          </p:cNvPr>
          <p:cNvSpPr txBox="1"/>
          <p:nvPr/>
        </p:nvSpPr>
        <p:spPr>
          <a:xfrm>
            <a:off x="3624747" y="3230301"/>
            <a:ext cx="2527300" cy="372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Подсказка: это точка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3476C0-BD24-E761-5C40-072C8A87A0F4}"/>
              </a:ext>
            </a:extLst>
          </p:cNvPr>
          <p:cNvCxnSpPr>
            <a:stCxn id="59" idx="3"/>
          </p:cNvCxnSpPr>
          <p:nvPr/>
        </p:nvCxnSpPr>
        <p:spPr>
          <a:xfrm flipV="1">
            <a:off x="6152047" y="3315133"/>
            <a:ext cx="1060450" cy="1016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4DA88CB-D16E-A7CD-14A6-F241028183E8}"/>
              </a:ext>
            </a:extLst>
          </p:cNvPr>
          <p:cNvSpPr txBox="1"/>
          <p:nvPr/>
        </p:nvSpPr>
        <p:spPr>
          <a:xfrm>
            <a:off x="0" y="2208825"/>
            <a:ext cx="10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x[2][8]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D5425E-7CA1-BCDF-ECEF-052C9BC0EFC5}"/>
              </a:ext>
            </a:extLst>
          </p:cNvPr>
          <p:cNvSpPr txBox="1"/>
          <p:nvPr/>
        </p:nvSpPr>
        <p:spPr>
          <a:xfrm>
            <a:off x="0" y="4186430"/>
            <a:ext cx="10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y[2][8]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748B57-A0D1-CD6F-1428-9B18995F98A6}"/>
              </a:ext>
            </a:extLst>
          </p:cNvPr>
          <p:cNvSpPr txBox="1"/>
          <p:nvPr/>
        </p:nvSpPr>
        <p:spPr>
          <a:xfrm>
            <a:off x="0" y="5441351"/>
            <a:ext cx="105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colors[2]</a:t>
            </a:r>
          </a:p>
        </p:txBody>
      </p:sp>
    </p:spTree>
    <p:extLst>
      <p:ext uri="{BB962C8B-B14F-4D97-AF65-F5344CB8AC3E}">
        <p14:creationId xmlns:p14="http://schemas.microsoft.com/office/powerpoint/2010/main" val="176065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27A92-D37F-F3A9-0F0E-6B9C3DB05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структура</a:t>
            </a:r>
            <a:r>
              <a:rPr lang="en-US" dirty="0"/>
              <a:t>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3C720-FDBB-C87B-24C1-07CA972648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Структура (</a:t>
            </a:r>
            <a:r>
              <a:rPr lang="ru-RU" b="1" dirty="0" err="1"/>
              <a:t>struct</a:t>
            </a:r>
            <a:r>
              <a:rPr lang="ru-RU" b="1" dirty="0"/>
              <a:t>)</a:t>
            </a:r>
            <a:r>
              <a:rPr lang="ru-RU" dirty="0"/>
              <a:t> — это тип данных, который объединяет несколько объектов в один непрерывный блок памяти.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Члены структуры располагаются последовательно</a:t>
            </a:r>
          </a:p>
          <a:p>
            <a:pPr lvl="1"/>
            <a:r>
              <a:rPr lang="ru-RU" dirty="0"/>
              <a:t>Каждый член имеет собственное имя</a:t>
            </a:r>
          </a:p>
          <a:p>
            <a:pPr lvl="1"/>
            <a:r>
              <a:rPr lang="ru-RU" dirty="0"/>
              <a:t>Члены могут иметь разные типы</a:t>
            </a:r>
          </a:p>
          <a:p>
            <a:pPr lvl="1"/>
            <a:r>
              <a:rPr lang="ru-RU" dirty="0"/>
              <a:t>В отличие от массива, элементы не обязаны быть одного типа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2ED212-C5EC-61BF-BC00-004F1DD0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18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E56F4-C6AF-8ADC-BF75-CAA04AC00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D77E97-5546-0A5E-C487-72381949033B}"/>
              </a:ext>
            </a:extLst>
          </p:cNvPr>
          <p:cNvSpPr txBox="1"/>
          <p:nvPr/>
        </p:nvSpPr>
        <p:spPr>
          <a:xfrm>
            <a:off x="133004" y="136525"/>
            <a:ext cx="1168769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Пример структуры для хранения информации о сотруднике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ru-RU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id;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Идентификатор сотрудника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departmentCode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Код отдела, в котором работает сотрудник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salary;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Зарплата сотрудника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grade;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Квалификационный уровень сотрудника (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A', 'B', 'C'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т.д.)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isActive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Аактивен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ли сотрудник (1 - активен, 0 - неактивен)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Прямой доступ к полям структуры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.id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.departmentCode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.salary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.grade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.isActive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Доступ к полям структуры через указатель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2B91AF"/>
                </a:solidFill>
                <a:latin typeface="Consolas" panose="020B0609020204030204" pitchFamily="49" charset="0"/>
              </a:rPr>
              <a:t>Employee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&amp;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-&gt;salary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Эквивалентная запись через указатель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(*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employeePtr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).salary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80000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38848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6B486-C209-E1C7-CBA3-CB7C6D735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Хранение структуры в памяти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937203-66E2-214B-0A9A-AF457C77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11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A5EA6A-7933-917A-D0CC-BE65A5F1A272}"/>
              </a:ext>
            </a:extLst>
          </p:cNvPr>
          <p:cNvSpPr/>
          <p:nvPr/>
        </p:nvSpPr>
        <p:spPr>
          <a:xfrm>
            <a:off x="479893" y="2323792"/>
            <a:ext cx="580053" cy="5800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345B91-7F9B-0D95-8D02-961424AA972A}"/>
              </a:ext>
            </a:extLst>
          </p:cNvPr>
          <p:cNvSpPr/>
          <p:nvPr/>
        </p:nvSpPr>
        <p:spPr>
          <a:xfrm>
            <a:off x="1192130" y="2323792"/>
            <a:ext cx="580053" cy="5800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B12FAF-A8E2-FB4E-DE94-D6FE77FC51E5}"/>
              </a:ext>
            </a:extLst>
          </p:cNvPr>
          <p:cNvSpPr/>
          <p:nvPr/>
        </p:nvSpPr>
        <p:spPr>
          <a:xfrm>
            <a:off x="1904367" y="2323792"/>
            <a:ext cx="580053" cy="5800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036A27-8BEA-D431-552A-1807BDB4515D}"/>
              </a:ext>
            </a:extLst>
          </p:cNvPr>
          <p:cNvSpPr/>
          <p:nvPr/>
        </p:nvSpPr>
        <p:spPr>
          <a:xfrm>
            <a:off x="2616604" y="2323792"/>
            <a:ext cx="580053" cy="5800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0390A7-B99B-38CC-5D0D-78DB5E479979}"/>
              </a:ext>
            </a:extLst>
          </p:cNvPr>
          <p:cNvSpPr/>
          <p:nvPr/>
        </p:nvSpPr>
        <p:spPr>
          <a:xfrm>
            <a:off x="3328841" y="2323792"/>
            <a:ext cx="580053" cy="5800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F3001-470A-8A5E-C9B4-D47DDE646149}"/>
              </a:ext>
            </a:extLst>
          </p:cNvPr>
          <p:cNvSpPr/>
          <p:nvPr/>
        </p:nvSpPr>
        <p:spPr>
          <a:xfrm>
            <a:off x="4041078" y="2323792"/>
            <a:ext cx="580053" cy="5800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42B697-87F9-A9B0-7F98-4300E5F3CEFA}"/>
              </a:ext>
            </a:extLst>
          </p:cNvPr>
          <p:cNvSpPr/>
          <p:nvPr/>
        </p:nvSpPr>
        <p:spPr>
          <a:xfrm>
            <a:off x="4753315" y="2323792"/>
            <a:ext cx="580053" cy="5800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E25DF2-412D-FE72-E6E4-20A797FE9171}"/>
              </a:ext>
            </a:extLst>
          </p:cNvPr>
          <p:cNvSpPr/>
          <p:nvPr/>
        </p:nvSpPr>
        <p:spPr>
          <a:xfrm>
            <a:off x="5465552" y="2323792"/>
            <a:ext cx="580053" cy="58005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EFA8ABB-6FFB-6823-2AE3-5AA52FB6BD6D}"/>
              </a:ext>
            </a:extLst>
          </p:cNvPr>
          <p:cNvSpPr/>
          <p:nvPr/>
        </p:nvSpPr>
        <p:spPr>
          <a:xfrm>
            <a:off x="6177789" y="2323792"/>
            <a:ext cx="580053" cy="5800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453A38-13AB-C6D0-3224-957AE44F5C26}"/>
              </a:ext>
            </a:extLst>
          </p:cNvPr>
          <p:cNvSpPr/>
          <p:nvPr/>
        </p:nvSpPr>
        <p:spPr>
          <a:xfrm>
            <a:off x="6890026" y="2323792"/>
            <a:ext cx="580053" cy="5800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3989B2-9376-E034-54AD-44B5996B199B}"/>
              </a:ext>
            </a:extLst>
          </p:cNvPr>
          <p:cNvSpPr/>
          <p:nvPr/>
        </p:nvSpPr>
        <p:spPr>
          <a:xfrm>
            <a:off x="7602263" y="2323792"/>
            <a:ext cx="580053" cy="5800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B73016-B006-68AC-09EB-E2C65D6755C0}"/>
              </a:ext>
            </a:extLst>
          </p:cNvPr>
          <p:cNvSpPr/>
          <p:nvPr/>
        </p:nvSpPr>
        <p:spPr>
          <a:xfrm>
            <a:off x="8314500" y="2323792"/>
            <a:ext cx="580053" cy="58005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904131-6FDD-48AC-87B4-42679991C792}"/>
              </a:ext>
            </a:extLst>
          </p:cNvPr>
          <p:cNvSpPr/>
          <p:nvPr/>
        </p:nvSpPr>
        <p:spPr>
          <a:xfrm>
            <a:off x="9026737" y="2323792"/>
            <a:ext cx="580053" cy="58005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7BA388-44DA-6FA3-745E-7C896E32BB28}"/>
              </a:ext>
            </a:extLst>
          </p:cNvPr>
          <p:cNvSpPr/>
          <p:nvPr/>
        </p:nvSpPr>
        <p:spPr>
          <a:xfrm>
            <a:off x="9738974" y="2323792"/>
            <a:ext cx="580053" cy="58005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855EFD-539A-0D40-FFD6-EEADCE046E74}"/>
              </a:ext>
            </a:extLst>
          </p:cNvPr>
          <p:cNvSpPr/>
          <p:nvPr/>
        </p:nvSpPr>
        <p:spPr>
          <a:xfrm>
            <a:off x="10451211" y="2323792"/>
            <a:ext cx="580053" cy="5800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227A66-71AA-80B6-30DD-1DDA7908646C}"/>
              </a:ext>
            </a:extLst>
          </p:cNvPr>
          <p:cNvSpPr/>
          <p:nvPr/>
        </p:nvSpPr>
        <p:spPr>
          <a:xfrm>
            <a:off x="11163448" y="2323792"/>
            <a:ext cx="580053" cy="58005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Left Brace 23">
            <a:extLst>
              <a:ext uri="{FF2B5EF4-FFF2-40B4-BE49-F238E27FC236}">
                <a16:creationId xmlns:a16="http://schemas.microsoft.com/office/drawing/2014/main" id="{F49EE266-2743-7BF4-0E18-6882ADC6D5DE}"/>
              </a:ext>
            </a:extLst>
          </p:cNvPr>
          <p:cNvSpPr/>
          <p:nvPr/>
        </p:nvSpPr>
        <p:spPr>
          <a:xfrm rot="16200000">
            <a:off x="1655714" y="1894732"/>
            <a:ext cx="365126" cy="271676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F5DD9C47-EB29-2E7B-E825-15D9D52997DA}"/>
              </a:ext>
            </a:extLst>
          </p:cNvPr>
          <p:cNvSpPr/>
          <p:nvPr/>
        </p:nvSpPr>
        <p:spPr>
          <a:xfrm rot="16200000">
            <a:off x="4504663" y="1894731"/>
            <a:ext cx="365124" cy="271676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0E2A975B-1308-34B1-E0C7-4831D57E4373}"/>
              </a:ext>
            </a:extLst>
          </p:cNvPr>
          <p:cNvSpPr/>
          <p:nvPr/>
        </p:nvSpPr>
        <p:spPr>
          <a:xfrm rot="16200000">
            <a:off x="7353610" y="1894732"/>
            <a:ext cx="365126" cy="271676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860DA307-C1FF-471F-D884-69F5B42BBAD0}"/>
              </a:ext>
            </a:extLst>
          </p:cNvPr>
          <p:cNvSpPr/>
          <p:nvPr/>
        </p:nvSpPr>
        <p:spPr>
          <a:xfrm rot="16200000">
            <a:off x="9134202" y="2963087"/>
            <a:ext cx="365126" cy="58005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770CFD31-4743-D6D5-4124-8084157C18AF}"/>
              </a:ext>
            </a:extLst>
          </p:cNvPr>
          <p:cNvSpPr/>
          <p:nvPr/>
        </p:nvSpPr>
        <p:spPr>
          <a:xfrm rot="16200000">
            <a:off x="9860439" y="2963087"/>
            <a:ext cx="365126" cy="58005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7BA63B81-7E64-700E-6FB5-551ACCFC17D4}"/>
              </a:ext>
            </a:extLst>
          </p:cNvPr>
          <p:cNvSpPr/>
          <p:nvPr/>
        </p:nvSpPr>
        <p:spPr>
          <a:xfrm rot="16200000">
            <a:off x="10928794" y="2620968"/>
            <a:ext cx="365126" cy="126429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654F83F-6053-F480-1FC5-A12B00274469}"/>
              </a:ext>
            </a:extLst>
          </p:cNvPr>
          <p:cNvSpPr txBox="1"/>
          <p:nvPr/>
        </p:nvSpPr>
        <p:spPr>
          <a:xfrm>
            <a:off x="479894" y="3628831"/>
            <a:ext cx="284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04E76D6-D02B-4DCE-95C1-FD63609A290C}"/>
              </a:ext>
            </a:extLst>
          </p:cNvPr>
          <p:cNvSpPr txBox="1"/>
          <p:nvPr/>
        </p:nvSpPr>
        <p:spPr>
          <a:xfrm>
            <a:off x="3328841" y="3628831"/>
            <a:ext cx="271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departmentCode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DC681D-1ED0-97B8-3828-DCD742D02988}"/>
              </a:ext>
            </a:extLst>
          </p:cNvPr>
          <p:cNvSpPr txBox="1"/>
          <p:nvPr/>
        </p:nvSpPr>
        <p:spPr>
          <a:xfrm>
            <a:off x="6185562" y="3637165"/>
            <a:ext cx="2708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salary</a:t>
            </a:r>
          </a:p>
        </p:txBody>
      </p:sp>
      <p:sp>
        <p:nvSpPr>
          <p:cNvPr id="36" name="Callout: Bent Line with No Border 35">
            <a:extLst>
              <a:ext uri="{FF2B5EF4-FFF2-40B4-BE49-F238E27FC236}">
                <a16:creationId xmlns:a16="http://schemas.microsoft.com/office/drawing/2014/main" id="{3DC25F68-9808-6030-8CC2-8F501452026C}"/>
              </a:ext>
            </a:extLst>
          </p:cNvPr>
          <p:cNvSpPr/>
          <p:nvPr/>
        </p:nvSpPr>
        <p:spPr>
          <a:xfrm>
            <a:off x="8399919" y="4438813"/>
            <a:ext cx="790576" cy="457200"/>
          </a:xfrm>
          <a:prstGeom prst="callout2">
            <a:avLst>
              <a:gd name="adj1" fmla="val 46329"/>
              <a:gd name="adj2" fmla="val 99813"/>
              <a:gd name="adj3" fmla="val -45238"/>
              <a:gd name="adj4" fmla="val 122806"/>
              <a:gd name="adj5" fmla="val -198049"/>
              <a:gd name="adj6" fmla="val 123136"/>
            </a:avLst>
          </a:pr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grade</a:t>
            </a:r>
          </a:p>
        </p:txBody>
      </p:sp>
      <p:sp>
        <p:nvSpPr>
          <p:cNvPr id="37" name="Callout: Bent Line with No Border 36">
            <a:extLst>
              <a:ext uri="{FF2B5EF4-FFF2-40B4-BE49-F238E27FC236}">
                <a16:creationId xmlns:a16="http://schemas.microsoft.com/office/drawing/2014/main" id="{159B5CE9-28E5-6DC5-0000-06F4D5748B5A}"/>
              </a:ext>
            </a:extLst>
          </p:cNvPr>
          <p:cNvSpPr/>
          <p:nvPr/>
        </p:nvSpPr>
        <p:spPr>
          <a:xfrm>
            <a:off x="9343686" y="4438813"/>
            <a:ext cx="1107525" cy="457200"/>
          </a:xfrm>
          <a:prstGeom prst="callout2">
            <a:avLst>
              <a:gd name="adj1" fmla="val 10416"/>
              <a:gd name="adj2" fmla="val 61565"/>
              <a:gd name="adj3" fmla="val -56349"/>
              <a:gd name="adj4" fmla="val 75326"/>
              <a:gd name="adj5" fmla="val -194972"/>
              <a:gd name="adj6" fmla="val 65131"/>
            </a:avLst>
          </a:pr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isActive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Callout: Bent Line with No Border 37">
            <a:extLst>
              <a:ext uri="{FF2B5EF4-FFF2-40B4-BE49-F238E27FC236}">
                <a16:creationId xmlns:a16="http://schemas.microsoft.com/office/drawing/2014/main" id="{DFFB3BA0-EA09-2CA7-3AF4-61A428664F55}"/>
              </a:ext>
            </a:extLst>
          </p:cNvPr>
          <p:cNvSpPr/>
          <p:nvPr/>
        </p:nvSpPr>
        <p:spPr>
          <a:xfrm>
            <a:off x="10451211" y="4186218"/>
            <a:ext cx="1740790" cy="457200"/>
          </a:xfrm>
          <a:prstGeom prst="callout2">
            <a:avLst>
              <a:gd name="adj1" fmla="val 6250"/>
              <a:gd name="adj2" fmla="val 8920"/>
              <a:gd name="adj3" fmla="val -43056"/>
              <a:gd name="adj4" fmla="val -659"/>
              <a:gd name="adj5" fmla="val -179695"/>
              <a:gd name="adj6" fmla="val 19693"/>
            </a:avLst>
          </a:pr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padding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2FD943-023D-3E11-4A32-F4964B6E1973}"/>
              </a:ext>
            </a:extLst>
          </p:cNvPr>
          <p:cNvSpPr txBox="1"/>
          <p:nvPr/>
        </p:nvSpPr>
        <p:spPr>
          <a:xfrm>
            <a:off x="533050" y="4507587"/>
            <a:ext cx="651806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Employee</a:t>
            </a:r>
            <a:r>
              <a:rPr lang="ru-RU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id;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departmentCode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salary;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grade;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isActive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094641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2D3403-820C-74DE-A130-08F32AC90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для точки и восьмиугольника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866A10-6CB2-1D7F-D21E-6B7C1092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12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23DE95-952D-9AB2-E382-E641BB739CCF}"/>
              </a:ext>
            </a:extLst>
          </p:cNvPr>
          <p:cNvSpPr txBox="1"/>
          <p:nvPr/>
        </p:nvSpPr>
        <p:spPr>
          <a:xfrm>
            <a:off x="970385" y="1866122"/>
            <a:ext cx="51256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F23FCD-3192-0793-EB5C-E4116DDC5D8E}"/>
              </a:ext>
            </a:extLst>
          </p:cNvPr>
          <p:cNvSpPr/>
          <p:nvPr/>
        </p:nvSpPr>
        <p:spPr>
          <a:xfrm>
            <a:off x="7375997" y="1866122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6A4EE6-B1C7-D610-C100-E8A176D5DF76}"/>
              </a:ext>
            </a:extLst>
          </p:cNvPr>
          <p:cNvSpPr/>
          <p:nvPr/>
        </p:nvSpPr>
        <p:spPr>
          <a:xfrm>
            <a:off x="7776500" y="1866122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8E518-E179-1D53-2538-6DA018E069E8}"/>
              </a:ext>
            </a:extLst>
          </p:cNvPr>
          <p:cNvSpPr/>
          <p:nvPr/>
        </p:nvSpPr>
        <p:spPr>
          <a:xfrm>
            <a:off x="8177003" y="1866122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B2E0B8-080E-A447-2680-C1DF57D312FF}"/>
              </a:ext>
            </a:extLst>
          </p:cNvPr>
          <p:cNvSpPr/>
          <p:nvPr/>
        </p:nvSpPr>
        <p:spPr>
          <a:xfrm>
            <a:off x="8577506" y="1866122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F82A02-60C5-D5B7-3110-EAEA7D38134F}"/>
              </a:ext>
            </a:extLst>
          </p:cNvPr>
          <p:cNvSpPr/>
          <p:nvPr/>
        </p:nvSpPr>
        <p:spPr>
          <a:xfrm>
            <a:off x="8992795" y="1866122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4A646B-CE34-3D42-E3DD-44A17C3F6F0D}"/>
              </a:ext>
            </a:extLst>
          </p:cNvPr>
          <p:cNvSpPr/>
          <p:nvPr/>
        </p:nvSpPr>
        <p:spPr>
          <a:xfrm>
            <a:off x="9393298" y="1866122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3D97B1-0B26-0EC3-A773-E71E7ECE62DD}"/>
              </a:ext>
            </a:extLst>
          </p:cNvPr>
          <p:cNvSpPr/>
          <p:nvPr/>
        </p:nvSpPr>
        <p:spPr>
          <a:xfrm>
            <a:off x="9793801" y="1866122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4088FD-77EB-2A65-4C5E-8B586D87F021}"/>
              </a:ext>
            </a:extLst>
          </p:cNvPr>
          <p:cNvSpPr/>
          <p:nvPr/>
        </p:nvSpPr>
        <p:spPr>
          <a:xfrm>
            <a:off x="10194304" y="1866122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A7A6ACE-3E50-3D56-DDDA-21C9B7C9681C}"/>
              </a:ext>
            </a:extLst>
          </p:cNvPr>
          <p:cNvSpPr/>
          <p:nvPr/>
        </p:nvSpPr>
        <p:spPr>
          <a:xfrm>
            <a:off x="7375997" y="2290113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D3C175-D341-2634-CE5F-F7F9E5B4A5E0}"/>
              </a:ext>
            </a:extLst>
          </p:cNvPr>
          <p:cNvSpPr/>
          <p:nvPr/>
        </p:nvSpPr>
        <p:spPr>
          <a:xfrm>
            <a:off x="7776500" y="2290113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2A6B59-4BE8-5448-C965-DE6F5F7741DB}"/>
              </a:ext>
            </a:extLst>
          </p:cNvPr>
          <p:cNvSpPr/>
          <p:nvPr/>
        </p:nvSpPr>
        <p:spPr>
          <a:xfrm>
            <a:off x="8177003" y="2290113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03FDB6-D66A-B6F7-43D4-3FE4B2566263}"/>
              </a:ext>
            </a:extLst>
          </p:cNvPr>
          <p:cNvSpPr/>
          <p:nvPr/>
        </p:nvSpPr>
        <p:spPr>
          <a:xfrm>
            <a:off x="8577506" y="2290113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1A9320A-FA70-313B-6F45-D8558850A416}"/>
              </a:ext>
            </a:extLst>
          </p:cNvPr>
          <p:cNvSpPr/>
          <p:nvPr/>
        </p:nvSpPr>
        <p:spPr>
          <a:xfrm>
            <a:off x="8992795" y="2290113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533928-EEED-F8BC-65CC-99DEB9928297}"/>
              </a:ext>
            </a:extLst>
          </p:cNvPr>
          <p:cNvSpPr/>
          <p:nvPr/>
        </p:nvSpPr>
        <p:spPr>
          <a:xfrm>
            <a:off x="9393298" y="2290113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4A58F72-E79D-E2EA-EB87-083DD7CCD844}"/>
              </a:ext>
            </a:extLst>
          </p:cNvPr>
          <p:cNvSpPr/>
          <p:nvPr/>
        </p:nvSpPr>
        <p:spPr>
          <a:xfrm>
            <a:off x="9793801" y="2290113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84F637-1BAC-69A2-5712-0C8BA57BF53D}"/>
              </a:ext>
            </a:extLst>
          </p:cNvPr>
          <p:cNvSpPr/>
          <p:nvPr/>
        </p:nvSpPr>
        <p:spPr>
          <a:xfrm>
            <a:off x="10194304" y="2290113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2644350-F7A7-C066-72F0-2F7EB5CF946A}"/>
              </a:ext>
            </a:extLst>
          </p:cNvPr>
          <p:cNvSpPr/>
          <p:nvPr/>
        </p:nvSpPr>
        <p:spPr>
          <a:xfrm>
            <a:off x="7375997" y="2714104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F5EF80-FAFB-1D80-7EEB-974744343614}"/>
              </a:ext>
            </a:extLst>
          </p:cNvPr>
          <p:cNvSpPr/>
          <p:nvPr/>
        </p:nvSpPr>
        <p:spPr>
          <a:xfrm>
            <a:off x="7776500" y="2714104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054950-D889-7B11-0B3A-ACA0734D6FF6}"/>
              </a:ext>
            </a:extLst>
          </p:cNvPr>
          <p:cNvSpPr/>
          <p:nvPr/>
        </p:nvSpPr>
        <p:spPr>
          <a:xfrm>
            <a:off x="8177003" y="2714104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0B9BF3-964C-77A0-650E-C658F89376F4}"/>
              </a:ext>
            </a:extLst>
          </p:cNvPr>
          <p:cNvSpPr/>
          <p:nvPr/>
        </p:nvSpPr>
        <p:spPr>
          <a:xfrm>
            <a:off x="8577506" y="2714104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DE6ED6-858D-4011-60A3-B644E03A4D34}"/>
              </a:ext>
            </a:extLst>
          </p:cNvPr>
          <p:cNvSpPr/>
          <p:nvPr/>
        </p:nvSpPr>
        <p:spPr>
          <a:xfrm>
            <a:off x="8992795" y="2714104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2D264A9-F27C-74E9-A5F2-53F8452758CD}"/>
              </a:ext>
            </a:extLst>
          </p:cNvPr>
          <p:cNvSpPr/>
          <p:nvPr/>
        </p:nvSpPr>
        <p:spPr>
          <a:xfrm>
            <a:off x="9393298" y="2714104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445C2-C178-036C-C514-C8AC2A03AC01}"/>
              </a:ext>
            </a:extLst>
          </p:cNvPr>
          <p:cNvSpPr/>
          <p:nvPr/>
        </p:nvSpPr>
        <p:spPr>
          <a:xfrm>
            <a:off x="9793801" y="2714104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3C40143-3008-3F5F-D46E-06DA9ABC55D1}"/>
              </a:ext>
            </a:extLst>
          </p:cNvPr>
          <p:cNvSpPr/>
          <p:nvPr/>
        </p:nvSpPr>
        <p:spPr>
          <a:xfrm>
            <a:off x="10194304" y="2714104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F5D4E-0AE6-7B78-6D43-B474B9DA11A8}"/>
              </a:ext>
            </a:extLst>
          </p:cNvPr>
          <p:cNvSpPr/>
          <p:nvPr/>
        </p:nvSpPr>
        <p:spPr>
          <a:xfrm>
            <a:off x="7375997" y="3138095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6AECBE3-7C86-8CFB-4B81-743DFA69FB20}"/>
              </a:ext>
            </a:extLst>
          </p:cNvPr>
          <p:cNvSpPr/>
          <p:nvPr/>
        </p:nvSpPr>
        <p:spPr>
          <a:xfrm>
            <a:off x="7776500" y="3138095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440E674-7B5F-27D5-3404-3915CF0DEAA2}"/>
              </a:ext>
            </a:extLst>
          </p:cNvPr>
          <p:cNvSpPr/>
          <p:nvPr/>
        </p:nvSpPr>
        <p:spPr>
          <a:xfrm>
            <a:off x="8177003" y="3138095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74B25CF-A3AF-FA9F-DCF8-555CC6D73D67}"/>
              </a:ext>
            </a:extLst>
          </p:cNvPr>
          <p:cNvSpPr/>
          <p:nvPr/>
        </p:nvSpPr>
        <p:spPr>
          <a:xfrm>
            <a:off x="8577506" y="3138095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CB2F9C7-9884-4D26-4330-B52D10E768D5}"/>
              </a:ext>
            </a:extLst>
          </p:cNvPr>
          <p:cNvSpPr/>
          <p:nvPr/>
        </p:nvSpPr>
        <p:spPr>
          <a:xfrm>
            <a:off x="8992795" y="3138095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6447A68-B072-0AEA-E13C-B25EE039C20D}"/>
              </a:ext>
            </a:extLst>
          </p:cNvPr>
          <p:cNvSpPr/>
          <p:nvPr/>
        </p:nvSpPr>
        <p:spPr>
          <a:xfrm>
            <a:off x="9393298" y="3138095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7EDEBB-9CEA-2FAB-6F87-20DFE13C6E40}"/>
              </a:ext>
            </a:extLst>
          </p:cNvPr>
          <p:cNvSpPr/>
          <p:nvPr/>
        </p:nvSpPr>
        <p:spPr>
          <a:xfrm>
            <a:off x="9793801" y="3138095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9FFD83-9FB3-ED4B-EFCA-1A69778C0633}"/>
              </a:ext>
            </a:extLst>
          </p:cNvPr>
          <p:cNvSpPr/>
          <p:nvPr/>
        </p:nvSpPr>
        <p:spPr>
          <a:xfrm>
            <a:off x="10194304" y="3138095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66A582-DE32-E166-51B4-B1613E21D148}"/>
              </a:ext>
            </a:extLst>
          </p:cNvPr>
          <p:cNvSpPr/>
          <p:nvPr/>
        </p:nvSpPr>
        <p:spPr>
          <a:xfrm>
            <a:off x="7375997" y="3562086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824E8D3-21B9-AF10-80C7-47F6753DC0B9}"/>
              </a:ext>
            </a:extLst>
          </p:cNvPr>
          <p:cNvSpPr/>
          <p:nvPr/>
        </p:nvSpPr>
        <p:spPr>
          <a:xfrm>
            <a:off x="7776500" y="3562086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CC85FC-B4E8-92A3-CB52-7538772A5FC9}"/>
              </a:ext>
            </a:extLst>
          </p:cNvPr>
          <p:cNvSpPr/>
          <p:nvPr/>
        </p:nvSpPr>
        <p:spPr>
          <a:xfrm>
            <a:off x="8177003" y="3562086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2748092-873E-4B37-21D9-55A60C428AAE}"/>
              </a:ext>
            </a:extLst>
          </p:cNvPr>
          <p:cNvSpPr/>
          <p:nvPr/>
        </p:nvSpPr>
        <p:spPr>
          <a:xfrm>
            <a:off x="8577506" y="3562086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A0E5244-B381-F725-4DF0-5F0780BFD591}"/>
              </a:ext>
            </a:extLst>
          </p:cNvPr>
          <p:cNvSpPr/>
          <p:nvPr/>
        </p:nvSpPr>
        <p:spPr>
          <a:xfrm>
            <a:off x="8992795" y="3562086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0A4B18D-0974-8E95-76CA-D06776046391}"/>
              </a:ext>
            </a:extLst>
          </p:cNvPr>
          <p:cNvSpPr/>
          <p:nvPr/>
        </p:nvSpPr>
        <p:spPr>
          <a:xfrm>
            <a:off x="9393298" y="3562086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4EEA9B-BD2D-E8C2-0C41-27BF0F301BBF}"/>
              </a:ext>
            </a:extLst>
          </p:cNvPr>
          <p:cNvSpPr/>
          <p:nvPr/>
        </p:nvSpPr>
        <p:spPr>
          <a:xfrm>
            <a:off x="9793801" y="3562086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B817A9F-4B94-1F44-20AF-3BE25B0EB7A5}"/>
              </a:ext>
            </a:extLst>
          </p:cNvPr>
          <p:cNvSpPr/>
          <p:nvPr/>
        </p:nvSpPr>
        <p:spPr>
          <a:xfrm>
            <a:off x="10194304" y="3562086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C3CA06-0942-6385-A66F-593C68F24F4D}"/>
              </a:ext>
            </a:extLst>
          </p:cNvPr>
          <p:cNvSpPr/>
          <p:nvPr/>
        </p:nvSpPr>
        <p:spPr>
          <a:xfrm>
            <a:off x="7375997" y="3986077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A7CBBA0-685F-D1BC-A6DA-086A89FF215A}"/>
              </a:ext>
            </a:extLst>
          </p:cNvPr>
          <p:cNvSpPr/>
          <p:nvPr/>
        </p:nvSpPr>
        <p:spPr>
          <a:xfrm>
            <a:off x="7776500" y="3986077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95B292-6100-AD61-2E97-33909720CCF0}"/>
              </a:ext>
            </a:extLst>
          </p:cNvPr>
          <p:cNvSpPr/>
          <p:nvPr/>
        </p:nvSpPr>
        <p:spPr>
          <a:xfrm>
            <a:off x="8177003" y="3986077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03F9027-7D2A-1EF1-34CE-A5E1FD93DE66}"/>
              </a:ext>
            </a:extLst>
          </p:cNvPr>
          <p:cNvSpPr/>
          <p:nvPr/>
        </p:nvSpPr>
        <p:spPr>
          <a:xfrm>
            <a:off x="8577506" y="3986077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E9E8A23-F382-D25B-4EB2-7FDF17DB7EB6}"/>
              </a:ext>
            </a:extLst>
          </p:cNvPr>
          <p:cNvSpPr/>
          <p:nvPr/>
        </p:nvSpPr>
        <p:spPr>
          <a:xfrm>
            <a:off x="8992795" y="3986077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79D0EA5-7795-4D14-CCA8-78CC0154316C}"/>
              </a:ext>
            </a:extLst>
          </p:cNvPr>
          <p:cNvSpPr/>
          <p:nvPr/>
        </p:nvSpPr>
        <p:spPr>
          <a:xfrm>
            <a:off x="9393298" y="3986077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FCB822A-7200-E3CE-024B-A37C1639603A}"/>
              </a:ext>
            </a:extLst>
          </p:cNvPr>
          <p:cNvSpPr/>
          <p:nvPr/>
        </p:nvSpPr>
        <p:spPr>
          <a:xfrm>
            <a:off x="9793801" y="3986077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FDAD641-B880-0F72-DFEC-8799346541D2}"/>
              </a:ext>
            </a:extLst>
          </p:cNvPr>
          <p:cNvSpPr/>
          <p:nvPr/>
        </p:nvSpPr>
        <p:spPr>
          <a:xfrm>
            <a:off x="10194304" y="3986077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4F80C9C-B6EC-3ABA-F6CE-2E005111F5B4}"/>
              </a:ext>
            </a:extLst>
          </p:cNvPr>
          <p:cNvSpPr/>
          <p:nvPr/>
        </p:nvSpPr>
        <p:spPr>
          <a:xfrm>
            <a:off x="7375997" y="4410068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7FF81D-DF2F-4C78-26DB-B21E76078142}"/>
              </a:ext>
            </a:extLst>
          </p:cNvPr>
          <p:cNvSpPr/>
          <p:nvPr/>
        </p:nvSpPr>
        <p:spPr>
          <a:xfrm>
            <a:off x="7776500" y="4410068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8C67DF-E1B1-E26B-072A-57C11F33C67F}"/>
              </a:ext>
            </a:extLst>
          </p:cNvPr>
          <p:cNvSpPr/>
          <p:nvPr/>
        </p:nvSpPr>
        <p:spPr>
          <a:xfrm>
            <a:off x="8177003" y="4410068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8B060A6-0006-52BD-25EE-07CCF03B22E4}"/>
              </a:ext>
            </a:extLst>
          </p:cNvPr>
          <p:cNvSpPr/>
          <p:nvPr/>
        </p:nvSpPr>
        <p:spPr>
          <a:xfrm>
            <a:off x="8577506" y="4410068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FE78F19-6FC2-BF15-748F-FD910B7F4547}"/>
              </a:ext>
            </a:extLst>
          </p:cNvPr>
          <p:cNvSpPr/>
          <p:nvPr/>
        </p:nvSpPr>
        <p:spPr>
          <a:xfrm>
            <a:off x="8992795" y="4410068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234DB87-34FB-4767-1922-41042BC1337A}"/>
              </a:ext>
            </a:extLst>
          </p:cNvPr>
          <p:cNvSpPr/>
          <p:nvPr/>
        </p:nvSpPr>
        <p:spPr>
          <a:xfrm>
            <a:off x="9393298" y="4410068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05DEC570-04D4-4B98-C786-D8D17DDD10EE}"/>
              </a:ext>
            </a:extLst>
          </p:cNvPr>
          <p:cNvSpPr/>
          <p:nvPr/>
        </p:nvSpPr>
        <p:spPr>
          <a:xfrm>
            <a:off x="9793801" y="4410068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17D2AA9-B3E0-705D-32C7-8ED0291767E6}"/>
              </a:ext>
            </a:extLst>
          </p:cNvPr>
          <p:cNvSpPr/>
          <p:nvPr/>
        </p:nvSpPr>
        <p:spPr>
          <a:xfrm>
            <a:off x="10194304" y="4410068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E237329-B0E7-E580-D47F-E0D8AC365804}"/>
              </a:ext>
            </a:extLst>
          </p:cNvPr>
          <p:cNvSpPr/>
          <p:nvPr/>
        </p:nvSpPr>
        <p:spPr>
          <a:xfrm>
            <a:off x="7375997" y="4834059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933C477A-5F0A-4D9F-4201-8CA58395B419}"/>
              </a:ext>
            </a:extLst>
          </p:cNvPr>
          <p:cNvSpPr/>
          <p:nvPr/>
        </p:nvSpPr>
        <p:spPr>
          <a:xfrm>
            <a:off x="7776500" y="4834059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71A9497-F85C-351B-F3EE-E02B0906340F}"/>
              </a:ext>
            </a:extLst>
          </p:cNvPr>
          <p:cNvSpPr/>
          <p:nvPr/>
        </p:nvSpPr>
        <p:spPr>
          <a:xfrm>
            <a:off x="8177003" y="4834059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548DF66-4457-C788-D2F2-75C8707B0FBF}"/>
              </a:ext>
            </a:extLst>
          </p:cNvPr>
          <p:cNvSpPr/>
          <p:nvPr/>
        </p:nvSpPr>
        <p:spPr>
          <a:xfrm>
            <a:off x="8577506" y="4834059"/>
            <a:ext cx="362857" cy="36285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ED18A26C-38E4-DF9F-17CB-9A2227E47AF8}"/>
              </a:ext>
            </a:extLst>
          </p:cNvPr>
          <p:cNvSpPr/>
          <p:nvPr/>
        </p:nvSpPr>
        <p:spPr>
          <a:xfrm>
            <a:off x="8992795" y="4834059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E37BF2B-BFF9-3C0C-597F-BE36BB56CBF4}"/>
              </a:ext>
            </a:extLst>
          </p:cNvPr>
          <p:cNvSpPr/>
          <p:nvPr/>
        </p:nvSpPr>
        <p:spPr>
          <a:xfrm>
            <a:off x="9393298" y="4834059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26A07B8-1461-FC26-A5DA-C1567F45F1F9}"/>
              </a:ext>
            </a:extLst>
          </p:cNvPr>
          <p:cNvSpPr/>
          <p:nvPr/>
        </p:nvSpPr>
        <p:spPr>
          <a:xfrm>
            <a:off x="9793801" y="4834059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AB6BDA0-ED7D-8051-2882-1338016329D9}"/>
              </a:ext>
            </a:extLst>
          </p:cNvPr>
          <p:cNvSpPr/>
          <p:nvPr/>
        </p:nvSpPr>
        <p:spPr>
          <a:xfrm>
            <a:off x="10194304" y="4834059"/>
            <a:ext cx="362857" cy="3628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3E75408-D752-06C1-54DB-92036D54A46C}"/>
              </a:ext>
            </a:extLst>
          </p:cNvPr>
          <p:cNvSpPr/>
          <p:nvPr/>
        </p:nvSpPr>
        <p:spPr>
          <a:xfrm>
            <a:off x="7375997" y="5254316"/>
            <a:ext cx="362857" cy="36285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5C50BED-7E6B-2ED2-2661-E5045EB19211}"/>
              </a:ext>
            </a:extLst>
          </p:cNvPr>
          <p:cNvSpPr/>
          <p:nvPr/>
        </p:nvSpPr>
        <p:spPr>
          <a:xfrm>
            <a:off x="7776500" y="5254316"/>
            <a:ext cx="362857" cy="36285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857DE40-1AB4-2335-53D7-85AF223AD8C0}"/>
              </a:ext>
            </a:extLst>
          </p:cNvPr>
          <p:cNvSpPr/>
          <p:nvPr/>
        </p:nvSpPr>
        <p:spPr>
          <a:xfrm>
            <a:off x="8177003" y="5254316"/>
            <a:ext cx="362857" cy="36285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B7F675D-9804-8A49-A575-DC819C4C90A4}"/>
              </a:ext>
            </a:extLst>
          </p:cNvPr>
          <p:cNvSpPr/>
          <p:nvPr/>
        </p:nvSpPr>
        <p:spPr>
          <a:xfrm>
            <a:off x="8577506" y="5254316"/>
            <a:ext cx="362857" cy="36285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1D83E9B-6E27-509F-1945-371EF7DB6C3F}"/>
              </a:ext>
            </a:extLst>
          </p:cNvPr>
          <p:cNvSpPr txBox="1"/>
          <p:nvPr/>
        </p:nvSpPr>
        <p:spPr>
          <a:xfrm>
            <a:off x="10660308" y="1866122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vertices[0]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1771E60-0E58-BC77-5F84-E447B09CA3D5}"/>
              </a:ext>
            </a:extLst>
          </p:cNvPr>
          <p:cNvSpPr txBox="1"/>
          <p:nvPr/>
        </p:nvSpPr>
        <p:spPr>
          <a:xfrm>
            <a:off x="10660308" y="2285385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vertices[1]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42481DE-BAFE-F0E6-0221-7666836FDCB3}"/>
              </a:ext>
            </a:extLst>
          </p:cNvPr>
          <p:cNvSpPr txBox="1"/>
          <p:nvPr/>
        </p:nvSpPr>
        <p:spPr>
          <a:xfrm>
            <a:off x="10660308" y="2718832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vertices[2]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5E11230-6D02-80E8-463E-32B8CD381829}"/>
              </a:ext>
            </a:extLst>
          </p:cNvPr>
          <p:cNvSpPr txBox="1"/>
          <p:nvPr/>
        </p:nvSpPr>
        <p:spPr>
          <a:xfrm>
            <a:off x="10660308" y="3138095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vertices[3]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F6613C2-A7D6-9C17-84BE-BD9E5AC0820D}"/>
              </a:ext>
            </a:extLst>
          </p:cNvPr>
          <p:cNvSpPr txBox="1"/>
          <p:nvPr/>
        </p:nvSpPr>
        <p:spPr>
          <a:xfrm>
            <a:off x="10660308" y="3562086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vertices[4]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FDC1727-7233-C05A-081B-24209D6B5FEC}"/>
              </a:ext>
            </a:extLst>
          </p:cNvPr>
          <p:cNvSpPr txBox="1"/>
          <p:nvPr/>
        </p:nvSpPr>
        <p:spPr>
          <a:xfrm>
            <a:off x="10660308" y="3986077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vertices[5]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1F714F8-74A7-BC05-89DA-EA1B12374FB9}"/>
              </a:ext>
            </a:extLst>
          </p:cNvPr>
          <p:cNvSpPr txBox="1"/>
          <p:nvPr/>
        </p:nvSpPr>
        <p:spPr>
          <a:xfrm>
            <a:off x="10660308" y="4410068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vertices[6]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3DF028D-4AC1-ECC2-A960-46800FFA83A3}"/>
              </a:ext>
            </a:extLst>
          </p:cNvPr>
          <p:cNvSpPr txBox="1"/>
          <p:nvPr/>
        </p:nvSpPr>
        <p:spPr>
          <a:xfrm>
            <a:off x="10660308" y="4834059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vertices[7]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8951D42-44C9-4EE1-50DA-1F780A4BE455}"/>
              </a:ext>
            </a:extLst>
          </p:cNvPr>
          <p:cNvSpPr txBox="1"/>
          <p:nvPr/>
        </p:nvSpPr>
        <p:spPr>
          <a:xfrm>
            <a:off x="10660308" y="5254316"/>
            <a:ext cx="1289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color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0406DA-5CE4-0D41-9584-60610440A700}"/>
              </a:ext>
            </a:extLst>
          </p:cNvPr>
          <p:cNvSpPr txBox="1"/>
          <p:nvPr/>
        </p:nvSpPr>
        <p:spPr>
          <a:xfrm>
            <a:off x="970385" y="5061584"/>
            <a:ext cx="41480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vertices[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color;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88E8BCC-8148-9AD5-1B85-4A88596D1478}"/>
              </a:ext>
            </a:extLst>
          </p:cNvPr>
          <p:cNvGrpSpPr/>
          <p:nvPr/>
        </p:nvGrpSpPr>
        <p:grpSpPr>
          <a:xfrm>
            <a:off x="1062664" y="3247571"/>
            <a:ext cx="3185948" cy="1334371"/>
            <a:chOff x="1062664" y="3247571"/>
            <a:chExt cx="3185948" cy="1334371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13F6EC2C-C6F0-6323-EF85-1EB8362DEB8D}"/>
                </a:ext>
              </a:extLst>
            </p:cNvPr>
            <p:cNvSpPr/>
            <p:nvPr/>
          </p:nvSpPr>
          <p:spPr>
            <a:xfrm>
              <a:off x="1062664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449A70D5-B1EA-89C3-6251-D2518C9F3386}"/>
                </a:ext>
              </a:extLst>
            </p:cNvPr>
            <p:cNvSpPr/>
            <p:nvPr/>
          </p:nvSpPr>
          <p:spPr>
            <a:xfrm>
              <a:off x="1463167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8EA6864D-1B1E-B9F1-813E-EDE59A617D13}"/>
                </a:ext>
              </a:extLst>
            </p:cNvPr>
            <p:cNvSpPr/>
            <p:nvPr/>
          </p:nvSpPr>
          <p:spPr>
            <a:xfrm>
              <a:off x="1863670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9283F535-829E-D922-6688-D5F6FE86B509}"/>
                </a:ext>
              </a:extLst>
            </p:cNvPr>
            <p:cNvSpPr/>
            <p:nvPr/>
          </p:nvSpPr>
          <p:spPr>
            <a:xfrm>
              <a:off x="2264173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75B17E3E-0393-5F7E-6710-E04E4E1653DB}"/>
                </a:ext>
              </a:extLst>
            </p:cNvPr>
            <p:cNvSpPr/>
            <p:nvPr/>
          </p:nvSpPr>
          <p:spPr>
            <a:xfrm>
              <a:off x="2679462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68108AEA-7B63-C38B-8721-FAFF5E8B9E3B}"/>
                </a:ext>
              </a:extLst>
            </p:cNvPr>
            <p:cNvSpPr/>
            <p:nvPr/>
          </p:nvSpPr>
          <p:spPr>
            <a:xfrm>
              <a:off x="3079965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2A35CEC-EF65-F874-4E95-D70BA066BEA1}"/>
                </a:ext>
              </a:extLst>
            </p:cNvPr>
            <p:cNvSpPr/>
            <p:nvPr/>
          </p:nvSpPr>
          <p:spPr>
            <a:xfrm>
              <a:off x="3480468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CC5856A4-12F2-4452-34AB-088CD6C097A2}"/>
                </a:ext>
              </a:extLst>
            </p:cNvPr>
            <p:cNvSpPr/>
            <p:nvPr/>
          </p:nvSpPr>
          <p:spPr>
            <a:xfrm>
              <a:off x="3880971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6" name="Left Brace 95">
              <a:extLst>
                <a:ext uri="{FF2B5EF4-FFF2-40B4-BE49-F238E27FC236}">
                  <a16:creationId xmlns:a16="http://schemas.microsoft.com/office/drawing/2014/main" id="{D6B01EC0-2425-EC16-6CB5-24B6D06CAF5B}"/>
                </a:ext>
              </a:extLst>
            </p:cNvPr>
            <p:cNvSpPr/>
            <p:nvPr/>
          </p:nvSpPr>
          <p:spPr>
            <a:xfrm rot="16200000">
              <a:off x="1659853" y="3187806"/>
              <a:ext cx="365126" cy="155896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64969FF-1114-86DB-9DCD-EF2A35FA33C8}"/>
                </a:ext>
              </a:extLst>
            </p:cNvPr>
            <p:cNvSpPr txBox="1"/>
            <p:nvPr/>
          </p:nvSpPr>
          <p:spPr>
            <a:xfrm>
              <a:off x="1076658" y="4212610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x</a:t>
              </a:r>
            </a:p>
          </p:txBody>
        </p:sp>
        <p:sp>
          <p:nvSpPr>
            <p:cNvPr id="100" name="Left Brace 99">
              <a:extLst>
                <a:ext uri="{FF2B5EF4-FFF2-40B4-BE49-F238E27FC236}">
                  <a16:creationId xmlns:a16="http://schemas.microsoft.com/office/drawing/2014/main" id="{715A9E18-C5AC-C258-5D2E-F1483F906176}"/>
                </a:ext>
              </a:extLst>
            </p:cNvPr>
            <p:cNvSpPr/>
            <p:nvPr/>
          </p:nvSpPr>
          <p:spPr>
            <a:xfrm rot="16200000">
              <a:off x="3288074" y="3197621"/>
              <a:ext cx="365126" cy="1551327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BEE60D63-941F-F6B2-7299-329404058FF8}"/>
                </a:ext>
              </a:extLst>
            </p:cNvPr>
            <p:cNvSpPr txBox="1"/>
            <p:nvPr/>
          </p:nvSpPr>
          <p:spPr>
            <a:xfrm>
              <a:off x="2715046" y="4173106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y</a:t>
              </a:r>
            </a:p>
          </p:txBody>
        </p:sp>
      </p:grp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B420DBC-5812-280C-4382-5C0F937D12A7}"/>
              </a:ext>
            </a:extLst>
          </p:cNvPr>
          <p:cNvCxnSpPr/>
          <p:nvPr/>
        </p:nvCxnSpPr>
        <p:spPr>
          <a:xfrm flipV="1">
            <a:off x="4586514" y="4348934"/>
            <a:ext cx="1872343" cy="905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DFF26857-E1AB-2BCE-EDD3-8F22276D2704}"/>
              </a:ext>
            </a:extLst>
          </p:cNvPr>
          <p:cNvSpPr txBox="1"/>
          <p:nvPr/>
        </p:nvSpPr>
        <p:spPr>
          <a:xfrm>
            <a:off x="6474841" y="1916053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0x00: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0D5B459-063C-D895-5D31-D6556296E4AA}"/>
              </a:ext>
            </a:extLst>
          </p:cNvPr>
          <p:cNvSpPr txBox="1"/>
          <p:nvPr/>
        </p:nvSpPr>
        <p:spPr>
          <a:xfrm>
            <a:off x="6474841" y="2297470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0x08: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8404331-B1C4-25BD-48B2-A084641AC17E}"/>
              </a:ext>
            </a:extLst>
          </p:cNvPr>
          <p:cNvSpPr txBox="1"/>
          <p:nvPr/>
        </p:nvSpPr>
        <p:spPr>
          <a:xfrm>
            <a:off x="6474841" y="2714104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0x10: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235C7A4-F110-4294-4BEF-1E6DEFBCCFF1}"/>
              </a:ext>
            </a:extLst>
          </p:cNvPr>
          <p:cNvSpPr txBox="1"/>
          <p:nvPr/>
        </p:nvSpPr>
        <p:spPr>
          <a:xfrm>
            <a:off x="6474841" y="3138095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0x18: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D429CA7-1990-7B1B-1767-C8AF50B1DAB3}"/>
              </a:ext>
            </a:extLst>
          </p:cNvPr>
          <p:cNvSpPr txBox="1"/>
          <p:nvPr/>
        </p:nvSpPr>
        <p:spPr>
          <a:xfrm>
            <a:off x="6474841" y="3562086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0x20: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95D36D2-82AC-8BD3-C735-DCDF9BE3D429}"/>
              </a:ext>
            </a:extLst>
          </p:cNvPr>
          <p:cNvSpPr txBox="1"/>
          <p:nvPr/>
        </p:nvSpPr>
        <p:spPr>
          <a:xfrm>
            <a:off x="6474841" y="3986077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0x28: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16E5FDC-74DA-D668-AB19-7381770AF031}"/>
              </a:ext>
            </a:extLst>
          </p:cNvPr>
          <p:cNvSpPr txBox="1"/>
          <p:nvPr/>
        </p:nvSpPr>
        <p:spPr>
          <a:xfrm>
            <a:off x="6474841" y="4410068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0x30: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068C241-5A19-59C3-6125-5CE4A4075C91}"/>
              </a:ext>
            </a:extLst>
          </p:cNvPr>
          <p:cNvSpPr txBox="1"/>
          <p:nvPr/>
        </p:nvSpPr>
        <p:spPr>
          <a:xfrm>
            <a:off x="6474841" y="4834059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0x38: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A442178-6CBC-1375-8618-7A48CD6DEDB3}"/>
              </a:ext>
            </a:extLst>
          </p:cNvPr>
          <p:cNvSpPr txBox="1"/>
          <p:nvPr/>
        </p:nvSpPr>
        <p:spPr>
          <a:xfrm>
            <a:off x="6474841" y="5254316"/>
            <a:ext cx="855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0x40:</a:t>
            </a:r>
          </a:p>
        </p:txBody>
      </p:sp>
    </p:spTree>
    <p:extLst>
      <p:ext uri="{BB962C8B-B14F-4D97-AF65-F5344CB8AC3E}">
        <p14:creationId xmlns:p14="http://schemas.microsoft.com/office/powerpoint/2010/main" val="2190899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8F551-D593-DBB0-49BE-4D8B178B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структур при объявлении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566D-A221-AC84-E26E-342151B9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E4906E-1C0F-CF22-4E53-50E6BAB1824A}"/>
              </a:ext>
            </a:extLst>
          </p:cNvPr>
          <p:cNvSpPr txBox="1"/>
          <p:nvPr/>
        </p:nvSpPr>
        <p:spPr>
          <a:xfrm>
            <a:off x="838200" y="1930400"/>
            <a:ext cx="4706257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LineSegment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start;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end;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Triangle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vertices[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163DDE-B3CF-DEEF-9352-1480883F06D3}"/>
              </a:ext>
            </a:extLst>
          </p:cNvPr>
          <p:cNvSpPr txBox="1"/>
          <p:nvPr/>
        </p:nvSpPr>
        <p:spPr>
          <a:xfrm>
            <a:off x="6096000" y="1930400"/>
            <a:ext cx="5660571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Инициализация простой структуры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Point p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Инициализация вложенных структур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LineSegment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segment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start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end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Инициализация массива внутри структуры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Triangle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03521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8DB0D-422F-E09C-5F7F-4BF8D891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Нулевая и частичная инициализация структур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42272F-8B85-87A7-582E-6D869AA10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8336FA-C1A5-6853-7B3D-91327E87E5B2}"/>
              </a:ext>
            </a:extLst>
          </p:cNvPr>
          <p:cNvSpPr txBox="1"/>
          <p:nvPr/>
        </p:nvSpPr>
        <p:spPr>
          <a:xfrm>
            <a:off x="838199" y="1915886"/>
            <a:ext cx="985883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Полная нулевая инициализация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// x = 0, y = 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LineSegment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segment1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start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end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обнулены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triangle1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3 точки равны {0,0}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Частичная инициализация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// x = 7, y = 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LineSegment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segment2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        // start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                 // end = {0,0}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triangle2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        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третья точка = {0,0}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5076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FCD8C-598B-6844-58FC-B595D928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Designated initializers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78A940-A262-91E6-5E7B-0ABAF065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97384-8415-2D8E-7A95-8C132DAF53AF}"/>
              </a:ext>
            </a:extLst>
          </p:cNvPr>
          <p:cNvSpPr txBox="1"/>
          <p:nvPr/>
        </p:nvSpPr>
        <p:spPr>
          <a:xfrm>
            <a:off x="943429" y="1690688"/>
            <a:ext cx="387531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position;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velocity;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fuel;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7FC42F-C071-BCC1-3D5A-E6E79DE20B52}"/>
              </a:ext>
            </a:extLst>
          </p:cNvPr>
          <p:cNvSpPr txBox="1"/>
          <p:nvPr/>
        </p:nvSpPr>
        <p:spPr>
          <a:xfrm>
            <a:off x="5268685" y="1690688"/>
            <a:ext cx="692331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.position = { .x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.velocity = { .x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 .y =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.fuel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.fuel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остальные поля будут обнулены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1170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1D093-A495-C251-916C-2D7595DD5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выражениями и вызовами функций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7A8FB3-45EE-1A3A-65AD-7D21CC487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31CE7B-3EFF-6A2D-D35E-5EEAC8087393}"/>
              </a:ext>
            </a:extLst>
          </p:cNvPr>
          <p:cNvSpPr txBox="1"/>
          <p:nvPr/>
        </p:nvSpPr>
        <p:spPr>
          <a:xfrm>
            <a:off x="838200" y="1828800"/>
            <a:ext cx="5257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GetX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GetY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called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F08835-CBC2-87DC-A741-977C6D9750F1}"/>
              </a:ext>
            </a:extLst>
          </p:cNvPr>
          <p:cNvSpPr txBox="1"/>
          <p:nvPr/>
        </p:nvSpPr>
        <p:spPr>
          <a:xfrm>
            <a:off x="6096000" y="1828800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.x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выражение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вызов функции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Порядок вызова функций может быть любым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q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.x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.y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8147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1020009-D00B-2F5B-95CE-6D55A3231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типа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C9B6F2-6422-BDB5-3DA3-107750CDA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24F08-D31B-386B-6AA7-9981B6A98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2708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0651F-980D-7977-8251-E95E86BDC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нужно писать </a:t>
            </a:r>
            <a:r>
              <a:rPr lang="en-US" dirty="0"/>
              <a:t>struct</a:t>
            </a:r>
            <a:r>
              <a:rPr lang="ru-RU" dirty="0"/>
              <a:t> при объявлении переменной</a:t>
            </a:r>
            <a:r>
              <a:rPr lang="en-US" dirty="0"/>
              <a:t>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865EAD-7449-E73B-3F4B-6A7A9F91B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ru-RU" dirty="0"/>
              <a:t>В языке </a:t>
            </a:r>
            <a:r>
              <a:rPr lang="en-US" dirty="0"/>
              <a:t>C </a:t>
            </a:r>
            <a:r>
              <a:rPr lang="ru-RU" dirty="0"/>
              <a:t>имя структуры и имя типа – не одно и то же</a:t>
            </a:r>
          </a:p>
          <a:p>
            <a:pPr lvl="1"/>
            <a:r>
              <a:rPr lang="en-US" dirty="0"/>
              <a:t>Point – </a:t>
            </a:r>
            <a:r>
              <a:rPr lang="ru-RU" dirty="0"/>
              <a:t>это тег структуры</a:t>
            </a:r>
          </a:p>
          <a:p>
            <a:pPr lvl="1"/>
            <a:r>
              <a:rPr lang="en-US" dirty="0"/>
              <a:t>struct Point – </a:t>
            </a:r>
            <a:r>
              <a:rPr lang="ru-RU" dirty="0"/>
              <a:t>это полноценное имя типа</a:t>
            </a:r>
          </a:p>
          <a:p>
            <a:r>
              <a:rPr lang="ru-RU" dirty="0"/>
              <a:t>Это историческая особенность языка</a:t>
            </a:r>
          </a:p>
          <a:p>
            <a:r>
              <a:rPr lang="ru-RU" dirty="0"/>
              <a:t>В реальном коде используют </a:t>
            </a:r>
            <a:r>
              <a:rPr lang="en-US" dirty="0"/>
              <a:t>typedef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D757A5-30B9-5F5C-985C-6001C3DC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DA43E-7B29-8BDE-A68B-BB1228B99040}"/>
              </a:ext>
            </a:extLst>
          </p:cNvPr>
          <p:cNvSpPr txBox="1"/>
          <p:nvPr/>
        </p:nvSpPr>
        <p:spPr>
          <a:xfrm>
            <a:off x="6305550" y="1825625"/>
            <a:ext cx="588645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почему не просто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Point p?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53344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270A379-831A-8977-C42A-026833E44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typedef — </a:t>
            </a:r>
            <a:r>
              <a:rPr lang="ru-RU" dirty="0"/>
              <a:t>создание синонима типа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AD3B8E-B0E8-DD80-7893-8A6A85889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1FDC95-7950-E4AE-FC9A-76D62D1679E2}"/>
              </a:ext>
            </a:extLst>
          </p:cNvPr>
          <p:cNvSpPr txBox="1"/>
          <p:nvPr/>
        </p:nvSpPr>
        <p:spPr>
          <a:xfrm>
            <a:off x="838200" y="1962150"/>
            <a:ext cx="52578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Health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Coord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Warrior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position;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Health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health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Warrior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warrior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position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// health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12418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91D-D443-E05B-7510-A654CDB69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typedef </a:t>
            </a:r>
            <a:r>
              <a:rPr lang="ru-RU" dirty="0"/>
              <a:t>для структуры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E6ED8-C97C-6B21-7BEC-8DB43C73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0E86AA-90D9-517A-6078-372612415FC9}"/>
              </a:ext>
            </a:extLst>
          </p:cNvPr>
          <p:cNvSpPr txBox="1"/>
          <p:nvPr/>
        </p:nvSpPr>
        <p:spPr>
          <a:xfrm>
            <a:off x="190500" y="1690688"/>
            <a:ext cx="2971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265CE7-793B-3B9B-3BE3-170B53E34C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7039" y="1690688"/>
            <a:ext cx="5214936" cy="34766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8362F2-06E4-DA21-4188-F55F89910BF4}"/>
              </a:ext>
            </a:extLst>
          </p:cNvPr>
          <p:cNvSpPr txBox="1"/>
          <p:nvPr/>
        </p:nvSpPr>
        <p:spPr>
          <a:xfrm>
            <a:off x="8505825" y="1690688"/>
            <a:ext cx="368617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0AA2F1-A7A6-0BE3-4D2E-7B6EF35C69E6}"/>
              </a:ext>
            </a:extLst>
          </p:cNvPr>
          <p:cNvSpPr txBox="1"/>
          <p:nvPr/>
        </p:nvSpPr>
        <p:spPr>
          <a:xfrm>
            <a:off x="2967039" y="5293161"/>
            <a:ext cx="5643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Картина: «</a:t>
            </a:r>
            <a:r>
              <a:rPr lang="ru-RU" dirty="0" err="1"/>
              <a:t>Жызнь</a:t>
            </a:r>
            <a:r>
              <a:rPr lang="ru-RU" dirty="0"/>
              <a:t> с бородой / </a:t>
            </a:r>
            <a:r>
              <a:rPr lang="ru-RU" dirty="0" err="1"/>
              <a:t>Жызнь</a:t>
            </a:r>
            <a:r>
              <a:rPr lang="ru-RU" dirty="0"/>
              <a:t> без бороды»</a:t>
            </a:r>
            <a:br>
              <a:rPr lang="ru-RU" dirty="0"/>
            </a:br>
            <a:r>
              <a:rPr lang="ru-RU" dirty="0"/>
              <a:t>Художник: Вася Ложкин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6282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86B8-EFE8-DBB5-A1C9-3591FDFAA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структур при присваивании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F959BD-1EC0-65AB-76D7-31FE10C9A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A5AB3-4CE2-1F8B-632E-74470C5A5D4A}"/>
              </a:ext>
            </a:extLst>
          </p:cNvPr>
          <p:cNvSpPr txBox="1"/>
          <p:nvPr/>
        </p:nvSpPr>
        <p:spPr>
          <a:xfrm>
            <a:off x="838200" y="1690688"/>
            <a:ext cx="38290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vertices[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450DAA-36D9-C59E-7487-1CC4A3BF3A17}"/>
              </a:ext>
            </a:extLst>
          </p:cNvPr>
          <p:cNvSpPr txBox="1"/>
          <p:nvPr/>
        </p:nvSpPr>
        <p:spPr>
          <a:xfrm>
            <a:off x="3905250" y="1690688"/>
            <a:ext cx="821055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копируются оба поля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</a:t>
            </a: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 {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{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{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}</a:t>
            </a: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копируется весь треугольник</a:t>
            </a:r>
            <a:b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.vertices[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8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копировать отдельные точки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можно копировать части структуры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.vertices[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8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.vertices[</a:t>
            </a:r>
            <a:r>
              <a:rPr lang="en-US" sz="18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endParaRPr lang="ru-RU" sz="18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8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68728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F8880-4FC5-3218-9233-2F4D1B5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структуры в функцию по значению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9AFE8B-68C0-69A3-15E3-9966DE68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9B03FF-E382-29FA-3B54-7F91F1611BB8}"/>
              </a:ext>
            </a:extLst>
          </p:cNvPr>
          <p:cNvSpPr txBox="1"/>
          <p:nvPr/>
        </p:nvSpPr>
        <p:spPr>
          <a:xfrm>
            <a:off x="838200" y="1779687"/>
            <a:ext cx="109347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ReflectPointX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-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изменяется копия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возвращается новая структура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reflectedPoint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ReflectPointX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останется {3, 5}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reflectedPoint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{-3, 5}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28572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920B3-7B7C-855D-5125-0AB957438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структуры: передача по указателю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B5563-1B50-1401-01E8-AF74785D5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5DBB8D-2A69-9B0B-1828-FD446054A2A4}"/>
              </a:ext>
            </a:extLst>
          </p:cNvPr>
          <p:cNvSpPr txBox="1"/>
          <p:nvPr/>
        </p:nvSpPr>
        <p:spPr>
          <a:xfrm>
            <a:off x="838200" y="1981200"/>
            <a:ext cx="58293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-&gt;x,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-&gt;y)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53AF4-807A-DE2F-B397-3C22CA4C16D0}"/>
              </a:ext>
            </a:extLst>
          </p:cNvPr>
          <p:cNvSpPr txBox="1"/>
          <p:nvPr/>
        </p:nvSpPr>
        <p:spPr>
          <a:xfrm>
            <a:off x="6381750" y="1981200"/>
            <a:ext cx="56769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Input error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 вызова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ReadPoint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поля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p.x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p.y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изменены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4649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96CBA-D0C4-36D3-A4C0-C476125AA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Структуры, содержащие массивы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903233-B43D-80D6-B954-E1CF972AF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9AD88B-0B09-4FB1-B56C-D8968533FAE2}"/>
              </a:ext>
            </a:extLst>
          </p:cNvPr>
          <p:cNvSpPr txBox="1"/>
          <p:nvPr/>
        </p:nvSpPr>
        <p:spPr>
          <a:xfrm>
            <a:off x="838200" y="1847850"/>
            <a:ext cx="527685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vertices[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HFlipTriangle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.vertices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].x = -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.vertices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].x;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возвращается копия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53DC62-F5DE-1953-FCD1-F1CFFD4247B0}"/>
              </a:ext>
            </a:extLst>
          </p:cNvPr>
          <p:cNvSpPr txBox="1"/>
          <p:nvPr/>
        </p:nvSpPr>
        <p:spPr>
          <a:xfrm>
            <a:off x="6324600" y="1847850"/>
            <a:ext cx="52768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},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t1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копируется в функцию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затем возвращается новая копия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flipped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HFlipTriangle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</a:t>
            </a:r>
            <a:endParaRPr lang="ru-RU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копируется весь массив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vertices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Triangle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t1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изменился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8DBE9D1-74B7-1B19-BA1E-D723A630E06E}"/>
                  </a:ext>
                </a:extLst>
              </p14:cNvPr>
              <p14:cNvContentPartPr/>
              <p14:nvPr/>
            </p14:nvContentPartPr>
            <p14:xfrm>
              <a:off x="1466640" y="3850200"/>
              <a:ext cx="4542120" cy="2942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8DBE9D1-74B7-1B19-BA1E-D723A630E06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7280" y="3840840"/>
                <a:ext cx="4560840" cy="2961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99479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65555-77A6-E27A-0513-2BCBF4D7F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структуры и стоимость копирования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07F190-41C1-22D1-CF2C-11037E73E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60085-9093-05E3-4139-B3FD032244A0}"/>
              </a:ext>
            </a:extLst>
          </p:cNvPr>
          <p:cNvSpPr txBox="1"/>
          <p:nvPr/>
        </p:nvSpPr>
        <p:spPr>
          <a:xfrm>
            <a:off x="0" y="2019299"/>
            <a:ext cx="7467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vertices[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color;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Передача по значению (копирование всей структуры)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...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Передача по указателю (без копирования)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ProcessOctagonConst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... */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E7D48-BAA5-9C95-7615-1FD1F35A325E}"/>
              </a:ext>
            </a:extLst>
          </p:cNvPr>
          <p:cNvSpPr txBox="1"/>
          <p:nvPr/>
        </p:nvSpPr>
        <p:spPr>
          <a:xfrm>
            <a:off x="4224338" y="2019299"/>
            <a:ext cx="81391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(Octagon)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bytes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.vertices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{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.color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0xFF0000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ProcessOctagon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Копирование всей структуры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ProcessOctagonConst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Передача по указателю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7E678F-85D8-E539-962E-C8A69917F585}"/>
              </a:ext>
            </a:extLst>
          </p:cNvPr>
          <p:cNvSpPr txBox="1"/>
          <p:nvPr/>
        </p:nvSpPr>
        <p:spPr>
          <a:xfrm>
            <a:off x="7772400" y="5804950"/>
            <a:ext cx="35814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(Octagon) = 68 bytes</a:t>
            </a:r>
          </a:p>
        </p:txBody>
      </p:sp>
    </p:spTree>
    <p:extLst>
      <p:ext uri="{BB962C8B-B14F-4D97-AF65-F5344CB8AC3E}">
        <p14:creationId xmlns:p14="http://schemas.microsoft.com/office/powerpoint/2010/main" val="22662298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8A6B48F-6010-3C0A-9396-D2D9ADD99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00A8AF7-0B58-A7B9-A8BE-202D1C634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095E4E-24C9-89A8-FFD8-C309600E3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707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A7247-D1CC-0397-BA38-7504C5C49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Зачем нужно выравнивание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DA6247-E7A6-DEC5-652C-D7637A30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Процессор работает с памятью не только как с отдельными байтами, но и более крупными блоками (например 2, 4 или 8 байт)</a:t>
            </a:r>
          </a:p>
          <a:p>
            <a:r>
              <a:rPr lang="ru-RU" dirty="0"/>
              <a:t>Для многих типов данных желательно, чтобы адрес значения был кратен размеру такого блока</a:t>
            </a:r>
          </a:p>
          <a:p>
            <a:pPr lvl="1"/>
            <a:r>
              <a:rPr lang="ru-RU" dirty="0"/>
              <a:t>На некоторых архитектурах чтение по </a:t>
            </a:r>
            <a:r>
              <a:rPr lang="ru-RU" dirty="0" err="1"/>
              <a:t>невыровненному</a:t>
            </a:r>
            <a:r>
              <a:rPr lang="ru-RU" dirty="0"/>
              <a:t> адресу может привести к аппаратному исключению</a:t>
            </a:r>
          </a:p>
          <a:p>
            <a:r>
              <a:rPr lang="ru-RU" dirty="0"/>
              <a:t>В C для каждого встроенного типа существуют требования к выравниванию</a:t>
            </a:r>
          </a:p>
          <a:p>
            <a:pPr lvl="1"/>
            <a:r>
              <a:rPr lang="ru-RU" dirty="0"/>
              <a:t>Доступ к памяти по </a:t>
            </a:r>
            <a:r>
              <a:rPr lang="ru-RU" dirty="0" err="1"/>
              <a:t>невыровненному</a:t>
            </a:r>
            <a:r>
              <a:rPr lang="ru-RU" dirty="0"/>
              <a:t> адресу — неопределённое поведение</a:t>
            </a:r>
          </a:p>
          <a:p>
            <a:r>
              <a:rPr lang="ru-RU" dirty="0"/>
              <a:t>Компилятор вставляет </a:t>
            </a:r>
            <a:r>
              <a:rPr lang="ru-RU" dirty="0" err="1"/>
              <a:t>padding</a:t>
            </a:r>
            <a:r>
              <a:rPr lang="ru-RU" dirty="0"/>
              <a:t>-байты внутри структуры, чтобы соблюсти требования выравнивания</a:t>
            </a:r>
          </a:p>
          <a:p>
            <a:pPr lvl="1"/>
            <a:r>
              <a:rPr lang="ru-RU" dirty="0"/>
              <a:t>Размер структуры может быть больше, чем сумма размеров её полей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458FC8-7F20-D653-729C-EEB53A289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169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24A28CC-EE31-795F-E15C-527FE918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без «дыр»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D94CE-EC8C-EF57-9E34-24836F255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28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67294-76E1-08C6-CAD1-1C2B2B89E1F4}"/>
              </a:ext>
            </a:extLst>
          </p:cNvPr>
          <p:cNvSpPr txBox="1"/>
          <p:nvPr/>
        </p:nvSpPr>
        <p:spPr>
          <a:xfrm>
            <a:off x="838200" y="169068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Point;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(int):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Скорее всего,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(Point):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(Point));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Скорее всего, 8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8CBE36-80D9-8402-903C-EF2A49590C36}"/>
              </a:ext>
            </a:extLst>
          </p:cNvPr>
          <p:cNvSpPr txBox="1"/>
          <p:nvPr/>
        </p:nvSpPr>
        <p:spPr>
          <a:xfrm>
            <a:off x="838200" y="5270014"/>
            <a:ext cx="3809999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(int): 4</a:t>
            </a: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(Point): 8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21F7153-7947-0C81-BF3D-8C6DDA5B3568}"/>
              </a:ext>
            </a:extLst>
          </p:cNvPr>
          <p:cNvGrpSpPr/>
          <p:nvPr/>
        </p:nvGrpSpPr>
        <p:grpSpPr>
          <a:xfrm>
            <a:off x="6096000" y="5365998"/>
            <a:ext cx="3185948" cy="1334371"/>
            <a:chOff x="1062664" y="3247571"/>
            <a:chExt cx="3185948" cy="1334371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3A98878-031B-BFF9-54FA-EC431C8368F7}"/>
                </a:ext>
              </a:extLst>
            </p:cNvPr>
            <p:cNvSpPr/>
            <p:nvPr/>
          </p:nvSpPr>
          <p:spPr>
            <a:xfrm>
              <a:off x="1062664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7B4537-C7AD-1F6C-8215-1C448A9068CD}"/>
                </a:ext>
              </a:extLst>
            </p:cNvPr>
            <p:cNvSpPr/>
            <p:nvPr/>
          </p:nvSpPr>
          <p:spPr>
            <a:xfrm>
              <a:off x="1463167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3872AE-A593-55AF-AD75-2B0F87E3C1C7}"/>
                </a:ext>
              </a:extLst>
            </p:cNvPr>
            <p:cNvSpPr/>
            <p:nvPr/>
          </p:nvSpPr>
          <p:spPr>
            <a:xfrm>
              <a:off x="1863670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C5200B0-E3FD-D5AD-74E2-03B71CDEA16A}"/>
                </a:ext>
              </a:extLst>
            </p:cNvPr>
            <p:cNvSpPr/>
            <p:nvPr/>
          </p:nvSpPr>
          <p:spPr>
            <a:xfrm>
              <a:off x="2264173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03671A0-A610-BDCD-4170-9D158CA30961}"/>
                </a:ext>
              </a:extLst>
            </p:cNvPr>
            <p:cNvSpPr/>
            <p:nvPr/>
          </p:nvSpPr>
          <p:spPr>
            <a:xfrm>
              <a:off x="2679462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28E63FA-8196-5C48-8598-7197E131B1DC}"/>
                </a:ext>
              </a:extLst>
            </p:cNvPr>
            <p:cNvSpPr/>
            <p:nvPr/>
          </p:nvSpPr>
          <p:spPr>
            <a:xfrm>
              <a:off x="3079965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8699C3F-20E3-A5FA-A946-4FEA9F34AD9E}"/>
                </a:ext>
              </a:extLst>
            </p:cNvPr>
            <p:cNvSpPr/>
            <p:nvPr/>
          </p:nvSpPr>
          <p:spPr>
            <a:xfrm>
              <a:off x="3480468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33DFDE4-9827-5C04-D6EC-49F130BBF434}"/>
                </a:ext>
              </a:extLst>
            </p:cNvPr>
            <p:cNvSpPr/>
            <p:nvPr/>
          </p:nvSpPr>
          <p:spPr>
            <a:xfrm>
              <a:off x="3880971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Left Brace 20">
              <a:extLst>
                <a:ext uri="{FF2B5EF4-FFF2-40B4-BE49-F238E27FC236}">
                  <a16:creationId xmlns:a16="http://schemas.microsoft.com/office/drawing/2014/main" id="{D5702269-EE91-31BB-2D57-9396EB07860D}"/>
                </a:ext>
              </a:extLst>
            </p:cNvPr>
            <p:cNvSpPr/>
            <p:nvPr/>
          </p:nvSpPr>
          <p:spPr>
            <a:xfrm rot="16200000">
              <a:off x="1659853" y="3187806"/>
              <a:ext cx="365126" cy="155896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2EEA8F4-ACD7-9B4B-BB14-D7909E6A8E59}"/>
                </a:ext>
              </a:extLst>
            </p:cNvPr>
            <p:cNvSpPr txBox="1"/>
            <p:nvPr/>
          </p:nvSpPr>
          <p:spPr>
            <a:xfrm>
              <a:off x="1076658" y="4212610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x</a:t>
              </a:r>
            </a:p>
          </p:txBody>
        </p: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E9CBD4EF-06AC-7D22-0E45-74A02F8FD610}"/>
                </a:ext>
              </a:extLst>
            </p:cNvPr>
            <p:cNvSpPr/>
            <p:nvPr/>
          </p:nvSpPr>
          <p:spPr>
            <a:xfrm rot="16200000">
              <a:off x="3288074" y="3197621"/>
              <a:ext cx="365126" cy="1551327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B85D4C-3BAE-462A-2AEA-C85D26556755}"/>
                </a:ext>
              </a:extLst>
            </p:cNvPr>
            <p:cNvSpPr txBox="1"/>
            <p:nvPr/>
          </p:nvSpPr>
          <p:spPr>
            <a:xfrm>
              <a:off x="2715046" y="4173106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5694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20D77-A03E-69FB-9F52-FBAD05AFD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появляются «дыры»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36CFF7-E37A-C9A9-F066-C3FF9AF2A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A3860-6F77-140C-766A-97EC396D9F0C}"/>
              </a:ext>
            </a:extLst>
          </p:cNvPr>
          <p:cNvSpPr txBox="1"/>
          <p:nvPr/>
        </p:nvSpPr>
        <p:spPr>
          <a:xfrm>
            <a:off x="838200" y="1690687"/>
            <a:ext cx="10515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grade;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Employee;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(int):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Скорее всего, 4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(char):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Скорее всего, 1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(Employee):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(Employee));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Скорее всего, 8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774646-613B-AD65-89CF-B048206497C2}"/>
              </a:ext>
            </a:extLst>
          </p:cNvPr>
          <p:cNvSpPr txBox="1"/>
          <p:nvPr/>
        </p:nvSpPr>
        <p:spPr>
          <a:xfrm>
            <a:off x="838200" y="5394920"/>
            <a:ext cx="6096000" cy="92333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(int): 4</a:t>
            </a: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(char): 1</a:t>
            </a: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(Employee): 8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1DCF271-1E24-B1D7-C440-926AD946F1D2}"/>
              </a:ext>
            </a:extLst>
          </p:cNvPr>
          <p:cNvGrpSpPr/>
          <p:nvPr/>
        </p:nvGrpSpPr>
        <p:grpSpPr>
          <a:xfrm>
            <a:off x="7315200" y="5387104"/>
            <a:ext cx="3181166" cy="1294516"/>
            <a:chOff x="1062664" y="3247571"/>
            <a:chExt cx="3181166" cy="129451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434A84D-D170-3E42-D231-76061600DDC7}"/>
                </a:ext>
              </a:extLst>
            </p:cNvPr>
            <p:cNvSpPr/>
            <p:nvPr/>
          </p:nvSpPr>
          <p:spPr>
            <a:xfrm>
              <a:off x="1062664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CB9B5D7-EEEC-A884-1E03-C4EBDFA39605}"/>
                </a:ext>
              </a:extLst>
            </p:cNvPr>
            <p:cNvSpPr/>
            <p:nvPr/>
          </p:nvSpPr>
          <p:spPr>
            <a:xfrm>
              <a:off x="1463167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DF1C42C-735F-0BB5-F155-E6E692DFFBE1}"/>
                </a:ext>
              </a:extLst>
            </p:cNvPr>
            <p:cNvSpPr/>
            <p:nvPr/>
          </p:nvSpPr>
          <p:spPr>
            <a:xfrm>
              <a:off x="1863670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007BFA6-9A93-734B-DD1B-9435578831F1}"/>
                </a:ext>
              </a:extLst>
            </p:cNvPr>
            <p:cNvSpPr/>
            <p:nvPr/>
          </p:nvSpPr>
          <p:spPr>
            <a:xfrm>
              <a:off x="2264173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BC8C7FE9-4100-DE92-AF83-0AB37A74E67C}"/>
                </a:ext>
              </a:extLst>
            </p:cNvPr>
            <p:cNvSpPr/>
            <p:nvPr/>
          </p:nvSpPr>
          <p:spPr>
            <a:xfrm>
              <a:off x="2679462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5D186A-DC0B-66C1-2A35-48461378CEBF}"/>
                </a:ext>
              </a:extLst>
            </p:cNvPr>
            <p:cNvSpPr/>
            <p:nvPr/>
          </p:nvSpPr>
          <p:spPr>
            <a:xfrm>
              <a:off x="3079965" y="3247571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D4A6881-AE56-F31F-6B6C-A389EC023767}"/>
                </a:ext>
              </a:extLst>
            </p:cNvPr>
            <p:cNvSpPr/>
            <p:nvPr/>
          </p:nvSpPr>
          <p:spPr>
            <a:xfrm>
              <a:off x="3480468" y="3247571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2FF24E1-AB4B-9E80-7C0C-1F37ADD946C3}"/>
                </a:ext>
              </a:extLst>
            </p:cNvPr>
            <p:cNvSpPr/>
            <p:nvPr/>
          </p:nvSpPr>
          <p:spPr>
            <a:xfrm>
              <a:off x="3880971" y="3247571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Left Brace 16">
              <a:extLst>
                <a:ext uri="{FF2B5EF4-FFF2-40B4-BE49-F238E27FC236}">
                  <a16:creationId xmlns:a16="http://schemas.microsoft.com/office/drawing/2014/main" id="{BF30FE23-DB9F-3B45-A4E1-3DF6D2B872B6}"/>
                </a:ext>
              </a:extLst>
            </p:cNvPr>
            <p:cNvSpPr/>
            <p:nvPr/>
          </p:nvSpPr>
          <p:spPr>
            <a:xfrm rot="16200000">
              <a:off x="1659853" y="3187806"/>
              <a:ext cx="365126" cy="155896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D89BAC3-2575-4149-6042-C9451F6CF173}"/>
                </a:ext>
              </a:extLst>
            </p:cNvPr>
            <p:cNvSpPr txBox="1"/>
            <p:nvPr/>
          </p:nvSpPr>
          <p:spPr>
            <a:xfrm>
              <a:off x="1075633" y="4172755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age</a:t>
              </a:r>
            </a:p>
          </p:txBody>
        </p:sp>
        <p:sp>
          <p:nvSpPr>
            <p:cNvPr id="19" name="Left Brace 18">
              <a:extLst>
                <a:ext uri="{FF2B5EF4-FFF2-40B4-BE49-F238E27FC236}">
                  <a16:creationId xmlns:a16="http://schemas.microsoft.com/office/drawing/2014/main" id="{650E2AAE-1FF5-5B4C-9199-EDD6BC24B7DC}"/>
                </a:ext>
              </a:extLst>
            </p:cNvPr>
            <p:cNvSpPr/>
            <p:nvPr/>
          </p:nvSpPr>
          <p:spPr>
            <a:xfrm rot="16200000">
              <a:off x="2693841" y="3791855"/>
              <a:ext cx="365126" cy="36285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BE6D0F9-2B96-B64C-A6EC-2D638F272183}"/>
                </a:ext>
              </a:extLst>
            </p:cNvPr>
            <p:cNvSpPr txBox="1"/>
            <p:nvPr/>
          </p:nvSpPr>
          <p:spPr>
            <a:xfrm>
              <a:off x="2468734" y="4160055"/>
              <a:ext cx="8153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grade</a:t>
              </a:r>
            </a:p>
          </p:txBody>
        </p:sp>
        <p:sp>
          <p:nvSpPr>
            <p:cNvPr id="21" name="Left Brace 20">
              <a:extLst>
                <a:ext uri="{FF2B5EF4-FFF2-40B4-BE49-F238E27FC236}">
                  <a16:creationId xmlns:a16="http://schemas.microsoft.com/office/drawing/2014/main" id="{7DC0C9A8-5FB8-835E-B4DC-02C75E140041}"/>
                </a:ext>
              </a:extLst>
            </p:cNvPr>
            <p:cNvSpPr/>
            <p:nvPr/>
          </p:nvSpPr>
          <p:spPr>
            <a:xfrm rot="16200000">
              <a:off x="3487798" y="3399815"/>
              <a:ext cx="365126" cy="114693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4114C6-4B6E-BC2D-028C-393716EA1C4A}"/>
                </a:ext>
              </a:extLst>
            </p:cNvPr>
            <p:cNvSpPr txBox="1"/>
            <p:nvPr/>
          </p:nvSpPr>
          <p:spPr>
            <a:xfrm>
              <a:off x="3142461" y="4158501"/>
              <a:ext cx="10388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padding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404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9994A-A6C5-76DE-507D-34DFB2DA1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Влияние порядка полей на размер структуры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9B202C-B088-6CB1-8936-329AB7EE5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38D5D0-61D3-B527-2C36-60C33624E009}"/>
              </a:ext>
            </a:extLst>
          </p:cNvPr>
          <p:cNvSpPr txBox="1"/>
          <p:nvPr/>
        </p:nvSpPr>
        <p:spPr>
          <a:xfrm>
            <a:off x="838201" y="2108718"/>
            <a:ext cx="7772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Bad;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Good;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(Bad):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(Bad));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(Good):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(Good));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16F9B4-61A6-00BE-70DF-77BA06EAFFB6}"/>
              </a:ext>
            </a:extLst>
          </p:cNvPr>
          <p:cNvSpPr txBox="1"/>
          <p:nvPr/>
        </p:nvSpPr>
        <p:spPr>
          <a:xfrm>
            <a:off x="6096000" y="6448367"/>
            <a:ext cx="3634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https://godbolt.org/z/z9aheo9rj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DA46-F3F9-D683-6D6F-981DCA2C419E}"/>
              </a:ext>
            </a:extLst>
          </p:cNvPr>
          <p:cNvSpPr txBox="1"/>
          <p:nvPr/>
        </p:nvSpPr>
        <p:spPr>
          <a:xfrm>
            <a:off x="7745186" y="5525353"/>
            <a:ext cx="2850502" cy="64633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(Bad): 12</a:t>
            </a: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(Good): 8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2B927AB-1EB4-90FD-4005-07751F87B60C}"/>
              </a:ext>
            </a:extLst>
          </p:cNvPr>
          <p:cNvGrpSpPr/>
          <p:nvPr/>
        </p:nvGrpSpPr>
        <p:grpSpPr>
          <a:xfrm>
            <a:off x="4198775" y="3950190"/>
            <a:ext cx="3360265" cy="1294867"/>
            <a:chOff x="1062664" y="3247571"/>
            <a:chExt cx="3360265" cy="1294867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D6A847F-DBA5-3FBE-2302-87F3D5E68768}"/>
                </a:ext>
              </a:extLst>
            </p:cNvPr>
            <p:cNvSpPr/>
            <p:nvPr/>
          </p:nvSpPr>
          <p:spPr>
            <a:xfrm>
              <a:off x="1062664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E4ACC27-3F32-E4EF-BB98-4CF4D79C8780}"/>
                </a:ext>
              </a:extLst>
            </p:cNvPr>
            <p:cNvSpPr/>
            <p:nvPr/>
          </p:nvSpPr>
          <p:spPr>
            <a:xfrm>
              <a:off x="1463167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ED4A031-023B-EB88-03B0-6A3BF32A4165}"/>
                </a:ext>
              </a:extLst>
            </p:cNvPr>
            <p:cNvSpPr/>
            <p:nvPr/>
          </p:nvSpPr>
          <p:spPr>
            <a:xfrm>
              <a:off x="1863670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37CBF7C-83AD-B648-A03C-8558B38D3742}"/>
                </a:ext>
              </a:extLst>
            </p:cNvPr>
            <p:cNvSpPr/>
            <p:nvPr/>
          </p:nvSpPr>
          <p:spPr>
            <a:xfrm>
              <a:off x="2264173" y="3247571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47CCFDC-A15E-3235-F5CC-AC671E7ED6DD}"/>
                </a:ext>
              </a:extLst>
            </p:cNvPr>
            <p:cNvSpPr/>
            <p:nvPr/>
          </p:nvSpPr>
          <p:spPr>
            <a:xfrm>
              <a:off x="2679462" y="3247571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48E7FFC-8362-9CA4-24BC-A6873DFE91CA}"/>
                </a:ext>
              </a:extLst>
            </p:cNvPr>
            <p:cNvSpPr/>
            <p:nvPr/>
          </p:nvSpPr>
          <p:spPr>
            <a:xfrm>
              <a:off x="3079965" y="3247571"/>
              <a:ext cx="362857" cy="3628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EBCA013-5A04-AEC6-CEF8-5C4102DD0E1E}"/>
                </a:ext>
              </a:extLst>
            </p:cNvPr>
            <p:cNvSpPr/>
            <p:nvPr/>
          </p:nvSpPr>
          <p:spPr>
            <a:xfrm>
              <a:off x="3480468" y="3247571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81839D2-EF4D-C9FD-EAE1-8523DCA058BD}"/>
                </a:ext>
              </a:extLst>
            </p:cNvPr>
            <p:cNvSpPr/>
            <p:nvPr/>
          </p:nvSpPr>
          <p:spPr>
            <a:xfrm>
              <a:off x="3880971" y="3247571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Left Brace 20">
              <a:extLst>
                <a:ext uri="{FF2B5EF4-FFF2-40B4-BE49-F238E27FC236}">
                  <a16:creationId xmlns:a16="http://schemas.microsoft.com/office/drawing/2014/main" id="{990FDFC1-6F6C-3878-74E8-D17853B2557A}"/>
                </a:ext>
              </a:extLst>
            </p:cNvPr>
            <p:cNvSpPr/>
            <p:nvPr/>
          </p:nvSpPr>
          <p:spPr>
            <a:xfrm rot="16200000">
              <a:off x="1659853" y="3187806"/>
              <a:ext cx="365126" cy="155896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DFBEFA-736A-4F0B-C1FD-D9BF7DD622BC}"/>
                </a:ext>
              </a:extLst>
            </p:cNvPr>
            <p:cNvSpPr txBox="1"/>
            <p:nvPr/>
          </p:nvSpPr>
          <p:spPr>
            <a:xfrm>
              <a:off x="1075633" y="4172818"/>
              <a:ext cx="15335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16E797BD-BD8B-A723-47DD-E607813977C3}"/>
                </a:ext>
              </a:extLst>
            </p:cNvPr>
            <p:cNvSpPr/>
            <p:nvPr/>
          </p:nvSpPr>
          <p:spPr>
            <a:xfrm rot="16200000">
              <a:off x="2693841" y="3791855"/>
              <a:ext cx="365126" cy="362859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F8E77C7-97D2-67E7-2AD2-18E491E70624}"/>
                </a:ext>
              </a:extLst>
            </p:cNvPr>
            <p:cNvSpPr txBox="1"/>
            <p:nvPr/>
          </p:nvSpPr>
          <p:spPr>
            <a:xfrm>
              <a:off x="2679459" y="4173106"/>
              <a:ext cx="36286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25" name="Left Brace 24">
              <a:extLst>
                <a:ext uri="{FF2B5EF4-FFF2-40B4-BE49-F238E27FC236}">
                  <a16:creationId xmlns:a16="http://schemas.microsoft.com/office/drawing/2014/main" id="{493E40E9-684B-7EAB-590B-9CCCECDD50A6}"/>
                </a:ext>
              </a:extLst>
            </p:cNvPr>
            <p:cNvSpPr/>
            <p:nvPr/>
          </p:nvSpPr>
          <p:spPr>
            <a:xfrm rot="16200000">
              <a:off x="3087296" y="3800319"/>
              <a:ext cx="365126" cy="345932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4A01761-3C4E-32FF-44E3-B4FD2F6FF1AC}"/>
                </a:ext>
              </a:extLst>
            </p:cNvPr>
            <p:cNvSpPr txBox="1"/>
            <p:nvPr/>
          </p:nvSpPr>
          <p:spPr>
            <a:xfrm>
              <a:off x="3079965" y="4172415"/>
              <a:ext cx="3628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</a:t>
              </a:r>
            </a:p>
          </p:txBody>
        </p:sp>
        <p:sp>
          <p:nvSpPr>
            <p:cNvPr id="27" name="Left Brace 26">
              <a:extLst>
                <a:ext uri="{FF2B5EF4-FFF2-40B4-BE49-F238E27FC236}">
                  <a16:creationId xmlns:a16="http://schemas.microsoft.com/office/drawing/2014/main" id="{B98F2BBF-20E4-AC0B-D9E4-31E5A412E1AC}"/>
                </a:ext>
              </a:extLst>
            </p:cNvPr>
            <p:cNvSpPr/>
            <p:nvPr/>
          </p:nvSpPr>
          <p:spPr>
            <a:xfrm rot="16200000">
              <a:off x="3685377" y="3597397"/>
              <a:ext cx="365126" cy="75177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E59301E-24FF-9321-30A7-8B7CD7B56285}"/>
                </a:ext>
              </a:extLst>
            </p:cNvPr>
            <p:cNvSpPr txBox="1"/>
            <p:nvPr/>
          </p:nvSpPr>
          <p:spPr>
            <a:xfrm>
              <a:off x="3315877" y="4168676"/>
              <a:ext cx="11070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padding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16D2351-D9E5-4A17-3AAB-D2D260B6428E}"/>
              </a:ext>
            </a:extLst>
          </p:cNvPr>
          <p:cNvGrpSpPr/>
          <p:nvPr/>
        </p:nvGrpSpPr>
        <p:grpSpPr>
          <a:xfrm>
            <a:off x="4184003" y="2124817"/>
            <a:ext cx="4789860" cy="1294867"/>
            <a:chOff x="3656817" y="2134133"/>
            <a:chExt cx="4789860" cy="129486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4D8DD44-4707-BB20-5CB1-DFB90B26DD80}"/>
                </a:ext>
              </a:extLst>
            </p:cNvPr>
            <p:cNvSpPr/>
            <p:nvPr/>
          </p:nvSpPr>
          <p:spPr>
            <a:xfrm>
              <a:off x="3656817" y="2134133"/>
              <a:ext cx="362857" cy="3628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7F2D61D-DEED-C2C6-4B6F-D3D07EC891FD}"/>
                </a:ext>
              </a:extLst>
            </p:cNvPr>
            <p:cNvSpPr/>
            <p:nvPr/>
          </p:nvSpPr>
          <p:spPr>
            <a:xfrm>
              <a:off x="4057320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7CFDB0D-4148-640F-493D-E88235EB9021}"/>
                </a:ext>
              </a:extLst>
            </p:cNvPr>
            <p:cNvSpPr/>
            <p:nvPr/>
          </p:nvSpPr>
          <p:spPr>
            <a:xfrm>
              <a:off x="4457823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64ACA1B0-7ECD-8154-4312-A62EC497B45C}"/>
                </a:ext>
              </a:extLst>
            </p:cNvPr>
            <p:cNvSpPr/>
            <p:nvPr/>
          </p:nvSpPr>
          <p:spPr>
            <a:xfrm>
              <a:off x="4858326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D065A2F-48F5-AEDA-94B1-5399E3DE68AB}"/>
                </a:ext>
              </a:extLst>
            </p:cNvPr>
            <p:cNvSpPr/>
            <p:nvPr/>
          </p:nvSpPr>
          <p:spPr>
            <a:xfrm>
              <a:off x="5273615" y="2134133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028BD9A2-5746-B6AB-DE2A-FF85A34557B8}"/>
                </a:ext>
              </a:extLst>
            </p:cNvPr>
            <p:cNvSpPr/>
            <p:nvPr/>
          </p:nvSpPr>
          <p:spPr>
            <a:xfrm>
              <a:off x="5674118" y="2134133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91F94EA-7C19-7B2C-B673-3B05FECD6A10}"/>
                </a:ext>
              </a:extLst>
            </p:cNvPr>
            <p:cNvSpPr/>
            <p:nvPr/>
          </p:nvSpPr>
          <p:spPr>
            <a:xfrm>
              <a:off x="6074621" y="2134133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37ABC89-4233-79DC-3091-CC2354D34D57}"/>
                </a:ext>
              </a:extLst>
            </p:cNvPr>
            <p:cNvSpPr/>
            <p:nvPr/>
          </p:nvSpPr>
          <p:spPr>
            <a:xfrm>
              <a:off x="6475124" y="2134133"/>
              <a:ext cx="362857" cy="362857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Left Brace 37">
              <a:extLst>
                <a:ext uri="{FF2B5EF4-FFF2-40B4-BE49-F238E27FC236}">
                  <a16:creationId xmlns:a16="http://schemas.microsoft.com/office/drawing/2014/main" id="{1598539F-C178-EC01-A1C8-63D0E89BDC74}"/>
                </a:ext>
              </a:extLst>
            </p:cNvPr>
            <p:cNvSpPr/>
            <p:nvPr/>
          </p:nvSpPr>
          <p:spPr>
            <a:xfrm rot="16200000">
              <a:off x="3652367" y="2676008"/>
              <a:ext cx="365126" cy="35568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956E042-E82E-A7DE-3A01-9C780B29BD21}"/>
                </a:ext>
              </a:extLst>
            </p:cNvPr>
            <p:cNvSpPr txBox="1"/>
            <p:nvPr/>
          </p:nvSpPr>
          <p:spPr>
            <a:xfrm>
              <a:off x="3669786" y="3059380"/>
              <a:ext cx="3498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40" name="Left Brace 39">
              <a:extLst>
                <a:ext uri="{FF2B5EF4-FFF2-40B4-BE49-F238E27FC236}">
                  <a16:creationId xmlns:a16="http://schemas.microsoft.com/office/drawing/2014/main" id="{845A0C67-5703-016F-3C33-6D57993AE19C}"/>
                </a:ext>
              </a:extLst>
            </p:cNvPr>
            <p:cNvSpPr/>
            <p:nvPr/>
          </p:nvSpPr>
          <p:spPr>
            <a:xfrm rot="16200000">
              <a:off x="5874669" y="2085419"/>
              <a:ext cx="365126" cy="154885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7F100DC-17D9-07D5-B9C8-CACBB0FD2AA5}"/>
                </a:ext>
              </a:extLst>
            </p:cNvPr>
            <p:cNvSpPr txBox="1"/>
            <p:nvPr/>
          </p:nvSpPr>
          <p:spPr>
            <a:xfrm>
              <a:off x="5273611" y="3059668"/>
              <a:ext cx="15589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i</a:t>
              </a:r>
              <a:endParaRPr lang="en-US" dirty="0"/>
            </a:p>
          </p:txBody>
        </p:sp>
        <p:sp>
          <p:nvSpPr>
            <p:cNvPr id="42" name="Left Brace 41">
              <a:extLst>
                <a:ext uri="{FF2B5EF4-FFF2-40B4-BE49-F238E27FC236}">
                  <a16:creationId xmlns:a16="http://schemas.microsoft.com/office/drawing/2014/main" id="{7AC366D7-4CD8-A1C0-3F96-5B2FEC257D9E}"/>
                </a:ext>
              </a:extLst>
            </p:cNvPr>
            <p:cNvSpPr/>
            <p:nvPr/>
          </p:nvSpPr>
          <p:spPr>
            <a:xfrm rot="16200000">
              <a:off x="6881173" y="2678417"/>
              <a:ext cx="365126" cy="362860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522324BC-B4E5-2765-39F9-CCF7C2FE3E55}"/>
                </a:ext>
              </a:extLst>
            </p:cNvPr>
            <p:cNvSpPr txBox="1"/>
            <p:nvPr/>
          </p:nvSpPr>
          <p:spPr>
            <a:xfrm>
              <a:off x="6882304" y="3058977"/>
              <a:ext cx="3628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</a:t>
              </a:r>
            </a:p>
          </p:txBody>
        </p:sp>
        <p:sp>
          <p:nvSpPr>
            <p:cNvPr id="44" name="Left Brace 43">
              <a:extLst>
                <a:ext uri="{FF2B5EF4-FFF2-40B4-BE49-F238E27FC236}">
                  <a16:creationId xmlns:a16="http://schemas.microsoft.com/office/drawing/2014/main" id="{797E4F1B-5413-B80D-83E3-0FBBF074EB45}"/>
                </a:ext>
              </a:extLst>
            </p:cNvPr>
            <p:cNvSpPr/>
            <p:nvPr/>
          </p:nvSpPr>
          <p:spPr>
            <a:xfrm rot="16200000">
              <a:off x="7693992" y="2293463"/>
              <a:ext cx="365126" cy="114024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7938396-3124-53D8-4551-B44735A596C2}"/>
                </a:ext>
              </a:extLst>
            </p:cNvPr>
            <p:cNvSpPr txBox="1"/>
            <p:nvPr/>
          </p:nvSpPr>
          <p:spPr>
            <a:xfrm>
              <a:off x="7282812" y="3058977"/>
              <a:ext cx="1163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padding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A608E47-8F83-4B0D-7604-A7FB0EB84B4D}"/>
                </a:ext>
              </a:extLst>
            </p:cNvPr>
            <p:cNvSpPr/>
            <p:nvPr/>
          </p:nvSpPr>
          <p:spPr>
            <a:xfrm>
              <a:off x="6882309" y="2134133"/>
              <a:ext cx="362857" cy="36285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F8B176F2-B6C2-FF5E-CE19-5E8111E30708}"/>
                </a:ext>
              </a:extLst>
            </p:cNvPr>
            <p:cNvSpPr/>
            <p:nvPr/>
          </p:nvSpPr>
          <p:spPr>
            <a:xfrm>
              <a:off x="7282812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1368B77-9EB4-EDB8-46BF-E51EDF8C8C35}"/>
                </a:ext>
              </a:extLst>
            </p:cNvPr>
            <p:cNvSpPr/>
            <p:nvPr/>
          </p:nvSpPr>
          <p:spPr>
            <a:xfrm>
              <a:off x="7683315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2B26EF3-7D0A-06E9-535A-5A8AC2BBE3D9}"/>
                </a:ext>
              </a:extLst>
            </p:cNvPr>
            <p:cNvSpPr/>
            <p:nvPr/>
          </p:nvSpPr>
          <p:spPr>
            <a:xfrm>
              <a:off x="8083818" y="2134133"/>
              <a:ext cx="362857" cy="362857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0" name="Left Brace 49">
              <a:extLst>
                <a:ext uri="{FF2B5EF4-FFF2-40B4-BE49-F238E27FC236}">
                  <a16:creationId xmlns:a16="http://schemas.microsoft.com/office/drawing/2014/main" id="{10D42AAC-497B-F7EB-8951-7C750691DB1B}"/>
                </a:ext>
              </a:extLst>
            </p:cNvPr>
            <p:cNvSpPr/>
            <p:nvPr/>
          </p:nvSpPr>
          <p:spPr>
            <a:xfrm rot="16200000">
              <a:off x="4449291" y="2279823"/>
              <a:ext cx="365126" cy="114024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C7D6B35-58A9-4907-B359-3A8F9C970A62}"/>
                </a:ext>
              </a:extLst>
            </p:cNvPr>
            <p:cNvSpPr txBox="1"/>
            <p:nvPr/>
          </p:nvSpPr>
          <p:spPr>
            <a:xfrm>
              <a:off x="4038111" y="3045337"/>
              <a:ext cx="11638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padding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6146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73CB7-1F52-4DC7-0529-8E4C61294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Измеряем выравнивание и смещения с </a:t>
            </a:r>
            <a:r>
              <a:rPr lang="en-US" dirty="0" err="1"/>
              <a:t>alignof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offsetof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2F2467-29CB-71E2-FFD7-57EC540EA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34008-FF07-D96F-88C1-FE8E491A8F10}"/>
              </a:ext>
            </a:extLst>
          </p:cNvPr>
          <p:cNvSpPr txBox="1"/>
          <p:nvPr/>
        </p:nvSpPr>
        <p:spPr>
          <a:xfrm>
            <a:off x="8077200" y="3931929"/>
            <a:ext cx="381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https://godbolt.org/z/bTrc7dfWW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A40317-D8DC-3433-3402-57BA694869C0}"/>
              </a:ext>
            </a:extLst>
          </p:cNvPr>
          <p:cNvSpPr txBox="1"/>
          <p:nvPr/>
        </p:nvSpPr>
        <p:spPr>
          <a:xfrm>
            <a:off x="8229600" y="2361525"/>
            <a:ext cx="350520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(Example)   = 12</a:t>
            </a:r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(Example)  = 4</a:t>
            </a:r>
          </a:p>
          <a:p>
            <a:r>
              <a:rPr lang="en-US" dirty="0" err="1">
                <a:latin typeface="Consolas" panose="020B0609020204030204" pitchFamily="49" charset="0"/>
              </a:rPr>
              <a:t>offsetof</a:t>
            </a:r>
            <a:r>
              <a:rPr lang="en-US" dirty="0">
                <a:latin typeface="Consolas" panose="020B0609020204030204" pitchFamily="49" charset="0"/>
              </a:rPr>
              <a:t>(c) = 0</a:t>
            </a:r>
          </a:p>
          <a:p>
            <a:r>
              <a:rPr lang="en-US" dirty="0" err="1">
                <a:latin typeface="Consolas" panose="020B0609020204030204" pitchFamily="49" charset="0"/>
              </a:rPr>
              <a:t>offsetof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) = 4</a:t>
            </a:r>
          </a:p>
          <a:p>
            <a:r>
              <a:rPr lang="en-US" dirty="0" err="1">
                <a:latin typeface="Consolas" panose="020B0609020204030204" pitchFamily="49" charset="0"/>
              </a:rPr>
              <a:t>offsetof</a:t>
            </a:r>
            <a:r>
              <a:rPr lang="en-US" dirty="0">
                <a:latin typeface="Consolas" panose="020B0609020204030204" pitchFamily="49" charset="0"/>
              </a:rPr>
              <a:t>(d) = 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937FAA-4F69-AD19-60C2-773442716219}"/>
              </a:ext>
            </a:extLst>
          </p:cNvPr>
          <p:cNvSpPr txBox="1"/>
          <p:nvPr/>
        </p:nvSpPr>
        <p:spPr>
          <a:xfrm>
            <a:off x="838200" y="1783764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offsetof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stdalign.h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(C11)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Example;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(Example)  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(Example));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(Example)  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(Example));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(Example, c));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(Example,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(d) = %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zu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offsetof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(Example, 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59207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8BD5EC-FBAE-CF67-FB2F-39AD60E87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компилятор обрабатывает структуры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4A31D5-5661-ACEE-2D9F-6538651ABA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CF8D8C-0EAA-28CC-D25D-6A979AD9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4532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429678-E200-7872-D682-762E3A399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со структурами в ассемблере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6FE39-4EC6-8278-D219-DE98713DD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85F58-289B-57E2-A9EF-E681E3B1490B}"/>
              </a:ext>
            </a:extLst>
          </p:cNvPr>
          <p:cNvSpPr txBox="1"/>
          <p:nvPr/>
        </p:nvSpPr>
        <p:spPr>
          <a:xfrm>
            <a:off x="838200" y="1779687"/>
            <a:ext cx="105156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Point;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MidPoint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(Point p1, Point p2)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Point mid =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.x = (p1.x + p2.x)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.y = (p1.y + p2.y)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MidPointNoStruct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x2,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y2,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xMid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yMid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xMid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(x1 + x2)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yMid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(y1 + y2)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797808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B1A5C-A7F2-6859-E404-C744CDFE9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Ассемблерный код функции </a:t>
            </a:r>
            <a:r>
              <a:rPr lang="en-US" dirty="0" err="1"/>
              <a:t>MidPoint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4D2B85-5634-ADE9-4399-43E667185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DC9677-C713-1BC3-ACBB-85EE1ADFB867}"/>
              </a:ext>
            </a:extLst>
          </p:cNvPr>
          <p:cNvSpPr txBox="1"/>
          <p:nvPr/>
        </p:nvSpPr>
        <p:spPr>
          <a:xfrm>
            <a:off x="838200" y="1912844"/>
            <a:ext cx="95631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p1 (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структура с полями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x, y)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p2 (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структура с полями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x, y)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в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структуру с полями (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x, y)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MidPoint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movq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rdi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загрузить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p1 (2 int = 64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бита) в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xmm0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movq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rsi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загрузить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p2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xmm2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paddd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попарно сложить 32-битные элементы: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(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x1+x2, y1+y2)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movdqa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скопировать сумму в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xmm1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psrld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логический сдвиг вправо на 31 бит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извлекаем знаковый бит каждого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(0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1)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paddd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прибавляем 1 к отрицательным суммам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подготовка к корректному делению на 2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psrad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арифметический сдвиг вправо на 1 бит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               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деление на 2 с сохранением знака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movq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rax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xmm0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поместить результат (2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int)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rax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ret                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вернуть структуру (в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9337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F780C-E0DA-AB0E-3F03-C1F43B24B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6882C-1FBD-4FCC-0185-7C71929CC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Ассемблерный код функции </a:t>
            </a:r>
            <a:r>
              <a:rPr lang="en-US" dirty="0" err="1"/>
              <a:t>MidPointNoStruct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4A1CEA-BC42-D731-1FE8-D9E06EFA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D9CD9-C9D2-FF36-003A-584A1CF114D1}"/>
              </a:ext>
            </a:extLst>
          </p:cNvPr>
          <p:cNvSpPr txBox="1"/>
          <p:nvPr/>
        </p:nvSpPr>
        <p:spPr>
          <a:xfrm>
            <a:off x="863600" y="1690688"/>
            <a:ext cx="10515600" cy="4924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x1,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y1,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x2,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y2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в (*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r8) =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xMid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(*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r9) = *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yMid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MidPointNoStruct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add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x1 += x2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add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ecx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y1 += y2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mov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сумма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извлечь знаковый бит (0 или 1)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edi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скорректировать сумму для округления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арифметический сдвиг вправо (деление на 2)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PTR [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записать результат в *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xMid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mov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сумма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shr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извлечь знаковый бит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add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esi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коррекция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   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деление на 2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mov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PTR [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r9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eax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записать результат в *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yMid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ret</a:t>
            </a:r>
          </a:p>
        </p:txBody>
      </p:sp>
    </p:spTree>
    <p:extLst>
      <p:ext uri="{BB962C8B-B14F-4D97-AF65-F5344CB8AC3E}">
        <p14:creationId xmlns:p14="http://schemas.microsoft.com/office/powerpoint/2010/main" val="9211481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7FF23-F035-055D-E3AC-4D3816CF6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Сравнение версий на уровне ассемблера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82F7AF-A58A-3E0A-FA0E-C670AB52E9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Со структурой Point</a:t>
            </a:r>
          </a:p>
          <a:p>
            <a:pPr lvl="1"/>
            <a:r>
              <a:rPr lang="ru-RU" dirty="0"/>
              <a:t>Два </a:t>
            </a:r>
            <a:r>
              <a:rPr lang="ru-RU" dirty="0" err="1"/>
              <a:t>int</a:t>
            </a:r>
            <a:r>
              <a:rPr lang="ru-RU" dirty="0"/>
              <a:t> передаются как один 64-битный объект</a:t>
            </a:r>
          </a:p>
          <a:p>
            <a:pPr lvl="1"/>
            <a:r>
              <a:rPr lang="ru-RU" dirty="0"/>
              <a:t>Используются SIMD-регистры</a:t>
            </a:r>
          </a:p>
          <a:p>
            <a:pPr lvl="1"/>
            <a:r>
              <a:rPr lang="ru-RU" dirty="0"/>
              <a:t>Обе координаты обрабатываются одновременно</a:t>
            </a:r>
          </a:p>
          <a:p>
            <a:pPr lvl="1"/>
            <a:r>
              <a:rPr lang="ru-RU" dirty="0"/>
              <a:t>Результат возвращается через регистр</a:t>
            </a:r>
          </a:p>
          <a:p>
            <a:r>
              <a:rPr lang="ru-RU" b="1" dirty="0"/>
              <a:t>Без структуры</a:t>
            </a:r>
          </a:p>
          <a:p>
            <a:pPr lvl="1"/>
            <a:r>
              <a:rPr lang="ru-RU" dirty="0"/>
              <a:t>Аргументы передаются отдельно</a:t>
            </a:r>
          </a:p>
          <a:p>
            <a:pPr lvl="1"/>
            <a:r>
              <a:rPr lang="ru-RU" dirty="0"/>
              <a:t>Результат записывается в память через указатели</a:t>
            </a:r>
          </a:p>
          <a:p>
            <a:pPr lvl="1"/>
            <a:r>
              <a:rPr lang="ru-RU" dirty="0"/>
              <a:t>Обработка выполняется последовательно (x, затем y)</a:t>
            </a:r>
          </a:p>
          <a:p>
            <a:r>
              <a:rPr lang="ru-RU" b="1" dirty="0"/>
              <a:t>Вывод</a:t>
            </a:r>
          </a:p>
          <a:p>
            <a:pPr lvl="1"/>
            <a:r>
              <a:rPr lang="ru-RU" dirty="0"/>
              <a:t>Структура — просто агрегат данных</a:t>
            </a:r>
          </a:p>
          <a:p>
            <a:pPr lvl="1"/>
            <a:r>
              <a:rPr lang="ru-RU" dirty="0"/>
              <a:t>Не создаёт автоматических накладных расходов</a:t>
            </a:r>
          </a:p>
          <a:p>
            <a:pPr lvl="1"/>
            <a:r>
              <a:rPr lang="ru-RU" dirty="0"/>
              <a:t>Может позволить компилятору сгенерировать более эффективный код</a:t>
            </a:r>
          </a:p>
          <a:p>
            <a:pPr lvl="1"/>
            <a:r>
              <a:rPr lang="ru-RU" dirty="0"/>
              <a:t>Судить нужно по реальному машинному коду, а не по интуиции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163AE-47AE-ADAD-047E-5B7C63E3F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8267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50527-F24E-0300-FCC5-0AEA79345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D1576-CF05-BE62-00B4-145E1F940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Мы можем создавать собственные типы данных с помощью </a:t>
            </a:r>
            <a:r>
              <a:rPr lang="ru-RU" dirty="0" err="1"/>
              <a:t>struct</a:t>
            </a:r>
            <a:endParaRPr lang="ru-RU" dirty="0"/>
          </a:p>
          <a:p>
            <a:r>
              <a:rPr lang="ru-RU" dirty="0"/>
              <a:t>Объединять связанные данные в один объект и один непрерывный блок памяти</a:t>
            </a:r>
          </a:p>
          <a:p>
            <a:r>
              <a:rPr lang="ru-RU" dirty="0"/>
              <a:t>Работаем со структурами как с обычными типами:</a:t>
            </a:r>
          </a:p>
          <a:p>
            <a:pPr lvl="1"/>
            <a:r>
              <a:rPr lang="ru-RU" dirty="0"/>
              <a:t>инициализация</a:t>
            </a:r>
          </a:p>
          <a:p>
            <a:pPr lvl="1"/>
            <a:r>
              <a:rPr lang="ru-RU" dirty="0"/>
              <a:t>присваивание</a:t>
            </a:r>
          </a:p>
          <a:p>
            <a:pPr lvl="1"/>
            <a:r>
              <a:rPr lang="ru-RU" dirty="0"/>
              <a:t>передача в функцию</a:t>
            </a:r>
          </a:p>
          <a:p>
            <a:pPr lvl="1"/>
            <a:r>
              <a:rPr lang="ru-RU" dirty="0"/>
              <a:t>возврат из функции</a:t>
            </a:r>
          </a:p>
          <a:p>
            <a:r>
              <a:rPr lang="ru-RU" dirty="0"/>
              <a:t>Понимаем, как структуры размещаются в памяти</a:t>
            </a:r>
          </a:p>
          <a:p>
            <a:r>
              <a:rPr lang="ru-RU" dirty="0"/>
              <a:t>Знаем про выравнивание и </a:t>
            </a:r>
            <a:r>
              <a:rPr lang="ru-RU" dirty="0" err="1"/>
              <a:t>padding</a:t>
            </a:r>
            <a:endParaRPr lang="ru-RU" dirty="0"/>
          </a:p>
          <a:p>
            <a:r>
              <a:rPr lang="ru-RU" dirty="0"/>
              <a:t>Видим, как структуры выглядят на уровне ассемблера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24BBEE-2C32-A383-013A-E67BBD822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1878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8A653FF-66D7-8661-2577-76412D5FC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96A6593-40AD-CB4C-28BF-8AF34C9E9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1D88C-705F-BB0F-B945-A6BFB410D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A95A98-87F4-4AF7-B1D7-3988D3B1E1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256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</TotalTime>
  <Words>9224</Words>
  <Application>Microsoft Office PowerPoint</Application>
  <PresentationFormat>Widescreen</PresentationFormat>
  <Paragraphs>1233</Paragraphs>
  <Slides>38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Aptos</vt:lpstr>
      <vt:lpstr>Aptos Display</vt:lpstr>
      <vt:lpstr>Arial</vt:lpstr>
      <vt:lpstr>Comic Sans MS</vt:lpstr>
      <vt:lpstr>Consolas</vt:lpstr>
      <vt:lpstr>Office Theme</vt:lpstr>
      <vt:lpstr>Структуры</vt:lpstr>
      <vt:lpstr>Точка на плоскости</vt:lpstr>
      <vt:lpstr>Несколько точек</vt:lpstr>
      <vt:lpstr>Восьмиугольник</vt:lpstr>
      <vt:lpstr>Несколько восьмиугольников</vt:lpstr>
      <vt:lpstr>Цветные восьмиугольники</vt:lpstr>
      <vt:lpstr>Проблема текущей модели</vt:lpstr>
      <vt:lpstr>Где здесь восьмиугольник</vt:lpstr>
      <vt:lpstr>Что такое структура?</vt:lpstr>
      <vt:lpstr>PowerPoint Presentation</vt:lpstr>
      <vt:lpstr>Хранение структуры в памяти</vt:lpstr>
      <vt:lpstr>Структуры для точки и восьмиугольника</vt:lpstr>
      <vt:lpstr>Инициализация структур при объявлении</vt:lpstr>
      <vt:lpstr>Нулевая и частичная инициализация структур</vt:lpstr>
      <vt:lpstr>Designated initializers</vt:lpstr>
      <vt:lpstr>Инициализация выражениями и вызовами функций</vt:lpstr>
      <vt:lpstr>Синонимы типа</vt:lpstr>
      <vt:lpstr>Почему нужно писать struct при объявлении переменной?</vt:lpstr>
      <vt:lpstr>typedef — создание синонима типа</vt:lpstr>
      <vt:lpstr>typedef для структуры</vt:lpstr>
      <vt:lpstr>Копирование структур при присваивании</vt:lpstr>
      <vt:lpstr>Передача структуры в функцию по значению</vt:lpstr>
      <vt:lpstr>Изменение структуры: передача по указателю</vt:lpstr>
      <vt:lpstr>Структуры, содержащие массивы</vt:lpstr>
      <vt:lpstr>Размер структуры и стоимость копирования</vt:lpstr>
      <vt:lpstr>Выравнивание</vt:lpstr>
      <vt:lpstr>Зачем нужно выравнивание</vt:lpstr>
      <vt:lpstr>Структура без «дыр»</vt:lpstr>
      <vt:lpstr>Когда появляются «дыры»</vt:lpstr>
      <vt:lpstr>Влияние порядка полей на размер структуры</vt:lpstr>
      <vt:lpstr>Измеряем выравнивание и смещения с alignof и offsetof</vt:lpstr>
      <vt:lpstr>Как компилятор обрабатывает структуры</vt:lpstr>
      <vt:lpstr>Работа со структурами в ассемблере</vt:lpstr>
      <vt:lpstr>Ассемблерный код функции MidPoint</vt:lpstr>
      <vt:lpstr>Ассемблерный код функции MidPointNoStruct</vt:lpstr>
      <vt:lpstr>Сравнение версий на уровне ассемблера</vt:lpstr>
      <vt:lpstr>Заключение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62</cp:revision>
  <dcterms:created xsi:type="dcterms:W3CDTF">2026-02-25T22:10:12Z</dcterms:created>
  <dcterms:modified xsi:type="dcterms:W3CDTF">2026-02-28T09:35:25Z</dcterms:modified>
</cp:coreProperties>
</file>