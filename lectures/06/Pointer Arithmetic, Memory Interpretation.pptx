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60" r:id="rId4"/>
    <p:sldId id="261" r:id="rId5"/>
    <p:sldId id="262" r:id="rId6"/>
    <p:sldId id="259" r:id="rId7"/>
    <p:sldId id="258" r:id="rId8"/>
    <p:sldId id="263" r:id="rId9"/>
    <p:sldId id="265" r:id="rId10"/>
    <p:sldId id="264" r:id="rId11"/>
    <p:sldId id="266" r:id="rId12"/>
    <p:sldId id="267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3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000" autoAdjust="0"/>
  </p:normalViewPr>
  <p:slideViewPr>
    <p:cSldViewPr snapToGrid="0" showGuides="1">
      <p:cViewPr varScale="1">
        <p:scale>
          <a:sx n="71" d="100"/>
          <a:sy n="71" d="100"/>
        </p:scale>
        <p:origin x="202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191BF-0D8E-4934-B475-DAAF261CE755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6EF2B-C127-47DA-B29D-C80843EB9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76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56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указатель хранит адрес объекта в памяти. Для указателей определены специальные арифметические операции: можно прибавлять и вычитать целое число, вычитать два указателя и использовать индексную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p[i]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 имеет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T*</a:t>
            </a:r>
            <a:r>
              <a:rPr lang="ru-RU" dirty="0"/>
              <a:t>, то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 + n</a:t>
            </a:r>
            <a:r>
              <a:rPr lang="ru-RU" dirty="0"/>
              <a:t> указывает на элемент с индексом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относительно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. Адрес при этом увеличивается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(T)</a:t>
            </a:r>
            <a:r>
              <a:rPr lang="ru-RU" dirty="0"/>
              <a:t> байт. То есть арифметика указателей работает </a:t>
            </a:r>
            <a:r>
              <a:rPr lang="ru-RU" b="1" dirty="0"/>
              <a:t>в элементах</a:t>
            </a:r>
            <a:r>
              <a:rPr lang="ru-RU" dirty="0"/>
              <a:t>, а не в байтах.</a:t>
            </a:r>
          </a:p>
          <a:p>
            <a:endParaRPr lang="ru-RU" dirty="0"/>
          </a:p>
          <a:p>
            <a:r>
              <a:rPr lang="ru-RU" dirty="0"/>
              <a:t>Важно ограничение стандарта: такая арифметика определена только для указателей, которые относятся к </a:t>
            </a:r>
            <a:r>
              <a:rPr lang="ru-RU" b="1" dirty="0"/>
              <a:t>одному массиву</a:t>
            </a:r>
            <a:r>
              <a:rPr lang="ru-RU" dirty="0"/>
              <a:t> (допускается также позиция на один элемент за его концом).</a:t>
            </a:r>
          </a:p>
          <a:p>
            <a:r>
              <a:rPr lang="ru-RU" dirty="0"/>
              <a:t>Разность двух указателей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p1 - p2</a:t>
            </a:r>
            <a:r>
              <a:rPr lang="ru-RU" dirty="0"/>
              <a:t> в этом случае возвращает </a:t>
            </a:r>
            <a:r>
              <a:rPr lang="ru-RU" b="1" dirty="0"/>
              <a:t>количество элементов между ними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97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полезно посмотреть, какое именно значение хранится в указателе, то есть какой адрес в памяти он содержит.</a:t>
            </a:r>
          </a:p>
          <a:p>
            <a:r>
              <a:rPr lang="ru-RU" dirty="0"/>
              <a:t>Для этого можно использовать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. В стандарте языка C для вывода указателей предусмотрен специальный спецификатор формата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</a:t>
            </a:r>
            <a:r>
              <a:rPr lang="ru-RU" dirty="0"/>
              <a:t>.</a:t>
            </a:r>
          </a:p>
          <a:p>
            <a:r>
              <a:rPr lang="ru-RU" dirty="0"/>
              <a:t>Стандарт требует передавать указатель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, поэтому обычно делают явное приведение типа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*)p</a:t>
            </a:r>
            <a:r>
              <a:rPr lang="ru-RU" dirty="0"/>
              <a:t>.</a:t>
            </a:r>
          </a:p>
          <a:p>
            <a:r>
              <a:rPr lang="ru-RU" dirty="0"/>
              <a:t>В результате программа выводит адрес памяти в шестнадцатеричном виде.</a:t>
            </a:r>
          </a:p>
          <a:p>
            <a:r>
              <a:rPr lang="ru-RU" dirty="0"/>
              <a:t>Дальше в лекции мы будем использовать это, чтобы увидеть, как меняется значение указателя при выполнении адресной арифметики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03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— это указатель на объект неизвестного типа. Такой указатель может хранить адрес любого объекта.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 используется как универсальный указатель в обобщённых интерфейсах. Например, функции стандартной библиотеки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 работают именно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Поскольку тип объекта неизвестен, компилятор не знает размер элемента. Поэтому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нельзя выполнять арифметику указателей, разыменование или индексирование.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Чтобы работать с данными, указатель необходимо привести к конкретному типу.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существует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— это указатель на константные данные неизвестного типа. Через него нельзя изменять объект.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31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функции, которая выводит содержимое памяти в шестнадцатеричном виде.</a:t>
            </a:r>
          </a:p>
          <a:p>
            <a:endParaRPr lang="ru-RU" dirty="0"/>
          </a:p>
          <a:p>
            <a:r>
              <a:rPr lang="ru-RU" dirty="0"/>
              <a:t>Функция принимает параметр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 Это означает, что ей можно передать </a:t>
            </a:r>
            <a:r>
              <a:rPr lang="ru-RU" b="1" dirty="0"/>
              <a:t>адрес объекта любого типа</a:t>
            </a:r>
            <a:r>
              <a:rPr lang="ru-RU" dirty="0"/>
              <a:t>. В примере мы передаём адрес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и массива символов.</a:t>
            </a:r>
          </a:p>
          <a:p>
            <a:endParaRPr lang="ru-RU" dirty="0"/>
          </a:p>
          <a:p>
            <a:r>
              <a:rPr lang="ru-RU" dirty="0"/>
              <a:t>Поскольку тип объекта неизвестен, внутри функции указатель приводится к типу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uint8_t*</a:t>
            </a:r>
            <a:r>
              <a:rPr lang="ru-RU" dirty="0"/>
              <a:t>. Это позволяет читать память </a:t>
            </a:r>
            <a:r>
              <a:rPr lang="ru-RU" b="1" dirty="0" err="1"/>
              <a:t>побайтово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мы просто проходим по памяти циклом и выводим каждый байт.</a:t>
            </a:r>
          </a:p>
          <a:p>
            <a:r>
              <a:rPr lang="ru-RU" dirty="0"/>
              <a:t>Важно, что благодаря использованию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при вызове функции </a:t>
            </a:r>
            <a:r>
              <a:rPr lang="ru-RU" b="1" dirty="0"/>
              <a:t>не требуется выполнять приведение типов</a:t>
            </a:r>
            <a:r>
              <a:rPr lang="ru-RU" dirty="0"/>
              <a:t> — адрес любого объекта можно передать напрямую.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56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96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объявляется массив из пяти элементов.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 получает адрес первого элемента массива.</a:t>
            </a:r>
          </a:p>
          <a:p>
            <a:endParaRPr lang="ru-RU" dirty="0"/>
          </a:p>
          <a:p>
            <a:r>
              <a:rPr lang="ru-RU" dirty="0"/>
              <a:t>Сначала мы выводим значение указателя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. Затем выводим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 + 2</a:t>
            </a:r>
            <a:r>
              <a:rPr lang="ru-RU" dirty="0"/>
              <a:t>. Мы видим, что адрес увеличился на 8 байт, потому что тип указателя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, а размер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в этой системе равен 4 байтам.</a:t>
            </a:r>
          </a:p>
          <a:p>
            <a:endParaRPr lang="ru-RU" dirty="0"/>
          </a:p>
          <a:p>
            <a:r>
              <a:rPr lang="ru-RU" dirty="0"/>
              <a:t>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 + 2</a:t>
            </a:r>
            <a:r>
              <a:rPr lang="ru-RU" dirty="0"/>
              <a:t> указывает на третий элемент массива.</a:t>
            </a:r>
          </a:p>
          <a:p>
            <a:endParaRPr lang="ru-RU" dirty="0"/>
          </a:p>
          <a:p>
            <a:r>
              <a:rPr lang="ru-RU" dirty="0"/>
              <a:t>Когда мы разыменовываем этот указатель,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*(p + 2)</a:t>
            </a:r>
            <a:r>
              <a:rPr lang="ru-RU" dirty="0"/>
              <a:t>, мы получаем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</a:t>
            </a:r>
            <a:r>
              <a:rPr lang="ru-RU" dirty="0"/>
              <a:t>, то есть значение третьего элемента массива.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78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0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59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84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58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практического применения адресной арифметики.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ArraySum</a:t>
            </a:r>
            <a:r>
              <a:rPr lang="ru-RU" dirty="0"/>
              <a:t> получает два массива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dirty="0"/>
              <a:t> для результата и размер массивов. Внутри функции создаются указатели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pb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</a:t>
            </a:r>
            <a:r>
              <a:rPr lang="ru-RU" dirty="0"/>
              <a:t>, которые указывают на текущие элементы соответствующих массивов.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вычисляется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dirty="0"/>
              <a:t>, который указывает на позицию сразу после последнего элемента массива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 Это стандартный приём — диапазон элементов задаётся указателями </a:t>
            </a:r>
            <a:r>
              <a:rPr lang="ru-RU" b="1" dirty="0"/>
              <a:t>[</a:t>
            </a:r>
            <a:r>
              <a:rPr lang="ru-RU" b="1" dirty="0" err="1"/>
              <a:t>begin</a:t>
            </a:r>
            <a:r>
              <a:rPr lang="ru-RU" b="1" dirty="0"/>
              <a:t>, </a:t>
            </a:r>
            <a:r>
              <a:rPr lang="ru-RU" b="1" dirty="0" err="1"/>
              <a:t>end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В цикле мы складываем значения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pb</a:t>
            </a:r>
            <a:r>
              <a:rPr lang="ru-RU" dirty="0"/>
              <a:t> и записываем результат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</a:t>
            </a:r>
            <a:r>
              <a:rPr lang="ru-RU" dirty="0"/>
              <a:t>. После этого все три указателя увеличиваются на один элемент.</a:t>
            </a:r>
          </a:p>
          <a:p>
            <a:r>
              <a:rPr lang="ru-RU" dirty="0"/>
              <a:t>Таким образом указатели последовательно проходят по массивам, и функция суммирует элементы без использования индексирования.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6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80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Возможное представление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1       1      2       3</a:t>
            </a:r>
          </a:p>
          <a:p>
            <a:r>
              <a:rPr lang="ru-RU" dirty="0"/>
              <a:t>Всего требуется: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 бит</a:t>
            </a:r>
          </a:p>
          <a:p>
            <a:r>
              <a:rPr lang="ru-RU" dirty="0"/>
              <a:t>Но обычные переменные займут: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× 1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4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bytes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59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можно вручную хранить несколько маленьких значений внутри одного байта.</a:t>
            </a:r>
          </a:p>
          <a:p>
            <a:endParaRPr lang="en-US" dirty="0"/>
          </a:p>
          <a:p>
            <a:r>
              <a:rPr lang="ru-RU" dirty="0"/>
              <a:t>Мы используем два младших бита для хранения значения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. Сначала ограничиваем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 двумя битами с помощью маски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0b11</a:t>
            </a:r>
            <a:r>
              <a:rPr lang="ru-RU" dirty="0"/>
              <a:t>. Затем очищаем эти два бита в исходном байте и записываем новое значение.</a:t>
            </a:r>
          </a:p>
          <a:p>
            <a:r>
              <a:rPr lang="ru-RU" dirty="0"/>
              <a:t>Таким образом внутри одного байта можно хранить несколько независимых полей.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писать такой код вручную не всегда удобно. В языке C существует специальный механизм, который позволяет описывать такие поля на уровне структуры — </a:t>
            </a:r>
            <a:r>
              <a:rPr lang="ru-RU" b="1" dirty="0"/>
              <a:t>битовые поля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9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существует механизм битовых полей, который позволяет описывать внутри структуры поля, занимающие заданное число бит.</a:t>
            </a:r>
          </a:p>
          <a:p>
            <a:r>
              <a:rPr lang="ru-RU" dirty="0"/>
              <a:t>После имени поля указывается двоеточие и количество бит, которое должно занимать это поле.</a:t>
            </a:r>
            <a:endParaRPr lang="en-US" dirty="0"/>
          </a:p>
          <a:p>
            <a:r>
              <a:rPr lang="ru-RU" dirty="0"/>
              <a:t>Тип битового поля должен быть целочисленным —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endParaRPr lang="ru-RU" dirty="0"/>
          </a:p>
          <a:p>
            <a:r>
              <a:rPr lang="ru-RU" dirty="0"/>
              <a:t>В данном примере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field1</a:t>
            </a:r>
            <a:r>
              <a:rPr lang="ru-RU" dirty="0"/>
              <a:t> занимает 1 бит,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field2</a:t>
            </a:r>
            <a:r>
              <a:rPr lang="ru-RU" dirty="0"/>
              <a:t> — 2 бита,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field3</a:t>
            </a:r>
            <a:r>
              <a:rPr lang="ru-RU" dirty="0"/>
              <a:t> — 3 бита.</a:t>
            </a:r>
          </a:p>
          <a:p>
            <a:r>
              <a:rPr lang="ru-RU" dirty="0"/>
              <a:t>Компилятор размещает такие поля внутри одного машинного объекта, упаковывая их в память значительно плотнее, чем обычные переменные.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6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</a:t>
            </a:r>
            <a:r>
              <a:rPr lang="ru-RU" dirty="0"/>
              <a:t> описывает несколько полей, каждое из которых занимает заданное число бит.</a:t>
            </a:r>
          </a:p>
          <a:p>
            <a:r>
              <a:rPr lang="ru-RU" dirty="0"/>
              <a:t>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 занимает два бита. Мы создаём структуру, присваиваем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 значение 2 и выводим это значение.</a:t>
            </a:r>
          </a:p>
          <a:p>
            <a:r>
              <a:rPr lang="ru-RU" dirty="0"/>
              <a:t>Затем выводим размер структуры и смотрим её побайтовое представление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PrintDump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внимание, что хотя все поля суммарно занимают меньше одного байта, размер структуры равен четырём байтам. То есть в один байт эти поля компилятор не упаковал — они размещаются внутри объекта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dirty="0"/>
              <a:t>, который на этой платформе имеет размер четыре байта.</a:t>
            </a:r>
          </a:p>
          <a:p>
            <a:r>
              <a:rPr lang="ru-RU" dirty="0"/>
              <a:t>Конкретное расположение битов и размер структуры зависят от реализации компилятора.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37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2813-8BBC-30DC-0B08-AAB0FB16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E03CB-0EE4-049D-AF26-39AAE2EA2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883A8-1F75-C691-FD6A-5DF906EF6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используется та же структура, но теперь базовый тип битовых полей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Суммарно поля занимают 7 бит, поэтому компилятор может разместить их внутри одного байта. В результате размер структуры равен одному байту.</a:t>
            </a:r>
          </a:p>
          <a:p>
            <a:endParaRPr lang="ru-RU" dirty="0"/>
          </a:p>
          <a:p>
            <a:r>
              <a:rPr lang="ru-RU" dirty="0"/>
              <a:t>Мы присваиваем полю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 значение 2, выводим размер структуры и затем смотрим её побайтовое представление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PrintDump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дампе видно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08</a:t>
            </a:r>
            <a:r>
              <a:rPr lang="ru-RU" dirty="0"/>
              <a:t>, что соответствует установленным битам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 в этом байте.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CBE5-47F1-73E9-15C7-1F485C7FB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14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стандарт языка C </a:t>
            </a:r>
            <a:r>
              <a:rPr lang="ru-RU" b="1" dirty="0"/>
              <a:t>не гарантирует точное представление битовых полей в памяти</a:t>
            </a:r>
            <a:r>
              <a:rPr lang="ru-RU" dirty="0"/>
              <a:t>. </a:t>
            </a:r>
            <a:endParaRPr lang="en-US" dirty="0"/>
          </a:p>
          <a:p>
            <a:endParaRPr lang="en-US" dirty="0"/>
          </a:p>
          <a:p>
            <a:r>
              <a:rPr lang="ru-RU" dirty="0"/>
              <a:t>Многие детали оставлены на усмотрение компилятора.</a:t>
            </a:r>
          </a:p>
          <a:p>
            <a:r>
              <a:rPr lang="ru-RU" dirty="0"/>
              <a:t>Во-первых, компилятор сам определяет </a:t>
            </a:r>
            <a:r>
              <a:rPr lang="ru-RU" b="1" dirty="0"/>
              <a:t>выравнивание структуры</a:t>
            </a:r>
            <a:r>
              <a:rPr lang="ru-RU" dirty="0"/>
              <a:t>. Битовые поля обычно размещаются внутри объекта базового типа, и структура может содержать дополнительные байты выравнивания — так называемый </a:t>
            </a:r>
            <a:r>
              <a:rPr lang="ru-RU" dirty="0" err="1"/>
              <a:t>padding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Во-вторых, стандарт не определяет </a:t>
            </a:r>
            <a:r>
              <a:rPr lang="ru-RU" b="1" dirty="0"/>
              <a:t>порядок размещения битов</a:t>
            </a:r>
            <a:r>
              <a:rPr lang="ru-RU" dirty="0"/>
              <a:t>. То есть поля могут заполняться как от младших битов к старшим, так и наоборот — это зависит от компилятора и архитектуры.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компилятор определяет </a:t>
            </a:r>
            <a:r>
              <a:rPr lang="ru-RU" b="1" dirty="0"/>
              <a:t>границы хранения</a:t>
            </a:r>
            <a:r>
              <a:rPr lang="ru-RU" dirty="0"/>
              <a:t>. Он может разместить несколько полей внутри одного объекта базового типа, может начать новый объект, если поле не помещается, и может добавлять неиспользуемые биты.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Следствие из этого простое: битовые поля не подходят для данных, которые должны иметь строго определённое представление в памяти — например для бинарных файловых форматов или сетевых протоколов. В таких случаях используют явные битовые операции — маски и сдвиги.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234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во что компилятор преобразует работу с битовыми полями.</a:t>
            </a:r>
          </a:p>
          <a:p>
            <a:r>
              <a:rPr lang="ru-RU" dirty="0"/>
              <a:t>Хотя в исходном коде мы просто присваиваем значение полю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, на уровне машинного кода компилятор генерирует обычные операции манипулирования битами.</a:t>
            </a:r>
          </a:p>
          <a:p>
            <a:r>
              <a:rPr lang="ru-RU" dirty="0"/>
              <a:t>Сначала новое значение ограничивается маской, затем очищаются соответствующие биты в байте структуры, после чего выполняется сдвиг и операция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ru-RU" dirty="0"/>
              <a:t>, чтобы записать новое значение.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битовые поля — это не особый механизм процессора. Компилятор просто генерирует тот же код с масками и сдвигами, который мы писали вручную ранее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211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можно объявлять безымянные битовые поля нулевой ширины.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Такое поле не хранит данных. Оно используется как разделитель. Конструкция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:0</a:t>
            </a:r>
            <a:r>
              <a:rPr lang="ru-RU" dirty="0"/>
              <a:t> заставляет компилятор завершить текущую единицу хранения и начать размещение следующих битовых полей заново.</a:t>
            </a:r>
          </a:p>
          <a:p>
            <a:endParaRPr lang="en-US" dirty="0"/>
          </a:p>
          <a:p>
            <a:r>
              <a:rPr lang="ru-RU" dirty="0"/>
              <a:t>Это позволяет контролировать, чтобы разные группы полей не упаковывались в один и тот же машинный объект. Иногда это полезно при описании структур, где важно разделить группы битов.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197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embedded</a:t>
            </a:r>
            <a:r>
              <a:rPr lang="ru-RU" dirty="0"/>
              <a:t>-системах битовые поля иногда используют для описания аппаратных регистров. Регистр отображается в память, и программа может обращаться к отдельным битам через поля структуры.</a:t>
            </a:r>
          </a:p>
          <a:p>
            <a:endParaRPr lang="ru-RU" dirty="0"/>
          </a:p>
          <a:p>
            <a:r>
              <a:rPr lang="ru-RU" dirty="0"/>
              <a:t>Это выглядит очень удобно — можно обращаться к битам регистра как к обычным полям структуры.</a:t>
            </a:r>
          </a:p>
          <a:p>
            <a:endParaRPr lang="ru-RU" dirty="0"/>
          </a:p>
          <a:p>
            <a:r>
              <a:rPr lang="ru-RU" dirty="0"/>
              <a:t>Однако стандарт C не гарантирует точное расположение битовых полей в памяти. Порядок битов, выравнивание и границы хранения определяются компилятором.</a:t>
            </a:r>
          </a:p>
          <a:p>
            <a:endParaRPr lang="ru-RU" dirty="0"/>
          </a:p>
          <a:p>
            <a:r>
              <a:rPr lang="ru-RU" dirty="0"/>
              <a:t>Поэтому такой подход допустим только тогда, когда архитектура и компилятор заранее известны. В переносимом коде для работы с регистрами обычно используют явные маски и сдвиги.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725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Битовые поля применяются не только в </a:t>
            </a:r>
            <a:r>
              <a:rPr lang="ru-RU" dirty="0" err="1"/>
              <a:t>embedded</a:t>
            </a:r>
            <a:r>
              <a:rPr lang="ru-RU" dirty="0"/>
              <a:t>-системах. Их можно встретить и в обычной промышленной разработке.</a:t>
            </a:r>
          </a:p>
          <a:p>
            <a:endParaRPr lang="ru-RU" dirty="0"/>
          </a:p>
          <a:p>
            <a:r>
              <a:rPr lang="ru-RU" dirty="0"/>
              <a:t>Часто они используются для компактного хранения большого количества небольших значений — например флагов или состояний объектов.</a:t>
            </a:r>
          </a:p>
          <a:p>
            <a:endParaRPr lang="ru-RU" dirty="0"/>
          </a:p>
          <a:p>
            <a:r>
              <a:rPr lang="ru-RU" dirty="0"/>
              <a:t>Например, в проекте </a:t>
            </a:r>
            <a:r>
              <a:rPr lang="ru-RU" dirty="0" err="1"/>
              <a:t>FFmpeg</a:t>
            </a:r>
            <a:r>
              <a:rPr lang="ru-RU" dirty="0"/>
              <a:t> битовые поля используются внутри некоторых структур. Причина в том, что структуры могут храниться в больших массивах, и уменьшение их размера позволяет лучше использовать кэш процессора.</a:t>
            </a:r>
          </a:p>
          <a:p>
            <a:endParaRPr lang="ru-RU" dirty="0"/>
          </a:p>
          <a:p>
            <a:r>
              <a:rPr lang="ru-RU" dirty="0"/>
              <a:t>Разработчики в таком случае сознательно идут на компромисс: доступ к таким полям может компилироваться в немного более сложный машинный код, но выигрыш в размере структуры и эффективности использования кэша оказывается важнее.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317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50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рассматривали структуры, где поля располагаются </a:t>
            </a:r>
            <a:r>
              <a:rPr lang="ru-RU" b="1" dirty="0"/>
              <a:t>рядом в памяти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иногда возникает другая задача: нужно иметь </a:t>
            </a:r>
            <a:r>
              <a:rPr lang="ru-RU" b="1" dirty="0"/>
              <a:t>несколько разных интерпретаций одного и того же блока памяти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Например, мы можем хотеть рассматривать одно и то же значение как целое число или как набор байтов.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языке C для этого существует конструкция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. В отличие от структуры,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</a:t>
            </a:r>
            <a:r>
              <a:rPr lang="ru-RU" b="1" dirty="0"/>
              <a:t>не располагаются последовательно</a:t>
            </a:r>
            <a:r>
              <a:rPr lang="ru-RU" dirty="0"/>
              <a:t>, а накладываются друг на друга и используют одну и ту же область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9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Может возникнуть идея: если у нас есть объект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uint64_t</a:t>
            </a:r>
            <a:r>
              <a:rPr lang="ru-RU" dirty="0"/>
              <a:t>, можно ли просто привести его адрес 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uint32_t*</a:t>
            </a:r>
            <a:r>
              <a:rPr lang="ru-RU" dirty="0"/>
              <a:t> и читать его как два 32-битных числа.</a:t>
            </a:r>
          </a:p>
          <a:p>
            <a:endParaRPr lang="ru-RU" dirty="0"/>
          </a:p>
          <a:p>
            <a:r>
              <a:rPr lang="ru-RU" dirty="0"/>
              <a:t>Однако стандарт языка C вводит правило </a:t>
            </a:r>
            <a:r>
              <a:rPr lang="ru-RU" dirty="0" err="1"/>
              <a:t>strict</a:t>
            </a:r>
            <a:r>
              <a:rPr lang="ru-RU" dirty="0"/>
              <a:t> </a:t>
            </a:r>
            <a:r>
              <a:rPr lang="ru-RU" dirty="0" err="1"/>
              <a:t>aliasing</a:t>
            </a:r>
            <a:r>
              <a:rPr lang="ru-RU" dirty="0"/>
              <a:t>. Оно говорит, что объект должен читаться через указатель на свой тип или через совместимый тип.</a:t>
            </a:r>
          </a:p>
          <a:p>
            <a:endParaRPr lang="ru-RU" dirty="0"/>
          </a:p>
          <a:p>
            <a:r>
              <a:rPr lang="ru-RU" dirty="0"/>
              <a:t>Исключение сделано только для символьных типов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 Через них разрешено читать представление любого объекта в памяти.</a:t>
            </a:r>
          </a:p>
          <a:p>
            <a:endParaRPr lang="ru-RU" dirty="0"/>
          </a:p>
          <a:p>
            <a:r>
              <a:rPr lang="ru-RU" dirty="0"/>
              <a:t>Поэтому побайтовое чтение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допустимо, а интерпретация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uint64_t</a:t>
            </a:r>
            <a:r>
              <a:rPr lang="ru-RU" dirty="0"/>
              <a:t>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uint32_t*</a:t>
            </a:r>
            <a:r>
              <a:rPr lang="ru-RU" dirty="0"/>
              <a:t> стандартом не гарантируется.</a:t>
            </a:r>
          </a:p>
          <a:p>
            <a:endParaRPr lang="ru-RU" dirty="0"/>
          </a:p>
          <a:p>
            <a:r>
              <a:rPr lang="ru-RU" dirty="0"/>
              <a:t>Для безопасного описания разных представлений одной и той же области памяти в языке C существует специальный механизм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. Мы сейчас его рассмотрим.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993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Объединение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похоже на структуру, но работает иначе. В структуре поля располагаются последовательно в памяти. В объединении все поля используют одну и ту же область памяти.</a:t>
            </a:r>
          </a:p>
          <a:p>
            <a:endParaRPr lang="ru-RU" dirty="0"/>
          </a:p>
          <a:p>
            <a:r>
              <a:rPr lang="ru-RU" dirty="0"/>
              <a:t>Это означает, что у всех полей одинаковый адрес, а размер объединения равен размеру самого большого поля.</a:t>
            </a:r>
          </a:p>
          <a:p>
            <a:r>
              <a:rPr lang="ru-RU" dirty="0"/>
              <a:t>Такой тип используется, когда одну и ту же область памяти нужно интерпретировать разными способами.</a:t>
            </a:r>
          </a:p>
          <a:p>
            <a:endParaRPr lang="ru-RU" dirty="0"/>
          </a:p>
          <a:p>
            <a:r>
              <a:rPr lang="ru-RU" dirty="0"/>
              <a:t> Например, можно рассматривать значение как одно 64-битное число или как массив из двух 32-битных чисел.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423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объединение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используется для того, чтобы иметь два разных способа доступа к одним и тем же данным.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есть структура с полями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, а также массив из двух элементов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Оба представления используют </a:t>
            </a:r>
            <a:r>
              <a:rPr lang="ru-RU" b="1" dirty="0"/>
              <a:t>одну и ту же область памяти</a:t>
            </a:r>
            <a:r>
              <a:rPr lang="ru-RU" dirty="0"/>
              <a:t>. Поэтому можно обращаться к координатам точки либо по именам полей, либо по индексу массива.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изменить значения через массив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dirty="0"/>
              <a:t>, изменятся и поля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, потому что это одна и та же память.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342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объединение используется для того, чтобы задать два разных представления одной и той же области памяти.</a:t>
            </a:r>
          </a:p>
          <a:p>
            <a:endParaRPr lang="ru-RU" dirty="0"/>
          </a:p>
          <a:p>
            <a:r>
              <a:rPr lang="ru-RU" dirty="0"/>
              <a:t>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u64</a:t>
            </a:r>
            <a:r>
              <a:rPr lang="ru-RU" dirty="0"/>
              <a:t> хранит одно 64-битное число.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u32</a:t>
            </a:r>
            <a:r>
              <a:rPr lang="ru-RU" dirty="0"/>
              <a:t> рассматривает ту же самую память как массив из двух 32-битных чисел.</a:t>
            </a:r>
          </a:p>
          <a:p>
            <a:endParaRPr lang="ru-RU" dirty="0"/>
          </a:p>
          <a:p>
            <a:r>
              <a:rPr lang="ru-RU" dirty="0"/>
              <a:t>Мы записываем значение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u64</a:t>
            </a:r>
            <a:r>
              <a:rPr lang="ru-RU" dirty="0"/>
              <a:t>, а затем читаем ту же память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u32</a:t>
            </a:r>
            <a:r>
              <a:rPr lang="ru-RU" dirty="0"/>
              <a:t>. Никакого копирования данных не происходит — просто используется другое представление той же области памяти.</a:t>
            </a:r>
          </a:p>
          <a:p>
            <a:endParaRPr lang="ru-RU" dirty="0"/>
          </a:p>
          <a:p>
            <a:r>
              <a:rPr lang="ru-RU" dirty="0"/>
              <a:t>Однако результат зависит от архитектуры процессора. На системах с </a:t>
            </a:r>
            <a:r>
              <a:rPr lang="ru-RU" dirty="0" err="1"/>
              <a:t>little-endian</a:t>
            </a:r>
            <a:r>
              <a:rPr lang="ru-RU" dirty="0"/>
              <a:t> младшая часть числа окажется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u32[0]</a:t>
            </a:r>
            <a:r>
              <a:rPr lang="ru-RU" dirty="0"/>
              <a:t>, а на системах с </a:t>
            </a:r>
            <a:r>
              <a:rPr lang="ru-RU" dirty="0" err="1"/>
              <a:t>big-endian</a:t>
            </a:r>
            <a:r>
              <a:rPr lang="ru-RU" dirty="0"/>
              <a:t> — наоборот.</a:t>
            </a:r>
          </a:p>
          <a:p>
            <a:endParaRPr lang="ru-RU" dirty="0"/>
          </a:p>
          <a:p>
            <a:r>
              <a:rPr lang="ru-RU" dirty="0"/>
              <a:t>Поэтому такой код непереносим: порядок элементов массива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u32</a:t>
            </a:r>
            <a:r>
              <a:rPr lang="ru-RU" dirty="0"/>
              <a:t> определяется порядком байтов в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188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Type </a:t>
            </a:r>
            <a:r>
              <a:rPr lang="ru-RU" dirty="0" err="1"/>
              <a:t>punning</a:t>
            </a:r>
            <a:r>
              <a:rPr lang="ru-RU" dirty="0"/>
              <a:t> — это техника, при которой одна и та же область памяти рассматривается как разные типы данных.</a:t>
            </a:r>
          </a:p>
          <a:p>
            <a:r>
              <a:rPr lang="ru-RU" dirty="0"/>
              <a:t>В языке C это удобно делать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, когда разные поля объединения накладываются на одну и ту же память.</a:t>
            </a:r>
          </a:p>
          <a:p>
            <a:r>
              <a:rPr lang="ru-RU" dirty="0"/>
              <a:t>Например, мы можем записать значение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uint64_t</a:t>
            </a:r>
            <a:r>
              <a:rPr lang="ru-RU" dirty="0"/>
              <a:t>, а затем прочитать ту же память как массив из двух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uint32_t</a:t>
            </a:r>
            <a:r>
              <a:rPr lang="ru-RU" dirty="0"/>
              <a:t>.</a:t>
            </a:r>
          </a:p>
          <a:p>
            <a:r>
              <a:rPr lang="ru-RU" dirty="0"/>
              <a:t>Такой приём часто используется в системном программировании и при работе с бинарными данными. Однако он может зависеть от архитектуры и компилятора, поэтому использовать его нужно осторожно.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643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418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так называемого </a:t>
            </a:r>
            <a:r>
              <a:rPr lang="ru-RU" i="1" dirty="0" err="1"/>
              <a:t>tagged</a:t>
            </a:r>
            <a:r>
              <a:rPr lang="ru-RU" i="1" dirty="0"/>
              <a:t> </a:t>
            </a:r>
            <a:r>
              <a:rPr lang="ru-RU" i="1" dirty="0" err="1"/>
              <a:t>union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</a:t>
            </a:r>
            <a:r>
              <a:rPr lang="ru-RU" dirty="0"/>
              <a:t> может хранить значения разных типов.</a:t>
            </a:r>
          </a:p>
          <a:p>
            <a:r>
              <a:rPr lang="ru-RU" dirty="0"/>
              <a:t>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ru-RU" dirty="0"/>
              <a:t> хранит информацию о том, какое значение сейчас находится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.</a:t>
            </a:r>
            <a:br>
              <a:rPr lang="ru-RU" dirty="0"/>
            </a:br>
            <a:endParaRPr lang="en-US" dirty="0"/>
          </a:p>
          <a:p>
            <a:r>
              <a:rPr lang="ru-RU" dirty="0"/>
              <a:t>Сам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содержит два возможных представления: либо целое число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либо структуру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ru-RU" dirty="0"/>
              <a:t>.</a:t>
            </a:r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CreateInt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CreateDate</a:t>
            </a:r>
            <a:r>
              <a:rPr lang="ru-RU" dirty="0"/>
              <a:t> создают переменную нужного типа и устанавливают соответствующий тег. Таким образом мы всегда знаем, какое поле объединения содержит корректные данные.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027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использовании такой переменной сначала нужно проверить, какое значение в ней хранится. Для этого используется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PrintVar</a:t>
            </a:r>
            <a:r>
              <a:rPr lang="ru-RU" dirty="0"/>
              <a:t> это делается с помощью оператора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ru-RU" dirty="0"/>
              <a:t>. Если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VAR_INT</a:t>
            </a:r>
            <a:r>
              <a:rPr lang="ru-RU" dirty="0"/>
              <a:t>, мы читаем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dirty="0"/>
              <a:t>. Если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VAR_DATE</a:t>
            </a:r>
            <a:r>
              <a:rPr lang="ru-RU" dirty="0"/>
              <a:t>, мы читаем структуру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обратите внимание на размер структуры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</a:t>
            </a:r>
            <a:r>
              <a:rPr lang="ru-RU" dirty="0"/>
              <a:t>. В этом примере он равен 8 байтам. Структура содержит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(4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байта)</a:t>
            </a:r>
            <a:r>
              <a:rPr lang="ru-RU" dirty="0"/>
              <a:t> и объединение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, размер которого равен размеру самого большого поля — в данном случае структуры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тип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имеют одинаковый размер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подход позволяет хранить значения разных типов в одной структуре и широко используется в системном программировании — например в интерпретаторах, компиляторах и библиотеках обработки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784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Размер объединения определяется размером его самого большого поля. Это происходит потому, что все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используют одну и ту же область памяти.</a:t>
            </a:r>
          </a:p>
          <a:p>
            <a:r>
              <a:rPr lang="ru-RU" dirty="0"/>
              <a:t>В этом примере объединение содержит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 Самый большой тип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, поэтому размер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будет равен размеру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.</a:t>
            </a:r>
          </a:p>
          <a:p>
            <a:r>
              <a:rPr lang="ru-RU" dirty="0"/>
              <a:t>Таким образом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позволяет хранить разные типы данных, но память выделяется только для одного значения — самого большого.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247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помнить, что в каждый момент времени корректно читать только то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, которое было записано последним.</a:t>
            </a:r>
          </a:p>
          <a:p>
            <a:r>
              <a:rPr lang="ru-RU" dirty="0"/>
              <a:t>В этом примере мы записали значение в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dirty="0"/>
              <a:t>. Поэтому чтение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u.i</a:t>
            </a:r>
            <a:r>
              <a:rPr lang="ru-RU" dirty="0"/>
              <a:t> корректно.</a:t>
            </a:r>
          </a:p>
          <a:p>
            <a:r>
              <a:rPr lang="ru-RU" dirty="0"/>
              <a:t>Но если прочитать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</a:t>
            </a:r>
            <a:r>
              <a:rPr lang="ru-RU" dirty="0"/>
              <a:t>, мы будем интерпретировать ту же область памяти как другое поле. Полученное значение не имеет определённого смысла.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773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Объединения применяются в ситуациях, когда одну и ту же область памяти нужно интерпретировать разными способами.</a:t>
            </a:r>
          </a:p>
          <a:p>
            <a:r>
              <a:rPr lang="ru-RU" dirty="0"/>
              <a:t>Один из самых распространённых вариантов — это так называемые </a:t>
            </a:r>
            <a:r>
              <a:rPr lang="ru-RU" i="1" dirty="0" err="1"/>
              <a:t>tagged</a:t>
            </a:r>
            <a:r>
              <a:rPr lang="ru-RU" i="1" dirty="0"/>
              <a:t> </a:t>
            </a:r>
            <a:r>
              <a:rPr lang="ru-RU" i="1" dirty="0" err="1"/>
              <a:t>union</a:t>
            </a:r>
            <a:r>
              <a:rPr lang="ru-RU" dirty="0"/>
              <a:t>, где рядом с объединением хранится тип текущего значения.</a:t>
            </a:r>
          </a:p>
          <a:p>
            <a:r>
              <a:rPr lang="ru-RU" dirty="0"/>
              <a:t>Также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 используют при разборе бинарных форматов, в системном программировании и в некоторых высокопроизводительных библиотеках.</a:t>
            </a:r>
          </a:p>
          <a:p>
            <a:r>
              <a:rPr lang="ru-RU" dirty="0"/>
              <a:t>Главная идея объединения — одна область памяти может иметь несколько представлений.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EF2B-C127-47DA-B29D-C80843EB954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6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1EDE-739C-A806-FD78-446003FE5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DC12F-4616-26C4-E786-D07DCB8ED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7AAC5-9F40-64CC-8982-461DD999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03947-1FD3-4FBB-8DBD-AC1F3B98016D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27105-407F-FDC5-94D2-31C23900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19D0A-F999-755A-F84D-544A7E02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BC1E-0917-05D2-4B97-26B4B23D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2D1B7-B838-9E73-90EE-546D55096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AF9BC-8614-B0D6-6B3D-56150B89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DDDBC-2BA9-479F-8034-4E4402EA6DD4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E167C-2562-8D4A-05AC-918450EB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C8C74-E6BB-27B9-2D72-44E5BB83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6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E194F-48C9-AEFC-0B77-6E1AB9AB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F52DC-4EE1-5B2C-49CB-38CF9E568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E4140-453F-7044-112E-70C6B5DA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53C79-16C1-49B6-9E37-C361712BF917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A9A33-3873-3389-EF0C-E35B5341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16790-F837-A3A7-9D35-0AC516E3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3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B0C1-AB4E-F2FC-95F5-554E8FC3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783C6-556E-C865-FB24-3D5E2730E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EBCFA-01D2-E151-6E2A-15F344C3D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57F88-0F2E-5490-C19C-72C6F177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ED8DD-8639-4355-94D6-978B1AB2916B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65471-0000-180A-5249-80940DF1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098F7-5CC2-E636-4C2A-52661A27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6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4C01-C753-1CC0-34D0-E02E06E7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C168F-4471-8520-1765-683447C88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67529-2255-AFDD-8AC6-2868E9210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8FAE2-84DD-3CF0-6C6E-2552834E5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B66684-9EAD-79F7-D6EC-7785728A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EBA941-F2DF-2EE0-F65D-57EF81A91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CF10-3D00-434A-9C53-B6A88D490794}" type="datetime1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D86B-C5C0-99DF-CE32-1581B58E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3B011-CE5B-FAB9-F2F0-B8A4D75C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EE7E-077D-556E-D214-3DB5EA15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BAA19-CA5E-6693-50F5-4B2976F3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5BDB-792F-4711-A053-B8E33EA0FFF7}" type="datetime1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182EA-043D-1526-38AC-4E642C9E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C16B2-9AA0-C0EB-6D05-FB41718E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8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5875-7814-0C72-96B2-E7352609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12012-3FCB-4A74-BCD7-F52481CF64A2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10511-C734-5D01-D60D-374321B1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7358A-9147-42FC-98D0-2E96394E0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1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2C69-B261-BDC8-969F-62D333A2F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0A82-021D-8E72-B3A0-9302EC075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C6F40-B203-CC00-2C1A-1FAC7540E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4F41F-91A9-65A3-7E5B-7B9FBC0E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501C5-61C8-4C11-9A8B-4B42F81B5C41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3D0D8-092B-8647-DA3E-7287953C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D3A46-3033-452A-877C-01F21801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0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51FB-4F4C-54B7-89AC-2A830B20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17895-4378-D5F9-47D2-EB1182C7A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B0917-FB56-1912-7C09-11623A2DC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54EEB-CE3C-295C-A4A7-DCEB9B21B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3E8C-9E58-4BC8-97BF-BC382C92B23D}" type="datetime1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A8896-AD0C-9EA6-BEE9-53BEBFC0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1D541-CD30-9562-6CDA-B2746AA6C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2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EEBAC-5988-A818-B62B-29CC9E12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7700C-5B1C-0AEB-9415-70B79F89D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BA10-5B0B-D85C-4BAA-6298C01F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69F62-763B-4A99-AB30-0A2206259F50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1262D-112C-B678-BC3C-B178EF8B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9E434-28E6-9F5C-898E-B325564B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7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F02FE-025C-053C-0508-0CAF31408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033F0-4855-F225-BEB0-4F5CFE695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BCB68-A916-AF12-53D2-D32371BBB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7058-657D-48F8-93A2-A5C0CCA414BF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38C50-AB39-6775-EF45-4F271094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9B940-01A5-A8B4-4457-928E7776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8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2C1E6-7786-3D2F-A49C-159064CE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C9E03-CC6A-3DAB-B3B3-F18DC6DB4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5281F-81D2-13CD-BC56-FEDD4C08F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0932F-3B50-4B7E-88A4-A447FCCDC6F7}" type="datetime1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18CEC-71E1-1A03-D6A0-D5C737B7A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82BE-42C8-DB15-CC82-82007B2B3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AAA69-4C63-4703-A76C-31C561DAA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10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vGrKabfP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5f5sTesb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c7Wq6PW5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co7WT7Mc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T5Krhc83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e1q8b86E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8MsPdT5eP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PYrbnvrz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4rnvKh3c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hfob3eoTq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4Ted3TW9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2EA5-2F7D-7A62-DE62-7302143415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Указатели, массивы, интерпретация памяти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801D1-D4B0-94C7-7B9F-6140335B7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3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E0E4-6B04-96C9-E3F7-0E52AB22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Адресная арифметика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70C6E-BD50-CE1B-1346-61C9D24EA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языке </a:t>
            </a:r>
            <a:r>
              <a:rPr lang="ru-RU" b="1" dirty="0"/>
              <a:t>C</a:t>
            </a:r>
            <a:r>
              <a:rPr lang="ru-RU" dirty="0"/>
              <a:t> указатель хранит </a:t>
            </a:r>
            <a:r>
              <a:rPr lang="ru-RU" b="1" dirty="0"/>
              <a:t>адрес в памяти</a:t>
            </a:r>
            <a:endParaRPr lang="ru-RU" dirty="0"/>
          </a:p>
          <a:p>
            <a:r>
              <a:rPr lang="ru-RU" dirty="0"/>
              <a:t>Для указателей на элементы </a:t>
            </a:r>
            <a:r>
              <a:rPr lang="ru-RU" b="1" dirty="0"/>
              <a:t>одного массива</a:t>
            </a:r>
            <a:r>
              <a:rPr lang="ru-RU" dirty="0"/>
              <a:t> определены операции:</a:t>
            </a:r>
          </a:p>
          <a:p>
            <a:pPr lvl="1"/>
            <a:r>
              <a:rPr lang="ru-RU" dirty="0"/>
              <a:t>p + n      сдвиг указателя на n элементов</a:t>
            </a:r>
            <a:br>
              <a:rPr lang="ru-RU" dirty="0"/>
            </a:br>
            <a:r>
              <a:rPr lang="ru-RU" dirty="0"/>
              <a:t>p - n      сдвиг указателя назад</a:t>
            </a:r>
            <a:br>
              <a:rPr lang="ru-RU" dirty="0"/>
            </a:br>
            <a:r>
              <a:rPr lang="ru-RU" dirty="0"/>
              <a:t>p1 - p2    расстояние между указателями</a:t>
            </a:r>
            <a:br>
              <a:rPr lang="ru-RU" dirty="0"/>
            </a:br>
            <a:r>
              <a:rPr lang="ru-RU" dirty="0"/>
              <a:t>p[i]       доступ к элементу</a:t>
            </a:r>
          </a:p>
          <a:p>
            <a:r>
              <a:rPr lang="ru-RU" dirty="0"/>
              <a:t>Арифметика указателей работает </a:t>
            </a:r>
            <a:r>
              <a:rPr lang="ru-RU" b="1" dirty="0"/>
              <a:t>в элементах</a:t>
            </a:r>
            <a:r>
              <a:rPr lang="ru-RU" dirty="0"/>
              <a:t>, а не в байтах.</a:t>
            </a:r>
          </a:p>
          <a:p>
            <a:pPr lvl="1"/>
            <a:r>
              <a:rPr lang="ru-RU" dirty="0"/>
              <a:t>p + 1  →  адрес следующего элемента</a:t>
            </a:r>
            <a:br>
              <a:rPr lang="ru-RU" dirty="0"/>
            </a:br>
            <a:r>
              <a:rPr lang="ru-RU" dirty="0"/>
              <a:t>       →  p + </a:t>
            </a:r>
            <a:r>
              <a:rPr lang="ru-RU" dirty="0" err="1"/>
              <a:t>sizeof</a:t>
            </a:r>
            <a:r>
              <a:rPr lang="ru-RU" dirty="0"/>
              <a:t>(*p) байт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8CBFE-D9AD-FD4B-02E0-46014D43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1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7698-ADAF-BC78-2CD2-C1CA218C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значения указателя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93DA3-197A-9E64-E832-61A0A1C53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Значение указателя можно вывести с помощью </a:t>
            </a:r>
            <a:r>
              <a:rPr lang="ru-RU" b="1" dirty="0" err="1"/>
              <a:t>printf</a:t>
            </a:r>
            <a:r>
              <a:rPr lang="ru-RU" dirty="0"/>
              <a:t>. Для этого используется спецификатор формата</a:t>
            </a:r>
            <a:r>
              <a:rPr lang="en-US" dirty="0"/>
              <a:t> %p</a:t>
            </a:r>
            <a:endParaRPr lang="ru-RU" dirty="0"/>
          </a:p>
          <a:p>
            <a:pPr lvl="1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 = &amp;x;</a:t>
            </a:r>
          </a:p>
          <a:p>
            <a:pPr lvl="1">
              <a:buNone/>
            </a:pP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dirty="0"/>
          </a:p>
          <a:p>
            <a:r>
              <a:rPr lang="ru-RU" dirty="0"/>
              <a:t>Пример вывода</a:t>
            </a:r>
          </a:p>
          <a:p>
            <a:pPr lvl="1"/>
            <a:r>
              <a:rPr lang="en-US" dirty="0"/>
              <a:t>0x7ffc0000561c</a:t>
            </a:r>
          </a:p>
          <a:p>
            <a:r>
              <a:rPr lang="ru-RU" dirty="0"/>
              <a:t>%p выводит </a:t>
            </a:r>
            <a:r>
              <a:rPr lang="ru-RU" b="1" dirty="0"/>
              <a:t>адрес в памяти</a:t>
            </a:r>
            <a:r>
              <a:rPr lang="ru-RU" dirty="0"/>
              <a:t>, на который указывает указатель.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34E8C-CBF3-37EC-FAF9-15A362E1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0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1601-7A00-DF7E-ABE7-342E7AB9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</a:t>
            </a:r>
            <a:r>
              <a:rPr lang="en-US" dirty="0"/>
              <a:t>void*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BA14B-8847-F4C1-066D-8E7F8B46A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err="1"/>
              <a:t>void</a:t>
            </a:r>
            <a:r>
              <a:rPr lang="ru-RU" dirty="0"/>
              <a:t>* — указатель на объект неизвестного типа.</a:t>
            </a:r>
          </a:p>
          <a:p>
            <a:r>
              <a:rPr lang="ru-RU" dirty="0"/>
              <a:t>Он может хранить адрес любого объекта.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x = 10;</a:t>
            </a:r>
            <a:br>
              <a:rPr lang="ru-RU" dirty="0"/>
            </a:br>
            <a:r>
              <a:rPr lang="ru-RU" dirty="0" err="1"/>
              <a:t>void</a:t>
            </a:r>
            <a:r>
              <a:rPr lang="ru-RU" dirty="0"/>
              <a:t>* p = &amp;x;</a:t>
            </a:r>
          </a:p>
          <a:p>
            <a:r>
              <a:rPr lang="ru-RU" dirty="0"/>
              <a:t>Назначение</a:t>
            </a:r>
          </a:p>
          <a:p>
            <a:pPr lvl="1"/>
            <a:r>
              <a:rPr lang="ru-RU" dirty="0" err="1"/>
              <a:t>void</a:t>
            </a:r>
            <a:r>
              <a:rPr lang="ru-RU" dirty="0"/>
              <a:t>* используется как универсальный указатель:</a:t>
            </a:r>
          </a:p>
          <a:p>
            <a:pPr lvl="1"/>
            <a:r>
              <a:rPr lang="ru-RU" dirty="0"/>
              <a:t>обобщённые интерфейсы (</a:t>
            </a:r>
            <a:r>
              <a:rPr lang="ru-RU" dirty="0" err="1"/>
              <a:t>malloc</a:t>
            </a:r>
            <a:r>
              <a:rPr lang="ru-RU" dirty="0"/>
              <a:t>, </a:t>
            </a:r>
            <a:r>
              <a:rPr lang="ru-RU" dirty="0" err="1"/>
              <a:t>qsort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передача произвольных данных</a:t>
            </a:r>
          </a:p>
          <a:p>
            <a:r>
              <a:rPr lang="ru-RU" dirty="0"/>
              <a:t>Ограничения</a:t>
            </a:r>
          </a:p>
          <a:p>
            <a:pPr lvl="1"/>
            <a:r>
              <a:rPr lang="ru-RU" dirty="0"/>
              <a:t>Тип объекта неизвестен, поэтому операции не определены:</a:t>
            </a:r>
          </a:p>
          <a:p>
            <a:pPr lvl="2"/>
            <a:r>
              <a:rPr lang="ru-RU" dirty="0"/>
              <a:t>*p        // нельзя </a:t>
            </a:r>
            <a:r>
              <a:rPr lang="ru-RU" dirty="0" err="1"/>
              <a:t>разыменовать</a:t>
            </a:r>
            <a:endParaRPr lang="en-US" dirty="0"/>
          </a:p>
          <a:p>
            <a:pPr lvl="2"/>
            <a:r>
              <a:rPr lang="ru-RU" dirty="0"/>
              <a:t>p + 1   // нельзя выполнять арифметику</a:t>
            </a:r>
            <a:endParaRPr lang="en-US" dirty="0"/>
          </a:p>
          <a:p>
            <a:pPr lvl="2"/>
            <a:r>
              <a:rPr lang="ru-RU" dirty="0"/>
              <a:t>p[i]      // нельзя индексировать</a:t>
            </a:r>
          </a:p>
          <a:p>
            <a:pPr lvl="1"/>
            <a:r>
              <a:rPr lang="ru-RU" dirty="0"/>
              <a:t>Перед использованием требуется приведение типа:</a:t>
            </a:r>
          </a:p>
          <a:p>
            <a:pPr lvl="2"/>
            <a:r>
              <a:rPr lang="ru-RU" dirty="0" err="1"/>
              <a:t>int</a:t>
            </a:r>
            <a:r>
              <a:rPr lang="ru-RU" dirty="0"/>
              <a:t>* </a:t>
            </a:r>
            <a:r>
              <a:rPr lang="ru-RU" dirty="0" err="1"/>
              <a:t>px</a:t>
            </a:r>
            <a:r>
              <a:rPr lang="ru-RU" dirty="0"/>
              <a:t> = (</a:t>
            </a:r>
            <a:r>
              <a:rPr lang="ru-RU" dirty="0" err="1"/>
              <a:t>int</a:t>
            </a:r>
            <a:r>
              <a:rPr lang="ru-RU" dirty="0"/>
              <a:t>*)p;</a:t>
            </a:r>
            <a:endParaRPr lang="en-US" dirty="0"/>
          </a:p>
          <a:p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void</a:t>
            </a:r>
            <a:r>
              <a:rPr lang="ru-RU" dirty="0"/>
              <a:t>*</a:t>
            </a:r>
          </a:p>
          <a:p>
            <a:pPr lvl="1"/>
            <a:r>
              <a:rPr lang="ru-RU" dirty="0"/>
              <a:t>Указатель на константные данные неизвестного типа.</a:t>
            </a:r>
          </a:p>
          <a:p>
            <a:pPr lvl="1"/>
            <a:r>
              <a:rPr lang="ru-RU" dirty="0"/>
              <a:t>Нельзя изменять объект через такой указатель.</a:t>
            </a:r>
          </a:p>
          <a:p>
            <a:pPr lvl="1"/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60F94-F8EA-16AD-2EA1-A4C0136C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9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4B11EE-7EAA-006B-BB13-A4F263976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</a:t>
            </a:r>
            <a:r>
              <a:rPr lang="en-US" dirty="0"/>
              <a:t>const void*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70254-EDFC-61F6-15FD-DB1F44F35477}"/>
              </a:ext>
            </a:extLst>
          </p:cNvPr>
          <p:cNvSpPr txBox="1"/>
          <p:nvPr/>
        </p:nvSpPr>
        <p:spPr>
          <a:xfrm>
            <a:off x="838200" y="1845425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PrintDump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uint8_t* p =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uint8_t*)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size;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"%02X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3030C0"/>
                </a:solidFill>
                <a:effectLst/>
                <a:latin typeface="Consolas" panose="020B0609020204030204" pitchFamily="49" charset="0"/>
              </a:rPr>
              <a:t>0x12345678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str[]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PrintDump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(&amp;x,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PrintDump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(&amp;y,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PrintDump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14696-9DC5-9265-5CA5-68D824E925A0}"/>
              </a:ext>
            </a:extLst>
          </p:cNvPr>
          <p:cNvSpPr txBox="1"/>
          <p:nvPr/>
        </p:nvSpPr>
        <p:spPr>
          <a:xfrm>
            <a:off x="6986848" y="5569545"/>
            <a:ext cx="3420686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78 56 34 12 </a:t>
            </a:r>
          </a:p>
          <a:p>
            <a:r>
              <a:rPr lang="en-US" dirty="0">
                <a:latin typeface="Consolas" panose="020B0609020204030204" pitchFamily="49" charset="0"/>
              </a:rPr>
              <a:t>1F 85 EB 51 B8 1E 09 40 </a:t>
            </a:r>
          </a:p>
          <a:p>
            <a:r>
              <a:rPr lang="en-US" dirty="0">
                <a:latin typeface="Consolas" panose="020B0609020204030204" pitchFamily="49" charset="0"/>
              </a:rPr>
              <a:t>48 65 6C </a:t>
            </a:r>
            <a:r>
              <a:rPr lang="en-US" dirty="0" err="1">
                <a:latin typeface="Consolas" panose="020B0609020204030204" pitchFamily="49" charset="0"/>
              </a:rPr>
              <a:t>6C</a:t>
            </a:r>
            <a:r>
              <a:rPr lang="en-US" dirty="0">
                <a:latin typeface="Consolas" panose="020B0609020204030204" pitchFamily="49" charset="0"/>
              </a:rPr>
              <a:t> 6F 00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917A98-CE15-BB45-54C4-B6E4E6DEF3B5}"/>
              </a:ext>
            </a:extLst>
          </p:cNvPr>
          <p:cNvSpPr txBox="1"/>
          <p:nvPr/>
        </p:nvSpPr>
        <p:spPr>
          <a:xfrm>
            <a:off x="6986848" y="4938179"/>
            <a:ext cx="3404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https://godbolt.org/z/vGrKabfP7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BA9986-8D00-7899-38F1-4730BA6AB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6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27D1FA-58F5-B959-002F-2CC77FFE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Сложение указателя с числом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B1A4-3690-FFB0-A442-11B297DEF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указатель имеет тип T*, то выражение</a:t>
            </a:r>
          </a:p>
          <a:p>
            <a:pPr lvl="1"/>
            <a:r>
              <a:rPr lang="ru-RU" dirty="0"/>
              <a:t>p + n</a:t>
            </a:r>
          </a:p>
          <a:p>
            <a:r>
              <a:rPr lang="ru-RU" dirty="0"/>
              <a:t>означает:</a:t>
            </a:r>
          </a:p>
          <a:p>
            <a:pPr lvl="1"/>
            <a:r>
              <a:rPr lang="ru-RU" dirty="0"/>
              <a:t>переход на </a:t>
            </a:r>
            <a:r>
              <a:rPr lang="ru-RU" b="1" dirty="0"/>
              <a:t>n-й следующий элемент типа T</a:t>
            </a:r>
            <a:endParaRPr lang="ru-RU" dirty="0"/>
          </a:p>
          <a:p>
            <a:pPr lvl="1"/>
            <a:r>
              <a:rPr lang="ru-RU" dirty="0"/>
              <a:t>адрес увеличивается на</a:t>
            </a:r>
            <a:endParaRPr lang="en-US" dirty="0"/>
          </a:p>
          <a:p>
            <a:pPr lvl="2"/>
            <a:r>
              <a:rPr lang="ru-RU" dirty="0"/>
              <a:t>n * </a:t>
            </a:r>
            <a:r>
              <a:rPr lang="ru-RU" dirty="0" err="1"/>
              <a:t>sizeof</a:t>
            </a:r>
            <a:r>
              <a:rPr lang="ru-RU" dirty="0"/>
              <a:t>(T)</a:t>
            </a:r>
          </a:p>
          <a:p>
            <a:r>
              <a:rPr lang="ru-RU" dirty="0"/>
              <a:t>операция имеет смысл </a:t>
            </a:r>
            <a:r>
              <a:rPr lang="ru-RU" b="1" dirty="0"/>
              <a:t>в пределах одного массива</a:t>
            </a:r>
            <a:endParaRPr lang="ru-RU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611FC-6BD0-C558-83E9-803A0862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8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C5B5-25C9-013A-C5FA-A227C01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AA7D7-02F3-5991-EAEF-1B960F27F176}"/>
              </a:ext>
            </a:extLst>
          </p:cNvPr>
          <p:cNvSpPr txBox="1"/>
          <p:nvPr/>
        </p:nvSpPr>
        <p:spPr>
          <a:xfrm>
            <a:off x="681644" y="1690689"/>
            <a:ext cx="98256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      = 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*)p);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 + 2  = 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*)(p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"*(p+2)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*(p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089A3-51AB-89DA-120C-E6A3C7F93170}"/>
              </a:ext>
            </a:extLst>
          </p:cNvPr>
          <p:cNvSpPr txBox="1"/>
          <p:nvPr/>
        </p:nvSpPr>
        <p:spPr>
          <a:xfrm>
            <a:off x="1334194" y="5507200"/>
            <a:ext cx="3985951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p      = 0x7fff6ea364c0</a:t>
            </a:r>
          </a:p>
          <a:p>
            <a:r>
              <a:rPr lang="en-US">
                <a:latin typeface="Consolas" panose="020B0609020204030204" pitchFamily="49" charset="0"/>
              </a:rPr>
              <a:t>p + 2  = 0x7fff6ea364c8</a:t>
            </a:r>
          </a:p>
          <a:p>
            <a:r>
              <a:rPr lang="en-US">
                <a:latin typeface="Consolas" panose="020B0609020204030204" pitchFamily="49" charset="0"/>
              </a:rPr>
              <a:t>*(p+2) = 30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9E39028-E409-8C5F-4F4A-BD784AF0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3EAB3-2899-62A9-5101-BD6F688EC5E7}"/>
              </a:ext>
            </a:extLst>
          </p:cNvPr>
          <p:cNvSpPr txBox="1"/>
          <p:nvPr/>
        </p:nvSpPr>
        <p:spPr>
          <a:xfrm>
            <a:off x="6096000" y="5599533"/>
            <a:ext cx="348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https://godbolt.org/z/5f5sTesbn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44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190750-866C-2D92-3876-0BFA22CE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Арифметика указателей: вычитание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A1B151-825B-0294-0874-6D75E1CA0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Вычитание числа из указателя</a:t>
            </a:r>
          </a:p>
          <a:p>
            <a:pPr lvl="1"/>
            <a:r>
              <a:rPr lang="ru-RU" dirty="0"/>
              <a:t>Если p имеет тип T*, то p – n указывает на элемент, находящийся на n позиций раньше.</a:t>
            </a:r>
          </a:p>
          <a:p>
            <a:pPr lvl="2"/>
            <a:r>
              <a:rPr lang="ru-RU" dirty="0"/>
              <a:t>Адрес уменьшается на n * </a:t>
            </a:r>
            <a:r>
              <a:rPr lang="ru-RU" dirty="0" err="1"/>
              <a:t>sizeof</a:t>
            </a:r>
            <a:r>
              <a:rPr lang="ru-RU" dirty="0"/>
              <a:t>(T) байт</a:t>
            </a:r>
          </a:p>
          <a:p>
            <a:r>
              <a:rPr lang="ru-RU" dirty="0"/>
              <a:t>Разность двух указателей</a:t>
            </a:r>
          </a:p>
          <a:p>
            <a:pPr lvl="1"/>
            <a:r>
              <a:rPr lang="ru-RU" dirty="0"/>
              <a:t>p1 - p2</a:t>
            </a:r>
          </a:p>
          <a:p>
            <a:pPr lvl="1"/>
            <a:r>
              <a:rPr lang="ru-RU" dirty="0"/>
              <a:t>Определена только если p1 и p2 указывают на элементы одного массива.</a:t>
            </a:r>
          </a:p>
          <a:p>
            <a:pPr lvl="1"/>
            <a:r>
              <a:rPr lang="ru-RU" dirty="0"/>
              <a:t>Результат имеет тип </a:t>
            </a:r>
            <a:r>
              <a:rPr lang="en-US" dirty="0" err="1"/>
              <a:t>ptrdiff_t</a:t>
            </a:r>
            <a:r>
              <a:rPr lang="ru-RU" dirty="0"/>
              <a:t> и содержит количество элементов между указателями.</a:t>
            </a:r>
          </a:p>
          <a:p>
            <a:pPr lvl="2"/>
            <a:r>
              <a:rPr lang="ru-RU" dirty="0"/>
              <a:t>Может быть положительным, отрицательным и нулём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B8880B-77B2-D329-2EA9-D177CEC9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29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AA12A8-9AE4-32E4-541F-20212397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вычитания указателей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D5EB0-BBEB-11E9-0558-57E1AAF0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1F0FB-5DE4-E6F0-B194-BBF31923EF17}"/>
              </a:ext>
            </a:extLst>
          </p:cNvPr>
          <p:cNvSpPr txBox="1"/>
          <p:nvPr/>
        </p:nvSpPr>
        <p:spPr>
          <a:xfrm>
            <a:off x="838200" y="1690688"/>
            <a:ext cx="83016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stddef.h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p1 = 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p2 = 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"p1      = 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*)p1);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"p2      = 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*)p2);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"p1 - p2 = %td\n"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p1 - p2);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"p1 - 2  = 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*)(p1 -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CB2CF-6742-8B93-E3AE-DCF052DB6FFC}"/>
              </a:ext>
            </a:extLst>
          </p:cNvPr>
          <p:cNvSpPr txBox="1"/>
          <p:nvPr/>
        </p:nvSpPr>
        <p:spPr>
          <a:xfrm>
            <a:off x="7602336" y="5639346"/>
            <a:ext cx="4418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https://godbolt.org/z/3c7Wq6PW5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9237BB-6A60-2475-596B-979E7D56AB5D}"/>
              </a:ext>
            </a:extLst>
          </p:cNvPr>
          <p:cNvSpPr txBox="1"/>
          <p:nvPr/>
        </p:nvSpPr>
        <p:spPr>
          <a:xfrm>
            <a:off x="7810500" y="4091345"/>
            <a:ext cx="3543300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p1      = 0x7fffeefe5a70</a:t>
            </a:r>
          </a:p>
          <a:p>
            <a:r>
              <a:rPr lang="en-US" dirty="0">
                <a:latin typeface="Consolas" panose="020B0609020204030204" pitchFamily="49" charset="0"/>
              </a:rPr>
              <a:t>p2      = 0x7fffeefe5a64</a:t>
            </a:r>
          </a:p>
          <a:p>
            <a:r>
              <a:rPr lang="en-US" dirty="0">
                <a:latin typeface="Consolas" panose="020B0609020204030204" pitchFamily="49" charset="0"/>
              </a:rPr>
              <a:t>p1 - p2 = 3</a:t>
            </a:r>
          </a:p>
          <a:p>
            <a:r>
              <a:rPr lang="en-US" dirty="0">
                <a:latin typeface="Consolas" panose="020B0609020204030204" pitchFamily="49" charset="0"/>
              </a:rPr>
              <a:t>p1 - 2  = 0x7fffeefe5a68</a:t>
            </a:r>
          </a:p>
        </p:txBody>
      </p:sp>
    </p:spTree>
    <p:extLst>
      <p:ext uri="{BB962C8B-B14F-4D97-AF65-F5344CB8AC3E}">
        <p14:creationId xmlns:p14="http://schemas.microsoft.com/office/powerpoint/2010/main" val="139671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318C-20E6-4E80-BDA6-9657227E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Индексирование указателей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03E8F-067F-7F40-3438-19D1D0A9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языке C индексирование указателя определяется через адресную арифметику.</a:t>
            </a:r>
          </a:p>
          <a:p>
            <a:pPr lvl="1"/>
            <a:r>
              <a:rPr lang="ru-RU" dirty="0"/>
              <a:t>p[i] эквивалентно выражению *(p + i)</a:t>
            </a:r>
          </a:p>
          <a:p>
            <a:r>
              <a:rPr lang="ru-RU" dirty="0"/>
              <a:t>Это означает:</a:t>
            </a:r>
          </a:p>
          <a:p>
            <a:pPr lvl="1"/>
            <a:r>
              <a:rPr lang="ru-RU" dirty="0"/>
              <a:t>сначала вычисляется адрес p + i</a:t>
            </a:r>
          </a:p>
          <a:p>
            <a:pPr lvl="1"/>
            <a:r>
              <a:rPr lang="ru-RU" dirty="0"/>
              <a:t>затем выполняется разыменование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p[i] == i[p]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05D9A-6802-4321-51F2-0447151B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8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C01AA4-BDDC-7D29-9D59-76F4E3B2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индексирования указателей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2A627-6D0B-1E69-A84E-C812FC12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B3B4F-C95B-2312-2DF7-AF3E74188CBC}"/>
              </a:ext>
            </a:extLst>
          </p:cNvPr>
          <p:cNvSpPr txBox="1"/>
          <p:nvPr/>
        </p:nvSpPr>
        <p:spPr>
          <a:xfrm>
            <a:off x="1047750" y="1924049"/>
            <a:ext cx="80962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      = 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*)p);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 + 3  = 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*)(p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"p[3]  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"*(p+3)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*(p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"3[p]  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[p]);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3B207-2C50-670D-9855-30468D15F63F}"/>
              </a:ext>
            </a:extLst>
          </p:cNvPr>
          <p:cNvSpPr txBox="1"/>
          <p:nvPr/>
        </p:nvSpPr>
        <p:spPr>
          <a:xfrm>
            <a:off x="1047750" y="6322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https://godbolt.org/z/bco7WT7Mc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A90E5E-7398-B5C7-D24F-8F1FFDA71CEB}"/>
              </a:ext>
            </a:extLst>
          </p:cNvPr>
          <p:cNvSpPr txBox="1"/>
          <p:nvPr/>
        </p:nvSpPr>
        <p:spPr>
          <a:xfrm>
            <a:off x="8058150" y="4512289"/>
            <a:ext cx="3562350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      = 0x7ffddc7cbf10</a:t>
            </a:r>
          </a:p>
          <a:p>
            <a:r>
              <a:rPr lang="en-US" dirty="0">
                <a:latin typeface="Consolas" panose="020B0609020204030204" pitchFamily="49" charset="0"/>
              </a:rPr>
              <a:t>p + 3  = 0x7ffddc7cbf1c</a:t>
            </a:r>
          </a:p>
          <a:p>
            <a:r>
              <a:rPr lang="en-US" dirty="0">
                <a:latin typeface="Consolas" panose="020B0609020204030204" pitchFamily="49" charset="0"/>
              </a:rPr>
              <a:t>p[3]   = 40</a:t>
            </a:r>
          </a:p>
          <a:p>
            <a:r>
              <a:rPr lang="en-US" dirty="0">
                <a:latin typeface="Consolas" panose="020B0609020204030204" pitchFamily="49" charset="0"/>
              </a:rPr>
              <a:t>*(p+3) = 40</a:t>
            </a:r>
          </a:p>
          <a:p>
            <a:r>
              <a:rPr lang="en-US" dirty="0">
                <a:latin typeface="Consolas" panose="020B0609020204030204" pitchFamily="49" charset="0"/>
              </a:rPr>
              <a:t>3[p]   = 40</a:t>
            </a:r>
          </a:p>
        </p:txBody>
      </p:sp>
    </p:spTree>
    <p:extLst>
      <p:ext uri="{BB962C8B-B14F-4D97-AF65-F5344CB8AC3E}">
        <p14:creationId xmlns:p14="http://schemas.microsoft.com/office/powerpoint/2010/main" val="1114895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4A8308-F8A4-180D-5ED5-A11FD921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Суммирование элементов массивов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D68D6E-C9C2-0930-B3F5-44CC9E73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48BE9-70BE-5F9A-0A08-E5DD021CC8C0}"/>
              </a:ext>
            </a:extLst>
          </p:cNvPr>
          <p:cNvSpPr txBox="1"/>
          <p:nvPr/>
        </p:nvSpPr>
        <p:spPr>
          <a:xfrm>
            <a:off x="838200" y="1690687"/>
            <a:ext cx="106489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stddef.h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b,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result,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pa = 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pb = b;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pr = result;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end = a + size;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(pa &lt; end)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*pr = *pa + *pb;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pa++;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pb++;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pr++;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A9C26-E539-32E8-B984-3944B682391C}"/>
              </a:ext>
            </a:extLst>
          </p:cNvPr>
          <p:cNvSpPr txBox="1"/>
          <p:nvPr/>
        </p:nvSpPr>
        <p:spPr>
          <a:xfrm>
            <a:off x="6162675" y="2978072"/>
            <a:ext cx="48601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b, result,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result[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FDDF8-FD0C-39D6-6BCF-CCA85719B494}"/>
              </a:ext>
            </a:extLst>
          </p:cNvPr>
          <p:cNvSpPr txBox="1"/>
          <p:nvPr/>
        </p:nvSpPr>
        <p:spPr>
          <a:xfrm>
            <a:off x="1583229" y="6394392"/>
            <a:ext cx="2419349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11 22 33 44 55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DFEE52-BD01-3440-064B-9B8D2CE1C5DC}"/>
              </a:ext>
            </a:extLst>
          </p:cNvPr>
          <p:cNvSpPr txBox="1"/>
          <p:nvPr/>
        </p:nvSpPr>
        <p:spPr>
          <a:xfrm>
            <a:off x="4532342" y="6465601"/>
            <a:ext cx="3603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https://godbolt.org/z/T5Krhc836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01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6B79D-9D6F-C0A8-895A-812022C5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поля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F3E74-C355-0169-EB81-2B808D6BE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32C4B-F947-B2E5-424A-AA6A5C34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77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47E4F9-D07B-E49D-E5D5-DF2DE27D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одного байта слишком много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F6275-E336-867B-DA1F-E3E0EBB78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Иногда программе нужно хранить </a:t>
            </a:r>
            <a:r>
              <a:rPr lang="ru-RU" b="1" dirty="0"/>
              <a:t>очень маленькие значения</a:t>
            </a:r>
            <a:r>
              <a:rPr lang="ru-RU" dirty="0"/>
              <a:t>.</a:t>
            </a:r>
          </a:p>
          <a:p>
            <a:r>
              <a:rPr lang="ru-RU" dirty="0"/>
              <a:t>Например:</a:t>
            </a:r>
          </a:p>
          <a:p>
            <a:pPr lvl="1"/>
            <a:r>
              <a:rPr lang="ru-RU" dirty="0"/>
              <a:t>флаг включён / выключен</a:t>
            </a:r>
          </a:p>
          <a:p>
            <a:pPr lvl="1"/>
            <a:r>
              <a:rPr lang="ru-RU" dirty="0"/>
              <a:t>состояние устройства</a:t>
            </a:r>
          </a:p>
          <a:p>
            <a:pPr lvl="1"/>
            <a:r>
              <a:rPr lang="ru-RU" dirty="0"/>
              <a:t>небольшой код режима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 err="1"/>
              <a:t>ready</a:t>
            </a:r>
            <a:r>
              <a:rPr lang="ru-RU" dirty="0"/>
              <a:t>   → 1 бит</a:t>
            </a:r>
            <a:br>
              <a:rPr lang="ru-RU" dirty="0"/>
            </a:br>
            <a:r>
              <a:rPr lang="ru-RU" dirty="0" err="1"/>
              <a:t>error</a:t>
            </a:r>
            <a:r>
              <a:rPr lang="ru-RU" dirty="0"/>
              <a:t>   → 1 бит</a:t>
            </a:r>
            <a:br>
              <a:rPr lang="ru-RU" dirty="0"/>
            </a:br>
            <a:r>
              <a:rPr lang="ru-RU" dirty="0" err="1"/>
              <a:t>mode</a:t>
            </a:r>
            <a:r>
              <a:rPr lang="ru-RU" dirty="0"/>
              <a:t>    → 2 бита</a:t>
            </a:r>
            <a:br>
              <a:rPr lang="ru-RU" dirty="0"/>
            </a:br>
            <a:r>
              <a:rPr lang="ru-RU" dirty="0" err="1"/>
              <a:t>state</a:t>
            </a:r>
            <a:r>
              <a:rPr lang="ru-RU" dirty="0"/>
              <a:t>   → 3 бита</a:t>
            </a:r>
          </a:p>
          <a:p>
            <a:r>
              <a:rPr lang="ru-RU" dirty="0"/>
              <a:t>Но минимальный размер объекта в C обычно:</a:t>
            </a:r>
          </a:p>
          <a:p>
            <a:pPr lvl="1"/>
            <a:r>
              <a:rPr lang="ru-RU" dirty="0"/>
              <a:t>1 </a:t>
            </a:r>
            <a:r>
              <a:rPr lang="ru-RU" dirty="0" err="1"/>
              <a:t>byte</a:t>
            </a:r>
            <a:r>
              <a:rPr lang="ru-RU" dirty="0"/>
              <a:t> = 8 </a:t>
            </a:r>
            <a:r>
              <a:rPr lang="ru-RU" dirty="0" err="1"/>
              <a:t>bits</a:t>
            </a:r>
            <a:endParaRPr lang="ru-RU" dirty="0"/>
          </a:p>
          <a:p>
            <a:r>
              <a:rPr lang="ru-RU" dirty="0"/>
              <a:t>Если хранить структуру с переменными</a:t>
            </a:r>
            <a:r>
              <a:rPr lang="en-US" dirty="0"/>
              <a:t> unsigned char</a:t>
            </a:r>
            <a:r>
              <a:rPr lang="ru-RU" dirty="0"/>
              <a:t>, понадобится 4 байта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9B4F1-E4ED-A59A-B61B-95788BDB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39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0AF6-B412-88E7-0D95-9ADDC9BD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Возможное решение – использовать операции манипулирования битами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4C2B2-5637-4716-57B1-A2E6B8E6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C5FA4-A891-01C4-9EA2-40B314DE65D2}"/>
              </a:ext>
            </a:extLst>
          </p:cNvPr>
          <p:cNvSpPr txBox="1"/>
          <p:nvPr/>
        </p:nvSpPr>
        <p:spPr>
          <a:xfrm>
            <a:off x="838200" y="1845425"/>
            <a:ext cx="102011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stdint.h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(uint8_t*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uint8_t mode)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mode &amp;=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0b11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оставить только 2 младших бита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&amp;= ~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0b11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очистить поле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mode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|= mode;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записать новое значение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uint8_t reg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0b10110000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"before: 0b%08b\n"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reg);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(&amp;reg,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"after:  0b%08b\n"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reg);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194D3-5D9F-C607-57A4-3C6D3B53C79F}"/>
              </a:ext>
            </a:extLst>
          </p:cNvPr>
          <p:cNvSpPr txBox="1"/>
          <p:nvPr/>
        </p:nvSpPr>
        <p:spPr>
          <a:xfrm>
            <a:off x="8362603" y="4855664"/>
            <a:ext cx="3520439" cy="6515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before: 0b10110000</a:t>
            </a:r>
          </a:p>
          <a:p>
            <a:r>
              <a:rPr lang="en-US" dirty="0">
                <a:latin typeface="Consolas" panose="020B0609020204030204" pitchFamily="49" charset="0"/>
              </a:rPr>
              <a:t>after:  0b10110010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E0BFE5-388B-4D32-0B7D-9A621F77F393}"/>
              </a:ext>
            </a:extLst>
          </p:cNvPr>
          <p:cNvSpPr txBox="1"/>
          <p:nvPr/>
        </p:nvSpPr>
        <p:spPr>
          <a:xfrm>
            <a:off x="4326775" y="633981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https://godbolt.org/z/e1q8b86En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1371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E540-875C-C6E9-B607-147ABE53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поля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EA13E9-D800-C2DD-C710-73D9B3293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языке C можно описывать поля, занимающие заданное число бит, внутри структуры.</a:t>
            </a:r>
          </a:p>
          <a:p>
            <a:r>
              <a:rPr lang="ru-RU" dirty="0"/>
              <a:t>Синтаксис:</a:t>
            </a:r>
          </a:p>
          <a:p>
            <a:pPr lvl="1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</a:t>
            </a:r>
          </a:p>
          <a:p>
            <a:pPr lvl="1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lvl="1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field1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field2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field3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ru-RU" dirty="0"/>
              <a:t>Каждое поле занимает указанное количество бит.</a:t>
            </a:r>
            <a:endParaRPr lang="en-US" dirty="0"/>
          </a:p>
          <a:p>
            <a:r>
              <a:rPr lang="ru-RU" dirty="0"/>
              <a:t>Битовые поля должны иметь </a:t>
            </a:r>
            <a:r>
              <a:rPr lang="ru-RU" b="1" dirty="0"/>
              <a:t>целочисленный тип</a:t>
            </a:r>
            <a:r>
              <a:rPr lang="ru-RU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0D37B2-12FA-F4B9-0BC0-B87C7EA0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3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9333EF-7234-AAE8-ABE5-3B51ADAE2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битовых полей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3F08A-64A8-94C6-7D71-C97389ED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65EB4-F18E-53E8-6AE0-89624CF84AB8}"/>
              </a:ext>
            </a:extLst>
          </p:cNvPr>
          <p:cNvSpPr txBox="1"/>
          <p:nvPr/>
        </p:nvSpPr>
        <p:spPr>
          <a:xfrm>
            <a:off x="838201" y="1737598"/>
            <a:ext cx="7772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ready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error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mode  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state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 s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(Status) =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"mode = %u\n"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PrintDump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(&amp;s,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747618-0A29-5742-D549-F2F83CFF92D8}"/>
              </a:ext>
            </a:extLst>
          </p:cNvPr>
          <p:cNvSpPr txBox="1"/>
          <p:nvPr/>
        </p:nvSpPr>
        <p:spPr>
          <a:xfrm>
            <a:off x="8774081" y="3828188"/>
            <a:ext cx="2743201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(Status) = 4</a:t>
            </a:r>
          </a:p>
          <a:p>
            <a:r>
              <a:rPr lang="en-US" dirty="0">
                <a:latin typeface="Consolas" panose="020B0609020204030204" pitchFamily="49" charset="0"/>
              </a:rPr>
              <a:t>mode = 2</a:t>
            </a:r>
          </a:p>
          <a:p>
            <a:r>
              <a:rPr lang="en-US" dirty="0">
                <a:latin typeface="Consolas" panose="020B0609020204030204" pitchFamily="49" charset="0"/>
              </a:rPr>
              <a:t>08 00 00 00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E393A4-58D0-BD1B-9C7D-7B6E03DEBAEC}"/>
              </a:ext>
            </a:extLst>
          </p:cNvPr>
          <p:cNvSpPr txBox="1"/>
          <p:nvPr/>
        </p:nvSpPr>
        <p:spPr>
          <a:xfrm>
            <a:off x="3049386" y="6308209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https://godbolt.org/z/8MsPdT5eP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802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40595-CF6F-17EA-3AEC-B3FB2C539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5DE11B-FC5F-D827-CBDA-B4263E4B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битовых полей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B0387-0966-0C07-2EFA-C079332E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11B9F-D44E-E1B9-B6E5-75F5AB184B70}"/>
              </a:ext>
            </a:extLst>
          </p:cNvPr>
          <p:cNvSpPr txBox="1"/>
          <p:nvPr/>
        </p:nvSpPr>
        <p:spPr>
          <a:xfrm>
            <a:off x="838201" y="1737598"/>
            <a:ext cx="7772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 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ready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 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error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 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mode  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 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state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 s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(Status) =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"mode = %u\n"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PrintDump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(&amp;s,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36854-E651-2242-B1EA-AE266D77BB3A}"/>
              </a:ext>
            </a:extLst>
          </p:cNvPr>
          <p:cNvSpPr txBox="1"/>
          <p:nvPr/>
        </p:nvSpPr>
        <p:spPr>
          <a:xfrm>
            <a:off x="8774081" y="3828188"/>
            <a:ext cx="2743201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(Status) = 1</a:t>
            </a:r>
          </a:p>
          <a:p>
            <a:r>
              <a:rPr lang="en-US" dirty="0">
                <a:latin typeface="Consolas" panose="020B0609020204030204" pitchFamily="49" charset="0"/>
              </a:rPr>
              <a:t>mode = 2</a:t>
            </a:r>
          </a:p>
          <a:p>
            <a:r>
              <a:rPr lang="en-US" dirty="0">
                <a:latin typeface="Consolas" panose="020B0609020204030204" pitchFamily="49" charset="0"/>
              </a:rPr>
              <a:t>08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4C95B3-5CE1-F3B3-EC4D-403E1D8D2FCE}"/>
              </a:ext>
            </a:extLst>
          </p:cNvPr>
          <p:cNvSpPr txBox="1"/>
          <p:nvPr/>
        </p:nvSpPr>
        <p:spPr>
          <a:xfrm>
            <a:off x="3049386" y="6308209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https://godbolt.org/z/PYrbnvrz7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58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5BB0-82A8-4034-8137-559F62A6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битовых полей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34AA4-B529-AC5E-C363-B07AFD2CB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Стандарт C не гарантирует точное представление битовых полей в памяти.</a:t>
            </a:r>
          </a:p>
          <a:p>
            <a:r>
              <a:rPr lang="ru-RU" dirty="0"/>
              <a:t>Компилятор сам определяет:</a:t>
            </a:r>
          </a:p>
          <a:p>
            <a:pPr lvl="1"/>
            <a:r>
              <a:rPr lang="ru-RU" dirty="0"/>
              <a:t>Выравнивание структуры</a:t>
            </a:r>
          </a:p>
          <a:p>
            <a:pPr lvl="2"/>
            <a:r>
              <a:rPr lang="ru-RU" dirty="0"/>
              <a:t>битовые поля могут размещаться внутри объекта базового типа</a:t>
            </a:r>
          </a:p>
          <a:p>
            <a:pPr lvl="2"/>
            <a:r>
              <a:rPr lang="ru-RU" dirty="0"/>
              <a:t>структура может содержать </a:t>
            </a:r>
            <a:r>
              <a:rPr lang="ru-RU" dirty="0" err="1"/>
              <a:t>padding</a:t>
            </a:r>
            <a:endParaRPr lang="ru-RU" dirty="0"/>
          </a:p>
          <a:p>
            <a:pPr lvl="1"/>
            <a:r>
              <a:rPr lang="ru-RU" dirty="0"/>
              <a:t>Порядок размещения битов</a:t>
            </a:r>
          </a:p>
          <a:p>
            <a:pPr lvl="2"/>
            <a:r>
              <a:rPr lang="ru-RU" dirty="0"/>
              <a:t>Стандарт не определяет, в каком направлении заполняются биты:</a:t>
            </a:r>
          </a:p>
          <a:p>
            <a:pPr lvl="1"/>
            <a:r>
              <a:rPr lang="ru-RU" dirty="0"/>
              <a:t>Границы хранения</a:t>
            </a:r>
          </a:p>
          <a:p>
            <a:pPr lvl="2"/>
            <a:r>
              <a:rPr lang="ru-RU" dirty="0"/>
              <a:t>Компилятор может:</a:t>
            </a:r>
          </a:p>
          <a:p>
            <a:pPr lvl="3"/>
            <a:r>
              <a:rPr lang="ru-RU" dirty="0"/>
              <a:t>размещать несколько полей в одном объекте</a:t>
            </a:r>
          </a:p>
          <a:p>
            <a:pPr lvl="3"/>
            <a:r>
              <a:rPr lang="ru-RU" dirty="0"/>
              <a:t>переносить поле в следующий объект</a:t>
            </a:r>
          </a:p>
          <a:p>
            <a:pPr lvl="3"/>
            <a:r>
              <a:rPr lang="ru-RU" dirty="0"/>
              <a:t>добавлять неиспользуемые биты</a:t>
            </a:r>
          </a:p>
          <a:p>
            <a:r>
              <a:rPr lang="ru-RU" dirty="0"/>
              <a:t>Следствие</a:t>
            </a:r>
          </a:p>
          <a:p>
            <a:pPr lvl="1"/>
            <a:r>
              <a:rPr lang="ru-RU" dirty="0"/>
              <a:t>Битовые поля не следует использовать для:</a:t>
            </a:r>
          </a:p>
          <a:p>
            <a:pPr lvl="2"/>
            <a:r>
              <a:rPr lang="ru-RU" dirty="0"/>
              <a:t>бинарных файловых форматов</a:t>
            </a:r>
          </a:p>
          <a:p>
            <a:pPr lvl="2"/>
            <a:r>
              <a:rPr lang="ru-RU" dirty="0"/>
              <a:t>сетевых протоколов</a:t>
            </a:r>
          </a:p>
          <a:p>
            <a:pPr lvl="2"/>
            <a:r>
              <a:rPr lang="ru-RU" dirty="0"/>
              <a:t>данных, которые должны иметь фиксированное представление в памяти</a:t>
            </a:r>
          </a:p>
          <a:p>
            <a:pPr lvl="1"/>
            <a:r>
              <a:rPr lang="ru-RU" dirty="0"/>
              <a:t>Для таких задач используют явные битовые операции (&amp;, |, &lt;&lt;, &gt;&gt;).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2C266-C411-B2B8-AEC0-B5FA9361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173C6F-F087-5DEC-1E37-70158987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 что преобразуется код, работающий с битовыми полями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B9A50-663E-9183-2F08-A5505484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C2A35-16D8-76DC-ED72-F36BE966FF92}"/>
              </a:ext>
            </a:extLst>
          </p:cNvPr>
          <p:cNvSpPr txBox="1"/>
          <p:nvPr/>
        </p:nvSpPr>
        <p:spPr>
          <a:xfrm>
            <a:off x="120535" y="2389044"/>
            <a:ext cx="485047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 s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.ready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.error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.mode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.state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newMode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newMode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s.mode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newMode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PrintDump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(&amp;s,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0DBF6-9B7E-EA92-7970-21B122DE69D8}"/>
              </a:ext>
            </a:extLst>
          </p:cNvPr>
          <p:cNvSpPr txBox="1"/>
          <p:nvPr/>
        </p:nvSpPr>
        <p:spPr>
          <a:xfrm>
            <a:off x="5994862" y="1759385"/>
            <a:ext cx="535893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.LC1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__isoc99_scanf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movzx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movzx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and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   // </a:t>
            </a:r>
            <a:r>
              <a:rPr lang="en-US" sz="16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&amp;= 0x00000003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and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-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13 //</a:t>
            </a:r>
            <a:r>
              <a:rPr lang="en-US" sz="1600" dirty="0">
                <a:solidFill>
                  <a:srgbClr val="098658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98658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eax</a:t>
            </a:r>
            <a:r>
              <a:rPr lang="en-US" sz="1600" dirty="0">
                <a:solidFill>
                  <a:srgbClr val="098658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&amp;= 0xfffffff3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sal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2   // </a:t>
            </a:r>
            <a:r>
              <a:rPr lang="en-US" sz="16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98658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 2;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  </a:t>
            </a:r>
            <a:r>
              <a:rPr lang="en-US" sz="1600" b="0" dirty="0" err="1">
                <a:solidFill>
                  <a:srgbClr val="4864A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864A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4864A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|= </a:t>
            </a:r>
            <a:r>
              <a:rPr lang="en-US" sz="1600" b="0" dirty="0" err="1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edx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al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PrintDump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373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C335-20F3-97D5-89AE-6827460E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Безымянные битовые поля нулевой ширины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CBFE-FD7F-0EC3-711E-0AA939D2F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 языке C можно объявить безымянное битовое поле шириной 0.</a:t>
            </a:r>
          </a:p>
          <a:p>
            <a:pPr lvl="1"/>
            <a:r>
              <a:rPr lang="en-US" dirty="0"/>
              <a:t>struct S {</a:t>
            </a:r>
            <a:br>
              <a:rPr lang="en-US" dirty="0"/>
            </a:br>
            <a:r>
              <a:rPr lang="en-US" dirty="0"/>
              <a:t>unsigned a : 3;</a:t>
            </a:r>
            <a:br>
              <a:rPr lang="en-US" dirty="0"/>
            </a:br>
            <a:r>
              <a:rPr lang="en-US" dirty="0"/>
              <a:t>unsigned b : 5;</a:t>
            </a:r>
            <a:br>
              <a:rPr lang="en-US" dirty="0"/>
            </a:br>
            <a:r>
              <a:rPr lang="en-US" dirty="0"/>
              <a:t>unsigned : 0; // </a:t>
            </a:r>
            <a:r>
              <a:rPr lang="en-US" dirty="0" err="1"/>
              <a:t>разделитель</a:t>
            </a:r>
            <a:br>
              <a:rPr lang="en-US" dirty="0"/>
            </a:br>
            <a:r>
              <a:rPr lang="en-US" dirty="0"/>
              <a:t>unsigned c : 2;</a:t>
            </a:r>
            <a:br>
              <a:rPr lang="en-US" dirty="0"/>
            </a:br>
            <a:r>
              <a:rPr lang="en-US" dirty="0"/>
              <a:t>};</a:t>
            </a:r>
            <a:endParaRPr lang="ru-RU" dirty="0"/>
          </a:p>
          <a:p>
            <a:r>
              <a:rPr lang="ru-RU" dirty="0"/>
              <a:t>Завершает текущую единицу хранения (</a:t>
            </a:r>
            <a:r>
              <a:rPr lang="ru-RU" dirty="0" err="1"/>
              <a:t>allocation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следующее поле начинается в новой единице хранения</a:t>
            </a:r>
          </a:p>
          <a:p>
            <a:r>
              <a:rPr lang="ru-RU" dirty="0"/>
              <a:t>Используется для</a:t>
            </a:r>
          </a:p>
          <a:p>
            <a:pPr lvl="1"/>
            <a:r>
              <a:rPr lang="ru-RU" dirty="0"/>
              <a:t>разделения групп битовых полей</a:t>
            </a:r>
          </a:p>
          <a:p>
            <a:pPr lvl="1"/>
            <a:r>
              <a:rPr lang="ru-RU" dirty="0"/>
              <a:t>контроля размещения полей</a:t>
            </a:r>
          </a:p>
          <a:p>
            <a:pPr lvl="1"/>
            <a:r>
              <a:rPr lang="ru-RU" dirty="0"/>
              <a:t>описания аппаратных регистров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1E683-42F8-DD97-3E02-2993E8AE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98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9DAE-F46A-BF3A-2029-A4EEBFA6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поля и аппаратные регистры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D79E-AE85-2E64-8A81-91980E2C8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</a:t>
            </a:r>
            <a:r>
              <a:rPr lang="en-US" dirty="0"/>
              <a:t>embedded-</a:t>
            </a:r>
            <a:r>
              <a:rPr lang="ru-RU" dirty="0"/>
              <a:t>системах битовые поля иногда используют для описания </a:t>
            </a:r>
            <a:r>
              <a:rPr lang="ru-RU" b="1" dirty="0"/>
              <a:t>аппаратных регистров</a:t>
            </a:r>
            <a:r>
              <a:rPr lang="ru-RU" dirty="0"/>
              <a:t>.</a:t>
            </a:r>
          </a:p>
          <a:p>
            <a:pPr lvl="1"/>
            <a:r>
              <a:rPr lang="en-US" dirty="0"/>
              <a:t>struct </a:t>
            </a:r>
            <a:r>
              <a:rPr lang="en-US" dirty="0" err="1"/>
              <a:t>ControlReg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unsigned enable : 1;</a:t>
            </a:r>
            <a:br>
              <a:rPr lang="en-US" dirty="0"/>
            </a:br>
            <a:r>
              <a:rPr lang="en-US" dirty="0"/>
              <a:t>    unsigned mode   : 2;</a:t>
            </a:r>
            <a:br>
              <a:rPr lang="en-US" dirty="0"/>
            </a:br>
            <a:r>
              <a:rPr lang="en-US" dirty="0"/>
              <a:t>    unsigned ready  : 1;</a:t>
            </a:r>
            <a:br>
              <a:rPr lang="en-US" dirty="0"/>
            </a:br>
            <a:r>
              <a:rPr lang="en-US" dirty="0"/>
              <a:t>};</a:t>
            </a:r>
            <a:br>
              <a:rPr lang="en-US" dirty="0"/>
            </a:br>
            <a:r>
              <a:rPr lang="en-US" dirty="0"/>
              <a:t>volatile struct </a:t>
            </a:r>
            <a:r>
              <a:rPr lang="en-US" dirty="0" err="1"/>
              <a:t>ControlReg</a:t>
            </a:r>
            <a:r>
              <a:rPr lang="en-US" dirty="0"/>
              <a:t>* reg =</a:t>
            </a:r>
            <a:r>
              <a:rPr lang="ru-RU" dirty="0"/>
              <a:t> </a:t>
            </a:r>
            <a:r>
              <a:rPr lang="en-US" dirty="0"/>
              <a:t>(volatile struct </a:t>
            </a:r>
            <a:r>
              <a:rPr lang="en-US" dirty="0" err="1"/>
              <a:t>ControlReg</a:t>
            </a:r>
            <a:r>
              <a:rPr lang="en-US" dirty="0"/>
              <a:t>*)0x40001000;</a:t>
            </a:r>
            <a:br>
              <a:rPr lang="en-US" dirty="0"/>
            </a:br>
            <a:r>
              <a:rPr lang="en-US" dirty="0"/>
              <a:t>reg-&gt;enable = 1;</a:t>
            </a:r>
          </a:p>
          <a:p>
            <a:r>
              <a:rPr lang="ru-RU" dirty="0"/>
              <a:t>Однако стандарт </a:t>
            </a:r>
            <a:r>
              <a:rPr lang="en-US" dirty="0"/>
              <a:t>C </a:t>
            </a:r>
            <a:r>
              <a:rPr lang="ru-RU" b="1" dirty="0"/>
              <a:t>не гарантирует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порядок размещения битов</a:t>
            </a:r>
          </a:p>
          <a:p>
            <a:pPr lvl="1"/>
            <a:r>
              <a:rPr lang="ru-RU" dirty="0"/>
              <a:t>границы размещения полей</a:t>
            </a:r>
          </a:p>
          <a:p>
            <a:pPr lvl="1"/>
            <a:r>
              <a:rPr lang="ru-RU" dirty="0"/>
              <a:t>размер структуры</a:t>
            </a:r>
          </a:p>
          <a:p>
            <a:r>
              <a:rPr lang="ru-RU" dirty="0"/>
              <a:t>Поэтому такой код </a:t>
            </a:r>
            <a:r>
              <a:rPr lang="ru-RU" b="1" dirty="0"/>
              <a:t>зависит от компилятора и архитектуры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A7346-CBD1-49C7-D04C-043426A7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90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5E5E-EE74-DF25-9718-3CF5FCA0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применяются битовые поля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8F66C-F828-E709-99DD-3C7C3AC17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Битовые поля используются, когда нужно компактно хранить много небольших значений.</a:t>
            </a:r>
          </a:p>
          <a:p>
            <a:r>
              <a:rPr lang="ru-RU" dirty="0"/>
              <a:t>Типичные области применения:</a:t>
            </a:r>
          </a:p>
          <a:p>
            <a:pPr lvl="1"/>
            <a:r>
              <a:rPr lang="ru-RU" dirty="0"/>
              <a:t>Флаги и состояния объектов</a:t>
            </a:r>
          </a:p>
          <a:p>
            <a:pPr lvl="1"/>
            <a:r>
              <a:rPr lang="ru-RU" dirty="0"/>
              <a:t>Компактные структуры данных</a:t>
            </a:r>
          </a:p>
          <a:p>
            <a:pPr lvl="1"/>
            <a:r>
              <a:rPr lang="ru-RU" dirty="0"/>
              <a:t>Мультимедийные библиотеки (например, </a:t>
            </a:r>
            <a:r>
              <a:rPr lang="ru-RU" dirty="0" err="1"/>
              <a:t>FFmpeg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Ограниченные по памяти системы</a:t>
            </a:r>
          </a:p>
          <a:p>
            <a:r>
              <a:rPr lang="ru-RU" dirty="0"/>
              <a:t>Причина использования:</a:t>
            </a:r>
          </a:p>
          <a:p>
            <a:pPr lvl="1"/>
            <a:r>
              <a:rPr lang="ru-RU" dirty="0"/>
              <a:t>уменьшение размера структур</a:t>
            </a:r>
          </a:p>
          <a:p>
            <a:pPr lvl="1"/>
            <a:r>
              <a:rPr lang="ru-RU" dirty="0"/>
              <a:t>лучшее использование кэш-памяти процессора</a:t>
            </a:r>
          </a:p>
          <a:p>
            <a:pPr lvl="1"/>
            <a:r>
              <a:rPr lang="ru-RU" dirty="0"/>
              <a:t>меньшее потребление памяти</a:t>
            </a:r>
          </a:p>
          <a:p>
            <a:r>
              <a:rPr lang="ru-RU" dirty="0"/>
              <a:t>Компромисс:</a:t>
            </a:r>
          </a:p>
          <a:p>
            <a:pPr lvl="1"/>
            <a:r>
              <a:rPr lang="ru-RU" dirty="0"/>
              <a:t>более сложный машинный код</a:t>
            </a:r>
          </a:p>
          <a:p>
            <a:pPr lvl="1"/>
            <a:r>
              <a:rPr lang="ru-RU" dirty="0"/>
              <a:t>зависимость от компилятора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18CFD-102D-630B-B102-E5A8FE84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59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AA8D78-F2BD-A44B-310B-4AAA4C0A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Объединение (</a:t>
            </a:r>
            <a:r>
              <a:rPr lang="en-US" dirty="0"/>
              <a:t>union)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0973E6-F32A-0C67-E7C0-6C5F7B2E6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D0CF6-88A6-9C6E-6AAE-C01532E6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02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AC044B-22E1-E473-FF8E-CB96DA3E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Интерпретация одной области памяти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1E75E6-1250-432A-C389-FB6C0B972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Мы уже видели, что память можно:</a:t>
            </a:r>
          </a:p>
          <a:p>
            <a:pPr lvl="1"/>
            <a:r>
              <a:rPr lang="ru-RU" dirty="0"/>
              <a:t>читать </a:t>
            </a:r>
            <a:r>
              <a:rPr lang="ru-RU" dirty="0" err="1"/>
              <a:t>побайтово</a:t>
            </a:r>
            <a:endParaRPr lang="ru-RU" dirty="0"/>
          </a:p>
          <a:p>
            <a:pPr lvl="1"/>
            <a:r>
              <a:rPr lang="ru-RU" dirty="0"/>
              <a:t>упаковывать несколько значений в один объект</a:t>
            </a:r>
          </a:p>
          <a:p>
            <a:r>
              <a:rPr lang="ru-RU" dirty="0"/>
              <a:t>Иногда требуется интерпретировать одну и ту же область памяти разными способами</a:t>
            </a:r>
          </a:p>
          <a:p>
            <a:r>
              <a:rPr lang="ru-RU" dirty="0"/>
              <a:t>Например:</a:t>
            </a:r>
          </a:p>
          <a:p>
            <a:pPr lvl="1"/>
            <a:r>
              <a:rPr lang="ru-RU" dirty="0"/>
              <a:t>число и его байтовое представление</a:t>
            </a:r>
          </a:p>
          <a:p>
            <a:pPr lvl="1"/>
            <a:r>
              <a:rPr lang="ru-RU" dirty="0"/>
              <a:t>разные форматы данных</a:t>
            </a:r>
          </a:p>
          <a:p>
            <a:pPr lvl="1"/>
            <a:r>
              <a:rPr lang="ru-RU" dirty="0"/>
              <a:t>альтернативные представления структуры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0194-A18C-8299-21D4-577CB8A6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58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A6A4F5-BB64-6286-23D1-9B2462D6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бы не привести указатель к другому типу?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CB13F-5DB7-FB5D-1F6C-B659AD3C3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Например, пусть есть число типа uint64_t:</a:t>
            </a:r>
          </a:p>
          <a:p>
            <a:pPr lvl="1"/>
            <a:r>
              <a:rPr lang="ru-RU" dirty="0"/>
              <a:t>uint64_t x = 0x1122334455667788ULL;</a:t>
            </a:r>
          </a:p>
          <a:p>
            <a:r>
              <a:rPr lang="ru-RU" dirty="0"/>
              <a:t>Можно ли интерпретировать его как два числа типа uint32_t</a:t>
            </a:r>
            <a:r>
              <a:rPr lang="en-US" dirty="0"/>
              <a:t>?</a:t>
            </a:r>
          </a:p>
          <a:p>
            <a:pPr lvl="1">
              <a:buNone/>
            </a:pP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 = (</a:t>
            </a:r>
            <a:r>
              <a:rPr lang="fr-F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*)&amp;x;</a:t>
            </a:r>
          </a:p>
          <a:p>
            <a:pPr lvl="1">
              <a:buNone/>
            </a:pPr>
            <a:r>
              <a:rPr lang="fr-FR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fr-FR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p[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lvl="1">
              <a:buNone/>
            </a:pPr>
            <a:r>
              <a:rPr lang="fr-FR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fr-FR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p[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dirty="0"/>
          </a:p>
          <a:p>
            <a:r>
              <a:rPr lang="ru-RU" dirty="0"/>
              <a:t>Стандарт </a:t>
            </a:r>
            <a:r>
              <a:rPr lang="en-US" dirty="0"/>
              <a:t>C </a:t>
            </a:r>
            <a:r>
              <a:rPr lang="ru-RU" dirty="0"/>
              <a:t>вводит правило </a:t>
            </a:r>
            <a:r>
              <a:rPr lang="en-US" b="1" dirty="0"/>
              <a:t>strict aliasing</a:t>
            </a:r>
            <a:r>
              <a:rPr lang="en-US" dirty="0"/>
              <a:t>.</a:t>
            </a:r>
          </a:p>
          <a:p>
            <a:pPr lvl="1"/>
            <a:r>
              <a:rPr lang="ru-RU" dirty="0"/>
              <a:t>Объект можно читать через:</a:t>
            </a:r>
            <a:r>
              <a:rPr lang="en-US" dirty="0"/>
              <a:t> </a:t>
            </a:r>
            <a:r>
              <a:rPr lang="ru-RU" dirty="0"/>
              <a:t>его собственный тип</a:t>
            </a:r>
            <a:r>
              <a:rPr lang="en-US" dirty="0"/>
              <a:t>, </a:t>
            </a:r>
            <a:r>
              <a:rPr lang="ru-RU" dirty="0"/>
              <a:t>совместимый тип</a:t>
            </a:r>
            <a:r>
              <a:rPr lang="en-US" dirty="0"/>
              <a:t>,  </a:t>
            </a:r>
            <a:r>
              <a:rPr lang="ru-RU" dirty="0"/>
              <a:t>а также </a:t>
            </a:r>
            <a:r>
              <a:rPr lang="en-US" dirty="0"/>
              <a:t>char, signed char, unsigned char</a:t>
            </a:r>
          </a:p>
          <a:p>
            <a:pPr lvl="1"/>
            <a:r>
              <a:rPr lang="ru-RU" dirty="0"/>
              <a:t>Чтение </a:t>
            </a:r>
            <a:r>
              <a:rPr lang="en-US" dirty="0"/>
              <a:t>uint64_t </a:t>
            </a:r>
            <a:r>
              <a:rPr lang="ru-RU" dirty="0"/>
              <a:t>через </a:t>
            </a:r>
            <a:r>
              <a:rPr lang="en-US" dirty="0"/>
              <a:t>uint32_t* </a:t>
            </a:r>
            <a:r>
              <a:rPr lang="ru-RU" dirty="0"/>
              <a:t>стандартом </a:t>
            </a:r>
            <a:r>
              <a:rPr lang="ru-RU" b="1" dirty="0"/>
              <a:t>не гарантируется</a:t>
            </a:r>
            <a:r>
              <a:rPr lang="ru-RU" dirty="0"/>
              <a:t>.</a:t>
            </a:r>
          </a:p>
          <a:p>
            <a:r>
              <a:rPr lang="ru-RU" dirty="0"/>
              <a:t>Разрешённый способ читать представление памяти</a:t>
            </a:r>
          </a:p>
          <a:p>
            <a:pPr lvl="1"/>
            <a:r>
              <a:rPr lang="en-US" dirty="0"/>
              <a:t>unsigned char* p = (unsigned char*)&amp;x;</a:t>
            </a:r>
          </a:p>
          <a:p>
            <a:pPr lvl="1"/>
            <a:r>
              <a:rPr lang="ru-RU" dirty="0"/>
              <a:t>Через </a:t>
            </a:r>
            <a:r>
              <a:rPr lang="en-US" dirty="0"/>
              <a:t>unsigned char </a:t>
            </a:r>
            <a:r>
              <a:rPr lang="ru-RU" dirty="0"/>
              <a:t>можно читать байтовое представление любого объекта.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31EFA-115F-072E-5247-FFC531C7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73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71F7-60B1-D210-B0B9-7E2E7E27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Объединение (</a:t>
            </a:r>
            <a:r>
              <a:rPr lang="en-US" dirty="0"/>
              <a:t>union)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57CD-7253-B08A-DF1F-4EFC66DAD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/>
              <a:t>union</a:t>
            </a:r>
            <a:r>
              <a:rPr lang="ru-RU" dirty="0"/>
              <a:t> — это тип данных, в котором все поля используют одну и ту же область памяти.</a:t>
            </a:r>
          </a:p>
          <a:p>
            <a:r>
              <a:rPr lang="ru-RU" dirty="0"/>
              <a:t>В отличие от </a:t>
            </a:r>
            <a:r>
              <a:rPr lang="ru-RU" dirty="0" err="1"/>
              <a:t>struct</a:t>
            </a:r>
            <a:r>
              <a:rPr lang="ru-RU" dirty="0"/>
              <a:t>, где поля располагаются </a:t>
            </a:r>
            <a:r>
              <a:rPr lang="ru-RU" b="1" dirty="0"/>
              <a:t>последовательно</a:t>
            </a:r>
            <a:r>
              <a:rPr lang="ru-RU" dirty="0"/>
              <a:t>, в </a:t>
            </a:r>
            <a:r>
              <a:rPr lang="ru-RU" dirty="0" err="1"/>
              <a:t>union</a:t>
            </a:r>
            <a:r>
              <a:rPr lang="ru-RU" dirty="0"/>
              <a:t> они </a:t>
            </a:r>
            <a:r>
              <a:rPr lang="ru-RU" b="1" dirty="0"/>
              <a:t>накладываются друг на друга</a:t>
            </a:r>
            <a:r>
              <a:rPr lang="ru-RU" dirty="0"/>
              <a:t>.</a:t>
            </a:r>
          </a:p>
          <a:p>
            <a:r>
              <a:rPr lang="ru-RU" b="1" dirty="0"/>
              <a:t>Синтаксис</a:t>
            </a:r>
          </a:p>
          <a:p>
            <a:pPr lvl="1"/>
            <a:r>
              <a:rPr lang="ru-RU" dirty="0" err="1"/>
              <a:t>union</a:t>
            </a:r>
            <a:r>
              <a:rPr lang="ru-RU" dirty="0"/>
              <a:t> U</a:t>
            </a:r>
            <a:br>
              <a:rPr lang="ru-RU" dirty="0"/>
            </a:br>
            <a:r>
              <a:rPr lang="ru-RU" dirty="0"/>
              <a:t>{</a:t>
            </a:r>
            <a:br>
              <a:rPr lang="ru-RU" dirty="0"/>
            </a:br>
            <a:r>
              <a:rPr lang="ru-RU" dirty="0"/>
              <a:t>    uint64_t u64;</a:t>
            </a:r>
            <a:br>
              <a:rPr lang="ru-RU" dirty="0"/>
            </a:br>
            <a:r>
              <a:rPr lang="ru-RU" dirty="0"/>
              <a:t>    uint32_t u32[2];</a:t>
            </a:r>
            <a:br>
              <a:rPr lang="ru-RU" dirty="0"/>
            </a:br>
            <a:r>
              <a:rPr lang="ru-RU" dirty="0"/>
              <a:t>};</a:t>
            </a:r>
          </a:p>
          <a:p>
            <a:r>
              <a:rPr lang="ru-RU" b="1" dirty="0"/>
              <a:t>Свойства</a:t>
            </a:r>
          </a:p>
          <a:p>
            <a:pPr lvl="1"/>
            <a:r>
              <a:rPr lang="ru-RU" dirty="0"/>
              <a:t>все поля начинаются с одного и того же адреса</a:t>
            </a:r>
          </a:p>
          <a:p>
            <a:pPr lvl="1"/>
            <a:r>
              <a:rPr lang="ru-RU" dirty="0"/>
              <a:t>размер </a:t>
            </a:r>
            <a:r>
              <a:rPr lang="ru-RU" dirty="0" err="1"/>
              <a:t>union</a:t>
            </a:r>
            <a:r>
              <a:rPr lang="ru-RU" dirty="0"/>
              <a:t> равен размеру самого большого поля</a:t>
            </a:r>
          </a:p>
          <a:p>
            <a:pPr lvl="1"/>
            <a:r>
              <a:rPr lang="ru-RU" dirty="0" err="1"/>
              <a:t>sizeof</a:t>
            </a:r>
            <a:r>
              <a:rPr lang="ru-RU" dirty="0"/>
              <a:t>(</a:t>
            </a:r>
            <a:r>
              <a:rPr lang="ru-RU" dirty="0" err="1"/>
              <a:t>union</a:t>
            </a:r>
            <a:r>
              <a:rPr lang="ru-RU" dirty="0"/>
              <a:t> U) == </a:t>
            </a:r>
            <a:r>
              <a:rPr lang="ru-RU" dirty="0" err="1"/>
              <a:t>sizeof</a:t>
            </a:r>
            <a:r>
              <a:rPr lang="ru-RU" dirty="0"/>
              <a:t>(uint64_t)</a:t>
            </a:r>
          </a:p>
          <a:p>
            <a:r>
              <a:rPr lang="ru-RU" dirty="0" err="1"/>
              <a:t>union</a:t>
            </a:r>
            <a:r>
              <a:rPr lang="ru-RU" dirty="0"/>
              <a:t> позволяет хранить </a:t>
            </a:r>
            <a:r>
              <a:rPr lang="ru-RU" b="1" dirty="0"/>
              <a:t>разные представления одних и тех же данных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19FB7-6F71-802F-33DD-307FCAB0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88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F7B45D-F7C3-D408-3C13-DC005BBF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Две интерпретации координат точки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124B8-C97B-F11E-FF4F-1477F01A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E8614-E620-1D8F-97F6-ABD859E482BF}"/>
              </a:ext>
            </a:extLst>
          </p:cNvPr>
          <p:cNvSpPr txBox="1"/>
          <p:nvPr/>
        </p:nvSpPr>
        <p:spPr>
          <a:xfrm>
            <a:off x="838200" y="1845424"/>
            <a:ext cx="704226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ypedef union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Point;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p = {.x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 = %d, y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"v[0] = %d, v[1]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 = %d, y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A6942B-9C68-8F2F-8A8F-8EAF22B8AD22}"/>
              </a:ext>
            </a:extLst>
          </p:cNvPr>
          <p:cNvSpPr txBox="1"/>
          <p:nvPr/>
        </p:nvSpPr>
        <p:spPr>
          <a:xfrm>
            <a:off x="7880465" y="3922915"/>
            <a:ext cx="3337560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>
                <a:latin typeface="Consolas" panose="020B0609020204030204" pitchFamily="49" charset="0"/>
              </a:rPr>
              <a:t>x = 10, y = 20</a:t>
            </a:r>
          </a:p>
          <a:p>
            <a:r>
              <a:rPr lang="es-ES">
                <a:latin typeface="Consolas" panose="020B0609020204030204" pitchFamily="49" charset="0"/>
              </a:rPr>
              <a:t>v[0] = 10, v[1] = 20</a:t>
            </a:r>
          </a:p>
          <a:p>
            <a:r>
              <a:rPr lang="es-ES">
                <a:latin typeface="Consolas" panose="020B0609020204030204" pitchFamily="49" charset="0"/>
              </a:rPr>
              <a:t>x = 30, y = 40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A9172-B8E7-25A7-D12E-940EEA4E2265}"/>
              </a:ext>
            </a:extLst>
          </p:cNvPr>
          <p:cNvSpPr txBox="1"/>
          <p:nvPr/>
        </p:nvSpPr>
        <p:spPr>
          <a:xfrm>
            <a:off x="7880465" y="5131007"/>
            <a:ext cx="3598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https://godbolt.org/z/34rnvKh3c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4487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49C046-D83A-2122-0E03-93D701AF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Интерпретация uint64_t как двух uint32_t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EFF160-A231-0892-0858-DA226A0F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B4CE9-BBBD-9886-96DA-15132C96E348}"/>
              </a:ext>
            </a:extLst>
          </p:cNvPr>
          <p:cNvSpPr txBox="1"/>
          <p:nvPr/>
        </p:nvSpPr>
        <p:spPr>
          <a:xfrm>
            <a:off x="838201" y="1828800"/>
            <a:ext cx="7772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uint64_t u64;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uint32_t u32[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u.u64 = </a:t>
            </a:r>
            <a:r>
              <a:rPr lang="en-US" b="0" dirty="0">
                <a:solidFill>
                  <a:srgbClr val="3030C0"/>
                </a:solidFill>
                <a:effectLst/>
                <a:latin typeface="Consolas" panose="020B0609020204030204" pitchFamily="49" charset="0"/>
              </a:rPr>
              <a:t>0x1122334455667788ULL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"u64    = 0x%llX\n"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)u.u64);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"u32[0] = 0x%X\n"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u.u32[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"u32[1] = 0x%X\n"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u.u32[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D392D7-DC43-783C-3760-237C10F111D9}"/>
              </a:ext>
            </a:extLst>
          </p:cNvPr>
          <p:cNvSpPr txBox="1"/>
          <p:nvPr/>
        </p:nvSpPr>
        <p:spPr>
          <a:xfrm>
            <a:off x="7286106" y="2298319"/>
            <a:ext cx="3803072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u64    = 0x1122334455667788</a:t>
            </a:r>
          </a:p>
          <a:p>
            <a:r>
              <a:rPr lang="pl-PL" dirty="0">
                <a:latin typeface="Consolas" panose="020B0609020204030204" pitchFamily="49" charset="0"/>
              </a:rPr>
              <a:t>u32[0] = 0x55667788</a:t>
            </a:r>
          </a:p>
          <a:p>
            <a:r>
              <a:rPr lang="pl-PL" dirty="0">
                <a:latin typeface="Consolas" panose="020B0609020204030204" pitchFamily="49" charset="0"/>
              </a:rPr>
              <a:t>u32[1] = 0x11223344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9B7D5B-E42B-7BB6-3890-31FBBBF87299}"/>
              </a:ext>
            </a:extLst>
          </p:cNvPr>
          <p:cNvSpPr txBox="1"/>
          <p:nvPr/>
        </p:nvSpPr>
        <p:spPr>
          <a:xfrm>
            <a:off x="4559532" y="6214229"/>
            <a:ext cx="338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https://godbolt.org/z/hfob3eoTq</a:t>
            </a:r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68BDAF-B29A-E430-784C-156F759B2927}"/>
              </a:ext>
            </a:extLst>
          </p:cNvPr>
          <p:cNvSpPr txBox="1"/>
          <p:nvPr/>
        </p:nvSpPr>
        <p:spPr>
          <a:xfrm>
            <a:off x="7286106" y="3561854"/>
            <a:ext cx="3803072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l-PL" dirty="0">
                <a:latin typeface="Consolas" panose="020B0609020204030204" pitchFamily="49" charset="0"/>
              </a:rPr>
              <a:t>u64    = 0x1122334455667788</a:t>
            </a:r>
          </a:p>
          <a:p>
            <a:r>
              <a:rPr lang="pl-PL" dirty="0">
                <a:latin typeface="Consolas" panose="020B0609020204030204" pitchFamily="49" charset="0"/>
              </a:rPr>
              <a:t>u32[0] = 0x</a:t>
            </a:r>
            <a:r>
              <a:rPr lang="en-US" dirty="0">
                <a:latin typeface="Consolas" panose="020B0609020204030204" pitchFamily="49" charset="0"/>
              </a:rPr>
              <a:t>44332211</a:t>
            </a:r>
            <a:endParaRPr lang="pl-PL" dirty="0">
              <a:latin typeface="Consolas" panose="020B0609020204030204" pitchFamily="49" charset="0"/>
            </a:endParaRPr>
          </a:p>
          <a:p>
            <a:r>
              <a:rPr lang="pl-PL" dirty="0">
                <a:latin typeface="Consolas" panose="020B0609020204030204" pitchFamily="49" charset="0"/>
              </a:rPr>
              <a:t>u32[1] = 0x</a:t>
            </a:r>
            <a:r>
              <a:rPr lang="en-US" dirty="0">
                <a:latin typeface="Consolas" panose="020B0609020204030204" pitchFamily="49" charset="0"/>
              </a:rPr>
              <a:t>88776655</a:t>
            </a:r>
          </a:p>
        </p:txBody>
      </p:sp>
    </p:spTree>
    <p:extLst>
      <p:ext uri="{BB962C8B-B14F-4D97-AF65-F5344CB8AC3E}">
        <p14:creationId xmlns:p14="http://schemas.microsoft.com/office/powerpoint/2010/main" val="109796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75DA49-2C21-2A91-7A61-3F97DC3A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punning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28E9F0-1AD7-A455-24C5-B0CC671D2B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Техника, при которой одна и та же область памяти интерпретируется как разные типы данных.</a:t>
            </a:r>
          </a:p>
          <a:p>
            <a:r>
              <a:rPr lang="ru-RU" dirty="0"/>
              <a:t>В языке C это можно сделать с помощью </a:t>
            </a:r>
            <a:r>
              <a:rPr lang="ru-RU" dirty="0" err="1"/>
              <a:t>union</a:t>
            </a:r>
            <a:r>
              <a:rPr lang="ru-RU" dirty="0"/>
              <a:t>.</a:t>
            </a:r>
          </a:p>
          <a:p>
            <a:pPr lvl="1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ypedef union</a:t>
            </a: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lvl="1"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u64;</a:t>
            </a:r>
          </a:p>
          <a:p>
            <a:pPr lvl="1"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u32[</a:t>
            </a:r>
            <a:r>
              <a:rPr lang="nl-NL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lvl="1"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nl-NL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>
              <a:buNone/>
            </a:pPr>
            <a:r>
              <a:rPr lang="nl-NL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u;</a:t>
            </a:r>
          </a:p>
          <a:p>
            <a:pPr lvl="1">
              <a:buNone/>
            </a:pP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u.u64 = </a:t>
            </a:r>
            <a:r>
              <a:rPr lang="nl-NL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0x1122334455667788ULL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nl-NL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NL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nl-NL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nl-NL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u.</a:t>
            </a:r>
            <a:r>
              <a:rPr lang="nl-NL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u32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l-NL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dirty="0"/>
          </a:p>
          <a:p>
            <a:r>
              <a:rPr lang="ru-RU" dirty="0"/>
              <a:t>Данные записываются как </a:t>
            </a:r>
            <a:r>
              <a:rPr lang="en-US" dirty="0"/>
              <a:t>uint64_t</a:t>
            </a:r>
            <a:r>
              <a:rPr lang="ru-RU" dirty="0"/>
              <a:t>, а читаются как </a:t>
            </a:r>
            <a:r>
              <a:rPr lang="en-US" dirty="0"/>
              <a:t>uint32_t[2]</a:t>
            </a:r>
            <a:endParaRPr lang="ru-RU" dirty="0"/>
          </a:p>
          <a:p>
            <a:endParaRPr lang="ru-RU" dirty="0"/>
          </a:p>
          <a:p>
            <a:pPr lvl="1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135551-BD72-9DEB-6CE5-BB2A415606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Когда это используют</a:t>
            </a:r>
          </a:p>
          <a:p>
            <a:pPr lvl="1"/>
            <a:r>
              <a:rPr lang="ru-RU" dirty="0"/>
              <a:t>альтернативные представления данных</a:t>
            </a:r>
          </a:p>
          <a:p>
            <a:pPr lvl="1"/>
            <a:r>
              <a:rPr lang="ru-RU" dirty="0"/>
              <a:t>разбор бинарных форматов</a:t>
            </a:r>
          </a:p>
          <a:p>
            <a:pPr lvl="1"/>
            <a:r>
              <a:rPr lang="ru-RU" dirty="0"/>
              <a:t>системное программирование</a:t>
            </a:r>
          </a:p>
          <a:p>
            <a:pPr lvl="1"/>
            <a:r>
              <a:rPr lang="ru-RU" dirty="0"/>
              <a:t>мультимедийные библиотеки</a:t>
            </a:r>
            <a:endParaRPr lang="en-US" dirty="0"/>
          </a:p>
          <a:p>
            <a:r>
              <a:rPr lang="ru-RU" b="1" dirty="0"/>
              <a:t>Ограничения</a:t>
            </a:r>
          </a:p>
          <a:p>
            <a:pPr lvl="1"/>
            <a:r>
              <a:rPr lang="ru-RU" dirty="0"/>
              <a:t>Такой код может зависеть от:</a:t>
            </a:r>
          </a:p>
          <a:p>
            <a:pPr lvl="2"/>
            <a:r>
              <a:rPr lang="ru-RU" b="1" dirty="0"/>
              <a:t>порядка байтов</a:t>
            </a:r>
            <a:r>
              <a:rPr lang="ru-RU" dirty="0"/>
              <a:t> (</a:t>
            </a:r>
            <a:r>
              <a:rPr lang="ru-RU" dirty="0" err="1"/>
              <a:t>little-endian</a:t>
            </a:r>
            <a:r>
              <a:rPr lang="ru-RU" dirty="0"/>
              <a:t> / </a:t>
            </a:r>
            <a:r>
              <a:rPr lang="ru-RU" dirty="0" err="1"/>
              <a:t>big-endian</a:t>
            </a:r>
            <a:r>
              <a:rPr lang="ru-RU" dirty="0"/>
              <a:t>)</a:t>
            </a:r>
          </a:p>
          <a:p>
            <a:pPr lvl="2"/>
            <a:r>
              <a:rPr lang="ru-RU" b="1" dirty="0"/>
              <a:t>размера типов</a:t>
            </a:r>
            <a:endParaRPr lang="ru-RU" dirty="0"/>
          </a:p>
          <a:p>
            <a:pPr lvl="2"/>
            <a:r>
              <a:rPr lang="ru-RU" b="1" dirty="0"/>
              <a:t>реализации компилятора</a:t>
            </a:r>
            <a:endParaRPr lang="ru-RU" dirty="0"/>
          </a:p>
          <a:p>
            <a:r>
              <a:rPr lang="ru-RU" dirty="0"/>
              <a:t>Поэтому </a:t>
            </a:r>
            <a:r>
              <a:rPr lang="ru-RU" dirty="0" err="1"/>
              <a:t>type</a:t>
            </a:r>
            <a:r>
              <a:rPr lang="ru-RU" dirty="0"/>
              <a:t> </a:t>
            </a:r>
            <a:r>
              <a:rPr lang="ru-RU" dirty="0" err="1"/>
              <a:t>punning</a:t>
            </a:r>
            <a:r>
              <a:rPr lang="ru-RU" dirty="0"/>
              <a:t> требует аккуратного использования.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D4FCA-7C0A-0C4A-3D90-4BA1CBA0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09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AA60D5-BC43-24ED-82B4-42D5311E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Tagged union (</a:t>
            </a:r>
            <a:r>
              <a:rPr lang="ru-RU" dirty="0"/>
              <a:t>типизированное объединение)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089474-BB96-823F-0178-3BF5D5C00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Корректное использование </a:t>
            </a:r>
            <a:r>
              <a:rPr lang="ru-RU" dirty="0" err="1"/>
              <a:t>union</a:t>
            </a:r>
            <a:r>
              <a:rPr lang="ru-RU" dirty="0"/>
              <a:t> обычно предполагает:</a:t>
            </a:r>
          </a:p>
          <a:p>
            <a:r>
              <a:rPr lang="ru-RU" dirty="0"/>
              <a:t>читать то поле, которое </a:t>
            </a:r>
            <a:r>
              <a:rPr lang="ru-RU" b="1" dirty="0"/>
              <a:t>последним было записано</a:t>
            </a:r>
            <a:endParaRPr lang="ru-RU" dirty="0"/>
          </a:p>
          <a:p>
            <a:r>
              <a:rPr lang="ru-RU" dirty="0"/>
              <a:t>Поэтому нужно хранить </a:t>
            </a:r>
            <a:r>
              <a:rPr lang="ru-RU" b="1" dirty="0"/>
              <a:t>информацию о текущем типе данных</a:t>
            </a:r>
            <a:r>
              <a:rPr lang="ru-RU" dirty="0"/>
              <a:t>.</a:t>
            </a:r>
          </a:p>
          <a:p>
            <a:r>
              <a:rPr lang="ru-RU" dirty="0"/>
              <a:t>Обычно рядом с </a:t>
            </a:r>
            <a:r>
              <a:rPr lang="ru-RU" dirty="0" err="1"/>
              <a:t>union</a:t>
            </a:r>
            <a:r>
              <a:rPr lang="ru-RU" dirty="0"/>
              <a:t> хранится </a:t>
            </a:r>
            <a:r>
              <a:rPr lang="ru-RU" b="1" dirty="0"/>
              <a:t>тег типа</a:t>
            </a:r>
            <a:r>
              <a:rPr lang="ru-RU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985E8-04A6-EB65-FBC6-E946C89A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43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0D17C6-4341-FD8C-4961-C02B8866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Переменная (число или дата)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2C986-D6D0-D21D-B575-02B4F193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4F66EB-6CB4-9F27-A128-E3DD038C8A7F}"/>
              </a:ext>
            </a:extLst>
          </p:cNvPr>
          <p:cNvSpPr txBox="1"/>
          <p:nvPr/>
        </p:nvSpPr>
        <p:spPr>
          <a:xfrm>
            <a:off x="838200" y="1690688"/>
            <a:ext cx="390005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VAR_INT,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VAR_DATE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VariableType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uint16_t year;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uint8_t  month;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uint8_t  day;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Date;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VariableType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type;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Date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Variable;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D88C8-75E3-7E68-66A9-0D7118A9F2FC}"/>
              </a:ext>
            </a:extLst>
          </p:cNvPr>
          <p:cNvSpPr txBox="1"/>
          <p:nvPr/>
        </p:nvSpPr>
        <p:spPr>
          <a:xfrm>
            <a:off x="3973485" y="1737598"/>
            <a:ext cx="82185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Variable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Variable v;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VAR_INT;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value;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Variable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(uint16_t year, uint8_t month, uint8_t day)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Variable v;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VAR_DATE;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v.date.year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year;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v.date.month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month;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v.date.day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1766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BB15-E4DF-2C8F-AB13-C11F0201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 переменную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CD8531-0ADE-DD1F-88F3-4B934407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E1478-7E20-6644-B94D-987D1758DE1C}"/>
              </a:ext>
            </a:extLst>
          </p:cNvPr>
          <p:cNvSpPr txBox="1"/>
          <p:nvPr/>
        </p:nvSpPr>
        <p:spPr>
          <a:xfrm>
            <a:off x="838199" y="1690688"/>
            <a:ext cx="1076636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(Variable v)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VAR_INT: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"int: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VAR_DATE: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"date: %04u-%02u-%02u\n"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v.date.year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v.date.month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v.date.day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(Variable):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(Variable));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Variable a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Variable b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79852-B991-51B8-5379-6C39F0B7AEDB}"/>
              </a:ext>
            </a:extLst>
          </p:cNvPr>
          <p:cNvSpPr txBox="1"/>
          <p:nvPr/>
        </p:nvSpPr>
        <p:spPr>
          <a:xfrm>
            <a:off x="7410795" y="3906679"/>
            <a:ext cx="4193771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(Variable): 8</a:t>
            </a:r>
          </a:p>
          <a:p>
            <a:r>
              <a:rPr lang="en-US" dirty="0">
                <a:latin typeface="Consolas" panose="020B0609020204030204" pitchFamily="49" charset="0"/>
              </a:rPr>
              <a:t>int: 42</a:t>
            </a:r>
          </a:p>
          <a:p>
            <a:r>
              <a:rPr lang="en-US" dirty="0">
                <a:latin typeface="Consolas" panose="020B0609020204030204" pitchFamily="49" charset="0"/>
              </a:rPr>
              <a:t>date: 2025-03-14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84030-9739-0DD6-F69D-C9331A983565}"/>
              </a:ext>
            </a:extLst>
          </p:cNvPr>
          <p:cNvSpPr txBox="1"/>
          <p:nvPr/>
        </p:nvSpPr>
        <p:spPr>
          <a:xfrm>
            <a:off x="3581401" y="6399669"/>
            <a:ext cx="3966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https://godbolt.org/z/b4Ted3TW9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17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1406D8-732C-E971-0709-247B1EA6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</a:t>
            </a:r>
            <a:r>
              <a:rPr lang="en-US" dirty="0"/>
              <a:t>union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741FBA-5244-2A0A-16C8-DDFBA12F4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Размер </a:t>
            </a:r>
            <a:r>
              <a:rPr lang="en-US" dirty="0"/>
              <a:t>union </a:t>
            </a:r>
            <a:r>
              <a:rPr lang="ru-RU" dirty="0"/>
              <a:t>равен </a:t>
            </a:r>
            <a:r>
              <a:rPr lang="ru-RU" b="1" dirty="0"/>
              <a:t>размеру самого большого поля</a:t>
            </a:r>
            <a:r>
              <a:rPr lang="ru-RU" dirty="0"/>
              <a:t>.</a:t>
            </a:r>
          </a:p>
          <a:p>
            <a:r>
              <a:rPr lang="en-US" dirty="0"/>
              <a:t>union U {</a:t>
            </a:r>
            <a:br>
              <a:rPr lang="en-US" dirty="0"/>
            </a:b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long </a:t>
            </a:r>
            <a:r>
              <a:rPr lang="en-US" dirty="0" err="1"/>
              <a:t>long</a:t>
            </a:r>
            <a:r>
              <a:rPr lang="en-US" dirty="0"/>
              <a:t> l;</a:t>
            </a:r>
            <a:br>
              <a:rPr lang="en-US" dirty="0"/>
            </a:br>
            <a:r>
              <a:rPr lang="en-US" dirty="0"/>
              <a:t>    char c;</a:t>
            </a:r>
            <a:br>
              <a:rPr lang="en-US" dirty="0"/>
            </a:br>
            <a:r>
              <a:rPr lang="en-US" dirty="0"/>
              <a:t>};</a:t>
            </a:r>
          </a:p>
          <a:p>
            <a:r>
              <a:rPr lang="en-US" dirty="0" err="1"/>
              <a:t>sizeof</a:t>
            </a:r>
            <a:r>
              <a:rPr lang="en-US" dirty="0"/>
              <a:t>(U) == </a:t>
            </a:r>
            <a:r>
              <a:rPr lang="en-US" dirty="0" err="1"/>
              <a:t>sizeof</a:t>
            </a:r>
            <a:r>
              <a:rPr lang="en-US" dirty="0"/>
              <a:t>(long long)</a:t>
            </a:r>
          </a:p>
          <a:p>
            <a:r>
              <a:rPr lang="ru-RU" dirty="0"/>
              <a:t>Все поля используют </a:t>
            </a:r>
            <a:r>
              <a:rPr lang="ru-RU" b="1" dirty="0"/>
              <a:t>одну и ту же область памяти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19D0D-5C85-9A3C-7804-38AF7695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77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0B56-80E3-DE6D-A6C6-9EB45ECA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Активное поле </a:t>
            </a:r>
            <a:r>
              <a:rPr lang="ru-RU" dirty="0" err="1"/>
              <a:t>union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B8EAC-8F61-809E-6CA8-F1DCB93DA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каждый момент времени </a:t>
            </a:r>
            <a:r>
              <a:rPr lang="ru-RU" b="1" dirty="0"/>
              <a:t>корректно читать только то поле, которое было записано последним</a:t>
            </a:r>
            <a:r>
              <a:rPr lang="ru-RU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96AAB-FFDE-1F45-7D79-C806C5C0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A02E5-46D3-F901-BF8B-41E09E548705}"/>
              </a:ext>
            </a:extLst>
          </p:cNvPr>
          <p:cNvSpPr txBox="1"/>
          <p:nvPr/>
        </p:nvSpPr>
        <p:spPr>
          <a:xfrm>
            <a:off x="1234439" y="3010780"/>
            <a:ext cx="92894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salary;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gender;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u.salary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u.salary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корректно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u.gender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может быть бессмысленным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2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8587-000A-BD3A-9016-E2C22AE7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применяются </a:t>
            </a:r>
            <a:r>
              <a:rPr lang="ru-RU" dirty="0" err="1"/>
              <a:t>union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1451-A6ED-0756-F89A-64305CA1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Объединения используются, когда данные могут иметь </a:t>
            </a:r>
            <a:r>
              <a:rPr lang="ru-RU" b="1" dirty="0"/>
              <a:t>несколько представлений</a:t>
            </a:r>
            <a:r>
              <a:rPr lang="ru-RU" dirty="0"/>
              <a:t>.</a:t>
            </a:r>
          </a:p>
          <a:p>
            <a:r>
              <a:rPr lang="ru-RU" dirty="0"/>
              <a:t>Типичные применения:</a:t>
            </a:r>
          </a:p>
          <a:p>
            <a:pPr lvl="1"/>
            <a:r>
              <a:rPr lang="ru-RU" b="1" dirty="0" err="1"/>
              <a:t>tagged</a:t>
            </a:r>
            <a:r>
              <a:rPr lang="ru-RU" b="1" dirty="0"/>
              <a:t> </a:t>
            </a:r>
            <a:r>
              <a:rPr lang="ru-RU" b="1" dirty="0" err="1"/>
              <a:t>union</a:t>
            </a:r>
            <a:r>
              <a:rPr lang="ru-RU" dirty="0"/>
              <a:t> — хранение значений разных типов</a:t>
            </a:r>
          </a:p>
          <a:p>
            <a:pPr lvl="1"/>
            <a:r>
              <a:rPr lang="ru-RU" b="1" dirty="0"/>
              <a:t>разбор бинарных форматов</a:t>
            </a:r>
            <a:endParaRPr lang="ru-RU" dirty="0"/>
          </a:p>
          <a:p>
            <a:pPr lvl="1"/>
            <a:r>
              <a:rPr lang="ru-RU" b="1" dirty="0"/>
              <a:t>системное программирование</a:t>
            </a:r>
            <a:endParaRPr lang="ru-RU" dirty="0"/>
          </a:p>
          <a:p>
            <a:pPr lvl="1"/>
            <a:r>
              <a:rPr lang="ru-RU" b="1" dirty="0"/>
              <a:t>мультимедийные библиотеки</a:t>
            </a:r>
            <a:r>
              <a:rPr lang="ru-RU" dirty="0"/>
              <a:t> (например, </a:t>
            </a:r>
            <a:r>
              <a:rPr lang="ru-RU" dirty="0" err="1"/>
              <a:t>FFmpeg</a:t>
            </a:r>
            <a:r>
              <a:rPr lang="ru-RU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AB6B5-DADF-AB5E-5D66-D85DF727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15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BAC9-A583-3E85-0984-E7B9CC5E9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лекции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707A6-233D-684B-629C-39256E709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Итоги лекции</a:t>
            </a:r>
          </a:p>
          <a:p>
            <a:pPr lvl="1"/>
            <a:r>
              <a:rPr lang="ru-RU" dirty="0"/>
              <a:t>указатель хранит </a:t>
            </a:r>
            <a:r>
              <a:rPr lang="ru-RU" b="1" dirty="0"/>
              <a:t>адрес объекта</a:t>
            </a:r>
            <a:endParaRPr lang="ru-RU" dirty="0"/>
          </a:p>
          <a:p>
            <a:pPr lvl="1"/>
            <a:r>
              <a:rPr lang="ru-RU" dirty="0"/>
              <a:t>адресная арифметика работает </a:t>
            </a:r>
            <a:r>
              <a:rPr lang="ru-RU" b="1" dirty="0"/>
              <a:t>в элементах, а не в байтах</a:t>
            </a:r>
            <a:endParaRPr lang="ru-RU" dirty="0"/>
          </a:p>
          <a:p>
            <a:pPr lvl="1"/>
            <a:r>
              <a:rPr lang="ru-RU" dirty="0"/>
              <a:t>p[i] == *(p + i)</a:t>
            </a:r>
          </a:p>
          <a:p>
            <a:pPr lvl="1"/>
            <a:r>
              <a:rPr lang="ru-RU" dirty="0"/>
              <a:t>битовые поля позволяют </a:t>
            </a:r>
            <a:r>
              <a:rPr lang="ru-RU" b="1" dirty="0"/>
              <a:t>упаковывать небольшие значения</a:t>
            </a:r>
            <a:endParaRPr lang="ru-RU" dirty="0"/>
          </a:p>
          <a:p>
            <a:pPr lvl="1"/>
            <a:r>
              <a:rPr lang="ru-RU" dirty="0" err="1"/>
              <a:t>union</a:t>
            </a:r>
            <a:r>
              <a:rPr lang="ru-RU" dirty="0"/>
              <a:t> задаёт </a:t>
            </a:r>
            <a:r>
              <a:rPr lang="ru-RU" b="1" dirty="0"/>
              <a:t>несколько представлений одной области памяти</a:t>
            </a:r>
            <a:endParaRPr lang="ru-RU" dirty="0"/>
          </a:p>
          <a:p>
            <a:pPr lvl="1"/>
            <a:r>
              <a:rPr lang="ru-RU" dirty="0"/>
              <a:t>для безопасной работы с </a:t>
            </a:r>
            <a:r>
              <a:rPr lang="ru-RU" dirty="0" err="1"/>
              <a:t>union</a:t>
            </a:r>
            <a:r>
              <a:rPr lang="ru-RU" dirty="0"/>
              <a:t> часто используют </a:t>
            </a:r>
            <a:r>
              <a:rPr lang="ru-RU" b="1" dirty="0" err="1"/>
              <a:t>tagged</a:t>
            </a:r>
            <a:r>
              <a:rPr lang="ru-RU" b="1" dirty="0"/>
              <a:t> </a:t>
            </a:r>
            <a:r>
              <a:rPr lang="ru-RU" b="1" dirty="0" err="1"/>
              <a:t>union</a:t>
            </a:r>
            <a:endParaRPr lang="ru-RU" dirty="0"/>
          </a:p>
          <a:p>
            <a:r>
              <a:rPr lang="ru-RU" b="1" dirty="0"/>
              <a:t>Главная идея</a:t>
            </a:r>
          </a:p>
          <a:p>
            <a:pPr lvl="1"/>
            <a:r>
              <a:rPr lang="ru-RU" dirty="0"/>
              <a:t>Память хранит байты, а типы языка C задают, </a:t>
            </a:r>
            <a:r>
              <a:rPr lang="ru-RU" b="1" dirty="0"/>
              <a:t>как эти байты интерпретируются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16A39-95E8-AE6A-2DDF-47A1AA26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AA69-4C63-4703-A76C-31C561DAA7D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61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6128</Words>
  <Application>Microsoft Office PowerPoint</Application>
  <PresentationFormat>Widescreen</PresentationFormat>
  <Paragraphs>778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Consolas</vt:lpstr>
      <vt:lpstr>Office Theme</vt:lpstr>
      <vt:lpstr>Указатели, массивы, интерпретация памяти</vt:lpstr>
      <vt:lpstr>Адресная арифметика</vt:lpstr>
      <vt:lpstr>Вывод значения указателя</vt:lpstr>
      <vt:lpstr>Указатель void*</vt:lpstr>
      <vt:lpstr>Пример использования const void*</vt:lpstr>
      <vt:lpstr>Сложение указателя с числом</vt:lpstr>
      <vt:lpstr>Пример</vt:lpstr>
      <vt:lpstr>Арифметика указателей: вычитание</vt:lpstr>
      <vt:lpstr>Пример вычитания указателей</vt:lpstr>
      <vt:lpstr>Индексирование указателей</vt:lpstr>
      <vt:lpstr>Пример индексирования указателей</vt:lpstr>
      <vt:lpstr>Суммирование элементов массивов</vt:lpstr>
      <vt:lpstr>Битовые поля</vt:lpstr>
      <vt:lpstr>Когда одного байта слишком много</vt:lpstr>
      <vt:lpstr>Возможное решение – использовать операции манипулирования битами</vt:lpstr>
      <vt:lpstr>Битовые поля</vt:lpstr>
      <vt:lpstr>Пример использования битовых полей</vt:lpstr>
      <vt:lpstr>Пример использования битовых полей</vt:lpstr>
      <vt:lpstr>Ограничения битовых полей</vt:lpstr>
      <vt:lpstr>Во что преобразуется код, работающий с битовыми полями</vt:lpstr>
      <vt:lpstr>Безымянные битовые поля нулевой ширины</vt:lpstr>
      <vt:lpstr>Битовые поля и аппаратные регистры</vt:lpstr>
      <vt:lpstr>Где применяются битовые поля</vt:lpstr>
      <vt:lpstr>Объединение (union)</vt:lpstr>
      <vt:lpstr>Интерпретация одной области памяти</vt:lpstr>
      <vt:lpstr>Почему бы не привести указатель к другому типу?</vt:lpstr>
      <vt:lpstr>Объединение (union)</vt:lpstr>
      <vt:lpstr>Две интерпретации координат точки</vt:lpstr>
      <vt:lpstr>Интерпретация uint64_t как двух uint32_t</vt:lpstr>
      <vt:lpstr>Type punning</vt:lpstr>
      <vt:lpstr>Tagged union (типизированное объединение)</vt:lpstr>
      <vt:lpstr>Переменная (число или дата)</vt:lpstr>
      <vt:lpstr>Используем переменную</vt:lpstr>
      <vt:lpstr>Размер union</vt:lpstr>
      <vt:lpstr>Активное поле union</vt:lpstr>
      <vt:lpstr>Где применяются union</vt:lpstr>
      <vt:lpstr>Итоги лекции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100</cp:revision>
  <dcterms:created xsi:type="dcterms:W3CDTF">2026-03-14T00:39:38Z</dcterms:created>
  <dcterms:modified xsi:type="dcterms:W3CDTF">2026-03-14T09:08:52Z</dcterms:modified>
</cp:coreProperties>
</file>