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75" r:id="rId26"/>
    <p:sldId id="27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5534" autoAdjust="0"/>
  </p:normalViewPr>
  <p:slideViewPr>
    <p:cSldViewPr snapToGrid="0" showGuides="1">
      <p:cViewPr varScale="1">
        <p:scale>
          <a:sx n="58" d="100"/>
          <a:sy n="58" d="100"/>
        </p:scale>
        <p:origin x="96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66C32-2CAD-4804-B7A5-B2638E20501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19BF3-5C08-4C43-AB38-CA4C8226E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18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Смотрите, у нас есть классическая пузырьковая сортировка.</a:t>
            </a:r>
          </a:p>
          <a:p>
            <a:r>
              <a:rPr lang="ru-RU" dirty="0"/>
              <a:t>Она простая, понятная и делает ровно то, что мы от неё ожидаем — сортирует массив по возрастанию.</a:t>
            </a:r>
          </a:p>
          <a:p>
            <a:r>
              <a:rPr lang="ru-RU" dirty="0"/>
              <a:t>Обратите внимание: внутри есть ключевая строка — условие сравнения элементов. Именно оно определяет порядок.</a:t>
            </a:r>
          </a:p>
          <a:p>
            <a:r>
              <a:rPr lang="en-US" dirty="0"/>
              <a:t>1 2 5 5 6 9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41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F0B58-F238-226D-EA7A-9A11F452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870F7-2EC9-585F-2CF3-B9847F1C1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90EE4-A435-6465-AD39-883A64DCE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Смотрите, у нас есть классическая пузырьковая сортировка.</a:t>
            </a:r>
          </a:p>
          <a:p>
            <a:r>
              <a:rPr lang="ru-RU" dirty="0"/>
              <a:t>Она простая, понятная и делает ровно то, что мы от неё ожидаем — сортирует массив по возрастанию.</a:t>
            </a:r>
          </a:p>
          <a:p>
            <a:r>
              <a:rPr lang="ru-RU" dirty="0"/>
              <a:t>Обратите внимание: внутри есть ключевая строка — условие сравнения элементов. Именно оно определяет порядок.</a:t>
            </a:r>
          </a:p>
          <a:p>
            <a:r>
              <a:rPr lang="en-US" dirty="0"/>
              <a:t>1 2 5 5 6 9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98B57-3FF3-B81C-029E-DE3C0BD71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64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ситуацию, когда требуется несколько вариантов сортировки.</a:t>
            </a:r>
          </a:p>
          <a:p>
            <a:r>
              <a:rPr lang="ru-RU" dirty="0"/>
              <a:t>Помимо сортировки по возрастанию, могут понадобиться:</a:t>
            </a:r>
          </a:p>
          <a:p>
            <a:r>
              <a:rPr lang="ru-RU" dirty="0"/>
              <a:t>сортировка по убыванию </a:t>
            </a:r>
          </a:p>
          <a:p>
            <a:r>
              <a:rPr lang="ru-RU" dirty="0"/>
              <a:t>разбиение на чётные и нечётные </a:t>
            </a:r>
          </a:p>
          <a:p>
            <a:r>
              <a:rPr lang="ru-RU" dirty="0"/>
              <a:t>сортировка по модулю или по последней цифре 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Наивный подход приводит к созданию отдельных функций для каждого случая: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bubble_sort_asc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bubble_sort_desc</a:t>
            </a:r>
            <a:r>
              <a:rPr lang="ru-RU" dirty="0"/>
              <a:t> и так далее.</a:t>
            </a:r>
          </a:p>
          <a:p>
            <a:r>
              <a:rPr lang="ru-RU" dirty="0"/>
              <a:t>Однако все эти функции реализуют один и тот же алгоритм.</a:t>
            </a:r>
            <a:br>
              <a:rPr lang="ru-RU" dirty="0"/>
            </a:br>
            <a:r>
              <a:rPr lang="ru-RU" dirty="0"/>
              <a:t>Различие между ними заключается только в способе сравнения элементов.</a:t>
            </a:r>
          </a:p>
          <a:p>
            <a:r>
              <a:rPr lang="ru-RU" dirty="0"/>
              <a:t>Таким образом, возникает дублирование кода, что указывает на неудачное разделение ответственности.</a:t>
            </a:r>
          </a:p>
          <a:p>
            <a:r>
              <a:rPr lang="ru-RU" dirty="0"/>
              <a:t>Алгоритм сортировки и правило сравнения оказываются жёстко связаны.</a:t>
            </a:r>
          </a:p>
          <a:p>
            <a:r>
              <a:rPr lang="ru-RU" dirty="0"/>
              <a:t>Возникает задача — отделить одно от другого.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66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выяснили, что проблема заключается не в алгоритме, а в жёстко заданном способе сравнения.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Следовательно, решение состоит в том, чтобы сделать алгоритм независимым от этого правила.</a:t>
            </a:r>
          </a:p>
          <a:p>
            <a:endParaRPr lang="en-US" dirty="0"/>
          </a:p>
          <a:p>
            <a:r>
              <a:rPr lang="ru-RU" dirty="0"/>
              <a:t>Иными словами, сортировка должна не содержать логику сравнения, а получать её извне.</a:t>
            </a:r>
          </a:p>
          <a:p>
            <a:endParaRPr lang="en-US" dirty="0"/>
          </a:p>
          <a:p>
            <a:r>
              <a:rPr lang="ru-RU" dirty="0"/>
              <a:t>При этом само правило сравнения — это просто функция, которая принимает два значения и определяет их порядок.</a:t>
            </a:r>
          </a:p>
          <a:p>
            <a:r>
              <a:rPr lang="ru-RU" dirty="0"/>
              <a:t>Возникает естественный вопрос: можем ли мы передать такую функцию в качестве аргумента?</a:t>
            </a:r>
          </a:p>
          <a:p>
            <a:r>
              <a:rPr lang="ru-RU" dirty="0"/>
              <a:t>И именно к этому механизму мы сейчас переходим.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67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мы рассматривали указатели как способ работы с данными в памяти.</a:t>
            </a:r>
          </a:p>
          <a:p>
            <a:r>
              <a:rPr lang="ru-RU" dirty="0"/>
              <a:t>Теперь важно сделать следующий шаг.</a:t>
            </a:r>
          </a:p>
          <a:p>
            <a:endParaRPr lang="ru-RU" dirty="0"/>
          </a:p>
          <a:p>
            <a:r>
              <a:rPr lang="ru-RU" dirty="0"/>
              <a:t>Программа после компиляции представляет собой машинный код, который также размещается в памяти.</a:t>
            </a:r>
            <a:br>
              <a:rPr lang="ru-RU" dirty="0"/>
            </a:br>
            <a:r>
              <a:rPr lang="ru-RU" dirty="0"/>
              <a:t>Каждая функция — это участок этого кода.</a:t>
            </a:r>
          </a:p>
          <a:p>
            <a:r>
              <a:rPr lang="ru-RU" dirty="0"/>
              <a:t>У этого участка есть начальный адрес — адрес точки входа в функцию.</a:t>
            </a:r>
          </a:p>
          <a:p>
            <a:r>
              <a:rPr lang="ru-RU" dirty="0"/>
              <a:t>Именно этот адрес мы можем сохранять в переменной.</a:t>
            </a:r>
          </a:p>
          <a:p>
            <a:endParaRPr lang="ru-RU" dirty="0"/>
          </a:p>
          <a:p>
            <a:r>
              <a:rPr lang="ru-RU" dirty="0"/>
              <a:t>Перед нами объявление указателя на функцию.</a:t>
            </a:r>
          </a:p>
          <a:p>
            <a:r>
              <a:rPr lang="ru-RU" dirty="0"/>
              <a:t>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dirty="0"/>
              <a:t> — это указатель, который может хранить адрес функции с заданной сигнатурой: она принимает два аргумента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указатель на функцию позволяет хранить адрес точки входа в функцию и передавать управление на соответствующий участок кода.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расширяет привычную модель указателей: теперь мы можем работать не только с данными, но и с исполняемым кодом.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72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модифицируем нашу функцию сортировки.</a:t>
            </a:r>
          </a:p>
          <a:p>
            <a:r>
              <a:rPr lang="ru-RU" dirty="0"/>
              <a:t>Обратите внимание на первую строку: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dirty="0"/>
              <a:t>Здесь мы вводим псевдоним типа.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Comparator</a:t>
            </a:r>
            <a:r>
              <a:rPr lang="ru-RU" dirty="0"/>
              <a:t> — это указатель на функцию, которая принимает два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</a:p>
          <a:p>
            <a:r>
              <a:rPr lang="ru-RU" dirty="0"/>
              <a:t>Это сделано для удобства, чтобы не писать каждый раз сложное объявление указателя на функцию.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Далее изменяется сигнатура функции сортировки: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BubbleSort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a,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Теперь функция принимает дополнительный параметр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dirty="0"/>
              <a:t>.</a:t>
            </a:r>
          </a:p>
          <a:p>
            <a:r>
              <a:rPr lang="ru-RU" dirty="0"/>
              <a:t>Это указатель на функцию сравнения, которая определяет порядок элементов.</a:t>
            </a:r>
          </a:p>
          <a:p>
            <a:endParaRPr lang="ru-RU" dirty="0"/>
          </a:p>
          <a:p>
            <a:r>
              <a:rPr lang="ru-RU" dirty="0"/>
              <a:t>Ключевое изменение находится внутри цикла: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(a[j], a[j + 1]) &gt; 0)</a:t>
            </a:r>
          </a:p>
          <a:p>
            <a:r>
              <a:rPr lang="ru-RU" dirty="0"/>
              <a:t>Ранее здесь было жёстко заданное условие сравнения.</a:t>
            </a:r>
          </a:p>
          <a:p>
            <a:r>
              <a:rPr lang="ru-RU" dirty="0"/>
              <a:t>Теперь вместо этого вызывается функция, переданная извне.</a:t>
            </a:r>
          </a:p>
          <a:p>
            <a:endParaRPr lang="ru-RU" dirty="0"/>
          </a:p>
          <a:p>
            <a:r>
              <a:rPr lang="ru-RU" dirty="0"/>
              <a:t>Интерпретация следующая: если компаратор возвращает положительное значение, это означает, что элементы расположены в неправильном порядке, и их необходимо поменять местами.</a:t>
            </a:r>
          </a:p>
          <a:p>
            <a:endParaRPr lang="ru-RU" dirty="0"/>
          </a:p>
          <a:p>
            <a:r>
              <a:rPr lang="ru-RU" dirty="0"/>
              <a:t>Таким образом, алгоритм сортировки больше не зависит от конкретного способа сравнения. Он делегирует это решение переданной функции.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46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это используется на практике.</a:t>
            </a:r>
          </a:p>
          <a:p>
            <a:endParaRPr lang="ru-RU" dirty="0"/>
          </a:p>
          <a:p>
            <a:r>
              <a:rPr lang="ru-RU" dirty="0"/>
              <a:t>Сначала определим функцию сравнения: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AscendingComparator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b)</a:t>
            </a:r>
          </a:p>
          <a:p>
            <a:r>
              <a:rPr lang="ru-RU" dirty="0"/>
              <a:t>Она возвращает: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отрицательное значение, 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&lt; b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положительное, если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&gt; b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ноль, если элементы равны </a:t>
            </a:r>
          </a:p>
          <a:p>
            <a:r>
              <a:rPr lang="ru-RU" dirty="0"/>
              <a:t>Это стандартная форма компаратора.</a:t>
            </a:r>
          </a:p>
          <a:p>
            <a:endParaRPr lang="ru-RU" dirty="0"/>
          </a:p>
          <a:p>
            <a:r>
              <a:rPr lang="ru-RU" dirty="0"/>
              <a:t>Функция для сортировки по убыванию реализована через уже существующую: 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AscendingComparator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(a, b);</a:t>
            </a:r>
          </a:p>
          <a:p>
            <a:r>
              <a:rPr lang="ru-RU" dirty="0"/>
              <a:t>Это хороший пример повторного использования кода.</a:t>
            </a:r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создаётся массив и вычисляется его размер.</a:t>
            </a:r>
          </a:p>
          <a:p>
            <a:r>
              <a:rPr lang="ru-RU" dirty="0"/>
              <a:t>Затем вызывается сортировка: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BubbleSort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(a, n,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AscendingComparator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dirty="0"/>
              <a:t>Обратите внимание: мы передаём </a:t>
            </a:r>
            <a:r>
              <a:rPr lang="ru-RU" b="1" dirty="0"/>
              <a:t>имя функции</a:t>
            </a:r>
            <a:r>
              <a:rPr lang="ru-RU" dirty="0"/>
              <a:t>. Это означает, что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BubbleSort</a:t>
            </a:r>
            <a:r>
              <a:rPr lang="ru-RU" dirty="0"/>
              <a:t> будет передан адрес соответствующей функции сравнения.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Таким образом, один и тот же алгоритм сортировки может использовать разные критерии упорядочивания.</a:t>
            </a:r>
          </a:p>
          <a:p>
            <a:r>
              <a:rPr lang="ru-RU" dirty="0"/>
              <a:t>Достаточно передать другую функцию-компаратор.</a:t>
            </a:r>
          </a:p>
          <a:p>
            <a:endParaRPr lang="ru-RU" dirty="0"/>
          </a:p>
          <a:p>
            <a:r>
              <a:rPr lang="ru-RU" dirty="0"/>
              <a:t>Это и есть основной результат: алгоритм остаётся неизменным, а поведение программы определяется переданной функцией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83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стандартную функцию сортировки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.</a:t>
            </a:r>
          </a:p>
          <a:p>
            <a:r>
              <a:rPr lang="ru-RU" dirty="0"/>
              <a:t>Она находится в библиотеке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и позволяет сортировать массивы </a:t>
            </a:r>
            <a:r>
              <a:rPr lang="ru-RU" b="1" dirty="0"/>
              <a:t>любого типа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 на компаратор: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CompareAscending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a,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b)</a:t>
            </a:r>
          </a:p>
          <a:p>
            <a:r>
              <a:rPr lang="ru-RU" dirty="0"/>
              <a:t>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используется потому,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 не знает тип элементов.</a:t>
            </a:r>
          </a:p>
          <a:p>
            <a:r>
              <a:rPr lang="ru-RU" dirty="0"/>
              <a:t>Поэтому внутри мы явно приводим указатели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и извлекаем значения.</a:t>
            </a:r>
          </a:p>
          <a:p>
            <a:endParaRPr lang="ru-RU" dirty="0"/>
          </a:p>
          <a:p>
            <a:r>
              <a:rPr lang="ru-RU" dirty="0"/>
              <a:t>Компаратор возвращает: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отрицательное значение — если первый элемент меньше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положительное — если больше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ноль — если равны </a:t>
            </a:r>
          </a:p>
          <a:p>
            <a:endParaRPr lang="ru-RU" dirty="0"/>
          </a:p>
          <a:p>
            <a:r>
              <a:rPr lang="ru-RU" dirty="0"/>
              <a:t>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 выглядит так: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(a, n,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CompareAscending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dirty="0"/>
              <a:t>Мы передаём: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массив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размер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размер элемента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функцию сравнения </a:t>
            </a:r>
          </a:p>
          <a:p>
            <a:endParaRPr lang="ru-RU" dirty="0"/>
          </a:p>
          <a:p>
            <a:r>
              <a:rPr lang="ru-RU" dirty="0"/>
              <a:t>Важно: мы передаём </a:t>
            </a:r>
            <a:r>
              <a:rPr lang="ru-RU" b="1" dirty="0"/>
              <a:t>функцию как аргумент</a:t>
            </a:r>
            <a:r>
              <a:rPr lang="ru-RU" dirty="0"/>
              <a:t>. 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qsort</a:t>
            </a:r>
            <a:r>
              <a:rPr lang="ru-RU" dirty="0"/>
              <a:t> — это универсальный алгоритм,</a:t>
            </a:r>
            <a:br>
              <a:rPr lang="ru-RU" dirty="0"/>
            </a:br>
            <a:r>
              <a:rPr lang="ru-RU" dirty="0"/>
              <a:t>а конкретный порядок задаётся через компаратор.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7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 указателями на функции важно помнить, что это строго типизированные объекты.</a:t>
            </a:r>
          </a:p>
          <a:p>
            <a:endParaRPr lang="ru-RU" dirty="0"/>
          </a:p>
          <a:p>
            <a:r>
              <a:rPr lang="ru-RU" dirty="0"/>
              <a:t>Тип указателя должен точно соответствовать сигнатуре функции: совпадают возвращаемое значение, количество и типы параметров.</a:t>
            </a:r>
          </a:p>
          <a:p>
            <a:endParaRPr lang="ru-RU" dirty="0"/>
          </a:p>
          <a:p>
            <a:r>
              <a:rPr lang="ru-RU" dirty="0"/>
              <a:t>Частая ошибка — попытка присвоить функцию с другой сигнатурой или перепутать объявление функции с указателем на функцию.</a:t>
            </a:r>
          </a:p>
          <a:p>
            <a:endParaRPr lang="ru-RU" dirty="0"/>
          </a:p>
          <a:p>
            <a:r>
              <a:rPr lang="ru-RU" dirty="0"/>
              <a:t>Компилятор такие ошибки, как правило, обнаруживает, но важно понимать причину: указатель на функцию — это не «любой адрес функции», а адрес функции строго определённого типа.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06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более общую задачу.</a:t>
            </a:r>
          </a:p>
          <a:p>
            <a:r>
              <a:rPr lang="ru-RU" dirty="0"/>
              <a:t>Нам нужно читать и записывать данные, но источник этих данных может быть разным: файл, память или что-то ещё.</a:t>
            </a:r>
          </a:p>
          <a:p>
            <a:endParaRPr lang="ru-RU" dirty="0"/>
          </a:p>
          <a:p>
            <a:r>
              <a:rPr lang="ru-RU" dirty="0"/>
              <a:t>Наивное решение — писать отдельные функции для каждого случая.</a:t>
            </a:r>
          </a:p>
          <a:p>
            <a:r>
              <a:rPr lang="ru-RU" dirty="0"/>
              <a:t>Однако это приводит к дублированию кода и отсутствию единого интерфейса.</a:t>
            </a:r>
          </a:p>
          <a:p>
            <a:endParaRPr lang="ru-RU" dirty="0"/>
          </a:p>
          <a:p>
            <a:r>
              <a:rPr lang="ru-RU" dirty="0"/>
              <a:t>Более гибкий подход — отделить интерфейс от реализации.</a:t>
            </a:r>
          </a:p>
          <a:p>
            <a:endParaRPr lang="ru-RU" dirty="0"/>
          </a:p>
          <a:p>
            <a:r>
              <a:rPr lang="ru-RU" dirty="0"/>
              <a:t>Мы можем ввести универсальную структуру, которая описывает «поток данных», и передавать конкретную реализацию чтения и записи через указатели на функции.</a:t>
            </a:r>
          </a:p>
          <a:p>
            <a:r>
              <a:rPr lang="ru-RU" dirty="0"/>
              <a:t>При этом сама структура будет хранить как данные, так и поведение.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68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решения этой задачи введём абстракцию «поток».</a:t>
            </a:r>
          </a:p>
          <a:p>
            <a:r>
              <a:rPr lang="ru-RU" dirty="0"/>
              <a:t>Структура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</a:t>
            </a:r>
            <a:r>
              <a:rPr lang="ru-RU" dirty="0"/>
              <a:t> описывает источник данных в общем виде.</a:t>
            </a:r>
          </a:p>
          <a:p>
            <a:r>
              <a:rPr lang="ru-RU" dirty="0"/>
              <a:t>Она содержит: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стандартный файловый указатель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FILE*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пользовательский контекст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также указатели на функции чтения и записи </a:t>
            </a:r>
          </a:p>
          <a:p>
            <a:r>
              <a:rPr lang="ru-RU" dirty="0"/>
              <a:t>Ключевая идея в том, что поток хранит не только данные, но и операции над ними.</a:t>
            </a:r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dirty="0"/>
              <a:t> определяют, </a:t>
            </a:r>
            <a:r>
              <a:rPr lang="ru-RU" b="1" dirty="0"/>
              <a:t>как именно</a:t>
            </a:r>
            <a:r>
              <a:rPr lang="ru-RU" dirty="0"/>
              <a:t> происходит ввод-вывод,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ru-RU" dirty="0"/>
              <a:t> позволяет передать этим функциям необходимое состояние.</a:t>
            </a:r>
          </a:p>
          <a:p>
            <a:r>
              <a:rPr lang="ru-RU" dirty="0"/>
              <a:t>Таким образом, один и тот же интерфейс может использоваться для разных источников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09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рассмотрим, как реализуется единый интерфейс чтения и записи.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StreamRead</a:t>
            </a:r>
            <a:r>
              <a:rPr lang="ru-RU" dirty="0"/>
              <a:t> принимает поток, буфер и количество байт для чтения. Внутри происходит выбор конкретной реализации.</a:t>
            </a:r>
          </a:p>
          <a:p>
            <a:r>
              <a:rPr lang="ru-RU" dirty="0"/>
              <a:t>Сначала проверяется, задан ли пользовательский обработчик чтения. Если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 не равен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, управление передаётся этой функции, и ей также передаётся контекст потока.</a:t>
            </a:r>
          </a:p>
          <a:p>
            <a:endParaRPr lang="ru-RU" dirty="0"/>
          </a:p>
          <a:p>
            <a:r>
              <a:rPr lang="ru-RU" dirty="0"/>
              <a:t>Если пользовательская функция не задана, но задан файловый указатель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FILE*</a:t>
            </a:r>
            <a:r>
              <a:rPr lang="ru-RU" dirty="0"/>
              <a:t>, используется стандартная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fread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не задано ни то, ни другое, функция возвращает ноль, что означает отсутствие источника данных.</a:t>
            </a:r>
          </a:p>
          <a:p>
            <a:r>
              <a:rPr lang="ru-RU" dirty="0"/>
              <a:t>Аналогично устроена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StreamWrite</a:t>
            </a:r>
            <a:r>
              <a:rPr lang="ru-RU" dirty="0"/>
              <a:t>. Она либо вызывает пользовательскую функцию записи, либо использует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fwrite</a:t>
            </a:r>
            <a:r>
              <a:rPr lang="ru-RU" dirty="0"/>
              <a:t>, либо ничего не делает, если поток не настроен.</a:t>
            </a:r>
          </a:p>
          <a:p>
            <a:endParaRPr lang="ru-RU" dirty="0"/>
          </a:p>
          <a:p>
            <a:r>
              <a:rPr lang="ru-RU" dirty="0"/>
              <a:t>Таким образом, один и тот же интерфейс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StreamRead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StreamWrite</a:t>
            </a:r>
            <a:r>
              <a:rPr lang="ru-RU" dirty="0"/>
              <a:t> может работать с разными источниками данных, а конкретное поведение определяется содержимым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</a:t>
            </a:r>
            <a:r>
              <a:rPr lang="ru-RU" dirty="0"/>
              <a:t> во время выполнения.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40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конкретную реализацию потока, который работает с данными в памяти.</a:t>
            </a:r>
          </a:p>
          <a:p>
            <a:endParaRPr lang="ru-RU" dirty="0"/>
          </a:p>
          <a:p>
            <a:r>
              <a:rPr lang="ru-RU" dirty="0"/>
              <a:t>Мы вводим структуру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MemoryStream</a:t>
            </a:r>
            <a:r>
              <a:rPr lang="ru-RU" dirty="0"/>
              <a:t>, которая хранит состояние такого потока. В ней есть указатель на буфер, общий размер буфера и текущая позиция чтения или записи.</a:t>
            </a:r>
          </a:p>
          <a:p>
            <a:endParaRPr lang="ru-RU" dirty="0"/>
          </a:p>
          <a:p>
            <a:r>
              <a:rPr lang="ru-RU" dirty="0"/>
              <a:t>Далее реализуется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MemoryRead</a:t>
            </a:r>
            <a:r>
              <a:rPr lang="ru-RU" dirty="0"/>
              <a:t>. Она получает универсальный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ru-RU" dirty="0"/>
              <a:t>, который мы приводим к типу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MemoryStream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 Это и есть тот самый контекст, о котором мы говорили ранее.</a:t>
            </a:r>
          </a:p>
          <a:p>
            <a:endParaRPr lang="ru-RU" dirty="0"/>
          </a:p>
          <a:p>
            <a:r>
              <a:rPr lang="ru-RU" dirty="0"/>
              <a:t>После этого определяется, сколько данных доступно для чтения, исходя из текущей позиции. Если запрошенный размер больше доступного, он ограничивается.</a:t>
            </a:r>
          </a:p>
          <a:p>
            <a:endParaRPr lang="ru-RU" dirty="0"/>
          </a:p>
          <a:p>
            <a:r>
              <a:rPr lang="ru-RU" dirty="0"/>
              <a:t>Затем выполняется копирование данных из буфера в память, переданную пользователем, и обновляется текущая позиция.</a:t>
            </a:r>
          </a:p>
          <a:p>
            <a:endParaRPr lang="ru-RU" dirty="0"/>
          </a:p>
          <a:p>
            <a:r>
              <a:rPr lang="ru-RU" dirty="0"/>
              <a:t>Таким образом, эта функция реализует чтение из памяти, но при этом полностью соответствует общему интерфейсу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ReadFunction</a:t>
            </a:r>
            <a:r>
              <a:rPr lang="ru-RU" dirty="0"/>
              <a:t>. Это означает, что её можно передать в структуру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</a:t>
            </a:r>
            <a:r>
              <a:rPr lang="ru-RU" dirty="0"/>
              <a:t>, и остальной код сможет работать с памятью точно так же, как с файлом, не зная деталей реализации.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75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MemoryWrite</a:t>
            </a:r>
            <a:r>
              <a:rPr lang="ru-RU" dirty="0"/>
              <a:t> реализует запись данных в поток, который работает с буфером в памяти.</a:t>
            </a:r>
          </a:p>
          <a:p>
            <a:r>
              <a:rPr lang="ru-RU" dirty="0"/>
              <a:t>Как и в случае с чтением, функция получает универсальный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</a:t>
            </a:r>
            <a:r>
              <a:rPr lang="ru-RU" dirty="0"/>
              <a:t>, который приводится к типу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MemoryStream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 Через него мы получаем доступ к состоянию потока: буферу, его размеру и текущей позиции.</a:t>
            </a:r>
          </a:p>
          <a:p>
            <a:endParaRPr lang="ru-RU" dirty="0"/>
          </a:p>
          <a:p>
            <a:r>
              <a:rPr lang="ru-RU" dirty="0"/>
              <a:t>Далее вычисляется, сколько байт ещё доступно для записи. Если запрошенный размер превышает доступное пространство, он ограничивается.</a:t>
            </a:r>
          </a:p>
          <a:p>
            <a:endParaRPr lang="ru-RU" dirty="0"/>
          </a:p>
          <a:p>
            <a:r>
              <a:rPr lang="ru-RU" dirty="0"/>
              <a:t>После этого данные копируются из пользовательского буфера в память потока, начиная с текущей позиции. Затем позиция обновляется.</a:t>
            </a:r>
          </a:p>
          <a:p>
            <a:endParaRPr lang="ru-RU" dirty="0"/>
          </a:p>
          <a:p>
            <a:r>
              <a:rPr lang="ru-RU" dirty="0"/>
              <a:t>Таким образом, функция записывает данные в память, соблюдая границы буфера.</a:t>
            </a:r>
          </a:p>
          <a:p>
            <a:endParaRPr lang="ru-RU" dirty="0"/>
          </a:p>
          <a:p>
            <a:r>
              <a:rPr lang="ru-RU" dirty="0"/>
              <a:t>Важно, что эта функция также соответствует общему интерфейсу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WriteFunction</a:t>
            </a:r>
            <a:r>
              <a:rPr lang="ru-RU" dirty="0"/>
              <a:t>. Это позволяет использовать её через абстракцию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</a:t>
            </a:r>
            <a:r>
              <a:rPr lang="ru-RU" dirty="0"/>
              <a:t>, не изменяя остальной код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31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использования.</a:t>
            </a:r>
          </a:p>
          <a:p>
            <a:r>
              <a:rPr lang="ru-RU" dirty="0"/>
              <a:t>Сначала создаётся буфер в памяти и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MemoryStream</a:t>
            </a:r>
            <a:r>
              <a:rPr lang="ru-RU" dirty="0"/>
              <a:t>, которая описывает состояние потока: сам буфер, его размер и текущую позицию.</a:t>
            </a:r>
          </a:p>
          <a:p>
            <a:endParaRPr lang="ru-RU" dirty="0"/>
          </a:p>
          <a:p>
            <a:r>
              <a:rPr lang="ru-RU" dirty="0"/>
              <a:t>Затем создаётся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</a:t>
            </a:r>
            <a:r>
              <a:rPr lang="ru-RU" dirty="0"/>
              <a:t>. Обратите внимание, что в него передаётся контекст —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MemoryStream</a:t>
            </a:r>
            <a:r>
              <a:rPr lang="ru-RU" dirty="0"/>
              <a:t>, а также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MemoryRead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MemoryWrite</a:t>
            </a:r>
            <a:r>
              <a:rPr lang="ru-RU" dirty="0"/>
              <a:t>.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dirty="0"/>
              <a:t> при этом равно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ru-RU" dirty="0"/>
              <a:t>, поскольку мы не работаем с файлом.</a:t>
            </a:r>
          </a:p>
          <a:p>
            <a:endParaRPr lang="ru-RU" dirty="0"/>
          </a:p>
          <a:p>
            <a:r>
              <a:rPr lang="ru-RU" dirty="0"/>
              <a:t>Далее через универсальный интерфейс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StreamWrite</a:t>
            </a:r>
            <a:r>
              <a:rPr lang="ru-RU" dirty="0"/>
              <a:t> в поток записывается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r>
              <a:rPr lang="ru-RU" dirty="0"/>
              <a:t>. При этом вызывается именно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MemoryWrite</a:t>
            </a:r>
            <a:r>
              <a:rPr lang="ru-RU" dirty="0"/>
              <a:t>, хотя сам вызов идёт через общий интерфейс.</a:t>
            </a:r>
          </a:p>
          <a:p>
            <a:r>
              <a:rPr lang="ru-RU" dirty="0"/>
              <a:t>После этого позиция сбрасывается в начало, и выполняется чтение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StreamRead</a:t>
            </a:r>
            <a:r>
              <a:rPr lang="ru-RU" dirty="0"/>
              <a:t>. Аналогично, внутри будет вызвана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MemoryRead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результате программа выводит прочитанные данные.</a:t>
            </a:r>
          </a:p>
          <a:p>
            <a:r>
              <a:rPr lang="ru-RU" dirty="0"/>
              <a:t>Важно, что код, который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StreamRead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StreamWrite</a:t>
            </a:r>
            <a:r>
              <a:rPr lang="ru-RU" dirty="0"/>
              <a:t>, не знает, что работает с памятью, а не с файлом. Поведение определяется содержимым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</a:t>
            </a:r>
            <a:r>
              <a:rPr lang="ru-RU" dirty="0"/>
              <a:t>.</a:t>
            </a:r>
          </a:p>
          <a:p>
            <a:r>
              <a:rPr lang="ru-RU" dirty="0"/>
              <a:t>Это и есть пример полиморфного поведения на языке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86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предыдущем примере мы рассматривали, как один и тот же интерфейс может работать с разными источниками данных.</a:t>
            </a:r>
          </a:p>
          <a:p>
            <a:endParaRPr lang="ru-RU" dirty="0"/>
          </a:p>
          <a:p>
            <a:r>
              <a:rPr lang="ru-RU" dirty="0"/>
              <a:t>Теперь задача немного другая.</a:t>
            </a:r>
          </a:p>
          <a:p>
            <a:r>
              <a:rPr lang="ru-RU" dirty="0"/>
              <a:t>У нас есть разные типы объектов — например, круг и прямоугольник. При этом мы хотим выполнять над ними одни и те же операции, такие как рисование или вычисление площади.</a:t>
            </a:r>
          </a:p>
          <a:p>
            <a:endParaRPr lang="ru-RU" dirty="0"/>
          </a:p>
          <a:p>
            <a:r>
              <a:rPr lang="ru-RU" dirty="0"/>
              <a:t>Важно, что клиентский код не должен зависеть от конкретного типа фигуры.</a:t>
            </a:r>
          </a:p>
          <a:p>
            <a:r>
              <a:rPr lang="ru-RU" dirty="0"/>
              <a:t>В объектно-ориентированных языках эта задача решается с помощью классов и виртуальных функций.</a:t>
            </a:r>
          </a:p>
          <a:p>
            <a:endParaRPr lang="ru-RU" dirty="0"/>
          </a:p>
          <a:p>
            <a:r>
              <a:rPr lang="ru-RU" dirty="0"/>
              <a:t>В языке C мы можем реализовать аналогичный механизм вручную, используя указатели на функции и таблицу виртуальных функций.</a:t>
            </a:r>
          </a:p>
          <a:p>
            <a:r>
              <a:rPr lang="ru-RU" dirty="0"/>
              <a:t>Основная идея состоит в том, чтобы описать общий интерфейс, скрыть детали реализации и выбирать конкретное поведение во время выполнения.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24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интерфейс модуля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shapes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 объявлен как неполный, то есть его структура скрыта от пользователя. Это означает, что клиентский код не знает, как устроена фигура внутри, и может работать с ней только через предоставленные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определяем общий набор операций: рисование и вычисление площади. Эти функции принимают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, не уточняя конкретный тип фигуры.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Создание объектов выполняется через фабричные функции,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CreateCircle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CreateRectangle</a:t>
            </a:r>
            <a:r>
              <a:rPr lang="ru-RU" dirty="0"/>
              <a:t>. Они возвращают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, что позволяет работать с разными фигурами единообразно.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клиентский код оперирует абстракцией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, не завися от конкретной реализации.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58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реализована абстракция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 внутри модуля.</a:t>
            </a:r>
          </a:p>
          <a:p>
            <a:r>
              <a:rPr lang="ru-RU" dirty="0"/>
              <a:t>Сначала определяются типы указателей на функции: одна функция отвечает за рисование, другая — за вычисление площади. Обе функции принимают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.</a:t>
            </a:r>
          </a:p>
          <a:p>
            <a:r>
              <a:rPr lang="ru-RU" dirty="0"/>
              <a:t>Далее вводится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ShapeVtbl</a:t>
            </a:r>
            <a:r>
              <a:rPr lang="ru-RU" dirty="0"/>
              <a:t> — это аналог таблицы виртуальных функций. Она хранит указатели на функции, реализующие поведение фигуры.</a:t>
            </a:r>
          </a:p>
          <a:p>
            <a:r>
              <a:rPr lang="ru-RU" dirty="0"/>
              <a:t>Каждый конкретный тип фигуры будет иметь свою такую таблицу.</a:t>
            </a:r>
          </a:p>
          <a:p>
            <a:endParaRPr lang="ru-RU" dirty="0"/>
          </a:p>
          <a:p>
            <a:r>
              <a:rPr lang="ru-RU" dirty="0"/>
              <a:t>Теперь ключевой момент.</a:t>
            </a:r>
          </a:p>
          <a:p>
            <a:r>
              <a:rPr lang="ru-RU" dirty="0"/>
              <a:t>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 содержит указатель на эту таблицу виртуальных функций и дополнительные общие данные — в данном случае цвет.</a:t>
            </a:r>
          </a:p>
          <a:p>
            <a:endParaRPr lang="ru-RU" dirty="0"/>
          </a:p>
          <a:p>
            <a:r>
              <a:rPr lang="ru-RU" dirty="0"/>
              <a:t>Таким образом,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 не содержит конкретной реализации операций, а лишь ссылку на набор функций, которые эту реализацию определяют.</a:t>
            </a:r>
          </a:p>
          <a:p>
            <a:endParaRPr lang="ru-RU" dirty="0"/>
          </a:p>
          <a:p>
            <a:r>
              <a:rPr lang="ru-RU" dirty="0"/>
              <a:t>При вызове,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ShapeDraw</a:t>
            </a:r>
            <a:r>
              <a:rPr lang="ru-RU" dirty="0"/>
              <a:t>, фактически происходит обращение к функции через таблицу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vtbl</a:t>
            </a:r>
            <a:r>
              <a:rPr lang="ru-RU" dirty="0"/>
              <a:t>.</a:t>
            </a:r>
          </a:p>
          <a:p>
            <a:r>
              <a:rPr lang="ru-RU" dirty="0"/>
              <a:t>Это и есть механизм, который позволяет выбирать поведение во время выполнения и реализовать полиморфизм в языке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50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рассмотрим, как реализованы операции над фигурами.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ShapeDraw</a:t>
            </a:r>
            <a:r>
              <a:rPr lang="ru-RU" dirty="0"/>
              <a:t> не знает, с каким конкретно типом фигуры она работает. Вместо этого она обращается к таблице виртуальных функций и вызывает соответствующую функцию рисования.</a:t>
            </a:r>
          </a:p>
          <a:p>
            <a:endParaRPr lang="ru-RU" dirty="0"/>
          </a:p>
          <a:p>
            <a:r>
              <a:rPr lang="ru-RU" dirty="0"/>
              <a:t>Аналогично устроена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ShapeGetArea</a:t>
            </a:r>
            <a:r>
              <a:rPr lang="ru-RU" dirty="0"/>
              <a:t>. Она вызывает функцию вычисления площади через указатель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vtbl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конкретная реализация выбирается во время выполнения в зависимости от того, какая таблица виртуальных функций связана с объектом.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DestroyShape</a:t>
            </a:r>
            <a:r>
              <a:rPr lang="ru-RU" dirty="0"/>
              <a:t> освобождает память, выделенную под объект. В данном примере все фигуры создаются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, поэтому для их удаления достаточно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ru-RU" dirty="0"/>
              <a:t>.</a:t>
            </a:r>
          </a:p>
          <a:p>
            <a:r>
              <a:rPr lang="ru-RU" dirty="0"/>
              <a:t>Важно, что клиентский код также не знает конкретный тип фигуры и работает с ними через единый интерфейс.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755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реализацию конкретного типа фигуры — окружности.</a:t>
            </a:r>
          </a:p>
          <a:p>
            <a:endParaRPr lang="ru-RU" dirty="0"/>
          </a:p>
          <a:p>
            <a:r>
              <a:rPr lang="ru-RU" dirty="0"/>
              <a:t>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dirty="0"/>
              <a:t> начинается с поля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dirty="0"/>
              <a:t>. Это принципиально важно. Благодаря тому, что базовая структура находится первым полем,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dirty="0"/>
              <a:t> можно безопасно рассматривать как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. И наоборот, внутри реализации мы можем привести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обратно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, если знаем реальный тип объекта.</a:t>
            </a:r>
          </a:p>
          <a:p>
            <a:endParaRPr lang="ru-RU" dirty="0"/>
          </a:p>
          <a:p>
            <a:r>
              <a:rPr lang="ru-RU" dirty="0"/>
              <a:t>Далее в структуре располагаются поля, специфичные для окружности: центр и радиус.</a:t>
            </a:r>
          </a:p>
          <a:p>
            <a:endParaRPr lang="ru-RU" dirty="0"/>
          </a:p>
          <a:p>
            <a:r>
              <a:rPr lang="ru-RU" dirty="0"/>
              <a:t>Теперь посмотрим на функции.</a:t>
            </a:r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DrawCircle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GetCircleArea</a:t>
            </a:r>
            <a:r>
              <a:rPr lang="ru-RU" dirty="0"/>
              <a:t> объявлены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. Это означает, что они являются внутренними деталями реализации модуля и недоступны снаружи. Пользователь модуля не может вызвать их напрямую, он работает только через интерфейс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Обе функции принимают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. Внутри они приводят его к типу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, чтобы получить доступ к полям конкретной структуры. Таким образом, несмотря на единый интерфейс, каждая функция знает, с каким именно типом объекта она работает, и использует соответствующие данные.</a:t>
            </a:r>
          </a:p>
          <a:p>
            <a:endParaRPr lang="ru-RU" dirty="0"/>
          </a:p>
          <a:p>
            <a:r>
              <a:rPr lang="ru-RU" dirty="0"/>
              <a:t>Это и есть ключевой механизм: снаружи у нас абстракция, внутри — конкретная реализация.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78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рассмотрим, как создаётся объект окружности.</a:t>
            </a:r>
          </a:p>
          <a:p>
            <a:r>
              <a:rPr lang="ru-RU" dirty="0"/>
              <a:t>Сначала определяется таблица виртуальных функций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g_circleVTbl</a:t>
            </a:r>
            <a:r>
              <a:rPr lang="ru-RU" dirty="0"/>
              <a:t>. Она содержит указатели на функции, реализующие поведение окружности — рисование и вычисление площади. Таблица объявлена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, поскольку это внутренняя деталь реализации модуля.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Далее идёт фабричная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CreateCircle</a:t>
            </a:r>
            <a:r>
              <a:rPr lang="ru-RU" dirty="0"/>
              <a:t>.</a:t>
            </a:r>
          </a:p>
          <a:p>
            <a:r>
              <a:rPr lang="ru-RU" dirty="0"/>
              <a:t>Она выделяет память под структуру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ru-RU" dirty="0"/>
              <a:t>. После этого обязательно инициализируется базовая часть структуры.</a:t>
            </a:r>
          </a:p>
          <a:p>
            <a:r>
              <a:rPr lang="ru-RU" dirty="0"/>
              <a:t>Это ключевой момент: мы должны записать корректный указатель на таблицу виртуальных функций в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vtbl</a:t>
            </a:r>
            <a:r>
              <a:rPr lang="ru-RU" dirty="0"/>
              <a:t>. Именно через него в дальнейшем будет выбираться поведение объекта.</a:t>
            </a:r>
          </a:p>
          <a:p>
            <a:r>
              <a:rPr lang="ru-RU" dirty="0"/>
              <a:t>Также инициализируются общие данные, такие как цвет, и специфичные для окружности поля — центр и радиус.</a:t>
            </a:r>
          </a:p>
          <a:p>
            <a:endParaRPr lang="ru-RU" dirty="0"/>
          </a:p>
          <a:p>
            <a:r>
              <a:rPr lang="ru-RU" dirty="0"/>
              <a:t>В конце функция возвращает указатель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</a:t>
            </a:r>
          </a:p>
          <a:p>
            <a:r>
              <a:rPr lang="ru-RU" dirty="0"/>
              <a:t>Это возможно потому,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 является первым полем структуры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dirty="0"/>
              <a:t>. Поэтому адрес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</a:t>
            </a:r>
            <a:r>
              <a:rPr lang="ru-RU" dirty="0"/>
              <a:t> совпадает с адресом его базовой части, и такое приведение корректно.</a:t>
            </a:r>
          </a:p>
          <a:p>
            <a:r>
              <a:rPr lang="ru-RU" dirty="0"/>
              <a:t>В результате снаружи мы получаем указатель на абстрактную фигуру, не зная, что это именно окружность.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787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Реализация прямоугольника полностью аналогична окружности.</a:t>
            </a:r>
          </a:p>
          <a:p>
            <a:endParaRPr lang="ru-RU" dirty="0"/>
          </a:p>
          <a:p>
            <a:r>
              <a:rPr lang="ru-RU" dirty="0"/>
              <a:t>Структура также начинается с базовой части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, что позволяет использовать общий интерфейс. Далее идут поля, специфичные для прямоугольника: координаты, ширина и высота.</a:t>
            </a:r>
          </a:p>
          <a:p>
            <a:endParaRPr lang="ru-RU" dirty="0"/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DrawRectangle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GetRectangleArea</a:t>
            </a:r>
            <a:r>
              <a:rPr lang="ru-RU" dirty="0"/>
              <a:t> объявлены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 и являются внутренними деталями модуля. Они принимают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 и приводят его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, чтобы работать с конкретными данными.</a:t>
            </a:r>
          </a:p>
          <a:p>
            <a:endParaRPr lang="ru-RU" dirty="0"/>
          </a:p>
          <a:p>
            <a:r>
              <a:rPr lang="ru-RU" dirty="0"/>
              <a:t>Таким образом, для каждого типа фигуры определяется собственная реализация операций, но используется единый интерфейс.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300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Инициализация прямоугольника полностью аналогична окружности.</a:t>
            </a:r>
          </a:p>
          <a:p>
            <a:r>
              <a:rPr lang="ru-RU" dirty="0"/>
              <a:t>Определяется собственная таблица виртуальных функций, в которой указаны реализации рисования и вычисления площади для прямоугольника.</a:t>
            </a:r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CreateRectangle</a:t>
            </a:r>
            <a:r>
              <a:rPr lang="ru-RU" dirty="0"/>
              <a:t> выделяется память, затем инициализируется базовая часть структуры: записывается указатель на таблицу виртуальных функций и общий цвет.</a:t>
            </a:r>
          </a:p>
          <a:p>
            <a:endParaRPr lang="ru-RU" dirty="0"/>
          </a:p>
          <a:p>
            <a:r>
              <a:rPr lang="ru-RU" dirty="0"/>
              <a:t>После этого заполняются поля, специфичные для прямоугольника.</a:t>
            </a:r>
          </a:p>
          <a:p>
            <a:r>
              <a:rPr lang="ru-RU" dirty="0"/>
              <a:t>В конце возвращается указатель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, что позволяет использовать объект через общий интерфейс, не зная его конкретного типа.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355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это выглядит с точки зрения клиентского кода.</a:t>
            </a:r>
          </a:p>
          <a:p>
            <a:endParaRPr lang="ru-RU" dirty="0"/>
          </a:p>
          <a:p>
            <a:r>
              <a:rPr lang="ru-RU" dirty="0"/>
              <a:t>В массиве хранятся указатели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, при этом внутри находятся разные типы объектов — окружность и прямоугольник. Клиентский код не знает их конкретного типа и работает с ними единообразно.</a:t>
            </a:r>
          </a:p>
          <a:p>
            <a:endParaRPr lang="ru-RU" dirty="0"/>
          </a:p>
          <a:p>
            <a:r>
              <a:rPr lang="ru-RU" dirty="0"/>
              <a:t>В цикле вызываются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ShapeDraw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ShapeGetArea</a:t>
            </a:r>
            <a:r>
              <a:rPr lang="ru-RU" dirty="0"/>
              <a:t>. Эти функции используют таблицу виртуальных функций, чтобы выбрать правильную реализацию для каждого объекта.</a:t>
            </a:r>
          </a:p>
          <a:p>
            <a:endParaRPr lang="ru-RU" dirty="0"/>
          </a:p>
          <a:p>
            <a:r>
              <a:rPr lang="ru-RU" dirty="0"/>
              <a:t>Таким образом, один и тот же код работает с разными типами фигур.</a:t>
            </a:r>
          </a:p>
          <a:p>
            <a:r>
              <a:rPr lang="ru-RU" dirty="0"/>
              <a:t>Это и есть полиморфизм: конкретная реализация выбирается во время выполнения, а интерфейс остаётся общим.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540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мы сделали важный шаг в понимании языка C.</a:t>
            </a:r>
          </a:p>
          <a:p>
            <a:endParaRPr lang="ru-RU" dirty="0"/>
          </a:p>
          <a:p>
            <a:r>
              <a:rPr lang="ru-RU" dirty="0"/>
              <a:t>Мы начали с простой идеи — передавать функции как аргументы — и пришли к более общей концепции: функции можно рассматривать как данные и использовать для управления поведением программы.</a:t>
            </a:r>
          </a:p>
          <a:p>
            <a:endParaRPr lang="ru-RU" dirty="0"/>
          </a:p>
          <a:p>
            <a:r>
              <a:rPr lang="ru-RU" dirty="0"/>
              <a:t>Сначала мы отделили алгоритм от логики сравнения, а затем обобщили эту идею, научившись хранить указатели на функции внутри структур.</a:t>
            </a:r>
          </a:p>
          <a:p>
            <a:endParaRPr lang="ru-RU" dirty="0"/>
          </a:p>
          <a:p>
            <a:r>
              <a:rPr lang="ru-RU" dirty="0"/>
              <a:t>В результате мы реализовали механизм, аналогичный виртуальным функциям: один интерфейс работает с разными типами объектов, а конкретная реализация выбирается во время выполнения.</a:t>
            </a:r>
          </a:p>
          <a:p>
            <a:endParaRPr lang="ru-RU" dirty="0"/>
          </a:p>
          <a:p>
            <a:r>
              <a:rPr lang="ru-RU" dirty="0"/>
              <a:t>Это позволяет писать более универсальный и расширяемый код, не зависящий от конкретных типов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19BF3-5C08-4C43-AB38-CA4C8226EF8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8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973F-EF93-ABF6-8367-2EEFE6581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25251-9C5C-7686-DC30-1BEE79529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3DE81-D152-294A-1D19-D7812AF7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1A0D-4D5E-BDD8-934E-84A42E8C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26440-0787-35F6-F34D-C1CEA217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7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10EA-9CF1-FC94-9F21-558A388C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BC06-D263-4911-C26F-8B9A6A797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5700F-78BB-FA7E-BAF3-11D669C5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BC25C-AC67-4B8A-3E9B-97319471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7841A-B8FD-4655-2560-4F36104A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5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FAC0B-76AF-BFE8-FFA9-7357212A2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A0663-E861-F079-0649-CC4138515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E1A94-6647-7877-AEA2-758C72A12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0DCBB-FEAE-18D3-2C0C-72B65F28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58B06-1F0E-594C-D3F5-0A94B807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38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212E-4E40-B708-3406-81F5158F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CB08-D9F8-F4CD-61D1-83C116A08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723A5-3160-0328-9103-4765A3958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EBAE4-C97E-40AD-297B-6DD36E80B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7E30B-7E0B-136A-A336-F1A545788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D1579-F79C-1E5F-B526-8A7630A8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0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BFD0-E9D4-C6B1-AA53-BF7F509BD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F835F-3341-418B-B259-70C845827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68AB8-2415-6089-0F3B-E24628947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C240F-CE9A-ABD2-7C41-DCB1806D2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BDE3C-8EFA-CCD7-211A-15AD3A2EC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774B6-D18E-3AF6-7893-63BA1CC4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18B6C-EFF9-B592-E48C-7FA22CC5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0C31D-E968-73B6-04EE-08EE3583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6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A54D2-8B1C-D1FD-FBFD-09939555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661E7-7955-817B-E6BB-0DA38769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88107-5772-1B7E-1AAD-3BEAAAC2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658F2-1014-8FEA-861A-FD13B2B6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1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E4D5E-7040-E496-19C5-3F6FFDDC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B208B-7B78-3B05-0542-90B1D95A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9829-B8D2-EAA1-EE99-1986C568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6FE2-377A-939A-39ED-7F30ABEE5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52B34-454B-3D31-480F-896C153FE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A88F4-65E9-F9F8-038A-6EAB22F7C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182E1-E5B5-C207-BE04-48D7C6F9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82363-1EDB-A739-3511-AF9F3B38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361DA-7F9A-8B99-2C7C-E6AC893D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6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4161-B283-BAEB-A57C-C14C7D80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174BD-49AE-78E9-5A54-9B848995DD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29FD4-021A-04D9-C73E-C22FB3F67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40915-BB9E-73B9-D8FA-C2D3F3FD7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AEF84-9202-6295-8241-C44D84E3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4812-4973-0B40-0989-1ABB41ED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3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035D-0AF8-69FD-F83B-C0A03AAD2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F842F-1137-6F79-DBE6-38405380B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87671-BBC9-29D2-9B24-01D203C5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7A1FA-F7D6-4000-46E4-41F29308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2026A-8FD9-6573-CED1-B2DEAE24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3F1F4-3522-4DA4-C313-3CB6FAE11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62899-7975-3ECD-252E-E84EDF48C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51D62-0D1C-5B3F-8B2B-6F731FF9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C7059-D6DC-13A3-047F-9049C714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E338F-BA8F-34FD-80E2-E5D619DC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13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97304-564D-4B41-B3CC-5DEB44F6D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BAB92-194B-9575-20D7-BDC0ECC2A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B8BF4-9060-A26E-DF1A-EED0EF4937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2E98F-87D3-45E5-8742-E1499B45130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41B24-B5C9-8582-67B8-F5E6F1ED8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92586-71F6-C2F9-4FAA-7480B2E93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4D430-E7B6-449A-A85F-BDBE40CA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5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D41A-1C50-EB9E-5F86-2396AB176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Указатели на функции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A73DD-CB93-BA10-96EF-94413671E7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3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C703-7896-EDD2-9A3F-EAFA2EE4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Пузырьковая сортировка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72E17-1059-2559-0A1B-074F5A9CEE77}"/>
              </a:ext>
            </a:extLst>
          </p:cNvPr>
          <p:cNvSpPr txBox="1"/>
          <p:nvPr/>
        </p:nvSpPr>
        <p:spPr>
          <a:xfrm>
            <a:off x="838200" y="1602768"/>
            <a:ext cx="5969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BubbleSort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441159-E8B5-9F2A-81B7-1E47C6D9A22C}"/>
              </a:ext>
            </a:extLst>
          </p:cNvPr>
          <p:cNvSpPr txBox="1"/>
          <p:nvPr/>
        </p:nvSpPr>
        <p:spPr>
          <a:xfrm>
            <a:off x="6032500" y="38369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BubbleSort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0A88D-FBC2-B600-2F9B-B56846E0F3AD}"/>
              </a:ext>
            </a:extLst>
          </p:cNvPr>
          <p:cNvSpPr txBox="1"/>
          <p:nvPr/>
        </p:nvSpPr>
        <p:spPr>
          <a:xfrm>
            <a:off x="6096000" y="6308209"/>
            <a:ext cx="21209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1 2 5 5 6 9</a:t>
            </a:r>
          </a:p>
        </p:txBody>
      </p:sp>
    </p:spTree>
    <p:extLst>
      <p:ext uri="{BB962C8B-B14F-4D97-AF65-F5344CB8AC3E}">
        <p14:creationId xmlns:p14="http://schemas.microsoft.com/office/powerpoint/2010/main" val="226759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CA3B9-93E5-D74E-25B1-94A1FA95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6A90-D572-BC22-76F2-9BC8BDE2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Сортировка по убыванию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B5056-A4F1-EE6D-3448-28B0E4914097}"/>
              </a:ext>
            </a:extLst>
          </p:cNvPr>
          <p:cNvSpPr txBox="1"/>
          <p:nvPr/>
        </p:nvSpPr>
        <p:spPr>
          <a:xfrm>
            <a:off x="838200" y="1602768"/>
            <a:ext cx="5969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BubbleSortDesc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60CE9-1BFA-F6B3-1A7B-F894931C0F2C}"/>
              </a:ext>
            </a:extLst>
          </p:cNvPr>
          <p:cNvSpPr txBox="1"/>
          <p:nvPr/>
        </p:nvSpPr>
        <p:spPr>
          <a:xfrm>
            <a:off x="6032500" y="38369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BubbleSortDesc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525642-5203-C68F-1FE1-B37FAA230181}"/>
              </a:ext>
            </a:extLst>
          </p:cNvPr>
          <p:cNvSpPr txBox="1"/>
          <p:nvPr/>
        </p:nvSpPr>
        <p:spPr>
          <a:xfrm>
            <a:off x="6096000" y="6308209"/>
            <a:ext cx="21209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9 6 5 5 2 1</a:t>
            </a:r>
          </a:p>
        </p:txBody>
      </p:sp>
    </p:spTree>
    <p:extLst>
      <p:ext uri="{BB962C8B-B14F-4D97-AF65-F5344CB8AC3E}">
        <p14:creationId xmlns:p14="http://schemas.microsoft.com/office/powerpoint/2010/main" val="1877685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E5513E-8187-7490-5B5B-6C9AFD49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с масштабированием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0F6DA-8FE5-A1BD-5A7F-358E8FC58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Хотим сортировать по-разному:</a:t>
            </a:r>
          </a:p>
          <a:p>
            <a:pPr lvl="1"/>
            <a:r>
              <a:rPr lang="ru-RU" dirty="0"/>
              <a:t>по возрастанию </a:t>
            </a:r>
          </a:p>
          <a:p>
            <a:pPr lvl="1"/>
            <a:r>
              <a:rPr lang="ru-RU" dirty="0"/>
              <a:t>по убыванию </a:t>
            </a:r>
          </a:p>
          <a:p>
            <a:pPr lvl="1"/>
            <a:r>
              <a:rPr lang="ru-RU" dirty="0"/>
              <a:t>чётные → нечётные </a:t>
            </a:r>
          </a:p>
          <a:p>
            <a:pPr lvl="1"/>
            <a:r>
              <a:rPr lang="ru-RU" dirty="0"/>
              <a:t>по модулю </a:t>
            </a:r>
          </a:p>
          <a:p>
            <a:pPr lvl="1"/>
            <a:r>
              <a:rPr lang="ru-RU" dirty="0"/>
              <a:t>по последней цифре</a:t>
            </a:r>
          </a:p>
          <a:p>
            <a:r>
              <a:rPr lang="ru-RU" dirty="0"/>
              <a:t>Наивный подход – для каждого вариант написать свою функцию</a:t>
            </a:r>
          </a:p>
          <a:p>
            <a:pPr lvl="1"/>
            <a:r>
              <a:rPr lang="en-US" dirty="0" err="1"/>
              <a:t>BubbleSortAsc</a:t>
            </a:r>
            <a:r>
              <a:rPr lang="en-US" dirty="0"/>
              <a:t>, </a:t>
            </a:r>
            <a:r>
              <a:rPr lang="en-US" dirty="0" err="1"/>
              <a:t>BubbleSortDesc</a:t>
            </a:r>
            <a:r>
              <a:rPr lang="en-US" dirty="0"/>
              <a:t>, …</a:t>
            </a:r>
          </a:p>
          <a:p>
            <a:pPr lvl="1"/>
            <a:r>
              <a:rPr lang="ru-RU" dirty="0"/>
              <a:t>Различия только в способе сравнения элементов</a:t>
            </a:r>
          </a:p>
          <a:p>
            <a:r>
              <a:rPr lang="ru-RU" dirty="0"/>
              <a:t>Дублирование кода из-за неудачного разделения ответственности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06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7287-E3CB-B23C-9DC5-D3DC712BF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Отделяем алгоритм от правила сравнения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46EA-9FA5-A9C7-1580-76147F63E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Основная идея: нам не нужно переписывать сортировку. Нужно сделать её универсальной.</a:t>
            </a:r>
          </a:p>
          <a:p>
            <a:pPr lvl="1"/>
            <a:r>
              <a:rPr lang="ru-RU" dirty="0"/>
              <a:t>Сортировка должна получать правило сравнения извне</a:t>
            </a:r>
          </a:p>
          <a:p>
            <a:r>
              <a:rPr lang="ru-RU" dirty="0"/>
              <a:t>Что такое «правило сравнения»?</a:t>
            </a:r>
          </a:p>
          <a:p>
            <a:pPr lvl="1"/>
            <a:r>
              <a:rPr lang="ru-RU" dirty="0"/>
              <a:t>Это функция, которая определяет порядок элементов: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cmp</a:t>
            </a:r>
            <a:r>
              <a:rPr lang="ru-RU" dirty="0"/>
              <a:t>(</a:t>
            </a:r>
            <a:r>
              <a:rPr lang="ru-RU" dirty="0" err="1"/>
              <a:t>int</a:t>
            </a:r>
            <a:r>
              <a:rPr lang="ru-RU" dirty="0"/>
              <a:t> a, </a:t>
            </a:r>
            <a:r>
              <a:rPr lang="ru-RU" dirty="0" err="1"/>
              <a:t>int</a:t>
            </a:r>
            <a:r>
              <a:rPr lang="ru-RU" dirty="0"/>
              <a:t> b);</a:t>
            </a:r>
          </a:p>
          <a:p>
            <a:pPr lvl="1"/>
            <a:r>
              <a:rPr lang="ru-RU" dirty="0"/>
              <a:t>которая определяет порядок элементов.</a:t>
            </a:r>
          </a:p>
          <a:p>
            <a:r>
              <a:rPr lang="ru-RU" dirty="0"/>
              <a:t>Как передать функцию в другую функцию?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22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EBD8-B4F1-6727-DA56-956DD1BD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на функцию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67D04-71C0-99DC-487E-60091F57C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Функция имеет адрес в памяти</a:t>
            </a:r>
          </a:p>
          <a:p>
            <a:pPr lvl="1"/>
            <a:r>
              <a:rPr lang="ru-RU" dirty="0"/>
              <a:t>Программа размещается в памяти</a:t>
            </a:r>
          </a:p>
          <a:p>
            <a:pPr lvl="1"/>
            <a:r>
              <a:rPr lang="ru-RU" dirty="0"/>
              <a:t>Машинный код функции занимает область памяти</a:t>
            </a:r>
          </a:p>
          <a:p>
            <a:pPr lvl="1"/>
            <a:r>
              <a:rPr lang="ru-RU" dirty="0"/>
              <a:t>У этой области есть начальный адрес</a:t>
            </a:r>
          </a:p>
          <a:p>
            <a:r>
              <a:rPr lang="ru-RU" dirty="0"/>
              <a:t>Объявление указателя на функцию:</a:t>
            </a:r>
          </a:p>
          <a:p>
            <a:pPr lvl="1"/>
            <a:r>
              <a:rPr lang="en-US" dirty="0"/>
              <a:t>int (*</a:t>
            </a:r>
            <a:r>
              <a:rPr lang="en-US" dirty="0" err="1"/>
              <a:t>cmp</a:t>
            </a:r>
            <a:r>
              <a:rPr lang="en-US" dirty="0"/>
              <a:t>)(int, int);</a:t>
            </a:r>
            <a:endParaRPr lang="ru-RU" dirty="0"/>
          </a:p>
          <a:p>
            <a:r>
              <a:rPr lang="ru-RU" dirty="0"/>
              <a:t>Как этот читать</a:t>
            </a:r>
          </a:p>
          <a:p>
            <a:pPr lvl="1"/>
            <a:r>
              <a:rPr lang="ru-RU" dirty="0" err="1"/>
              <a:t>cmp</a:t>
            </a:r>
            <a:r>
              <a:rPr lang="ru-RU" dirty="0"/>
              <a:t> — указатель </a:t>
            </a:r>
          </a:p>
          <a:p>
            <a:pPr lvl="1"/>
            <a:r>
              <a:rPr lang="ru-RU" dirty="0"/>
              <a:t>указывает на функцию с сигнатурой: </a:t>
            </a:r>
          </a:p>
          <a:p>
            <a:pPr lvl="2"/>
            <a:r>
              <a:rPr lang="ru-RU" dirty="0"/>
              <a:t>аргументы: (</a:t>
            </a:r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int</a:t>
            </a:r>
            <a:r>
              <a:rPr lang="ru-RU" dirty="0"/>
              <a:t>) </a:t>
            </a:r>
          </a:p>
          <a:p>
            <a:pPr lvl="2"/>
            <a:r>
              <a:rPr lang="ru-RU" dirty="0"/>
              <a:t>возвращаемое значение: </a:t>
            </a:r>
            <a:r>
              <a:rPr lang="ru-RU" dirty="0" err="1"/>
              <a:t>int</a:t>
            </a:r>
            <a:r>
              <a:rPr lang="ru-RU" dirty="0"/>
              <a:t> </a:t>
            </a:r>
          </a:p>
          <a:p>
            <a:r>
              <a:rPr lang="ru-RU" dirty="0"/>
              <a:t>Интерпретация:</a:t>
            </a:r>
          </a:p>
          <a:p>
            <a:pPr lvl="1"/>
            <a:r>
              <a:rPr lang="ru-RU" dirty="0" err="1"/>
              <a:t>cmp</a:t>
            </a:r>
            <a:r>
              <a:rPr lang="ru-RU" dirty="0"/>
              <a:t> хранит адрес точки входа в функцию</a:t>
            </a:r>
          </a:p>
          <a:p>
            <a:pPr lvl="1"/>
            <a:r>
              <a:rPr lang="ru-RU" dirty="0"/>
              <a:t>по этому адресу можно передать управление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5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81B6AE-5495-3D3A-1BD9-C697E16A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Сортировка с компаратором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1DFD0-1593-8546-A265-459A0E7A559E}"/>
              </a:ext>
            </a:extLst>
          </p:cNvPr>
          <p:cNvSpPr txBox="1"/>
          <p:nvPr/>
        </p:nvSpPr>
        <p:spPr>
          <a:xfrm>
            <a:off x="838200" y="1978428"/>
            <a:ext cx="107164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Указатель на функцию, которая сравнивает два элемента.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Comparator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BubbleSort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Comparator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компаратор возвращает положительное значение,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значит элементы не упорядочены, и их нужно поменять местами.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284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1BF6-BEBC-F49D-04B9-BCA9B890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Сортировка по возрастанию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6312A-E5A3-5226-BD0B-CAA3BF3146A8}"/>
              </a:ext>
            </a:extLst>
          </p:cNvPr>
          <p:cNvSpPr txBox="1"/>
          <p:nvPr/>
        </p:nvSpPr>
        <p:spPr>
          <a:xfrm>
            <a:off x="838200" y="1779687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AscendingComparator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Сортировка по возрастанию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DescendingComparator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AscendingComparator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Сортировка по убыванию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BubbleSort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AscendingComparator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094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4FB0-F9AD-270E-A506-AD1EA4347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Сортировка функцией </a:t>
            </a:r>
            <a:r>
              <a:rPr lang="en-US" dirty="0" err="1"/>
              <a:t>qsort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5F0E4-3F06-C1F8-F757-DE2387F97DEF}"/>
              </a:ext>
            </a:extLst>
          </p:cNvPr>
          <p:cNvSpPr txBox="1"/>
          <p:nvPr/>
        </p:nvSpPr>
        <p:spPr>
          <a:xfrm>
            <a:off x="838200" y="1968560"/>
            <a:ext cx="5257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Компаратор для сортировки по возрастанию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CompareAscending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*(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      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Компаратор для сортировки по убыванию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CompareDescending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CompareAscending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79FB81-0B48-528B-5654-718DA290C1B5}"/>
              </a:ext>
            </a:extLst>
          </p:cNvPr>
          <p:cNvSpPr txBox="1"/>
          <p:nvPr/>
        </p:nvSpPr>
        <p:spPr>
          <a:xfrm>
            <a:off x="6096000" y="1968560"/>
            <a:ext cx="5257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Сортировка по возрастанию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qsort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CompareAscending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Ascending: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Сортировка по убыванию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qsort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CompareDescending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Descending: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717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0EFA-7FC3-2500-F98B-CD3DF6C4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Типичные ошибки работы с указателями на функции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31A6E-8908-6004-DFB4-760988D69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Правильный тип: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(*</a:t>
            </a:r>
            <a:r>
              <a:rPr lang="ru-RU" dirty="0" err="1"/>
              <a:t>cmp</a:t>
            </a:r>
            <a:r>
              <a:rPr lang="ru-RU" dirty="0"/>
              <a:t>)(</a:t>
            </a:r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int</a:t>
            </a:r>
            <a:r>
              <a:rPr lang="ru-RU" dirty="0"/>
              <a:t>);</a:t>
            </a:r>
          </a:p>
          <a:p>
            <a:r>
              <a:rPr lang="ru-RU" dirty="0"/>
              <a:t>Ошибка: несовпадение сигнатуры</a:t>
            </a:r>
          </a:p>
          <a:p>
            <a:pPr lvl="1"/>
            <a:r>
              <a:rPr lang="en-US" dirty="0"/>
              <a:t>double foo(double a, double b);</a:t>
            </a:r>
            <a:br>
              <a:rPr lang="ru-RU" dirty="0"/>
            </a:br>
            <a:r>
              <a:rPr lang="en-US" dirty="0" err="1"/>
              <a:t>cmp</a:t>
            </a:r>
            <a:r>
              <a:rPr lang="en-US" dirty="0"/>
              <a:t> = foo; // </a:t>
            </a:r>
            <a:r>
              <a:rPr lang="ru-RU" dirty="0"/>
              <a:t>ошибка типов</a:t>
            </a:r>
          </a:p>
          <a:p>
            <a:r>
              <a:rPr lang="ru-RU" dirty="0"/>
              <a:t>Ошибка: забыли про указатель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cmp</a:t>
            </a:r>
            <a:r>
              <a:rPr lang="ru-RU" dirty="0"/>
              <a:t>(</a:t>
            </a:r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int</a:t>
            </a:r>
            <a:r>
              <a:rPr lang="ru-RU" dirty="0"/>
              <a:t>); // это объявление функции, а не указатель</a:t>
            </a:r>
          </a:p>
          <a:p>
            <a:r>
              <a:rPr lang="ru-RU" dirty="0"/>
              <a:t>Ошибка: несовпадение параметров</a:t>
            </a:r>
          </a:p>
          <a:p>
            <a:pPr lvl="1"/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foo</a:t>
            </a:r>
            <a:r>
              <a:rPr lang="ru-RU" dirty="0"/>
              <a:t>(</a:t>
            </a:r>
            <a:r>
              <a:rPr lang="ru-RU" dirty="0" err="1"/>
              <a:t>int</a:t>
            </a:r>
            <a:r>
              <a:rPr lang="ru-RU" dirty="0"/>
              <a:t> a);</a:t>
            </a:r>
          </a:p>
          <a:p>
            <a:pPr lvl="1"/>
            <a:r>
              <a:rPr lang="ru-RU" dirty="0" err="1"/>
              <a:t>cmp</a:t>
            </a:r>
            <a:r>
              <a:rPr lang="ru-RU" dirty="0"/>
              <a:t> = </a:t>
            </a:r>
            <a:r>
              <a:rPr lang="ru-RU" dirty="0" err="1"/>
              <a:t>foo</a:t>
            </a:r>
            <a:r>
              <a:rPr lang="ru-RU" dirty="0"/>
              <a:t>; // неверное количество параметров</a:t>
            </a:r>
          </a:p>
          <a:p>
            <a:r>
              <a:rPr lang="ru-RU" dirty="0"/>
              <a:t>Указатель на функцию — это строгий тип.</a:t>
            </a:r>
          </a:p>
          <a:p>
            <a:pPr lvl="1"/>
            <a:r>
              <a:rPr lang="ru-RU" dirty="0"/>
              <a:t>Должны совпадать:</a:t>
            </a:r>
          </a:p>
          <a:p>
            <a:pPr lvl="2"/>
            <a:r>
              <a:rPr lang="ru-RU" dirty="0"/>
              <a:t>тип возвращаемого значения </a:t>
            </a:r>
          </a:p>
          <a:p>
            <a:pPr lvl="2"/>
            <a:r>
              <a:rPr lang="ru-RU" dirty="0"/>
              <a:t>количество аргументов </a:t>
            </a:r>
          </a:p>
          <a:p>
            <a:pPr lvl="2"/>
            <a:r>
              <a:rPr lang="ru-RU" dirty="0"/>
              <a:t>типы аргументов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10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A0B2-1810-0DFF-11ED-A9701B0E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разными источниками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67C0F-0676-B66B-3FC1-D3E38AA181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Проблема: мы хотим читать и записывать данные:</a:t>
            </a:r>
          </a:p>
          <a:p>
            <a:pPr lvl="1"/>
            <a:r>
              <a:rPr lang="ru-RU" dirty="0"/>
              <a:t>из файла (FILE*) </a:t>
            </a:r>
          </a:p>
          <a:p>
            <a:pPr lvl="1"/>
            <a:r>
              <a:rPr lang="ru-RU" dirty="0"/>
              <a:t>из памяти (буфер) </a:t>
            </a:r>
          </a:p>
          <a:p>
            <a:pPr lvl="1"/>
            <a:r>
              <a:rPr lang="ru-RU" dirty="0"/>
              <a:t>возможно, из других источников</a:t>
            </a:r>
          </a:p>
          <a:p>
            <a:r>
              <a:rPr lang="ru-RU" dirty="0"/>
              <a:t>Наивный подход:</a:t>
            </a:r>
          </a:p>
          <a:p>
            <a:pPr lvl="1"/>
            <a:r>
              <a:rPr lang="en-US" dirty="0" err="1"/>
              <a:t>read_from_file</a:t>
            </a:r>
            <a:r>
              <a:rPr lang="en-US" dirty="0"/>
              <a:t>(...)</a:t>
            </a:r>
            <a:br>
              <a:rPr lang="en-US" dirty="0"/>
            </a:br>
            <a:r>
              <a:rPr lang="en-US" dirty="0" err="1"/>
              <a:t>read_from_memory</a:t>
            </a:r>
            <a:r>
              <a:rPr lang="en-US" dirty="0"/>
              <a:t>(...)</a:t>
            </a:r>
            <a:br>
              <a:rPr lang="en-US" dirty="0"/>
            </a:br>
            <a:r>
              <a:rPr lang="en-US" dirty="0" err="1"/>
              <a:t>write_to_file</a:t>
            </a:r>
            <a:r>
              <a:rPr lang="en-US" dirty="0"/>
              <a:t>(...)</a:t>
            </a:r>
            <a:br>
              <a:rPr lang="en-US" dirty="0"/>
            </a:br>
            <a:r>
              <a:rPr lang="en-US" dirty="0" err="1"/>
              <a:t>write_to_memory</a:t>
            </a:r>
            <a:r>
              <a:rPr lang="en-US" dirty="0"/>
              <a:t>(...)</a:t>
            </a:r>
            <a:endParaRPr lang="ru-RU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D3DBC-CD23-9B17-3AC3-C6AFA1AB3F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Недостаток:</a:t>
            </a:r>
          </a:p>
          <a:p>
            <a:pPr lvl="1"/>
            <a:r>
              <a:rPr lang="ru-RU" dirty="0"/>
              <a:t>Дублирование логики</a:t>
            </a:r>
            <a:br>
              <a:rPr lang="ru-RU" dirty="0"/>
            </a:br>
            <a:r>
              <a:rPr lang="ru-RU" dirty="0"/>
              <a:t>Нет единого интерфейса</a:t>
            </a:r>
            <a:br>
              <a:rPr lang="ru-RU" dirty="0"/>
            </a:br>
            <a:r>
              <a:rPr lang="ru-RU" dirty="0"/>
              <a:t>Код жёстко привязан к типу источника</a:t>
            </a:r>
          </a:p>
          <a:p>
            <a:r>
              <a:rPr lang="ru-RU" dirty="0"/>
              <a:t>Идея решения:</a:t>
            </a:r>
          </a:p>
          <a:p>
            <a:pPr lvl="1"/>
            <a:r>
              <a:rPr lang="ru-RU" dirty="0"/>
              <a:t>Сделать единый интерфейс чтения и записи</a:t>
            </a:r>
          </a:p>
          <a:p>
            <a:pPr lvl="1"/>
            <a:r>
              <a:rPr lang="ru-RU" dirty="0"/>
              <a:t>Передавать реализацию через указатели на функции</a:t>
            </a:r>
          </a:p>
          <a:p>
            <a:pPr lvl="1"/>
            <a:r>
              <a:rPr lang="ru-RU" dirty="0"/>
              <a:t>Хранить данные + поведение вместе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17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014D-5099-948E-0984-23811A56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Вводим абстракцию «Поток»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5F3558-44A2-9A1F-F2A6-D8C2171AE6C9}"/>
              </a:ext>
            </a:extLst>
          </p:cNvPr>
          <p:cNvSpPr txBox="1"/>
          <p:nvPr/>
        </p:nvSpPr>
        <p:spPr>
          <a:xfrm>
            <a:off x="838200" y="1830465"/>
            <a:ext cx="112318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Указатели на функции для чтения и записи данных.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ReadFunction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context,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buffer,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WriteFunction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context,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buffer,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Структура, которая представляет поток данных.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file;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Контекст, который может быть использован функциями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чтения и записи для хранения состояния потока.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context;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ReadFunction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read;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WriteFunction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write;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2669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4C21-8A9B-8449-A0AC-ACA67D6F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из потока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78D56-8836-15FE-E700-5D870981A242}"/>
              </a:ext>
            </a:extLst>
          </p:cNvPr>
          <p:cNvSpPr txBox="1"/>
          <p:nvPr/>
        </p:nvSpPr>
        <p:spPr>
          <a:xfrm>
            <a:off x="838200" y="1557684"/>
            <a:ext cx="11353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Читает данные из потока в буфер. Возвращает количество прочитанных байт.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StreamRead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указатель на функцию чтения не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NULL,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его для чтения данных.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-&gt;read !=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-&gt;read(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-&gt;context,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-&gt;file !=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Иначе читаем данные из файла.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-&gt;file);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 данных для чтения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Записывает данные из буфера в поток. Возвращает количество записанных байт.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StreamWrite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-&gt;write !=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-&gt;write(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-&gt;context,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-&gt;file !=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fwrite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-&gt;file);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 данных для записи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572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4100-E3B6-22EB-DA79-7010DBF5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Поток, работающий с массивом в памяти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21BCB-0552-3439-12EC-B816FDCB9331}"/>
              </a:ext>
            </a:extLst>
          </p:cNvPr>
          <p:cNvSpPr txBox="1"/>
          <p:nvPr/>
        </p:nvSpPr>
        <p:spPr>
          <a:xfrm>
            <a:off x="838200" y="1781402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Описывает структуру потока, который читает и пишет данные в память.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data;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на буфер данных.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Читает данные из буфера в памяти.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MemoryRead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-&gt;size -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 +=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3356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E2468-C23C-CE01-CBD8-3D7997EFE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Запись в поток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FA61E-08AD-5827-29D4-086152EBBEB9}"/>
              </a:ext>
            </a:extLst>
          </p:cNvPr>
          <p:cNvSpPr txBox="1"/>
          <p:nvPr/>
        </p:nvSpPr>
        <p:spPr>
          <a:xfrm>
            <a:off x="838200" y="1997839"/>
            <a:ext cx="97717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MemoryWrite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-&gt;size -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-&gt;data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 +=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444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591C-16BC-C38B-5B42-3C6C0997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использования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DA84B-E520-4427-6F61-164961C78595}"/>
              </a:ext>
            </a:extLst>
          </p:cNvPr>
          <p:cNvSpPr txBox="1"/>
          <p:nvPr/>
        </p:nvSpPr>
        <p:spPr>
          <a:xfrm>
            <a:off x="838200" y="1589088"/>
            <a:ext cx="869768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storage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MemoryStream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storage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storage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.file 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.context = 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.read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MemoryRead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.write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MemoryWrite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StreamWrite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mem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.pos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StreamRead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bytes: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5446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EED8-3339-5F6F-31CE-08139A05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Разные объекты – единый интерфейс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FAB8-F742-8F37-C6F5-535E30844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Как работать с разными объектами через единый интерфейс</a:t>
            </a:r>
            <a:r>
              <a:rPr lang="en-US" dirty="0"/>
              <a:t>?</a:t>
            </a:r>
          </a:p>
          <a:p>
            <a:r>
              <a:rPr lang="ru-RU" dirty="0"/>
              <a:t>Проблема: у нас есть разные типы фигур:</a:t>
            </a:r>
          </a:p>
          <a:p>
            <a:pPr lvl="1"/>
            <a:r>
              <a:rPr lang="ru-RU" dirty="0"/>
              <a:t>круг </a:t>
            </a:r>
          </a:p>
          <a:p>
            <a:pPr lvl="1"/>
            <a:r>
              <a:rPr lang="ru-RU" dirty="0"/>
              <a:t>прямоугольник </a:t>
            </a:r>
          </a:p>
          <a:p>
            <a:pPr lvl="1"/>
            <a:r>
              <a:rPr lang="ru-RU" dirty="0"/>
              <a:t>(в будущем — любые другие) </a:t>
            </a:r>
          </a:p>
          <a:p>
            <a:r>
              <a:rPr lang="ru-RU" dirty="0"/>
              <a:t>Требование:</a:t>
            </a:r>
          </a:p>
          <a:p>
            <a:pPr lvl="1"/>
            <a:r>
              <a:rPr lang="ru-RU" dirty="0"/>
              <a:t>выполнять одни и те же операции</a:t>
            </a:r>
            <a:r>
              <a:rPr lang="en-US" dirty="0"/>
              <a:t> </a:t>
            </a:r>
            <a:r>
              <a:rPr lang="ru-RU" dirty="0"/>
              <a:t>по-разному для разных типов фигур:</a:t>
            </a:r>
          </a:p>
          <a:p>
            <a:pPr lvl="2"/>
            <a:r>
              <a:rPr lang="ru-RU" dirty="0"/>
              <a:t>рисование </a:t>
            </a:r>
          </a:p>
          <a:p>
            <a:pPr lvl="2"/>
            <a:r>
              <a:rPr lang="ru-RU" dirty="0"/>
              <a:t>вычисление площади </a:t>
            </a:r>
          </a:p>
          <a:p>
            <a:pPr lvl="1"/>
            <a:r>
              <a:rPr lang="ru-RU" dirty="0"/>
              <a:t>хранить фигуры разного типа в одной коллекции</a:t>
            </a:r>
          </a:p>
          <a:p>
            <a:r>
              <a:rPr lang="ru-RU" dirty="0"/>
              <a:t>Ограничение:</a:t>
            </a:r>
            <a:r>
              <a:rPr lang="en-US" dirty="0"/>
              <a:t> </a:t>
            </a:r>
            <a:r>
              <a:rPr lang="ru-RU" dirty="0"/>
              <a:t>клиентский код не должен знать конкретный тип фигуры</a:t>
            </a:r>
          </a:p>
          <a:p>
            <a:r>
              <a:rPr lang="ru-RU" dirty="0"/>
              <a:t>Идея решения:</a:t>
            </a:r>
          </a:p>
          <a:p>
            <a:pPr lvl="1"/>
            <a:r>
              <a:rPr lang="ru-RU" dirty="0"/>
              <a:t>описать общий интерфейс (</a:t>
            </a:r>
            <a:r>
              <a:rPr lang="ru-RU" dirty="0" err="1"/>
              <a:t>Shape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скрыть реализацию (</a:t>
            </a:r>
            <a:r>
              <a:rPr lang="ru-RU" dirty="0" err="1"/>
              <a:t>opaque</a:t>
            </a:r>
            <a:r>
              <a:rPr lang="ru-RU" dirty="0"/>
              <a:t> </a:t>
            </a:r>
            <a:r>
              <a:rPr lang="ru-RU" dirty="0" err="1"/>
              <a:t>type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хранить указатели на функции в таблице</a:t>
            </a:r>
          </a:p>
          <a:p>
            <a:pPr lvl="1"/>
            <a:r>
              <a:rPr lang="ru-RU" dirty="0"/>
              <a:t>выбирать реализацию во время выполнения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13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0CC3F9-2074-38E7-670A-C324A72A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модуля </a:t>
            </a:r>
            <a:r>
              <a:rPr lang="en-US" dirty="0"/>
              <a:t>shapes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0AC48-0F77-EE47-3A03-5A93ABB9E7D9}"/>
              </a:ext>
            </a:extLst>
          </p:cNvPr>
          <p:cNvSpPr txBox="1"/>
          <p:nvPr/>
        </p:nvSpPr>
        <p:spPr>
          <a:xfrm>
            <a:off x="838200" y="1379577"/>
            <a:ext cx="10284229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#ifndef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SHAPES_H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SHAPES_H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stdint.h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ShapeGetArea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CreateCircle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DestroyShape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#endif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SHAPES_H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159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B335-E0FB-15FE-3E89-309D0590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модуля </a:t>
            </a:r>
            <a:r>
              <a:rPr lang="en-US" dirty="0"/>
              <a:t>shapes</a:t>
            </a:r>
            <a:r>
              <a:rPr lang="ru-RU" dirty="0"/>
              <a:t>:  абстрактная фигура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6FCAF-98D6-AC11-0699-DD4E08CE7FCA}"/>
              </a:ext>
            </a:extLst>
          </p:cNvPr>
          <p:cNvSpPr txBox="1"/>
          <p:nvPr/>
        </p:nvSpPr>
        <p:spPr>
          <a:xfrm>
            <a:off x="838199" y="1845425"/>
            <a:ext cx="1051560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shapes.h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Указатели на функции для рисования фигуры и получения ее площади.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DrawShapeFunc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self);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GetShapeAreaFunc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self);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Аналог таблицы виртуальных функций.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Хранит указатели на функции обработки фигур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DrawShapeFunc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draw;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GetShapeAreaFunc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ShapeVtbl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Абстрактная фигура хранит лишь указатель на таблицу виртуальных функций и цвет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ShapeVtbl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vtbl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00860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75D9E-C5B5-19FC-CA39-67C2E10E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фигурами и их удаление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43150-23B6-636A-B0E5-5A0F330F46F1}"/>
              </a:ext>
            </a:extLst>
          </p:cNvPr>
          <p:cNvSpPr txBox="1"/>
          <p:nvPr/>
        </p:nvSpPr>
        <p:spPr>
          <a:xfrm>
            <a:off x="838200" y="1928553"/>
            <a:ext cx="11049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рисования фигуры вызываем функцию из таблицы виртуальных функций.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vtbl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-&gt;draw(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ShapeGetArea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получения площади фигуры вызываем функцию из таблицы виртуальных функций.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vtbl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DestroyShape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Фигуры выделяются через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malloc,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поэтому для их уничтожения используем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free.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9088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F162-366A-5952-2474-86A949D2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Окружность и её виртуальные функции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545B5-3E05-E54E-8943-7725F23F843C}"/>
              </a:ext>
            </a:extLst>
          </p:cNvPr>
          <p:cNvSpPr txBox="1"/>
          <p:nvPr/>
        </p:nvSpPr>
        <p:spPr>
          <a:xfrm>
            <a:off x="838200" y="1595021"/>
            <a:ext cx="108661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Первое поле структуры - это базовая структура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Shape,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что позволяет безопасно</a:t>
            </a:r>
          </a:p>
          <a:p>
            <a:pPr>
              <a:buNone/>
            </a:pP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приводить указатель на поле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 указателю на всю структуру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Circle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обратно.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Специфичные для окружности данные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center;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radius;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Получаем указатель на структуру из указателя на ее первое поле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Circle: center=(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), radius=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color=#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%.2X%.2X%.2X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center.y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-&gt;radius,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color.r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color.g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color.b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GetCircleArea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Аналогично для получения площади окружности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3.141592653589793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-&gt;radius 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-&gt;radius;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9117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9B1C-AE8D-1746-39F7-69B35C42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окружности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A90FE-AAA9-F6AC-7137-3A9BF51197E0}"/>
              </a:ext>
            </a:extLst>
          </p:cNvPr>
          <p:cNvSpPr txBox="1"/>
          <p:nvPr/>
        </p:nvSpPr>
        <p:spPr>
          <a:xfrm>
            <a:off x="838200" y="1690687"/>
            <a:ext cx="113538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Таблица виртуальных функций для окружности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ShapeVtbl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g_circleVTbl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.draw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GetCircleArea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Фабричная функция для создания окружности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Обязательно инициализируем базовую часть структуры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чтобы указатель на таблицу виртуальных функций был корректным.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base.vtbl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g_circleVTbl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-&gt;center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-&gt;radius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Указатель на первое поле можно безопасно привести к указателю на всю структуру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1202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65C7-1B43-B9DB-E780-5B7FF304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Прямоугольник и его виртуальные функции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66DD1-8273-8EC3-770F-293C4D2E1141}"/>
              </a:ext>
            </a:extLst>
          </p:cNvPr>
          <p:cNvSpPr txBox="1"/>
          <p:nvPr/>
        </p:nvSpPr>
        <p:spPr>
          <a:xfrm>
            <a:off x="838200" y="1690688"/>
            <a:ext cx="115145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width;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height;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Rectangle: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leftTop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), width=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height=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color=#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%.2X%.2X%.2X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leftTop.x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leftTop.y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-&gt;width,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-&gt;height,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color.r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color.g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color.b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GetRectangleArea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-&gt;width 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-&gt;height;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9308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9700-6002-0AD3-9497-D3183850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прямоугольника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96301-0FE5-1057-4EE5-CED50BC7CA8A}"/>
              </a:ext>
            </a:extLst>
          </p:cNvPr>
          <p:cNvSpPr txBox="1"/>
          <p:nvPr/>
        </p:nvSpPr>
        <p:spPr>
          <a:xfrm>
            <a:off x="838200" y="1690688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ShapeVtbl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g_rectVTbl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.draw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GetRectangleArea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base.vtbl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g_rectVTbl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leftTop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leftTop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-&gt;width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-&gt;height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9203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E0A5-3CE8-A157-6380-829792FD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ООП на языке </a:t>
            </a:r>
            <a:r>
              <a:rPr lang="en-US" dirty="0"/>
              <a:t>C </a:t>
            </a:r>
            <a:r>
              <a:rPr lang="ru-RU" dirty="0"/>
              <a:t>в действии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A4F274-CC53-686E-1029-BDE74AC83DE4}"/>
              </a:ext>
            </a:extLst>
          </p:cNvPr>
          <p:cNvSpPr txBox="1"/>
          <p:nvPr/>
        </p:nvSpPr>
        <p:spPr>
          <a:xfrm>
            <a:off x="838200" y="1937166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shapes.h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CreateCircle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255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255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255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numShapes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numShapes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Area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%.2f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ShapeGetArea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EAA40-AC60-D20E-1546-1553EE10DCF9}"/>
              </a:ext>
            </a:extLst>
          </p:cNvPr>
          <p:cNvSpPr txBox="1"/>
          <p:nvPr/>
        </p:nvSpPr>
        <p:spPr>
          <a:xfrm>
            <a:off x="3574473" y="1690688"/>
            <a:ext cx="8501149" cy="107721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Circle: center=(3.50, 10.20), radius=10.00, color=#FF0000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Area = 314.16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Rectangle: </a:t>
            </a:r>
            <a:r>
              <a:rPr lang="en-US" sz="1600" dirty="0" err="1">
                <a:latin typeface="Consolas" panose="020B0609020204030204" pitchFamily="49" charset="0"/>
              </a:rPr>
              <a:t>leftTop</a:t>
            </a:r>
            <a:r>
              <a:rPr lang="en-US" sz="1600" dirty="0">
                <a:latin typeface="Consolas" panose="020B0609020204030204" pitchFamily="49" charset="0"/>
              </a:rPr>
              <a:t>=(-1.00, 2.00), width=5.00, height=3.00, color=#FFFF00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Area = 15.00</a:t>
            </a:r>
          </a:p>
        </p:txBody>
      </p:sp>
    </p:spTree>
    <p:extLst>
      <p:ext uri="{BB962C8B-B14F-4D97-AF65-F5344CB8AC3E}">
        <p14:creationId xmlns:p14="http://schemas.microsoft.com/office/powerpoint/2010/main" val="4001823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B9B7-C941-23E6-27EC-6F2A6668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0C0AA-731F-6234-4DDF-B22DE791A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Основное:</a:t>
            </a:r>
          </a:p>
          <a:p>
            <a:pPr lvl="1"/>
            <a:r>
              <a:rPr lang="ru-RU" dirty="0"/>
              <a:t>функция имеет точку входа в памяти </a:t>
            </a:r>
          </a:p>
          <a:p>
            <a:pPr lvl="1"/>
            <a:r>
              <a:rPr lang="ru-RU" dirty="0"/>
              <a:t>указатель на функцию позволяет хранить и вызывать код </a:t>
            </a:r>
          </a:p>
          <a:p>
            <a:pPr lvl="1"/>
            <a:r>
              <a:rPr lang="ru-RU" dirty="0"/>
              <a:t>функции можно передавать как данные </a:t>
            </a:r>
          </a:p>
          <a:p>
            <a:r>
              <a:rPr lang="ru-RU" b="1" dirty="0"/>
              <a:t>Мы сделали:</a:t>
            </a:r>
          </a:p>
          <a:p>
            <a:pPr lvl="1"/>
            <a:r>
              <a:rPr lang="ru-RU" dirty="0"/>
              <a:t>отделили алгоритм от поведения (сортировка) </a:t>
            </a:r>
          </a:p>
          <a:p>
            <a:pPr lvl="1"/>
            <a:r>
              <a:rPr lang="ru-RU" dirty="0"/>
              <a:t>использовали функции как параметры (</a:t>
            </a:r>
            <a:r>
              <a:rPr lang="ru-RU" dirty="0" err="1"/>
              <a:t>qsort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научились хранить поведение в структурах </a:t>
            </a:r>
          </a:p>
          <a:p>
            <a:pPr lvl="1"/>
            <a:r>
              <a:rPr lang="ru-RU" dirty="0"/>
              <a:t>реализовали таблицу виртуальных функций </a:t>
            </a:r>
          </a:p>
          <a:p>
            <a:r>
              <a:rPr lang="ru-RU" b="1" dirty="0"/>
              <a:t>Результат:</a:t>
            </a:r>
          </a:p>
          <a:p>
            <a:pPr lvl="1"/>
            <a:r>
              <a:rPr lang="ru-RU" dirty="0"/>
              <a:t>один интерфейс — разные реализации</a:t>
            </a:r>
          </a:p>
          <a:p>
            <a:pPr lvl="1"/>
            <a:r>
              <a:rPr lang="ru-RU" dirty="0"/>
              <a:t>код не зависит от конкретного типа</a:t>
            </a:r>
          </a:p>
          <a:p>
            <a:pPr lvl="1"/>
            <a:r>
              <a:rPr lang="ru-RU" dirty="0"/>
              <a:t>поведение выбирается во время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3313321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6240</Words>
  <Application>Microsoft Office PowerPoint</Application>
  <PresentationFormat>Widescreen</PresentationFormat>
  <Paragraphs>750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Consolas</vt:lpstr>
      <vt:lpstr>Office Theme</vt:lpstr>
      <vt:lpstr>Указатели на функции</vt:lpstr>
      <vt:lpstr>Пузырьковая сортировка</vt:lpstr>
      <vt:lpstr>Сортировка по убыванию</vt:lpstr>
      <vt:lpstr>Проблемы с масштабированием</vt:lpstr>
      <vt:lpstr>Отделяем алгоритм от правила сравнения</vt:lpstr>
      <vt:lpstr>Указатель на функцию</vt:lpstr>
      <vt:lpstr>Сортировка с компаратором</vt:lpstr>
      <vt:lpstr>Сортировка по возрастанию</vt:lpstr>
      <vt:lpstr>Сортировка функцией qsort</vt:lpstr>
      <vt:lpstr>Типичные ошибки работы с указателями на функции</vt:lpstr>
      <vt:lpstr>Работа с разными источниками данных</vt:lpstr>
      <vt:lpstr>Вводим абстракцию «Поток»</vt:lpstr>
      <vt:lpstr>Чтение из потока</vt:lpstr>
      <vt:lpstr>Поток, работающий с массивом в памяти</vt:lpstr>
      <vt:lpstr>Запись в поток</vt:lpstr>
      <vt:lpstr>Пример использования</vt:lpstr>
      <vt:lpstr>Разные объекты – единый интерфейс</vt:lpstr>
      <vt:lpstr>Интерфейс модуля shapes</vt:lpstr>
      <vt:lpstr>Реализация модуля shapes:  абстрактная фигура</vt:lpstr>
      <vt:lpstr>Операции над фигурами и их удаление</vt:lpstr>
      <vt:lpstr>Окружность и её виртуальные функции</vt:lpstr>
      <vt:lpstr>Инициализация окружности</vt:lpstr>
      <vt:lpstr>Прямоугольник и его виртуальные функции</vt:lpstr>
      <vt:lpstr>Инициализация прямоугольника</vt:lpstr>
      <vt:lpstr>ООП на языке C в действии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61</cp:revision>
  <dcterms:created xsi:type="dcterms:W3CDTF">2026-04-03T23:22:35Z</dcterms:created>
  <dcterms:modified xsi:type="dcterms:W3CDTF">2026-04-04T09:50:55Z</dcterms:modified>
</cp:coreProperties>
</file>