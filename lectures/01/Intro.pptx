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64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80" r:id="rId27"/>
    <p:sldId id="282" r:id="rId28"/>
    <p:sldId id="285" r:id="rId29"/>
    <p:sldId id="292" r:id="rId30"/>
    <p:sldId id="283" r:id="rId31"/>
    <p:sldId id="299" r:id="rId32"/>
    <p:sldId id="546" r:id="rId33"/>
    <p:sldId id="547" r:id="rId34"/>
    <p:sldId id="286" r:id="rId35"/>
    <p:sldId id="287" r:id="rId36"/>
    <p:sldId id="288" r:id="rId37"/>
    <p:sldId id="289" r:id="rId38"/>
    <p:sldId id="290" r:id="rId39"/>
    <p:sldId id="548" r:id="rId40"/>
    <p:sldId id="550" r:id="rId41"/>
    <p:sldId id="551" r:id="rId42"/>
    <p:sldId id="291" r:id="rId43"/>
    <p:sldId id="293" r:id="rId44"/>
    <p:sldId id="294" r:id="rId45"/>
    <p:sldId id="295" r:id="rId46"/>
    <p:sldId id="296" r:id="rId47"/>
    <p:sldId id="297" r:id="rId48"/>
    <p:sldId id="298" r:id="rId49"/>
    <p:sldId id="54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1" autoAdjust="0"/>
    <p:restoredTop sz="66869" autoAdjust="0"/>
  </p:normalViewPr>
  <p:slideViewPr>
    <p:cSldViewPr snapToGrid="0" showGuides="1">
      <p:cViewPr varScale="1">
        <p:scale>
          <a:sx n="59" d="100"/>
          <a:sy n="59" d="100"/>
        </p:scale>
        <p:origin x="9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0D1D5-23B0-48CF-B740-339E0CD4C8A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6FD83-05D8-42D1-B0E7-B1E4B88E6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0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11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18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64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31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более строго ответим на вопрос: </a:t>
            </a:r>
            <a:r>
              <a:rPr lang="ru-RU" b="1" dirty="0"/>
              <a:t>что такое микропроцессор</a:t>
            </a:r>
            <a:r>
              <a:rPr lang="ru-RU" dirty="0"/>
              <a:t>.</a:t>
            </a:r>
          </a:p>
          <a:p>
            <a:r>
              <a:rPr lang="ru-RU" dirty="0"/>
              <a:t>Микропроцессор — это </a:t>
            </a:r>
            <a:r>
              <a:rPr lang="ru-RU" b="1" dirty="0"/>
              <a:t>программно-управляемое вычислительное устройство</a:t>
            </a:r>
            <a:r>
              <a:rPr lang="ru-RU" dirty="0"/>
              <a:t>. Он не выполняет «алгоритмы» и не понимает смысл программы — он выполняет </a:t>
            </a:r>
            <a:r>
              <a:rPr lang="ru-RU" b="1" dirty="0"/>
              <a:t>машинные инструкции</a:t>
            </a:r>
            <a:r>
              <a:rPr lang="ru-RU" dirty="0"/>
              <a:t>, строго определённые его архитектурой.</a:t>
            </a:r>
          </a:p>
          <a:p>
            <a:endParaRPr lang="ru-RU" dirty="0"/>
          </a:p>
          <a:p>
            <a:r>
              <a:rPr lang="ru-RU" dirty="0"/>
              <a:t>У каждого микропроцессора есть </a:t>
            </a:r>
            <a:r>
              <a:rPr lang="ru-RU" b="1" dirty="0"/>
              <a:t>набор инструкций</a:t>
            </a:r>
            <a:r>
              <a:rPr lang="ru-RU" dirty="0"/>
              <a:t>, или ISA —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</a:t>
            </a:r>
            <a:r>
              <a:rPr lang="ru-RU" dirty="0" err="1"/>
              <a:t>architecture</a:t>
            </a:r>
            <a:r>
              <a:rPr lang="ru-RU" dirty="0"/>
              <a:t>. Это контракт между программой и железом: какие операции возможны, какие регистры есть, как выполняются переходы и вызовы функций.</a:t>
            </a:r>
          </a:p>
          <a:p>
            <a:r>
              <a:rPr lang="ru-RU" dirty="0"/>
              <a:t>Микропроцессор работает с данными, которые находятся: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в регистрах,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в памяти,</a:t>
            </a:r>
            <a:br>
              <a:rPr lang="ru-RU" dirty="0"/>
            </a:br>
            <a:r>
              <a:rPr lang="ru-RU" dirty="0"/>
              <a:t>и выполняет над ними операции: арифметические, логические, управляющие.</a:t>
            </a:r>
          </a:p>
          <a:p>
            <a:endParaRPr lang="en-US" dirty="0"/>
          </a:p>
          <a:p>
            <a:r>
              <a:rPr lang="ru-RU" dirty="0"/>
              <a:t>Кроме выполнения отдельных инструкций, процессор отвечает за </a:t>
            </a:r>
            <a:r>
              <a:rPr lang="ru-RU" b="1" dirty="0"/>
              <a:t>управление потоком выполнения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он решает, какая инструкция будет выполнена следующей — просто следующая по порядку, или переход, или вызов функции, или возврат.</a:t>
            </a:r>
          </a:p>
          <a:p>
            <a:endParaRPr lang="ru-RU" dirty="0"/>
          </a:p>
          <a:p>
            <a:r>
              <a:rPr lang="ru-RU" dirty="0"/>
              <a:t>Важно понимать ключевую идею:</a:t>
            </a:r>
            <a:r>
              <a:rPr lang="en-US" dirty="0"/>
              <a:t> </a:t>
            </a:r>
            <a:r>
              <a:rPr lang="ru-RU" b="1" dirty="0"/>
              <a:t>сам по себе микропроцессор ничего не делает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Всё его поведение полностью определяется той программой, которая сейчас выполняется.</a:t>
            </a:r>
            <a:r>
              <a:rPr lang="en-US" dirty="0"/>
              <a:t> </a:t>
            </a:r>
            <a:r>
              <a:rPr lang="ru-RU" dirty="0"/>
              <a:t>Именно поэтому мы говорим о </a:t>
            </a:r>
            <a:r>
              <a:rPr lang="ru-RU" i="1" dirty="0"/>
              <a:t>программировании микропроцессоров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меняя программу, мы буквально меняем поведение железа — не физически, а логически.</a:t>
            </a:r>
          </a:p>
          <a:p>
            <a:endParaRPr lang="ru-RU" dirty="0"/>
          </a:p>
          <a:p>
            <a:r>
              <a:rPr lang="ru-RU" dirty="0"/>
              <a:t>В этом курсе мы будем рассматривать микропроцессор не как чёрный ящик,</a:t>
            </a:r>
            <a:r>
              <a:rPr lang="en-US" dirty="0"/>
              <a:t> </a:t>
            </a:r>
            <a:r>
              <a:rPr lang="ru-RU" dirty="0"/>
              <a:t>а как систему, чьё поведение можно понять, предсказать и контролировать, если понимать инструкции, память и поток выполнения.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55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внутрь микропроцессора и разберёмся, </a:t>
            </a:r>
            <a:r>
              <a:rPr lang="ru-RU" b="1" dirty="0"/>
              <a:t>из каких основных частей он состоит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важно, потому что все эти элементы мы будем постоянно видеть в ассемблере и отладчике.</a:t>
            </a:r>
          </a:p>
          <a:p>
            <a:endParaRPr lang="ru-RU" dirty="0"/>
          </a:p>
          <a:p>
            <a:r>
              <a:rPr lang="ru-RU" dirty="0"/>
              <a:t>Начнём с </a:t>
            </a:r>
            <a:r>
              <a:rPr lang="ru-RU" b="1" dirty="0"/>
              <a:t>регистров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Регистры — это самая быстрая память в системе.</a:t>
            </a:r>
            <a:br>
              <a:rPr lang="ru-RU" dirty="0"/>
            </a:br>
            <a:r>
              <a:rPr lang="ru-RU" dirty="0"/>
              <a:t>В них хранятся операнды для вычислений, адреса в памяти, а также информация о состоянии выполнения программы.</a:t>
            </a:r>
            <a:br>
              <a:rPr lang="ru-RU" dirty="0"/>
            </a:br>
            <a:r>
              <a:rPr lang="ru-RU" dirty="0"/>
              <a:t>Практически каждая инструкция процессора так или иначе работает с регистрами.</a:t>
            </a:r>
          </a:p>
          <a:p>
            <a:endParaRPr lang="ru-RU" dirty="0"/>
          </a:p>
          <a:p>
            <a:r>
              <a:rPr lang="ru-RU" dirty="0"/>
              <a:t>Далее — </a:t>
            </a:r>
            <a:r>
              <a:rPr lang="ru-RU" b="1" dirty="0"/>
              <a:t>арифметико-логическое устройство</a:t>
            </a:r>
            <a:r>
              <a:rPr lang="ru-RU" dirty="0"/>
              <a:t>, или ALU.</a:t>
            </a:r>
            <a:br>
              <a:rPr lang="ru-RU" dirty="0"/>
            </a:br>
            <a:r>
              <a:rPr lang="ru-RU" dirty="0"/>
              <a:t>Именно здесь выполняются сложение, вычитание, сравнение, логические операции.</a:t>
            </a:r>
            <a:br>
              <a:rPr lang="ru-RU" dirty="0"/>
            </a:br>
            <a:r>
              <a:rPr lang="ru-RU" dirty="0"/>
              <a:t>Кроме результата, ALU обычно формирует </a:t>
            </a:r>
            <a:r>
              <a:rPr lang="ru-RU" b="1" dirty="0"/>
              <a:t>флаги состояния</a:t>
            </a:r>
            <a:r>
              <a:rPr lang="ru-RU" dirty="0"/>
              <a:t> — например, был ли результат нулём или произошло переполнение.</a:t>
            </a:r>
          </a:p>
          <a:p>
            <a:endParaRPr lang="ru-RU" dirty="0"/>
          </a:p>
          <a:p>
            <a:r>
              <a:rPr lang="ru-RU" b="1" dirty="0"/>
              <a:t>Блок управления</a:t>
            </a:r>
            <a:r>
              <a:rPr lang="ru-RU" dirty="0"/>
              <a:t> отвечает за то, </a:t>
            </a:r>
            <a:r>
              <a:rPr lang="ru-RU" i="1" dirty="0"/>
              <a:t>что вообще происходит дальше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выбирает следующую инструкцию, декодирует её и управляет работой остальных компонентов процессора. Если очень упрощать, это «дирижёр», который заставляет все части работать согласованно.</a:t>
            </a:r>
          </a:p>
          <a:p>
            <a:endParaRPr lang="ru-RU" dirty="0"/>
          </a:p>
          <a:p>
            <a:r>
              <a:rPr lang="ru-RU" dirty="0"/>
              <a:t>Отдельно важно выделить </a:t>
            </a:r>
            <a:r>
              <a:rPr lang="ru-RU" b="1" dirty="0"/>
              <a:t>счётчик команд</a:t>
            </a:r>
            <a:r>
              <a:rPr lang="ru-RU" dirty="0"/>
              <a:t>, который часто называют PC или RIP. Это специальный регистр, в котором хранится адрес текущей инструкции. Именно он определяет, откуда процессор возьмёт следующую команду.</a:t>
            </a:r>
          </a:p>
          <a:p>
            <a:endParaRPr lang="ru-RU" dirty="0"/>
          </a:p>
          <a:p>
            <a:r>
              <a:rPr lang="ru-RU" dirty="0"/>
              <a:t>И наконец, </a:t>
            </a:r>
            <a:r>
              <a:rPr lang="ru-RU" b="1" dirty="0"/>
              <a:t>интерфейс к памяти и устройствам</a:t>
            </a:r>
            <a:r>
              <a:rPr lang="ru-RU" dirty="0"/>
              <a:t>. Через него процессор: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загружает инструкции и данные,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записывает результаты,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общается с устройствами ввода-вывода.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Важно понимать, что все эти компоненты </a:t>
            </a:r>
            <a:r>
              <a:rPr lang="ru-RU" b="1" dirty="0"/>
              <a:t>не существуют сами по себе</a:t>
            </a:r>
            <a:r>
              <a:rPr lang="ru-RU" dirty="0"/>
              <a:t>. Их работа полностью определяется исполняемой программой и последовательностью инструкций. В дальнейшем курсе мы будем буквально «видеть» эти части в работе: смотреть значения регистров, менять поток выполнения, анализировать работу ALU и переходы по счётчику команд.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46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говорим о программировании микропроцессоров, важно понимать, </a:t>
            </a:r>
            <a:r>
              <a:rPr lang="ru-RU" b="1" dirty="0"/>
              <a:t>как процессор хранит и получает программу и данные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есть две базовые архитектурные модели: </a:t>
            </a:r>
            <a:r>
              <a:rPr lang="ru-RU" b="1" dirty="0"/>
              <a:t>архитектура фон Неймана</a:t>
            </a:r>
            <a:r>
              <a:rPr lang="ru-RU" dirty="0"/>
              <a:t> и </a:t>
            </a:r>
            <a:r>
              <a:rPr lang="ru-RU" b="1" dirty="0"/>
              <a:t>гарвардская архитектура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b="1" dirty="0"/>
              <a:t>архитектуре фон Неймана</a:t>
            </a:r>
            <a:r>
              <a:rPr lang="ru-RU" dirty="0"/>
              <a:t> программа и данные хранятся </a:t>
            </a:r>
            <a:r>
              <a:rPr lang="ru-RU" b="1" dirty="0"/>
              <a:t>в одной памяти</a:t>
            </a:r>
            <a:r>
              <a:rPr lang="ru-RU" dirty="0"/>
              <a:t> и передаются по </a:t>
            </a:r>
            <a:r>
              <a:rPr lang="ru-RU" b="1" dirty="0"/>
              <a:t>одному каналу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Для процессора инструкция — это такие же данные, как и любые другие.</a:t>
            </a:r>
            <a:br>
              <a:rPr lang="ru-RU" dirty="0"/>
            </a:br>
            <a:r>
              <a:rPr lang="ru-RU" dirty="0"/>
              <a:t>Это делает модель простой и удобной для программирования, но приводит к так называемому </a:t>
            </a:r>
            <a:r>
              <a:rPr lang="ru-RU" b="1" dirty="0"/>
              <a:t>узкому месту фон Неймана</a:t>
            </a:r>
            <a:r>
              <a:rPr lang="ru-RU" dirty="0"/>
              <a:t>: процессор не может одновременно считывать инструкцию и работать с данными из памяти.</a:t>
            </a:r>
          </a:p>
          <a:p>
            <a:r>
              <a:rPr lang="ru-RU" dirty="0"/>
              <a:t>В </a:t>
            </a:r>
            <a:r>
              <a:rPr lang="ru-RU" b="1" dirty="0"/>
              <a:t>гарвардской архитектуре</a:t>
            </a:r>
            <a:r>
              <a:rPr lang="ru-RU" dirty="0"/>
              <a:t> память инструкций и память данных </a:t>
            </a:r>
            <a:r>
              <a:rPr lang="ru-RU" b="1" dirty="0"/>
              <a:t>физически разделены</a:t>
            </a:r>
            <a:r>
              <a:rPr lang="ru-RU" dirty="0"/>
              <a:t>, как и каналы доступа к ним.</a:t>
            </a:r>
          </a:p>
          <a:p>
            <a:br>
              <a:rPr lang="ru-RU" dirty="0"/>
            </a:br>
            <a:r>
              <a:rPr lang="ru-RU" dirty="0"/>
              <a:t>Благодаря этому процессор может одновременно получать инструкцию и обращаться к данным, что повышает производительность.</a:t>
            </a:r>
            <a:br>
              <a:rPr lang="ru-RU" dirty="0"/>
            </a:br>
            <a:r>
              <a:rPr lang="ru-RU" dirty="0"/>
              <a:t>Цена за это — более сложная аппаратная реализация и модель работы с памятью.</a:t>
            </a:r>
          </a:p>
          <a:p>
            <a:r>
              <a:rPr lang="ru-RU" dirty="0"/>
              <a:t>В чистом виде эти архитектуры сегодня почти не используются.</a:t>
            </a:r>
            <a:br>
              <a:rPr lang="ru-RU" dirty="0"/>
            </a:br>
            <a:r>
              <a:rPr lang="ru-RU" dirty="0"/>
              <a:t>Современные процессоры обычно </a:t>
            </a:r>
            <a:r>
              <a:rPr lang="ru-RU" b="1" dirty="0" err="1"/>
              <a:t>программно</a:t>
            </a:r>
            <a:r>
              <a:rPr lang="ru-RU" b="1" dirty="0"/>
              <a:t> выглядят как архитектура фон Неймана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</a:t>
            </a:r>
            <a:r>
              <a:rPr lang="ru-RU" b="1" dirty="0" err="1"/>
              <a:t>аппаратно</a:t>
            </a:r>
            <a:r>
              <a:rPr lang="ru-RU" b="1" dirty="0"/>
              <a:t> используют элементы гарвардской архитектуры</a:t>
            </a:r>
            <a:r>
              <a:rPr lang="ru-RU" dirty="0"/>
              <a:t>, например раздельные кэши для инструкций и данных.</a:t>
            </a:r>
          </a:p>
          <a:p>
            <a:r>
              <a:rPr lang="ru-RU" dirty="0"/>
              <a:t>В микроконтроллерах гарвардская архитектура встречается чаще, особенно в системах </a:t>
            </a:r>
            <a:r>
              <a:rPr lang="ru-RU" dirty="0" err="1"/>
              <a:t>bare-metal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Архитектура фон Неймана (программная модель):</a:t>
            </a:r>
            <a:endParaRPr lang="ru-RU" dirty="0"/>
          </a:p>
          <a:p>
            <a:r>
              <a:rPr lang="en-US" dirty="0"/>
              <a:t>Intel Core (x86-64)</a:t>
            </a:r>
          </a:p>
          <a:p>
            <a:r>
              <a:rPr lang="en-US" dirty="0"/>
              <a:t>AMD Ryzen</a:t>
            </a:r>
          </a:p>
          <a:p>
            <a:r>
              <a:rPr lang="en-US" dirty="0"/>
              <a:t>Apple M-series (ARM)</a:t>
            </a:r>
          </a:p>
          <a:p>
            <a:r>
              <a:rPr lang="ru-RU" b="1" dirty="0"/>
              <a:t>Гарвардская архитектура (или близкая к ней):</a:t>
            </a:r>
            <a:endParaRPr lang="ru-RU" dirty="0"/>
          </a:p>
          <a:p>
            <a:r>
              <a:rPr lang="en-US" dirty="0"/>
              <a:t>Microchip PIC</a:t>
            </a:r>
          </a:p>
          <a:p>
            <a:r>
              <a:rPr lang="en-US" dirty="0"/>
              <a:t>Atmel AVR (Arduino)</a:t>
            </a:r>
          </a:p>
          <a:p>
            <a:r>
              <a:rPr lang="en-US" dirty="0"/>
              <a:t>ARM Cortex-M (STM32)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64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Что такое программа с точки зрения микропроцессора</a:t>
            </a:r>
            <a:r>
              <a:rPr lang="en-US" b="1" dirty="0"/>
              <a:t>?</a:t>
            </a:r>
            <a:endParaRPr lang="ru-RU" dirty="0"/>
          </a:p>
          <a:p>
            <a:r>
              <a:rPr lang="ru-RU" dirty="0"/>
              <a:t>Для процессора программа — это не текст и не файл. Это </a:t>
            </a:r>
            <a:r>
              <a:rPr lang="ru-RU" b="1" dirty="0"/>
              <a:t>последовательность машинных инструкций</a:t>
            </a:r>
            <a:r>
              <a:rPr lang="ru-RU" dirty="0"/>
              <a:t>, которые лежат в памяти.</a:t>
            </a:r>
          </a:p>
          <a:p>
            <a:r>
              <a:rPr lang="ru-RU" dirty="0"/>
              <a:t>Каждая инструкция — это двоичное число определённого формата.</a:t>
            </a:r>
            <a:br>
              <a:rPr lang="ru-RU" dirty="0"/>
            </a:br>
            <a:r>
              <a:rPr lang="ru-RU" dirty="0"/>
              <a:t>Она говорит процессору: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какую операцию выполнить,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 какими данными,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куда перейти дальше.</a:t>
            </a:r>
          </a:p>
          <a:p>
            <a:r>
              <a:rPr lang="ru-RU" dirty="0"/>
              <a:t>Процессор работает очень механически.</a:t>
            </a:r>
            <a:br>
              <a:rPr lang="ru-RU" dirty="0"/>
            </a:br>
            <a:r>
              <a:rPr lang="ru-RU" dirty="0"/>
              <a:t>Он: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считывает инструкцию из памяти,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декодирует её,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выполняет,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переходит к следующей.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Языки высокого уровня, такие как C или Python, </a:t>
            </a:r>
            <a:r>
              <a:rPr lang="ru-RU" b="1" dirty="0"/>
              <a:t>не выполняются процессором напрямую</a:t>
            </a:r>
            <a:r>
              <a:rPr lang="ru-RU" dirty="0"/>
              <a:t>. Они существуют для удобства человека. Перед выполнением они обязательно преобразуются в машинный код — через компилятор или интерпретатор.</a:t>
            </a:r>
          </a:p>
          <a:p>
            <a:endParaRPr lang="ru-RU" dirty="0"/>
          </a:p>
          <a:p>
            <a:r>
              <a:rPr lang="ru-RU" dirty="0"/>
              <a:t>Ассемблер — это почти прямое текстовое представление машинных инструкций. Обычно одна строка ассемблера соответствует одной инструкции процессора. Поэтому в этом курсе мы постоянно будем связывать три уровня: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машинные инструкции,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ассемблер,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код на C.</a:t>
            </a:r>
          </a:p>
          <a:p>
            <a:r>
              <a:rPr lang="ru-RU" dirty="0"/>
              <a:t>Наша цель — научиться смотреть на программу глазами микропроцессора и понимать, </a:t>
            </a:r>
            <a:r>
              <a:rPr lang="ru-RU" b="1" dirty="0"/>
              <a:t>что именно он делает в каждый момент времени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71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давайте посмотрим на программу, возвращающую значение максимального элемента массива, скомпилированную под </a:t>
            </a:r>
            <a:r>
              <a:rPr lang="ru-RU" b="1" dirty="0"/>
              <a:t>x86-64</a:t>
            </a:r>
            <a:r>
              <a:rPr lang="ru-RU" dirty="0"/>
              <a:t>. Слева — исходный код на C, справа — ассемблер и машинные коды. Обратите внимание: в x86-64 инструкции </a:t>
            </a:r>
            <a:r>
              <a:rPr lang="ru-RU" b="1" dirty="0"/>
              <a:t>переменной длины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рядом с ассемблером видно, что одна инструкция может занимать: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1 байт,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2 байта,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5 байт,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больше.</a:t>
            </a:r>
          </a:p>
          <a:p>
            <a:r>
              <a:rPr lang="ru-RU" dirty="0"/>
              <a:t>Это хорошо заметно по машинным кодам — они разной длины и формы. Из-за этого код сложно «читать глазами», но есть и плюс: </a:t>
            </a:r>
            <a:r>
              <a:rPr lang="ru-RU" b="1" dirty="0"/>
              <a:t>в кодировке x86-64 часто легко увидеть константы и смещения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сразу видно, где закодировано смещение в памяти или константное значение. Ассемблерный код относительно компактный по числу инструкций, но сами инструкции довольно сложные и многофункциональные.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Обратите внимание также на: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регистров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rdx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инструкции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cmov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ru-RU" dirty="0"/>
              <a:t>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символ комментария — здесь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52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</a:t>
            </a:r>
            <a:r>
              <a:rPr lang="ru-RU" b="1" dirty="0"/>
              <a:t>ту же самую программу</a:t>
            </a:r>
            <a:r>
              <a:rPr lang="ru-RU" dirty="0"/>
              <a:t>, но скомпилированную под </a:t>
            </a:r>
            <a:r>
              <a:rPr lang="ru-RU" b="1" dirty="0"/>
              <a:t>ARM64</a:t>
            </a:r>
            <a:r>
              <a:rPr lang="ru-RU" dirty="0"/>
              <a:t> — архитектуру, которая используется в современных смартфонах.</a:t>
            </a:r>
          </a:p>
          <a:p>
            <a:endParaRPr lang="ru-RU" dirty="0"/>
          </a:p>
          <a:p>
            <a:r>
              <a:rPr lang="ru-RU" dirty="0"/>
              <a:t>Первое, что сразу бросается в глаза: </a:t>
            </a:r>
            <a:r>
              <a:rPr lang="ru-RU" b="1" dirty="0"/>
              <a:t>в ARM64 все инструкции имеют фиксированную длину — ровно 4 байта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видно по машинным кодам: каждая инструкция — это одно 32-битное слово. С одной стороны, такая кодировка проще для процессора.</a:t>
            </a:r>
            <a:r>
              <a:rPr lang="en-US" dirty="0"/>
              <a:t> </a:t>
            </a:r>
            <a:r>
              <a:rPr lang="ru-RU" dirty="0"/>
              <a:t>С другой — </a:t>
            </a:r>
            <a:r>
              <a:rPr lang="ru-RU" b="1" dirty="0"/>
              <a:t>по машинному коду почти невозможно “на глаз” понять</a:t>
            </a:r>
            <a:r>
              <a:rPr lang="ru-RU" dirty="0"/>
              <a:t>, где там константа, где смещение, где номер регистра. Всё закодировано плотными битовыми полями.</a:t>
            </a:r>
          </a:p>
          <a:p>
            <a:endParaRPr lang="ru-RU" dirty="0"/>
          </a:p>
          <a:p>
            <a:r>
              <a:rPr lang="ru-RU" dirty="0"/>
              <a:t>Ассемблерных строк здесь получилось </a:t>
            </a:r>
            <a:r>
              <a:rPr lang="ru-RU" b="1" dirty="0"/>
              <a:t>больше</a:t>
            </a:r>
            <a:r>
              <a:rPr lang="ru-RU" dirty="0"/>
              <a:t>, чем в x86-64.</a:t>
            </a:r>
            <a:r>
              <a:rPr lang="en-US" dirty="0"/>
              <a:t> </a:t>
            </a:r>
            <a:r>
              <a:rPr lang="ru-RU" dirty="0"/>
              <a:t>ARM64 предпочитает более простые и узкоспециализированные инструкции, поэтому то, что в x86-64 делается одной инструкцией, здесь часто разбивается на несколько.</a:t>
            </a:r>
          </a:p>
          <a:p>
            <a:endParaRPr lang="ru-RU" dirty="0"/>
          </a:p>
          <a:p>
            <a:r>
              <a:rPr lang="ru-RU" dirty="0"/>
              <a:t>Также обратите внимание на: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совершенно другие имена регистров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x8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w10</a:t>
            </a:r>
            <a:r>
              <a:rPr lang="ru-RU" dirty="0"/>
              <a:t>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другой набор инструкций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csel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cbz</a:t>
            </a:r>
            <a:r>
              <a:rPr lang="ru-RU" dirty="0"/>
              <a:t>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другой символ комментария — здесь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ru-RU" dirty="0"/>
              <a:t>.</a:t>
            </a:r>
          </a:p>
          <a:p>
            <a:r>
              <a:rPr lang="ru-RU" dirty="0"/>
              <a:t>Несмотря на то, что логика программы </a:t>
            </a:r>
            <a:r>
              <a:rPr lang="ru-RU" b="1" dirty="0"/>
              <a:t>одинаковая</a:t>
            </a:r>
            <a:r>
              <a:rPr lang="ru-RU" dirty="0"/>
              <a:t>, ассемблерный код выглядит совершенно по-разному.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88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зафиксируем выводы.</a:t>
            </a:r>
            <a:br>
              <a:rPr lang="ru-RU" dirty="0"/>
            </a:br>
            <a:r>
              <a:rPr lang="ru-RU" dirty="0"/>
              <a:t>Мы взяли </a:t>
            </a:r>
            <a:r>
              <a:rPr lang="ru-RU" b="1" dirty="0"/>
              <a:t>один и тот же алгоритм</a:t>
            </a:r>
            <a:r>
              <a:rPr lang="ru-RU" dirty="0"/>
              <a:t> — поиск максимального элемента массива —и скомпилировали его под две разные архитектуры: x86-64 и ARM64.</a:t>
            </a:r>
          </a:p>
          <a:p>
            <a:endParaRPr lang="ru-RU" dirty="0"/>
          </a:p>
          <a:p>
            <a:r>
              <a:rPr lang="ru-RU" dirty="0"/>
              <a:t>В результате мы получили </a:t>
            </a:r>
            <a:r>
              <a:rPr lang="ru-RU" b="1" dirty="0"/>
              <a:t>два совершенно разных набора инструкций</a:t>
            </a:r>
            <a:r>
              <a:rPr lang="ru-RU" dirty="0"/>
              <a:t>. Отличается практически всё: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кодировка инструкций,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длина инструкций,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имена регистров,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набор команд,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даже синтаксис комментариев.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В x86-64 инструкции переменной длины, и в машинном коде часто можно узнать константы и смещения. В ARM64 каждая инструкция занимает ровно 4 байта, но по машинному коду почти невозможно понять, что она делает.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Ассемблерные программы тоже отличаются: где-то больше строк, где-то меньше, используются разные приёмы и разные инструкции, хотя логика программы абсолютно одинакова.</a:t>
            </a:r>
          </a:p>
          <a:p>
            <a:endParaRPr lang="ru-RU" dirty="0"/>
          </a:p>
          <a:p>
            <a:r>
              <a:rPr lang="ru-RU" dirty="0"/>
              <a:t>Из этого следует важный вывод: </a:t>
            </a:r>
            <a:r>
              <a:rPr lang="ru-RU" b="1" dirty="0"/>
              <a:t>машинный код принципиально непереносим</a:t>
            </a:r>
            <a:r>
              <a:rPr lang="ru-RU" dirty="0"/>
              <a:t>, а программирование на ассемблере жёстко привязано к архитектуре процессора.</a:t>
            </a:r>
          </a:p>
          <a:p>
            <a:endParaRPr lang="ru-RU" dirty="0"/>
          </a:p>
          <a:p>
            <a:r>
              <a:rPr lang="ru-RU" dirty="0"/>
              <a:t>Именно поэтому в реальной разработке мы почти всегда пишем программы на языках высокого уровня, таких как C, а компилятор берёт на себя задачу генерации кода под конкретный процессор.</a:t>
            </a:r>
          </a:p>
          <a:p>
            <a:endParaRPr lang="ru-RU" dirty="0"/>
          </a:p>
          <a:p>
            <a:r>
              <a:rPr lang="ru-RU" dirty="0"/>
              <a:t>Ассемблер и машинный код в этом курсе нужны нам не для того, чтобы писать на них большие программы, а для того, чтобы </a:t>
            </a:r>
            <a:r>
              <a:rPr lang="ru-RU" b="1" dirty="0"/>
              <a:t>понимать, как программа реально выполняется на микропроцессоре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5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очевидный вопрос — почему мы не используем на этом курсе Python или другие интерпретируемые языки. Причина очень простая: </a:t>
            </a:r>
            <a:r>
              <a:rPr lang="ru-RU" b="1" dirty="0"/>
              <a:t>такие языки слишком далеко от железа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Код на Python не выполняется напрямую микропроцессором. Его исполняет интерпретатор или виртуальная машина, которые сами являются программами.</a:t>
            </a:r>
          </a:p>
          <a:p>
            <a:endParaRPr lang="ru-RU" dirty="0"/>
          </a:p>
          <a:p>
            <a:r>
              <a:rPr lang="ru-RU" dirty="0"/>
              <a:t>В результате между вашим кодом и процессором появляется несколько уровней абстракции.</a:t>
            </a:r>
          </a:p>
          <a:p>
            <a:br>
              <a:rPr lang="ru-RU" dirty="0"/>
            </a:br>
            <a:r>
              <a:rPr lang="ru-RU" dirty="0"/>
              <a:t>Мы не можем напрямую связать строку кода с машинной инструкцией, не видим реальной работы со стеком, регистрами и памятью.</a:t>
            </a:r>
          </a:p>
          <a:p>
            <a:endParaRPr lang="ru-RU" dirty="0"/>
          </a:p>
          <a:p>
            <a:r>
              <a:rPr lang="ru-RU" dirty="0"/>
              <a:t>Для курса, который называется </a:t>
            </a:r>
            <a:r>
              <a:rPr lang="ru-RU" i="1" dirty="0"/>
              <a:t>«Программирование микропроцессоров»</a:t>
            </a:r>
            <a:r>
              <a:rPr lang="ru-RU" dirty="0"/>
              <a:t>, это принципиально неподходящая точка входа.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05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Хорошо, но тогда почему не C++, Go или, скажем, </a:t>
            </a:r>
            <a:r>
              <a:rPr lang="ru-RU" dirty="0" err="1"/>
              <a:t>Pascal</a:t>
            </a:r>
            <a:r>
              <a:rPr lang="ru-RU" dirty="0"/>
              <a:t>? Это ведь компилируемые языки.</a:t>
            </a:r>
          </a:p>
          <a:p>
            <a:endParaRPr lang="ru-RU" dirty="0"/>
          </a:p>
          <a:p>
            <a:r>
              <a:rPr lang="ru-RU" dirty="0"/>
              <a:t>Проблема в том, что все они вводят </a:t>
            </a:r>
            <a:r>
              <a:rPr lang="ru-RU" b="1" dirty="0"/>
              <a:t>дополнительные высокоуровневые абстракции</a:t>
            </a:r>
            <a:r>
              <a:rPr lang="ru-RU" dirty="0"/>
              <a:t>: автоматическое управление памятью, исключения, сложные модели объектов, </a:t>
            </a:r>
            <a:r>
              <a:rPr lang="ru-RU" dirty="0" err="1"/>
              <a:t>runtime</a:t>
            </a:r>
            <a:r>
              <a:rPr lang="ru-RU" dirty="0"/>
              <a:t>-системы.</a:t>
            </a:r>
          </a:p>
          <a:p>
            <a:endParaRPr lang="ru-RU" dirty="0"/>
          </a:p>
          <a:p>
            <a:r>
              <a:rPr lang="ru-RU" dirty="0"/>
              <a:t>Эти механизмы очень полезны в реальной разработке, но в учебном курсе они </a:t>
            </a:r>
            <a:r>
              <a:rPr lang="ru-RU" b="1" dirty="0"/>
              <a:t>мешают понять, что именно делает процессор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Ассемблер, который генерирует компилятор C++, зачастую содержит много служебного кода, не связанного напрямую с логикой программы.</a:t>
            </a:r>
          </a:p>
          <a:p>
            <a:endParaRPr lang="ru-RU" dirty="0"/>
          </a:p>
          <a:p>
            <a:r>
              <a:rPr lang="ru-RU" dirty="0"/>
              <a:t>Нам же важно, чтобы между исходным кодом и машинными инструкциями было как можно меньше «магии».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32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Язык C был создан как </a:t>
            </a:r>
            <a:r>
              <a:rPr lang="ru-RU" b="1" dirty="0"/>
              <a:t>системный язык</a:t>
            </a:r>
            <a:r>
              <a:rPr lang="ru-RU" dirty="0"/>
              <a:t> для разработки операционной системы UNIX.</a:t>
            </a:r>
          </a:p>
          <a:p>
            <a:br>
              <a:rPr lang="ru-RU" dirty="0"/>
            </a:br>
            <a:r>
              <a:rPr lang="ru-RU" dirty="0"/>
              <a:t>Его основная идея — дать программисту контроль над памятью и выполнением программы, не вводя лишних абстракций.</a:t>
            </a:r>
          </a:p>
          <a:p>
            <a:endParaRPr lang="ru-RU" dirty="0"/>
          </a:p>
          <a:p>
            <a:r>
              <a:rPr lang="ru-RU" dirty="0"/>
              <a:t>Иногда говорят, что C — это </a:t>
            </a:r>
            <a:r>
              <a:rPr lang="ru-RU" i="1" dirty="0"/>
              <a:t>«переносимый ассемблер»</a:t>
            </a:r>
            <a:r>
              <a:rPr lang="ru-RU" dirty="0"/>
              <a:t>. Это не официальное определение, но очень точная инженерная метафора.</a:t>
            </a:r>
          </a:p>
          <a:p>
            <a:endParaRPr lang="ru-RU" dirty="0"/>
          </a:p>
          <a:p>
            <a:r>
              <a:rPr lang="ru-RU" dirty="0"/>
              <a:t>Код на C по своей структуре близок к тому, во что он компилируется.</a:t>
            </a:r>
          </a:p>
          <a:p>
            <a:endParaRPr lang="ru-RU" dirty="0"/>
          </a:p>
          <a:p>
            <a:r>
              <a:rPr lang="ru-RU" dirty="0"/>
              <a:t>Кроме того, C стал </a:t>
            </a:r>
            <a:r>
              <a:rPr lang="ru-RU" b="1" dirty="0"/>
              <a:t>де-факто языком общения между программами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Операционные системы, системные библиотеки, динамические модули почти всегда предоставляют </a:t>
            </a:r>
            <a:r>
              <a:rPr lang="ru-RU" b="1" dirty="0"/>
              <a:t>C-совместимый интерфейс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Даже интерпретируемые языки, такие как Python, подключают сторонние библиотеки именно через C-интерфейс.</a:t>
            </a:r>
          </a:p>
          <a:p>
            <a:endParaRPr lang="ru-RU" dirty="0"/>
          </a:p>
          <a:p>
            <a:r>
              <a:rPr lang="ru-RU" dirty="0"/>
              <a:t>В этом курсе мы не только будем писать код на C, но и разберёмся, </a:t>
            </a:r>
            <a:r>
              <a:rPr lang="ru-RU" b="1" dirty="0"/>
              <a:t>как C-код связывается с ассемблером и машинными инструкциями</a:t>
            </a:r>
            <a:r>
              <a:rPr lang="ru-RU" dirty="0"/>
              <a:t>, и как программы на разных языках взаимодействуют между собой через ABI.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14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чётко зафиксируем роль компилятора в нашей картине мира.</a:t>
            </a:r>
            <a:r>
              <a:rPr lang="en-US" dirty="0"/>
              <a:t> </a:t>
            </a:r>
            <a:r>
              <a:rPr lang="ru-RU" dirty="0"/>
              <a:t>Компилятор — это </a:t>
            </a:r>
            <a:r>
              <a:rPr lang="ru-RU" b="1" dirty="0"/>
              <a:t>переводчик между уровнями абстракции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 верхнем уровне у нас есть код на языке C.</a:t>
            </a:r>
            <a:r>
              <a:rPr lang="en-US" dirty="0"/>
              <a:t> </a:t>
            </a:r>
            <a:r>
              <a:rPr lang="ru-RU" dirty="0"/>
              <a:t>Он удобен для человека и, в основном, </a:t>
            </a:r>
            <a:r>
              <a:rPr lang="ru-RU" b="1" dirty="0"/>
              <a:t>не зависит от архитектуры процессора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Компилятор переводит этот код в ассемблер.</a:t>
            </a:r>
            <a:r>
              <a:rPr lang="en-US" dirty="0"/>
              <a:t> </a:t>
            </a:r>
            <a:r>
              <a:rPr lang="ru-RU" dirty="0"/>
              <a:t>Ассемблер уже </a:t>
            </a:r>
            <a:r>
              <a:rPr lang="ru-RU" b="1" dirty="0"/>
              <a:t>жёстко привязан к архитектуре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здесь появляются конкретные инструкции, регистры и соглашения о вызовах функций.</a:t>
            </a:r>
          </a:p>
          <a:p>
            <a:endParaRPr lang="ru-RU" dirty="0"/>
          </a:p>
          <a:p>
            <a:r>
              <a:rPr lang="ru-RU" dirty="0"/>
              <a:t>Далее ассемблер и линкер превращают этот код в </a:t>
            </a:r>
            <a:r>
              <a:rPr lang="ru-RU" b="1" dirty="0"/>
              <a:t>машинный код</a:t>
            </a:r>
            <a:r>
              <a:rPr lang="ru-RU" dirty="0"/>
              <a:t> —</a:t>
            </a:r>
            <a:r>
              <a:rPr lang="en-US" dirty="0"/>
              <a:t> </a:t>
            </a:r>
            <a:r>
              <a:rPr lang="ru-RU" dirty="0"/>
              <a:t>набор двоичных инструкций, которые микропроцессор выполняет напрямую.</a:t>
            </a:r>
          </a:p>
          <a:p>
            <a:endParaRPr lang="ru-RU" dirty="0"/>
          </a:p>
          <a:p>
            <a:r>
              <a:rPr lang="ru-RU" dirty="0"/>
              <a:t>Важный момент: </a:t>
            </a:r>
            <a:r>
              <a:rPr lang="ru-RU" b="1" dirty="0"/>
              <a:t>микропроцессор никогда не видит C-код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 работает только с машинными инструкциями.</a:t>
            </a:r>
          </a:p>
          <a:p>
            <a:endParaRPr lang="en-US" dirty="0"/>
          </a:p>
          <a:p>
            <a:r>
              <a:rPr lang="ru-RU" dirty="0"/>
              <a:t>Поэтому один и тот же C-код может быть скомпилирован: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 x86-64,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 ARM64,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 другие архитектуры,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и каждый раз мы получим </a:t>
            </a:r>
            <a:r>
              <a:rPr lang="ru-RU" b="1" dirty="0"/>
              <a:t>разный машинный код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но одинаковое поведение программы.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В этом курсе мы будем часто смотреть на все три уровня:</a:t>
            </a:r>
            <a:r>
              <a:rPr lang="en-US" dirty="0"/>
              <a:t> </a:t>
            </a:r>
            <a:r>
              <a:rPr lang="ru-RU" dirty="0"/>
              <a:t>C</a:t>
            </a:r>
            <a:r>
              <a:rPr lang="en-US" dirty="0"/>
              <a:t>,</a:t>
            </a:r>
            <a:r>
              <a:rPr lang="ru-RU" dirty="0"/>
              <a:t> ассемблер</a:t>
            </a:r>
            <a:r>
              <a:rPr lang="en-US" dirty="0"/>
              <a:t> </a:t>
            </a:r>
            <a:r>
              <a:rPr lang="ru-RU" dirty="0"/>
              <a:t>и иногда машинный код, чтобы понимать, </a:t>
            </a:r>
            <a:r>
              <a:rPr lang="ru-RU" b="1" dirty="0"/>
              <a:t>какие решения принимает компилятор и почему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09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Ассемблер — это мощный инструмент, но очень дорогой в использовании. Поэтому важно сразу понимать, </a:t>
            </a:r>
            <a:r>
              <a:rPr lang="ru-RU" b="1" dirty="0"/>
              <a:t>когда его действительно имеет смысл применять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Первый случай — когда нам нужен доступ к возможностям процессора, которые </a:t>
            </a:r>
            <a:r>
              <a:rPr lang="ru-RU" b="1" dirty="0"/>
              <a:t>невозможно выразить средствами языка 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на архитектуре x86 есть специальные инструкции,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ru-RU" dirty="0"/>
              <a:t>, которые используются для прямого обмена данными с внешними устройствами и не имеют прямого аналога в стандартном C.</a:t>
            </a:r>
          </a:p>
          <a:p>
            <a:endParaRPr lang="ru-RU" dirty="0"/>
          </a:p>
          <a:p>
            <a:r>
              <a:rPr lang="ru-RU" dirty="0"/>
              <a:t>Второй распространённый случай — </a:t>
            </a:r>
            <a:r>
              <a:rPr lang="ru-RU" b="1" dirty="0"/>
              <a:t>экстремальная оптимизация производительности</a:t>
            </a:r>
            <a:r>
              <a:rPr lang="ru-RU" dirty="0"/>
              <a:t>. Когда алгоритм уже оптимален, компилятор работает на пределе своих возможностей, и только ручное написание ассемблерных инструкций позволяет получить дополнительный выигрыш.</a:t>
            </a:r>
          </a:p>
          <a:p>
            <a:endParaRPr lang="ru-RU" dirty="0"/>
          </a:p>
          <a:p>
            <a:r>
              <a:rPr lang="ru-RU" dirty="0"/>
              <a:t>Хороший реальный пример — библиотека </a:t>
            </a:r>
            <a:r>
              <a:rPr lang="ru-RU" b="1" dirty="0" err="1"/>
              <a:t>ffmpeg</a:t>
            </a:r>
            <a:r>
              <a:rPr lang="ru-RU" dirty="0"/>
              <a:t>. Основной код написан на C, но в самых «тяжёлых» местах разработчики вручную пишут ассемблер под конкретные архитектуры, чтобы получить ускорение в несколько раз, а иногда и на порядок.</a:t>
            </a:r>
          </a:p>
          <a:p>
            <a:endParaRPr lang="ru-RU" dirty="0"/>
          </a:p>
          <a:p>
            <a:r>
              <a:rPr lang="ru-RU" dirty="0"/>
              <a:t>Третий случай — </a:t>
            </a:r>
            <a:r>
              <a:rPr lang="ru-RU" b="1" dirty="0"/>
              <a:t>жёсткие требования к предсказуемости задержек</a:t>
            </a:r>
            <a:r>
              <a:rPr lang="ru-RU" dirty="0"/>
              <a:t>. Иногда нужно точно знать, сколько тактов занимает выполнение кода. Ручной ассемблер позволяет это рассчитать, но важно понимать, что это: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энергозатратно,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плохо переносимо,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очень чувствительно к смене архитектуры.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Во всех остальных ситуациях писать на ассемблере </a:t>
            </a:r>
            <a:r>
              <a:rPr lang="ru-RU" b="1" dirty="0"/>
              <a:t>не имеет смысла</a:t>
            </a:r>
            <a:r>
              <a:rPr lang="ru-RU" dirty="0"/>
              <a:t>. Современные компиляторы генерируют очень эффективный код, а цена поддержки и отладки ассемблера слишком высока.</a:t>
            </a:r>
          </a:p>
          <a:p>
            <a:endParaRPr lang="ru-RU" dirty="0"/>
          </a:p>
          <a:p>
            <a:r>
              <a:rPr lang="ru-RU" dirty="0"/>
              <a:t>Поэтому на практике ассемблер используется точечно, как дополнение к коду на C</a:t>
            </a:r>
            <a:r>
              <a:rPr lang="en-US" dirty="0"/>
              <a:t>, C++ </a:t>
            </a:r>
            <a:r>
              <a:rPr lang="ru-RU" dirty="0"/>
              <a:t>и другим языкам, а не как основной язык разработки.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24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2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давайте, наконец, познакомимся с языком C на практике.</a:t>
            </a:r>
            <a:r>
              <a:rPr lang="en-US" dirty="0"/>
              <a:t> </a:t>
            </a:r>
            <a:r>
              <a:rPr lang="ru-RU" dirty="0"/>
              <a:t>Начнём с самой простой и классической программы — </a:t>
            </a:r>
            <a:r>
              <a:rPr lang="ru-RU" i="1" dirty="0"/>
              <a:t>Hello, </a:t>
            </a:r>
            <a:r>
              <a:rPr lang="ru-RU" i="1" dirty="0" err="1"/>
              <a:t>world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В языке C выполнение программы всегда начинается с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Это точка входа, которую вызывает операционная система</a:t>
            </a:r>
            <a:r>
              <a:rPr lang="en-US" dirty="0"/>
              <a:t> (</a:t>
            </a:r>
            <a:r>
              <a:rPr lang="ru-RU" dirty="0"/>
              <a:t>на самом деле не совсем так, но пока это не важно).</a:t>
            </a:r>
          </a:p>
          <a:p>
            <a:endParaRPr lang="ru-RU" dirty="0"/>
          </a:p>
          <a:p>
            <a:r>
              <a:rPr lang="ru-RU" dirty="0"/>
              <a:t>Здесь мы используем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из стандартной библиотеки C.</a:t>
            </a:r>
            <a:r>
              <a:rPr lang="en-US" dirty="0"/>
              <a:t> </a:t>
            </a:r>
            <a:r>
              <a:rPr lang="ru-RU" dirty="0"/>
              <a:t>Она выводит строку в стандартный поток вывода и автоматически добавляет перевод строки.</a:t>
            </a:r>
          </a:p>
          <a:p>
            <a:r>
              <a:rPr lang="ru-RU" dirty="0"/>
              <a:t>Обратите внимание:</a:t>
            </a:r>
            <a:r>
              <a:rPr lang="en-US" dirty="0"/>
              <a:t> </a:t>
            </a:r>
            <a:r>
              <a:rPr lang="ru-RU" dirty="0"/>
              <a:t>Программа очень простая и прозрачная — именно такие примеры мы будем использовать, чтобы легко связывать C-код с тем, что происходит на уровне компилятора и процессора.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0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Программу нужно скомпилировать, прежде чем она будет выполнена процессором.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Для этого используется компилятор. </a:t>
            </a:r>
          </a:p>
          <a:p>
            <a:r>
              <a:rPr lang="ru-RU" dirty="0"/>
              <a:t>На Linux и </a:t>
            </a:r>
            <a:r>
              <a:rPr lang="ru-RU" dirty="0" err="1"/>
              <a:t>macOS</a:t>
            </a:r>
            <a:r>
              <a:rPr lang="ru-RU" dirty="0"/>
              <a:t> чаще всего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clang</a:t>
            </a:r>
            <a:r>
              <a:rPr lang="ru-RU" dirty="0"/>
              <a:t>. Мы указываем исходный файл, имя выходного исполняемого файла, и затем запускаем полученную программу.</a:t>
            </a:r>
          </a:p>
          <a:p>
            <a:r>
              <a:rPr lang="ru-RU" dirty="0"/>
              <a:t>В Windows используется компилятор Microsoft Visual C++,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</a:t>
            </a:r>
            <a:r>
              <a:rPr lang="ru-RU" dirty="0"/>
              <a:t> делает примерно то же самое.</a:t>
            </a:r>
          </a:p>
          <a:p>
            <a:endParaRPr lang="ru-RU" dirty="0"/>
          </a:p>
          <a:p>
            <a:r>
              <a:rPr lang="ru-RU" dirty="0"/>
              <a:t>Работа через командную строку очень важна для понимания того, как устроен процесс компиляции: где исходный код, где объектные файлы, где итоговый исполняемый файл.</a:t>
            </a:r>
          </a:p>
          <a:p>
            <a:endParaRPr lang="ru-RU" dirty="0"/>
          </a:p>
          <a:p>
            <a:r>
              <a:rPr lang="ru-RU" dirty="0"/>
              <a:t>Мы будем периодически возвращаться к этому способу работы, особенно когда будем разбирать ассемблер, линковку и отладку.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87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этом важно сразу сказать: </a:t>
            </a:r>
            <a:r>
              <a:rPr lang="ru-RU" b="1" dirty="0"/>
              <a:t>мы не будем делать из командной строки культ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Да, умение работать с компилятором, линкером и отладчиком напрямую — это полезный и важный навык, и в рамках курса мы будем к нему возвращаться.</a:t>
            </a:r>
          </a:p>
          <a:p>
            <a:endParaRPr lang="ru-RU" dirty="0"/>
          </a:p>
          <a:p>
            <a:r>
              <a:rPr lang="ru-RU" dirty="0"/>
              <a:t>Но в реальной разработке почти всегда используются IDE. Они упрощают работу с проектами, сборкой, отладкой и навигацией по коду.</a:t>
            </a:r>
          </a:p>
          <a:p>
            <a:endParaRPr lang="ru-RU" dirty="0"/>
          </a:p>
          <a:p>
            <a:r>
              <a:rPr lang="ru-RU" dirty="0"/>
              <a:t>Поэтому в этом курсе вы можете использовать любую удобную среду разработки: Visual Studio, Visual Studio Code, </a:t>
            </a:r>
            <a:r>
              <a:rPr lang="ru-RU" dirty="0" err="1"/>
              <a:t>CLion</a:t>
            </a:r>
            <a:r>
              <a:rPr lang="ru-RU" dirty="0"/>
              <a:t>, </a:t>
            </a:r>
            <a:r>
              <a:rPr lang="ru-RU" dirty="0" err="1"/>
              <a:t>Xcode</a:t>
            </a:r>
            <a:r>
              <a:rPr lang="ru-RU" dirty="0"/>
              <a:t> и другие.</a:t>
            </a:r>
          </a:p>
          <a:p>
            <a:r>
              <a:rPr lang="ru-RU" dirty="0"/>
              <a:t>Наша цель — не борьба с инструментами, а понимание того, </a:t>
            </a:r>
            <a:r>
              <a:rPr lang="ru-RU" b="1" dirty="0"/>
              <a:t>что именно эти инструменты делают под капотом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IDE — это удобная оболочка. А понимание компиляции, ассемблера и машинного кода — то, что остаётся с вами независимо от выбранного редактора.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18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429D-D738-E7C5-4678-B0EEA7B1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36D1-C04D-9177-7137-323580855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AE926-7B71-BDE7-75A3-B8D38AD98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подробнее разберём структуру простой программы на языке C.</a:t>
            </a:r>
          </a:p>
          <a:p>
            <a:endParaRPr lang="ru-RU" dirty="0"/>
          </a:p>
          <a:p>
            <a:r>
              <a:rPr lang="ru-RU" dirty="0"/>
              <a:t>Первая строка — это директива препроцессора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. Она говорит компилятору подключить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, в котором объявлена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. Здесь ещё нет никакого машинного кода — это этап подготовки исходного текста.</a:t>
            </a:r>
          </a:p>
          <a:p>
            <a:endParaRPr lang="ru-RU" dirty="0"/>
          </a:p>
          <a:p>
            <a:r>
              <a:rPr lang="ru-RU" dirty="0"/>
              <a:t>Далее идёт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Это </a:t>
            </a:r>
            <a:r>
              <a:rPr lang="ru-RU" b="1" dirty="0"/>
              <a:t>точка входа программы</a:t>
            </a:r>
            <a:r>
              <a:rPr lang="ru-RU" dirty="0"/>
              <a:t>. Именно эту функцию вызывает операционная система при запуске программы. Обратите внимание на сигнатуру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 Она означает, что функция: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принимает аргументов,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возвращает целое число — код завершения программы.</a:t>
            </a:r>
          </a:p>
          <a:p>
            <a:r>
              <a:rPr lang="ru-RU" dirty="0"/>
              <a:t>Внутри фигурных скобок находится тело функции — последовательность инструкций, которые будут выполнены.</a:t>
            </a:r>
          </a:p>
          <a:p>
            <a:r>
              <a:rPr lang="ru-RU" dirty="0"/>
              <a:t>Здесь мы вызываем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а затем возвращаем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Возврат нуля традиционно означает успешное завершение программы. Важно подчеркнуть, что программа на C — это </a:t>
            </a:r>
            <a:r>
              <a:rPr lang="ru-RU" b="1" dirty="0"/>
              <a:t>просто набор функций</a:t>
            </a:r>
            <a:r>
              <a:rPr lang="ru-RU" dirty="0"/>
              <a:t>. В языке нет классов, нет методов, нет скрытой логики запуска.</a:t>
            </a:r>
          </a:p>
          <a:p>
            <a:r>
              <a:rPr lang="ru-RU" dirty="0"/>
              <a:t>Всё, что выполняется, явно написано в коде. Именно такая простота делает C удобным языком для изучения того, как программы исполняются на уровне микропроцессора.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95C99-DC75-E85A-06EF-A4CA9D267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741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Возникает логичный вопрос: </a:t>
            </a:r>
            <a:r>
              <a:rPr lang="ru-RU" b="1" dirty="0"/>
              <a:t>откуда мы вообще знаем, что нужно подключать файл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b="1" dirty="0"/>
              <a:t>? </a:t>
            </a:r>
            <a:r>
              <a:rPr lang="ru-RU" dirty="0"/>
              <a:t>Ведь наша программа называется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hello.c</a:t>
            </a:r>
            <a:r>
              <a:rPr lang="ru-RU" dirty="0"/>
              <a:t>, и такого файла рядом с ней нет.</a:t>
            </a:r>
          </a:p>
          <a:p>
            <a:endParaRPr lang="ru-RU" dirty="0"/>
          </a:p>
          <a:p>
            <a:r>
              <a:rPr lang="ru-RU" dirty="0"/>
              <a:t>Ответ в том, что язык C — это не только синтаксис, но и </a:t>
            </a:r>
            <a:r>
              <a:rPr lang="ru-RU" b="1" dirty="0"/>
              <a:t>стандартная библиотека</a:t>
            </a:r>
            <a:r>
              <a:rPr lang="ru-RU" dirty="0"/>
              <a:t>, которая поставляется вместе с компилятором.</a:t>
            </a:r>
          </a:p>
          <a:p>
            <a:endParaRPr lang="ru-RU" dirty="0"/>
          </a:p>
          <a:p>
            <a:r>
              <a:rPr lang="ru-RU" dirty="0"/>
              <a:t>Существует международный стандарт языка C — формальный документ, в котором описано: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устроен сам язык,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ведут себя его операции,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какие функции входят в стандартную библиотеку.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В этом стандарте явно сказано,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является частью стандартной библиотеки, какие у неё параметры, что она возвращает и что её объявление находится в заголовочном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Разработчики компиляторов и стандартной библиотеки обязаны следовать этому стандарту, чтобы их компилятор мог корректно компилировать программы на языке C.</a:t>
            </a:r>
          </a:p>
          <a:p>
            <a:endParaRPr lang="ru-RU" dirty="0"/>
          </a:p>
          <a:p>
            <a:r>
              <a:rPr lang="ru-RU" dirty="0"/>
              <a:t>Именно наличие стандарта позволило языку C оставаться переносимым и совместимым на протяжении десятилетий.</a:t>
            </a:r>
          </a:p>
          <a:p>
            <a:br>
              <a:rPr lang="ru-RU" dirty="0"/>
            </a:br>
            <a:r>
              <a:rPr lang="ru-RU" dirty="0"/>
              <a:t>Без стандарта мы имели бы несколько несовместимых реализаций языка, и код, написанный под один компилятор, мог бы не компилироваться или работать неправильно под другим.</a:t>
            </a:r>
          </a:p>
          <a:p>
            <a:endParaRPr lang="ru-RU" dirty="0"/>
          </a:p>
          <a:p>
            <a:r>
              <a:rPr lang="ru-RU" dirty="0"/>
              <a:t>Официальный стандарт языка C — это большой формальный документ, который распространяется за плату.</a:t>
            </a:r>
          </a:p>
          <a:p>
            <a:br>
              <a:rPr lang="ru-RU" dirty="0"/>
            </a:br>
            <a:r>
              <a:rPr lang="ru-RU" dirty="0"/>
              <a:t>Если бы мы занимались разработкой компиляторов или реализаций стандартной библиотеки, нам бы обязательно пришлось с ним работать.</a:t>
            </a:r>
          </a:p>
          <a:p>
            <a:endParaRPr lang="ru-RU" dirty="0"/>
          </a:p>
          <a:p>
            <a:r>
              <a:rPr lang="ru-RU" dirty="0"/>
              <a:t>Для практического программирования и обучения достаточно сайта </a:t>
            </a:r>
            <a:r>
              <a:rPr lang="ru-RU" b="1" dirty="0"/>
              <a:t>cppreference.com</a:t>
            </a:r>
            <a:r>
              <a:rPr lang="ru-RU" dirty="0"/>
              <a:t> — это удобный и подробный справочник по языку C и его стандартной библиотеке, который в сжатом и понятном виде отражает требования стандарта и широко используется на практике.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39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Директива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 — это команда препроцессору.</a:t>
            </a:r>
            <a:r>
              <a:rPr lang="en-US" dirty="0"/>
              <a:t> </a:t>
            </a:r>
            <a:r>
              <a:rPr lang="ru-RU" dirty="0"/>
              <a:t>Она буквально подставляет содержимое указанного файла в текст программы.</a:t>
            </a:r>
          </a:p>
          <a:p>
            <a:endParaRPr lang="en-US" dirty="0"/>
          </a:p>
          <a:p>
            <a:r>
              <a:rPr lang="ru-RU" dirty="0"/>
              <a:t>Заголовочные файлы содержат </a:t>
            </a:r>
            <a:r>
              <a:rPr lang="ru-RU" b="1" dirty="0"/>
              <a:t>объявления функций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но не их реализацию.</a:t>
            </a:r>
            <a:br>
              <a:rPr lang="ru-RU" dirty="0"/>
            </a:br>
            <a:r>
              <a:rPr lang="ru-RU" dirty="0"/>
              <a:t>То есть они говорят компилятору:</a:t>
            </a:r>
            <a:r>
              <a:rPr lang="en-US" dirty="0"/>
              <a:t> </a:t>
            </a:r>
            <a:r>
              <a:rPr lang="ru-RU" dirty="0"/>
              <a:t>«такая функция существует, вот её параметры и тип результата».</a:t>
            </a:r>
          </a:p>
          <a:p>
            <a:endParaRPr lang="en-US" dirty="0"/>
          </a:p>
          <a:p>
            <a:r>
              <a:rPr lang="ru-RU" dirty="0"/>
              <a:t>Когда имя файла заключено в угловые скобки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 &gt;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это сигнал компилятору, что файл нужно искать</a:t>
            </a:r>
            <a:r>
              <a:rPr lang="en-US" dirty="0"/>
              <a:t> </a:t>
            </a:r>
            <a:r>
              <a:rPr lang="ru-RU" b="1" dirty="0"/>
              <a:t>не рядом с текущим исходным файлом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а в специальных системных каталогах.</a:t>
            </a:r>
            <a:r>
              <a:rPr lang="en-US" dirty="0"/>
              <a:t> </a:t>
            </a:r>
            <a:r>
              <a:rPr lang="ru-RU" dirty="0"/>
              <a:t>Именно там лежат заголовочные файлы стандартной библиотеки языка C,</a:t>
            </a:r>
            <a:r>
              <a:rPr lang="en-US" dirty="0"/>
              <a:t> </a:t>
            </a:r>
            <a:r>
              <a:rPr lang="ru-RU" dirty="0"/>
              <a:t>которые поставляются вместе с компилятором.</a:t>
            </a:r>
          </a:p>
          <a:p>
            <a:endParaRPr lang="en-US" dirty="0"/>
          </a:p>
          <a:p>
            <a:r>
              <a:rPr lang="ru-RU" dirty="0"/>
              <a:t>Многие компиляторы позволяют добавлять</a:t>
            </a:r>
            <a:r>
              <a:rPr lang="en-US" dirty="0"/>
              <a:t> </a:t>
            </a:r>
            <a:r>
              <a:rPr lang="ru-RU" dirty="0"/>
              <a:t>собственные каталоги с заголовочными файлами</a:t>
            </a:r>
            <a:r>
              <a:rPr lang="en-US" dirty="0"/>
              <a:t> </a:t>
            </a:r>
            <a:r>
              <a:rPr lang="ru-RU" dirty="0"/>
              <a:t>через параметры командной строки.</a:t>
            </a:r>
            <a:br>
              <a:rPr lang="ru-RU" dirty="0"/>
            </a:br>
            <a:r>
              <a:rPr lang="ru-RU" dirty="0"/>
              <a:t>Это используется для подключения сторонних библиотек</a:t>
            </a:r>
            <a:r>
              <a:rPr lang="en-US" dirty="0"/>
              <a:t>, </a:t>
            </a:r>
            <a:r>
              <a:rPr lang="ru-RU" dirty="0"/>
              <a:t>и мы ещё будем с этим сталкиваться в курсе.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стандартная библиотека и механизм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позволяют разделить программу на:</a:t>
            </a:r>
            <a:r>
              <a:rPr lang="en-US" dirty="0"/>
              <a:t> </a:t>
            </a:r>
            <a:r>
              <a:rPr lang="ru-RU" dirty="0"/>
              <a:t>ваш код,</a:t>
            </a:r>
            <a:r>
              <a:rPr lang="en-US" dirty="0"/>
              <a:t> </a:t>
            </a:r>
            <a:r>
              <a:rPr lang="ru-RU" dirty="0"/>
              <a:t>и готовые, переносимые библиотеки.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77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Возникает логичный вопрос: если в заголовочном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 нет кода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то </a:t>
            </a:r>
            <a:r>
              <a:rPr lang="ru-RU" b="1" dirty="0"/>
              <a:t>откуда она вообще берётся</a:t>
            </a:r>
            <a:r>
              <a:rPr lang="ru-RU" dirty="0"/>
              <a:t>?</a:t>
            </a:r>
          </a:p>
          <a:p>
            <a:r>
              <a:rPr lang="ru-RU" dirty="0"/>
              <a:t>Ответ в том, что заголовочный файл содержит </a:t>
            </a:r>
            <a:r>
              <a:rPr lang="ru-RU" b="1" dirty="0"/>
              <a:t>только объявление функции</a:t>
            </a:r>
            <a:r>
              <a:rPr lang="ru-RU" dirty="0"/>
              <a:t>, но не её реализацию.</a:t>
            </a:r>
          </a:p>
          <a:p>
            <a:br>
              <a:rPr lang="ru-RU" dirty="0"/>
            </a:br>
            <a:r>
              <a:rPr lang="ru-RU" dirty="0"/>
              <a:t>Он нужен компилятору, чтобы проверить корректность вызова функции: количество аргументов, их типы и тип возвращаемого значения.</a:t>
            </a:r>
          </a:p>
          <a:p>
            <a:r>
              <a:rPr lang="ru-RU" dirty="0"/>
              <a:t>Реальная реализация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находится в </a:t>
            </a:r>
            <a:r>
              <a:rPr lang="ru-RU" b="1" dirty="0"/>
              <a:t>стандартной библиотеке языка C</a:t>
            </a:r>
            <a:r>
              <a:rPr lang="ru-RU" dirty="0"/>
              <a:t>. Эта библиотека уже скомпилирована и поставляется вместе с компилятором в виде объектных файлов или библиотек.</a:t>
            </a:r>
          </a:p>
          <a:p>
            <a:endParaRPr lang="ru-RU" dirty="0"/>
          </a:p>
          <a:p>
            <a:r>
              <a:rPr lang="ru-RU" dirty="0"/>
              <a:t>Когда компилятор обрабатывает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hello.c</a:t>
            </a:r>
            <a:r>
              <a:rPr lang="ru-RU" dirty="0"/>
              <a:t>, он видит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знает её сигнатуру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, но пока ещё не знает, </a:t>
            </a:r>
            <a:r>
              <a:rPr lang="ru-RU" i="1" dirty="0"/>
              <a:t>где именно</a:t>
            </a:r>
            <a:r>
              <a:rPr lang="ru-RU" dirty="0"/>
              <a:t> находится её код.</a:t>
            </a:r>
          </a:p>
          <a:p>
            <a:endParaRPr lang="ru-RU" dirty="0"/>
          </a:p>
          <a:p>
            <a:r>
              <a:rPr lang="ru-RU" dirty="0"/>
              <a:t>На следующем этапе — </a:t>
            </a:r>
            <a:r>
              <a:rPr lang="ru-RU" b="1" dirty="0"/>
              <a:t>линковке</a:t>
            </a:r>
            <a:r>
              <a:rPr lang="ru-RU" dirty="0"/>
              <a:t> — специальная программа, линкер, находит реализацию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в стандартной библиотеке и связывает вызов функции с её реальным машинным кодом.</a:t>
            </a:r>
          </a:p>
          <a:p>
            <a:endParaRPr lang="ru-RU" dirty="0"/>
          </a:p>
          <a:p>
            <a:r>
              <a:rPr lang="ru-RU" dirty="0"/>
              <a:t>Поэтому важно запомнить: заголовочные файлы нужны компилятору, а библиотеки — линкеру.</a:t>
            </a:r>
          </a:p>
          <a:p>
            <a:endParaRPr lang="ru-RU" dirty="0"/>
          </a:p>
          <a:p>
            <a:r>
              <a:rPr lang="ru-RU" dirty="0"/>
              <a:t>Чуть позже в курсе мы подробно разберём, как именно происходит этот процесс и что будет, если реализацию функции найти не удаётся.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049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посмотрим, что именно получается после работы компилятора, и зачем нам вообще нужен линкер.</a:t>
            </a:r>
          </a:p>
          <a:p>
            <a:endParaRPr lang="ru-RU" dirty="0"/>
          </a:p>
          <a:p>
            <a:r>
              <a:rPr lang="ru-RU" dirty="0"/>
              <a:t>Когда компилятор обрабатывает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hello.c</a:t>
            </a:r>
            <a:r>
              <a:rPr lang="ru-RU" dirty="0"/>
              <a:t>, он не сразу создаёт готовую программу. Вместо этого он создаёт </a:t>
            </a:r>
            <a:r>
              <a:rPr lang="ru-RU" b="1" dirty="0"/>
              <a:t>объектный файл</a:t>
            </a:r>
            <a:r>
              <a:rPr lang="ru-RU" dirty="0"/>
              <a:t> — обычно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</a:t>
            </a:r>
            <a:r>
              <a:rPr lang="ru-RU" dirty="0"/>
              <a:t>. В этом объектном файле уже есть скомпилированный машинный код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Но при этом в коде есть вызов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реализация которой </a:t>
            </a:r>
            <a:r>
              <a:rPr lang="ru-RU" b="1" dirty="0"/>
              <a:t>в этом файле отсутствует</a:t>
            </a:r>
            <a:r>
              <a:rPr lang="ru-RU" dirty="0"/>
              <a:t>. Поэтому компилятор записывает в объектный файл информацию о том, что существует </a:t>
            </a:r>
            <a:r>
              <a:rPr lang="ru-RU" b="1" dirty="0"/>
              <a:t>внешний символ</a:t>
            </a:r>
            <a:r>
              <a:rPr lang="ru-RU" dirty="0"/>
              <a:t> с именем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который должен быть найден где-то ещё — например, в стандартной библиотеке.</a:t>
            </a:r>
          </a:p>
          <a:p>
            <a:endParaRPr lang="ru-RU" dirty="0"/>
          </a:p>
          <a:p>
            <a:r>
              <a:rPr lang="ru-RU" dirty="0"/>
              <a:t>Здесь термин </a:t>
            </a:r>
            <a:r>
              <a:rPr lang="ru-RU" i="1" dirty="0"/>
              <a:t>«внешний символ»</a:t>
            </a:r>
            <a:r>
              <a:rPr lang="ru-RU" dirty="0"/>
              <a:t> используется в точном смысле: это функция или переменная, объявленная в текущем модуле, но определённая в другом объектном файле или библиотеке.</a:t>
            </a:r>
          </a:p>
          <a:p>
            <a:endParaRPr lang="ru-RU" dirty="0"/>
          </a:p>
          <a:p>
            <a:r>
              <a:rPr lang="ru-RU" dirty="0"/>
              <a:t>Дальше в работу вступает </a:t>
            </a:r>
            <a:r>
              <a:rPr lang="ru-RU" b="1" dirty="0"/>
              <a:t>линкер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Его задача — взять набор разрозненных объектных файлов и библиотек и </a:t>
            </a:r>
            <a:r>
              <a:rPr lang="ru-RU" b="1" dirty="0"/>
              <a:t>собрать из них единую программу</a:t>
            </a:r>
            <a:r>
              <a:rPr lang="ru-RU" dirty="0"/>
              <a:t>. Линкер проходит по всем объектным файлам, находит ссылки на внешние символы и пытается сопоставить их с реальными реализациями. В нашем случае он находит реализацию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в стандартной библиотеке языка C и связывает вызов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 её машинным кодом.</a:t>
            </a:r>
          </a:p>
          <a:p>
            <a:endParaRPr lang="ru-RU" dirty="0"/>
          </a:p>
          <a:p>
            <a:r>
              <a:rPr lang="ru-RU" dirty="0"/>
              <a:t>Этот процесс называется </a:t>
            </a:r>
            <a:r>
              <a:rPr lang="ru-RU" b="1" dirty="0"/>
              <a:t>разрешением символов</a:t>
            </a:r>
            <a:r>
              <a:rPr lang="ru-RU" dirty="0"/>
              <a:t> — </a:t>
            </a:r>
            <a:r>
              <a:rPr lang="ru-RU" i="1" dirty="0" err="1"/>
              <a:t>symbol</a:t>
            </a:r>
            <a:r>
              <a:rPr lang="ru-RU" i="1" dirty="0"/>
              <a:t> </a:t>
            </a:r>
            <a:r>
              <a:rPr lang="ru-RU" i="1" dirty="0" err="1"/>
              <a:t>resolution</a:t>
            </a:r>
            <a:r>
              <a:rPr lang="ru-RU" dirty="0"/>
              <a:t>. Именно на этом этапе из отдельных кусочков формируется полноценная исполняемая программа.</a:t>
            </a:r>
          </a:p>
          <a:p>
            <a:endParaRPr lang="ru-RU" dirty="0"/>
          </a:p>
          <a:p>
            <a:r>
              <a:rPr lang="ru-RU" dirty="0"/>
              <a:t>Если линкер не может найти реализацию какого-либо внешнего символа, программа не будет собрана, и мы получим ошибку линковки.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94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исходном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hello.c</a:t>
            </a:r>
            <a:r>
              <a:rPr lang="ru-RU" dirty="0"/>
              <a:t> есть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внутри которой вызывается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.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 сообщает компилятору сигнатуру этой функции.</a:t>
            </a:r>
          </a:p>
          <a:p>
            <a:r>
              <a:rPr lang="ru-RU" dirty="0"/>
              <a:t>После компиляции мы получаем объектный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hello.o</a:t>
            </a:r>
            <a:r>
              <a:rPr lang="ru-RU" dirty="0"/>
              <a:t>. В нём содержится машинный код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— это определённый символ.</a:t>
            </a:r>
          </a:p>
          <a:p>
            <a:br>
              <a:rPr lang="ru-RU" dirty="0"/>
            </a:br>
            <a:r>
              <a:rPr lang="ru-RU" dirty="0"/>
              <a:t>При этом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остаётся внешним символом, потому что её реализация находится в стандартной библиотеке. На этапе линковки линкер находит реализацию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в библиотеке, разрешает ссылку на внешний символ и собирает из отдельных частей готовую программу.</a:t>
            </a:r>
          </a:p>
          <a:p>
            <a:endParaRPr lang="ru-RU" dirty="0"/>
          </a:p>
          <a:p>
            <a:r>
              <a:rPr lang="ru-RU" dirty="0"/>
              <a:t>Результатом является исполняемый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hello.exe</a:t>
            </a:r>
            <a:r>
              <a:rPr lang="ru-RU" dirty="0"/>
              <a:t>, в котором все символы уже связаны и который можно запускать.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61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одна и та же программа </a:t>
            </a:r>
            <a:r>
              <a:rPr lang="ru-RU" i="1" dirty="0"/>
              <a:t>Hello, </a:t>
            </a:r>
            <a:r>
              <a:rPr lang="ru-RU" i="1" dirty="0" err="1"/>
              <a:t>world</a:t>
            </a:r>
            <a:r>
              <a:rPr lang="ru-RU" dirty="0"/>
              <a:t>, но на ассемблере для двух архитектур: x86-64 и ARM64. На первый взгляд код выглядит совершенно по-разному: разные инструкции, разные регистры, даже стиль комментариев отличается. Но если смотреть не на «буквы», а на смысл, структура у них одинаковая.</a:t>
            </a:r>
          </a:p>
          <a:p>
            <a:br>
              <a:rPr lang="ru-RU" dirty="0"/>
            </a:br>
            <a:r>
              <a:rPr lang="ru-RU" dirty="0"/>
              <a:t>Первое, что делает обе программы — </a:t>
            </a:r>
            <a:r>
              <a:rPr lang="ru-RU" b="1" dirty="0"/>
              <a:t>готовит аргумент для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: адрес строки.</a:t>
            </a:r>
            <a:br>
              <a:rPr lang="ru-RU" dirty="0"/>
            </a:br>
            <a:r>
              <a:rPr lang="ru-RU" dirty="0"/>
              <a:t>В x86-64 по соглашению о вызовах первый аргумент передаётся в регистре </a:t>
            </a:r>
            <a:r>
              <a:rPr lang="ru-RU" b="1" dirty="0"/>
              <a:t>RDI</a:t>
            </a:r>
            <a:r>
              <a:rPr lang="ru-RU" dirty="0"/>
              <a:t> (на слайде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OFFSET FLAT:.LC0</a:t>
            </a:r>
            <a:r>
              <a:rPr lang="ru-RU" dirty="0"/>
              <a:t>).</a:t>
            </a:r>
            <a:br>
              <a:rPr lang="ru-RU" dirty="0"/>
            </a:br>
            <a:r>
              <a:rPr lang="ru-RU" dirty="0"/>
              <a:t>В ARM64 первый аргумент передаётся в регистре </a:t>
            </a:r>
            <a:r>
              <a:rPr lang="ru-RU" b="1" dirty="0"/>
              <a:t>X0</a:t>
            </a:r>
            <a:r>
              <a:rPr lang="ru-RU" dirty="0"/>
              <a:t> (поэтому адрес собирается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adrp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).</a:t>
            </a:r>
          </a:p>
          <a:p>
            <a:endParaRPr lang="en-US" dirty="0"/>
          </a:p>
          <a:p>
            <a:r>
              <a:rPr lang="ru-RU" dirty="0"/>
              <a:t>Дальше обе программы вызывают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но разными инструкциями.</a:t>
            </a:r>
            <a:br>
              <a:rPr lang="ru-RU" dirty="0"/>
            </a:br>
            <a:r>
              <a:rPr lang="ru-RU" dirty="0"/>
              <a:t>В x86-64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— это «вызов функции».</a:t>
            </a:r>
            <a:br>
              <a:rPr lang="ru-RU" dirty="0"/>
            </a:br>
            <a:r>
              <a:rPr lang="ru-RU" dirty="0"/>
              <a:t>В ARM64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— “</a:t>
            </a:r>
            <a:r>
              <a:rPr lang="ru-RU" dirty="0" err="1"/>
              <a:t>branch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link</a:t>
            </a:r>
            <a:r>
              <a:rPr lang="ru-RU" dirty="0"/>
              <a:t>”, то есть переход с сохранением адреса возврата.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Механизм разный, но смысл одинаковый: передать управление в функцию и потом вернуться обратно.</a:t>
            </a:r>
          </a:p>
          <a:p>
            <a:r>
              <a:rPr lang="ru-RU" dirty="0"/>
              <a:t>И наконец, обе программы возвращают результат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В x86-64 код возврата кладётся в </a:t>
            </a:r>
            <a:r>
              <a:rPr lang="ru-RU" b="1" dirty="0"/>
              <a:t>EAX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в ARM64 — в </a:t>
            </a:r>
            <a:r>
              <a:rPr lang="ru-RU" b="1" dirty="0"/>
              <a:t>W0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Это опять же часть ABI: архитектуры разные, но идея одна — фиксированный регистр для результата.</a:t>
            </a:r>
          </a:p>
          <a:p>
            <a:r>
              <a:rPr lang="ru-RU" dirty="0"/>
              <a:t>Вывод здесь важный:</a:t>
            </a:r>
            <a:r>
              <a:rPr lang="en-US" dirty="0"/>
              <a:t> </a:t>
            </a:r>
            <a:r>
              <a:rPr lang="ru-RU" b="1" dirty="0"/>
              <a:t>ассемблерный код непереносим</a:t>
            </a:r>
            <a:r>
              <a:rPr lang="ru-RU" dirty="0"/>
              <a:t>, и под разные архитектуры он выглядит по-разному.</a:t>
            </a:r>
            <a:br>
              <a:rPr lang="ru-RU" dirty="0"/>
            </a:br>
            <a:r>
              <a:rPr lang="ru-RU" dirty="0"/>
              <a:t>Но при этом есть общее “ядро”:</a:t>
            </a:r>
            <a:r>
              <a:rPr lang="en-US" dirty="0"/>
              <a:t> </a:t>
            </a:r>
            <a:r>
              <a:rPr lang="ru-RU" dirty="0"/>
              <a:t>любой вызов функции сводится к одному и тому же шаблону —</a:t>
            </a:r>
            <a:r>
              <a:rPr lang="en-US" dirty="0"/>
              <a:t> </a:t>
            </a:r>
            <a:r>
              <a:rPr lang="ru-RU" i="1" dirty="0"/>
              <a:t>подготовить аргументы → выполнить вызов → вернуть значение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78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 программы на языке C, которая читает два целых числа, складывает их и выводит результат.</a:t>
            </a:r>
          </a:p>
          <a:p>
            <a:endParaRPr lang="ru-RU" dirty="0"/>
          </a:p>
          <a:p>
            <a:r>
              <a:rPr lang="ru-RU" dirty="0"/>
              <a:t>В начале мы объявляем три целочисленные переменные: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считывает данные со стандартного ввода. Форматная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"%d %d"</a:t>
            </a:r>
            <a:r>
              <a:rPr lang="ru-RU" dirty="0"/>
              <a:t> говорит, что мы ожидаем два целых числа.</a:t>
            </a:r>
          </a:p>
          <a:p>
            <a:endParaRPr lang="ru-RU" dirty="0"/>
          </a:p>
          <a:p>
            <a:r>
              <a:rPr lang="ru-RU" dirty="0"/>
              <a:t>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мы передаём переменные с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. Пока можно просто запомнить правило: </a:t>
            </a:r>
            <a:r>
              <a:rPr lang="ru-RU" b="1" dirty="0"/>
              <a:t>для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b="1" dirty="0"/>
              <a:t> мы всегда используем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b="1" dirty="0"/>
              <a:t> перед именем переменной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Почему это так, мы подробно разберём позже в курсе. Далее мы выполняем обычное сложение двух чисел</a:t>
            </a:r>
            <a:br>
              <a:rPr lang="ru-RU" dirty="0"/>
            </a:br>
            <a:r>
              <a:rPr lang="ru-RU" dirty="0"/>
              <a:t>и сохраняем результат в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, чтобы вывести результат на экран в удобном формате.</a:t>
            </a:r>
          </a:p>
          <a:p>
            <a:r>
              <a:rPr lang="ru-RU" dirty="0"/>
              <a:t>Этот пример показывает, что программа на C — это последовательность простых операций: ввод данных, вычисление и вывод результата.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15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любая переменная должна быть объявлена с указанием её типа, и этот тип остаётся связан с переменной на всём протяжении её жизни.</a:t>
            </a:r>
            <a:r>
              <a:rPr lang="en-US" dirty="0"/>
              <a:t> </a:t>
            </a:r>
            <a:r>
              <a:rPr lang="ru-RU" dirty="0"/>
              <a:t>Переменные можно объявлять внутри функций, тогда они будут локальными и доступны только внутри соответствующего блока, либо вне функций, тогда они будут глобальными и доступны из всех функций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программе, где мы считывали числа из консоли, локальные переменные использовались для временного хранения введённых значений.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Важно помнить, что при объявлении локальной переменной её значение не определено, пока мы явно не присвоим ей значение или не вызовем функцию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, которая запишет туда данные.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Использование неинициализированных переменных опасно и приводит к неопределённому поведению, то есть программа может работать непредсказуемо.</a:t>
            </a:r>
            <a:r>
              <a:rPr lang="en-US" dirty="0"/>
              <a:t> </a:t>
            </a:r>
            <a:r>
              <a:rPr lang="ru-RU" dirty="0"/>
              <a:t>Поэтому хорошей практикой является инициализация переменных при объявлении, особенно если значение можно задать сразу.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 как для инициализации переменных часто используются выражения с другими переменными, в современном C рекомендуется объявлять переменные ближе к месту их первого использования, а не в начале функции, как это требовалось в старых стандартах до C99.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Значение локальной переменной сохраняется только до выхода из блока, в котором она объявлена, а при повторном входе в этот блок, например при новом вызове функции, локальные переменные создаются заново и не сохраняют значения с прошлого выполнения.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Глобальные переменные, в отличие от локальных, по умолчанию инициализируются нулевым значением, если явно не задано иное.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259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поговорим о целых типах в языке C,</a:t>
            </a:r>
            <a:r>
              <a:rPr lang="en-US" dirty="0"/>
              <a:t> </a:t>
            </a:r>
            <a:r>
              <a:rPr lang="ru-RU" dirty="0"/>
              <a:t>начиная с самого основного —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— это базовый целочисленный тип языка C.</a:t>
            </a:r>
            <a:r>
              <a:rPr lang="en-US" dirty="0"/>
              <a:t> </a:t>
            </a:r>
            <a:r>
              <a:rPr lang="ru-RU" dirty="0"/>
              <a:t>Именно его вы будете чаще всего использовать</a:t>
            </a:r>
            <a:r>
              <a:rPr lang="en-US" dirty="0"/>
              <a:t> </a:t>
            </a:r>
            <a:r>
              <a:rPr lang="ru-RU" dirty="0"/>
              <a:t>для счётчиков, арифметики и простых вычислений.</a:t>
            </a:r>
            <a:endParaRPr lang="en-US" dirty="0"/>
          </a:p>
          <a:p>
            <a:r>
              <a:rPr lang="ru-RU" dirty="0"/>
              <a:t>Важно сразу подчеркнуть один принципиальный момент:</a:t>
            </a:r>
            <a:r>
              <a:rPr lang="en-US" dirty="0"/>
              <a:t> </a:t>
            </a:r>
            <a:r>
              <a:rPr lang="ru-RU" b="1" dirty="0"/>
              <a:t>язык C не фиксирует точный размер типа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Стандарт языка гарантирует только,</a:t>
            </a:r>
            <a:r>
              <a:rPr lang="en-US" dirty="0"/>
              <a:t> </a:t>
            </a:r>
            <a:r>
              <a:rPr lang="ru-RU" dirty="0"/>
              <a:t>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имеет размер </a:t>
            </a:r>
            <a:r>
              <a:rPr lang="ru-RU" b="1" dirty="0"/>
              <a:t>не меньше 16 бит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Всё остальное зависит от архитектуры и компилятора.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большинстве современных систем —</a:t>
            </a:r>
            <a:r>
              <a:rPr lang="en-US" dirty="0"/>
              <a:t> </a:t>
            </a:r>
            <a:r>
              <a:rPr lang="ru-RU" dirty="0"/>
              <a:t>как на x86-64, так и на ARM64 —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обычно занимает </a:t>
            </a:r>
            <a:r>
              <a:rPr lang="ru-RU" b="1" dirty="0"/>
              <a:t>32 бита</a:t>
            </a:r>
            <a:r>
              <a:rPr lang="ru-RU" dirty="0"/>
              <a:t>, то есть 4 байта.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Именно этот случай мы будем подразумевать в примерах курса.</a:t>
            </a:r>
            <a:r>
              <a:rPr lang="en-US" dirty="0"/>
              <a:t> </a:t>
            </a:r>
            <a:r>
              <a:rPr lang="ru-RU" dirty="0"/>
              <a:t>Однако при написании переносимого кода</a:t>
            </a:r>
            <a:br>
              <a:rPr lang="ru-RU" dirty="0"/>
            </a:br>
            <a:r>
              <a:rPr lang="ru-RU" dirty="0"/>
              <a:t>нельзя жёстко полагаться на конкретный 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Это одно из исторических решений языка C,</a:t>
            </a:r>
            <a:r>
              <a:rPr lang="en-US" dirty="0"/>
              <a:t> </a:t>
            </a:r>
            <a:r>
              <a:rPr lang="ru-RU" dirty="0"/>
              <a:t>которое позволило ему работать</a:t>
            </a:r>
            <a:r>
              <a:rPr lang="en-US" dirty="0"/>
              <a:t> </a:t>
            </a:r>
            <a:r>
              <a:rPr lang="ru-RU" dirty="0"/>
              <a:t>на самых разных платформах — от микроконтроллеров</a:t>
            </a:r>
            <a:r>
              <a:rPr lang="en-US" dirty="0"/>
              <a:t> </a:t>
            </a:r>
            <a:r>
              <a:rPr lang="ru-RU" dirty="0"/>
              <a:t>до современных процессоров.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Позже в курсе мы поговорим о том,</a:t>
            </a:r>
            <a:r>
              <a:rPr lang="en-US" dirty="0"/>
              <a:t> </a:t>
            </a:r>
            <a:r>
              <a:rPr lang="ru-RU" dirty="0"/>
              <a:t>как явно задавать размеры целых типов</a:t>
            </a:r>
            <a:r>
              <a:rPr lang="en-US" dirty="0"/>
              <a:t> </a:t>
            </a:r>
            <a:r>
              <a:rPr lang="ru-RU" dirty="0"/>
              <a:t>и почему это иногда бывает важно.</a:t>
            </a:r>
            <a:br>
              <a:rPr lang="ru-RU" dirty="0"/>
            </a:br>
            <a:r>
              <a:rPr lang="ru-RU" dirty="0"/>
              <a:t>Пока же достаточно помнить: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— основной целочисленный тип,</a:t>
            </a:r>
            <a:r>
              <a:rPr lang="en-US" dirty="0"/>
              <a:t> </a:t>
            </a:r>
            <a:r>
              <a:rPr lang="ru-RU" dirty="0"/>
              <a:t>и чаще всего он равен 32 битам.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0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целые числа можно записывать в разных системах счисления. Это часто используется при работе с низкоуровневыми данными, битами и флагами. Если число записано без специального префикса, оно считается десятичным. Это наиболее привычная форма записи.</a:t>
            </a:r>
          </a:p>
          <a:p>
            <a:endParaRPr lang="ru-RU" dirty="0"/>
          </a:p>
          <a:p>
            <a:r>
              <a:rPr lang="ru-RU" dirty="0"/>
              <a:t>Если число начинается с нуля, оно интерпретируется как восьмеричное.</a:t>
            </a:r>
            <a:r>
              <a:rPr lang="en-US" dirty="0"/>
              <a:t> </a:t>
            </a:r>
            <a:r>
              <a:rPr lang="ru-RU" dirty="0"/>
              <a:t>Такая форма встречается реже, но всё ещё используется, например, при работе с правами доступа.</a:t>
            </a:r>
          </a:p>
          <a:p>
            <a:endParaRPr lang="ru-RU" dirty="0"/>
          </a:p>
          <a:p>
            <a:r>
              <a:rPr lang="ru-RU" dirty="0"/>
              <a:t>Шестнадцатеричные числа записываются с префиксом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Эта форма очень распространена в системном программировании, так как удобно соответствует двоичному представлению.</a:t>
            </a:r>
          </a:p>
          <a:p>
            <a:endParaRPr lang="ru-RU" dirty="0"/>
          </a:p>
          <a:p>
            <a:r>
              <a:rPr lang="ru-RU" dirty="0"/>
              <a:t>Начиная со стандарта C23, в языке появилась возможность записывать двоичные числа с префиксом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0b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0B</a:t>
            </a:r>
            <a:r>
              <a:rPr lang="ru-RU" dirty="0"/>
              <a:t>. Это делает код более наглядным, когда важно явно показать отдельные биты.</a:t>
            </a:r>
          </a:p>
          <a:p>
            <a:endParaRPr lang="ru-RU" dirty="0"/>
          </a:p>
          <a:p>
            <a:r>
              <a:rPr lang="ru-RU" dirty="0"/>
              <a:t>Важно понимать, что система счисления влияет только на то, </a:t>
            </a:r>
            <a:r>
              <a:rPr lang="ru-RU" b="1" dirty="0"/>
              <a:t>как число записано в исходном коде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Само значение переменной от этого не меняется. Мы будем постепенно использовать такие записи в курсе, особенно когда перейдём к работе с битами и аппаратными регистрами.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953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002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выполнения практических заданий нам понадобятся арифметические операции над целыми числами.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 языке C они выглядят привычно и во многом совпадают с математической записью.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Операции сложения, вычитания и умножения работают ожидаемым образом.</a:t>
            </a:r>
            <a:endParaRPr lang="en-US" dirty="0"/>
          </a:p>
          <a:p>
            <a:r>
              <a:rPr lang="ru-RU" dirty="0"/>
              <a:t>Деление двух целых чисел также даёт целое число — дробная часть просто отбрасывается.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  <a:r>
              <a:rPr lang="ru-RU" dirty="0"/>
              <a:t> вычисляет остаток от деления.</a:t>
            </a:r>
            <a:br>
              <a:rPr lang="ru-RU" dirty="0"/>
            </a:br>
            <a:r>
              <a:rPr lang="ru-RU" dirty="0"/>
              <a:t>Он часто используется для проверки кратности, чётности чисел и в циклах.</a:t>
            </a:r>
          </a:p>
          <a:p>
            <a:r>
              <a:rPr lang="ru-RU" dirty="0"/>
              <a:t>Все эти операции применяются к значениям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возвращают результат того же типа.</a:t>
            </a:r>
          </a:p>
          <a:p>
            <a:endParaRPr lang="ru-RU" dirty="0"/>
          </a:p>
          <a:p>
            <a:r>
              <a:rPr lang="ru-RU" dirty="0"/>
              <a:t>При работе с целыми числами важно понимать, как в языке C ведут себя операции деления и остатка,</a:t>
            </a:r>
            <a:br>
              <a:rPr lang="ru-RU" dirty="0"/>
            </a:br>
            <a:r>
              <a:rPr lang="ru-RU" dirty="0"/>
              <a:t>особенно если один или оба операнда отрицательные.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 выполняет </a:t>
            </a:r>
            <a:r>
              <a:rPr lang="ru-RU" b="1" dirty="0"/>
              <a:t>целочисленное деление</a:t>
            </a:r>
            <a:r>
              <a:rPr lang="ru-RU" dirty="0"/>
              <a:t>. Дробная часть результата отбрасывается,</a:t>
            </a:r>
            <a:r>
              <a:rPr lang="en-US" dirty="0"/>
              <a:t> </a:t>
            </a:r>
            <a:r>
              <a:rPr lang="ru-RU" dirty="0"/>
              <a:t>и округление всегда происходит </a:t>
            </a:r>
            <a:r>
              <a:rPr lang="ru-RU" b="1" dirty="0"/>
              <a:t>в сторону нуля</a:t>
            </a:r>
            <a:r>
              <a:rPr lang="ru-RU" dirty="0"/>
              <a:t>, а не вниз, как это часто делается в математике.</a:t>
            </a:r>
          </a:p>
          <a:p>
            <a:r>
              <a:rPr lang="ru-RU" dirty="0"/>
              <a:t>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-7 / 3</a:t>
            </a:r>
            <a:r>
              <a:rPr lang="ru-RU" dirty="0"/>
              <a:t> в C даёт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-2</a:t>
            </a:r>
            <a:r>
              <a:rPr lang="ru-RU" dirty="0"/>
              <a:t>, тогда как в некоторых математических определениях</a:t>
            </a:r>
            <a:r>
              <a:rPr lang="en-US" dirty="0"/>
              <a:t> </a:t>
            </a:r>
            <a:r>
              <a:rPr lang="ru-RU" dirty="0"/>
              <a:t>результатом было бы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-3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  <a:r>
              <a:rPr lang="ru-RU" dirty="0"/>
              <a:t> вычисляет остаток от деления. В языке C знак результата остатка совпадает со знаком </a:t>
            </a:r>
            <a:r>
              <a:rPr lang="ru-RU" b="1" dirty="0"/>
              <a:t>делимого</a:t>
            </a:r>
            <a:r>
              <a:rPr lang="ru-RU" dirty="0"/>
              <a:t>, то есть первого операнда.</a:t>
            </a:r>
          </a:p>
          <a:p>
            <a:r>
              <a:rPr lang="ru-RU" dirty="0"/>
              <a:t>Это поведение определено стандартом языка и может отличаться от математических соглашений,</a:t>
            </a:r>
            <a:r>
              <a:rPr lang="en-US" dirty="0"/>
              <a:t> </a:t>
            </a:r>
            <a:r>
              <a:rPr lang="ru-RU" dirty="0"/>
              <a:t>которые вы могли встречать раньше.</a:t>
            </a:r>
          </a:p>
          <a:p>
            <a:endParaRPr lang="ru-RU" dirty="0"/>
          </a:p>
          <a:p>
            <a:r>
              <a:rPr lang="ru-RU" dirty="0"/>
              <a:t>Также важно помнить, что деление или взятие остатка от деления на ноль запрещены.</a:t>
            </a:r>
            <a:br>
              <a:rPr lang="ru-RU" dirty="0"/>
            </a:br>
            <a:r>
              <a:rPr lang="ru-RU" dirty="0"/>
              <a:t>Такие операции приводят к неопределённому поведению и, как правило, к аварийному завершению программы.</a:t>
            </a:r>
          </a:p>
          <a:p>
            <a:r>
              <a:rPr lang="ru-RU" dirty="0"/>
              <a:t>Поэтому при написании программ всегда необходимо проверять, что делитель не равен нулю.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907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предыдущем примере мы использовали две функции стандартной библиотеки: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Давайте кратко разберём, как они работают на практике.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используется для </a:t>
            </a:r>
            <a:r>
              <a:rPr lang="ru-RU" b="1" dirty="0"/>
              <a:t>форматированного вывода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Она принимает форматную строку и значения,</a:t>
            </a:r>
            <a:r>
              <a:rPr lang="en-US" dirty="0"/>
              <a:t> </a:t>
            </a:r>
            <a:r>
              <a:rPr lang="ru-RU" dirty="0"/>
              <a:t>которые нужно вывести.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формате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%d</a:t>
            </a:r>
            <a:r>
              <a:rPr lang="ru-RU" dirty="0"/>
              <a:t> означает:</a:t>
            </a:r>
            <a:r>
              <a:rPr lang="en-US" dirty="0"/>
              <a:t> </a:t>
            </a:r>
            <a:r>
              <a:rPr lang="ru-RU" i="1" dirty="0"/>
              <a:t>вывести целое число типа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\n</a:t>
            </a:r>
            <a:r>
              <a:rPr lang="ru-RU" dirty="0"/>
              <a:t> — это перевод строки.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используется для </a:t>
            </a:r>
            <a:r>
              <a:rPr lang="ru-RU" b="1" dirty="0"/>
              <a:t>форматированного ввода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Она тоже принимает форматную строку,</a:t>
            </a:r>
            <a:br>
              <a:rPr lang="ru-RU" dirty="0"/>
            </a:br>
            <a:r>
              <a:rPr lang="ru-RU" dirty="0"/>
              <a:t>но вместо значений мы передаём переменные,</a:t>
            </a:r>
            <a:r>
              <a:rPr lang="en-US" dirty="0"/>
              <a:t> </a:t>
            </a:r>
            <a:r>
              <a:rPr lang="ru-RU" dirty="0"/>
              <a:t>в которые будут записаны считанные данные.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Формат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%d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означает:</a:t>
            </a:r>
            <a:r>
              <a:rPr lang="en-US" dirty="0"/>
              <a:t> </a:t>
            </a:r>
            <a:r>
              <a:rPr lang="ru-RU" i="1" dirty="0"/>
              <a:t>считать целое число и сохранить его в переменной типа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r>
              <a:rPr lang="ru-RU" dirty="0"/>
              <a:t>Пока достаточно запомнить простое правило:</a:t>
            </a:r>
            <a:r>
              <a:rPr lang="en-US" dirty="0"/>
              <a:t> </a:t>
            </a:r>
            <a:r>
              <a:rPr lang="ru-RU" dirty="0"/>
              <a:t>если мы используем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%d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мы передаём адрес переменной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курсе мы будем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как удобный способ ввода и вывода данных,</a:t>
            </a:r>
            <a:r>
              <a:rPr lang="en-US" dirty="0"/>
              <a:t> </a:t>
            </a:r>
            <a:r>
              <a:rPr lang="ru-RU" dirty="0"/>
              <a:t>не вдаваясь пока в их внутреннюю реализацию.</a:t>
            </a:r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34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ещё один классический пример на языке C — программу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Она читает символы со стандартного ввода и сразу же выводит их обратно.</a:t>
            </a:r>
          </a:p>
          <a:p>
            <a:endParaRPr lang="ru-RU" dirty="0"/>
          </a:p>
          <a:p>
            <a:r>
              <a:rPr lang="ru-RU" dirty="0"/>
              <a:t>Здесь мы используем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dirty="0"/>
              <a:t>, которая считывает </a:t>
            </a:r>
            <a:r>
              <a:rPr lang="ru-RU" b="1" dirty="0"/>
              <a:t>один символ за один вызов</a:t>
            </a:r>
            <a:r>
              <a:rPr lang="en-US" b="1" dirty="0"/>
              <a:t> </a:t>
            </a:r>
            <a:r>
              <a:rPr lang="ru-RU" dirty="0"/>
              <a:t>и возвращает его в виде целого числа. Символ сохраняется в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Обратите внимание, что это сделано намеренно — позже мы поймём, почему для этого используется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работает до тех пор, пока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dirty="0"/>
              <a:t> не вернёт специальное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.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 означает </a:t>
            </a:r>
            <a:r>
              <a:rPr lang="ru-RU" i="1" dirty="0"/>
              <a:t>конец ввода</a:t>
            </a:r>
            <a:r>
              <a:rPr lang="ru-RU" dirty="0"/>
              <a:t> — например, конец файла или завершение ввода с клавиатуры.</a:t>
            </a:r>
          </a:p>
          <a:p>
            <a:r>
              <a:rPr lang="ru-RU" dirty="0"/>
              <a:t>Внутри цикла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putchar</a:t>
            </a:r>
            <a:r>
              <a:rPr lang="ru-RU" dirty="0"/>
              <a:t>, который выводит один символ на стандартный вывод.</a:t>
            </a:r>
          </a:p>
          <a:p>
            <a:r>
              <a:rPr lang="ru-RU" dirty="0"/>
              <a:t>Таким образом, программа:</a:t>
            </a:r>
          </a:p>
          <a:p>
            <a:endParaRPr lang="ru-RU" dirty="0"/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читает символ,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проверяет, не конец ли ввода,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и если нет — выводит его.</a:t>
            </a:r>
          </a:p>
          <a:p>
            <a:endParaRPr lang="ru-RU" dirty="0"/>
          </a:p>
          <a:p>
            <a:r>
              <a:rPr lang="ru-RU" dirty="0"/>
              <a:t>Этот пример важен по нескольким причинам: он показывает работу с вводом-выводом на уровне отдельных символов, знакомит с циклом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, и вводит понятие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которое часто используется при работе с файлами и потоками.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63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отдельно разберём 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в языке C.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— это цикл с </a:t>
            </a:r>
            <a:r>
              <a:rPr lang="ru-RU" b="1" dirty="0"/>
              <a:t>предварительной проверкой условия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Это означает, что перед каждой итерацией</a:t>
            </a:r>
            <a:r>
              <a:rPr lang="en-US" dirty="0"/>
              <a:t> </a:t>
            </a:r>
            <a:r>
              <a:rPr lang="ru-RU" dirty="0"/>
              <a:t>сначала проверяется условие,</a:t>
            </a:r>
            <a:r>
              <a:rPr lang="en-US" dirty="0"/>
              <a:t> </a:t>
            </a:r>
            <a:r>
              <a:rPr lang="ru-RU" dirty="0"/>
              <a:t>и только если оно истинно, выполняется тело цикла.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условие ложно,</a:t>
            </a:r>
            <a:r>
              <a:rPr lang="en-US" dirty="0"/>
              <a:t> </a:t>
            </a:r>
            <a:r>
              <a:rPr lang="ru-RU" dirty="0"/>
              <a:t>тело цикла не выполняется ни разу</a:t>
            </a:r>
            <a:r>
              <a:rPr lang="en-US" dirty="0"/>
              <a:t> </a:t>
            </a:r>
            <a:r>
              <a:rPr lang="ru-RU" dirty="0"/>
              <a:t>и выполнение программы продолжается после цикла.</a:t>
            </a:r>
          </a:p>
          <a:p>
            <a:r>
              <a:rPr lang="ru-RU" dirty="0"/>
              <a:t>В программе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ru-RU" dirty="0"/>
              <a:t> условием цикла является выражение</a:t>
            </a:r>
            <a:r>
              <a:rPr lang="en-US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 != EOF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каждой итерации:</a:t>
            </a:r>
            <a:r>
              <a:rPr lang="en-US" dirty="0"/>
              <a:t> </a:t>
            </a:r>
            <a:r>
              <a:rPr lang="ru-RU" dirty="0"/>
              <a:t>считывается один символ,</a:t>
            </a:r>
            <a:r>
              <a:rPr lang="en-US" dirty="0"/>
              <a:t> </a:t>
            </a:r>
            <a:r>
              <a:rPr lang="ru-RU" dirty="0"/>
              <a:t>результат сохраняется в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затем проверяется, не равно ли значение </a:t>
            </a:r>
            <a:r>
              <a:rPr lang="en-US" b="1" dirty="0"/>
              <a:t>c</a:t>
            </a:r>
            <a:r>
              <a:rPr lang="ru-RU" b="1" dirty="0"/>
              <a:t> </a:t>
            </a:r>
            <a:r>
              <a:rPr lang="ru-RU" b="0" dirty="0"/>
              <a:t>значению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. Пока ввод не закончился, условие истинно и цикл продолжается.</a:t>
            </a:r>
          </a:p>
          <a:p>
            <a:endParaRPr lang="ru-RU" dirty="0"/>
          </a:p>
          <a:p>
            <a:r>
              <a:rPr lang="ru-RU" dirty="0"/>
              <a:t>Как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условие становится ложным и цикл завершается.</a:t>
            </a:r>
          </a:p>
          <a:p>
            <a:r>
              <a:rPr lang="ru-RU" dirty="0"/>
              <a:t>Такой стиль записи очень распространён в языке C: в одном выражении совмещаются</a:t>
            </a:r>
            <a:br>
              <a:rPr lang="ru-RU" dirty="0"/>
            </a:br>
            <a:r>
              <a:rPr lang="ru-RU" dirty="0"/>
              <a:t>присваивание и проверка условия.</a:t>
            </a:r>
          </a:p>
          <a:p>
            <a:endParaRPr lang="ru-RU" dirty="0"/>
          </a:p>
          <a:p>
            <a:r>
              <a:rPr lang="ru-RU" dirty="0"/>
              <a:t>Пока достаточно понимать, что 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выполняет код до тех пор, пока истинно заданное условие.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580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фигурные скобки играют очень важную роль,</a:t>
            </a:r>
            <a:r>
              <a:rPr lang="en-US" dirty="0"/>
              <a:t> </a:t>
            </a:r>
            <a:r>
              <a:rPr lang="ru-RU" dirty="0"/>
              <a:t>особенно в условных операторах и циклах.</a:t>
            </a:r>
          </a:p>
          <a:p>
            <a:r>
              <a:rPr lang="ru-RU" dirty="0"/>
              <a:t>Если тело цикла состоит </a:t>
            </a:r>
            <a:r>
              <a:rPr lang="ru-RU" b="1" dirty="0"/>
              <a:t>ровно из одной инструкции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фигурные скобки можно не писать.</a:t>
            </a:r>
            <a:br>
              <a:rPr lang="ru-RU" dirty="0"/>
            </a:br>
            <a:r>
              <a:rPr lang="ru-RU" dirty="0"/>
              <a:t>В этом случае в цикл входит </a:t>
            </a:r>
            <a:r>
              <a:rPr lang="ru-RU" b="1" dirty="0"/>
              <a:t>только следующая инструкция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если внутри цикла нужно выполнить</a:t>
            </a:r>
            <a:r>
              <a:rPr lang="en-US" dirty="0"/>
              <a:t> </a:t>
            </a:r>
            <a:r>
              <a:rPr lang="ru-RU" dirty="0"/>
              <a:t>две и более инструкции,</a:t>
            </a:r>
            <a:r>
              <a:rPr lang="en-US" dirty="0"/>
              <a:t> </a:t>
            </a:r>
            <a:r>
              <a:rPr lang="ru-RU" dirty="0"/>
              <a:t>фигурные скобки </a:t>
            </a:r>
            <a:r>
              <a:rPr lang="ru-RU" b="1" dirty="0"/>
              <a:t>обязательны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Они объединяют несколько инструкций в </a:t>
            </a:r>
            <a:r>
              <a:rPr lang="ru-RU" b="1" dirty="0"/>
              <a:t>блок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который с точки зрения языка считается одной составной инструкцией. Формально это означает,</a:t>
            </a:r>
            <a:r>
              <a:rPr lang="en-US" dirty="0"/>
              <a:t> </a:t>
            </a:r>
            <a:r>
              <a:rPr lang="ru-RU" dirty="0"/>
              <a:t>что 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управляет либо одной инструкцией,</a:t>
            </a:r>
            <a:r>
              <a:rPr lang="en-US" dirty="0"/>
              <a:t> </a:t>
            </a:r>
            <a:r>
              <a:rPr lang="ru-RU" dirty="0"/>
              <a:t>либо одним блоком. </a:t>
            </a:r>
          </a:p>
          <a:p>
            <a:endParaRPr lang="ru-RU" dirty="0"/>
          </a:p>
          <a:p>
            <a:r>
              <a:rPr lang="ru-RU" dirty="0"/>
              <a:t>Несмотря на то, что скобки иногда можно опустить,</a:t>
            </a:r>
            <a:r>
              <a:rPr lang="en-US" dirty="0"/>
              <a:t> </a:t>
            </a:r>
            <a:r>
              <a:rPr lang="ru-RU" b="1" dirty="0"/>
              <a:t>на практике этого делать не рекомендуется</a:t>
            </a:r>
            <a:r>
              <a:rPr lang="ru-RU" dirty="0"/>
              <a:t>. Причина проста:</a:t>
            </a:r>
            <a:r>
              <a:rPr lang="en-US" dirty="0"/>
              <a:t> </a:t>
            </a:r>
            <a:r>
              <a:rPr lang="ru-RU" dirty="0"/>
              <a:t>при добавлении новой строки в тело цикла</a:t>
            </a:r>
            <a:r>
              <a:rPr lang="en-US" dirty="0"/>
              <a:t> </a:t>
            </a:r>
            <a:r>
              <a:rPr lang="ru-RU" dirty="0"/>
              <a:t>очень легко допустить ошибку,</a:t>
            </a:r>
            <a:r>
              <a:rPr lang="en-US" dirty="0"/>
              <a:t> </a:t>
            </a:r>
            <a:r>
              <a:rPr lang="ru-RU" dirty="0"/>
              <a:t>когда часть кода внезапно оказывается вне цикла.</a:t>
            </a:r>
            <a:r>
              <a:rPr lang="en-US" dirty="0"/>
              <a:t> </a:t>
            </a:r>
            <a:r>
              <a:rPr lang="ru-RU" dirty="0"/>
              <a:t>Поэтому в этом курсе</a:t>
            </a:r>
            <a:r>
              <a:rPr lang="en-US" dirty="0"/>
              <a:t> </a:t>
            </a:r>
            <a:r>
              <a:rPr lang="ru-RU" dirty="0"/>
              <a:t>и в реальной разработке</a:t>
            </a:r>
            <a:r>
              <a:rPr lang="en-US" dirty="0"/>
              <a:t> </a:t>
            </a:r>
            <a:r>
              <a:rPr lang="ru-RU" dirty="0"/>
              <a:t>мы практически всегда будем придерживаться простого правила:</a:t>
            </a:r>
            <a:r>
              <a:rPr lang="en-US" dirty="0"/>
              <a:t> </a:t>
            </a:r>
            <a:r>
              <a:rPr lang="ru-RU" b="1" dirty="0"/>
              <a:t>всегда писать фигурные скобки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даже если внутри только одна инструкция.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67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познакомимся с условным оператором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.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 позволяет выполнить некоторый код </a:t>
            </a:r>
            <a:r>
              <a:rPr lang="ru-RU" b="1" dirty="0"/>
              <a:t>только при выполнении заданного условия</a:t>
            </a:r>
            <a:r>
              <a:rPr lang="ru-RU" dirty="0"/>
              <a:t>. </a:t>
            </a:r>
          </a:p>
          <a:p>
            <a:r>
              <a:rPr lang="ru-RU" dirty="0"/>
              <a:t>Сначала вычисляется выражение в круглых скобках. Если результат истинный — выполняется тело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Если ложный — выполнение просто идёт дальше. В этом примере строка будет выведена только в том случае, если значение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ru-RU" dirty="0"/>
              <a:t>больше значения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Как и в случае с циклом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, фигурные скобки задают блок инструкций. Даже если инструкция одна, мы будем писать скобки всегда.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07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672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не гарантирует, что она всегда успешно прочитает данные, поэтому хороший стиль — проверять её результат.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возвращает число полей, которые удалось прочитать и записать в переменные.</a:t>
            </a:r>
            <a:endParaRPr lang="en-US" dirty="0"/>
          </a:p>
          <a:p>
            <a:r>
              <a:rPr lang="ru-RU" dirty="0"/>
              <a:t>Например, если мы ожидаем одно целое число и 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("%d", &amp;x)</a:t>
            </a:r>
            <a:r>
              <a:rPr lang="ru-RU" dirty="0"/>
              <a:t>, то при успешном вводе она вернёт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. Если мы ожидаем два числа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("%d %d", &amp;a, &amp;b)</a:t>
            </a:r>
            <a:r>
              <a:rPr lang="ru-RU" dirty="0"/>
              <a:t>, то при успехе она вернёт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Если ввод закончился, то есть больше нечего читать,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. Если же во входном потоке находится что-то неподходящее для формата, например буква вместо числа,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вернёт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и не запишет значение в переменную.</a:t>
            </a:r>
            <a:endParaRPr lang="en-US" dirty="0"/>
          </a:p>
          <a:p>
            <a:r>
              <a:rPr lang="ru-RU" dirty="0"/>
              <a:t>Поэтому перед тем как использовать считанные значения, мы проверяем, что возвращаемое значение равно ожидаемому количеству прочитанных полей, и если нет, то выводим сообщение об ошибке и завершаем программу или просим пользователя повторить ввод.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5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мы хотим читать числа в цикле, важно понимать, что при ошибке формата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("%d", &amp;x)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, но при этом не “съедает” неверный символ из ввода.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Это означает, что если оставить всё как есть, следующая итерация увидит тот же самый символ и снова вернёт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, и программа зациклится.</a:t>
            </a:r>
            <a:endParaRPr lang="en-US" dirty="0"/>
          </a:p>
          <a:p>
            <a:endParaRPr lang="en-US" dirty="0"/>
          </a:p>
          <a:p>
            <a:r>
              <a:rPr lang="ru-RU" dirty="0"/>
              <a:t> Чтобы этого избежать, после неудачного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нужно убрать из входного потока хотя бы один символ, обычно это делается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Мы читаем один символ и отбрасываем его, а затем повторяем попытку. Если при этом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значит ввод закончился и дальше читать уже нечего, и в этом случае мы корректно завершаем программу.</a:t>
            </a:r>
            <a:endParaRPr lang="en-US" dirty="0"/>
          </a:p>
          <a:p>
            <a:endParaRPr lang="en-US" dirty="0"/>
          </a:p>
          <a:p>
            <a:r>
              <a:rPr lang="ru-RU" dirty="0"/>
              <a:t>Этот приём позволяет безопасно обрабатывать случай, когда пользователь вводит лишние символы, и не попадать в бесконечный цикл на ошибочном вводе.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179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505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 уже видели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— это точка входа программы. Но в реальных программах одной функции недостаточно.</a:t>
            </a:r>
          </a:p>
          <a:p>
            <a:endParaRPr lang="ru-RU" dirty="0"/>
          </a:p>
          <a:p>
            <a:r>
              <a:rPr lang="ru-RU" dirty="0"/>
              <a:t>Функции позволяют выносить повторяющиеся или логически связанные фрагменты кода в отдельные блоки и давать им понятные имена.</a:t>
            </a:r>
          </a:p>
          <a:p>
            <a:endParaRPr lang="ru-RU" dirty="0"/>
          </a:p>
          <a:p>
            <a:r>
              <a:rPr lang="ru-RU" dirty="0"/>
              <a:t>Если писать весь код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функция быстро разрастётся, и такую программу станет трудно читать и поддерживать.</a:t>
            </a:r>
          </a:p>
          <a:p>
            <a:endParaRPr lang="ru-RU" dirty="0"/>
          </a:p>
          <a:p>
            <a:r>
              <a:rPr lang="ru-RU" dirty="0"/>
              <a:t>Разбиение программы на функции делает код более структурированным, понятным и удобным для повторного использования.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545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важно различать объявление и определение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Объявление сообщает компилятору имя функции, тип возвращаемого значения и список параметров, и заканчивается точкой с запятой.</a:t>
            </a:r>
          </a:p>
          <a:p>
            <a:endParaRPr lang="en-US" dirty="0"/>
          </a:p>
          <a:p>
            <a:r>
              <a:rPr lang="ru-RU" dirty="0"/>
              <a:t>Определение функции содержит её тело — код, который будет выполняться при вызове функции.</a:t>
            </a:r>
          </a:p>
          <a:p>
            <a:r>
              <a:rPr lang="ru-RU" dirty="0"/>
              <a:t>Язык C требует, чтобы функция была объявлена до первого использования.</a:t>
            </a:r>
            <a:br>
              <a:rPr lang="ru-RU" dirty="0"/>
            </a:br>
            <a:endParaRPr lang="en-US" dirty="0"/>
          </a:p>
          <a:p>
            <a:r>
              <a:rPr lang="ru-RU" dirty="0"/>
              <a:t>Исторически это связано с тем, что компиляторы C анализировали программу сверху вниз за один проход, что упрощало их реализацию.</a:t>
            </a:r>
            <a:r>
              <a:rPr lang="en-US" dirty="0"/>
              <a:t> </a:t>
            </a:r>
            <a:r>
              <a:rPr lang="ru-RU" dirty="0"/>
              <a:t>Именно поэтому мы в самом начале подключали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dirty="0"/>
              <a:t> — в нём находятся объявления функций стандартной библиотеки.</a:t>
            </a:r>
          </a:p>
          <a:p>
            <a:endParaRPr lang="ru-RU" dirty="0"/>
          </a:p>
          <a:p>
            <a:r>
              <a:rPr lang="ru-RU" dirty="0"/>
              <a:t>При этом каждая функция должна быть определена в программе ровно один раз, но объявляться она может сколько угодно раз.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627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в языке C может не возвращать никакого значения.</a:t>
            </a:r>
            <a:br>
              <a:rPr lang="ru-RU" dirty="0"/>
            </a:br>
            <a:r>
              <a:rPr lang="ru-RU" dirty="0"/>
              <a:t>В этом случае в качестве типа возвращаемого значения указывается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.</a:t>
            </a:r>
          </a:p>
          <a:p>
            <a:r>
              <a:rPr lang="ru-RU" dirty="0"/>
              <a:t>Внутри такой функции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если он используется, записывается без выражения и заканчивается точкой с запятой.</a:t>
            </a:r>
          </a:p>
          <a:p>
            <a:endParaRPr lang="ru-RU" dirty="0"/>
          </a:p>
          <a:p>
            <a:r>
              <a:rPr lang="ru-RU" dirty="0"/>
              <a:t>При этом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-функции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можно вообще не писать, и тогда при достижении конца тела функции управление автоматически возвращается в вызывающую функцию.</a:t>
            </a:r>
          </a:p>
          <a:p>
            <a:r>
              <a:rPr lang="ru-RU" dirty="0"/>
              <a:t>Такие функции часто используются для выполнения действий, например вывода данных или изменения состояния программы, когда возвращаемое значение не требуется.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94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возвращает значение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которое используется как код завершения программы.</a:t>
            </a:r>
            <a:br>
              <a:rPr lang="ru-RU" dirty="0"/>
            </a:br>
            <a:r>
              <a:rPr lang="ru-RU" dirty="0"/>
              <a:t>По соглашению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означает успешное выполнение.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языке C разрешено не писать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в конце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и тогда при достижении конца функции программа завершится с кодом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всех остальных функций, возвращающих значение, отличное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,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обязателен.</a:t>
            </a:r>
            <a:br>
              <a:rPr lang="ru-RU" dirty="0"/>
            </a:br>
            <a:r>
              <a:rPr lang="ru-RU" dirty="0"/>
              <a:t>В таких функциях не должно существовать путей выполнения, в которых управление может дойти до конца функции без выполнения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требование позволяет избежать неопределённого поведения и делает поведение программы предсказуемым.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987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аргументы функций передаются </a:t>
            </a:r>
            <a:r>
              <a:rPr lang="ru-RU" b="1" dirty="0"/>
              <a:t>по значению</a:t>
            </a:r>
            <a:r>
              <a:rPr lang="ru-RU" dirty="0"/>
              <a:t>. Это означает, что при вызове функции в неё передаётся </a:t>
            </a:r>
            <a:r>
              <a:rPr lang="ru-RU" b="1" dirty="0"/>
              <a:t>копия значения аргумента</a:t>
            </a:r>
            <a:r>
              <a:rPr lang="ru-RU" dirty="0"/>
              <a:t>, а не сама переменная.</a:t>
            </a:r>
          </a:p>
          <a:p>
            <a:endParaRPr lang="ru-RU" dirty="0"/>
          </a:p>
          <a:p>
            <a:r>
              <a:rPr lang="ru-RU" dirty="0"/>
              <a:t>В приведённом примере в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</a:t>
            </a:r>
            <a:r>
              <a:rPr lang="ru-RU" dirty="0"/>
              <a:t> передаётся значение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 Внутри функции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является отдельной переменной, и изменения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не затрагивают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Поэтому после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(a)</a:t>
            </a:r>
            <a:r>
              <a:rPr lang="ru-RU" dirty="0"/>
              <a:t>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остаётся прежним.</a:t>
            </a:r>
          </a:p>
          <a:p>
            <a:endParaRPr lang="ru-RU" dirty="0"/>
          </a:p>
          <a:p>
            <a:r>
              <a:rPr lang="ru-RU" dirty="0"/>
              <a:t>Существует способ изменить значение переменной так, чтобы результат был виден вызывающей функции. </a:t>
            </a:r>
            <a:br>
              <a:rPr lang="ru-RU" dirty="0"/>
            </a:br>
            <a:r>
              <a:rPr lang="ru-RU" dirty="0"/>
              <a:t>Для этого в функцию передаётся не само значение, а информация о том, где переменная находится. Так, например, действует знакомая функция </a:t>
            </a:r>
            <a:r>
              <a:rPr lang="en-US" dirty="0" err="1"/>
              <a:t>scanf</a:t>
            </a:r>
            <a:endParaRPr lang="ru-RU" dirty="0"/>
          </a:p>
          <a:p>
            <a:br>
              <a:rPr lang="ru-RU" dirty="0"/>
            </a:br>
            <a:r>
              <a:rPr lang="ru-RU" dirty="0"/>
              <a:t>Этот механизм мы рассмотрим позже в курсе.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65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Язык C является </a:t>
            </a:r>
            <a:r>
              <a:rPr lang="ru-RU" dirty="0" err="1"/>
              <a:t>регистрочувствительным</a:t>
            </a:r>
            <a:r>
              <a:rPr lang="ru-RU" dirty="0"/>
              <a:t>, то есть различает заглавные и строчные буквы.</a:t>
            </a:r>
            <a:br>
              <a:rPr lang="ru-RU" dirty="0"/>
            </a:br>
            <a:r>
              <a:rPr lang="ru-RU" dirty="0"/>
              <a:t>Это важно помнить, особенно если вы переходите на C из языка </a:t>
            </a:r>
            <a:r>
              <a:rPr lang="ru-RU" dirty="0" err="1"/>
              <a:t>Pascal</a:t>
            </a:r>
            <a:r>
              <a:rPr lang="ru-RU" dirty="0"/>
              <a:t>.</a:t>
            </a:r>
          </a:p>
          <a:p>
            <a:r>
              <a:rPr lang="ru-RU" dirty="0"/>
              <a:t>Например, имена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dirty="0"/>
              <a:t> — это разные идентификаторы.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 одном блоке не рекомендуется объявлять имена, отличающиеся только регистром, так как это повышает вероятность ошибок и ухудшает читаемость кода.</a:t>
            </a:r>
          </a:p>
          <a:p>
            <a:r>
              <a:rPr lang="ru-RU" dirty="0"/>
              <a:t>Большинство ключевых слов языка C записываются строчными буквами,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При этом стандарт языка также определяет несколько ключевых слов, начинающихся с подчёркивания, таких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Alignas</a:t>
            </a:r>
            <a:r>
              <a:rPr lang="ru-RU" dirty="0"/>
              <a:t>.</a:t>
            </a:r>
          </a:p>
          <a:p>
            <a:r>
              <a:rPr lang="ru-RU" dirty="0"/>
              <a:t>Имена функций, переменных и типов данных могут состоять из английских букв, цифр и символа подчёркивания, но имя не может начинаться с цифры.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языке C существуют зарезервированные имена.</a:t>
            </a:r>
            <a:br>
              <a:rPr lang="ru-RU" dirty="0"/>
            </a:br>
            <a:r>
              <a:rPr lang="ru-RU" dirty="0"/>
              <a:t>Имена, начинающиеся с подчёркивания и заглавной буквы, а также имена, начинающиеся с двух подчёркиваний, зарезервированы для стандартной библиотеки и компилятора.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Пользователь не должен объявлять такие имена самостоятельно, но может использовать их, если они предоставлены стандартной библиотекой.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Имена, начинающиеся с подчёркивания и строчной буквы, формально допустимы, но их использование не рекомендуется, чтобы избежать конфликтов с библиотеками и будущими версиями стандарта.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792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Сегодняшняя лекция была вводной и закладывала фундамент для всего курса. Мы посмотрели на микропроцессор не как на абстрактное устройство, а как на исполнителя конкретных машинных инструкций, и увидели, как код на языке C в итоге превращается в то, что выполняет процессор.</a:t>
            </a:r>
          </a:p>
          <a:p>
            <a:endParaRPr lang="ru-RU" dirty="0"/>
          </a:p>
          <a:p>
            <a:r>
              <a:rPr lang="ru-RU" dirty="0"/>
              <a:t> Мы познакомились с базовым синтаксисом языка C, научились писать простые программы, компилировать их и работать с вводом и выводом целых чисел. Также мы обсудили, почему важно проверять корректность ввода и аккуратно работать с арифметическими операциями.</a:t>
            </a:r>
          </a:p>
          <a:p>
            <a:endParaRPr lang="ru-RU" dirty="0"/>
          </a:p>
          <a:p>
            <a:r>
              <a:rPr lang="ru-RU" dirty="0"/>
              <a:t>Дальше в курсе мы будем опираться на всё это и шаг за шагом углубляться: разбирать память, стек, вызовы функций и постепенно переходить к анализу ассемблерного кода, чтобы понимать, как именно ваши программы выполняются на уровне микропроцессора.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FD83-05D8-42D1-B0E7-B1E4B88E64D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4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97AF-1D5F-5F54-75D4-B618A7CE2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39C77-C753-D3EE-E38B-56A45316D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66DB-870B-D29E-FE1D-879A7471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1B58-5CA3-7B04-28F0-396E984E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65FE9-6612-D637-A5F4-727F4B0F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D25E-F790-0CAF-BB4C-4600C485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9BA8-F80B-9290-2E9E-9BCF7A4CC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A04D-2D03-1560-40C3-06B9A8E8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9CCC0-71BD-8DE1-FFD2-84A3AEFA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9AB61-23DC-B7A9-4419-12E3D532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8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028F-43B5-403D-459D-2F344AB8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EBA6C-C681-248E-75FE-A55EB7E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C091-6AF1-589E-47A1-AD5E6B60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AF52E-37B1-3390-8468-D1AB776B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B46FB-EAAB-883E-11D3-59B61A9B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12EF-D8B3-5AD4-5251-5069B607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8A8D-FFEF-1BF0-34F1-90786BB1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DD71B-D84C-0939-9FC3-0CA420EDA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A4EC3-236E-6809-8E53-7ABD0866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BA2C6-84DF-83EF-F8ED-54B18E11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9ABB0-9DD0-82EF-F789-0E1684B4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5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9335-2B96-C468-CAB5-B02E18A1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A7F45-4CD3-4C89-4B49-6A5509121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81E29-6A5B-6EF7-9132-23F905D97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6B3FC-B0D4-BD75-08F5-4F67C3A65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DE71A-9600-A3AE-B3C6-32C084E38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52943-B487-DAAC-A05F-CAF09A3E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16798-74AF-4920-8DA9-C11ED9D9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2C98D-016D-EF23-7736-304DAF03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FF78-87AD-C900-1686-A56DDC22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C2322-195E-61E4-D372-59DC6B1E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4ED79-45BB-E2C3-1183-8AB7D37B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E21F2-DB34-1F8C-0838-53D9EB3F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8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B167E-D6A1-6FCB-D4F7-EA1E3C5B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FD84D-6203-A527-3325-C19FA32D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1CB3-E86A-B3AD-7983-2254846F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93BE-C1E2-71E3-CBA4-EE68776D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4792-E7E5-382D-9B57-4D03FA2B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21C1B-6D1E-4C22-1E70-A642A68E7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7C3F6-A7DD-30B7-4338-CEA702EC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D1F1A-47E9-9482-49D9-4803E84F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29A99-B1EF-F3E8-79E9-E846CE38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1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9A0E-86AB-DC6F-480A-73AA289F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9C41F-413B-814E-0071-461454F87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A7FC-97C4-C133-7B1A-04EFA50D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BDB8D-BE3B-5E1A-FD93-FB98C78F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EE984-0902-64A3-ADAC-6ADA5A95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757EE-06CD-64E8-9EDA-D0E714C0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3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3A79-2078-DEE5-69BD-B04C513C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42CBA-371F-64C3-5A3E-37F6E8066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27AF-C084-A63D-7A16-956CDC8C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54D2B-F66D-E4F1-408C-60D2D127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C2F96-FDB2-DF5E-EBFA-D8F856A2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6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8480C-85D0-952D-CDD0-25F0547CB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CD0DB-B24E-8E8F-DF6E-6413326D4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116A7-078A-4A13-FF9D-6861A5DF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242D-58DE-96A5-191E-F86DB6AB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5AD60-E7C3-971C-37E2-B13A16EC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3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A4D45-3945-F2FE-F32B-34BF84F6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00E8F-37EE-4758-AA3A-178FE1C4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6377B-E7EF-8FE3-A63C-B010D2450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DA0F7-7300-4760-98C6-85A3ACBFC28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31635-F262-A060-C30D-69BBA45B8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2DF6-607D-615D-B125-DA9371E0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38433-D0F2-43AA-A6F7-B66F82EE1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rfjq9ov3c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End9v98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standard/82075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ppreference.com/w/c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AA40-6797-E608-03A8-5527BEBE2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микропроцессоров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661E3-6ECD-C766-8989-B4E541FA5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5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4906-79D8-1F6E-C65D-83D4D139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Добро пожаловать на курс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F478-7F6C-A95A-DE38-BC55E4FB2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Продолжительность: 1 семестр (17 лекций)</a:t>
            </a:r>
          </a:p>
          <a:p>
            <a:r>
              <a:rPr lang="ru-RU" dirty="0"/>
              <a:t>Языки программирования: </a:t>
            </a:r>
            <a:r>
              <a:rPr lang="en-US" dirty="0"/>
              <a:t>C </a:t>
            </a:r>
            <a:r>
              <a:rPr lang="ru-RU" dirty="0"/>
              <a:t>и ассемблер (</a:t>
            </a:r>
            <a:r>
              <a:rPr lang="en-US" dirty="0"/>
              <a:t>x86-64</a:t>
            </a:r>
            <a:r>
              <a:rPr lang="ru-RU" dirty="0"/>
              <a:t> и не только)</a:t>
            </a:r>
          </a:p>
          <a:p>
            <a:r>
              <a:rPr lang="ru-RU" dirty="0"/>
              <a:t>Идея курса: понимать, как процессор выполняет вашу программу</a:t>
            </a:r>
          </a:p>
          <a:p>
            <a:r>
              <a:rPr lang="ru-RU" dirty="0"/>
              <a:t>Изучим инструменты: компилятор, линкер, дизассемблер, отладчик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2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D10-0DA7-C639-1C40-E1B7A9EB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изучать низкоуровневые языки программирования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EDA1-5AC4-6607-CAED-9C07D46DA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Чтобы понимать того, как именно процессор исполняет нашу программу</a:t>
            </a:r>
          </a:p>
          <a:p>
            <a:r>
              <a:rPr lang="ru-RU" dirty="0"/>
              <a:t>Понимать, почему код работает быстро или, наоборот, медленно</a:t>
            </a:r>
          </a:p>
          <a:p>
            <a:r>
              <a:rPr lang="ru-RU" dirty="0"/>
              <a:t>Уметь отлаживать низкоуровневые ошибки:</a:t>
            </a:r>
          </a:p>
          <a:p>
            <a:pPr lvl="1"/>
            <a:r>
              <a:rPr lang="ru-RU" dirty="0"/>
              <a:t>Переполнение стека, работа с указателями.</a:t>
            </a:r>
          </a:p>
          <a:p>
            <a:r>
              <a:rPr lang="ru-RU" dirty="0"/>
              <a:t>Понимать стоимость абстракций высокоуровневого языка программирования</a:t>
            </a:r>
          </a:p>
          <a:p>
            <a:r>
              <a:rPr lang="ru-RU" dirty="0"/>
              <a:t>Читать чужой код в дизассемблере и отлаживать «непонятные ошибки»</a:t>
            </a:r>
          </a:p>
          <a:p>
            <a:r>
              <a:rPr lang="ru-RU" dirty="0"/>
              <a:t>Уметь соединять код на разных языках программирования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25CB-ABF4-B58A-EA89-7075EC26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микропроцессора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0EFE9-04D9-2B44-96AE-16CD4C616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9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4C7C1F-1BDE-DBA7-F36B-FE6CB136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микропроцессор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397720-E3FC-168C-D13F-2D71420C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Микропроцессор — это программно-управляемое вычислительное устройство</a:t>
            </a:r>
          </a:p>
          <a:p>
            <a:pPr lvl="1"/>
            <a:r>
              <a:rPr lang="ru-RU" dirty="0"/>
              <a:t>выполняет машинные инструкции</a:t>
            </a:r>
          </a:p>
          <a:p>
            <a:pPr lvl="1"/>
            <a:r>
              <a:rPr lang="ru-RU" dirty="0"/>
              <a:t>работает с данными в регистрах и памяти</a:t>
            </a:r>
          </a:p>
          <a:p>
            <a:pPr lvl="1"/>
            <a:r>
              <a:rPr lang="ru-RU" dirty="0"/>
              <a:t>реализует фиксированный набор операций (ISA, </a:t>
            </a:r>
            <a:r>
              <a:rPr lang="en-US" dirty="0"/>
              <a:t>Instruction Set Architecture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управляет потоком выполнения программы</a:t>
            </a:r>
          </a:p>
          <a:p>
            <a:pPr lvl="1"/>
            <a:r>
              <a:rPr lang="ru-RU" dirty="0"/>
              <a:t>взаимодействует с памятью и устройствами ввода-вывода</a:t>
            </a:r>
          </a:p>
          <a:p>
            <a:r>
              <a:rPr lang="ru-RU" b="1" dirty="0"/>
              <a:t>Поведение микропроцессора полностью определяется исполняемой программой</a:t>
            </a:r>
          </a:p>
        </p:txBody>
      </p:sp>
    </p:spTree>
    <p:extLst>
      <p:ext uri="{BB962C8B-B14F-4D97-AF65-F5344CB8AC3E}">
        <p14:creationId xmlns:p14="http://schemas.microsoft.com/office/powerpoint/2010/main" val="327602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F277-FECD-8808-0AF1-0DD1F1F9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микропроцессора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4164E-B5C6-ABFE-0A38-C516F2451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Основные компоненты микропроцессора:</a:t>
            </a:r>
            <a:endParaRPr lang="ru-RU" dirty="0"/>
          </a:p>
          <a:p>
            <a:pPr lvl="1"/>
            <a:r>
              <a:rPr lang="ru-RU" b="1" dirty="0"/>
              <a:t>Регистры</a:t>
            </a:r>
            <a:endParaRPr lang="ru-RU" dirty="0"/>
          </a:p>
          <a:p>
            <a:pPr lvl="2"/>
            <a:r>
              <a:rPr lang="ru-RU" dirty="0"/>
              <a:t>сверхбыстрая внутренняя память</a:t>
            </a:r>
          </a:p>
          <a:p>
            <a:pPr lvl="2"/>
            <a:r>
              <a:rPr lang="ru-RU" dirty="0"/>
              <a:t>хранят операнды, адреса, состояние выполнения</a:t>
            </a:r>
          </a:p>
          <a:p>
            <a:pPr lvl="1"/>
            <a:r>
              <a:rPr lang="ru-RU" b="1" dirty="0"/>
              <a:t>Арифметико-логическое устройство (ALU)</a:t>
            </a:r>
            <a:endParaRPr lang="ru-RU" dirty="0"/>
          </a:p>
          <a:p>
            <a:pPr lvl="2"/>
            <a:r>
              <a:rPr lang="ru-RU" dirty="0"/>
              <a:t>выполняет арифметические и логические операции</a:t>
            </a:r>
          </a:p>
          <a:p>
            <a:pPr lvl="2"/>
            <a:r>
              <a:rPr lang="ru-RU" dirty="0"/>
              <a:t>формирует флаги состояния</a:t>
            </a:r>
          </a:p>
          <a:p>
            <a:pPr lvl="1"/>
            <a:r>
              <a:rPr lang="ru-RU" b="1" dirty="0"/>
              <a:t>Блок управления</a:t>
            </a:r>
            <a:endParaRPr lang="ru-RU" dirty="0"/>
          </a:p>
          <a:p>
            <a:pPr lvl="2"/>
            <a:r>
              <a:rPr lang="ru-RU" dirty="0"/>
              <a:t>выбирает и декодирует инструкции</a:t>
            </a:r>
          </a:p>
          <a:p>
            <a:pPr lvl="2"/>
            <a:r>
              <a:rPr lang="ru-RU" dirty="0"/>
              <a:t>управляет потоком выполнения программы</a:t>
            </a:r>
          </a:p>
          <a:p>
            <a:pPr lvl="1"/>
            <a:r>
              <a:rPr lang="ru-RU" b="1" dirty="0"/>
              <a:t>Счётчик команд (PC / RIP)</a:t>
            </a:r>
            <a:endParaRPr lang="ru-RU" dirty="0"/>
          </a:p>
          <a:p>
            <a:pPr lvl="2"/>
            <a:r>
              <a:rPr lang="ru-RU" dirty="0"/>
              <a:t>указывает адрес текущей инструкции</a:t>
            </a:r>
          </a:p>
          <a:p>
            <a:pPr lvl="1"/>
            <a:r>
              <a:rPr lang="ru-RU" b="1" dirty="0"/>
              <a:t>Интерфейс к памяти и устройствам</a:t>
            </a:r>
            <a:endParaRPr lang="ru-RU" dirty="0"/>
          </a:p>
          <a:p>
            <a:pPr lvl="2"/>
            <a:r>
              <a:rPr lang="ru-RU" dirty="0"/>
              <a:t>загрузка инструкций и данных</a:t>
            </a:r>
          </a:p>
          <a:p>
            <a:pPr lvl="2"/>
            <a:r>
              <a:rPr lang="ru-RU" dirty="0"/>
              <a:t>запись результатов</a:t>
            </a:r>
          </a:p>
          <a:p>
            <a:pPr lvl="2"/>
            <a:r>
              <a:rPr lang="ru-RU" dirty="0"/>
              <a:t>ввод-вывод</a:t>
            </a:r>
          </a:p>
          <a:p>
            <a:r>
              <a:rPr lang="ru-RU" b="1" dirty="0"/>
              <a:t>Все компоненты работают синхронно под управлением программы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69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420D-692A-D1E7-425C-4BA0E155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Фон-Неймана и Гарвардская архитектура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73F50-8138-ACD3-9DE4-17BAAC8AD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Гарвардская архитектура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FEF65B-F0D3-2E79-6373-36C6335FEE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876746"/>
            <a:ext cx="5157787" cy="294124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C5D19-BF08-A783-8E30-73856153E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Архитектура Фон-Неймана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BE1C87-1F99-3FC6-153D-514FB0756E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72200" y="2840393"/>
            <a:ext cx="5183188" cy="30139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160654-0F56-C697-1D06-A8146942061B}"/>
              </a:ext>
            </a:extLst>
          </p:cNvPr>
          <p:cNvSpPr txBox="1"/>
          <p:nvPr/>
        </p:nvSpPr>
        <p:spPr>
          <a:xfrm>
            <a:off x="836612" y="5657671"/>
            <a:ext cx="4622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Microchip PIC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Atmel AVR (Arduino)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ARM Cortex-M (STM32)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60EFD-BF96-28F4-9FE7-D2CC6FAE6960}"/>
              </a:ext>
            </a:extLst>
          </p:cNvPr>
          <p:cNvSpPr txBox="1"/>
          <p:nvPr/>
        </p:nvSpPr>
        <p:spPr>
          <a:xfrm>
            <a:off x="6172200" y="5657671"/>
            <a:ext cx="4961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 Core (x86-64)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AMD Ryzen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Apple M-series (ARM)</a:t>
            </a:r>
          </a:p>
        </p:txBody>
      </p:sp>
    </p:spTree>
    <p:extLst>
      <p:ext uri="{BB962C8B-B14F-4D97-AF65-F5344CB8AC3E}">
        <p14:creationId xmlns:p14="http://schemas.microsoft.com/office/powerpoint/2010/main" val="155914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A8F3-E04C-D7B3-743A-3CE0A8C6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программа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7EB19-6E51-5108-5909-3CDF55BA8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Программа для микропроцессора — </a:t>
            </a:r>
            <a:r>
              <a:rPr lang="ru-RU" dirty="0"/>
              <a:t>последовательность </a:t>
            </a:r>
            <a:r>
              <a:rPr lang="ru-RU" b="1" dirty="0"/>
              <a:t>машинных инструкций</a:t>
            </a:r>
            <a:r>
              <a:rPr lang="ru-RU" dirty="0"/>
              <a:t>, которые расположены в </a:t>
            </a:r>
            <a:r>
              <a:rPr lang="ru-RU" b="1" dirty="0"/>
              <a:t>памяти</a:t>
            </a:r>
            <a:r>
              <a:rPr lang="ru-RU" dirty="0"/>
              <a:t> и выполняются по шагам</a:t>
            </a:r>
          </a:p>
          <a:p>
            <a:r>
              <a:rPr lang="ru-RU" b="1" dirty="0"/>
              <a:t>Каждая инструкция определяет: </a:t>
            </a:r>
            <a:r>
              <a:rPr lang="ru-RU" dirty="0"/>
              <a:t>что сделать (операцию), с какими данными, и откуда взять следующую инструкцию</a:t>
            </a:r>
          </a:p>
          <a:p>
            <a:r>
              <a:rPr lang="ru-RU" dirty="0"/>
              <a:t>Процессор </a:t>
            </a:r>
            <a:r>
              <a:rPr lang="ru-RU" b="1" dirty="0"/>
              <a:t>не понимает</a:t>
            </a:r>
            <a:r>
              <a:rPr lang="ru-RU" dirty="0"/>
              <a:t> C, Python и т. д. он выполняет только </a:t>
            </a:r>
            <a:r>
              <a:rPr lang="ru-RU" b="1" dirty="0"/>
              <a:t>двоичный машинный код </a:t>
            </a:r>
            <a:endParaRPr lang="ru-RU" dirty="0"/>
          </a:p>
          <a:p>
            <a:pPr lvl="1"/>
            <a:r>
              <a:rPr lang="ru-RU" dirty="0"/>
              <a:t>C и ассемблер — способы </a:t>
            </a:r>
            <a:r>
              <a:rPr lang="ru-RU" i="1" dirty="0"/>
              <a:t>описать</a:t>
            </a:r>
            <a:r>
              <a:rPr lang="ru-RU" dirty="0"/>
              <a:t> этот код</a:t>
            </a:r>
          </a:p>
        </p:txBody>
      </p:sp>
    </p:spTree>
    <p:extLst>
      <p:ext uri="{BB962C8B-B14F-4D97-AF65-F5344CB8AC3E}">
        <p14:creationId xmlns:p14="http://schemas.microsoft.com/office/powerpoint/2010/main" val="212917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66239D-AC6F-9C37-2F7F-DBE182E7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элемента массива (</a:t>
            </a:r>
            <a:r>
              <a:rPr lang="en-US" dirty="0"/>
              <a:t>x86-64)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F2728-6F83-2C45-80DB-B89E33097825}"/>
              </a:ext>
            </a:extLst>
          </p:cNvPr>
          <p:cNvSpPr txBox="1"/>
          <p:nvPr/>
        </p:nvSpPr>
        <p:spPr>
          <a:xfrm>
            <a:off x="838200" y="1964854"/>
            <a:ext cx="45024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limits.h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INT_MIN;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 = a[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m)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m = 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90909-DF54-B0B9-8B78-592C2C410E9E}"/>
              </a:ext>
            </a:extLst>
          </p:cNvPr>
          <p:cNvSpPr txBox="1"/>
          <p:nvPr/>
        </p:nvSpPr>
        <p:spPr>
          <a:xfrm>
            <a:off x="5785658" y="1964854"/>
            <a:ext cx="64063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2147483648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b8 00 00 00 80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85 f6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      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74 15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8b 07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# 31 d2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48 ff c2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39 d6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.L1     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7e 0a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8b 0c 97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39 c8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cmovl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0f 4c c1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.L3                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eb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ef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                           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 c3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6FFB2-21F1-898B-168A-CB802B7B410E}"/>
              </a:ext>
            </a:extLst>
          </p:cNvPr>
          <p:cNvSpPr txBox="1"/>
          <p:nvPr/>
        </p:nvSpPr>
        <p:spPr>
          <a:xfrm>
            <a:off x="838200" y="6394003"/>
            <a:ext cx="4947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https://godbolt.org/z/rfjq9ov3c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85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4C728-C2AA-021A-E639-D1B0215B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8F1A63-B3A6-DB84-D65B-95D5171A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максимального элемента массива (</a:t>
            </a:r>
            <a:r>
              <a:rPr lang="en-US" dirty="0"/>
              <a:t>ARM64)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2FC9A-AB19-C01E-03D7-7ECA861AB76A}"/>
              </a:ext>
            </a:extLst>
          </p:cNvPr>
          <p:cNvSpPr txBox="1"/>
          <p:nvPr/>
        </p:nvSpPr>
        <p:spPr>
          <a:xfrm>
            <a:off x="838200" y="1964854"/>
            <a:ext cx="45024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limits.h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INT_MIN;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 = a[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m)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m = a[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C54BF-139C-EF3C-9226-DA98A9B6FB02}"/>
              </a:ext>
            </a:extLst>
          </p:cNvPr>
          <p:cNvSpPr txBox="1"/>
          <p:nvPr/>
        </p:nvSpPr>
        <p:spPr>
          <a:xfrm>
            <a:off x="838200" y="6394003"/>
            <a:ext cx="4947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https://godbolt.org/z/xEnd9v98q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0B1B-CFE5-1E60-36C8-2D5579DA5598}"/>
              </a:ext>
            </a:extLst>
          </p:cNvPr>
          <p:cNvSpPr txBox="1"/>
          <p:nvPr/>
        </p:nvSpPr>
        <p:spPr>
          <a:xfrm>
            <a:off x="6096000" y="1964854"/>
            <a:ext cx="6096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cbz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.LBB0_5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340001c1</a:t>
            </a:r>
            <a:endParaRPr lang="en-US" sz="16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  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aa0003e8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b9400000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#2  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7100083f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b.lt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.LBB0_4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5400012b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  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2a0103e9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#4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91001108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#1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       // d1000529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.LBB0_3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#4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b840450a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          // 6b00015f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1a80c140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#1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f1000529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b.ne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.LBB0_3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54ffff81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.LBB0_4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         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d65f03c0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.LBB0_5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#-2147483648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52b00000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                 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 d65f03c0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7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2AA512-F881-A98A-9EB0-E9F445A9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61EE5-2D12-7EC4-4140-1BD4FA6D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Один и тот же алгоритм порождает разный машинный код</a:t>
            </a:r>
            <a:endParaRPr lang="ru-RU" dirty="0"/>
          </a:p>
          <a:p>
            <a:pPr lvl="1"/>
            <a:r>
              <a:rPr lang="ru-RU" dirty="0"/>
              <a:t>разные наборы инструкций (ISA)</a:t>
            </a:r>
          </a:p>
          <a:p>
            <a:pPr lvl="1"/>
            <a:r>
              <a:rPr lang="ru-RU" dirty="0"/>
              <a:t>разная кодировка инструкций</a:t>
            </a:r>
          </a:p>
          <a:p>
            <a:pPr lvl="2"/>
            <a:r>
              <a:rPr lang="ru-RU" dirty="0"/>
              <a:t>x86-64 — переменная длина</a:t>
            </a:r>
          </a:p>
          <a:p>
            <a:pPr lvl="2"/>
            <a:r>
              <a:rPr lang="ru-RU" dirty="0"/>
              <a:t>ARM64 — фиксированные 4 байта</a:t>
            </a:r>
          </a:p>
          <a:p>
            <a:pPr lvl="1"/>
            <a:r>
              <a:rPr lang="ru-RU" dirty="0"/>
              <a:t>разные регистры и соглашения</a:t>
            </a:r>
          </a:p>
          <a:p>
            <a:pPr lvl="1"/>
            <a:r>
              <a:rPr lang="ru-RU" dirty="0"/>
              <a:t>разное количество инструкций</a:t>
            </a:r>
          </a:p>
          <a:p>
            <a:pPr lvl="1"/>
            <a:r>
              <a:rPr lang="ru-RU" dirty="0"/>
              <a:t>разный синтаксис ассемблера</a:t>
            </a:r>
          </a:p>
          <a:p>
            <a:r>
              <a:rPr lang="ru-RU" b="1" dirty="0"/>
              <a:t>Следствие:</a:t>
            </a:r>
            <a:endParaRPr lang="ru-RU" dirty="0"/>
          </a:p>
          <a:p>
            <a:pPr lvl="1"/>
            <a:r>
              <a:rPr lang="ru-RU" dirty="0"/>
              <a:t>машинный код непереносим</a:t>
            </a:r>
          </a:p>
          <a:p>
            <a:pPr lvl="1"/>
            <a:r>
              <a:rPr lang="ru-RU" dirty="0"/>
              <a:t>ассемблер привязан к архитектуре</a:t>
            </a:r>
          </a:p>
          <a:p>
            <a:r>
              <a:rPr lang="ru-RU" b="1" dirty="0"/>
              <a:t>Решение:</a:t>
            </a:r>
            <a:endParaRPr lang="ru-RU" dirty="0"/>
          </a:p>
          <a:p>
            <a:pPr lvl="1"/>
            <a:r>
              <a:rPr lang="ru-RU" dirty="0"/>
              <a:t>язык высокого уровня + компилятор</a:t>
            </a:r>
          </a:p>
        </p:txBody>
      </p:sp>
    </p:spTree>
    <p:extLst>
      <p:ext uri="{BB962C8B-B14F-4D97-AF65-F5344CB8AC3E}">
        <p14:creationId xmlns:p14="http://schemas.microsoft.com/office/powerpoint/2010/main" val="2546859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004A-5E41-53F3-501D-231EEA35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интерпретируемые языки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43B71-7537-A4CD-2FFF-358858EA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Почему не Python и похожие языки</a:t>
            </a:r>
            <a:endParaRPr lang="ru-RU" dirty="0"/>
          </a:p>
          <a:p>
            <a:pPr lvl="1"/>
            <a:r>
              <a:rPr lang="ru-RU" dirty="0"/>
              <a:t>выполняются не процессором, а интерпретатором или VM</a:t>
            </a:r>
          </a:p>
          <a:p>
            <a:pPr lvl="1"/>
            <a:r>
              <a:rPr lang="ru-RU" dirty="0"/>
              <a:t>нет прямого соответствия «строка кода → инструкция процессора»</a:t>
            </a:r>
          </a:p>
          <a:p>
            <a:pPr lvl="1"/>
            <a:r>
              <a:rPr lang="ru-RU" dirty="0"/>
              <a:t>скрывают:</a:t>
            </a:r>
          </a:p>
          <a:p>
            <a:pPr lvl="2"/>
            <a:r>
              <a:rPr lang="ru-RU" dirty="0"/>
              <a:t>память</a:t>
            </a:r>
          </a:p>
          <a:p>
            <a:pPr lvl="2"/>
            <a:r>
              <a:rPr lang="ru-RU" dirty="0"/>
              <a:t>стек</a:t>
            </a:r>
          </a:p>
          <a:p>
            <a:pPr lvl="2"/>
            <a:r>
              <a:rPr lang="ru-RU" dirty="0"/>
              <a:t>регистры</a:t>
            </a:r>
          </a:p>
          <a:p>
            <a:pPr lvl="2"/>
            <a:r>
              <a:rPr lang="ru-RU" dirty="0"/>
              <a:t>ABI и соглашения о вызовах</a:t>
            </a:r>
          </a:p>
          <a:p>
            <a:r>
              <a:rPr lang="ru-RU" b="1" dirty="0"/>
              <a:t>Для этого курса важно:</a:t>
            </a:r>
            <a:endParaRPr lang="ru-RU" dirty="0"/>
          </a:p>
          <a:p>
            <a:pPr lvl="1"/>
            <a:r>
              <a:rPr lang="ru-RU" dirty="0"/>
              <a:t>видеть машинные инструкции</a:t>
            </a:r>
          </a:p>
          <a:p>
            <a:pPr lvl="1"/>
            <a:r>
              <a:rPr lang="ru-RU" dirty="0"/>
              <a:t>понимать работу памяти и стека</a:t>
            </a:r>
          </a:p>
          <a:p>
            <a:pPr lvl="1"/>
            <a:r>
              <a:rPr lang="ru-RU" dirty="0"/>
              <a:t>связывать код с поведением процессора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79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1F7F-6755-9D1D-F3BA-A2A4F14B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C++, Go, </a:t>
            </a:r>
            <a:r>
              <a:rPr lang="ru-RU" dirty="0" err="1"/>
              <a:t>Pascal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EFD97-0A22-AFEC-590D-44A53AF88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не более «высокоуровневые» компилируемые языки</a:t>
            </a:r>
          </a:p>
          <a:p>
            <a:pPr lvl="1"/>
            <a:r>
              <a:rPr lang="ru-RU" dirty="0"/>
              <a:t>Вводят дополнительные абстракции:</a:t>
            </a:r>
          </a:p>
          <a:p>
            <a:pPr lvl="2"/>
            <a:r>
              <a:rPr lang="ru-RU" dirty="0"/>
              <a:t>автоматическое управление памятью</a:t>
            </a:r>
          </a:p>
          <a:p>
            <a:pPr lvl="2"/>
            <a:r>
              <a:rPr lang="ru-RU" dirty="0"/>
              <a:t>исключения</a:t>
            </a:r>
          </a:p>
          <a:p>
            <a:pPr lvl="2"/>
            <a:r>
              <a:rPr lang="ru-RU" dirty="0"/>
              <a:t>конструкторы и деструкторы</a:t>
            </a:r>
          </a:p>
          <a:p>
            <a:pPr lvl="2"/>
            <a:r>
              <a:rPr lang="ru-RU" dirty="0"/>
              <a:t>сложные </a:t>
            </a:r>
            <a:r>
              <a:rPr lang="ru-RU" dirty="0" err="1"/>
              <a:t>runtime</a:t>
            </a:r>
            <a:r>
              <a:rPr lang="ru-RU" dirty="0"/>
              <a:t>-механизмы</a:t>
            </a:r>
          </a:p>
          <a:p>
            <a:pPr lvl="1"/>
            <a:r>
              <a:rPr lang="ru-RU" dirty="0"/>
              <a:t>Компилятор генерирует:</a:t>
            </a:r>
          </a:p>
          <a:p>
            <a:pPr lvl="2"/>
            <a:r>
              <a:rPr lang="ru-RU" dirty="0"/>
              <a:t>больше вспомогательного кода</a:t>
            </a:r>
          </a:p>
          <a:p>
            <a:pPr lvl="2"/>
            <a:r>
              <a:rPr lang="ru-RU" dirty="0"/>
              <a:t>менее прозрачный ассемблер</a:t>
            </a:r>
          </a:p>
          <a:p>
            <a:r>
              <a:rPr lang="ru-RU" dirty="0"/>
              <a:t>Эти абстракции полезны, но они скрывают работу микропроцессора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50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D9F3-7F25-EBCC-371F-7DDF5B24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именно 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2EAC-825A-AD9E-8512-86EAA37E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Почему язык C</a:t>
            </a:r>
            <a:r>
              <a:rPr lang="en-US" b="1" dirty="0"/>
              <a:t>?</a:t>
            </a:r>
            <a:endParaRPr lang="ru-RU" dirty="0"/>
          </a:p>
          <a:p>
            <a:pPr lvl="1"/>
            <a:r>
              <a:rPr lang="ru-RU" dirty="0"/>
              <a:t>создавался для разработки ОС UNIX</a:t>
            </a:r>
          </a:p>
          <a:p>
            <a:pPr lvl="1"/>
            <a:r>
              <a:rPr lang="ru-RU" dirty="0"/>
              <a:t>вводит минимальный набор абстракций</a:t>
            </a:r>
          </a:p>
          <a:p>
            <a:pPr lvl="1"/>
            <a:r>
              <a:rPr lang="ru-RU" dirty="0"/>
              <a:t>прозрачное соответствие:</a:t>
            </a:r>
          </a:p>
          <a:p>
            <a:pPr lvl="2"/>
            <a:r>
              <a:rPr lang="ru-RU" dirty="0"/>
              <a:t>переменные → память / регистры</a:t>
            </a:r>
          </a:p>
          <a:p>
            <a:pPr lvl="2"/>
            <a:r>
              <a:rPr lang="ru-RU" dirty="0"/>
              <a:t>функции → вызовы и стек</a:t>
            </a:r>
          </a:p>
          <a:p>
            <a:pPr lvl="1"/>
            <a:r>
              <a:rPr lang="ru-RU" dirty="0"/>
              <a:t>код компилируется в небольшое количество инструкций</a:t>
            </a:r>
          </a:p>
          <a:p>
            <a:r>
              <a:rPr lang="ru-RU" b="1" dirty="0"/>
              <a:t>C как “язык-посредник”</a:t>
            </a:r>
            <a:endParaRPr lang="ru-RU" dirty="0"/>
          </a:p>
          <a:p>
            <a:pPr lvl="1"/>
            <a:r>
              <a:rPr lang="ru-RU" dirty="0"/>
              <a:t>стандартный ABI</a:t>
            </a:r>
          </a:p>
          <a:p>
            <a:pPr lvl="1"/>
            <a:r>
              <a:rPr lang="ru-RU" dirty="0"/>
              <a:t>C-интерфейсы в ОС и библиотеках</a:t>
            </a:r>
          </a:p>
          <a:p>
            <a:pPr lvl="1"/>
            <a:r>
              <a:rPr lang="ru-RU" dirty="0"/>
              <a:t>взаимодействие языков через 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46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B6A3-A4A1-0971-3507-CEC5F300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компилятора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EAE8-E5E2-BA96-EC1F-182B1F44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Компилятор — это переводчик между уровнями</a:t>
            </a:r>
            <a:endParaRPr lang="ru-RU" dirty="0"/>
          </a:p>
          <a:p>
            <a:r>
              <a:rPr lang="ru-RU" b="1" dirty="0"/>
              <a:t>C-код</a:t>
            </a:r>
            <a:endParaRPr lang="ru-RU" dirty="0"/>
          </a:p>
          <a:p>
            <a:pPr lvl="1"/>
            <a:r>
              <a:rPr lang="ru-RU" dirty="0"/>
              <a:t>удобен для человека</a:t>
            </a:r>
          </a:p>
          <a:p>
            <a:pPr lvl="1"/>
            <a:r>
              <a:rPr lang="ru-RU" dirty="0"/>
              <a:t>архитектурно независим</a:t>
            </a:r>
          </a:p>
          <a:p>
            <a:r>
              <a:rPr lang="ru-RU" dirty="0"/>
              <a:t>⬇️ </a:t>
            </a:r>
            <a:r>
              <a:rPr lang="ru-RU" i="1" dirty="0"/>
              <a:t>компилятор</a:t>
            </a:r>
            <a:endParaRPr lang="ru-RU" dirty="0"/>
          </a:p>
          <a:p>
            <a:r>
              <a:rPr lang="ru-RU" b="1" dirty="0"/>
              <a:t>Ассемблер</a:t>
            </a:r>
            <a:endParaRPr lang="ru-RU" dirty="0"/>
          </a:p>
          <a:p>
            <a:pPr lvl="1"/>
            <a:r>
              <a:rPr lang="ru-RU" dirty="0"/>
              <a:t>архитектурно зависим</a:t>
            </a:r>
          </a:p>
          <a:p>
            <a:pPr lvl="1"/>
            <a:r>
              <a:rPr lang="ru-RU" dirty="0"/>
              <a:t>близок к инструкциям процессора</a:t>
            </a:r>
          </a:p>
          <a:p>
            <a:pPr lvl="1"/>
            <a:r>
              <a:rPr lang="ru-RU" dirty="0"/>
              <a:t>отражает ABI и соглашения о вызовах</a:t>
            </a:r>
          </a:p>
          <a:p>
            <a:r>
              <a:rPr lang="ru-RU" dirty="0"/>
              <a:t>⬇️ </a:t>
            </a:r>
            <a:r>
              <a:rPr lang="ru-RU" i="1" dirty="0"/>
              <a:t>ассемблер + линкер</a:t>
            </a:r>
            <a:endParaRPr lang="ru-RU" dirty="0"/>
          </a:p>
          <a:p>
            <a:r>
              <a:rPr lang="ru-RU" b="1" dirty="0"/>
              <a:t>Машинный код</a:t>
            </a:r>
            <a:endParaRPr lang="ru-RU" dirty="0"/>
          </a:p>
          <a:p>
            <a:pPr lvl="1"/>
            <a:r>
              <a:rPr lang="ru-RU" dirty="0"/>
              <a:t>двоичные инструкции</a:t>
            </a:r>
          </a:p>
          <a:p>
            <a:pPr lvl="1"/>
            <a:r>
              <a:rPr lang="ru-RU" dirty="0"/>
              <a:t>выполняются непосредственно микропроцессором</a:t>
            </a:r>
          </a:p>
          <a:p>
            <a:r>
              <a:rPr lang="ru-RU" b="1" dirty="0"/>
              <a:t>Один C-код порождает разные машинные коды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F7D3D-0F14-0B92-7995-FEC9775FBCD4}"/>
              </a:ext>
            </a:extLst>
          </p:cNvPr>
          <p:cNvSpPr/>
          <p:nvPr/>
        </p:nvSpPr>
        <p:spPr>
          <a:xfrm>
            <a:off x="8601075" y="1690688"/>
            <a:ext cx="2867025" cy="636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 на </a:t>
            </a:r>
            <a:r>
              <a:rPr lang="en-US" dirty="0"/>
              <a:t>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C28A0-2645-7A3B-CA0D-72ECCEFEF264}"/>
              </a:ext>
            </a:extLst>
          </p:cNvPr>
          <p:cNvSpPr/>
          <p:nvPr/>
        </p:nvSpPr>
        <p:spPr>
          <a:xfrm>
            <a:off x="8601075" y="2940050"/>
            <a:ext cx="2867025" cy="636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Ассемблерный код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25D52-23F8-8AE8-252E-93CBD41F0528}"/>
              </a:ext>
            </a:extLst>
          </p:cNvPr>
          <p:cNvSpPr/>
          <p:nvPr/>
        </p:nvSpPr>
        <p:spPr>
          <a:xfrm>
            <a:off x="8601075" y="4183856"/>
            <a:ext cx="2867025" cy="636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Машинный код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D1D05-CB8A-FA2F-66FD-69211335F93D}"/>
              </a:ext>
            </a:extLst>
          </p:cNvPr>
          <p:cNvSpPr/>
          <p:nvPr/>
        </p:nvSpPr>
        <p:spPr>
          <a:xfrm>
            <a:off x="8601075" y="5438774"/>
            <a:ext cx="2867025" cy="636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Микропроцессор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291DF20-A084-69F6-58A3-8F1E13903D74}"/>
              </a:ext>
            </a:extLst>
          </p:cNvPr>
          <p:cNvSpPr/>
          <p:nvPr/>
        </p:nvSpPr>
        <p:spPr>
          <a:xfrm>
            <a:off x="9825534" y="2443960"/>
            <a:ext cx="418107" cy="3429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C104B2B-3C1E-523D-A37B-D2E35629E689}"/>
              </a:ext>
            </a:extLst>
          </p:cNvPr>
          <p:cNvSpPr/>
          <p:nvPr/>
        </p:nvSpPr>
        <p:spPr>
          <a:xfrm>
            <a:off x="9825534" y="3729828"/>
            <a:ext cx="418107" cy="3429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F7639A4-4AAF-DBB3-B22E-28870367DD59}"/>
              </a:ext>
            </a:extLst>
          </p:cNvPr>
          <p:cNvSpPr/>
          <p:nvPr/>
        </p:nvSpPr>
        <p:spPr>
          <a:xfrm>
            <a:off x="9825533" y="4955381"/>
            <a:ext cx="418107" cy="3429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811C-FAE9-ACBF-CB34-B3228594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Когда имеет смысл писать на ассемблере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32A06-43ED-E0AC-8232-B137DCB0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Ассемблер — инструмент для особых случаев</a:t>
            </a:r>
            <a:endParaRPr lang="ru-RU" dirty="0"/>
          </a:p>
          <a:p>
            <a:pPr lvl="1"/>
            <a:r>
              <a:rPr lang="ru-RU" b="1" dirty="0"/>
              <a:t>Доступ к возможностям процессора, которых нет в C</a:t>
            </a:r>
            <a:endParaRPr lang="ru-RU" dirty="0"/>
          </a:p>
          <a:p>
            <a:pPr lvl="2"/>
            <a:r>
              <a:rPr lang="ru-RU" dirty="0"/>
              <a:t>специальные инструкции</a:t>
            </a:r>
          </a:p>
          <a:p>
            <a:pPr lvl="2"/>
            <a:r>
              <a:rPr lang="ru-RU" dirty="0"/>
              <a:t>нестандартные операции ввода-вывода</a:t>
            </a:r>
          </a:p>
          <a:p>
            <a:pPr lvl="2"/>
            <a:r>
              <a:rPr lang="ru-RU" dirty="0"/>
              <a:t>управление состоянием процессора</a:t>
            </a:r>
          </a:p>
          <a:p>
            <a:pPr lvl="1"/>
            <a:r>
              <a:rPr lang="ru-RU" b="1" dirty="0"/>
              <a:t>Критические по производительности участки</a:t>
            </a:r>
            <a:endParaRPr lang="ru-RU" dirty="0"/>
          </a:p>
          <a:p>
            <a:pPr lvl="2"/>
            <a:r>
              <a:rPr lang="ru-RU" dirty="0"/>
              <a:t>когда алгоритмические оптимизации исчерпаны</a:t>
            </a:r>
          </a:p>
          <a:p>
            <a:pPr lvl="2"/>
            <a:r>
              <a:rPr lang="ru-RU" dirty="0"/>
              <a:t>когда компилятор уже не может улучшить код</a:t>
            </a:r>
          </a:p>
          <a:p>
            <a:pPr lvl="2"/>
            <a:r>
              <a:rPr lang="ru-RU" dirty="0"/>
              <a:t>ручное использование SIMD и специальных инструкций</a:t>
            </a:r>
          </a:p>
          <a:p>
            <a:pPr lvl="1"/>
            <a:r>
              <a:rPr lang="ru-RU" b="1" dirty="0"/>
              <a:t>Жёсткие требования к задержкам</a:t>
            </a:r>
            <a:endParaRPr lang="ru-RU" dirty="0"/>
          </a:p>
          <a:p>
            <a:pPr lvl="2"/>
            <a:r>
              <a:rPr lang="ru-RU" dirty="0"/>
              <a:t>предсказуемое время выполнения</a:t>
            </a:r>
          </a:p>
          <a:p>
            <a:pPr lvl="2"/>
            <a:r>
              <a:rPr lang="ru-RU" dirty="0"/>
              <a:t>расчёт задержек до такта</a:t>
            </a:r>
          </a:p>
          <a:p>
            <a:r>
              <a:rPr lang="ru-RU" b="1" dirty="0"/>
              <a:t>Во всех остальных случаях: </a:t>
            </a:r>
            <a:r>
              <a:rPr lang="ru-RU" dirty="0"/>
              <a:t>C + компилятор эффективнее и безопаснее</a:t>
            </a:r>
          </a:p>
          <a:p>
            <a:r>
              <a:rPr lang="ru-RU" dirty="0"/>
              <a:t>Ассемблер — это почти всегда не язык программирования, а инструмент оптимизации и управления железом.</a:t>
            </a:r>
          </a:p>
        </p:txBody>
      </p:sp>
    </p:spTree>
    <p:extLst>
      <p:ext uri="{BB962C8B-B14F-4D97-AF65-F5344CB8AC3E}">
        <p14:creationId xmlns:p14="http://schemas.microsoft.com/office/powerpoint/2010/main" val="63449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C6F38-576E-5FEA-B2AD-C3817287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Знакомство с языком </a:t>
            </a:r>
            <a:r>
              <a:rPr lang="en-US" dirty="0"/>
              <a:t>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CEA40-EF4C-0E66-7D6A-AB9F0CFD6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20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B2B8F0-F6FC-2E10-9507-54576426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</a:t>
            </a:r>
            <a:r>
              <a:rPr lang="en-US" dirty="0"/>
              <a:t> </a:t>
            </a:r>
            <a:r>
              <a:rPr lang="en-US" dirty="0" err="1"/>
              <a:t>hello.c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40D3C-6E19-A4B3-215F-582D030DFA14}"/>
              </a:ext>
            </a:extLst>
          </p:cNvPr>
          <p:cNvSpPr txBox="1"/>
          <p:nvPr/>
        </p:nvSpPr>
        <p:spPr>
          <a:xfrm>
            <a:off x="838200" y="1690688"/>
            <a:ext cx="60936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 world!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434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E9FE59-7895-B313-987D-BFA9DED3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Компиляция программы из командной строки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6319D-5811-540D-900C-59D0E3306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GCC / Clang (Linux, MacOS)</a:t>
            </a:r>
          </a:p>
          <a:p>
            <a:pPr marL="457200" lvl="1" indent="0">
              <a:buNone/>
            </a:pPr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hello.c</a:t>
            </a:r>
            <a:r>
              <a:rPr lang="en-US" dirty="0"/>
              <a:t> -o hello</a:t>
            </a:r>
            <a:br>
              <a:rPr lang="ru-RU" dirty="0"/>
            </a:br>
            <a:r>
              <a:rPr lang="en-US" dirty="0"/>
              <a:t>./hello</a:t>
            </a:r>
          </a:p>
          <a:p>
            <a:r>
              <a:rPr lang="en-US" dirty="0"/>
              <a:t>Clang</a:t>
            </a:r>
          </a:p>
          <a:p>
            <a:pPr marL="457200" lvl="1" indent="0">
              <a:buNone/>
            </a:pPr>
            <a:r>
              <a:rPr lang="en-US" dirty="0"/>
              <a:t>clang </a:t>
            </a:r>
            <a:r>
              <a:rPr lang="en-US" dirty="0" err="1"/>
              <a:t>hello.c</a:t>
            </a:r>
            <a:r>
              <a:rPr lang="en-US" dirty="0"/>
              <a:t> -o hello</a:t>
            </a:r>
          </a:p>
          <a:p>
            <a:pPr marL="457200" lvl="1" indent="0">
              <a:buNone/>
            </a:pPr>
            <a:r>
              <a:rPr lang="en-US" dirty="0"/>
              <a:t>./hello</a:t>
            </a:r>
          </a:p>
          <a:p>
            <a:r>
              <a:rPr lang="en-US" dirty="0"/>
              <a:t>Microsoft Visual C++ (Windows)</a:t>
            </a:r>
          </a:p>
          <a:p>
            <a:pPr marL="457200" lvl="1" indent="0">
              <a:buNone/>
            </a:pPr>
            <a:r>
              <a:rPr lang="en-US" dirty="0"/>
              <a:t>cl </a:t>
            </a:r>
            <a:r>
              <a:rPr lang="en-US" dirty="0" err="1"/>
              <a:t>hello.c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hello.exe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649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7DCA-690B-178D-590F-02B0F14D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IDE и инструменты разработки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4293-49B8-59D1-EF89-D0B0A18A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Командная строка — полезно,</a:t>
            </a:r>
            <a:endParaRPr lang="ru-RU" dirty="0"/>
          </a:p>
          <a:p>
            <a:pPr lvl="1"/>
            <a:r>
              <a:rPr lang="ru-RU" dirty="0"/>
              <a:t>помогает понять, как работают инструменты</a:t>
            </a:r>
          </a:p>
          <a:p>
            <a:pPr lvl="1"/>
            <a:r>
              <a:rPr lang="ru-RU" dirty="0"/>
              <a:t>даёт полный контроль над процессом сборки</a:t>
            </a:r>
          </a:p>
          <a:p>
            <a:r>
              <a:rPr lang="ru-RU" b="1" dirty="0"/>
              <a:t>…но в реальной работе используют IDE</a:t>
            </a:r>
            <a:endParaRPr lang="ru-RU" dirty="0"/>
          </a:p>
          <a:p>
            <a:r>
              <a:rPr lang="ru-RU" dirty="0"/>
              <a:t>Популярные варианты:</a:t>
            </a:r>
          </a:p>
          <a:p>
            <a:pPr lvl="1"/>
            <a:r>
              <a:rPr lang="ru-RU" dirty="0"/>
              <a:t>Visual Studio</a:t>
            </a:r>
          </a:p>
          <a:p>
            <a:pPr lvl="1"/>
            <a:r>
              <a:rPr lang="ru-RU" dirty="0"/>
              <a:t>Visual Studio Code</a:t>
            </a:r>
          </a:p>
          <a:p>
            <a:pPr lvl="1"/>
            <a:r>
              <a:rPr lang="ru-RU" dirty="0" err="1"/>
              <a:t>CLion</a:t>
            </a:r>
            <a:endParaRPr lang="ru-RU" dirty="0"/>
          </a:p>
          <a:p>
            <a:pPr lvl="1"/>
            <a:r>
              <a:rPr lang="ru-RU" dirty="0" err="1"/>
              <a:t>Xcode</a:t>
            </a:r>
            <a:endParaRPr lang="ru-RU" dirty="0"/>
          </a:p>
          <a:p>
            <a:r>
              <a:rPr lang="ru-RU" b="1" dirty="0"/>
              <a:t>В этом курсе:</a:t>
            </a:r>
            <a:endParaRPr lang="ru-RU" dirty="0"/>
          </a:p>
          <a:p>
            <a:pPr lvl="1"/>
            <a:r>
              <a:rPr lang="ru-RU" dirty="0"/>
              <a:t>Будем изучать предмет без фанатизма</a:t>
            </a:r>
          </a:p>
          <a:p>
            <a:pPr lvl="1"/>
            <a:r>
              <a:rPr lang="ru-RU" dirty="0"/>
              <a:t>IDE — основной инструмент</a:t>
            </a:r>
          </a:p>
          <a:p>
            <a:pPr lvl="1"/>
            <a:r>
              <a:rPr lang="ru-RU" dirty="0"/>
              <a:t>Консоль — для понимания и экспериментов</a:t>
            </a:r>
          </a:p>
        </p:txBody>
      </p:sp>
    </p:spTree>
    <p:extLst>
      <p:ext uri="{BB962C8B-B14F-4D97-AF65-F5344CB8AC3E}">
        <p14:creationId xmlns:p14="http://schemas.microsoft.com/office/powerpoint/2010/main" val="300690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77C1-36CC-FCAD-C672-FD5BB116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59F5DE-F678-FF3B-2945-4DD8F6D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 </a:t>
            </a:r>
            <a:r>
              <a:rPr lang="en-US" dirty="0"/>
              <a:t>Hello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C72B7-47B2-398E-7F60-FCD9C9283989}"/>
              </a:ext>
            </a:extLst>
          </p:cNvPr>
          <p:cNvSpPr txBox="1"/>
          <p:nvPr/>
        </p:nvSpPr>
        <p:spPr>
          <a:xfrm>
            <a:off x="838200" y="1690688"/>
            <a:ext cx="60936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Hello, world!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4623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DD58-244A-AF69-B338-50C57BDD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Стандартная библиотека языка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A6E1-65E8-C4AB-519E-F6764C226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Поставляется вместе с компилятором</a:t>
            </a:r>
          </a:p>
          <a:p>
            <a:r>
              <a:rPr lang="ru-RU" dirty="0"/>
              <a:t>Содержит готовые функции:</a:t>
            </a:r>
          </a:p>
          <a:p>
            <a:pPr lvl="1"/>
            <a:r>
              <a:rPr lang="ru-RU" dirty="0"/>
              <a:t>ввод-вывод</a:t>
            </a:r>
          </a:p>
          <a:p>
            <a:pPr lvl="1"/>
            <a:r>
              <a:rPr lang="ru-RU" dirty="0"/>
              <a:t>работа со строками</a:t>
            </a:r>
          </a:p>
          <a:p>
            <a:pPr lvl="1"/>
            <a:r>
              <a:rPr lang="ru-RU" dirty="0"/>
              <a:t>память</a:t>
            </a:r>
          </a:p>
          <a:p>
            <a:pPr lvl="1"/>
            <a:r>
              <a:rPr lang="ru-RU" dirty="0"/>
              <a:t>математика и др.</a:t>
            </a:r>
          </a:p>
          <a:p>
            <a:r>
              <a:rPr lang="ru-RU" b="1" dirty="0"/>
              <a:t>Что описывает </a:t>
            </a:r>
            <a:r>
              <a:rPr lang="ru-RU" b="1" dirty="0">
                <a:hlinkClick r:id="rId3"/>
              </a:rPr>
              <a:t>стандарт языка C</a:t>
            </a:r>
            <a:endParaRPr lang="ru-RU" dirty="0"/>
          </a:p>
          <a:p>
            <a:pPr lvl="1"/>
            <a:r>
              <a:rPr lang="ru-RU" dirty="0"/>
              <a:t>синтаксис языка</a:t>
            </a:r>
          </a:p>
          <a:p>
            <a:pPr lvl="1"/>
            <a:r>
              <a:rPr lang="ru-RU" dirty="0"/>
              <a:t>поведение операций</a:t>
            </a:r>
          </a:p>
          <a:p>
            <a:pPr lvl="1"/>
            <a:r>
              <a:rPr lang="ru-RU" dirty="0"/>
              <a:t>набор стандартных функций</a:t>
            </a:r>
          </a:p>
          <a:p>
            <a:pPr lvl="1"/>
            <a:r>
              <a:rPr lang="ru-RU" dirty="0"/>
              <a:t>их параметры и возвращаемые значения</a:t>
            </a:r>
          </a:p>
          <a:p>
            <a:pPr lvl="1"/>
            <a:r>
              <a:rPr lang="ru-RU" dirty="0"/>
              <a:t>в каких заголовочных файлах они объявлены</a:t>
            </a:r>
          </a:p>
          <a:p>
            <a:r>
              <a:rPr lang="ru-RU" b="1" dirty="0"/>
              <a:t>Пример:</a:t>
            </a:r>
            <a:endParaRPr lang="ru-RU" dirty="0"/>
          </a:p>
          <a:p>
            <a:pPr lvl="1"/>
            <a:r>
              <a:rPr lang="ru-RU" dirty="0"/>
              <a:t>Функция </a:t>
            </a:r>
            <a:r>
              <a:rPr lang="ru-RU" dirty="0" err="1"/>
              <a:t>puts</a:t>
            </a:r>
            <a:r>
              <a:rPr lang="ru-RU" dirty="0"/>
              <a:t> → объявлена в </a:t>
            </a:r>
            <a:r>
              <a:rPr lang="ru-RU" dirty="0" err="1"/>
              <a:t>stdio.h</a:t>
            </a:r>
            <a:endParaRPr lang="ru-RU" dirty="0"/>
          </a:p>
          <a:p>
            <a:r>
              <a:rPr lang="ru-RU" dirty="0"/>
              <a:t>Для наших целей достаточно </a:t>
            </a:r>
            <a:r>
              <a:rPr lang="ru-RU" dirty="0">
                <a:hlinkClick r:id="rId4"/>
              </a:rPr>
              <a:t>онлайн-справочника по языку на </a:t>
            </a:r>
            <a:r>
              <a:rPr lang="en-US" dirty="0">
                <a:hlinkClick r:id="rId4"/>
              </a:rPr>
              <a:t>cppreference.com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62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754A-F00E-9829-FEC2-82963F62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Директива </a:t>
            </a:r>
            <a:r>
              <a:rPr lang="en-US" dirty="0"/>
              <a:t>#include</a:t>
            </a:r>
            <a:r>
              <a:rPr lang="ru-RU" dirty="0"/>
              <a:t> и заголовочные файлы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5547-486A-7F3E-F0F2-8FDA36A4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Что делает #include </a:t>
            </a:r>
            <a:r>
              <a:rPr lang="en-US" b="1" dirty="0"/>
              <a:t>&lt;</a:t>
            </a:r>
            <a:r>
              <a:rPr lang="en-US" b="1" dirty="0" err="1"/>
              <a:t>stdio.h</a:t>
            </a:r>
            <a:r>
              <a:rPr lang="en-US" b="1" dirty="0"/>
              <a:t>&gt; ?</a:t>
            </a:r>
            <a:endParaRPr lang="ru-RU" dirty="0"/>
          </a:p>
          <a:p>
            <a:pPr lvl="1"/>
            <a:r>
              <a:rPr lang="ru-RU" dirty="0"/>
              <a:t>подставляет содержимое заголовочного файла</a:t>
            </a:r>
          </a:p>
          <a:p>
            <a:pPr lvl="1"/>
            <a:r>
              <a:rPr lang="ru-RU" dirty="0"/>
              <a:t>сообщает компилятору объявления функций и типов</a:t>
            </a:r>
          </a:p>
          <a:p>
            <a:r>
              <a:rPr lang="ru-RU" b="1" dirty="0"/>
              <a:t>Скобки &lt; &gt; означают:</a:t>
            </a:r>
            <a:endParaRPr lang="ru-RU" dirty="0"/>
          </a:p>
          <a:p>
            <a:pPr lvl="1"/>
            <a:r>
              <a:rPr lang="ru-RU" dirty="0"/>
              <a:t>искать файл в системных каталогах</a:t>
            </a:r>
          </a:p>
          <a:p>
            <a:pPr lvl="1"/>
            <a:r>
              <a:rPr lang="ru-RU" dirty="0"/>
              <a:t>использовать стандартные или внешние библиотеки</a:t>
            </a:r>
          </a:p>
          <a:p>
            <a:r>
              <a:rPr lang="ru-RU" b="1" dirty="0"/>
              <a:t>Важно:</a:t>
            </a:r>
            <a:endParaRPr lang="ru-RU" dirty="0"/>
          </a:p>
          <a:p>
            <a:pPr lvl="1"/>
            <a:r>
              <a:rPr lang="ru-RU" dirty="0"/>
              <a:t>заголовочные файлы ≠ исходный код программы</a:t>
            </a:r>
          </a:p>
          <a:p>
            <a:pPr lvl="1"/>
            <a:r>
              <a:rPr lang="ru-RU" dirty="0"/>
              <a:t>они описывают интерфейс, а не реализацию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33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8E58-BBBE-3DFC-9629-C04A96EC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Откуда берётся функция </a:t>
            </a:r>
            <a:r>
              <a:rPr lang="en-US" dirty="0"/>
              <a:t>puts?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83FE-F7BE-9793-9EE7-094645705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Заголовочный файл (</a:t>
            </a:r>
            <a:r>
              <a:rPr lang="ru-RU" b="1" dirty="0" err="1"/>
              <a:t>stdio.h</a:t>
            </a:r>
            <a:r>
              <a:rPr lang="ru-RU" b="1" dirty="0"/>
              <a:t>)</a:t>
            </a:r>
            <a:endParaRPr lang="ru-RU" dirty="0"/>
          </a:p>
          <a:p>
            <a:pPr lvl="1"/>
            <a:r>
              <a:rPr lang="ru-RU" dirty="0"/>
              <a:t>содержит </a:t>
            </a:r>
            <a:r>
              <a:rPr lang="ru-RU" b="1" dirty="0"/>
              <a:t>объявление</a:t>
            </a:r>
            <a:r>
              <a:rPr lang="ru-RU" dirty="0"/>
              <a:t> функции</a:t>
            </a:r>
          </a:p>
          <a:p>
            <a:pPr lvl="1"/>
            <a:r>
              <a:rPr lang="ru-RU" dirty="0"/>
              <a:t>сообщает компилятору:</a:t>
            </a:r>
          </a:p>
          <a:p>
            <a:pPr lvl="2"/>
            <a:r>
              <a:rPr lang="ru-RU" dirty="0"/>
              <a:t>имя функции</a:t>
            </a:r>
          </a:p>
          <a:p>
            <a:pPr lvl="2"/>
            <a:r>
              <a:rPr lang="ru-RU" dirty="0"/>
              <a:t>параметры</a:t>
            </a:r>
          </a:p>
          <a:p>
            <a:pPr lvl="2"/>
            <a:r>
              <a:rPr lang="ru-RU" dirty="0"/>
              <a:t>тип возвращаемого значения</a:t>
            </a:r>
          </a:p>
          <a:p>
            <a:r>
              <a:rPr lang="ru-RU" b="1" dirty="0"/>
              <a:t>Реализация функции</a:t>
            </a:r>
            <a:endParaRPr lang="ru-RU" dirty="0"/>
          </a:p>
          <a:p>
            <a:pPr lvl="1"/>
            <a:r>
              <a:rPr lang="ru-RU" dirty="0"/>
              <a:t>находится в</a:t>
            </a:r>
            <a:r>
              <a:rPr lang="en-US" dirty="0"/>
              <a:t> </a:t>
            </a:r>
            <a:r>
              <a:rPr lang="ru-RU" dirty="0"/>
              <a:t>заранее скомпилированной </a:t>
            </a:r>
            <a:r>
              <a:rPr lang="ru-RU" b="1" dirty="0"/>
              <a:t>стандартной библиотеке</a:t>
            </a:r>
            <a:endParaRPr lang="ru-RU" dirty="0"/>
          </a:p>
          <a:p>
            <a:pPr lvl="1"/>
            <a:r>
              <a:rPr lang="ru-RU" dirty="0"/>
              <a:t>подключается на этапе </a:t>
            </a:r>
            <a:r>
              <a:rPr lang="ru-RU" b="1" dirty="0"/>
              <a:t>линковки</a:t>
            </a:r>
            <a:endParaRPr lang="ru-RU" dirty="0"/>
          </a:p>
          <a:p>
            <a:r>
              <a:rPr lang="ru-RU" b="1" dirty="0"/>
              <a:t>Ключевая идея:</a:t>
            </a:r>
            <a:endParaRPr lang="ru-RU" dirty="0"/>
          </a:p>
          <a:p>
            <a:pPr lvl="1"/>
            <a:r>
              <a:rPr lang="ru-RU" dirty="0"/>
              <a:t>.h — </a:t>
            </a:r>
            <a:r>
              <a:rPr lang="ru-RU" i="1" dirty="0"/>
              <a:t>что существует</a:t>
            </a:r>
            <a:endParaRPr lang="ru-RU" dirty="0"/>
          </a:p>
          <a:p>
            <a:pPr lvl="1"/>
            <a:r>
              <a:rPr lang="ru-RU" dirty="0"/>
              <a:t>библиотека — </a:t>
            </a:r>
            <a:r>
              <a:rPr lang="ru-RU" i="1" dirty="0"/>
              <a:t>как это реализовано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24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F506-2E05-E694-167D-12E1ACC0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Объектные файлы и линковка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4CCD6-E5C7-0D6A-E939-CCA90869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Результат работы компилятора</a:t>
            </a:r>
            <a:endParaRPr lang="ru-RU" dirty="0"/>
          </a:p>
          <a:p>
            <a:pPr lvl="1"/>
            <a:r>
              <a:rPr lang="ru-RU" dirty="0"/>
              <a:t>из </a:t>
            </a:r>
            <a:r>
              <a:rPr lang="ru-RU" dirty="0" err="1"/>
              <a:t>hello.c</a:t>
            </a:r>
            <a:r>
              <a:rPr lang="ru-RU" dirty="0"/>
              <a:t> получается </a:t>
            </a:r>
            <a:r>
              <a:rPr lang="ru-RU" b="1" dirty="0"/>
              <a:t>объектный файл</a:t>
            </a:r>
            <a:r>
              <a:rPr lang="ru-RU" dirty="0"/>
              <a:t> (</a:t>
            </a:r>
            <a:r>
              <a:rPr lang="ru-RU" dirty="0" err="1"/>
              <a:t>hello.o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объектный файл содержит:</a:t>
            </a:r>
          </a:p>
          <a:p>
            <a:pPr lvl="2"/>
            <a:r>
              <a:rPr lang="ru-RU" dirty="0"/>
              <a:t>машинный код функции </a:t>
            </a:r>
            <a:r>
              <a:rPr lang="ru-RU" dirty="0" err="1"/>
              <a:t>main</a:t>
            </a:r>
            <a:endParaRPr lang="ru-RU" dirty="0"/>
          </a:p>
          <a:p>
            <a:pPr lvl="2"/>
            <a:r>
              <a:rPr lang="ru-RU" dirty="0"/>
              <a:t>таблицу </a:t>
            </a:r>
            <a:r>
              <a:rPr lang="ru-RU" b="1" dirty="0"/>
              <a:t>символов</a:t>
            </a:r>
            <a:endParaRPr lang="ru-RU" dirty="0"/>
          </a:p>
          <a:p>
            <a:pPr lvl="2"/>
            <a:r>
              <a:rPr lang="ru-RU" dirty="0"/>
              <a:t>ссылки на </a:t>
            </a:r>
            <a:r>
              <a:rPr lang="ru-RU" b="1" dirty="0"/>
              <a:t>внешние символы</a:t>
            </a:r>
            <a:r>
              <a:rPr lang="ru-RU" dirty="0"/>
              <a:t> (например, </a:t>
            </a:r>
            <a:r>
              <a:rPr lang="ru-RU" dirty="0" err="1"/>
              <a:t>puts</a:t>
            </a:r>
            <a:r>
              <a:rPr lang="ru-RU" dirty="0"/>
              <a:t>)</a:t>
            </a:r>
          </a:p>
          <a:p>
            <a:r>
              <a:rPr lang="ru-RU" b="1" dirty="0"/>
              <a:t>Роль линкера</a:t>
            </a:r>
            <a:endParaRPr lang="ru-RU" dirty="0"/>
          </a:p>
          <a:p>
            <a:pPr lvl="1"/>
            <a:r>
              <a:rPr lang="ru-RU" dirty="0"/>
              <a:t>собирает программу из нескольких объектных файлов</a:t>
            </a:r>
          </a:p>
          <a:p>
            <a:pPr lvl="1"/>
            <a:r>
              <a:rPr lang="ru-RU" dirty="0"/>
              <a:t>находит реализации внешних символов</a:t>
            </a:r>
          </a:p>
          <a:p>
            <a:pPr lvl="1"/>
            <a:r>
              <a:rPr lang="ru-RU" dirty="0"/>
              <a:t>связывает вызовы функций с их кодом</a:t>
            </a:r>
          </a:p>
          <a:p>
            <a:pPr lvl="1"/>
            <a:r>
              <a:rPr lang="ru-RU" dirty="0"/>
              <a:t>формирует итоговый исполняемый файл</a:t>
            </a:r>
          </a:p>
        </p:txBody>
      </p:sp>
    </p:spTree>
    <p:extLst>
      <p:ext uri="{BB962C8B-B14F-4D97-AF65-F5344CB8AC3E}">
        <p14:creationId xmlns:p14="http://schemas.microsoft.com/office/powerpoint/2010/main" val="3354577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39FCDB-A9EF-8BFC-699A-C7CFC52E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построения программы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5FF0DF9D-C196-EB4A-DDF5-551D1ACE6890}"/>
              </a:ext>
            </a:extLst>
          </p:cNvPr>
          <p:cNvSpPr/>
          <p:nvPr/>
        </p:nvSpPr>
        <p:spPr>
          <a:xfrm>
            <a:off x="454818" y="3963987"/>
            <a:ext cx="2805113" cy="2028825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Hello, world!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EF0D4-96A8-3F04-631F-FD26857BDEE1}"/>
              </a:ext>
            </a:extLst>
          </p:cNvPr>
          <p:cNvSpPr/>
          <p:nvPr/>
        </p:nvSpPr>
        <p:spPr>
          <a:xfrm>
            <a:off x="3638550" y="4464048"/>
            <a:ext cx="1990725" cy="1300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Компилятор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04A69-D634-1F3C-D95C-435611326D46}"/>
              </a:ext>
            </a:extLst>
          </p:cNvPr>
          <p:cNvSpPr txBox="1"/>
          <p:nvPr/>
        </p:nvSpPr>
        <p:spPr>
          <a:xfrm>
            <a:off x="454818" y="3478212"/>
            <a:ext cx="206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hello.c</a:t>
            </a:r>
            <a:endParaRPr lang="en-US" dirty="0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9B98C92-8587-BAF5-6D63-0AA2999763AF}"/>
              </a:ext>
            </a:extLst>
          </p:cNvPr>
          <p:cNvSpPr/>
          <p:nvPr/>
        </p:nvSpPr>
        <p:spPr>
          <a:xfrm>
            <a:off x="6096000" y="3963987"/>
            <a:ext cx="2062163" cy="218598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Defined symbols:</a:t>
            </a:r>
          </a:p>
          <a:p>
            <a:pPr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main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External symbols:</a:t>
            </a:r>
          </a:p>
          <a:p>
            <a:pPr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C888D-7A4A-36A3-4EDC-FBEDD48E8EC8}"/>
              </a:ext>
            </a:extLst>
          </p:cNvPr>
          <p:cNvSpPr txBox="1"/>
          <p:nvPr/>
        </p:nvSpPr>
        <p:spPr>
          <a:xfrm>
            <a:off x="6096000" y="3477974"/>
            <a:ext cx="206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hello.o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B43E2B1-7C4B-D501-1613-D6D1915F9029}"/>
              </a:ext>
            </a:extLst>
          </p:cNvPr>
          <p:cNvSpPr/>
          <p:nvPr/>
        </p:nvSpPr>
        <p:spPr>
          <a:xfrm>
            <a:off x="3176588" y="4871243"/>
            <a:ext cx="600075" cy="48577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4F2D8AC-1208-05D0-D1AD-DCD8CB42783C}"/>
              </a:ext>
            </a:extLst>
          </p:cNvPr>
          <p:cNvSpPr/>
          <p:nvPr/>
        </p:nvSpPr>
        <p:spPr>
          <a:xfrm>
            <a:off x="5495925" y="4871243"/>
            <a:ext cx="600075" cy="48577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D9717B-FEED-52F5-709B-75A203C05109}"/>
              </a:ext>
            </a:extLst>
          </p:cNvPr>
          <p:cNvSpPr/>
          <p:nvPr/>
        </p:nvSpPr>
        <p:spPr>
          <a:xfrm>
            <a:off x="8642350" y="4406899"/>
            <a:ext cx="1309687" cy="1300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Линкер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B9F1AD-B00D-6F2C-522A-9143D52E9186}"/>
              </a:ext>
            </a:extLst>
          </p:cNvPr>
          <p:cNvSpPr/>
          <p:nvPr/>
        </p:nvSpPr>
        <p:spPr>
          <a:xfrm>
            <a:off x="8152606" y="4871242"/>
            <a:ext cx="600075" cy="48577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00F1A42E-6B2C-931F-15CC-0F606C3B18C0}"/>
              </a:ext>
            </a:extLst>
          </p:cNvPr>
          <p:cNvSpPr/>
          <p:nvPr/>
        </p:nvSpPr>
        <p:spPr>
          <a:xfrm>
            <a:off x="8245076" y="2730152"/>
            <a:ext cx="2062163" cy="1316833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Defined Symbols:</a:t>
            </a:r>
          </a:p>
          <a:p>
            <a:pPr>
              <a:buNone/>
            </a:pP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puts</a:t>
            </a:r>
          </a:p>
          <a:p>
            <a:pPr>
              <a:buNone/>
            </a:pP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printf</a:t>
            </a:r>
            <a:endParaRPr lang="en-US" sz="1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A2D4BE-6B01-F307-D881-A2C800ABE624}"/>
              </a:ext>
            </a:extLst>
          </p:cNvPr>
          <p:cNvSpPr txBox="1"/>
          <p:nvPr/>
        </p:nvSpPr>
        <p:spPr>
          <a:xfrm>
            <a:off x="7791843" y="7519001"/>
            <a:ext cx="206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libc.a</a:t>
            </a:r>
            <a:endParaRPr lang="en-US" dirty="0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9F2191BF-29BD-338F-6BB2-A19FBA4D1A1F}"/>
              </a:ext>
            </a:extLst>
          </p:cNvPr>
          <p:cNvSpPr/>
          <p:nvPr/>
        </p:nvSpPr>
        <p:spPr>
          <a:xfrm rot="10800000">
            <a:off x="8988026" y="4003985"/>
            <a:ext cx="469107" cy="500060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333E8F4-5650-2789-42BE-630298716A9E}"/>
              </a:ext>
            </a:extLst>
          </p:cNvPr>
          <p:cNvSpPr/>
          <p:nvPr/>
        </p:nvSpPr>
        <p:spPr>
          <a:xfrm>
            <a:off x="9841706" y="4871241"/>
            <a:ext cx="600075" cy="48577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6F206-8655-FCF5-AA8F-D732813C001B}"/>
              </a:ext>
            </a:extLst>
          </p:cNvPr>
          <p:cNvSpPr txBox="1"/>
          <p:nvPr/>
        </p:nvSpPr>
        <p:spPr>
          <a:xfrm>
            <a:off x="10436224" y="4235425"/>
            <a:ext cx="130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hello.exe</a:t>
            </a:r>
          </a:p>
        </p:txBody>
      </p:sp>
      <p:pic>
        <p:nvPicPr>
          <p:cNvPr id="23" name="Graphic 22" descr="Web design with solid fill">
            <a:extLst>
              <a:ext uri="{FF2B5EF4-FFF2-40B4-BE49-F238E27FC236}">
                <a16:creationId xmlns:a16="http://schemas.microsoft.com/office/drawing/2014/main" id="{E533754E-1080-8149-3EF7-02FADE8FC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1450" y="4464048"/>
            <a:ext cx="1325563" cy="13255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E58E25-1CB2-29D8-5B63-5A235D8BF103}"/>
              </a:ext>
            </a:extLst>
          </p:cNvPr>
          <p:cNvSpPr txBox="1"/>
          <p:nvPr/>
        </p:nvSpPr>
        <p:spPr>
          <a:xfrm>
            <a:off x="2007395" y="2033628"/>
            <a:ext cx="206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stdio.h</a:t>
            </a:r>
            <a:endParaRPr lang="en-US" dirty="0"/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30BCC217-F756-E700-9DD8-14DC9BB78775}"/>
              </a:ext>
            </a:extLst>
          </p:cNvPr>
          <p:cNvSpPr/>
          <p:nvPr/>
        </p:nvSpPr>
        <p:spPr>
          <a:xfrm>
            <a:off x="2007395" y="2375884"/>
            <a:ext cx="4245767" cy="701483"/>
          </a:xfrm>
          <a:prstGeom prst="wedgeRectCallout">
            <a:avLst>
              <a:gd name="adj1" fmla="val -38669"/>
              <a:gd name="adj2" fmla="val 2030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74531F"/>
                </a:solidFill>
                <a:latin typeface="Consolas" panose="020B0609020204030204" pitchFamily="49" charset="0"/>
              </a:rPr>
              <a:t>puts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_Buffer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F395B-4755-A1BA-9DA6-272750DD71C8}"/>
              </a:ext>
            </a:extLst>
          </p:cNvPr>
          <p:cNvSpPr txBox="1"/>
          <p:nvPr/>
        </p:nvSpPr>
        <p:spPr>
          <a:xfrm>
            <a:off x="8191497" y="2225629"/>
            <a:ext cx="206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libc.a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72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F36E-23F7-22F0-072B-AF0F31A3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Ассемблерный код программы </a:t>
            </a:r>
            <a:r>
              <a:rPr lang="en-US" dirty="0"/>
              <a:t>Hello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C92ED-44C7-3C4D-E0C3-3FE3BDE5EA59}"/>
              </a:ext>
            </a:extLst>
          </p:cNvPr>
          <p:cNvSpPr txBox="1"/>
          <p:nvPr/>
        </p:nvSpPr>
        <p:spPr>
          <a:xfrm>
            <a:off x="838200" y="2136338"/>
            <a:ext cx="41021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.LC0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world!"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puts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11B3A-AA06-85A5-092E-5DD39474997A}"/>
              </a:ext>
            </a:extLst>
          </p:cNvPr>
          <p:cNvSpPr txBox="1"/>
          <p:nvPr/>
        </p:nvSpPr>
        <p:spPr>
          <a:xfrm>
            <a:off x="6096000" y="2136338"/>
            <a:ext cx="48895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.LC0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world!"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x29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]!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x29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puts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x29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098FD-BF06-33C3-6AB4-EFFDD68FF78C}"/>
              </a:ext>
            </a:extLst>
          </p:cNvPr>
          <p:cNvSpPr txBox="1"/>
          <p:nvPr/>
        </p:nvSpPr>
        <p:spPr>
          <a:xfrm>
            <a:off x="838200" y="169068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X86-64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61A04-1EE0-1D59-4737-2265739ECA43}"/>
              </a:ext>
            </a:extLst>
          </p:cNvPr>
          <p:cNvSpPr txBox="1"/>
          <p:nvPr/>
        </p:nvSpPr>
        <p:spPr>
          <a:xfrm>
            <a:off x="6254750" y="169068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ARM64</a:t>
            </a:r>
          </a:p>
        </p:txBody>
      </p:sp>
    </p:spTree>
    <p:extLst>
      <p:ext uri="{BB962C8B-B14F-4D97-AF65-F5344CB8AC3E}">
        <p14:creationId xmlns:p14="http://schemas.microsoft.com/office/powerpoint/2010/main" val="2217552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11C3F3-6B1C-4C17-9FA0-F55A89C9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Форматированный ввод-вывод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093260-A564-A3BF-EB9E-347BD9A7C9B0}"/>
              </a:ext>
            </a:extLst>
          </p:cNvPr>
          <p:cNvSpPr txBox="1"/>
          <p:nvPr/>
        </p:nvSpPr>
        <p:spPr>
          <a:xfrm>
            <a:off x="838200" y="1825625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5066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2572-1A1E-80D5-ADE4-5C7C8D0A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переменных в языке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24E4C-1E34-BF88-6F77-9D205A10E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Объявление переменной</a:t>
            </a:r>
          </a:p>
          <a:p>
            <a:pPr lvl="1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= a + b;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b="1" dirty="0"/>
              <a:t>Основные правила</a:t>
            </a:r>
            <a:endParaRPr lang="ru-RU" dirty="0"/>
          </a:p>
          <a:p>
            <a:pPr lvl="1"/>
            <a:r>
              <a:rPr lang="ru-RU" dirty="0"/>
              <a:t>при объявлении всегда указывается тип</a:t>
            </a:r>
          </a:p>
          <a:p>
            <a:pPr lvl="1"/>
            <a:r>
              <a:rPr lang="ru-RU" dirty="0"/>
              <a:t>тип переменной фиксирован на всё время её жизни</a:t>
            </a:r>
          </a:p>
          <a:p>
            <a:pPr lvl="1"/>
            <a:r>
              <a:rPr lang="ru-RU" dirty="0"/>
              <a:t>переменные бывают:</a:t>
            </a:r>
          </a:p>
          <a:p>
            <a:pPr lvl="2"/>
            <a:r>
              <a:rPr lang="ru-RU" dirty="0"/>
              <a:t>локальные (внутри функции или блока)</a:t>
            </a:r>
          </a:p>
          <a:p>
            <a:pPr lvl="2"/>
            <a:r>
              <a:rPr lang="ru-RU" dirty="0"/>
              <a:t>глобальные (вне функций)</a:t>
            </a:r>
            <a:endParaRPr lang="en-US" dirty="0"/>
          </a:p>
          <a:p>
            <a:r>
              <a:rPr lang="ru-RU" b="1" dirty="0"/>
              <a:t>Инициализация</a:t>
            </a:r>
            <a:endParaRPr lang="ru-RU" dirty="0"/>
          </a:p>
          <a:p>
            <a:pPr lvl="1"/>
            <a:r>
              <a:rPr lang="ru-RU" dirty="0"/>
              <a:t>локальные переменные по умолчанию </a:t>
            </a:r>
            <a:r>
              <a:rPr lang="ru-RU" b="1" dirty="0"/>
              <a:t>не инициализируются</a:t>
            </a:r>
            <a:endParaRPr lang="ru-RU" dirty="0"/>
          </a:p>
          <a:p>
            <a:pPr lvl="1"/>
            <a:r>
              <a:rPr lang="ru-RU" dirty="0"/>
              <a:t>глобальные переменные инициализируются нулём</a:t>
            </a:r>
          </a:p>
          <a:p>
            <a:pPr lvl="1"/>
            <a:r>
              <a:rPr lang="ru-RU" dirty="0"/>
              <a:t>рекомендуется инициализировать переменные при объявлении</a:t>
            </a:r>
          </a:p>
        </p:txBody>
      </p:sp>
    </p:spTree>
    <p:extLst>
      <p:ext uri="{BB962C8B-B14F-4D97-AF65-F5344CB8AC3E}">
        <p14:creationId xmlns:p14="http://schemas.microsoft.com/office/powerpoint/2010/main" val="2972155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3CD2ED-89E8-80F9-5DD2-4E4FCAC5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Кратко о типе </a:t>
            </a:r>
            <a:r>
              <a:rPr lang="en-US" dirty="0"/>
              <a:t>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EF940-29E8-739C-8510-857E8A42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Тип </a:t>
            </a:r>
            <a:r>
              <a:rPr lang="ru-RU" b="1" dirty="0" err="1"/>
              <a:t>int</a:t>
            </a:r>
            <a:endParaRPr lang="ru-RU" dirty="0"/>
          </a:p>
          <a:p>
            <a:pPr lvl="1"/>
            <a:r>
              <a:rPr lang="ru-RU" dirty="0"/>
              <a:t>основной целочисленный тип языка C</a:t>
            </a:r>
          </a:p>
          <a:p>
            <a:pPr lvl="1"/>
            <a:r>
              <a:rPr lang="ru-RU" dirty="0"/>
              <a:t>используется для большинства вычислений</a:t>
            </a:r>
          </a:p>
          <a:p>
            <a:pPr lvl="1"/>
            <a:r>
              <a:rPr lang="ru-RU" dirty="0"/>
              <a:t>знаковый (может быть отрицательным)</a:t>
            </a:r>
          </a:p>
          <a:p>
            <a:r>
              <a:rPr lang="ru-RU" b="1" dirty="0"/>
              <a:t>Размер </a:t>
            </a:r>
            <a:r>
              <a:rPr lang="ru-RU" b="1" dirty="0" err="1"/>
              <a:t>int</a:t>
            </a:r>
            <a:endParaRPr lang="ru-RU" dirty="0"/>
          </a:p>
          <a:p>
            <a:pPr lvl="1"/>
            <a:r>
              <a:rPr lang="ru-RU" dirty="0"/>
              <a:t>зависит от платформы и компилятора</a:t>
            </a:r>
          </a:p>
          <a:p>
            <a:pPr lvl="1"/>
            <a:r>
              <a:rPr lang="ru-RU" dirty="0"/>
              <a:t>стандарт гарантирует:</a:t>
            </a:r>
          </a:p>
          <a:p>
            <a:pPr lvl="2"/>
            <a:r>
              <a:rPr lang="ru-RU" dirty="0" err="1"/>
              <a:t>int</a:t>
            </a:r>
            <a:r>
              <a:rPr lang="ru-RU" dirty="0"/>
              <a:t> ≥ 16 бит</a:t>
            </a:r>
          </a:p>
          <a:p>
            <a:pPr lvl="1"/>
            <a:r>
              <a:rPr lang="ru-RU" dirty="0"/>
              <a:t>на современных системах чаще всего:</a:t>
            </a:r>
          </a:p>
          <a:p>
            <a:pPr lvl="2"/>
            <a:r>
              <a:rPr lang="ru-RU" b="1" dirty="0"/>
              <a:t>32 бита (4 байта)</a:t>
            </a:r>
            <a:endParaRPr lang="ru-RU" dirty="0"/>
          </a:p>
          <a:p>
            <a:r>
              <a:rPr lang="ru-RU" b="1" dirty="0"/>
              <a:t>Важно</a:t>
            </a:r>
            <a:endParaRPr lang="ru-RU" dirty="0"/>
          </a:p>
          <a:p>
            <a:pPr lvl="1"/>
            <a:r>
              <a:rPr lang="ru-RU" dirty="0"/>
              <a:t>язык C </a:t>
            </a:r>
            <a:r>
              <a:rPr lang="ru-RU" b="1" dirty="0"/>
              <a:t>не фиксирует</a:t>
            </a:r>
            <a:r>
              <a:rPr lang="ru-RU" dirty="0"/>
              <a:t> точный размер </a:t>
            </a:r>
            <a:r>
              <a:rPr lang="ru-RU" dirty="0" err="1"/>
              <a:t>int</a:t>
            </a:r>
            <a:endParaRPr lang="ru-RU" dirty="0"/>
          </a:p>
          <a:p>
            <a:pPr lvl="1"/>
            <a:r>
              <a:rPr lang="ru-RU" dirty="0"/>
              <a:t>код должен быть переносимым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241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D9F4-9577-F645-FA59-BC468125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числа и системы счисления в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00762-9D6F-D0AE-A3FB-38215267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Десятичная (по умолчанию)</a:t>
            </a:r>
          </a:p>
          <a:p>
            <a:pPr lvl="1"/>
            <a:r>
              <a:rPr lang="en-US" dirty="0"/>
              <a:t>int a = 42;</a:t>
            </a:r>
          </a:p>
          <a:p>
            <a:r>
              <a:rPr lang="ru-RU" dirty="0"/>
              <a:t>Восьмеричная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b = 052;     // начинается с 0</a:t>
            </a:r>
            <a:endParaRPr lang="en-US" dirty="0"/>
          </a:p>
          <a:p>
            <a:r>
              <a:rPr lang="ru-RU" dirty="0"/>
              <a:t>Шестнадцатеричная</a:t>
            </a:r>
          </a:p>
          <a:p>
            <a:pPr lvl="1"/>
            <a:r>
              <a:rPr lang="en-US" dirty="0"/>
              <a:t>int c = 0x2A;    // 0x </a:t>
            </a:r>
            <a:r>
              <a:rPr lang="ru-RU" dirty="0"/>
              <a:t>или 0</a:t>
            </a:r>
            <a:r>
              <a:rPr lang="en-US" dirty="0"/>
              <a:t>X</a:t>
            </a:r>
            <a:endParaRPr lang="ru-RU" dirty="0"/>
          </a:p>
          <a:p>
            <a:r>
              <a:rPr lang="ru-RU" dirty="0"/>
              <a:t>Двоичная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d = 0b101010;  // 0b или 0B</a:t>
            </a:r>
          </a:p>
          <a:p>
            <a:r>
              <a:rPr lang="ru-RU" b="1" dirty="0"/>
              <a:t>Важно</a:t>
            </a:r>
            <a:endParaRPr lang="ru-RU" dirty="0"/>
          </a:p>
          <a:p>
            <a:pPr lvl="1"/>
            <a:r>
              <a:rPr lang="ru-RU" dirty="0"/>
              <a:t>система счисления определяется </a:t>
            </a:r>
            <a:r>
              <a:rPr lang="ru-RU" b="1" dirty="0"/>
              <a:t>по записи числа</a:t>
            </a:r>
            <a:endParaRPr lang="ru-RU" dirty="0"/>
          </a:p>
          <a:p>
            <a:pPr lvl="1"/>
            <a:r>
              <a:rPr lang="ru-RU" dirty="0"/>
              <a:t>значение переменной одно и то же</a:t>
            </a:r>
          </a:p>
        </p:txBody>
      </p:sp>
    </p:spTree>
    <p:extLst>
      <p:ext uri="{BB962C8B-B14F-4D97-AF65-F5344CB8AC3E}">
        <p14:creationId xmlns:p14="http://schemas.microsoft.com/office/powerpoint/2010/main" val="3432423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6A47-9C3D-4BF2-8107-0B6D0B86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Быстрый тест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0x1D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=16+13=29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0b1011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=8+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2+1=11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0215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=2∗64+8+5=128+13=141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шестнадцатеричную систему число 59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59=48+11=3∗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двоичную систему число </a:t>
                </a:r>
                <a:r>
                  <a:rPr lang="en-US" dirty="0"/>
                  <a:t>19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19=16+2+1=1∗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FB05-E9F4-09AF-18B4-5ADE64D2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операции в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80948-6BCB-28B1-C1D9-2FD94063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Основные арифметические операции</a:t>
            </a:r>
            <a:endParaRPr lang="en-US" b="1" dirty="0"/>
          </a:p>
          <a:p>
            <a:pPr lvl="1"/>
            <a:r>
              <a:rPr lang="ru-RU" dirty="0"/>
              <a:t>Сложение: +</a:t>
            </a:r>
          </a:p>
          <a:p>
            <a:pPr lvl="1"/>
            <a:r>
              <a:rPr lang="ru-RU" dirty="0"/>
              <a:t>Вычитание: -</a:t>
            </a:r>
          </a:p>
          <a:p>
            <a:pPr lvl="1"/>
            <a:r>
              <a:rPr lang="ru-RU" dirty="0"/>
              <a:t>Умножение: *</a:t>
            </a:r>
          </a:p>
          <a:p>
            <a:pPr lvl="1"/>
            <a:r>
              <a:rPr lang="ru-RU" dirty="0"/>
              <a:t>Деление: </a:t>
            </a:r>
            <a:r>
              <a:rPr lang="en-US" dirty="0"/>
              <a:t>/</a:t>
            </a:r>
          </a:p>
          <a:p>
            <a:pPr lvl="1"/>
            <a:r>
              <a:rPr lang="ru-RU" dirty="0"/>
              <a:t>Остаток от деления: %</a:t>
            </a:r>
          </a:p>
          <a:p>
            <a:r>
              <a:rPr lang="ru-RU" b="1" dirty="0"/>
              <a:t>Деление /</a:t>
            </a:r>
            <a:endParaRPr lang="ru-RU" dirty="0"/>
          </a:p>
          <a:p>
            <a:pPr lvl="1"/>
            <a:r>
              <a:rPr lang="ru-RU" dirty="0"/>
              <a:t>выполняется как целочисленное деление</a:t>
            </a:r>
          </a:p>
          <a:p>
            <a:pPr lvl="1"/>
            <a:r>
              <a:rPr lang="ru-RU" dirty="0"/>
              <a:t>дробная часть </a:t>
            </a:r>
            <a:r>
              <a:rPr lang="ru-RU" b="1" dirty="0"/>
              <a:t>отбрасывается</a:t>
            </a:r>
            <a:endParaRPr lang="ru-RU" dirty="0"/>
          </a:p>
          <a:p>
            <a:pPr lvl="1"/>
            <a:r>
              <a:rPr lang="ru-RU" dirty="0"/>
              <a:t>результат округляется </a:t>
            </a:r>
            <a:r>
              <a:rPr lang="ru-RU" b="1" dirty="0"/>
              <a:t>к нулю</a:t>
            </a:r>
          </a:p>
          <a:p>
            <a:r>
              <a:rPr lang="ru-RU" b="1" dirty="0"/>
              <a:t>Остаток %</a:t>
            </a:r>
            <a:endParaRPr lang="ru-RU" dirty="0"/>
          </a:p>
          <a:p>
            <a:pPr lvl="1"/>
            <a:r>
              <a:rPr lang="ru-RU" dirty="0"/>
              <a:t>знак результата такой же, как у делимого</a:t>
            </a:r>
            <a:endParaRPr lang="en-US" dirty="0"/>
          </a:p>
          <a:p>
            <a:r>
              <a:rPr lang="ru-RU" b="1" dirty="0"/>
              <a:t>Важно</a:t>
            </a:r>
          </a:p>
          <a:p>
            <a:pPr lvl="1"/>
            <a:r>
              <a:rPr lang="ru-RU" dirty="0"/>
              <a:t>Целочисленное деление на 0 запрещено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EFDC7-2C54-DA6A-62CD-6955511AAD09}"/>
              </a:ext>
            </a:extLst>
          </p:cNvPr>
          <p:cNvSpPr txBox="1"/>
          <p:nvPr/>
        </p:nvSpPr>
        <p:spPr>
          <a:xfrm>
            <a:off x="6364940" y="1825625"/>
            <a:ext cx="43209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x + y;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13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div = x / y;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rem = x % y;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1</a:t>
            </a: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// -2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// -2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// 2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// -1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h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// -1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84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E626-791D-1033-5DCF-E28FD878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Форматированный ввод и вывод: </a:t>
            </a:r>
            <a:r>
              <a:rPr lang="ru-RU" dirty="0" err="1"/>
              <a:t>printf</a:t>
            </a:r>
            <a:r>
              <a:rPr lang="ru-RU" dirty="0"/>
              <a:t> и </a:t>
            </a:r>
            <a:r>
              <a:rPr lang="ru-RU" dirty="0" err="1"/>
              <a:t>scanf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3CD4-0A16-E860-ECAA-E0C5AB6D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printf</a:t>
            </a:r>
            <a:r>
              <a:rPr lang="ru-RU" b="1" dirty="0"/>
              <a:t> — форматированный вывод</a:t>
            </a:r>
            <a:endParaRPr lang="ru-RU" dirty="0"/>
          </a:p>
          <a:p>
            <a:pPr lvl="1"/>
            <a:r>
              <a:rPr lang="ru-RU" dirty="0"/>
              <a:t>выводит данные на стандартный вывод</a:t>
            </a:r>
          </a:p>
          <a:p>
            <a:pPr lvl="1"/>
            <a:r>
              <a:rPr lang="ru-RU" dirty="0"/>
              <a:t>использует </a:t>
            </a:r>
            <a:r>
              <a:rPr lang="ru-RU" b="1" dirty="0"/>
              <a:t>форматную строку</a:t>
            </a:r>
            <a:endParaRPr lang="ru-RU" dirty="0"/>
          </a:p>
          <a:p>
            <a:pPr lvl="1"/>
            <a:r>
              <a:rPr lang="ru-RU" dirty="0"/>
              <a:t>%d — вывод целого числа типа </a:t>
            </a:r>
            <a:r>
              <a:rPr lang="ru-RU" b="1" dirty="0" err="1"/>
              <a:t>int</a:t>
            </a:r>
            <a:r>
              <a:rPr lang="en-US" dirty="0"/>
              <a:t> </a:t>
            </a:r>
            <a:r>
              <a:rPr lang="ru-RU" dirty="0"/>
              <a:t>в десятичной системе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("%d\n", sum);</a:t>
            </a:r>
          </a:p>
          <a:p>
            <a:r>
              <a:rPr lang="ru-RU" b="1" dirty="0" err="1"/>
              <a:t>scanf</a:t>
            </a:r>
            <a:r>
              <a:rPr lang="ru-RU" b="1" dirty="0"/>
              <a:t> — форматированный ввод</a:t>
            </a:r>
            <a:endParaRPr lang="ru-RU" dirty="0"/>
          </a:p>
          <a:p>
            <a:pPr lvl="1"/>
            <a:r>
              <a:rPr lang="ru-RU" dirty="0"/>
              <a:t>считывает данные со стандартного ввода</a:t>
            </a:r>
          </a:p>
          <a:p>
            <a:pPr lvl="1"/>
            <a:r>
              <a:rPr lang="ru-RU" dirty="0"/>
              <a:t>форматная строка описывает ожидаемые данные</a:t>
            </a:r>
          </a:p>
          <a:p>
            <a:pPr lvl="1"/>
            <a:r>
              <a:rPr lang="ru-RU" dirty="0"/>
              <a:t>%d — ввод целого числа типа </a:t>
            </a:r>
            <a:r>
              <a:rPr lang="ru-RU" b="1" dirty="0" err="1"/>
              <a:t>int</a:t>
            </a:r>
            <a:r>
              <a:rPr lang="ru-RU" dirty="0"/>
              <a:t> в десятичной системе</a:t>
            </a:r>
          </a:p>
          <a:p>
            <a:pPr lvl="1"/>
            <a:r>
              <a:rPr lang="it-IT" dirty="0">
                <a:latin typeface="Consolas" panose="020B0609020204030204" pitchFamily="49" charset="0"/>
              </a:rPr>
              <a:t>scanf("%d %d", &amp;a, &amp;b);</a:t>
            </a:r>
          </a:p>
        </p:txBody>
      </p:sp>
    </p:spTree>
    <p:extLst>
      <p:ext uri="{BB962C8B-B14F-4D97-AF65-F5344CB8AC3E}">
        <p14:creationId xmlns:p14="http://schemas.microsoft.com/office/powerpoint/2010/main" val="3435050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0A057C-A2B3-5A58-6F8F-D1D14700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и вывод одиночных символов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0C7845-7395-49B2-53C4-299C195F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7458" cy="4351338"/>
          </a:xfrm>
        </p:spPr>
        <p:txBody>
          <a:bodyPr/>
          <a:lstStyle/>
          <a:p>
            <a:r>
              <a:rPr lang="ru-RU" b="1" dirty="0"/>
              <a:t>Используемые функции:</a:t>
            </a:r>
            <a:endParaRPr lang="ru-RU" dirty="0"/>
          </a:p>
          <a:p>
            <a:pPr lvl="1"/>
            <a:r>
              <a:rPr lang="ru-RU" dirty="0" err="1"/>
              <a:t>getchar</a:t>
            </a:r>
            <a:r>
              <a:rPr lang="ru-RU" dirty="0"/>
              <a:t>() — чтение одного символа</a:t>
            </a:r>
          </a:p>
          <a:p>
            <a:pPr lvl="1"/>
            <a:r>
              <a:rPr lang="ru-RU" dirty="0" err="1"/>
              <a:t>putchar</a:t>
            </a:r>
            <a:r>
              <a:rPr lang="ru-RU" dirty="0"/>
              <a:t>() — вывод одного символа</a:t>
            </a:r>
          </a:p>
          <a:p>
            <a:pPr lvl="1"/>
            <a:r>
              <a:rPr lang="ru-RU" dirty="0"/>
              <a:t>EOF (</a:t>
            </a:r>
            <a:r>
              <a:rPr lang="en-US" dirty="0"/>
              <a:t>End of File)</a:t>
            </a:r>
            <a:r>
              <a:rPr lang="ru-RU" dirty="0"/>
              <a:t> — признак конца ввода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BC116-FFDC-315C-C37D-DC34623A85F4}"/>
              </a:ext>
            </a:extLst>
          </p:cNvPr>
          <p:cNvSpPr txBox="1"/>
          <p:nvPr/>
        </p:nvSpPr>
        <p:spPr>
          <a:xfrm>
            <a:off x="6406344" y="1825625"/>
            <a:ext cx="52425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!=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6495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7AA7-FFF9-9613-EB69-40DFD3D4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</a:t>
            </a:r>
            <a:r>
              <a:rPr lang="en-US" dirty="0"/>
              <a:t>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1264-0C59-BB9D-EBAB-F598D8D6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/>
          <a:lstStyle/>
          <a:p>
            <a:r>
              <a:rPr lang="ru-RU" b="1" dirty="0"/>
              <a:t>Как работает </a:t>
            </a:r>
            <a:r>
              <a:rPr lang="ru-RU" b="1" dirty="0" err="1"/>
              <a:t>while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проверяет условие </a:t>
            </a:r>
            <a:r>
              <a:rPr lang="ru-RU" b="1" dirty="0"/>
              <a:t>перед каждой итерацией</a:t>
            </a:r>
            <a:endParaRPr lang="ru-RU" dirty="0"/>
          </a:p>
          <a:p>
            <a:pPr lvl="1"/>
            <a:r>
              <a:rPr lang="ru-RU" dirty="0"/>
              <a:t>если условие истинно — выполняет тело цикла</a:t>
            </a:r>
          </a:p>
          <a:p>
            <a:pPr lvl="1"/>
            <a:r>
              <a:rPr lang="ru-RU" dirty="0"/>
              <a:t>если условие ложно — цикл завершается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302DC-E0F8-C1C0-3622-27E787F0B521}"/>
              </a:ext>
            </a:extLst>
          </p:cNvPr>
          <p:cNvSpPr txBox="1"/>
          <p:nvPr/>
        </p:nvSpPr>
        <p:spPr>
          <a:xfrm>
            <a:off x="838200" y="1959679"/>
            <a:ext cx="6093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условие)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инструкции;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3153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913B-0E28-DF46-86FE-36E1939D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Фигурные скобки и тело цикла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9CA0C-4876-3B59-27B6-51A2CAF88CCB}"/>
              </a:ext>
            </a:extLst>
          </p:cNvPr>
          <p:cNvSpPr txBox="1"/>
          <p:nvPr/>
        </p:nvSpPr>
        <p:spPr>
          <a:xfrm>
            <a:off x="838201" y="1690689"/>
            <a:ext cx="10733115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Одна инструкция — скобки не обязательны</a:t>
            </a:r>
            <a:endParaRPr lang="en-US" b="1" dirty="0"/>
          </a:p>
          <a:p>
            <a:pPr>
              <a:buNone/>
            </a:pPr>
            <a:endParaRPr lang="en-US" dirty="0">
              <a:solidFill>
                <a:srgbClr val="8F08C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((c =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getchar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 != EOF)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putchar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endParaRPr lang="en-US" b="1" dirty="0"/>
          </a:p>
          <a:p>
            <a:r>
              <a:rPr lang="ru-RU" b="1" dirty="0"/>
              <a:t>Несколько инструкций — скобки обязательны</a:t>
            </a:r>
            <a:endParaRPr lang="en-US" b="1" dirty="0"/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8F08C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 != EOF)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putchar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count++;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r>
              <a:rPr lang="ru-RU" b="1" dirty="0"/>
              <a:t>Важно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фигурные скобки образуют </a:t>
            </a:r>
            <a:r>
              <a:rPr lang="ru-RU" b="1" dirty="0"/>
              <a:t>блок (составную инструкцию)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блок считается </a:t>
            </a:r>
            <a:r>
              <a:rPr lang="ru-RU" b="1" dirty="0"/>
              <a:t>одной инструкцией</a:t>
            </a:r>
            <a:endParaRPr lang="ru-RU" dirty="0"/>
          </a:p>
          <a:p>
            <a:r>
              <a:rPr lang="ru-RU" b="1" dirty="0"/>
              <a:t>Рекомендация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всегда использовать фигурные скобки</a:t>
            </a:r>
          </a:p>
        </p:txBody>
      </p:sp>
    </p:spTree>
    <p:extLst>
      <p:ext uri="{BB962C8B-B14F-4D97-AF65-F5344CB8AC3E}">
        <p14:creationId xmlns:p14="http://schemas.microsoft.com/office/powerpoint/2010/main" val="610286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2510-3D91-B311-211F-D0F183FF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Условный оператор </a:t>
            </a:r>
            <a:r>
              <a:rPr lang="en-US" dirty="0"/>
              <a:t>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2E42E-8779-DC60-343E-42E2790AAB7B}"/>
              </a:ext>
            </a:extLst>
          </p:cNvPr>
          <p:cNvSpPr txBox="1"/>
          <p:nvPr/>
        </p:nvSpPr>
        <p:spPr>
          <a:xfrm>
            <a:off x="838199" y="1878983"/>
            <a:ext cx="96192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условие)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инструкция;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1" dirty="0"/>
              <a:t>Как работает </a:t>
            </a:r>
            <a:r>
              <a:rPr lang="ru-RU" b="1" dirty="0" err="1">
                <a:latin typeface="Courier New" panose="02070309020205020404" pitchFamily="49" charset="0"/>
              </a:rPr>
              <a:t>if</a:t>
            </a:r>
            <a:r>
              <a:rPr lang="ru-RU" b="1" dirty="0"/>
              <a:t>:</a:t>
            </a:r>
            <a:endParaRPr lang="ru-RU" dirty="0"/>
          </a:p>
          <a:p>
            <a:pPr marL="266700" indent="182563">
              <a:buFont typeface="Arial" panose="020B0604020202020204" pitchFamily="34" charset="0"/>
              <a:buChar char="•"/>
            </a:pPr>
            <a:r>
              <a:rPr lang="ru-RU" dirty="0"/>
              <a:t>условие вычисляется</a:t>
            </a:r>
          </a:p>
          <a:p>
            <a:pPr marL="266700" indent="182563">
              <a:buFont typeface="Arial" panose="020B0604020202020204" pitchFamily="34" charset="0"/>
              <a:buChar char="•"/>
            </a:pPr>
            <a:r>
              <a:rPr lang="ru-RU" dirty="0"/>
              <a:t>если условие истинно — выполняется тело </a:t>
            </a:r>
            <a:r>
              <a:rPr lang="ru-RU" dirty="0" err="1">
                <a:latin typeface="Courier New" panose="02070309020205020404" pitchFamily="49" charset="0"/>
              </a:rPr>
              <a:t>if</a:t>
            </a:r>
            <a:endParaRPr lang="ru-RU" dirty="0"/>
          </a:p>
          <a:p>
            <a:pPr marL="266700" indent="182563">
              <a:buFont typeface="Arial" panose="020B0604020202020204" pitchFamily="34" charset="0"/>
              <a:buChar char="•"/>
            </a:pPr>
            <a:r>
              <a:rPr lang="ru-RU" dirty="0"/>
              <a:t>если ложно — тело пропускается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1" dirty="0"/>
              <a:t>Пример: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 &gt; b)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puts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a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больше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5773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F0EE-EB05-8BF6-E4CF-7286C644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сравнения и логические операции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DD38-D546-5A8A-20C4-A05E3A4037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Операции сравнения</a:t>
            </a:r>
          </a:p>
          <a:p>
            <a:pPr lvl="1"/>
            <a:r>
              <a:rPr lang="ru-RU" dirty="0"/>
              <a:t>Равно: ==</a:t>
            </a:r>
          </a:p>
          <a:p>
            <a:pPr lvl="1"/>
            <a:r>
              <a:rPr lang="ru-RU" dirty="0"/>
              <a:t>Не равно: !=</a:t>
            </a:r>
          </a:p>
          <a:p>
            <a:pPr lvl="1"/>
            <a:r>
              <a:rPr lang="ru-RU" dirty="0"/>
              <a:t>Меньше: </a:t>
            </a:r>
            <a:r>
              <a:rPr lang="en-US" dirty="0"/>
              <a:t>&lt;</a:t>
            </a:r>
            <a:endParaRPr lang="ru-RU" dirty="0"/>
          </a:p>
          <a:p>
            <a:pPr lvl="1"/>
            <a:r>
              <a:rPr lang="ru-RU" dirty="0"/>
              <a:t>Больше:</a:t>
            </a:r>
            <a:r>
              <a:rPr lang="en-US" dirty="0"/>
              <a:t> &gt;</a:t>
            </a:r>
            <a:endParaRPr lang="ru-RU" dirty="0"/>
          </a:p>
          <a:p>
            <a:pPr lvl="1"/>
            <a:r>
              <a:rPr lang="ru-RU" dirty="0"/>
              <a:t>Меньше или равно:</a:t>
            </a:r>
            <a:r>
              <a:rPr lang="en-US" dirty="0"/>
              <a:t> &lt;=</a:t>
            </a:r>
            <a:endParaRPr lang="ru-RU" dirty="0"/>
          </a:p>
          <a:p>
            <a:pPr lvl="1"/>
            <a:r>
              <a:rPr lang="ru-RU" dirty="0"/>
              <a:t>Больше или равно:</a:t>
            </a:r>
            <a:r>
              <a:rPr lang="en-US" dirty="0"/>
              <a:t> &gt;=</a:t>
            </a:r>
            <a:endParaRPr lang="ru-RU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F1F0B-C01F-755D-4C21-4E362AB05E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операции</a:t>
            </a:r>
            <a:endParaRPr lang="en-US" dirty="0"/>
          </a:p>
          <a:p>
            <a:pPr lvl="1"/>
            <a:r>
              <a:rPr lang="ru-RU" dirty="0"/>
              <a:t>логическое И</a:t>
            </a:r>
            <a:r>
              <a:rPr lang="en-US" dirty="0"/>
              <a:t>:</a:t>
            </a:r>
            <a:r>
              <a:rPr lang="ru-RU" dirty="0"/>
              <a:t> &amp;&amp;</a:t>
            </a:r>
            <a:endParaRPr lang="en-US" dirty="0"/>
          </a:p>
          <a:p>
            <a:pPr lvl="1"/>
            <a:r>
              <a:rPr lang="ru-RU" dirty="0"/>
              <a:t>логическое ИЛИ</a:t>
            </a:r>
            <a:r>
              <a:rPr lang="en-US" dirty="0"/>
              <a:t>: ||</a:t>
            </a:r>
          </a:p>
          <a:p>
            <a:pPr lvl="1"/>
            <a:r>
              <a:rPr lang="ru-RU" dirty="0"/>
              <a:t>логическое НЕ</a:t>
            </a:r>
            <a:r>
              <a:rPr lang="en-US" dirty="0"/>
              <a:t>: !</a:t>
            </a:r>
            <a:endParaRPr lang="ru-RU" dirty="0"/>
          </a:p>
          <a:p>
            <a:r>
              <a:rPr lang="ru-RU" dirty="0"/>
              <a:t>Короткое замыкание</a:t>
            </a:r>
          </a:p>
          <a:p>
            <a:pPr lvl="1"/>
            <a:r>
              <a:rPr lang="ru-RU" dirty="0"/>
              <a:t>Вычисления операторов </a:t>
            </a:r>
            <a:r>
              <a:rPr lang="en-US" dirty="0"/>
              <a:t>&amp;&amp; </a:t>
            </a:r>
            <a:r>
              <a:rPr lang="ru-RU" dirty="0"/>
              <a:t>и </a:t>
            </a:r>
            <a:r>
              <a:rPr lang="en-US" dirty="0"/>
              <a:t>|| </a:t>
            </a:r>
            <a:r>
              <a:rPr lang="ru-RU" dirty="0"/>
              <a:t>прекращаются как только станет известна истинность или ложность результата</a:t>
            </a:r>
          </a:p>
          <a:p>
            <a:pPr lvl="2"/>
            <a:r>
              <a:rPr lang="ru-RU" dirty="0"/>
              <a:t>Сначала вычисляется левый аргумент, а правый – только при необходимости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0CD7A-56B7-4654-5FBA-954883D99AA7}"/>
              </a:ext>
            </a:extLst>
          </p:cNvPr>
          <p:cNvSpPr txBox="1"/>
          <p:nvPr/>
        </p:nvSpPr>
        <p:spPr>
          <a:xfrm>
            <a:off x="838200" y="5111571"/>
            <a:ext cx="4631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 &amp;&amp; b !=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Условие выполнено</a:t>
            </a:r>
            <a:r>
              <a:rPr lang="ru-RU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272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60C7D6-C928-278A-546B-B3F6B225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проверять ввод через </a:t>
            </a:r>
            <a:r>
              <a:rPr lang="en-US" dirty="0" err="1"/>
              <a:t>scanf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C6661-903A-EA05-F7C4-F3F3340A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r>
              <a:rPr lang="ru-RU"/>
              <a:t>scanf возвращает </a:t>
            </a:r>
            <a:r>
              <a:rPr lang="ru-RU" b="1"/>
              <a:t>число успешно считанных элементов</a:t>
            </a:r>
            <a:endParaRPr lang="ru-RU"/>
          </a:p>
          <a:p>
            <a:r>
              <a:rPr lang="ru-RU"/>
              <a:t>возвращает EOF, если ввода больше нет (конец файла/потока)</a:t>
            </a:r>
          </a:p>
          <a:p>
            <a:r>
              <a:rPr lang="ru-RU"/>
              <a:t>при неверном вводе (например, буква вместо числа) scanf("%d", &amp;x) вернёт 0 и </a:t>
            </a:r>
            <a:r>
              <a:rPr lang="ru-RU" b="1"/>
              <a:t>не сдвинется по вводу</a:t>
            </a:r>
            <a:r>
              <a:rPr lang="ru-RU"/>
              <a:t>, из-за чего цикл может зациклиться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61D92-0115-36FD-937C-1BFA2B18942F}"/>
              </a:ext>
            </a:extLst>
          </p:cNvPr>
          <p:cNvSpPr txBox="1"/>
          <p:nvPr/>
        </p:nvSpPr>
        <p:spPr>
          <a:xfrm>
            <a:off x="6364061" y="1825624"/>
            <a:ext cx="4772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Ошибка ввода</a:t>
            </a:r>
            <a:r>
              <a:rPr lang="ru-RU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9954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9F0A-80A7-C679-7E09-0DAE35BA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пропускать неверный ввод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FB2F5-5812-A4DB-7F8E-CDA873969D9F}"/>
              </a:ext>
            </a:extLst>
          </p:cNvPr>
          <p:cNvSpPr txBox="1"/>
          <p:nvPr/>
        </p:nvSpPr>
        <p:spPr>
          <a:xfrm>
            <a:off x="838200" y="2008415"/>
            <a:ext cx="83098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EOF)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Конец ввода</a:t>
            </a:r>
            <a:r>
              <a:rPr lang="ru-RU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0764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CB7B54-A7C8-F79C-B3D4-0BC28EE8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9347B-54E2-068A-6BEC-1D94D1DAC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28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EDC7CA-B1FC-E6ED-4B80-43791127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функции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30C3E-3C0C-02F6-1A8E-97270B030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1480"/>
          </a:xfrm>
        </p:spPr>
        <p:txBody>
          <a:bodyPr/>
          <a:lstStyle/>
          <a:p>
            <a:r>
              <a:rPr lang="ru-RU" dirty="0"/>
              <a:t>Разбиение программы на логические части</a:t>
            </a:r>
          </a:p>
          <a:p>
            <a:r>
              <a:rPr lang="ru-RU" dirty="0"/>
              <a:t>Повторное использование кода</a:t>
            </a:r>
          </a:p>
          <a:p>
            <a:r>
              <a:rPr lang="ru-RU" dirty="0"/>
              <a:t>Повышение читаемости и облегчение поддержки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77BDC-6DB3-BB99-F863-9E0270448482}"/>
              </a:ext>
            </a:extLst>
          </p:cNvPr>
          <p:cNvSpPr txBox="1"/>
          <p:nvPr/>
        </p:nvSpPr>
        <p:spPr>
          <a:xfrm>
            <a:off x="838200" y="4380662"/>
            <a:ext cx="6093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если писать всё здесь,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функция быстро станет слишком большой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2550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1C93-2246-5051-1E4F-37CE6D49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определение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1066-BC5B-CD9D-4D52-F1A58940C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Объявление функции 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declaration)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Определение функции 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definition)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Правила</a:t>
            </a:r>
            <a:endParaRPr lang="ru-RU" dirty="0"/>
          </a:p>
          <a:p>
            <a:pPr lvl="1"/>
            <a:r>
              <a:rPr lang="ru-RU" dirty="0"/>
              <a:t>функция должна быть объявлена до первого использования</a:t>
            </a:r>
          </a:p>
          <a:p>
            <a:pPr lvl="1"/>
            <a:r>
              <a:rPr lang="ru-RU" dirty="0"/>
              <a:t>функция определяется </a:t>
            </a:r>
            <a:r>
              <a:rPr lang="ru-RU" b="1" dirty="0"/>
              <a:t>ровно один раз</a:t>
            </a:r>
            <a:endParaRPr lang="ru-RU" dirty="0"/>
          </a:p>
          <a:p>
            <a:pPr lvl="1"/>
            <a:r>
              <a:rPr lang="ru-RU" dirty="0"/>
              <a:t>объявлена может быть </a:t>
            </a:r>
            <a:r>
              <a:rPr lang="ru-RU" b="1" dirty="0"/>
              <a:t>несколько раз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7629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1515-EBA2-629E-F013-EB8B2067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без возвращаемого значения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FDE6-0772-6017-0F9D-5A4C7C048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возвращают значение</a:t>
            </a:r>
          </a:p>
          <a:p>
            <a:pPr lvl="1"/>
            <a:r>
              <a:rPr lang="ru-RU" dirty="0"/>
              <a:t>Аналогичны процедурам языка </a:t>
            </a:r>
            <a:r>
              <a:rPr lang="en-US" dirty="0"/>
              <a:t>Pascal</a:t>
            </a:r>
          </a:p>
          <a:p>
            <a:pPr lvl="1"/>
            <a:r>
              <a:rPr lang="ru-RU" dirty="0"/>
              <a:t>В качестве типа результата указывается </a:t>
            </a:r>
            <a:r>
              <a:rPr lang="ru-RU" dirty="0" err="1"/>
              <a:t>void</a:t>
            </a:r>
            <a:endParaRPr lang="en-US" dirty="0"/>
          </a:p>
          <a:p>
            <a:r>
              <a:rPr lang="ru-RU" dirty="0"/>
              <a:t>Оператор </a:t>
            </a:r>
            <a:r>
              <a:rPr lang="en-US" dirty="0"/>
              <a:t>return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void-</a:t>
            </a:r>
            <a:r>
              <a:rPr lang="ru-RU" dirty="0"/>
              <a:t>функции пишется как </a:t>
            </a:r>
            <a:r>
              <a:rPr lang="en-US" dirty="0">
                <a:latin typeface="Consolas" panose="020B0609020204030204" pitchFamily="49" charset="0"/>
              </a:rPr>
              <a:t>return;</a:t>
            </a:r>
            <a:r>
              <a:rPr lang="ru-RU" dirty="0"/>
              <a:t> (без аргументов) для досрочного выхода</a:t>
            </a:r>
          </a:p>
          <a:p>
            <a:pPr lvl="1"/>
            <a:r>
              <a:rPr lang="ru-RU" dirty="0"/>
              <a:t>В конце функции можно </a:t>
            </a:r>
            <a:r>
              <a:rPr lang="en-US" dirty="0"/>
              <a:t>return </a:t>
            </a:r>
            <a:r>
              <a:rPr lang="ru-RU" dirty="0"/>
              <a:t>не писать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8EC87-CAEC-DAD0-DDBC-DBC7B5340C16}"/>
              </a:ext>
            </a:extLst>
          </p:cNvPr>
          <p:cNvSpPr txBox="1"/>
          <p:nvPr/>
        </p:nvSpPr>
        <p:spPr>
          <a:xfrm>
            <a:off x="838200" y="5024466"/>
            <a:ext cx="6093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6884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3DFD-5D3B-39EF-116B-72501374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</a:t>
            </a:r>
            <a:r>
              <a:rPr lang="ru-RU" dirty="0"/>
              <a:t>и завершение</a:t>
            </a:r>
            <a:r>
              <a:rPr lang="en-US" dirty="0"/>
              <a:t> 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D27AA-D827-147C-C596-19DEC4FC1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Внутри функции </a:t>
            </a:r>
            <a:r>
              <a:rPr lang="en-US" dirty="0"/>
              <a:t>main</a:t>
            </a:r>
            <a:r>
              <a:rPr lang="ru-RU" dirty="0"/>
              <a:t> можно не писать </a:t>
            </a:r>
            <a:r>
              <a:rPr lang="en-US" dirty="0"/>
              <a:t>return</a:t>
            </a:r>
          </a:p>
          <a:p>
            <a:pPr lvl="1">
              <a:lnSpc>
                <a:spcPct val="10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en-US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В других функциях с возвращаемым значением </a:t>
            </a:r>
            <a:r>
              <a:rPr lang="en-US" dirty="0"/>
              <a:t>return </a:t>
            </a:r>
            <a:r>
              <a:rPr lang="ru-RU" dirty="0"/>
              <a:t>обязателен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ru-RU" dirty="0"/>
              <a:t>не должно быть путей выполнения без </a:t>
            </a:r>
            <a:r>
              <a:rPr lang="en-US" dirty="0"/>
              <a:t>return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нет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return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для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x &lt;= 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>
              <a:lnSpc>
                <a:spcPts val="1425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555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6433-084E-EE5F-5319-D2EDAE09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в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FF2E-ABFA-A15E-B714-FB3D076C7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Аргументы в </a:t>
            </a:r>
            <a:r>
              <a:rPr lang="en-US" b="1" dirty="0"/>
              <a:t>C</a:t>
            </a:r>
            <a:r>
              <a:rPr lang="ru-RU" b="1" dirty="0"/>
              <a:t> всегда передаются по значению</a:t>
            </a:r>
            <a:endParaRPr lang="ru-RU" dirty="0"/>
          </a:p>
          <a:p>
            <a:pPr lvl="1"/>
            <a:r>
              <a:rPr lang="ru-RU" dirty="0"/>
              <a:t>в функцию передаётся </a:t>
            </a:r>
            <a:r>
              <a:rPr lang="ru-RU" b="1" dirty="0"/>
              <a:t>копия значения</a:t>
            </a:r>
            <a:endParaRPr lang="ru-RU" dirty="0"/>
          </a:p>
          <a:p>
            <a:pPr lvl="1"/>
            <a:r>
              <a:rPr lang="ru-RU" dirty="0"/>
              <a:t>изменение параметра внутри функции </a:t>
            </a:r>
            <a:r>
              <a:rPr lang="ru-RU" b="1" dirty="0"/>
              <a:t>не влияет</a:t>
            </a:r>
            <a:r>
              <a:rPr lang="ru-RU" dirty="0"/>
              <a:t> на переменную в вызывающем коде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67153-494F-4F4F-E0B9-4258760DA777}"/>
              </a:ext>
            </a:extLst>
          </p:cNvPr>
          <p:cNvSpPr txBox="1"/>
          <p:nvPr/>
        </p:nvSpPr>
        <p:spPr>
          <a:xfrm>
            <a:off x="1004455" y="3552424"/>
            <a:ext cx="60932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7301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800D-7F35-2574-4CD8-B874E5C5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Регистрочувствительность</a:t>
            </a:r>
            <a:r>
              <a:rPr lang="ru-RU" dirty="0"/>
              <a:t> и имена в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AE51-EBC7-9580-2308-C39D71ED0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err="1"/>
              <a:t>Регистрочувствительность</a:t>
            </a:r>
            <a:endParaRPr lang="ru-RU" dirty="0"/>
          </a:p>
          <a:p>
            <a:pPr lvl="1"/>
            <a:r>
              <a:rPr lang="ru-RU" dirty="0"/>
              <a:t>язык C </a:t>
            </a:r>
            <a:r>
              <a:rPr lang="ru-RU" b="1" dirty="0"/>
              <a:t>различает</a:t>
            </a:r>
            <a:r>
              <a:rPr lang="ru-RU" dirty="0"/>
              <a:t> заглавные и строчные буквы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; и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; — </a:t>
            </a:r>
            <a:r>
              <a:rPr lang="ru-RU" b="1" dirty="0"/>
              <a:t>разные переменные</a:t>
            </a:r>
            <a:endParaRPr lang="ru-RU" dirty="0"/>
          </a:p>
          <a:p>
            <a:pPr lvl="1"/>
            <a:r>
              <a:rPr lang="ru-RU" dirty="0"/>
              <a:t>не рекомендуется использовать имена, отличающиеся только регистром</a:t>
            </a:r>
          </a:p>
          <a:p>
            <a:r>
              <a:rPr lang="ru-RU" b="1" dirty="0"/>
              <a:t>Ключевые слова</a:t>
            </a:r>
            <a:endParaRPr lang="ru-RU" dirty="0"/>
          </a:p>
          <a:p>
            <a:pPr lvl="1"/>
            <a:r>
              <a:rPr lang="ru-RU" dirty="0"/>
              <a:t>большинство ключевых слов записываются </a:t>
            </a:r>
            <a:r>
              <a:rPr lang="ru-RU" b="1" dirty="0"/>
              <a:t>строчными буквами</a:t>
            </a:r>
            <a:endParaRPr lang="ru-RU" dirty="0"/>
          </a:p>
          <a:p>
            <a:pPr lvl="2"/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if</a:t>
            </a:r>
            <a:r>
              <a:rPr lang="ru-RU" dirty="0"/>
              <a:t>,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return</a:t>
            </a:r>
            <a:r>
              <a:rPr lang="ru-RU" dirty="0"/>
              <a:t>, </a:t>
            </a:r>
            <a:r>
              <a:rPr lang="ru-RU" dirty="0" err="1"/>
              <a:t>void</a:t>
            </a:r>
            <a:r>
              <a:rPr lang="en-US" dirty="0"/>
              <a:t> </a:t>
            </a:r>
            <a:r>
              <a:rPr lang="ru-RU" dirty="0"/>
              <a:t>и другие</a:t>
            </a:r>
          </a:p>
          <a:p>
            <a:pPr lvl="1"/>
            <a:r>
              <a:rPr lang="ru-RU" dirty="0"/>
              <a:t>Есть также ключевые слова, начинающиеся с подчёркивания: </a:t>
            </a:r>
            <a:r>
              <a:rPr lang="en-US" dirty="0"/>
              <a:t>_Bool, _Atomic</a:t>
            </a:r>
            <a:endParaRPr lang="ru-RU" dirty="0"/>
          </a:p>
          <a:p>
            <a:r>
              <a:rPr lang="ru-RU" b="1" dirty="0"/>
              <a:t>Имена (идентификаторы)</a:t>
            </a:r>
            <a:endParaRPr lang="ru-RU" dirty="0"/>
          </a:p>
          <a:p>
            <a:pPr lvl="1"/>
            <a:r>
              <a:rPr lang="ru-RU" dirty="0"/>
              <a:t>могут содержать:</a:t>
            </a:r>
          </a:p>
          <a:p>
            <a:pPr lvl="2"/>
            <a:r>
              <a:rPr lang="ru-RU" dirty="0"/>
              <a:t>английские буквы (a–z, A–Z)</a:t>
            </a:r>
          </a:p>
          <a:p>
            <a:pPr lvl="2"/>
            <a:r>
              <a:rPr lang="ru-RU" dirty="0"/>
              <a:t>цифры (0–9)</a:t>
            </a:r>
          </a:p>
          <a:p>
            <a:pPr lvl="2"/>
            <a:r>
              <a:rPr lang="ru-RU" dirty="0"/>
              <a:t>символ подчёркивания (_)</a:t>
            </a:r>
          </a:p>
          <a:p>
            <a:pPr lvl="1"/>
            <a:r>
              <a:rPr lang="ru-RU" b="1" dirty="0"/>
              <a:t>не могут начинаться с цифры</a:t>
            </a:r>
            <a:endParaRPr lang="ru-RU" dirty="0"/>
          </a:p>
          <a:p>
            <a:r>
              <a:rPr lang="ru-RU" b="1" dirty="0"/>
              <a:t>Зарезервированные имена</a:t>
            </a:r>
            <a:endParaRPr lang="ru-RU" dirty="0"/>
          </a:p>
          <a:p>
            <a:pPr lvl="1"/>
            <a:r>
              <a:rPr lang="ru-RU" dirty="0"/>
              <a:t>_X, _Name — зарезервированы (подчёркивание + заглавная буква)</a:t>
            </a:r>
          </a:p>
          <a:p>
            <a:pPr lvl="1"/>
            <a:r>
              <a:rPr lang="ru-RU" dirty="0"/>
              <a:t>__</a:t>
            </a:r>
            <a:r>
              <a:rPr lang="ru-RU" dirty="0" err="1"/>
              <a:t>name</a:t>
            </a:r>
            <a:r>
              <a:rPr lang="ru-RU" dirty="0"/>
              <a:t>, __NAME — зарезервированы (два подчёркивания)</a:t>
            </a:r>
          </a:p>
          <a:p>
            <a:pPr lvl="1"/>
            <a:r>
              <a:rPr lang="ru-RU" dirty="0"/>
              <a:t>_</a:t>
            </a:r>
            <a:r>
              <a:rPr lang="ru-RU" dirty="0" err="1"/>
              <a:t>name</a:t>
            </a:r>
            <a:r>
              <a:rPr lang="ru-RU" dirty="0"/>
              <a:t> — допустимо, но </a:t>
            </a:r>
            <a:r>
              <a:rPr lang="ru-RU" b="1" dirty="0"/>
              <a:t>не рекомендуется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204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BA6E-E405-6121-6320-A5705755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3DC0-0D1B-6F96-9C71-55B5252F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 мы сегодня сделали:</a:t>
            </a:r>
          </a:p>
          <a:p>
            <a:pPr lvl="1"/>
            <a:r>
              <a:rPr lang="ru-RU" dirty="0"/>
              <a:t>разобрали, что такое микропроцессор и как он выполняет программу</a:t>
            </a:r>
          </a:p>
          <a:p>
            <a:pPr lvl="1"/>
            <a:r>
              <a:rPr lang="ru-RU" dirty="0"/>
              <a:t>увидели связь: C → ассемблер → машинный код</a:t>
            </a:r>
          </a:p>
          <a:p>
            <a:pPr lvl="1"/>
            <a:r>
              <a:rPr lang="ru-RU" dirty="0"/>
              <a:t>познакомились с языком C и его стандартной библиотекой</a:t>
            </a:r>
          </a:p>
          <a:p>
            <a:pPr lvl="1"/>
            <a:r>
              <a:rPr lang="ru-RU" dirty="0"/>
              <a:t>научились писать, компилировать и запускать простые программы</a:t>
            </a:r>
          </a:p>
          <a:p>
            <a:pPr lvl="1"/>
            <a:r>
              <a:rPr lang="ru-RU" dirty="0"/>
              <a:t>разобрали работу с целыми числами, условиями и циклами</a:t>
            </a:r>
          </a:p>
          <a:p>
            <a:pPr lvl="1"/>
            <a:r>
              <a:rPr lang="ru-RU" dirty="0"/>
              <a:t>научились читать ввод из консоли и проверять его корректность</a:t>
            </a:r>
          </a:p>
          <a:p>
            <a:r>
              <a:rPr lang="ru-RU" dirty="0"/>
              <a:t>Дальше в курсе:</a:t>
            </a:r>
          </a:p>
          <a:p>
            <a:pPr lvl="1"/>
            <a:r>
              <a:rPr lang="ru-RU" dirty="0"/>
              <a:t>больше практики на C</a:t>
            </a:r>
          </a:p>
          <a:p>
            <a:pPr lvl="1"/>
            <a:r>
              <a:rPr lang="ru-RU" dirty="0"/>
              <a:t>переход к памяти, стеку и вызовам функций</a:t>
            </a:r>
          </a:p>
          <a:p>
            <a:pPr lvl="1"/>
            <a:r>
              <a:rPr lang="ru-RU" dirty="0"/>
              <a:t>постепенный разбор ассемблера и работы процессора</a:t>
            </a:r>
          </a:p>
        </p:txBody>
      </p:sp>
    </p:spTree>
    <p:extLst>
      <p:ext uri="{BB962C8B-B14F-4D97-AF65-F5344CB8AC3E}">
        <p14:creationId xmlns:p14="http://schemas.microsoft.com/office/powerpoint/2010/main" val="423691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10244</Words>
  <Application>Microsoft Office PowerPoint</Application>
  <PresentationFormat>Widescreen</PresentationFormat>
  <Paragraphs>1141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Aptos</vt:lpstr>
      <vt:lpstr>Aptos Display</vt:lpstr>
      <vt:lpstr>Arial</vt:lpstr>
      <vt:lpstr>Cambria Math</vt:lpstr>
      <vt:lpstr>Consolas</vt:lpstr>
      <vt:lpstr>Courier New</vt:lpstr>
      <vt:lpstr>Office Theme</vt:lpstr>
      <vt:lpstr>Программирование микропроцессоров</vt:lpstr>
      <vt:lpstr>Добро пожаловать на курс</vt:lpstr>
      <vt:lpstr>Зачем изучать низкоуровневые языки программирования?</vt:lpstr>
      <vt:lpstr>Устройство микропроцессора</vt:lpstr>
      <vt:lpstr>Что такое микропроцессор</vt:lpstr>
      <vt:lpstr>Устройство микропроцессора</vt:lpstr>
      <vt:lpstr>Архитектура Фон-Неймана и Гарвардская архитектура</vt:lpstr>
      <vt:lpstr>Что такое программа?</vt:lpstr>
      <vt:lpstr>Нахождение максимального элемента массива (x86-64)</vt:lpstr>
      <vt:lpstr>Нахождение максимального элемента массива (ARM64)</vt:lpstr>
      <vt:lpstr>Выводы</vt:lpstr>
      <vt:lpstr>Почему не интерпретируемые языки</vt:lpstr>
      <vt:lpstr>Почему не C++, Go, Pascal</vt:lpstr>
      <vt:lpstr>Почему именно C</vt:lpstr>
      <vt:lpstr>Роль компилятора</vt:lpstr>
      <vt:lpstr>Когда имеет смысл писать на ассемблере</vt:lpstr>
      <vt:lpstr>Знакомство с языком C</vt:lpstr>
      <vt:lpstr>Программа hello.c</vt:lpstr>
      <vt:lpstr>Компиляция программы из командной строки</vt:lpstr>
      <vt:lpstr>IDE и инструменты разработки</vt:lpstr>
      <vt:lpstr>Структура программы Hello</vt:lpstr>
      <vt:lpstr>Стандартная библиотека языка C</vt:lpstr>
      <vt:lpstr>Директива #include и заголовочные файлы</vt:lpstr>
      <vt:lpstr>Откуда берётся функция puts?</vt:lpstr>
      <vt:lpstr>Объектные файлы и линковка</vt:lpstr>
      <vt:lpstr>Процесс построения программы</vt:lpstr>
      <vt:lpstr>Ассемблерный код программы Hello</vt:lpstr>
      <vt:lpstr>Форматированный ввод-вывод</vt:lpstr>
      <vt:lpstr>Объявление переменных в языке C</vt:lpstr>
      <vt:lpstr>Кратко о типе int</vt:lpstr>
      <vt:lpstr>Целые числа и системы счисления в C</vt:lpstr>
      <vt:lpstr>Быстрый тест</vt:lpstr>
      <vt:lpstr>Арифметические операции в C</vt:lpstr>
      <vt:lpstr>Форматированный ввод и вывод: printf и scanf</vt:lpstr>
      <vt:lpstr>Ввод и вывод одиночных символов</vt:lpstr>
      <vt:lpstr>Цикл while</vt:lpstr>
      <vt:lpstr>Фигурные скобки и тело цикла</vt:lpstr>
      <vt:lpstr>Условный оператор if</vt:lpstr>
      <vt:lpstr>Операции сравнения и логические операции</vt:lpstr>
      <vt:lpstr>Как проверять ввод через scanf</vt:lpstr>
      <vt:lpstr>Как пропускать неверный ввод</vt:lpstr>
      <vt:lpstr>Функции</vt:lpstr>
      <vt:lpstr>Зачем нужны функции?</vt:lpstr>
      <vt:lpstr>Объявление и определение функций</vt:lpstr>
      <vt:lpstr>Функции без возвращаемого значения</vt:lpstr>
      <vt:lpstr>return и завершение функции</vt:lpstr>
      <vt:lpstr>Передача аргументов в функции</vt:lpstr>
      <vt:lpstr>Регистрочувствительность и имена в C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78</cp:revision>
  <dcterms:created xsi:type="dcterms:W3CDTF">2026-01-22T20:03:41Z</dcterms:created>
  <dcterms:modified xsi:type="dcterms:W3CDTF">2026-02-13T21:14:46Z</dcterms:modified>
</cp:coreProperties>
</file>