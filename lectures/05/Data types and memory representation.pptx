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06" r:id="rId26"/>
    <p:sldId id="281" r:id="rId27"/>
    <p:sldId id="280" r:id="rId28"/>
    <p:sldId id="282" r:id="rId29"/>
    <p:sldId id="284" r:id="rId30"/>
    <p:sldId id="283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7" r:id="rId52"/>
    <p:sldId id="30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94" autoAdjust="0"/>
    <p:restoredTop sz="76092" autoAdjust="0"/>
  </p:normalViewPr>
  <p:slideViewPr>
    <p:cSldViewPr snapToGrid="0" showGuides="1">
      <p:cViewPr varScale="1">
        <p:scale>
          <a:sx n="80" d="100"/>
          <a:sy n="80" d="100"/>
        </p:scale>
        <p:origin x="126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C3C10-060B-44EC-B68B-2301255B552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DB5EF7-78AD-4515-B73F-46FC73F0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62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программа выполняется, её данные должны где-то храниться. Основных мест хранения два.</a:t>
            </a:r>
          </a:p>
          <a:p>
            <a:r>
              <a:rPr lang="ru-RU" dirty="0"/>
              <a:t>Первое — это </a:t>
            </a:r>
            <a:r>
              <a:rPr lang="ru-RU" b="1" dirty="0"/>
              <a:t>регистры процессора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Регистры — это очень быстрые ячейки памяти, которые находятся прямо внутри процессора. С ними процессор работает быстрее всего, но таких ячеек очень мало.</a:t>
            </a:r>
          </a:p>
          <a:p>
            <a:endParaRPr lang="ru-RU" dirty="0"/>
          </a:p>
          <a:p>
            <a:r>
              <a:rPr lang="ru-RU" dirty="0"/>
              <a:t>Второе место хранения — </a:t>
            </a:r>
            <a:r>
              <a:rPr lang="ru-RU" b="1" dirty="0"/>
              <a:t>оперативная память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Именно там находится большая часть данных программы.</a:t>
            </a:r>
          </a:p>
          <a:p>
            <a:r>
              <a:rPr lang="ru-RU" dirty="0"/>
              <a:t>Если упростить картину, оперативную память можно представить как </a:t>
            </a:r>
            <a:r>
              <a:rPr lang="ru-RU" b="1" dirty="0"/>
              <a:t>очень длинный массив байтов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Каждая ячейка памяти имеет </a:t>
            </a:r>
            <a:r>
              <a:rPr lang="ru-RU" b="1" dirty="0"/>
              <a:t>адрес</a:t>
            </a:r>
            <a:r>
              <a:rPr lang="ru-RU" dirty="0"/>
              <a:t> — то есть номер, по которому к ней можно обратиться. И каждая такая ячейка хранит </a:t>
            </a:r>
            <a:r>
              <a:rPr lang="ru-RU" b="1" dirty="0"/>
              <a:t>ровно один байт</a:t>
            </a:r>
            <a:r>
              <a:rPr lang="ru-RU" dirty="0"/>
              <a:t>, то есть 8 бит информации.</a:t>
            </a:r>
          </a:p>
          <a:p>
            <a:endParaRPr lang="ru-RU" dirty="0"/>
          </a:p>
          <a:p>
            <a:r>
              <a:rPr lang="ru-RU" dirty="0"/>
              <a:t>Поэтому на самом низком уровне компьютер работает не с переменными, структурами или массивами. Он работает просто с </a:t>
            </a:r>
            <a:r>
              <a:rPr lang="ru-RU" b="1" dirty="0"/>
              <a:t>байтами, которые находятся по некоторым адресам памяти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Все типы данных в языке C —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dirty="0"/>
              <a:t> — на самом деле являются лишь </a:t>
            </a:r>
            <a:r>
              <a:rPr lang="ru-RU" b="1" dirty="0"/>
              <a:t>способом интерпретировать эти байты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65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самом низком уровне работа с памятью выглядит примерно так.</a:t>
            </a:r>
          </a:p>
          <a:p>
            <a:r>
              <a:rPr lang="ru-RU" dirty="0"/>
              <a:t>Мы просто говорим процессору: «запиши некоторое значение </a:t>
            </a:r>
            <a:r>
              <a:rPr lang="ru-RU" b="1" dirty="0"/>
              <a:t>по определённому адресу</a:t>
            </a:r>
            <a:r>
              <a:rPr lang="ru-RU" dirty="0"/>
              <a:t>.»</a:t>
            </a:r>
          </a:p>
          <a:p>
            <a:r>
              <a:rPr lang="ru-RU" dirty="0"/>
              <a:t>Первые программы, которые писались </a:t>
            </a:r>
            <a:r>
              <a:rPr lang="ru-RU" b="1" dirty="0"/>
              <a:t>в машинных кодах в 40-е и начале 50-х годов</a:t>
            </a:r>
            <a:r>
              <a:rPr lang="ru-RU" dirty="0"/>
              <a:t>, действительно выглядели очень похоже.</a:t>
            </a:r>
          </a:p>
          <a:p>
            <a:endParaRPr lang="ru-RU" dirty="0"/>
          </a:p>
          <a:p>
            <a:r>
              <a:rPr lang="ru-RU" dirty="0"/>
              <a:t>Программисту приходилось буквально вручную решать: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 какому адресу хранить данные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где хранить следующую переменную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чтобы данные случайно </a:t>
            </a:r>
            <a:r>
              <a:rPr lang="ru-RU" b="1" dirty="0"/>
              <a:t>не перезаписали друг друга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И вся эта информация часто просто </a:t>
            </a:r>
            <a:r>
              <a:rPr lang="ru-RU" b="1" dirty="0"/>
              <a:t>держалась в голове программиста</a:t>
            </a:r>
            <a:r>
              <a:rPr lang="ru-RU" dirty="0"/>
              <a:t> или в комментариях к программе.</a:t>
            </a:r>
          </a:p>
          <a:p>
            <a:r>
              <a:rPr lang="ru-RU" dirty="0"/>
              <a:t>Очевидно, что такой способ программирования плохо масштабируется.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79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пишем программу на C, мы обычно вообще </a:t>
            </a:r>
            <a:r>
              <a:rPr lang="ru-RU" b="1" dirty="0"/>
              <a:t>не думаем об адресах памяти</a:t>
            </a:r>
            <a:r>
              <a:rPr lang="ru-RU" dirty="0"/>
              <a:t>.</a:t>
            </a:r>
          </a:p>
          <a:p>
            <a:r>
              <a:rPr lang="ru-RU" dirty="0"/>
              <a:t>Например, здесь объявлена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Она существует только </a:t>
            </a:r>
            <a:r>
              <a:rPr lang="ru-RU" b="1" dirty="0"/>
              <a:t>пока выполняется функция</a:t>
            </a:r>
            <a:r>
              <a:rPr lang="ru-RU" dirty="0"/>
              <a:t>. Когда функция заканчивается, переменная исчезает.</a:t>
            </a:r>
          </a:p>
          <a:p>
            <a:endParaRPr lang="ru-RU" dirty="0"/>
          </a:p>
          <a:p>
            <a:r>
              <a:rPr lang="ru-RU" dirty="0"/>
              <a:t>Мы не указываем: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где именно она будет храниться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какой у неё будет адрес</a:t>
            </a:r>
          </a:p>
          <a:p>
            <a:r>
              <a:rPr lang="ru-RU" dirty="0"/>
              <a:t>Эти решения принимает </a:t>
            </a:r>
            <a:r>
              <a:rPr lang="ru-RU" b="1" dirty="0"/>
              <a:t>компилятор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Иногда компилятор может даже хранить переменную </a:t>
            </a:r>
            <a:r>
              <a:rPr lang="ru-RU" b="1" dirty="0"/>
              <a:t>вообще не в памяти</a:t>
            </a:r>
            <a:r>
              <a:rPr lang="ru-RU" dirty="0"/>
              <a:t>, а прямо </a:t>
            </a:r>
            <a:r>
              <a:rPr lang="ru-RU" b="1" dirty="0"/>
              <a:t>в регистре процессора</a:t>
            </a:r>
            <a:r>
              <a:rPr lang="ru-RU" dirty="0"/>
              <a:t>, если это возможно.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38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Следующая проблема — </a:t>
            </a:r>
            <a:r>
              <a:rPr lang="ru-RU" b="1" dirty="0"/>
              <a:t>как интерпретировать содержимое памяти</a:t>
            </a:r>
            <a:r>
              <a:rPr lang="ru-RU" dirty="0"/>
              <a:t>.</a:t>
            </a:r>
          </a:p>
          <a:p>
            <a:r>
              <a:rPr lang="ru-RU" dirty="0"/>
              <a:t>Память хранит просто </a:t>
            </a:r>
            <a:r>
              <a:rPr lang="ru-RU" b="1" dirty="0"/>
              <a:t>байты</a:t>
            </a:r>
            <a:r>
              <a:rPr lang="ru-RU" dirty="0"/>
              <a:t>.</a:t>
            </a:r>
          </a:p>
          <a:p>
            <a:r>
              <a:rPr lang="ru-RU" dirty="0"/>
              <a:t>Но программа работает с: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числами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символами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структурами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массивами</a:t>
            </a:r>
          </a:p>
          <a:p>
            <a:r>
              <a:rPr lang="ru-RU" dirty="0"/>
              <a:t>Например, этот набор битов можно интерпретировать как </a:t>
            </a:r>
            <a:r>
              <a:rPr lang="ru-RU" b="1" dirty="0"/>
              <a:t>число 65</a:t>
            </a:r>
            <a:r>
              <a:rPr lang="ru-RU" dirty="0"/>
              <a:t>.</a:t>
            </a:r>
          </a:p>
          <a:p>
            <a:r>
              <a:rPr lang="ru-RU" dirty="0"/>
              <a:t>Но если мы рассматриваем его как символ ASCII, это будет </a:t>
            </a:r>
            <a:r>
              <a:rPr lang="ru-RU" b="1" dirty="0"/>
              <a:t>буква A</a:t>
            </a:r>
            <a:r>
              <a:rPr lang="ru-RU" dirty="0"/>
              <a:t>.</a:t>
            </a:r>
          </a:p>
          <a:p>
            <a:r>
              <a:rPr lang="ru-RU" dirty="0"/>
              <a:t>А если это часть четырёхбайтового числа, то это может быть вообще </a:t>
            </a:r>
            <a:r>
              <a:rPr lang="ru-RU" b="1" dirty="0"/>
              <a:t>один из байтов внутри числа</a:t>
            </a:r>
            <a:r>
              <a:rPr lang="ru-RU" dirty="0"/>
              <a:t>.</a:t>
            </a:r>
          </a:p>
          <a:p>
            <a:r>
              <a:rPr lang="ru-RU" dirty="0"/>
              <a:t>То есть один и тот же набор битов может означать </a:t>
            </a:r>
            <a:r>
              <a:rPr lang="ru-RU" b="1" dirty="0"/>
              <a:t>совершенно разные вещи</a:t>
            </a:r>
            <a:r>
              <a:rPr lang="ru-RU" dirty="0"/>
              <a:t>.</a:t>
            </a:r>
          </a:p>
          <a:p>
            <a:r>
              <a:rPr lang="ru-RU" dirty="0"/>
              <a:t>Нужно каким-то образом сказать программе, </a:t>
            </a:r>
            <a:r>
              <a:rPr lang="ru-RU" b="1" dirty="0"/>
              <a:t>как именно интерпретировать данные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70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Есть ещё одна проблема.</a:t>
            </a:r>
          </a:p>
          <a:p>
            <a:r>
              <a:rPr lang="ru-RU" dirty="0"/>
              <a:t>Если переменная занимает </a:t>
            </a:r>
            <a:r>
              <a:rPr lang="ru-RU" b="1" dirty="0"/>
              <a:t>больше одного байта</a:t>
            </a:r>
            <a:r>
              <a:rPr lang="ru-RU" dirty="0"/>
              <a:t>, возникает вопрос: </a:t>
            </a:r>
            <a:r>
              <a:rPr lang="ru-RU" b="1" dirty="0"/>
              <a:t>сколько именно байтов нужно выделить?</a:t>
            </a:r>
          </a:p>
          <a:p>
            <a:endParaRPr lang="ru-RU" dirty="0"/>
          </a:p>
          <a:p>
            <a:r>
              <a:rPr lang="ru-RU" dirty="0"/>
              <a:t>Некоторые числа можно хранить в одном байте.</a:t>
            </a:r>
          </a:p>
          <a:p>
            <a:r>
              <a:rPr lang="ru-RU" dirty="0"/>
              <a:t>Другие требуют два байта.</a:t>
            </a:r>
          </a:p>
          <a:p>
            <a:r>
              <a:rPr lang="ru-RU" dirty="0"/>
              <a:t>Иногда нужно четыре или восемь.</a:t>
            </a:r>
          </a:p>
          <a:p>
            <a:endParaRPr lang="ru-RU" dirty="0"/>
          </a:p>
          <a:p>
            <a:r>
              <a:rPr lang="ru-RU" dirty="0"/>
              <a:t>При этом процессоры обычно работают с </a:t>
            </a:r>
            <a:r>
              <a:rPr lang="ru-RU" b="1" dirty="0"/>
              <a:t>фиксированными размерами данных</a:t>
            </a:r>
            <a:r>
              <a:rPr lang="ru-RU" dirty="0"/>
              <a:t> — например 8, 16, 32 или 64 бита.</a:t>
            </a:r>
          </a:p>
          <a:p>
            <a:r>
              <a:rPr lang="ru-RU" dirty="0"/>
              <a:t>Поэтому язык программирования должен дать программисту возможность сказать: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сколько памяти нужно для хранения значения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какого размера должны быть данные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51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решения всех этих задач язык C использует </a:t>
            </a:r>
            <a:r>
              <a:rPr lang="ru-RU" b="1" dirty="0"/>
              <a:t>систему типов</a:t>
            </a:r>
            <a:r>
              <a:rPr lang="ru-RU" dirty="0"/>
              <a:t>.</a:t>
            </a:r>
          </a:p>
          <a:p>
            <a:r>
              <a:rPr lang="ru-RU" dirty="0"/>
              <a:t>Тип данных сообщает компилятору две ключевые вещи.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Первая — </a:t>
            </a:r>
            <a:r>
              <a:rPr lang="ru-RU" b="1" dirty="0"/>
              <a:t>сколько памяти нужно выделить</a:t>
            </a:r>
            <a:r>
              <a:rPr lang="ru-RU" dirty="0"/>
              <a:t> для хранения значения.</a:t>
            </a:r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занимает один байт,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обычно несколько байтов.</a:t>
            </a:r>
          </a:p>
          <a:p>
            <a:r>
              <a:rPr lang="ru-RU" dirty="0"/>
              <a:t>Вторая — </a:t>
            </a:r>
            <a:r>
              <a:rPr lang="ru-RU" b="1" dirty="0"/>
              <a:t>как интерпретировать эти байты</a:t>
            </a:r>
            <a:r>
              <a:rPr lang="ru-RU" dirty="0"/>
              <a:t>.</a:t>
            </a:r>
          </a:p>
          <a:p>
            <a:r>
              <a:rPr lang="ru-RU" dirty="0"/>
              <a:t>Одни и те же байты можно интерпретировать как число, символ или что-то ещё.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 = 10;</a:t>
            </a:r>
          </a:p>
          <a:p>
            <a:r>
              <a:rPr lang="ru-RU" dirty="0"/>
              <a:t>мы фактически говорим компилятору: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выдели достаточно памяти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сохрани там число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интерпретируй эти байты как целое число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Всё остальное — где именно хранить переменную, в памяти или в регистре — компилятор решает сам.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04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56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математике множество целых чисел бесконечно.</a:t>
            </a:r>
            <a:br>
              <a:rPr lang="ru-RU" dirty="0"/>
            </a:br>
            <a:r>
              <a:rPr lang="ru-RU" dirty="0"/>
              <a:t>Нет ни минимального, ни максимального числа — всегда можно взять число ещё больше или ещё меньше.</a:t>
            </a:r>
          </a:p>
          <a:p>
            <a:endParaRPr lang="ru-RU" dirty="0"/>
          </a:p>
          <a:p>
            <a:r>
              <a:rPr lang="ru-RU" dirty="0"/>
              <a:t>Но компьютер не может работать с бесконечными структурами данных. Любая переменная в программе должна храниться </a:t>
            </a:r>
            <a:r>
              <a:rPr lang="ru-RU" b="1" dirty="0"/>
              <a:t>в памяти</a:t>
            </a:r>
            <a:r>
              <a:rPr lang="ru-RU" dirty="0"/>
              <a:t>, а объём памяти всегда конечен.</a:t>
            </a:r>
          </a:p>
          <a:p>
            <a:endParaRPr lang="ru-RU" dirty="0"/>
          </a:p>
          <a:p>
            <a:r>
              <a:rPr lang="ru-RU" dirty="0"/>
              <a:t>Когда мы пишем в программе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 = 10;</a:t>
            </a:r>
          </a:p>
          <a:p>
            <a:r>
              <a:rPr lang="ru-RU" dirty="0"/>
              <a:t>мы на самом деле выбираем </a:t>
            </a:r>
            <a:r>
              <a:rPr lang="ru-RU" b="1" dirty="0"/>
              <a:t>конкретный способ хранения числа в памяти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способ использует </a:t>
            </a:r>
            <a:r>
              <a:rPr lang="ru-RU" b="1" dirty="0"/>
              <a:t>фиксированное количество бит</a:t>
            </a:r>
            <a:r>
              <a:rPr lang="ru-RU" dirty="0"/>
              <a:t>, а значит может представить только </a:t>
            </a:r>
            <a:r>
              <a:rPr lang="ru-RU" b="1" dirty="0"/>
              <a:t>ограниченное количество различных значений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у любого целочисленного типа в программе существует </a:t>
            </a:r>
            <a:r>
              <a:rPr lang="ru-RU" b="1" dirty="0"/>
              <a:t>минимальное и максимальное значение</a:t>
            </a:r>
            <a:r>
              <a:rPr lang="ru-RU" dirty="0"/>
              <a:t>, которое он может хранить.</a:t>
            </a:r>
          </a:p>
          <a:p>
            <a:endParaRPr lang="ru-RU" dirty="0"/>
          </a:p>
          <a:p>
            <a:r>
              <a:rPr lang="ru-RU" dirty="0"/>
              <a:t>Дальше нам нужно понять, </a:t>
            </a:r>
            <a:r>
              <a:rPr lang="ru-RU" b="1" dirty="0"/>
              <a:t>что именно ограничивает этот диапазон</a:t>
            </a:r>
            <a:r>
              <a:rPr lang="ru-RU" dirty="0"/>
              <a:t> и как язык C позволяет работать с числами разных размеров.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00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Любое значение в программе должно где-то храниться. Для этого используется </a:t>
            </a:r>
            <a:r>
              <a:rPr lang="ru-RU" b="1" dirty="0"/>
              <a:t>оперативная память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Память компьютера состоит из </a:t>
            </a:r>
            <a:r>
              <a:rPr lang="ru-RU" b="1" dirty="0"/>
              <a:t>байтов</a:t>
            </a:r>
            <a:r>
              <a:rPr lang="ru-RU" dirty="0"/>
              <a:t>, а каждый байт содержит, как правило, </a:t>
            </a:r>
            <a:r>
              <a:rPr lang="ru-RU" b="1" dirty="0"/>
              <a:t>8 бит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Биты могут принимать только два значения — 0 или 1.</a:t>
            </a:r>
          </a:p>
          <a:p>
            <a:endParaRPr lang="ru-RU" dirty="0"/>
          </a:p>
          <a:p>
            <a:r>
              <a:rPr lang="ru-RU" dirty="0"/>
              <a:t>Если переменная занимает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бит, то существует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2ⁿ</a:t>
            </a:r>
            <a:r>
              <a:rPr lang="ru-RU" dirty="0"/>
              <a:t> различных комбинаций этих бит.</a:t>
            </a:r>
          </a:p>
          <a:p>
            <a:r>
              <a:rPr lang="ru-RU" dirty="0"/>
              <a:t>Например, если число хранится в 8 битах, то возможно 256 различных комбинаций бит —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00000000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11111111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означает, что переменная может хранить </a:t>
            </a:r>
            <a:r>
              <a:rPr lang="ru-RU" b="1" dirty="0"/>
              <a:t>только 256 различных значений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Больше значений в таком количестве памяти просто невозможно закодировать.</a:t>
            </a:r>
          </a:p>
          <a:p>
            <a:endParaRPr lang="ru-RU" dirty="0"/>
          </a:p>
          <a:p>
            <a:r>
              <a:rPr lang="ru-RU" dirty="0"/>
              <a:t>Таким образом, диапазон чисел, который может хранить переменная, </a:t>
            </a:r>
            <a:r>
              <a:rPr lang="ru-RU" b="1" dirty="0"/>
              <a:t>всегда ограничен количеством выделенных бит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Именно поэтому в языке C существует несколько типов целых чисел — они отличаются тем, </a:t>
            </a:r>
            <a:r>
              <a:rPr lang="ru-RU" b="1" dirty="0"/>
              <a:t>сколько памяти выделяется для хранения значения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70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процессор выполняет программу, он работает с данными через </a:t>
            </a:r>
            <a:r>
              <a:rPr lang="ru-RU" b="1" dirty="0"/>
              <a:t>регистры</a:t>
            </a:r>
            <a:r>
              <a:rPr lang="ru-RU" dirty="0"/>
              <a:t>.</a:t>
            </a:r>
          </a:p>
          <a:p>
            <a:r>
              <a:rPr lang="ru-RU" dirty="0"/>
              <a:t>Регистры — это небольшое количество очень быстрых ячеек памяти, расположенных непосредственно внутри процессора. Практически все арифметические операции выполняются именно над значениями, которые находятся в регистрах.</a:t>
            </a:r>
          </a:p>
          <a:p>
            <a:endParaRPr lang="ru-RU" dirty="0"/>
          </a:p>
          <a:p>
            <a:r>
              <a:rPr lang="ru-RU" dirty="0"/>
              <a:t>У каждого регистра есть </a:t>
            </a:r>
            <a:r>
              <a:rPr lang="ru-RU" b="1" dirty="0"/>
              <a:t>фиксированная разрядность</a:t>
            </a:r>
            <a:r>
              <a:rPr lang="ru-RU" dirty="0"/>
              <a:t>. Например, в 32-битном процессоре многие операции выполняются над 32-битными значениями, а в 64-битном — над 64-битными.</a:t>
            </a:r>
          </a:p>
          <a:p>
            <a:endParaRPr lang="ru-RU" dirty="0"/>
          </a:p>
          <a:p>
            <a:r>
              <a:rPr lang="ru-RU" dirty="0"/>
              <a:t>Это означает, что процессору </a:t>
            </a:r>
            <a:r>
              <a:rPr lang="ru-RU" b="1" dirty="0"/>
              <a:t>наиболее удобно работать с числами такого же размера</a:t>
            </a:r>
            <a:r>
              <a:rPr lang="ru-RU" dirty="0"/>
              <a:t>, как и его регистры.</a:t>
            </a:r>
          </a:p>
          <a:p>
            <a:endParaRPr lang="ru-RU" dirty="0"/>
          </a:p>
          <a:p>
            <a:r>
              <a:rPr lang="ru-RU" dirty="0"/>
              <a:t>Если число больше размера регистра, процессору приходится разбивать вычисление на несколько шагов и обрабатывать число </a:t>
            </a:r>
            <a:r>
              <a:rPr lang="ru-RU" b="1" dirty="0"/>
              <a:t>по частям</a:t>
            </a:r>
            <a:r>
              <a:rPr lang="ru-RU" dirty="0"/>
              <a:t>. Это усложняет выполнение операции и делает её медленнее.</a:t>
            </a:r>
          </a:p>
          <a:p>
            <a:endParaRPr lang="ru-RU" dirty="0"/>
          </a:p>
          <a:p>
            <a:r>
              <a:rPr lang="ru-RU" dirty="0"/>
              <a:t>Поэтому архитектура процессора естественным образом ориентирована на </a:t>
            </a:r>
            <a:r>
              <a:rPr lang="ru-RU" b="1" dirty="0"/>
              <a:t>несколько стандартных размеров данных</a:t>
            </a:r>
            <a:r>
              <a:rPr lang="ru-RU" dirty="0"/>
              <a:t> — например 8, 16, 32 или 64 бита.</a:t>
            </a:r>
          </a:p>
          <a:p>
            <a:endParaRPr lang="ru-RU" dirty="0"/>
          </a:p>
          <a:p>
            <a:r>
              <a:rPr lang="ru-RU" dirty="0"/>
              <a:t>И именно под такие размеры обычно подстраиваются </a:t>
            </a:r>
            <a:r>
              <a:rPr lang="ru-RU" b="1" dirty="0"/>
              <a:t>целочисленные типы в языке C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63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процессор выполняет программу, ему постоянно приходится читать данные из памяти и записывать их обратно.</a:t>
            </a:r>
          </a:p>
          <a:p>
            <a:endParaRPr lang="ru-RU" dirty="0"/>
          </a:p>
          <a:p>
            <a:r>
              <a:rPr lang="ru-RU" dirty="0"/>
              <a:t>Передача данных между процессором и памятью происходит через </a:t>
            </a:r>
            <a:r>
              <a:rPr lang="ru-RU" b="1" dirty="0"/>
              <a:t>шину данных</a:t>
            </a:r>
            <a:r>
              <a:rPr lang="ru-RU" dirty="0"/>
              <a:t>. Физически это набор проводников, по которым передаются электрические сигналы.</a:t>
            </a:r>
          </a:p>
          <a:p>
            <a:endParaRPr lang="ru-RU" dirty="0"/>
          </a:p>
          <a:p>
            <a:r>
              <a:rPr lang="ru-RU" dirty="0"/>
              <a:t>Шина данных имеет </a:t>
            </a:r>
            <a:r>
              <a:rPr lang="ru-RU" b="1" dirty="0"/>
              <a:t>фиксированную ширину</a:t>
            </a:r>
            <a:r>
              <a:rPr lang="ru-RU" dirty="0"/>
              <a:t> — например 8, 16, 32 или 64 бита. Это означает, что за одну операцию процессор может передать </a:t>
            </a:r>
            <a:r>
              <a:rPr lang="ru-RU" b="1" dirty="0"/>
              <a:t>ограниченное количество бит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Например, если ширина шины составляет 64 бита, процессору естественно и удобно читать или записывать данные </a:t>
            </a:r>
            <a:r>
              <a:rPr lang="ru-RU" b="1" dirty="0"/>
              <a:t>блоками по 64 бита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же программа работает с меньшими значениями, например с 8-битными или 16-битными числами, процессор всё равно может выполнять такие операции, но архитектура обычно оптимизирована для нескольких стандартных размеров данных.</a:t>
            </a:r>
          </a:p>
          <a:p>
            <a:endParaRPr lang="ru-RU" dirty="0"/>
          </a:p>
          <a:p>
            <a:r>
              <a:rPr lang="ru-RU" dirty="0"/>
              <a:t>Поэтому и на уровне процессора, и на уровне языка программирования появляются </a:t>
            </a:r>
            <a:r>
              <a:rPr lang="ru-RU" b="1" dirty="0"/>
              <a:t>типичные размеры данных</a:t>
            </a:r>
            <a:r>
              <a:rPr lang="ru-RU" dirty="0"/>
              <a:t> — например 8, 16, 32 и 64 бита.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50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предыдущих слайдах мы обсудили несколько ограничений, которые накладывает архитектура компьютера.</a:t>
            </a:r>
          </a:p>
          <a:p>
            <a:endParaRPr lang="ru-RU" dirty="0"/>
          </a:p>
          <a:p>
            <a:r>
              <a:rPr lang="ru-RU" dirty="0"/>
              <a:t>Во-первых, память конечна, и любое значение должно занимать </a:t>
            </a:r>
            <a:r>
              <a:rPr lang="ru-RU" b="1" dirty="0"/>
              <a:t>фиксированное количество бит</a:t>
            </a:r>
            <a:r>
              <a:rPr lang="ru-RU" dirty="0"/>
              <a:t>.</a:t>
            </a:r>
          </a:p>
          <a:p>
            <a:r>
              <a:rPr lang="ru-RU" dirty="0"/>
              <a:t>Во-вторых, процессор выполняет операции над данными через </a:t>
            </a:r>
            <a:r>
              <a:rPr lang="ru-RU" b="1" dirty="0"/>
              <a:t>регистры фиксированной разрядности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И, наконец, передача данных между процессором и памятью происходит через </a:t>
            </a:r>
            <a:r>
              <a:rPr lang="ru-RU" b="1" dirty="0"/>
              <a:t>шину данных</a:t>
            </a:r>
            <a:r>
              <a:rPr lang="ru-RU" dirty="0"/>
              <a:t>, которая тоже имеет определённую ширину.</a:t>
            </a:r>
          </a:p>
          <a:p>
            <a:endParaRPr lang="ru-RU" dirty="0"/>
          </a:p>
          <a:p>
            <a:r>
              <a:rPr lang="ru-RU" dirty="0"/>
              <a:t>Все эти ограничения приводят к тому, что компьютеру удобно работать с </a:t>
            </a:r>
            <a:r>
              <a:rPr lang="ru-RU" b="1" dirty="0"/>
              <a:t>несколькими стандартными размерами чисел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Именно поэтому в языке C существует </a:t>
            </a:r>
            <a:r>
              <a:rPr lang="ru-RU" b="1" dirty="0"/>
              <a:t>несколько целых типов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.</a:t>
            </a:r>
          </a:p>
          <a:p>
            <a:r>
              <a:rPr lang="ru-RU" dirty="0"/>
              <a:t>Каждый из этих типов определяет две важные вещи.</a:t>
            </a:r>
          </a:p>
          <a:p>
            <a:br>
              <a:rPr lang="ru-RU" dirty="0"/>
            </a:br>
            <a:r>
              <a:rPr lang="ru-RU" dirty="0"/>
              <a:t>Во-первых, </a:t>
            </a:r>
            <a:r>
              <a:rPr lang="ru-RU" b="1" dirty="0"/>
              <a:t>сколько памяти занимает значение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Во-вторых, </a:t>
            </a:r>
            <a:r>
              <a:rPr lang="ru-RU" b="1" dirty="0"/>
              <a:t>какой диапазон чисел можно в нём хранить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 язык C позволяет программисту выбирать тип данных в зависимости от того, </a:t>
            </a:r>
            <a:r>
              <a:rPr lang="ru-RU" b="1" dirty="0"/>
              <a:t>какой диапазон значений нужен и сколько памяти разумно использовать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28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узнать размер типа на конкретной платформе, используется 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оператор вычисляется </a:t>
            </a:r>
            <a:r>
              <a:rPr lang="ru-RU" b="1" dirty="0"/>
              <a:t>во время компиляции</a:t>
            </a:r>
            <a:r>
              <a:rPr lang="ru-RU" dirty="0"/>
              <a:t>.</a:t>
            </a:r>
          </a:p>
          <a:p>
            <a:r>
              <a:rPr lang="ru-RU" dirty="0"/>
              <a:t>Он позволяет программе узнать, сколько байтов занимает конкретный тип на текущей архитектуре.</a:t>
            </a:r>
          </a:p>
          <a:p>
            <a:r>
              <a:rPr lang="ru-RU" dirty="0"/>
              <a:t>Это важно для системного программирования и работы с памятью.</a:t>
            </a:r>
          </a:p>
          <a:p>
            <a:endParaRPr lang="ru-RU" dirty="0"/>
          </a:p>
          <a:p>
            <a:r>
              <a:rPr lang="ru-RU" dirty="0"/>
              <a:t>Важно понимать, что стандарт языка C </a:t>
            </a:r>
            <a:r>
              <a:rPr lang="ru-RU" b="1" dirty="0"/>
              <a:t>не привязывает типы к конкретному количеству байтов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не обязательно равен четырём байтам.</a:t>
            </a:r>
          </a:p>
          <a:p>
            <a:r>
              <a:rPr lang="ru-RU" dirty="0"/>
              <a:t>Стандарт гарантирует только </a:t>
            </a:r>
            <a:r>
              <a:rPr lang="ru-RU" b="1" dirty="0"/>
              <a:t>порядок размеров типов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</a:t>
            </a:r>
            <a:r>
              <a:rPr lang="ru-RU" dirty="0"/>
              <a:t> не меньше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не меньше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 не меньше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меньше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endParaRPr lang="ru-RU" dirty="0"/>
          </a:p>
          <a:p>
            <a:endParaRPr lang="en-US" dirty="0"/>
          </a:p>
          <a:p>
            <a:r>
              <a:rPr lang="ru-RU" dirty="0"/>
              <a:t>Это сделано потому, что язык C изначально проектировался как </a:t>
            </a:r>
            <a:r>
              <a:rPr lang="ru-RU" b="1" dirty="0"/>
              <a:t>переносимый язык системного программирования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Он должен работать на архитектурах с разной разрядностью процессора.</a:t>
            </a:r>
          </a:p>
          <a:p>
            <a:r>
              <a:rPr lang="ru-RU" dirty="0"/>
              <a:t>Компилятор выбирает размеры типов так, чтобы они </a:t>
            </a:r>
            <a:r>
              <a:rPr lang="ru-RU" b="1" dirty="0"/>
              <a:t>эффективно соответствовали архитектуре процессора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59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Наличие нескольких целых типов позволяет программе использовать </a:t>
            </a:r>
            <a:r>
              <a:rPr lang="ru-RU" b="1" dirty="0"/>
              <a:t>наиболее подходящий размер данных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счётчику цикла обычно не нужен диапазон в миллиарды значений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индекс массива может требовать только несколько тысяч значений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размер файла может требовать десятки гигабайт</a:t>
            </a:r>
          </a:p>
          <a:p>
            <a:endParaRPr lang="ru-RU" dirty="0"/>
          </a:p>
          <a:p>
            <a:r>
              <a:rPr lang="ru-RU" dirty="0"/>
              <a:t>Использование меньших типов может уменьшить </a:t>
            </a:r>
            <a:r>
              <a:rPr lang="ru-RU" b="1" dirty="0"/>
              <a:t>потребление памяти</a:t>
            </a:r>
            <a:r>
              <a:rPr lang="ru-RU" dirty="0"/>
              <a:t> и иногда улучшить </a:t>
            </a:r>
            <a:r>
              <a:rPr lang="ru-RU" b="1" dirty="0"/>
              <a:t>эффективность работы программы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71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предыдущем разделе мы пришли к важному выводу: если переменная занимает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бит, то она может хранить </a:t>
            </a:r>
            <a:r>
              <a:rPr lang="ru-RU" b="1" dirty="0"/>
              <a:t>2ⁿ различных комбинаций битов</a:t>
            </a:r>
            <a:r>
              <a:rPr lang="ru-RU" dirty="0"/>
              <a:t>.</a:t>
            </a:r>
          </a:p>
          <a:p>
            <a:r>
              <a:rPr lang="ru-RU" dirty="0"/>
              <a:t>Например, если число хранится в 8 битах, то существует 256 различных битовых комбинаций —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00000000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11111111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возникает следующий вопрос: </a:t>
            </a:r>
            <a:r>
              <a:rPr lang="ru-RU" b="1" dirty="0"/>
              <a:t>как интерпретировать эти комбинации?</a:t>
            </a:r>
            <a:endParaRPr lang="ru-RU" dirty="0"/>
          </a:p>
          <a:p>
            <a:r>
              <a:rPr lang="ru-RU" dirty="0"/>
              <a:t>Самый простой вариант — использовать их для хранения </a:t>
            </a:r>
            <a:r>
              <a:rPr lang="ru-RU" b="1" dirty="0"/>
              <a:t>только неотрицательных чисел</a:t>
            </a:r>
            <a:r>
              <a:rPr lang="ru-RU" dirty="0"/>
              <a:t>. Тогда диапазон значений будет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2ⁿ − 1</a:t>
            </a:r>
            <a:r>
              <a:rPr lang="ru-RU" dirty="0"/>
              <a:t>. Для 8 бит это числа от 0 до 255.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во многих задачах нам нужны </a:t>
            </a:r>
            <a:r>
              <a:rPr lang="ru-RU" b="1" dirty="0"/>
              <a:t>отрицательные числа</a:t>
            </a:r>
            <a:r>
              <a:rPr lang="ru-RU" dirty="0"/>
              <a:t>. Например, когда мы работаем с координатами, разностями значений, результатами вычислений.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мы хотим хранить и положительные, и отрицательные числа, то нам нужно каким-то образом </a:t>
            </a:r>
            <a:r>
              <a:rPr lang="ru-RU" b="1" dirty="0"/>
              <a:t>разделить доступные комбинации битов</a:t>
            </a:r>
            <a:r>
              <a:rPr lang="ru-RU" dirty="0"/>
              <a:t> между ними.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здесь возникает важное различие между двумя способами интерпретации целых чисел в языке C: </a:t>
            </a:r>
            <a:r>
              <a:rPr lang="ru-RU" b="1" dirty="0"/>
              <a:t>беззнаковые числа</a:t>
            </a:r>
            <a:r>
              <a:rPr lang="ru-RU" dirty="0"/>
              <a:t> и </a:t>
            </a:r>
            <a:r>
              <a:rPr lang="ru-RU" b="1" dirty="0"/>
              <a:t>знаковые числа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первом случае все комбинации используются для неотрицательных значений.</a:t>
            </a:r>
            <a:br>
              <a:rPr lang="ru-RU" dirty="0"/>
            </a:br>
            <a:r>
              <a:rPr lang="ru-RU" dirty="0"/>
              <a:t>Во втором случае часть комбинаций используется для отрицательных чисел.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Давайте сначала рассмотрим более простой вариант — </a:t>
            </a:r>
            <a:r>
              <a:rPr lang="ru-RU" b="1" dirty="0"/>
              <a:t>беззнаковые числа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741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Самый простой способ использовать доступные комбинации битов — считать, что </a:t>
            </a:r>
            <a:r>
              <a:rPr lang="ru-RU" b="1" dirty="0"/>
              <a:t>все они соответствуют неотрицательным числам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переменная занимает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бит, то она может хранить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2ⁿ</a:t>
            </a:r>
            <a:r>
              <a:rPr lang="ru-RU" dirty="0"/>
              <a:t> различных значений.</a:t>
            </a:r>
          </a:p>
          <a:p>
            <a:br>
              <a:rPr lang="ru-RU" dirty="0"/>
            </a:br>
            <a:r>
              <a:rPr lang="ru-RU" dirty="0"/>
              <a:t>Мы просто нумеруем все возможные комбинации битов подряд.</a:t>
            </a:r>
          </a:p>
          <a:p>
            <a:r>
              <a:rPr lang="ru-RU" dirty="0"/>
              <a:t>Например, если число хранится в </a:t>
            </a:r>
            <a:r>
              <a:rPr lang="ru-RU" b="1" dirty="0"/>
              <a:t>8 битах</a:t>
            </a:r>
            <a:r>
              <a:rPr lang="ru-RU" dirty="0"/>
              <a:t>, возможны 256 комбинаций —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00000000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11111111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Эти комбинации можно интерпретировать как числа от </a:t>
            </a:r>
            <a:r>
              <a:rPr lang="ru-RU" b="1" dirty="0"/>
              <a:t>0 до 255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этом случае все значения </a:t>
            </a:r>
            <a:r>
              <a:rPr lang="ru-RU" b="1" dirty="0"/>
              <a:t>неотрицательные</a:t>
            </a:r>
            <a:r>
              <a:rPr lang="ru-RU" dirty="0"/>
              <a:t>. Такие числа называют </a:t>
            </a:r>
            <a:r>
              <a:rPr lang="ru-RU" b="1" dirty="0"/>
              <a:t>беззнаковыми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языке C для этого используются типы с ключевым словом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Беззнаковые типы позволяют использовать </a:t>
            </a:r>
            <a:r>
              <a:rPr lang="ru-RU" b="1" dirty="0"/>
              <a:t>весь диапазон возможных битовых комбинаций</a:t>
            </a:r>
            <a:r>
              <a:rPr lang="ru-RU" dirty="0"/>
              <a:t> для хранения положительных чисел.</a:t>
            </a:r>
          </a:p>
          <a:p>
            <a:r>
              <a:rPr lang="ru-RU" dirty="0"/>
              <a:t>Это удобно в тех случаях, когда отрицательные значения </a:t>
            </a:r>
            <a:r>
              <a:rPr lang="ru-RU" b="1" dirty="0"/>
              <a:t>не имеют смысла</a:t>
            </a:r>
            <a:r>
              <a:rPr lang="ru-RU" dirty="0"/>
              <a:t>. 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размеры объектов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количество элементов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индексы массивов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битовые маски</a:t>
            </a:r>
          </a:p>
          <a:p>
            <a:r>
              <a:rPr lang="ru-RU" dirty="0"/>
              <a:t>Но если программе нужно работать с </a:t>
            </a:r>
            <a:r>
              <a:rPr lang="ru-RU" b="1" dirty="0"/>
              <a:t>отрицательными числами</a:t>
            </a:r>
            <a:r>
              <a:rPr lang="ru-RU" dirty="0"/>
              <a:t>, такой способ уже не подходит. Тогда необходимо как-то закодировать </a:t>
            </a:r>
            <a:r>
              <a:rPr lang="ru-RU" b="1" dirty="0"/>
              <a:t>знак числа</a:t>
            </a:r>
            <a:r>
              <a:rPr lang="ru-RU" dirty="0"/>
              <a:t> внутри битового представления.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36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Беззнаковые числа используют все возможные комбинации битов для представления </a:t>
            </a:r>
            <a:r>
              <a:rPr lang="ru-RU" b="1" dirty="0"/>
              <a:t>неотрицательных значений</a:t>
            </a:r>
            <a:r>
              <a:rPr lang="ru-RU" dirty="0"/>
              <a:t>. Но во многих задачах этого недостаточно.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если мы вычисляем разность двух чисел, результат может оказаться </a:t>
            </a:r>
            <a:r>
              <a:rPr lang="ru-RU" b="1" dirty="0"/>
              <a:t>отрицательным</a:t>
            </a:r>
            <a:r>
              <a:rPr lang="ru-RU" dirty="0"/>
              <a:t>. То же самое происходит при работе с координатами, отклонениями, скоростями и многими другими величинами.</a:t>
            </a:r>
          </a:p>
          <a:p>
            <a:r>
              <a:rPr lang="ru-RU" dirty="0"/>
              <a:t>Поэтому нужно уметь хранить </a:t>
            </a:r>
            <a:r>
              <a:rPr lang="ru-RU" b="1" dirty="0"/>
              <a:t>и положительные, и отрицательные числа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Поскольку общее количество комбинаций битов остаётся тем же самым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2ⁿ</a:t>
            </a:r>
            <a:r>
              <a:rPr lang="ru-RU" dirty="0"/>
              <a:t>, — приходится </a:t>
            </a:r>
            <a:r>
              <a:rPr lang="ru-RU" b="1" dirty="0"/>
              <a:t>разделить этот диапазон</a:t>
            </a:r>
            <a:r>
              <a:rPr lang="ru-RU" dirty="0"/>
              <a:t> между положительными и отрицательными значениями.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современных компьютерах обычно используется диапазон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−2^(n−1)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2^(n−1) − 1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если число занимает 8 бит, возможные значения лежат в диапазоне от </a:t>
            </a:r>
            <a:r>
              <a:rPr lang="ru-RU" b="1" dirty="0"/>
              <a:t>−128 до 127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языке C знаковыми целыми типами являются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, а также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r>
              <a:rPr lang="ru-RU" dirty="0"/>
              <a:t>Здесь важно отдельно отметить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в языке C — это </a:t>
            </a:r>
            <a:r>
              <a:rPr lang="ru-RU" b="1" dirty="0"/>
              <a:t>особый отдельный тип</a:t>
            </a:r>
            <a:r>
              <a:rPr lang="ru-RU" dirty="0"/>
              <a:t>, и стандарт не требует, чтобы он по умолчанию был обязательно знаковым или обязательно беззнаковым. Это зависит от платформы и компилятора. Поэтому, если знак важен, лучше писать явно: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возникает следующий вопрос: как именно кодируются отрицательные числа на уровне битов? Ведь память хранит только </a:t>
            </a:r>
            <a:r>
              <a:rPr lang="ru-RU" b="1" dirty="0"/>
              <a:t>нули и единицы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11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решили, что хотим хранить </a:t>
            </a:r>
            <a:r>
              <a:rPr lang="ru-RU" b="1" dirty="0"/>
              <a:t>и положительные, и отрицательные числа</a:t>
            </a:r>
            <a:r>
              <a:rPr lang="ru-RU" dirty="0"/>
              <a:t>, возникает следующий вопрос: как именно закодировать знак числа на уровне битов.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Память хранит только </a:t>
            </a:r>
            <a:r>
              <a:rPr lang="ru-RU" b="1" dirty="0"/>
              <a:t>нули и единицы</a:t>
            </a:r>
            <a:r>
              <a:rPr lang="ru-RU" dirty="0"/>
              <a:t>, поэтому знак нужно каким-то образом представить внутри битовой последовательности.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Исторически было предложено несколько способов.</a:t>
            </a:r>
          </a:p>
          <a:p>
            <a:r>
              <a:rPr lang="ru-RU" dirty="0"/>
              <a:t>Первый и самый очевидный — </a:t>
            </a:r>
            <a:r>
              <a:rPr lang="ru-RU" b="1" dirty="0"/>
              <a:t>разделить число на знак и величину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Старший бит можно использовать для хранения знака: ноль означает положительное число, единица — отрицательное.</a:t>
            </a:r>
          </a:p>
          <a:p>
            <a:r>
              <a:rPr lang="ru-RU" dirty="0"/>
              <a:t>Например, если у нас есть 8-битное число, мы можем использовать один бит для знака и семь бит для величины. Тогда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00000101</a:t>
            </a:r>
            <a:r>
              <a:rPr lang="ru-RU" dirty="0"/>
              <a:t> будет означать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+5</a:t>
            </a:r>
            <a:r>
              <a:rPr lang="ru-RU" dirty="0"/>
              <a:t>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10000101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−5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первый взгляд это выглядит естественно, но у этого подхода есть серьёзные недостатки.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возникает </a:t>
            </a:r>
            <a:r>
              <a:rPr lang="ru-RU" b="1" dirty="0"/>
              <a:t>два представления нуля</a:t>
            </a:r>
            <a:r>
              <a:rPr lang="ru-RU" dirty="0"/>
              <a:t>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00000000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10000000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Во-вторых, арифметические операции становятся сложнее. Например, сложение чисел с разными знаками фактически превращается в вычитание, и процессору приходится выполнять дополнительные проверки.</a:t>
            </a:r>
          </a:p>
          <a:p>
            <a:endParaRPr lang="en-US" dirty="0"/>
          </a:p>
          <a:p>
            <a:r>
              <a:rPr lang="ru-RU" dirty="0"/>
              <a:t>Поэтому этот способ оказался неудобным для аппаратной реализации.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Исторически следующий вариант — </a:t>
            </a:r>
            <a:r>
              <a:rPr lang="ru-RU" b="1" dirty="0"/>
              <a:t>обратный код</a:t>
            </a:r>
            <a:r>
              <a:rPr lang="ru-RU" dirty="0"/>
              <a:t>, или </a:t>
            </a:r>
            <a:r>
              <a:rPr lang="ru-RU" i="1" dirty="0" err="1"/>
              <a:t>one’s</a:t>
            </a:r>
            <a:r>
              <a:rPr lang="ru-RU" i="1" dirty="0"/>
              <a:t> </a:t>
            </a:r>
            <a:r>
              <a:rPr lang="ru-RU" i="1" dirty="0" err="1"/>
              <a:t>complement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Здесь отрицательное число получается инверсией всех битов положительного числа.</a:t>
            </a:r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+5  → 00000101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-5  → 11111010</a:t>
            </a:r>
          </a:p>
          <a:p>
            <a:r>
              <a:rPr lang="ru-RU" dirty="0"/>
              <a:t>Этот способ немного упрощает арифметику, но у него остаётся та же проблема — </a:t>
            </a:r>
            <a:r>
              <a:rPr lang="ru-RU" b="1" dirty="0"/>
              <a:t>существует два представления нуля</a:t>
            </a:r>
            <a:r>
              <a:rPr lang="ru-RU" dirty="0"/>
              <a:t>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00000000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11111111</a:t>
            </a:r>
            <a:r>
              <a:rPr lang="ru-RU" dirty="0"/>
              <a:t>. Кроме того, при сложении иногда требуется дополнительная корректировка результата.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Такие системы действительно использовались в некоторых ранних компьютерах, но они оказались не очень удобными.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современные процессоры используют другой способ — </a:t>
            </a:r>
            <a:r>
              <a:rPr lang="ru-RU" b="1" dirty="0"/>
              <a:t>дополнительный код</a:t>
            </a:r>
            <a:r>
              <a:rPr lang="ru-RU" dirty="0"/>
              <a:t>, или </a:t>
            </a:r>
            <a:r>
              <a:rPr lang="ru-RU" i="1" dirty="0" err="1"/>
              <a:t>two’s</a:t>
            </a:r>
            <a:r>
              <a:rPr lang="ru-RU" i="1" dirty="0"/>
              <a:t> </a:t>
            </a:r>
            <a:r>
              <a:rPr lang="ru-RU" i="1" dirty="0" err="1"/>
              <a:t>complement</a:t>
            </a:r>
            <a:r>
              <a:rPr lang="ru-RU" dirty="0"/>
              <a:t>.</a:t>
            </a:r>
          </a:p>
          <a:p>
            <a:r>
              <a:rPr lang="ru-RU" dirty="0"/>
              <a:t>Этот метод устраняет проблему двойного нуля и позволяет выполнять арифметические операции над знаковыми и беззнаковыми числами практически одинаково на уровне аппаратуры.</a:t>
            </a:r>
          </a:p>
          <a:p>
            <a:r>
              <a:rPr lang="ru-RU" dirty="0"/>
              <a:t>Давайте посмотрим, как именно работает это представление.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68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компьютеры используют представление знаковых чисел, которое называется </a:t>
            </a:r>
            <a:r>
              <a:rPr lang="ru-RU" b="1" dirty="0"/>
              <a:t>дополнительный код</a:t>
            </a:r>
            <a:r>
              <a:rPr lang="ru-RU" dirty="0"/>
              <a:t>, или </a:t>
            </a:r>
            <a:r>
              <a:rPr lang="ru-RU" i="1" dirty="0" err="1"/>
              <a:t>two’s</a:t>
            </a:r>
            <a:r>
              <a:rPr lang="ru-RU" i="1" dirty="0"/>
              <a:t> </a:t>
            </a:r>
            <a:r>
              <a:rPr lang="ru-RU" i="1" dirty="0" err="1"/>
              <a:t>complement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Идея этого метода очень простая. Чтобы получить отрицательное число, нужно выполнить два шага.</a:t>
            </a:r>
          </a:p>
          <a:p>
            <a:r>
              <a:rPr lang="ru-RU" dirty="0"/>
              <a:t>Сначала </a:t>
            </a:r>
            <a:r>
              <a:rPr lang="ru-RU" b="1" dirty="0"/>
              <a:t>инвертировать все биты</a:t>
            </a:r>
            <a:r>
              <a:rPr lang="ru-RU" dirty="0"/>
              <a:t> числа — то есть заменить нули на единицы и наоборот.</a:t>
            </a:r>
            <a:br>
              <a:rPr lang="ru-RU" dirty="0"/>
            </a:br>
            <a:r>
              <a:rPr lang="ru-RU" dirty="0"/>
              <a:t>Затем </a:t>
            </a:r>
            <a:r>
              <a:rPr lang="ru-RU" b="1" dirty="0"/>
              <a:t>прибавить единицу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Давайте посмотрим на пример. Возьмём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+5</a:t>
            </a:r>
            <a:r>
              <a:rPr lang="ru-RU" dirty="0"/>
              <a:t>. В восьмибитном представлении оно выглядит так: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00000101</a:t>
            </a:r>
            <a:r>
              <a:rPr lang="ru-RU" dirty="0"/>
              <a:t>.</a:t>
            </a:r>
          </a:p>
          <a:p>
            <a:r>
              <a:rPr lang="ru-RU" dirty="0"/>
              <a:t>Сначала инвертируем все биты. Получаем: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11111010</a:t>
            </a:r>
            <a:r>
              <a:rPr lang="ru-RU" dirty="0"/>
              <a:t>.</a:t>
            </a:r>
          </a:p>
          <a:p>
            <a:r>
              <a:rPr lang="ru-RU" dirty="0"/>
              <a:t>Теперь прибавляем единицу. Получается: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11111011</a:t>
            </a:r>
            <a:r>
              <a:rPr lang="ru-RU" dirty="0"/>
              <a:t>.</a:t>
            </a:r>
          </a:p>
          <a:p>
            <a:r>
              <a:rPr lang="ru-RU" dirty="0"/>
              <a:t>Это и есть представление числа </a:t>
            </a:r>
            <a:r>
              <a:rPr lang="ru-RU" b="1" dirty="0"/>
              <a:t>−5</a:t>
            </a:r>
            <a:r>
              <a:rPr lang="ru-RU" dirty="0"/>
              <a:t> в дополнительном коде.</a:t>
            </a:r>
          </a:p>
          <a:p>
            <a:endParaRPr lang="ru-RU" dirty="0"/>
          </a:p>
          <a:p>
            <a:r>
              <a:rPr lang="ru-RU" dirty="0"/>
              <a:t>У такого способа есть несколько очень важных преимуществ.</a:t>
            </a:r>
          </a:p>
          <a:p>
            <a:r>
              <a:rPr lang="ru-RU" dirty="0"/>
              <a:t>Во-первых, </a:t>
            </a:r>
            <a:r>
              <a:rPr lang="ru-RU" b="1" dirty="0"/>
              <a:t>ноль имеет единственное представление</a:t>
            </a:r>
            <a:r>
              <a:rPr lang="ru-RU" dirty="0"/>
              <a:t>. В отличие от предыдущих схем, здесь нет отдельного “положительного” и “отрицательного” нуля.</a:t>
            </a:r>
          </a:p>
          <a:p>
            <a:r>
              <a:rPr lang="ru-RU" dirty="0"/>
              <a:t>Во-вторых, арифметические операции становятся гораздо проще для процессора.</a:t>
            </a:r>
          </a:p>
          <a:p>
            <a:br>
              <a:rPr lang="ru-RU" dirty="0"/>
            </a:br>
            <a:r>
              <a:rPr lang="ru-RU" dirty="0"/>
              <a:t>Операции сложения и вычитания выполняются практически одинаково для знаковых и беззнаковых чисел — используется одна и та же схема сложения битов.</a:t>
            </a:r>
          </a:p>
          <a:p>
            <a:endParaRPr lang="ru-RU" dirty="0"/>
          </a:p>
          <a:p>
            <a:r>
              <a:rPr lang="ru-RU" dirty="0"/>
              <a:t>Именно поэтому дополнительный код стал </a:t>
            </a:r>
            <a:r>
              <a:rPr lang="ru-RU" b="1" dirty="0"/>
              <a:t>стандартом практически для всех современных процессоров</a:t>
            </a:r>
            <a:r>
              <a:rPr lang="ru-RU" dirty="0"/>
              <a:t>.</a:t>
            </a:r>
          </a:p>
          <a:p>
            <a:r>
              <a:rPr lang="ru-RU" dirty="0"/>
              <a:t>Если число хранится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битах, диапазон значений в дополнительном коде составляет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−2^(n−1)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2^(n−1) − 1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Например, для 8-битного числа диапазон будет от </a:t>
            </a:r>
            <a:r>
              <a:rPr lang="ru-RU" b="1" dirty="0"/>
              <a:t>−128 до 127</a:t>
            </a:r>
            <a:r>
              <a:rPr lang="ru-RU" dirty="0"/>
              <a:t>.</a:t>
            </a:r>
          </a:p>
          <a:p>
            <a:r>
              <a:rPr lang="ru-RU" dirty="0"/>
              <a:t>Это представление используется практически во всех современных архитектурах — от микроконтроллеров до серверных процессоров.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18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Одно из главных преимуществ дополнительного кода — то, что арифметические операции можно выполнять </a:t>
            </a:r>
            <a:r>
              <a:rPr lang="ru-RU" b="1" dirty="0"/>
              <a:t>обычным двоичным сложением</a:t>
            </a:r>
            <a:r>
              <a:rPr lang="ru-RU" dirty="0"/>
              <a:t>, без специальной логики для знака числа.</a:t>
            </a:r>
          </a:p>
          <a:p>
            <a:endParaRPr lang="ru-RU" dirty="0"/>
          </a:p>
          <a:p>
            <a:r>
              <a:rPr lang="ru-RU" dirty="0"/>
              <a:t>Рассмотрим пример сложения двух отрицательных чисел: −3 и −6.</a:t>
            </a:r>
          </a:p>
          <a:p>
            <a:r>
              <a:rPr lang="ru-RU" dirty="0"/>
              <a:t>Сначала запишем положительные числа в двоичном виде.</a:t>
            </a:r>
          </a:p>
          <a:p>
            <a:br>
              <a:rPr lang="ru-RU" dirty="0"/>
            </a:br>
            <a:r>
              <a:rPr lang="ru-RU" dirty="0"/>
              <a:t>Число 3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00000011</a:t>
            </a:r>
            <a:r>
              <a:rPr lang="ru-RU" dirty="0"/>
              <a:t>. Чтобы получить −3 в дополнительном коде, инвертируем биты и прибавляем единицу. Получается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11111101</a:t>
            </a:r>
            <a:r>
              <a:rPr lang="ru-RU" dirty="0"/>
              <a:t>.</a:t>
            </a:r>
          </a:p>
          <a:p>
            <a:r>
              <a:rPr lang="ru-RU" dirty="0"/>
              <a:t>Аналогично для числа −6 получаем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11111010</a:t>
            </a:r>
            <a:r>
              <a:rPr lang="ru-RU" dirty="0"/>
              <a:t>.</a:t>
            </a:r>
          </a:p>
          <a:p>
            <a:r>
              <a:rPr lang="ru-RU" dirty="0"/>
              <a:t>Теперь просто складываем эти числа как обычные двоичные числа. В результате возникает перенос за пределы старшего бита. В фиксированной разрядности процессора этот перенос </a:t>
            </a:r>
            <a:r>
              <a:rPr lang="ru-RU" b="1" dirty="0"/>
              <a:t>просто отбрасывается</a:t>
            </a:r>
            <a:r>
              <a:rPr lang="ru-RU" dirty="0"/>
              <a:t>.</a:t>
            </a:r>
          </a:p>
          <a:p>
            <a:r>
              <a:rPr lang="ru-RU" dirty="0"/>
              <a:t>Оставшиеся биты дают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11110111</a:t>
            </a:r>
            <a:r>
              <a:rPr lang="ru-RU" dirty="0"/>
              <a:t>, что соответствует числу </a:t>
            </a:r>
            <a:r>
              <a:rPr lang="ru-RU" b="1" dirty="0"/>
              <a:t>−9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посмотрим на второй пример: −2 + 7.</a:t>
            </a:r>
          </a:p>
          <a:p>
            <a:r>
              <a:rPr lang="ru-RU" dirty="0"/>
              <a:t>Число −2 в дополнительном коде равно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11111110</a:t>
            </a:r>
            <a:r>
              <a:rPr lang="ru-RU" dirty="0"/>
              <a:t>, а число 7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00000111</a:t>
            </a:r>
            <a:r>
              <a:rPr lang="ru-RU" dirty="0"/>
              <a:t>.</a:t>
            </a:r>
          </a:p>
          <a:p>
            <a:r>
              <a:rPr lang="ru-RU" dirty="0"/>
              <a:t>Складываем их обычным образом. Снова возникает перенос за пределы старшего бита, который мы отбрасываем. В результате остаётся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00000101</a:t>
            </a:r>
            <a:r>
              <a:rPr lang="ru-RU" dirty="0"/>
              <a:t>, что соответствует числу </a:t>
            </a:r>
            <a:r>
              <a:rPr lang="ru-RU" b="1" dirty="0"/>
              <a:t>5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Заметьте важную особенность: </a:t>
            </a:r>
            <a:r>
              <a:rPr lang="ru-RU" b="1" dirty="0"/>
              <a:t>процессор выполняет ту же самую операцию сложения</a:t>
            </a:r>
            <a:r>
              <a:rPr lang="ru-RU" dirty="0"/>
              <a:t>, независимо от того, являются ли числа положительными или отрицательными. Именно эта простота аппаратной реализации и сделала дополнительный код стандартным способом представления знаковых чисел.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91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Беззнаковые типы используются в ситуациях, когда значение </a:t>
            </a:r>
            <a:r>
              <a:rPr lang="ru-RU" b="1" dirty="0"/>
              <a:t>по смыслу не может быть отрицательным</a:t>
            </a:r>
            <a:r>
              <a:rPr lang="ru-RU" dirty="0"/>
              <a:t>.</a:t>
            </a:r>
          </a:p>
          <a:p>
            <a:r>
              <a:rPr lang="ru-RU" dirty="0"/>
              <a:t>Например, если мы храним </a:t>
            </a:r>
            <a:r>
              <a:rPr lang="ru-RU" b="1" dirty="0"/>
              <a:t>количество элементов</a:t>
            </a:r>
            <a:r>
              <a:rPr lang="ru-RU" dirty="0"/>
              <a:t>, отрицательное значение не имеет смысла. То же самое относится к </a:t>
            </a:r>
            <a:r>
              <a:rPr lang="ru-RU" b="1" dirty="0"/>
              <a:t>размерам объектов</a:t>
            </a:r>
            <a:r>
              <a:rPr lang="ru-RU" dirty="0"/>
              <a:t>, </a:t>
            </a:r>
            <a:r>
              <a:rPr lang="ru-RU" b="1" dirty="0"/>
              <a:t>индексам массивов</a:t>
            </a:r>
            <a:r>
              <a:rPr lang="ru-RU" dirty="0"/>
              <a:t>, различным </a:t>
            </a:r>
            <a:r>
              <a:rPr lang="ru-RU" b="1" dirty="0"/>
              <a:t>счётчикам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таких случаях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dirty="0"/>
              <a:t> делает модель данных более точной: тип прямо отражает, какие значения допустимы.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у беззнаковых типов есть ещё одно практическое свойство. Поскольку все битовые комбинации используются для неотрицательных чисел, диапазон положительных значений получается </a:t>
            </a:r>
            <a:r>
              <a:rPr lang="ru-RU" b="1" dirty="0"/>
              <a:t>в два раза больше</a:t>
            </a:r>
            <a:r>
              <a:rPr lang="ru-RU" dirty="0"/>
              <a:t>, чем у знакового типа того же размера.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если переменная занимает 32 бита, 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может хранить числа примерно от −2³¹ до 2³¹−1,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— от 0 до 2³²−1.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Наконец,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dirty="0"/>
              <a:t> часто используется при работе с </a:t>
            </a:r>
            <a:r>
              <a:rPr lang="ru-RU" b="1" dirty="0"/>
              <a:t>битами</a:t>
            </a:r>
            <a:r>
              <a:rPr lang="ru-RU" dirty="0"/>
              <a:t>. Когда мы рассматриваем число как набор флагов или битовых полей, нас обычно не интересует знак числа — важны именно отдельные биты.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беззнаковые типы часто используются вместе с </a:t>
            </a:r>
            <a:r>
              <a:rPr lang="ru-RU" b="1" dirty="0"/>
              <a:t>битовыми операциями</a:t>
            </a:r>
            <a:r>
              <a:rPr lang="ru-RU" dirty="0"/>
              <a:t>, к которым мы перейдём немного позже.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264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говорили, что любой целый тип имеет </a:t>
            </a:r>
            <a:r>
              <a:rPr lang="ru-RU" b="1" dirty="0"/>
              <a:t>ограниченный диапазон значений</a:t>
            </a:r>
            <a:r>
              <a:rPr lang="ru-RU" dirty="0"/>
              <a:t>, потому что он занимает фиксированное количество бит.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результат вычисления выходит за пределы этого диапазона, возникает ситуация, которая называется </a:t>
            </a:r>
            <a:r>
              <a:rPr lang="ru-RU" b="1" dirty="0"/>
              <a:t>переполнением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беззнаковых типов стандарт языка C определяет поведение очень чётко. Арифметика выполняется </a:t>
            </a:r>
            <a:r>
              <a:rPr lang="ru-RU" b="1" dirty="0"/>
              <a:t>по модулю 2ⁿ</a:t>
            </a:r>
            <a:r>
              <a:rPr lang="ru-RU" dirty="0"/>
              <a:t>, где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— количество бит в типе.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если число хранится в 8 битах, возможные значения лежат в диапазоне от 0 до 255. Если к 255 прибавить единицу, получится 256, но такое значение нельзя представить в 8 битах. Поэтому происходит «оборачивание», и результат становится равен нулю.</a:t>
            </a:r>
          </a:p>
          <a:p>
            <a:r>
              <a:rPr lang="ru-RU" dirty="0"/>
              <a:t>Фактически вычисление выполняется </a:t>
            </a:r>
            <a:r>
              <a:rPr lang="ru-RU" b="1" dirty="0"/>
              <a:t>по модулю 256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Со знаковыми числами ситуация другая. Если происходит переполнение знакового типа, стандарт языка C говорит, что результат </a:t>
            </a:r>
            <a:r>
              <a:rPr lang="ru-RU" b="1" dirty="0"/>
              <a:t>не определён</a:t>
            </a:r>
            <a:r>
              <a:rPr lang="ru-RU" dirty="0"/>
              <a:t>. Это называется </a:t>
            </a:r>
            <a:r>
              <a:rPr lang="ru-RU" i="1" dirty="0" err="1"/>
              <a:t>undefined</a:t>
            </a:r>
            <a:r>
              <a:rPr lang="ru-RU" i="1" dirty="0"/>
              <a:t> </a:t>
            </a:r>
            <a:r>
              <a:rPr lang="ru-RU" i="1" dirty="0" err="1"/>
              <a:t>behavior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означает, что компилятор не обязан обеспечивать какое-либо конкретное поведение программы. На практике на большинстве современных процессоров результат будет выглядеть так же, как и для беззнаковых чисел — из-за того, что используется дополнительный код. Но стандарт языка на это </a:t>
            </a:r>
            <a:r>
              <a:rPr lang="ru-RU" b="1" dirty="0"/>
              <a:t>не даёт гарантии</a:t>
            </a:r>
            <a:r>
              <a:rPr lang="ru-RU" dirty="0"/>
              <a:t>, и компилятор может использовать это предположение при оптимизации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в системном программировании важно понимать, что переполнение знаковых типов — это потенциальная </a:t>
            </a:r>
            <a:r>
              <a:rPr lang="ru-RU" b="1" dirty="0"/>
              <a:t>ошибка программы</a:t>
            </a:r>
            <a:r>
              <a:rPr lang="ru-RU" dirty="0"/>
              <a:t>, тогда как переполнение беззнаковых типов является </a:t>
            </a:r>
            <a:r>
              <a:rPr lang="ru-RU" b="1" dirty="0"/>
              <a:t>определённой частью модели арифметики языка C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04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Ранее мы обсуждали, что стандарт языка C </a:t>
            </a:r>
            <a:r>
              <a:rPr lang="ru-RU" b="1" dirty="0"/>
              <a:t>не фиксирует точные размеры типов</a:t>
            </a:r>
            <a:r>
              <a:rPr lang="ru-RU" dirty="0"/>
              <a:t>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. Их размер зависит от архитектуры процессора и компилятора.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хорошо для переносимости языка, но иногда в программах требуется </a:t>
            </a:r>
            <a:r>
              <a:rPr lang="ru-RU" b="1" dirty="0"/>
              <a:t>точно знать размер данных</a:t>
            </a:r>
            <a:r>
              <a:rPr lang="ru-RU" dirty="0"/>
              <a:t>.</a:t>
            </a:r>
          </a:p>
          <a:p>
            <a:r>
              <a:rPr lang="ru-RU" dirty="0"/>
              <a:t>Например, при работе с сетевыми протоколами, бинарными файлами или аппаратными устройствами формат данных обычно строго определён. Если в протоколе написано, что поле занимает 32 бита, программа должна использовать </a:t>
            </a:r>
            <a:r>
              <a:rPr lang="ru-RU" b="1" dirty="0"/>
              <a:t>ровно 32 бита</a:t>
            </a:r>
            <a:r>
              <a:rPr lang="ru-RU" dirty="0"/>
              <a:t>, а не «примерно столько».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таких задач в языке C существует стандартный заголовочный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stdint.h</a:t>
            </a:r>
            <a:r>
              <a:rPr lang="ru-RU" dirty="0"/>
              <a:t>.</a:t>
            </a:r>
          </a:p>
          <a:p>
            <a:r>
              <a:rPr lang="ru-RU" dirty="0"/>
              <a:t>Он определяет типы с </a:t>
            </a:r>
            <a:r>
              <a:rPr lang="ru-RU" b="1" dirty="0"/>
              <a:t>фиксированной разрядностью</a:t>
            </a:r>
            <a:r>
              <a:rPr lang="ru-RU" dirty="0"/>
              <a:t>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int8_t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int16_t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int32_t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int64_t</a:t>
            </a:r>
            <a:r>
              <a:rPr lang="ru-RU" dirty="0"/>
              <a:t>. Суффикс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_t</a:t>
            </a:r>
            <a:r>
              <a:rPr lang="ru-RU" dirty="0"/>
              <a:t> означает </a:t>
            </a:r>
            <a:r>
              <a:rPr lang="ru-RU" i="1" dirty="0" err="1"/>
              <a:t>type</a:t>
            </a:r>
            <a:r>
              <a:rPr lang="ru-RU" dirty="0"/>
              <a:t>. Число в имени типа показывает, сколько </a:t>
            </a:r>
            <a:r>
              <a:rPr lang="ru-RU" b="1" dirty="0"/>
              <a:t>бит</a:t>
            </a:r>
            <a:r>
              <a:rPr lang="ru-RU" dirty="0"/>
              <a:t> занимает значение.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Есть и беззнаковые варианты этих типов: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uint8_t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uint16_t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uint32_t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uint64_t</a:t>
            </a:r>
            <a:r>
              <a:rPr lang="ru-RU" dirty="0"/>
              <a:t>.</a:t>
            </a:r>
          </a:p>
          <a:p>
            <a:r>
              <a:rPr lang="ru-RU" dirty="0"/>
              <a:t>Главное отличие этих типов от обычных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 состоит в том, что их размер </a:t>
            </a:r>
            <a:r>
              <a:rPr lang="ru-RU" b="1" dirty="0"/>
              <a:t>гарантирован стандартом</a:t>
            </a:r>
            <a:r>
              <a:rPr lang="ru-RU" dirty="0"/>
              <a:t>. Если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uint32_t</a:t>
            </a:r>
            <a:r>
              <a:rPr lang="ru-RU" dirty="0"/>
              <a:t> существует на платформе, он обязательно занимает ровно </a:t>
            </a:r>
            <a:r>
              <a:rPr lang="ru-RU" b="1" dirty="0"/>
              <a:t>32 бита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Такие типы особенно часто используются в </a:t>
            </a:r>
            <a:r>
              <a:rPr lang="ru-RU" b="1" dirty="0"/>
              <a:t>системном программировании</a:t>
            </a:r>
            <a:r>
              <a:rPr lang="ru-RU" dirty="0"/>
              <a:t>, </a:t>
            </a:r>
            <a:r>
              <a:rPr lang="ru-RU" b="1" dirty="0"/>
              <a:t>сетевых протоколах</a:t>
            </a:r>
            <a:r>
              <a:rPr lang="ru-RU" dirty="0"/>
              <a:t>, </a:t>
            </a:r>
            <a:r>
              <a:rPr lang="ru-RU" b="1" dirty="0"/>
              <a:t>работе с бинарными форматами данных</a:t>
            </a:r>
            <a:r>
              <a:rPr lang="ru-RU" dirty="0"/>
              <a:t>, а также в </a:t>
            </a:r>
            <a:r>
              <a:rPr lang="ru-RU" b="1" dirty="0" err="1"/>
              <a:t>embedded</a:t>
            </a:r>
            <a:r>
              <a:rPr lang="ru-RU" b="1" dirty="0"/>
              <a:t>-разработке</a:t>
            </a:r>
            <a:r>
              <a:rPr lang="ru-RU" dirty="0"/>
              <a:t>, где программа взаимодействует напрямую с аппаратными регистрами устройств.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Позже в курсе, когда мы будем говорить о взаимодействии программы с внешними устройствами, мы ещё неоднократно встретимся с этими типами.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242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небольшой эксперимент. Мы хотим посмотреть, как </a:t>
            </a:r>
            <a:r>
              <a:rPr lang="ru-RU" b="1" dirty="0"/>
              <a:t>размер типа данных влияет на время обработки массива</a:t>
            </a:r>
            <a:r>
              <a:rPr lang="ru-RU" dirty="0"/>
              <a:t>.</a:t>
            </a:r>
          </a:p>
          <a:p>
            <a:r>
              <a:rPr lang="ru-RU" dirty="0"/>
              <a:t>Здесь определены три функции. Все они делают одно и то же: проходят по массиву и суммируют его элементы. Различается только </a:t>
            </a:r>
            <a:r>
              <a:rPr lang="ru-RU" b="1" dirty="0"/>
              <a:t>тип элементов массива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Первая функция работает с массивом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</a:t>
            </a:r>
            <a:r>
              <a:rPr lang="ru-RU" dirty="0"/>
              <a:t>, то есть с 16-битными значениями.</a:t>
            </a:r>
            <a:br>
              <a:rPr lang="ru-RU" dirty="0"/>
            </a:br>
            <a:r>
              <a:rPr lang="ru-RU" dirty="0"/>
              <a:t>Вторая —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который обычно занимает 32 бита.</a:t>
            </a:r>
            <a:br>
              <a:rPr lang="ru-RU" dirty="0"/>
            </a:br>
            <a:r>
              <a:rPr lang="ru-RU" dirty="0"/>
              <a:t>Третья —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, обычно это 64-битные числа.</a:t>
            </a:r>
          </a:p>
          <a:p>
            <a:endParaRPr lang="ru-RU" dirty="0"/>
          </a:p>
          <a:p>
            <a:r>
              <a:rPr lang="ru-RU" dirty="0"/>
              <a:t>Важно, что код самих функций практически одинаковый: один и тот же цикл, одна и та же операция сложения. Меняется только </a:t>
            </a:r>
            <a:r>
              <a:rPr lang="ru-RU" b="1" dirty="0"/>
              <a:t>размер элементов массива</a:t>
            </a:r>
            <a:r>
              <a:rPr lang="ru-RU" dirty="0"/>
              <a:t>.</a:t>
            </a:r>
          </a:p>
          <a:p>
            <a:r>
              <a:rPr lang="ru-RU" dirty="0"/>
              <a:t>Ниже приведены результаты измерения времени суммирования большого массива для каждого типа.</a:t>
            </a:r>
          </a:p>
          <a:p>
            <a:endParaRPr lang="ru-RU" dirty="0"/>
          </a:p>
          <a:p>
            <a:r>
              <a:rPr lang="ru-RU" dirty="0"/>
              <a:t>Мы видим, что массив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</a:t>
            </a:r>
            <a:r>
              <a:rPr lang="ru-RU" dirty="0"/>
              <a:t> обрабатывается быстрее, чем массив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а массив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 — ещё медленнее.</a:t>
            </a:r>
          </a:p>
          <a:p>
            <a:r>
              <a:rPr lang="ru-RU" dirty="0"/>
              <a:t>Причина здесь не столько в самой операции сложения, сколько в </a:t>
            </a:r>
            <a:r>
              <a:rPr lang="ru-RU" b="1" dirty="0"/>
              <a:t>объёме данных</a:t>
            </a:r>
            <a:r>
              <a:rPr lang="ru-RU" dirty="0"/>
              <a:t>, которые нужно читать из памяти. Чем больше размер элемента массива, тем больше байтов приходится передавать между памятью и процессором.</a:t>
            </a:r>
          </a:p>
          <a:p>
            <a:endParaRPr lang="ru-RU" dirty="0"/>
          </a:p>
          <a:p>
            <a:r>
              <a:rPr lang="ru-RU" dirty="0"/>
              <a:t>Это хороший пример того, что выбор типа данных влияет не только на диапазон значений, но и на </a:t>
            </a:r>
            <a:r>
              <a:rPr lang="ru-RU" b="1" dirty="0"/>
              <a:t>производительность программы</a:t>
            </a:r>
            <a:r>
              <a:rPr lang="ru-RU" dirty="0"/>
              <a:t>, потому что он определяет, сколько памяти используется и сколько данных нужно перемещать.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41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232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в основном говорили о том, что числа занимают некоторое количество бит или байтов. Но теперь возникает следующий практический вопрос.</a:t>
            </a:r>
          </a:p>
          <a:p>
            <a:endParaRPr lang="ru-RU" dirty="0"/>
          </a:p>
          <a:p>
            <a:r>
              <a:rPr lang="ru-RU" dirty="0"/>
              <a:t>Если число занимает </a:t>
            </a:r>
            <a:r>
              <a:rPr lang="ru-RU" b="1" dirty="0"/>
              <a:t>больше одного байта</a:t>
            </a:r>
            <a:r>
              <a:rPr lang="ru-RU" dirty="0"/>
              <a:t>, как именно эти байты размещаются в памяти?</a:t>
            </a:r>
          </a:p>
          <a:p>
            <a:r>
              <a:rPr lang="ru-RU" dirty="0"/>
              <a:t>Мы уже знаем, что память адресуется </a:t>
            </a:r>
            <a:r>
              <a:rPr lang="ru-RU" b="1" dirty="0"/>
              <a:t>по байтам</a:t>
            </a:r>
            <a:r>
              <a:rPr lang="ru-RU" dirty="0"/>
              <a:t>. Каждый адрес соответствует одному байту.</a:t>
            </a:r>
          </a:p>
          <a:p>
            <a:endParaRPr lang="ru-RU" dirty="0"/>
          </a:p>
          <a:p>
            <a:r>
              <a:rPr lang="ru-RU" dirty="0"/>
              <a:t>Предположим, у нас есть 32-битное число: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uint32_t x = 0x12345678;</a:t>
            </a:r>
          </a:p>
          <a:p>
            <a:r>
              <a:rPr lang="ru-RU" dirty="0"/>
              <a:t>Это число занимает </a:t>
            </a:r>
            <a:r>
              <a:rPr lang="ru-RU" b="1" dirty="0"/>
              <a:t>4 байта</a:t>
            </a:r>
            <a:r>
              <a:rPr lang="ru-RU" dirty="0"/>
              <a:t>. Но память хранит байты </a:t>
            </a:r>
            <a:r>
              <a:rPr lang="ru-RU" b="1" dirty="0"/>
              <a:t>по отдельности</a:t>
            </a:r>
            <a:r>
              <a:rPr lang="ru-RU" dirty="0"/>
              <a:t>. Поэтому значение должно быть разбито на четыре байта: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12 34 56 78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Теперь возникает вопрос:</a:t>
            </a:r>
            <a:br>
              <a:rPr lang="ru-RU" dirty="0"/>
            </a:br>
            <a:r>
              <a:rPr lang="ru-RU" b="1" dirty="0"/>
              <a:t>в каком порядке эти байты будут записаны в память?</a:t>
            </a:r>
            <a:endParaRPr lang="ru-RU" dirty="0"/>
          </a:p>
          <a:p>
            <a:r>
              <a:rPr lang="ru-RU" dirty="0"/>
              <a:t>Например, возможен вариант, когда первым в памяти лежит байт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</a:t>
            </a:r>
            <a:r>
              <a:rPr lang="ru-RU" dirty="0"/>
              <a:t>, а возможен вариант, когда первым лежит байт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78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Оказывается, разные архитектуры процессоров используют </a:t>
            </a:r>
            <a:r>
              <a:rPr lang="ru-RU" b="1" dirty="0"/>
              <a:t>разные соглашения о порядке байтов</a:t>
            </a:r>
            <a:r>
              <a:rPr lang="ru-RU" dirty="0"/>
              <a:t>.</a:t>
            </a:r>
          </a:p>
          <a:p>
            <a:r>
              <a:rPr lang="ru-RU" dirty="0"/>
              <a:t>Это соглашение называется </a:t>
            </a:r>
            <a:r>
              <a:rPr lang="ru-RU" b="1" dirty="0" err="1"/>
              <a:t>endianness</a:t>
            </a:r>
            <a:r>
              <a:rPr lang="ru-RU" dirty="0"/>
              <a:t> — порядок байтов в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547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Существует два основных способа размещения байтов </a:t>
            </a:r>
            <a:r>
              <a:rPr lang="ru-RU" dirty="0" err="1"/>
              <a:t>многобайтового</a:t>
            </a:r>
            <a:r>
              <a:rPr lang="ru-RU" dirty="0"/>
              <a:t> числа в памяти.</a:t>
            </a:r>
          </a:p>
          <a:p>
            <a:endParaRPr lang="en-US" dirty="0"/>
          </a:p>
          <a:p>
            <a:r>
              <a:rPr lang="ru-RU" dirty="0"/>
              <a:t>Первый способ называется </a:t>
            </a:r>
            <a:r>
              <a:rPr lang="ru-RU" b="1" dirty="0" err="1"/>
              <a:t>big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dirty="0"/>
              <a:t>.</a:t>
            </a:r>
          </a:p>
          <a:p>
            <a:r>
              <a:rPr lang="ru-RU" dirty="0"/>
              <a:t>В этом случае </a:t>
            </a:r>
            <a:r>
              <a:rPr lang="ru-RU" b="1" dirty="0"/>
              <a:t>старший байт</a:t>
            </a:r>
            <a:r>
              <a:rPr lang="ru-RU" dirty="0"/>
              <a:t> числа хранится по </a:t>
            </a:r>
            <a:r>
              <a:rPr lang="ru-RU" b="1" dirty="0"/>
              <a:t>наименьшему адресу</a:t>
            </a:r>
            <a:r>
              <a:rPr lang="ru-RU" dirty="0"/>
              <a:t>. То есть байты идут в том же порядке, в каком мы обычно записываем число в шестнадцатеричном виде.</a:t>
            </a:r>
          </a:p>
          <a:p>
            <a:r>
              <a:rPr lang="ru-RU" dirty="0"/>
              <a:t>Например,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0x12345678</a:t>
            </a:r>
            <a:r>
              <a:rPr lang="ru-RU" dirty="0"/>
              <a:t> будет храниться в памяти так: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12 34 56 78</a:t>
            </a:r>
          </a:p>
          <a:p>
            <a:r>
              <a:rPr lang="ru-RU" dirty="0"/>
              <a:t>То есть сначала идёт самый значимый байт, затем следующий и так далее.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Второй способ называется </a:t>
            </a:r>
            <a:r>
              <a:rPr lang="ru-RU" b="1" dirty="0" err="1"/>
              <a:t>little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dirty="0"/>
              <a:t>.</a:t>
            </a:r>
          </a:p>
          <a:p>
            <a:r>
              <a:rPr lang="ru-RU" dirty="0"/>
              <a:t>Здесь ситуация обратная: по наименьшему адресу хранится </a:t>
            </a:r>
            <a:r>
              <a:rPr lang="ru-RU" b="1" dirty="0"/>
              <a:t>младший байт</a:t>
            </a:r>
            <a:r>
              <a:rPr lang="ru-RU" dirty="0"/>
              <a:t> числа.</a:t>
            </a:r>
          </a:p>
          <a:p>
            <a:r>
              <a:rPr lang="ru-RU" dirty="0"/>
              <a:t>То же самое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0x12345678</a:t>
            </a:r>
            <a:r>
              <a:rPr lang="ru-RU" dirty="0"/>
              <a:t> в памяти будет выглядеть так: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78 56 34 12</a:t>
            </a:r>
          </a:p>
          <a:p>
            <a:r>
              <a:rPr lang="ru-RU" dirty="0"/>
              <a:t>То есть сначала записывается наименее значимый байт.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точки зрения программы оба варианта корректны — это просто разные соглашения о том, </a:t>
            </a:r>
            <a:r>
              <a:rPr lang="ru-RU" b="1" dirty="0"/>
              <a:t>как интерпретировать последовательность байтов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0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655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 программа работает только с переменными и арифметическими операциями, порядок байтов обычно </a:t>
            </a:r>
            <a:r>
              <a:rPr lang="ru-RU" b="1" dirty="0"/>
              <a:t>не имеет значения</a:t>
            </a:r>
            <a:r>
              <a:rPr lang="ru-RU" dirty="0"/>
              <a:t>. Компилятор и процессор всё делают автоматически.</a:t>
            </a:r>
          </a:p>
          <a:p>
            <a:endParaRPr lang="ru-RU" dirty="0"/>
          </a:p>
          <a:p>
            <a:r>
              <a:rPr lang="ru-RU" dirty="0"/>
              <a:t>Но есть ситуации, когда программа начинает работать </a:t>
            </a:r>
            <a:r>
              <a:rPr lang="ru-RU" b="1" dirty="0"/>
              <a:t>не с абстрактными переменными, а напрямую с байтами памяти</a:t>
            </a:r>
            <a:r>
              <a:rPr lang="ru-RU" dirty="0"/>
              <a:t>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когда программа читает </a:t>
            </a:r>
            <a:r>
              <a:rPr lang="ru-RU" b="1" dirty="0"/>
              <a:t>бинарные файлы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когда данные передаются </a:t>
            </a:r>
            <a:r>
              <a:rPr lang="ru-RU" b="1" dirty="0"/>
              <a:t>по сети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когда программа взаимодействует с </a:t>
            </a:r>
            <a:r>
              <a:rPr lang="ru-RU" b="1" dirty="0"/>
              <a:t>аппаратными устройствами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когда мы рассматриваем память как массив байтов</a:t>
            </a:r>
          </a:p>
          <a:p>
            <a:endParaRPr lang="ru-RU" dirty="0"/>
          </a:p>
          <a:p>
            <a:r>
              <a:rPr lang="ru-RU" dirty="0"/>
              <a:t>В этих случаях порядок байтов становится важным.</a:t>
            </a:r>
          </a:p>
          <a:p>
            <a:endParaRPr lang="ru-RU" dirty="0"/>
          </a:p>
          <a:p>
            <a:r>
              <a:rPr lang="ru-RU" dirty="0"/>
              <a:t>Например, если два компьютера используют разный порядок байтов, то одно и то же число может быть записано в памяти </a:t>
            </a:r>
            <a:r>
              <a:rPr lang="ru-RU" b="1" dirty="0"/>
              <a:t>по-разному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форматы файлов и сетевые протоколы обычно </a:t>
            </a:r>
            <a:r>
              <a:rPr lang="ru-RU" b="1" dirty="0"/>
              <a:t>жёстко фиксируют порядок байтов</a:t>
            </a:r>
            <a:r>
              <a:rPr lang="ru-RU" dirty="0"/>
              <a:t>, чтобы все системы интерпретировали данные одинаково.</a:t>
            </a:r>
          </a:p>
          <a:p>
            <a:endParaRPr lang="ru-RU" dirty="0"/>
          </a:p>
          <a:p>
            <a:r>
              <a:rPr lang="ru-RU" dirty="0"/>
              <a:t>Если говорить о современных архитектурах, то процессоры </a:t>
            </a:r>
            <a:r>
              <a:rPr lang="ru-RU" b="1" dirty="0"/>
              <a:t>x86 и x86-64</a:t>
            </a:r>
            <a:r>
              <a:rPr lang="ru-RU" dirty="0"/>
              <a:t>, которые используются в большинстве персональных компьютеров, работают в режиме </a:t>
            </a:r>
            <a:r>
              <a:rPr lang="ru-RU" b="1" dirty="0" err="1"/>
              <a:t>little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Многие современные ARM-процессоры тоже используют 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endian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на большинстве современных систем младший байт числа находится </a:t>
            </a:r>
            <a:r>
              <a:rPr lang="ru-RU" b="1" dirty="0"/>
              <a:t>по наименьшему адресу</a:t>
            </a:r>
            <a:r>
              <a:rPr lang="ru-RU" dirty="0"/>
              <a:t>.</a:t>
            </a:r>
          </a:p>
          <a:p>
            <a:r>
              <a:rPr lang="ru-RU" dirty="0"/>
              <a:t>Чуть позже на лекции мы увидим, как программа может напрямую посмотреть на </a:t>
            </a:r>
            <a:r>
              <a:rPr lang="ru-RU" b="1" dirty="0"/>
              <a:t>байтовое представление числа в памяти</a:t>
            </a:r>
            <a:r>
              <a:rPr lang="ru-RU" dirty="0"/>
              <a:t>. Это поможет лучше понять, как данные реально хранятся в памяти компьютера.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914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Порядок байтов в памяти — это историческое архитектурное решение, и разные семейства процессоров приняли разные соглашения.</a:t>
            </a:r>
          </a:p>
          <a:p>
            <a:endParaRPr lang="ru-RU" dirty="0"/>
          </a:p>
          <a:p>
            <a:r>
              <a:rPr lang="ru-RU" dirty="0"/>
              <a:t>Многие ранние и крупные вычислительные системы использовали </a:t>
            </a:r>
            <a:r>
              <a:rPr lang="ru-RU" b="1" dirty="0" err="1"/>
              <a:t>big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dirty="0"/>
              <a:t>. Например, архитектура Motorola 68000, которая применялась в ранних компьютерах Macintosh и </a:t>
            </a:r>
            <a:r>
              <a:rPr lang="ru-RU" dirty="0" err="1"/>
              <a:t>Amiga</a:t>
            </a:r>
            <a:r>
              <a:rPr lang="ru-RU" dirty="0"/>
              <a:t>, а также мэйнфреймы IBM. В этих системах старший байт числа размещался по меньшему адресу.</a:t>
            </a:r>
          </a:p>
          <a:p>
            <a:endParaRPr lang="ru-RU" dirty="0"/>
          </a:p>
          <a:p>
            <a:r>
              <a:rPr lang="ru-RU" dirty="0"/>
              <a:t>С другой стороны, архитектура Intel x86, которая лежит в основе большинства современных персональных компьютеров, использует </a:t>
            </a:r>
            <a:r>
              <a:rPr lang="ru-RU" b="1" dirty="0" err="1"/>
              <a:t>little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dirty="0"/>
              <a:t>. В этом случае по меньшему адресу хранится младший байт числа. Это решение исторически связано с архитектурными особенностями ранних процессоров Intel и сохранилось во всех последующих поколениях x86.</a:t>
            </a:r>
          </a:p>
          <a:p>
            <a:endParaRPr lang="ru-RU" dirty="0"/>
          </a:p>
          <a:p>
            <a:r>
              <a:rPr lang="ru-RU" dirty="0"/>
              <a:t>Интересно, что в сетевых протоколах был принят отдельный стандарт — так называемый </a:t>
            </a:r>
            <a:r>
              <a:rPr lang="ru-RU" b="1" dirty="0" err="1"/>
              <a:t>network</a:t>
            </a:r>
            <a:r>
              <a:rPr lang="ru-RU" b="1" dirty="0"/>
              <a:t> </a:t>
            </a:r>
            <a:r>
              <a:rPr lang="ru-RU" b="1" dirty="0" err="1"/>
              <a:t>byte</a:t>
            </a:r>
            <a:r>
              <a:rPr lang="ru-RU" b="1" dirty="0"/>
              <a:t> </a:t>
            </a:r>
            <a:r>
              <a:rPr lang="ru-RU" b="1" dirty="0" err="1"/>
              <a:t>order</a:t>
            </a:r>
            <a:r>
              <a:rPr lang="ru-RU" dirty="0"/>
              <a:t>, который использует </a:t>
            </a:r>
            <a:r>
              <a:rPr lang="ru-RU" dirty="0" err="1"/>
              <a:t>big</a:t>
            </a:r>
            <a:r>
              <a:rPr lang="ru-RU" dirty="0"/>
              <a:t> </a:t>
            </a:r>
            <a:r>
              <a:rPr lang="ru-RU" dirty="0" err="1"/>
              <a:t>endian</a:t>
            </a:r>
            <a:r>
              <a:rPr lang="ru-RU" dirty="0"/>
              <a:t>. Поэтому при передаче данных по сети программы иногда должны явно преобразовывать порядок байтов.</a:t>
            </a:r>
          </a:p>
          <a:p>
            <a:endParaRPr lang="ru-RU" dirty="0"/>
          </a:p>
          <a:p>
            <a:r>
              <a:rPr lang="ru-RU" dirty="0"/>
              <a:t>В современных системах большинство процессоров работают в режиме 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endian</a:t>
            </a:r>
            <a:r>
              <a:rPr lang="ru-RU" dirty="0"/>
              <a:t>, но понимание различий между этими подходами важно при работе с бинарными форматами данных, сетевыми протоколами и низкоуровневым программированием.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258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показано, как программа может посмотреть на </a:t>
            </a:r>
            <a:r>
              <a:rPr lang="ru-RU" b="1" dirty="0"/>
              <a:t>реальное байтовое представление числа в памяти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Сначала мы читаем целое число в переменную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. Затем берём адрес этой переменной и приводим его к указателю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</a:t>
            </a:r>
            <a:r>
              <a:rPr lang="ru-RU" dirty="0"/>
              <a:t>. Это позволяет интерпретировать память </a:t>
            </a:r>
            <a:r>
              <a:rPr lang="ru-RU" b="1" dirty="0"/>
              <a:t>по одному байту</a:t>
            </a:r>
            <a:r>
              <a:rPr lang="ru-RU" dirty="0"/>
              <a:t>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в C всегда имеет размер </a:t>
            </a:r>
            <a:r>
              <a:rPr lang="ru-RU" b="1" dirty="0"/>
              <a:t>1 байт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программа проходит по всем байтам числа — их количество определяется оператором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(x)</a:t>
            </a:r>
            <a:r>
              <a:rPr lang="ru-RU" dirty="0"/>
              <a:t> — и выводит каждый байт в шестнадцатеричном виде.</a:t>
            </a:r>
          </a:p>
          <a:p>
            <a:endParaRPr lang="ru-RU" dirty="0"/>
          </a:p>
          <a:p>
            <a:r>
              <a:rPr lang="ru-RU" dirty="0"/>
              <a:t>Например, если ввести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</a:t>
            </a:r>
            <a:r>
              <a:rPr lang="ru-RU" dirty="0"/>
              <a:t>, программа выводит: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E8 03 00 00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означает, что число хранится в памяти в </a:t>
            </a:r>
            <a:r>
              <a:rPr lang="ru-RU" b="1" dirty="0" err="1"/>
              <a:t>little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b="1" dirty="0"/>
              <a:t> порядке</a:t>
            </a:r>
            <a:r>
              <a:rPr lang="ru-RU" dirty="0"/>
              <a:t> — младший байт находится по меньшему адресу.</a:t>
            </a:r>
          </a:p>
          <a:p>
            <a:endParaRPr lang="ru-RU" dirty="0"/>
          </a:p>
          <a:p>
            <a:r>
              <a:rPr lang="ru-RU" dirty="0"/>
              <a:t>Во втором примере вводится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-15</a:t>
            </a:r>
            <a:r>
              <a:rPr lang="ru-RU" dirty="0"/>
              <a:t>. Мы видим байтовую последовательность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 FF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</a:t>
            </a:r>
            <a:r>
              <a:rPr lang="ru-RU" dirty="0"/>
              <a:t>. Это представление числа </a:t>
            </a:r>
            <a:r>
              <a:rPr lang="ru-RU" b="1" dirty="0"/>
              <a:t>в дополнительном коде</a:t>
            </a:r>
            <a:r>
              <a:rPr lang="ru-RU" dirty="0"/>
              <a:t>, о котором мы говорили ранее.</a:t>
            </a:r>
          </a:p>
          <a:p>
            <a:endParaRPr lang="ru-RU" dirty="0"/>
          </a:p>
          <a:p>
            <a:r>
              <a:rPr lang="ru-RU" dirty="0"/>
              <a:t>Таким образом можно напрямую увидеть, </a:t>
            </a:r>
            <a:r>
              <a:rPr lang="ru-RU" b="1" dirty="0"/>
              <a:t>как именно числа представлены в памяти компьютера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45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500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целые числа как обычные значения — например, результаты вычислений.</a:t>
            </a:r>
          </a:p>
          <a:p>
            <a:r>
              <a:rPr lang="ru-RU" dirty="0"/>
              <a:t>Но на практике числа очень часто используются </a:t>
            </a:r>
            <a:r>
              <a:rPr lang="ru-RU" b="1" dirty="0"/>
              <a:t>не как одно число</a:t>
            </a:r>
            <a:r>
              <a:rPr lang="ru-RU" dirty="0"/>
              <a:t>, а как </a:t>
            </a:r>
            <a:r>
              <a:rPr lang="ru-RU" b="1" dirty="0"/>
              <a:t>набор отдельных битов</a:t>
            </a:r>
            <a:r>
              <a:rPr lang="ru-RU" dirty="0"/>
              <a:t>, где каждый бит имеет своё значение.</a:t>
            </a:r>
          </a:p>
          <a:p>
            <a:endParaRPr lang="ru-RU" dirty="0"/>
          </a:p>
          <a:p>
            <a:r>
              <a:rPr lang="ru-RU" dirty="0"/>
              <a:t>Самый простой пример — </a:t>
            </a:r>
            <a:r>
              <a:rPr lang="ru-RU" b="1" dirty="0"/>
              <a:t>флаги состояния</a:t>
            </a:r>
            <a:r>
              <a:rPr lang="ru-RU" dirty="0"/>
              <a:t>. Например, один бит может означать, что устройство готово к работе, другой — что произошла ошибка, третий — что пришли новые данные.</a:t>
            </a:r>
          </a:p>
          <a:p>
            <a:endParaRPr lang="ru-RU" dirty="0"/>
          </a:p>
          <a:p>
            <a:r>
              <a:rPr lang="ru-RU" dirty="0"/>
              <a:t>Похожим образом устроены </a:t>
            </a:r>
            <a:r>
              <a:rPr lang="ru-RU" b="1" dirty="0"/>
              <a:t>аппаратные регистры</a:t>
            </a:r>
            <a:r>
              <a:rPr lang="ru-RU" dirty="0"/>
              <a:t> в процессорах и микроконтроллерах. Один регистр может хранить сразу несколько разных признаков состояния, и каждый из них занимает один бит.</a:t>
            </a:r>
          </a:p>
          <a:p>
            <a:endParaRPr lang="ru-RU" dirty="0"/>
          </a:p>
          <a:p>
            <a:r>
              <a:rPr lang="ru-RU" dirty="0"/>
              <a:t>Но работа с битами встречается не только в системном программировании.</a:t>
            </a:r>
          </a:p>
          <a:p>
            <a:r>
              <a:rPr lang="ru-RU" dirty="0"/>
              <a:t>Например, в </a:t>
            </a:r>
            <a:r>
              <a:rPr lang="ru-RU" b="1" dirty="0"/>
              <a:t>криптографии</a:t>
            </a:r>
            <a:r>
              <a:rPr lang="ru-RU" dirty="0"/>
              <a:t> многие алгоритмы шифрования используют операции над битами — такие как XOR и сдвиги — чтобы перемешивать данные.</a:t>
            </a:r>
          </a:p>
          <a:p>
            <a:endParaRPr lang="ru-RU" dirty="0"/>
          </a:p>
          <a:p>
            <a:r>
              <a:rPr lang="ru-RU" dirty="0"/>
              <a:t>Ещё один пример — </a:t>
            </a:r>
            <a:r>
              <a:rPr lang="ru-RU" b="1" dirty="0"/>
              <a:t>сжатие данных</a:t>
            </a:r>
            <a:r>
              <a:rPr lang="ru-RU" dirty="0"/>
              <a:t>. Некоторые алгоритмы компрессии стараются упаковать информацию максимально плотно и поэтому работают прямо на уровне отдельных битов.</a:t>
            </a:r>
          </a:p>
          <a:p>
            <a:endParaRPr lang="ru-RU" dirty="0"/>
          </a:p>
          <a:p>
            <a:r>
              <a:rPr lang="ru-RU" dirty="0"/>
              <a:t>Поэтому язык C предоставляет специальные операторы, которые позволяют программе работать </a:t>
            </a:r>
            <a:r>
              <a:rPr lang="ru-RU" b="1" dirty="0"/>
              <a:t>не только с числами, но и с их битовым представлением</a:t>
            </a:r>
            <a:r>
              <a:rPr lang="ru-RU" dirty="0"/>
              <a:t>. Именно эти операции мы сейчас и рассмотрим.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99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простой пример.</a:t>
            </a:r>
          </a:p>
          <a:p>
            <a:r>
              <a:rPr lang="ru-RU" dirty="0"/>
              <a:t>Пусть у нас есть 8-битное число: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00000101</a:t>
            </a:r>
          </a:p>
          <a:p>
            <a:r>
              <a:rPr lang="ru-RU" dirty="0"/>
              <a:t>Каждый бит можно рассматривать как отдельный </a:t>
            </a:r>
            <a:r>
              <a:rPr lang="ru-RU" b="1" dirty="0"/>
              <a:t>логический флаг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бит 0 может означать «устройство готово»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бит 1 — «произошла ошибка»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бит 2 — «есть новые данные»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В нашем примере установлены биты 0 и 2, а бит 1 равен нулю.</a:t>
            </a:r>
          </a:p>
          <a:p>
            <a:endParaRPr lang="ru-RU" dirty="0"/>
          </a:p>
          <a:p>
            <a:r>
              <a:rPr lang="ru-RU" dirty="0"/>
              <a:t>Такое представление позволяет хранить </a:t>
            </a:r>
            <a:r>
              <a:rPr lang="ru-RU" b="1" dirty="0"/>
              <a:t>несколько независимых состояний</a:t>
            </a:r>
            <a:r>
              <a:rPr lang="ru-RU" dirty="0"/>
              <a:t> в одном числе.</a:t>
            </a:r>
          </a:p>
          <a:p>
            <a:endParaRPr lang="ru-RU" dirty="0"/>
          </a:p>
          <a:p>
            <a:r>
              <a:rPr lang="ru-RU" dirty="0"/>
              <a:t>Но чтобы работать с такими данными, нужно уметь: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проверять отдельные биты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устанавливать биты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сбрасывать биты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сдвигать биты</a:t>
            </a:r>
          </a:p>
          <a:p>
            <a:r>
              <a:rPr lang="ru-RU" dirty="0"/>
              <a:t>Для этого используются </a:t>
            </a:r>
            <a:r>
              <a:rPr lang="ru-RU" b="1" dirty="0"/>
              <a:t>побитовые операции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22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существует набор операторов, которые работают </a:t>
            </a:r>
            <a:r>
              <a:rPr lang="ru-RU" b="1" dirty="0"/>
              <a:t>не со значением числа целиком</a:t>
            </a:r>
            <a:r>
              <a:rPr lang="ru-RU" dirty="0"/>
              <a:t>, а с его </a:t>
            </a:r>
            <a:r>
              <a:rPr lang="ru-RU" b="1" dirty="0"/>
              <a:t>битовым представлением</a:t>
            </a:r>
            <a:r>
              <a:rPr lang="ru-RU" dirty="0"/>
              <a:t>.</a:t>
            </a:r>
          </a:p>
          <a:p>
            <a:r>
              <a:rPr lang="ru-RU" dirty="0"/>
              <a:t>Это побитовые операции.</a:t>
            </a:r>
          </a:p>
          <a:p>
            <a:r>
              <a:rPr lang="ru-RU" dirty="0"/>
              <a:t>Например,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выполняет побитовое AND: каждый бит результата получается из соответствующих битов операндов.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</a:t>
            </a:r>
            <a:r>
              <a:rPr lang="ru-RU" dirty="0"/>
              <a:t> выполняет побитовое OR.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</a:t>
            </a:r>
            <a:r>
              <a:rPr lang="ru-RU" dirty="0"/>
              <a:t> — это XOR, или исключающее ИЛИ.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</a:t>
            </a:r>
            <a:r>
              <a:rPr lang="ru-RU" dirty="0"/>
              <a:t> инвертирует все биты числа.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ещё есть операции </a:t>
            </a:r>
            <a:r>
              <a:rPr lang="ru-RU" b="1" dirty="0"/>
              <a:t>битового сдвига</a:t>
            </a:r>
            <a:r>
              <a:rPr lang="ru-RU" dirty="0"/>
              <a:t>, которые перемещают биты влево или вправо.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операции позволяют программе напрямую работать с </a:t>
            </a:r>
            <a:r>
              <a:rPr lang="ru-RU" b="1" dirty="0"/>
              <a:t>битовой структурой числа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73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Побитовое AND выполняет логическую операцию AND </a:t>
            </a:r>
            <a:r>
              <a:rPr lang="ru-RU" b="1" dirty="0"/>
              <a:t>для каждой пары битов</a:t>
            </a:r>
            <a:r>
              <a:rPr lang="ru-RU" dirty="0"/>
              <a:t>.</a:t>
            </a:r>
          </a:p>
          <a:p>
            <a:r>
              <a:rPr lang="ru-RU" dirty="0"/>
              <a:t>Если оба бита равны единице — результат равен единице.</a:t>
            </a:r>
            <a:r>
              <a:rPr lang="en-US" dirty="0"/>
              <a:t> </a:t>
            </a:r>
            <a:r>
              <a:rPr lang="ru-RU" dirty="0"/>
              <a:t>Во всех остальных случаях результат равен нулю.</a:t>
            </a:r>
          </a:p>
          <a:p>
            <a:r>
              <a:rPr lang="ru-RU" dirty="0"/>
              <a:t>Эта операция особенно полезна, когда нужно </a:t>
            </a:r>
            <a:r>
              <a:rPr lang="ru-RU" b="1" dirty="0"/>
              <a:t>проверить состояние определённого бита</a:t>
            </a:r>
            <a:r>
              <a:rPr lang="ru-RU" dirty="0"/>
              <a:t>.</a:t>
            </a:r>
          </a:p>
          <a:p>
            <a:r>
              <a:rPr lang="ru-RU" dirty="0"/>
              <a:t>Например, если мы хотим проверить третий бит числа, можно использовать </a:t>
            </a:r>
            <a:r>
              <a:rPr lang="ru-RU" b="1" dirty="0"/>
              <a:t>битовую маску</a:t>
            </a:r>
            <a:r>
              <a:rPr lang="ru-RU" dirty="0"/>
              <a:t>.</a:t>
            </a:r>
          </a:p>
          <a:p>
            <a:r>
              <a:rPr lang="ru-RU" dirty="0"/>
              <a:t>Мы увидим такие примеры немного позже.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749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 OR устанавливает бит результата в единицу, если </a:t>
            </a:r>
            <a:r>
              <a:rPr lang="ru-RU" b="1" dirty="0"/>
              <a:t>хотя бы один из соответствующих битов равен единице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Эта операция часто используется для </a:t>
            </a:r>
            <a:r>
              <a:rPr lang="ru-RU" b="1" dirty="0"/>
              <a:t>установки битов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если нужно включить некоторый флаг, можно выполнить OR с маской, где соответствующий бит равен единице.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14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 XOR устанавливает бит результата в единицу, если соответствующие биты </a:t>
            </a:r>
            <a:r>
              <a:rPr lang="ru-RU" b="1" dirty="0"/>
              <a:t>различаются</a:t>
            </a:r>
            <a:r>
              <a:rPr lang="ru-RU" dirty="0"/>
              <a:t>.</a:t>
            </a:r>
          </a:p>
          <a:p>
            <a:r>
              <a:rPr lang="ru-RU" dirty="0"/>
              <a:t>Если биты одинаковые — результат равен нулю.</a:t>
            </a:r>
          </a:p>
          <a:p>
            <a:endParaRPr lang="ru-RU" dirty="0"/>
          </a:p>
          <a:p>
            <a:r>
              <a:rPr lang="ru-RU" dirty="0"/>
              <a:t>Одно из практических применений XOR — </a:t>
            </a:r>
            <a:r>
              <a:rPr lang="ru-RU" b="1" dirty="0"/>
              <a:t>переключение бита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выполнить XOR с маской, содержащей единицу в нужной позиции, соответствующий бит изменит своё состояние: 0 станет 1, а 1 станет 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640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</a:t>
            </a:r>
            <a:r>
              <a:rPr lang="ru-RU" dirty="0"/>
              <a:t> выполняет </a:t>
            </a:r>
            <a:r>
              <a:rPr lang="ru-RU" b="1" dirty="0"/>
              <a:t>побитовое отрицание</a:t>
            </a:r>
            <a:r>
              <a:rPr lang="ru-RU" dirty="0"/>
              <a:t>.</a:t>
            </a:r>
          </a:p>
          <a:p>
            <a:r>
              <a:rPr lang="ru-RU" dirty="0"/>
              <a:t>Каждый ноль превращается в единицу, а каждая единица — в ноль.</a:t>
            </a:r>
          </a:p>
          <a:p>
            <a:r>
              <a:rPr lang="ru-RU" dirty="0"/>
              <a:t>Этот оператор часто используется вместе с масками, когда нужно </a:t>
            </a:r>
            <a:r>
              <a:rPr lang="ru-RU" b="1" dirty="0"/>
              <a:t>очистить определённые биты</a:t>
            </a:r>
            <a:r>
              <a:rPr lang="ru-RU" dirty="0"/>
              <a:t>, оставив остальные без изменений.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289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Операции сдвига перемещают биты числа.</a:t>
            </a:r>
          </a:p>
          <a:p>
            <a:r>
              <a:rPr lang="ru-RU" dirty="0"/>
              <a:t>Сдвиг влево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dirty="0"/>
              <a:t> сдвигает биты на указанное количество позиций.</a:t>
            </a:r>
            <a:br>
              <a:rPr lang="ru-RU" dirty="0"/>
            </a:br>
            <a:r>
              <a:rPr lang="ru-RU" dirty="0"/>
              <a:t>Освободившиеся младшие биты заполняются нулями.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Часто сдвиг влево используется для формирования </a:t>
            </a:r>
            <a:r>
              <a:rPr lang="ru-RU" b="1" dirty="0"/>
              <a:t>битовых масок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&lt;&lt; k</a:t>
            </a:r>
          </a:p>
          <a:p>
            <a:r>
              <a:rPr lang="ru-RU" dirty="0"/>
              <a:t>создаёт число, в котором установлен только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ru-RU" dirty="0"/>
              <a:t>-й бит.</a:t>
            </a:r>
          </a:p>
          <a:p>
            <a:r>
              <a:rPr lang="ru-RU" dirty="0"/>
              <a:t>Сдвиг вправо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перемещает биты в противоположном направлении.</a:t>
            </a:r>
            <a:br>
              <a:rPr lang="ru-RU" dirty="0"/>
            </a:br>
            <a:r>
              <a:rPr lang="ru-RU" dirty="0"/>
              <a:t>Его поведение для знаковых типов может зависеть от реализации, поэтому в системном коде часто используют </a:t>
            </a:r>
            <a:r>
              <a:rPr lang="ru-RU" b="1" dirty="0"/>
              <a:t>беззнаковые типы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555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практике битовые операции почти всегда используются вместе с </a:t>
            </a:r>
            <a:r>
              <a:rPr lang="ru-RU" b="1" dirty="0"/>
              <a:t>битовыми масками</a:t>
            </a:r>
            <a:r>
              <a:rPr lang="ru-RU" dirty="0"/>
              <a:t>.</a:t>
            </a:r>
          </a:p>
          <a:p>
            <a:r>
              <a:rPr lang="ru-RU" dirty="0"/>
              <a:t>Маска — это число, в котором установлен один или несколько интересующих нас битов.</a:t>
            </a:r>
          </a:p>
          <a:p>
            <a:r>
              <a:rPr lang="ru-RU" dirty="0"/>
              <a:t>Например,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&lt;&lt; k</a:t>
            </a:r>
            <a:r>
              <a:rPr lang="ru-RU" dirty="0"/>
              <a:t> создаёт число, в котором установлен только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ru-RU" dirty="0"/>
              <a:t>-й бит.</a:t>
            </a:r>
          </a:p>
          <a:p>
            <a:r>
              <a:rPr lang="ru-RU" dirty="0"/>
              <a:t>С помощью таких масок можно: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проверять состояние бита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устанавливать бит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очищать бит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переключать его состояние</a:t>
            </a:r>
          </a:p>
          <a:p>
            <a:r>
              <a:rPr lang="ru-RU" dirty="0"/>
              <a:t>Эти операции постоянно используются в </a:t>
            </a:r>
            <a:r>
              <a:rPr lang="ru-RU" b="1" dirty="0"/>
              <a:t>системном программировании</a:t>
            </a:r>
            <a:r>
              <a:rPr lang="ru-RU" dirty="0"/>
              <a:t>, </a:t>
            </a:r>
            <a:r>
              <a:rPr lang="ru-RU" b="1" dirty="0" err="1"/>
              <a:t>embedded</a:t>
            </a:r>
            <a:r>
              <a:rPr lang="ru-RU" b="1" dirty="0"/>
              <a:t>-разработке</a:t>
            </a:r>
            <a:r>
              <a:rPr lang="ru-RU" dirty="0"/>
              <a:t>, а также при работе с </a:t>
            </a:r>
            <a:r>
              <a:rPr lang="ru-RU" b="1" dirty="0"/>
              <a:t>аппаратными регистрами устройств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525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пример простой программы, которая:</a:t>
            </a:r>
          </a:p>
          <a:p>
            <a:r>
              <a:rPr lang="ru-RU" b="1" dirty="0"/>
              <a:t>сжимает</a:t>
            </a:r>
            <a:r>
              <a:rPr lang="ru-RU" dirty="0"/>
              <a:t> 10 чисел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int8_t</a:t>
            </a:r>
            <a:r>
              <a:rPr lang="ru-RU" dirty="0"/>
              <a:t> из диапазона </a:t>
            </a:r>
            <a:r>
              <a:rPr lang="ru-RU" b="1" dirty="0"/>
              <a:t>[-8, 7]</a:t>
            </a:r>
            <a:endParaRPr lang="ru-RU" dirty="0"/>
          </a:p>
          <a:p>
            <a:r>
              <a:rPr lang="ru-RU" dirty="0"/>
              <a:t>упаковывает </a:t>
            </a:r>
            <a:r>
              <a:rPr lang="ru-RU" b="1" dirty="0"/>
              <a:t>по два числа в один байт</a:t>
            </a:r>
            <a:r>
              <a:rPr lang="ru-RU" dirty="0"/>
              <a:t> (каждое занимает 4 бита)</a:t>
            </a:r>
          </a:p>
          <a:p>
            <a:r>
              <a:rPr lang="ru-RU" dirty="0"/>
              <a:t>затем </a:t>
            </a:r>
            <a:r>
              <a:rPr lang="ru-RU" b="1" dirty="0"/>
              <a:t>распаковывает</a:t>
            </a:r>
            <a:r>
              <a:rPr lang="ru-RU" dirty="0"/>
              <a:t> их обратно.</a:t>
            </a:r>
          </a:p>
          <a:p>
            <a:r>
              <a:rPr lang="ru-RU" dirty="0"/>
              <a:t>Идея такая:</a:t>
            </a:r>
          </a:p>
          <a:p>
            <a:r>
              <a:rPr lang="ru-RU" dirty="0"/>
              <a:t>диапазон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[-8,7]</a:t>
            </a:r>
            <a:r>
              <a:rPr lang="ru-RU" dirty="0"/>
              <a:t> помещается в </a:t>
            </a:r>
            <a:r>
              <a:rPr lang="ru-RU" b="1" dirty="0"/>
              <a:t>4 бита</a:t>
            </a:r>
            <a:endParaRPr lang="ru-RU" dirty="0"/>
          </a:p>
          <a:p>
            <a:r>
              <a:rPr lang="ru-RU" dirty="0"/>
              <a:t>перед упаковкой смещаем число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+8</a:t>
            </a:r>
            <a:r>
              <a:rPr lang="ru-RU" dirty="0"/>
              <a:t>, чтобы получить диапазон </a:t>
            </a:r>
            <a:r>
              <a:rPr lang="ru-RU" b="1" dirty="0"/>
              <a:t>[0,15]</a:t>
            </a:r>
            <a:endParaRPr lang="ru-RU" dirty="0"/>
          </a:p>
          <a:p>
            <a:r>
              <a:rPr lang="ru-RU" dirty="0"/>
              <a:t>два таких значения помещаются в </a:t>
            </a:r>
            <a:r>
              <a:rPr lang="ru-RU" b="1" dirty="0"/>
              <a:t>один байт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748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616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63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 многих программах встречаются переменные, которые могут принимать </a:t>
            </a:r>
            <a:r>
              <a:rPr lang="ru-RU" b="1" dirty="0"/>
              <a:t>одно из нескольких фиксированных значений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Например, переменная может хранить состояние устройства или программы.</a:t>
            </a:r>
          </a:p>
          <a:p>
            <a:endParaRPr lang="ru-RU" dirty="0"/>
          </a:p>
          <a:p>
            <a:r>
              <a:rPr lang="ru-RU" dirty="0"/>
              <a:t>Можно было бы использовать обычные числа: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2;</a:t>
            </a:r>
          </a:p>
          <a:p>
            <a:r>
              <a:rPr lang="ru-RU" dirty="0"/>
              <a:t>Но такой код плохо читается. Если мы посмотрим на него через некоторое время, будет совершенно непонятно, что означает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Конечно, можно договориться,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означает состояние ожидания,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 — работу,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dirty="0"/>
              <a:t> — ошибку. Но такая информация нигде явно не записана в программе.</a:t>
            </a:r>
          </a:p>
          <a:p>
            <a:endParaRPr lang="ru-RU" dirty="0"/>
          </a:p>
          <a:p>
            <a:r>
              <a:rPr lang="ru-RU" dirty="0"/>
              <a:t>В результате код становится </a:t>
            </a:r>
            <a:r>
              <a:rPr lang="ru-RU" b="1" dirty="0"/>
              <a:t>сложнее читать и поддерживать</a:t>
            </a:r>
            <a:r>
              <a:rPr lang="ru-RU" dirty="0"/>
              <a:t>, а вероятность ошибок увеличивается.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009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решения этой проблемы язык C предоставляет конструкцию, которая называется </a:t>
            </a:r>
            <a:r>
              <a:rPr lang="ru-RU" b="1" dirty="0"/>
              <a:t>перечислимый тип</a:t>
            </a:r>
            <a:r>
              <a:rPr lang="ru-RU" dirty="0"/>
              <a:t>,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Она позволяет объявить тип, который может принимать </a:t>
            </a:r>
            <a:r>
              <a:rPr lang="ru-RU" b="1" dirty="0"/>
              <a:t>одно из заранее перечисленных значений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этом примере мы объявляем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dirty="0"/>
              <a:t>, который описывает возможные состояния программы.</a:t>
            </a:r>
          </a:p>
          <a:p>
            <a:endParaRPr lang="ru-RU" dirty="0"/>
          </a:p>
          <a:p>
            <a:r>
              <a:rPr lang="ru-RU" dirty="0"/>
              <a:t>Теперь вместо непонятного числа можно написать: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State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RUNNING;</a:t>
            </a:r>
          </a:p>
          <a:p>
            <a:r>
              <a:rPr lang="ru-RU" dirty="0"/>
              <a:t>Такой код читается гораздо легче, потому что значение переменной теперь имеет </a:t>
            </a:r>
            <a:r>
              <a:rPr lang="ru-RU" b="1" dirty="0"/>
              <a:t>осмысленное имя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621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не создаёт какой-то новый способ хранения данных в памяти.</a:t>
            </a:r>
          </a:p>
          <a:p>
            <a:r>
              <a:rPr lang="ru-RU" dirty="0"/>
              <a:t>На самом деле значения перечисления — это </a:t>
            </a:r>
            <a:r>
              <a:rPr lang="ru-RU" b="1" dirty="0"/>
              <a:t>обычные целые числа</a:t>
            </a:r>
            <a:r>
              <a:rPr lang="ru-RU" dirty="0"/>
              <a:t>, просто у них есть удобные имена.</a:t>
            </a:r>
          </a:p>
          <a:p>
            <a:r>
              <a:rPr lang="ru-RU" dirty="0"/>
              <a:t>Если значения не заданы явно, компилятор присваивает им числа автоматически, начиная с нуля.</a:t>
            </a:r>
          </a:p>
          <a:p>
            <a:r>
              <a:rPr lang="ru-RU" dirty="0"/>
              <a:t>То есть в нашем примере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IDLE</a:t>
            </a:r>
            <a:r>
              <a:rPr lang="ru-RU" dirty="0"/>
              <a:t> будет равно 0,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</a:t>
            </a:r>
            <a:r>
              <a:rPr lang="ru-RU" dirty="0"/>
              <a:t> — 1,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 — 2.</a:t>
            </a:r>
          </a:p>
          <a:p>
            <a:r>
              <a:rPr lang="ru-RU" dirty="0"/>
              <a:t>При необходимости значения можно задавать явно. Это часто делают для кодов ошибок или сетевых протоколов.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— это удобный способ дать </a:t>
            </a:r>
            <a:r>
              <a:rPr lang="ru-RU" b="1" dirty="0"/>
              <a:t>осмысленные имена целочисленным значениям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464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Поскольку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фактически является целым числом, его можно использовать так же, как и обычные целые значения.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значения перечисления можно сравнивать, передавать в функции или использовать в операторе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ru-RU" dirty="0"/>
              <a:t> особенно удобен для работы с перечислениями, потому что он позволяет явно обработать все возможные варианты.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стиль часто используется в программах, которые работают как </a:t>
            </a:r>
            <a:r>
              <a:rPr lang="ru-RU" b="1" dirty="0"/>
              <a:t>автоматы состояний</a:t>
            </a:r>
            <a:r>
              <a:rPr lang="ru-RU" dirty="0"/>
              <a:t>, где система может находиться в одном из нескольких состояний.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170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конструкции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есть одна особенность синтаксиса: если объявить перечисление обычным способом, то при использовании типа каждый раз нужно писать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.</a:t>
            </a:r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State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RUNNING;</a:t>
            </a:r>
          </a:p>
          <a:p>
            <a:r>
              <a:rPr lang="ru-RU" dirty="0"/>
              <a:t>Это корректно, но выглядит немного громоздко.</a:t>
            </a:r>
          </a:p>
          <a:p>
            <a:r>
              <a:rPr lang="ru-RU" dirty="0"/>
              <a:t>Поэтому на практике часто используют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, чтобы создать короткое имя типа.</a:t>
            </a:r>
          </a:p>
          <a:p>
            <a:r>
              <a:rPr lang="ru-RU" dirty="0"/>
              <a:t>В этом случае объявление выглядит так: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IDLE,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RUNNING,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ERROR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State;</a:t>
            </a:r>
          </a:p>
          <a:p>
            <a:r>
              <a:rPr lang="ru-RU" dirty="0"/>
              <a:t>Теперь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dirty="0"/>
              <a:t> становится полноценным именем типа, и переменные можно объявлять проще: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RUNNING;</a:t>
            </a:r>
          </a:p>
          <a:p>
            <a:r>
              <a:rPr lang="ru-RU" dirty="0"/>
              <a:t>Это тот же приём, который мы уже использовали ранее для структур. Он делает код </a:t>
            </a:r>
            <a:r>
              <a:rPr lang="ru-RU" b="1" dirty="0"/>
              <a:t>короче и удобнее для чтения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173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этой программе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используется для описания </a:t>
            </a:r>
            <a:r>
              <a:rPr lang="ru-RU" b="1" dirty="0"/>
              <a:t>состояния автомата</a:t>
            </a:r>
            <a:r>
              <a:rPr lang="ru-RU" dirty="0"/>
              <a:t>, который разбирает входной поток символов.</a:t>
            </a:r>
          </a:p>
          <a:p>
            <a:endParaRPr lang="ru-RU" dirty="0"/>
          </a:p>
          <a:p>
            <a:r>
              <a:rPr lang="ru-RU" dirty="0"/>
              <a:t>Перечисление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dirty="0"/>
              <a:t> задаёт четыре возможных состояния:</a:t>
            </a:r>
            <a:br>
              <a:rPr lang="ru-RU" dirty="0"/>
            </a:br>
            <a:r>
              <a:rPr lang="ru-RU" dirty="0"/>
              <a:t>между словами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STATE_SPACE</a:t>
            </a:r>
            <a:r>
              <a:rPr lang="ru-RU" dirty="0"/>
              <a:t>), чтение слова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STATE_WORD</a:t>
            </a:r>
            <a:r>
              <a:rPr lang="ru-RU" dirty="0"/>
              <a:t>), чтение числа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STATE_NUMBER</a:t>
            </a:r>
            <a:r>
              <a:rPr lang="ru-RU" dirty="0"/>
              <a:t>) и состояние ошибки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STATE_ERROR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dirty="0"/>
              <a:t> хранит текущее состояние парсера. В зависимости от того, какой символ мы прочитали и в каком состоянии находимся, программа принимает решение — продолжать текущую последовательность, перейти в другое состояние или зафиксировать слово, число или ошибку.</a:t>
            </a:r>
          </a:p>
          <a:p>
            <a:endParaRPr lang="ru-RU" dirty="0"/>
          </a:p>
          <a:p>
            <a:r>
              <a:rPr lang="ru-RU" dirty="0"/>
              <a:t>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здесь делает код намного понятнее. Вместо непонятных числовых кодов, таких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dirty="0"/>
              <a:t>, мы работаем с осмысленными именами состояний. Благодаря этому легче читать программу и понимать логику переходов между состояниями.</a:t>
            </a:r>
          </a:p>
          <a:p>
            <a:endParaRPr lang="ru-RU" dirty="0"/>
          </a:p>
          <a:p>
            <a:r>
              <a:rPr lang="ru-RU" dirty="0"/>
              <a:t>Такая модель называется </a:t>
            </a:r>
            <a:r>
              <a:rPr lang="ru-RU" b="1" dirty="0"/>
              <a:t>машиной состояний</a:t>
            </a:r>
            <a:r>
              <a:rPr lang="ru-RU" dirty="0"/>
              <a:t>. Она часто используется в программировании — например, при разборе текстов, обработке сетевых протоколов или управлении устройствами.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287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начале лекции мы говорили о том, что память компьютера можно представить как большой массив байтов. В этой памяти хранятся только биты — нули и единицы.</a:t>
            </a:r>
          </a:p>
          <a:p>
            <a:endParaRPr lang="ru-RU" dirty="0"/>
          </a:p>
          <a:p>
            <a:r>
              <a:rPr lang="ru-RU" dirty="0"/>
              <a:t>Тип данных в языке C определяет две важные вещи.</a:t>
            </a:r>
            <a:br>
              <a:rPr lang="ru-RU" dirty="0"/>
            </a:br>
            <a:r>
              <a:rPr lang="ru-RU" dirty="0"/>
              <a:t>Во-первых, </a:t>
            </a:r>
            <a:r>
              <a:rPr lang="ru-RU" b="1" dirty="0"/>
              <a:t>сколько памяти нужно выделить</a:t>
            </a:r>
            <a:r>
              <a:rPr lang="ru-RU" dirty="0"/>
              <a:t> для хранения значения.</a:t>
            </a:r>
            <a:br>
              <a:rPr lang="ru-RU" dirty="0"/>
            </a:br>
            <a:r>
              <a:rPr lang="ru-RU" dirty="0"/>
              <a:t>Во-вторых, </a:t>
            </a:r>
            <a:r>
              <a:rPr lang="ru-RU" b="1" dirty="0"/>
              <a:t>как интерпретировать эти биты</a:t>
            </a:r>
            <a:r>
              <a:rPr lang="ru-RU" dirty="0"/>
              <a:t> как число или другой тип данных.</a:t>
            </a:r>
          </a:p>
          <a:p>
            <a:r>
              <a:rPr lang="ru-RU" dirty="0"/>
              <a:t>Из этого следует первая ключевая идея лекции:</a:t>
            </a:r>
            <a:br>
              <a:rPr lang="ru-RU" dirty="0"/>
            </a:br>
            <a:r>
              <a:rPr lang="ru-RU" b="1" dirty="0"/>
              <a:t>тип данных определяет представление значения в памяти.</a:t>
            </a:r>
          </a:p>
          <a:p>
            <a:endParaRPr lang="ru-RU" dirty="0"/>
          </a:p>
          <a:p>
            <a:r>
              <a:rPr lang="ru-RU" dirty="0"/>
              <a:t>Мы увидели, что диапазон значений целого числа определяется количеством бит, которые используются для его хранения.</a:t>
            </a:r>
          </a:p>
          <a:p>
            <a:endParaRPr lang="ru-RU" dirty="0"/>
          </a:p>
          <a:p>
            <a:r>
              <a:rPr lang="ru-RU" dirty="0"/>
              <a:t>Также мы познакомились с тем, как представляются отрицательные числа — через </a:t>
            </a:r>
            <a:r>
              <a:rPr lang="ru-RU" b="1" dirty="0"/>
              <a:t>дополнительный код</a:t>
            </a:r>
            <a:r>
              <a:rPr lang="ru-RU" dirty="0"/>
              <a:t>, и обсудили, как </a:t>
            </a:r>
            <a:r>
              <a:rPr lang="ru-RU" dirty="0" err="1"/>
              <a:t>многобайтовые</a:t>
            </a:r>
            <a:r>
              <a:rPr lang="ru-RU" dirty="0"/>
              <a:t> значения располагаются в памяти на архитектурах </a:t>
            </a:r>
            <a:r>
              <a:rPr lang="ru-RU" b="1" dirty="0" err="1"/>
              <a:t>little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b="1" dirty="0"/>
              <a:t> и </a:t>
            </a:r>
            <a:r>
              <a:rPr lang="ru-RU" b="1" dirty="0" err="1"/>
              <a:t>big</a:t>
            </a:r>
            <a:r>
              <a:rPr lang="ru-RU" b="1" dirty="0"/>
              <a:t> </a:t>
            </a:r>
            <a:r>
              <a:rPr lang="ru-RU" b="1" dirty="0" err="1"/>
              <a:t>endian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мы посмотрели на числа как на </a:t>
            </a:r>
            <a:r>
              <a:rPr lang="ru-RU" b="1" dirty="0"/>
              <a:t>наборы битов</a:t>
            </a:r>
            <a:r>
              <a:rPr lang="ru-RU" dirty="0"/>
              <a:t> и научились работать с ними с помощью битовых операций.</a:t>
            </a:r>
          </a:p>
          <a:p>
            <a:endParaRPr lang="ru-RU" dirty="0"/>
          </a:p>
          <a:p>
            <a:r>
              <a:rPr lang="ru-RU" dirty="0"/>
              <a:t>Наконец, мы рассмотрели перечислимые типы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, которые позволяют давать </a:t>
            </a:r>
            <a:r>
              <a:rPr lang="ru-RU" b="1" dirty="0"/>
              <a:t>осмысленные имена целочисленным значениям</a:t>
            </a:r>
            <a:r>
              <a:rPr lang="ru-RU" dirty="0"/>
              <a:t> и делают программу более понятной.</a:t>
            </a:r>
          </a:p>
          <a:p>
            <a:endParaRPr lang="ru-RU" dirty="0"/>
          </a:p>
          <a:p>
            <a:r>
              <a:rPr lang="ru-RU" dirty="0"/>
              <a:t>Вторая важная идея заключается в том, что </a:t>
            </a:r>
            <a:r>
              <a:rPr lang="ru-RU" b="1" dirty="0"/>
              <a:t>система типов языка C тесно связана с архитектурой компьютера</a:t>
            </a:r>
            <a:r>
              <a:rPr lang="ru-RU" dirty="0"/>
              <a:t>. Ограничения памяти, регистров и шин данных приводят к тому, что данные имеют фиксированные размеры, а значит и диапазоны значений.</a:t>
            </a:r>
          </a:p>
          <a:p>
            <a:endParaRPr lang="ru-RU" dirty="0"/>
          </a:p>
          <a:p>
            <a:r>
              <a:rPr lang="ru-RU" dirty="0"/>
              <a:t>Именно поэтому при программировании на C программист находится довольно близко к реальному представлению данных в памяти компьютера. Понимание этого особенно важно в системном программировании, работе с аппаратурой и при оптимизации программ.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B5EF7-78AD-4515-B73F-46FC73F0270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91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3714-68CB-F080-A48A-FEE4A91C6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BA79C-7824-AA07-DEA7-1B15C194D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EF414-DE0D-2F3E-82FB-C56B1455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2405-B32B-4F51-B8CC-C5362F1996B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A577B-BA74-C6B6-A268-F6900AC9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FE9A-E7F6-3D5B-0C62-83DEEE8C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0162-6264-6124-66C4-547E498C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62CDA-3203-816B-D40F-79C54C2B1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99B0C-E9D9-5A52-3607-1BA9069A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260AD-6181-4023-9A35-31303635D426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850F-0D9D-9B2B-4355-E18F7DF1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B664-6078-FB95-09B4-84E1D5D4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5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319F-392D-B658-BB73-D42A23D3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D034A-FDB8-6682-3583-B631F22D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8A46F-65AD-62F0-B3B3-33B82AC0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151CB-A59B-41CB-9A05-BCAACCBCA451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2CB0-07F2-372B-48CA-D92D8FB9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1A179-9DB3-9BE4-B9DE-C484B080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70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DDF7-EAB4-5044-89D0-47152CFB7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31EF3-26DA-5A26-4719-8CE5709C5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97686-8392-E3E9-FA68-5FE9B61BC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CB201-FA89-D896-6FBA-44CB827C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03C8-029D-49C4-9C2D-B54B85448CCA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B651E-E97C-BA09-D90A-92248658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3042-0EB1-F87A-44CB-9C4541D5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82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422E-2166-1B69-3B9C-7787BB653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C3644-3EC3-3945-6097-8594AEE4E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46FCA-0B0D-1AE6-026A-71CDFB498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40B0A-B98A-2CCA-E334-44E040559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759B6-AF4C-CD65-151F-E4FD7EBAD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D3EDA1-AE59-653C-83E0-181D927EC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2E06-913C-44CC-85D3-DA090C20C3A1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6568E-3C8B-F60A-ECB7-C3A7E704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2BA37-89A9-3D02-E589-394269E1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0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B8AA-61C4-179C-2A11-BC7FC679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2411E-FAF6-80DE-9B91-3A887EEB1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4247-E10A-46B6-8689-FE643A944BE3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EE319-4325-F66A-DC49-8FAE39C8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414015-1B92-7BEA-570F-8E15AB9FB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7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307F5-DE21-D3BE-D92E-1335D7D8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E8B5-16F3-4976-BC2D-29AF6035A41C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DFFE9-96AD-179D-0286-1A01FBBA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FB2D-C441-FF68-FB63-0C036DEC9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57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CB4D-5CD2-06A7-A20C-D45F2F15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3D87D-06DA-ED1E-2874-830869D31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B0A18-9E5B-56BF-0F52-CCEA26773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D0CC2-7E13-DFF9-8197-5E468442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AFF7-0534-4DC1-9836-C2F3B9D87379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8DBD9-9963-4E7F-A178-4DEDEFEBD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1D092-BBDA-5F8C-6D7E-CA845F9A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9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35A9-C2BB-733B-83F2-0C28B6D7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D27A1F-FB46-746C-C892-A8468AEFA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818D6-CA9E-53F4-23BC-011F9BF08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3AA0D-5801-1BC9-5A86-5ED955E1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B9BA-6869-4164-A14D-52C01BDD0770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02964-5337-6ED8-17AF-F09A0524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3F2BA-8F45-8D8A-3CA7-4A861E83F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4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B263-18A8-FD53-AD3A-40F290D9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84E52-D2FC-F47F-DEA8-74E52113E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8EE-019E-6913-E1DA-C62D51FE4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03ABC-638D-4707-B9DA-2C39EF366372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5FAAA-EEB0-EC1C-4632-B8E13026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0B433-22BA-EDA6-782E-AEA8EE1A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1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1028F-F097-ECD7-6035-014194D54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F99CB-E118-B30D-9F69-B2E8B852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55B7-2DF6-C1F5-25A5-4AB41614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189FE-4814-44E9-B5D4-F89D8B1505CF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4A1AB-8722-FBB0-FDE0-F9EDDB7E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6BF00-302B-9FC2-C706-81598A96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4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5F2A0-4C6F-A43C-95AA-B4318615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83CD3-5320-EF31-C374-B6C71440B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2A1E6-4F9E-5380-B375-6C2F7D42B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5AB9A-D7CE-40CA-93A6-A44ED0BCB7D2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35B44-BA78-BA96-117B-023C56B19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E6CF2-2134-627C-5830-0D209DF42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03D0C-4E34-44CA-91CA-248E6D9AA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5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5G4MMW1q3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/types/integer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Yzdbxxeno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rWencPj38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8rz9cbzb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22DC-6013-257D-DB46-29526A48C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Типы данных и их представление в памяти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65BB9-7D7A-5B91-B13A-0D3B04E86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75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0292-A4DF-777A-DFCC-E26AB851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программа хранит данные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7C675-2709-99B9-2D0B-5A1718F91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0047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Во время выполнения программа хранит данные:</a:t>
            </a:r>
          </a:p>
          <a:p>
            <a:pPr lvl="1"/>
            <a:r>
              <a:rPr lang="ru-RU" dirty="0"/>
              <a:t>в регистрах процессора</a:t>
            </a:r>
          </a:p>
          <a:p>
            <a:pPr lvl="1"/>
            <a:r>
              <a:rPr lang="ru-RU" dirty="0"/>
              <a:t>в оперативной памяти</a:t>
            </a:r>
          </a:p>
          <a:p>
            <a:r>
              <a:rPr lang="ru-RU" dirty="0"/>
              <a:t>Регистры – очень быстрые ячейки памяти внутри процессора, но их мало</a:t>
            </a:r>
          </a:p>
          <a:p>
            <a:r>
              <a:rPr lang="ru-RU" dirty="0"/>
              <a:t>Оперативную память – большой массив байтов</a:t>
            </a:r>
          </a:p>
          <a:p>
            <a:pPr lvl="1"/>
            <a:r>
              <a:rPr lang="ru-RU" dirty="0"/>
              <a:t>Адрес      Содержимое</a:t>
            </a:r>
            <a:endParaRPr lang="en-US" dirty="0"/>
          </a:p>
          <a:p>
            <a:pPr lvl="2"/>
            <a:r>
              <a:rPr lang="ru-RU" dirty="0">
                <a:latin typeface="Consolas" panose="020B0609020204030204" pitchFamily="49" charset="0"/>
              </a:rPr>
              <a:t>1000       3A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1001       7F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1002       12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1003       00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…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Каждая ячейка памяти:</a:t>
            </a:r>
          </a:p>
          <a:p>
            <a:pPr lvl="1"/>
            <a:r>
              <a:rPr lang="ru-RU" dirty="0"/>
              <a:t>имеет адрес</a:t>
            </a:r>
          </a:p>
          <a:p>
            <a:pPr lvl="1"/>
            <a:r>
              <a:rPr lang="ru-RU" dirty="0"/>
              <a:t>хранит 1 байт данных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CA18E-5B94-7E20-C6B3-983E912F4DD6}"/>
              </a:ext>
            </a:extLst>
          </p:cNvPr>
          <p:cNvSpPr/>
          <p:nvPr/>
        </p:nvSpPr>
        <p:spPr>
          <a:xfrm>
            <a:off x="6949440" y="1825625"/>
            <a:ext cx="4089862" cy="28732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/>
              <a:t>Процессор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7091D2-F52C-5B06-15C7-C7871B4E5DD3}"/>
              </a:ext>
            </a:extLst>
          </p:cNvPr>
          <p:cNvSpPr/>
          <p:nvPr/>
        </p:nvSpPr>
        <p:spPr>
          <a:xfrm>
            <a:off x="7331826" y="2368506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5282A7-6937-B459-13D8-F2919FF445C4}"/>
              </a:ext>
            </a:extLst>
          </p:cNvPr>
          <p:cNvSpPr/>
          <p:nvPr/>
        </p:nvSpPr>
        <p:spPr>
          <a:xfrm>
            <a:off x="8225675" y="2368506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D8EDF-64D0-8FDA-94B1-F5A0DBA6BB4B}"/>
              </a:ext>
            </a:extLst>
          </p:cNvPr>
          <p:cNvSpPr/>
          <p:nvPr/>
        </p:nvSpPr>
        <p:spPr>
          <a:xfrm>
            <a:off x="9119524" y="2368506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RCX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709AA5-EB72-09AD-19CE-732CF339B459}"/>
              </a:ext>
            </a:extLst>
          </p:cNvPr>
          <p:cNvSpPr/>
          <p:nvPr/>
        </p:nvSpPr>
        <p:spPr>
          <a:xfrm>
            <a:off x="10079413" y="2368505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E97D2-C5C3-F9A8-27FF-1EECC4596F7F}"/>
              </a:ext>
            </a:extLst>
          </p:cNvPr>
          <p:cNvSpPr/>
          <p:nvPr/>
        </p:nvSpPr>
        <p:spPr>
          <a:xfrm>
            <a:off x="7331826" y="2938374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342FB-BEB7-9697-237F-FFF812A40425}"/>
              </a:ext>
            </a:extLst>
          </p:cNvPr>
          <p:cNvSpPr/>
          <p:nvPr/>
        </p:nvSpPr>
        <p:spPr>
          <a:xfrm>
            <a:off x="8238375" y="2938374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88EE36-6094-AD7A-E1E1-FBDFDB4896B5}"/>
              </a:ext>
            </a:extLst>
          </p:cNvPr>
          <p:cNvSpPr/>
          <p:nvPr/>
        </p:nvSpPr>
        <p:spPr>
          <a:xfrm>
            <a:off x="9119524" y="2938374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RSP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EBA87B-4953-4CC7-BBBA-F9FE5467BED7}"/>
              </a:ext>
            </a:extLst>
          </p:cNvPr>
          <p:cNvSpPr/>
          <p:nvPr/>
        </p:nvSpPr>
        <p:spPr>
          <a:xfrm>
            <a:off x="10079413" y="2962142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0666AE-62EE-D999-3C37-3F564038EC1F}"/>
              </a:ext>
            </a:extLst>
          </p:cNvPr>
          <p:cNvSpPr/>
          <p:nvPr/>
        </p:nvSpPr>
        <p:spPr>
          <a:xfrm>
            <a:off x="7336213" y="3508242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6596F7-62DE-3D47-E2FF-21B6CFE24D80}"/>
              </a:ext>
            </a:extLst>
          </p:cNvPr>
          <p:cNvSpPr/>
          <p:nvPr/>
        </p:nvSpPr>
        <p:spPr>
          <a:xfrm>
            <a:off x="8238375" y="3508241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0D34B9-6FAC-CFCA-CD14-42ADF30A7126}"/>
              </a:ext>
            </a:extLst>
          </p:cNvPr>
          <p:cNvSpPr/>
          <p:nvPr/>
        </p:nvSpPr>
        <p:spPr>
          <a:xfrm>
            <a:off x="9140537" y="3508240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30F60-E782-1D8D-9C69-2A03E6B105E0}"/>
              </a:ext>
            </a:extLst>
          </p:cNvPr>
          <p:cNvSpPr/>
          <p:nvPr/>
        </p:nvSpPr>
        <p:spPr>
          <a:xfrm>
            <a:off x="10042699" y="3508239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F407FC-40EC-DED6-6702-6624910FA851}"/>
              </a:ext>
            </a:extLst>
          </p:cNvPr>
          <p:cNvSpPr/>
          <p:nvPr/>
        </p:nvSpPr>
        <p:spPr>
          <a:xfrm>
            <a:off x="7331826" y="4013270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ADDA85-2B2A-CFD8-06C6-C5CB092ECCA4}"/>
              </a:ext>
            </a:extLst>
          </p:cNvPr>
          <p:cNvSpPr/>
          <p:nvPr/>
        </p:nvSpPr>
        <p:spPr>
          <a:xfrm>
            <a:off x="8238375" y="4013270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C46F75-E529-554E-119F-B5F355541782}"/>
              </a:ext>
            </a:extLst>
          </p:cNvPr>
          <p:cNvSpPr/>
          <p:nvPr/>
        </p:nvSpPr>
        <p:spPr>
          <a:xfrm>
            <a:off x="9144924" y="4013270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72F4BA-46D7-44AA-FE84-AC0B52E7EC0A}"/>
              </a:ext>
            </a:extLst>
          </p:cNvPr>
          <p:cNvSpPr/>
          <p:nvPr/>
        </p:nvSpPr>
        <p:spPr>
          <a:xfrm>
            <a:off x="10051473" y="4013270"/>
            <a:ext cx="768696" cy="412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9FA67A-A6D0-5B06-45D2-C08B889B7AC6}"/>
              </a:ext>
            </a:extLst>
          </p:cNvPr>
          <p:cNvSpPr/>
          <p:nvPr/>
        </p:nvSpPr>
        <p:spPr>
          <a:xfrm>
            <a:off x="6949440" y="5337334"/>
            <a:ext cx="4089862" cy="11838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/>
              <a:t>Оперативная память</a:t>
            </a:r>
            <a:endParaRPr lang="en-US" dirty="0"/>
          </a:p>
        </p:txBody>
      </p:sp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707D3E8D-9721-4BFD-FEF1-0F06CF7502A9}"/>
              </a:ext>
            </a:extLst>
          </p:cNvPr>
          <p:cNvSpPr/>
          <p:nvPr/>
        </p:nvSpPr>
        <p:spPr>
          <a:xfrm>
            <a:off x="8761615" y="4698841"/>
            <a:ext cx="569190" cy="662261"/>
          </a:xfrm>
          <a:prstGeom prst="upDownArrow">
            <a:avLst>
              <a:gd name="adj1" fmla="val 37023"/>
              <a:gd name="adj2" fmla="val 369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C3A5D5-106F-2F4A-8ACE-04E3AA7E5689}"/>
              </a:ext>
            </a:extLst>
          </p:cNvPr>
          <p:cNvSpPr/>
          <p:nvPr/>
        </p:nvSpPr>
        <p:spPr>
          <a:xfrm>
            <a:off x="7331826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149C55-867E-892C-76B7-A79AB71B2B6C}"/>
              </a:ext>
            </a:extLst>
          </p:cNvPr>
          <p:cNvSpPr/>
          <p:nvPr/>
        </p:nvSpPr>
        <p:spPr>
          <a:xfrm>
            <a:off x="7734763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7347F7-5DFE-D797-44C8-7C480B9BF1E0}"/>
              </a:ext>
            </a:extLst>
          </p:cNvPr>
          <p:cNvSpPr/>
          <p:nvPr/>
        </p:nvSpPr>
        <p:spPr>
          <a:xfrm>
            <a:off x="8137700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6C92DD-2F74-FF03-F06E-96189385A2E8}"/>
              </a:ext>
            </a:extLst>
          </p:cNvPr>
          <p:cNvSpPr/>
          <p:nvPr/>
        </p:nvSpPr>
        <p:spPr>
          <a:xfrm>
            <a:off x="8540637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F1F412-F45E-7234-6FA0-B03EC81D5F54}"/>
              </a:ext>
            </a:extLst>
          </p:cNvPr>
          <p:cNvSpPr/>
          <p:nvPr/>
        </p:nvSpPr>
        <p:spPr>
          <a:xfrm>
            <a:off x="8943574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8A88AE-778E-35C3-CA83-39FA91DD11FF}"/>
              </a:ext>
            </a:extLst>
          </p:cNvPr>
          <p:cNvSpPr/>
          <p:nvPr/>
        </p:nvSpPr>
        <p:spPr>
          <a:xfrm>
            <a:off x="9346511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7228D2-C7B7-4776-9B55-22FC5AC6FBD9}"/>
              </a:ext>
            </a:extLst>
          </p:cNvPr>
          <p:cNvSpPr/>
          <p:nvPr/>
        </p:nvSpPr>
        <p:spPr>
          <a:xfrm>
            <a:off x="9749448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F9AC3C-2AD8-F65A-1BF3-8AE689EECB01}"/>
              </a:ext>
            </a:extLst>
          </p:cNvPr>
          <p:cNvSpPr/>
          <p:nvPr/>
        </p:nvSpPr>
        <p:spPr>
          <a:xfrm>
            <a:off x="10152385" y="6018415"/>
            <a:ext cx="365759" cy="363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D3917802-6CCE-4010-5277-505D594B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8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BCD84-FBB9-7C6F-4E5D-406AD8F6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Прямая работа с адресами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E72-6F9B-39A0-7517-1E6AFAD9C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Теоретически программа могла бы работать так:</a:t>
            </a:r>
          </a:p>
          <a:p>
            <a:pPr lvl="1"/>
            <a:r>
              <a:rPr lang="ru-RU" dirty="0"/>
              <a:t>записать 10 по адресу 1000</a:t>
            </a:r>
          </a:p>
          <a:p>
            <a:pPr lvl="1"/>
            <a:r>
              <a:rPr lang="ru-RU" dirty="0"/>
              <a:t>записать 20 по адресу 1004</a:t>
            </a:r>
          </a:p>
          <a:p>
            <a:pPr lvl="1"/>
            <a:r>
              <a:rPr lang="ru-RU" dirty="0"/>
              <a:t>прочитать значение из 1000</a:t>
            </a:r>
          </a:p>
          <a:p>
            <a:r>
              <a:rPr lang="ru-RU" dirty="0"/>
              <a:t>Исторически так и работали первые программы.</a:t>
            </a:r>
          </a:p>
          <a:p>
            <a:r>
              <a:rPr lang="ru-RU" dirty="0"/>
              <a:t>Программист должен был:</a:t>
            </a:r>
          </a:p>
          <a:p>
            <a:pPr lvl="1"/>
            <a:r>
              <a:rPr lang="ru-RU" dirty="0"/>
              <a:t>выбирать адреса</a:t>
            </a:r>
          </a:p>
          <a:p>
            <a:pPr lvl="1"/>
            <a:r>
              <a:rPr lang="ru-RU" dirty="0"/>
              <a:t>следить, чтобы данные не пересекались</a:t>
            </a:r>
          </a:p>
          <a:p>
            <a:pPr lvl="1"/>
            <a:r>
              <a:rPr lang="ru-RU" dirty="0"/>
              <a:t>помнить, где что хранится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64B9C-2C5A-5BB6-E660-0E182952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3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F2A2-478D-B82C-70AF-A93FFE81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Время жизни переменных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A8D46-BBD3-9632-FD61-C6789F49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современных языках мы пишем:</a:t>
            </a:r>
          </a:p>
          <a:p>
            <a:pPr marL="457200" lvl="1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void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foo</a:t>
            </a:r>
            <a:r>
              <a:rPr lang="ru-RU" dirty="0">
                <a:latin typeface="Consolas" panose="020B0609020204030204" pitchFamily="49" charset="0"/>
              </a:rPr>
              <a:t>()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x = 10;</a:t>
            </a:r>
          </a:p>
          <a:p>
            <a:pPr marL="4572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    …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Переменная x:</a:t>
            </a:r>
          </a:p>
          <a:p>
            <a:pPr lvl="1"/>
            <a:r>
              <a:rPr lang="ru-RU" dirty="0"/>
              <a:t>появляется при входе в функцию</a:t>
            </a:r>
          </a:p>
          <a:p>
            <a:pPr lvl="1"/>
            <a:r>
              <a:rPr lang="ru-RU" dirty="0"/>
              <a:t>исчезает при выходе из функции</a:t>
            </a:r>
          </a:p>
          <a:p>
            <a:r>
              <a:rPr lang="ru-RU" dirty="0"/>
              <a:t>Мы </a:t>
            </a:r>
            <a:r>
              <a:rPr lang="ru-RU" b="1" dirty="0"/>
              <a:t>не управляем её адресом</a:t>
            </a:r>
            <a:r>
              <a:rPr lang="ru-RU" dirty="0"/>
              <a:t>. Этим занимается компилятор и система выполнения программы.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A6BAD-A7A9-7761-E682-E9A769CD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1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7BEC-98FA-6310-65D7-07152ADA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интерпретации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149C4-6A85-1A96-A5FB-7D3DD766D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Память хранит </a:t>
            </a:r>
            <a:r>
              <a:rPr lang="ru-RU" b="1" dirty="0"/>
              <a:t>байты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Но программе нужны </a:t>
            </a:r>
            <a:r>
              <a:rPr lang="ru-RU" b="1" dirty="0"/>
              <a:t>значения</a:t>
            </a:r>
            <a:r>
              <a:rPr lang="ru-RU" dirty="0"/>
              <a:t>. </a:t>
            </a:r>
            <a:endParaRPr lang="en-US" dirty="0"/>
          </a:p>
          <a:p>
            <a:r>
              <a:rPr lang="ru-RU" dirty="0"/>
              <a:t>Что означает число 0</a:t>
            </a:r>
            <a:r>
              <a:rPr lang="en-US" dirty="0"/>
              <a:t>b</a:t>
            </a:r>
            <a:r>
              <a:rPr lang="ru-RU" dirty="0"/>
              <a:t>01000001</a:t>
            </a:r>
            <a:r>
              <a:rPr lang="en-US" dirty="0"/>
              <a:t> </a:t>
            </a:r>
            <a:r>
              <a:rPr lang="ru-RU" dirty="0"/>
              <a:t>в ячейке</a:t>
            </a:r>
            <a:r>
              <a:rPr lang="en-US" dirty="0"/>
              <a:t> </a:t>
            </a:r>
            <a:r>
              <a:rPr lang="ru-RU" dirty="0"/>
              <a:t>памяти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число 65</a:t>
            </a:r>
          </a:p>
          <a:p>
            <a:pPr lvl="1"/>
            <a:r>
              <a:rPr lang="ru-RU" dirty="0"/>
              <a:t>символ 'A’</a:t>
            </a:r>
          </a:p>
          <a:p>
            <a:pPr lvl="1"/>
            <a:r>
              <a:rPr lang="ru-RU" dirty="0"/>
              <a:t>часть более длинного числа</a:t>
            </a:r>
          </a:p>
          <a:p>
            <a:pPr lvl="1"/>
            <a:r>
              <a:rPr lang="ru-RU" dirty="0"/>
              <a:t>часть структуры</a:t>
            </a:r>
          </a:p>
          <a:p>
            <a:r>
              <a:rPr lang="ru-RU" dirty="0"/>
              <a:t>Одни и те же байты можно </a:t>
            </a:r>
            <a:r>
              <a:rPr lang="ru-RU" b="1" dirty="0"/>
              <a:t>интерпретировать по-разному</a:t>
            </a:r>
            <a:r>
              <a:rPr lang="ru-RU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A9E06-6ED0-D1C9-EA63-7F323F8D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9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160D-D63A-CC14-702E-EA509B24F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размера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48CB-18A0-0EB4-DA10-967DC05EF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Если переменная занимает больше одного байта, сколько байтов выделять?</a:t>
            </a:r>
          </a:p>
          <a:p>
            <a:r>
              <a:rPr lang="ru-RU" dirty="0"/>
              <a:t>Примеры чисел:</a:t>
            </a:r>
          </a:p>
          <a:p>
            <a:pPr lvl="1"/>
            <a:r>
              <a:rPr lang="ru-RU" dirty="0"/>
              <a:t>10</a:t>
            </a:r>
          </a:p>
          <a:p>
            <a:pPr lvl="1"/>
            <a:r>
              <a:rPr lang="ru-RU" dirty="0"/>
              <a:t>1000</a:t>
            </a:r>
          </a:p>
          <a:p>
            <a:pPr lvl="1"/>
            <a:r>
              <a:rPr lang="ru-RU" dirty="0"/>
              <a:t>1000000000</a:t>
            </a:r>
          </a:p>
          <a:p>
            <a:r>
              <a:rPr lang="ru-RU" dirty="0"/>
              <a:t>Архитектуры процессоров работают с фиксированными размерами данных:</a:t>
            </a:r>
          </a:p>
          <a:p>
            <a:pPr lvl="1"/>
            <a:r>
              <a:rPr lang="ru-RU" dirty="0"/>
              <a:t>8 бит</a:t>
            </a:r>
          </a:p>
          <a:p>
            <a:pPr lvl="1"/>
            <a:r>
              <a:rPr lang="ru-RU" dirty="0"/>
              <a:t>16 бит</a:t>
            </a:r>
          </a:p>
          <a:p>
            <a:pPr lvl="1"/>
            <a:r>
              <a:rPr lang="ru-RU" dirty="0"/>
              <a:t>32 бита</a:t>
            </a:r>
          </a:p>
          <a:p>
            <a:pPr lvl="1"/>
            <a:r>
              <a:rPr lang="ru-RU" dirty="0"/>
              <a:t>64 бита</a:t>
            </a:r>
          </a:p>
          <a:p>
            <a:r>
              <a:rPr lang="ru-RU" dirty="0"/>
              <a:t>Язык должен позволять указать </a:t>
            </a:r>
            <a:r>
              <a:rPr lang="ru-RU" b="1" dirty="0"/>
              <a:t>размер данных</a:t>
            </a:r>
            <a:r>
              <a:rPr lang="ru-RU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5EFEE-03EC-FD92-67E8-6B56F2C5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78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FB9A-AA05-BAA0-A6B0-FE84B341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Система типов и роль компилятора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72EB6-1207-3826-DF6E-197C04E54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Для решения этих проблем язык C использует </a:t>
            </a:r>
            <a:r>
              <a:rPr lang="ru-RU" b="1"/>
              <a:t>типы данных</a:t>
            </a:r>
            <a:r>
              <a:rPr lang="ru-RU"/>
              <a:t>.</a:t>
            </a:r>
          </a:p>
          <a:p>
            <a:r>
              <a:rPr lang="ru-RU"/>
              <a:t>Тип сообщает компилятору:</a:t>
            </a:r>
          </a:p>
          <a:p>
            <a:pPr lvl="1"/>
            <a:r>
              <a:rPr lang="ru-RU"/>
              <a:t>Сколько памяти нужно</a:t>
            </a:r>
          </a:p>
          <a:p>
            <a:pPr lvl="1"/>
            <a:r>
              <a:rPr lang="ru-RU"/>
              <a:t>Как интерпретировать данные</a:t>
            </a:r>
          </a:p>
          <a:p>
            <a:r>
              <a:rPr lang="ru-RU"/>
              <a:t>Компилятор</a:t>
            </a:r>
          </a:p>
          <a:p>
            <a:pPr lvl="1"/>
            <a:r>
              <a:rPr lang="ru-RU"/>
              <a:t>выделяет память</a:t>
            </a:r>
          </a:p>
          <a:p>
            <a:pPr lvl="1"/>
            <a:r>
              <a:rPr lang="ru-RU"/>
              <a:t>Выбирает способ хранения</a:t>
            </a:r>
          </a:p>
          <a:p>
            <a:pPr lvl="1"/>
            <a:r>
              <a:rPr lang="ru-RU"/>
              <a:t>Решает, где разместить переменные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52550D-A8A5-ECA6-E741-291F0126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0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3DE816-5F3B-188F-D920-C1966E4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Целые типы и размеры данных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4B1A7-D791-84A8-8E06-DC74DC971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5FD7-29C1-C05F-CBBA-47639959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9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F60343-4BE2-A3DC-832F-46D44A7E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Целые числа в математике и компьютере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B91DA0-6D7B-B701-88E7-9BF2C3782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математике множество целых чисел бесконечно:</a:t>
            </a:r>
          </a:p>
          <a:p>
            <a:pPr lvl="1"/>
            <a:r>
              <a:rPr lang="ru-RU" dirty="0"/>
              <a:t>…, -3, -2, -1, 0, 1, 2, 3, …</a:t>
            </a:r>
          </a:p>
          <a:p>
            <a:r>
              <a:rPr lang="ru-RU" dirty="0"/>
              <a:t>В программе мы пишем: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x = 10;</a:t>
            </a:r>
          </a:p>
          <a:p>
            <a:r>
              <a:rPr lang="ru-RU" dirty="0"/>
              <a:t>Однако компьютер хранит данные в ограниченной памяти</a:t>
            </a:r>
          </a:p>
          <a:p>
            <a:r>
              <a:rPr lang="ru-RU" dirty="0"/>
              <a:t>Значит переменная может хранить только ограниченный диапазон чисел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12626-AF0B-DB57-CB38-C7162F69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21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84E3-5CBE-A2F0-CD18-097DB5CE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памяти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2FAFF-CC31-74F8-0991-1AB018560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Для хранения чисел требуется память.</a:t>
                </a:r>
              </a:p>
              <a:p>
                <a:r>
                  <a:rPr lang="ru-RU" dirty="0"/>
                  <a:t>Память компьютера:</a:t>
                </a:r>
              </a:p>
              <a:p>
                <a:pPr lvl="1"/>
                <a:r>
                  <a:rPr lang="ru-RU" dirty="0"/>
                  <a:t>конечна</a:t>
                </a:r>
              </a:p>
              <a:p>
                <a:pPr lvl="1"/>
                <a:r>
                  <a:rPr lang="ru-RU" dirty="0"/>
                  <a:t>состоит из байтов</a:t>
                </a:r>
              </a:p>
              <a:p>
                <a:r>
                  <a:rPr lang="ru-RU" dirty="0"/>
                  <a:t>Если число хранится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битах, то можно представить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различных значений</a:t>
                </a:r>
              </a:p>
              <a:p>
                <a:r>
                  <a:rPr lang="ru-RU" dirty="0"/>
                  <a:t>Пример:</a:t>
                </a:r>
              </a:p>
              <a:p>
                <a:pPr lvl="1"/>
                <a:r>
                  <a:rPr lang="ru-RU" dirty="0"/>
                  <a:t>8 битное число может хранить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значений</a:t>
                </a:r>
              </a:p>
              <a:p>
                <a:r>
                  <a:rPr lang="ru-RU" dirty="0"/>
                  <a:t>Следовательно, диапазон чисел </a:t>
                </a:r>
                <a:r>
                  <a:rPr lang="ru-RU" b="1" dirty="0"/>
                  <a:t>ограничен количеством бит </a:t>
                </a:r>
                <a:r>
                  <a:rPr lang="ru-RU" dirty="0"/>
                  <a:t>в записи числа.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2FAFF-CC31-74F8-0991-1AB018560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65178-1390-6726-8681-2FE3FED9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3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5096-9E6C-F6E0-8F5D-58163250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архитектуры процессора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6C48F-129C-3579-9760-888DA6792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Процессор выполняет операции над данными с помощью </a:t>
            </a:r>
            <a:r>
              <a:rPr lang="ru-RU" b="1" dirty="0"/>
              <a:t>регистров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Регистры — это </a:t>
            </a:r>
            <a:r>
              <a:rPr lang="ru-RU" b="1" dirty="0"/>
              <a:t>очень быстрые ячейки памяти внутри процессора</a:t>
            </a:r>
            <a:r>
              <a:rPr lang="ru-RU" dirty="0"/>
              <a:t>.</a:t>
            </a:r>
          </a:p>
          <a:p>
            <a:r>
              <a:rPr lang="ru-RU" dirty="0"/>
              <a:t>Каждый регистр имеет </a:t>
            </a:r>
            <a:r>
              <a:rPr lang="ru-RU" b="1" dirty="0"/>
              <a:t>фиксированную разрядность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8 бит</a:t>
            </a:r>
          </a:p>
          <a:p>
            <a:pPr lvl="1"/>
            <a:r>
              <a:rPr lang="ru-RU" dirty="0"/>
              <a:t>16 бит</a:t>
            </a:r>
          </a:p>
          <a:p>
            <a:pPr lvl="1"/>
            <a:r>
              <a:rPr lang="ru-RU" dirty="0"/>
              <a:t>32 бита</a:t>
            </a:r>
          </a:p>
          <a:p>
            <a:pPr lvl="1"/>
            <a:r>
              <a:rPr lang="ru-RU" dirty="0"/>
              <a:t>64 бита</a:t>
            </a:r>
          </a:p>
          <a:p>
            <a:r>
              <a:rPr lang="ru-RU" dirty="0"/>
              <a:t>Размер регистра определяет:</a:t>
            </a:r>
          </a:p>
          <a:p>
            <a:pPr lvl="1"/>
            <a:r>
              <a:rPr lang="ru-RU" dirty="0"/>
              <a:t>какие данные процессор обрабатывает </a:t>
            </a:r>
            <a:r>
              <a:rPr lang="ru-RU" b="1" dirty="0"/>
              <a:t>наиболее эффективно</a:t>
            </a:r>
          </a:p>
          <a:p>
            <a:pPr lvl="1"/>
            <a:r>
              <a:rPr lang="ru-RU" dirty="0"/>
              <a:t>размер </a:t>
            </a:r>
            <a:r>
              <a:rPr lang="ru-RU" b="1" dirty="0"/>
              <a:t>арифметических операций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3F4C4-9C09-9862-2696-3705C92C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6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3144-18AC-1628-8C2E-71A44D32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доступа к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2F0A4-7C9F-D01B-C66A-0BC152A83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Процессор обменивается данными с памятью через </a:t>
            </a:r>
            <a:r>
              <a:rPr lang="ru-RU" b="1" dirty="0"/>
              <a:t>шину данных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Шина данных — это набор проводников между процессором и памятью.</a:t>
            </a:r>
          </a:p>
          <a:p>
            <a:r>
              <a:rPr lang="ru-RU" dirty="0"/>
              <a:t>Ширина шины обычно составляет:</a:t>
            </a:r>
          </a:p>
          <a:p>
            <a:pPr lvl="1"/>
            <a:r>
              <a:rPr lang="ru-RU" dirty="0"/>
              <a:t>8 бит</a:t>
            </a:r>
          </a:p>
          <a:p>
            <a:pPr lvl="1"/>
            <a:r>
              <a:rPr lang="ru-RU" dirty="0"/>
              <a:t>16 бит</a:t>
            </a:r>
          </a:p>
          <a:p>
            <a:pPr lvl="1"/>
            <a:r>
              <a:rPr lang="ru-RU" dirty="0"/>
              <a:t>32 бита</a:t>
            </a:r>
          </a:p>
          <a:p>
            <a:pPr lvl="1"/>
            <a:r>
              <a:rPr lang="ru-RU" dirty="0"/>
              <a:t>64 бита</a:t>
            </a:r>
          </a:p>
          <a:p>
            <a:r>
              <a:rPr lang="ru-RU" dirty="0"/>
              <a:t>Это определяет:</a:t>
            </a:r>
          </a:p>
          <a:p>
            <a:pPr lvl="1"/>
            <a:r>
              <a:rPr lang="ru-RU" dirty="0"/>
              <a:t>сколько данных можно передать за одну операцию</a:t>
            </a:r>
          </a:p>
          <a:p>
            <a:pPr lvl="1"/>
            <a:r>
              <a:rPr lang="ru-RU" dirty="0"/>
              <a:t>какие размеры данных удобнее всего использовать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0B30E-43F8-CF6A-5057-B36AAB3A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74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62A7-9A5D-FB6C-4864-CA01C1B0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Целые числа языка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078D3-66F5-C0EC-B23B-77AFB04E7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Память ограничена</a:t>
            </a:r>
          </a:p>
          <a:p>
            <a:r>
              <a:rPr lang="ru-RU" dirty="0"/>
              <a:t>Процессор работает с фиксированными размерами данных</a:t>
            </a:r>
          </a:p>
          <a:p>
            <a:r>
              <a:rPr lang="ru-RU" dirty="0"/>
              <a:t>Передача данных между процессором и памятью тоже происходит блоками фиксированной ширины</a:t>
            </a:r>
          </a:p>
          <a:p>
            <a:r>
              <a:rPr lang="ru-RU" dirty="0"/>
              <a:t>Поэтому язык C вводит </a:t>
            </a:r>
            <a:r>
              <a:rPr lang="ru-RU" b="1" dirty="0"/>
              <a:t>несколько целых типов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c</a:t>
            </a:r>
            <a:r>
              <a:rPr lang="ru-RU" dirty="0" err="1"/>
              <a:t>har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lang="ru-RU" dirty="0" err="1"/>
              <a:t>hort</a:t>
            </a:r>
            <a:r>
              <a:rPr lang="en-US" dirty="0"/>
              <a:t> (short int)</a:t>
            </a:r>
          </a:p>
          <a:p>
            <a:pPr lvl="1"/>
            <a:r>
              <a:rPr lang="en-US" dirty="0"/>
              <a:t>i</a:t>
            </a:r>
            <a:r>
              <a:rPr lang="ru-RU" dirty="0" err="1"/>
              <a:t>nt</a:t>
            </a:r>
            <a:endParaRPr lang="en-US" dirty="0"/>
          </a:p>
          <a:p>
            <a:pPr lvl="1"/>
            <a:r>
              <a:rPr lang="en-US" dirty="0"/>
              <a:t>l</a:t>
            </a:r>
            <a:r>
              <a:rPr lang="ru-RU" dirty="0" err="1"/>
              <a:t>ong</a:t>
            </a:r>
            <a:r>
              <a:rPr lang="en-US" dirty="0"/>
              <a:t> (long int)</a:t>
            </a:r>
          </a:p>
          <a:p>
            <a:pPr lvl="1"/>
            <a:r>
              <a:rPr lang="ru-RU" dirty="0" err="1"/>
              <a:t>long</a:t>
            </a:r>
            <a:r>
              <a:rPr lang="ru-RU" dirty="0"/>
              <a:t> </a:t>
            </a:r>
            <a:r>
              <a:rPr lang="ru-RU" dirty="0" err="1"/>
              <a:t>long</a:t>
            </a:r>
            <a:r>
              <a:rPr lang="en-US" dirty="0"/>
              <a:t> (long </a:t>
            </a:r>
            <a:r>
              <a:rPr lang="en-US" dirty="0" err="1"/>
              <a:t>long</a:t>
            </a:r>
            <a:r>
              <a:rPr lang="en-US" dirty="0"/>
              <a:t> int)</a:t>
            </a:r>
            <a:endParaRPr lang="ru-RU" dirty="0"/>
          </a:p>
          <a:p>
            <a:r>
              <a:rPr lang="ru-RU" dirty="0"/>
              <a:t>Каждый тип определяет:</a:t>
            </a:r>
          </a:p>
          <a:p>
            <a:pPr lvl="1"/>
            <a:r>
              <a:rPr lang="ru-RU" dirty="0"/>
              <a:t>сколько памяти занимает значение</a:t>
            </a:r>
            <a:endParaRPr lang="en-US" dirty="0"/>
          </a:p>
          <a:p>
            <a:pPr lvl="1"/>
            <a:r>
              <a:rPr lang="ru-RU" dirty="0"/>
              <a:t>какой диапазон чисел можно хранить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9ADAD-B550-DDEB-0C99-F96C73DB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6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A6FD-CE58-E283-DAFE-5FFA74A1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Размеры типов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4C8F-FD62-071F-A2E5-573D4EE62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Чтобы узнать размер типа, служит оператор </a:t>
            </a:r>
            <a:r>
              <a:rPr lang="en-US" b="1" dirty="0" err="1"/>
              <a:t>sizeof</a:t>
            </a:r>
            <a:r>
              <a:rPr lang="en-US" dirty="0"/>
              <a:t>:</a:t>
            </a:r>
          </a:p>
          <a:p>
            <a:pPr lvl="1"/>
            <a:r>
              <a:rPr lang="de-DE" dirty="0" err="1">
                <a:latin typeface="Consolas" panose="020B0609020204030204" pitchFamily="49" charset="0"/>
              </a:rPr>
              <a:t>printf</a:t>
            </a:r>
            <a:r>
              <a:rPr lang="de-DE" dirty="0">
                <a:latin typeface="Consolas" panose="020B0609020204030204" pitchFamily="49" charset="0"/>
              </a:rPr>
              <a:t>("%zu\n", </a:t>
            </a:r>
            <a:r>
              <a:rPr lang="de-DE" dirty="0" err="1">
                <a:latin typeface="Consolas" panose="020B0609020204030204" pitchFamily="49" charset="0"/>
              </a:rPr>
              <a:t>sizeof</a:t>
            </a:r>
            <a:r>
              <a:rPr lang="de-DE" dirty="0">
                <a:latin typeface="Consolas" panose="020B0609020204030204" pitchFamily="49" charset="0"/>
              </a:rPr>
              <a:t>(</a:t>
            </a:r>
            <a:r>
              <a:rPr lang="de-DE" dirty="0" err="1">
                <a:latin typeface="Consolas" panose="020B0609020204030204" pitchFamily="49" charset="0"/>
              </a:rPr>
              <a:t>int</a:t>
            </a:r>
            <a:r>
              <a:rPr lang="de-DE" dirty="0"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ru-RU" dirty="0"/>
              <a:t>Оператор вычисляется во время компиляции</a:t>
            </a:r>
          </a:p>
          <a:p>
            <a:r>
              <a:rPr lang="ru-RU" dirty="0"/>
              <a:t>Стандарт C </a:t>
            </a:r>
            <a:r>
              <a:rPr lang="ru-RU" b="1" dirty="0"/>
              <a:t>не фиксирует точный размер типов</a:t>
            </a:r>
            <a:r>
              <a:rPr lang="ru-RU" dirty="0"/>
              <a:t>. Он задаёт только </a:t>
            </a:r>
            <a:r>
              <a:rPr lang="ru-RU" b="1" dirty="0"/>
              <a:t>отношения между ними</a:t>
            </a:r>
            <a:r>
              <a:rPr lang="ru-RU" dirty="0"/>
              <a:t>.</a:t>
            </a:r>
          </a:p>
          <a:p>
            <a:r>
              <a:rPr lang="ru-RU" dirty="0"/>
              <a:t>Гарантируется:</a:t>
            </a:r>
          </a:p>
          <a:p>
            <a:pPr lvl="1"/>
            <a:r>
              <a:rPr lang="en-US" dirty="0" err="1"/>
              <a:t>sizeof</a:t>
            </a:r>
            <a:r>
              <a:rPr lang="en-US" dirty="0"/>
              <a:t>(char)  ≤ </a:t>
            </a:r>
            <a:r>
              <a:rPr lang="en-US" dirty="0" err="1"/>
              <a:t>sizeof</a:t>
            </a:r>
            <a:r>
              <a:rPr lang="en-US" dirty="0"/>
              <a:t>(short)</a:t>
            </a:r>
            <a:endParaRPr lang="ru-RU" dirty="0"/>
          </a:p>
          <a:p>
            <a:pPr lvl="1"/>
            <a:r>
              <a:rPr lang="en-US" dirty="0" err="1"/>
              <a:t>sizeof</a:t>
            </a:r>
            <a:r>
              <a:rPr lang="en-US" dirty="0"/>
              <a:t>(short) ≤ </a:t>
            </a:r>
            <a:r>
              <a:rPr lang="en-US" dirty="0" err="1"/>
              <a:t>sizeof</a:t>
            </a:r>
            <a:r>
              <a:rPr lang="en-US" dirty="0"/>
              <a:t>(int)</a:t>
            </a:r>
            <a:endParaRPr lang="ru-RU" dirty="0"/>
          </a:p>
          <a:p>
            <a:pPr lvl="1"/>
            <a:r>
              <a:rPr lang="en-US" dirty="0" err="1"/>
              <a:t>sizeof</a:t>
            </a:r>
            <a:r>
              <a:rPr lang="en-US" dirty="0"/>
              <a:t>(int)   ≤ </a:t>
            </a:r>
            <a:r>
              <a:rPr lang="en-US" dirty="0" err="1"/>
              <a:t>sizeof</a:t>
            </a:r>
            <a:r>
              <a:rPr lang="en-US" dirty="0"/>
              <a:t>(long)</a:t>
            </a:r>
            <a:endParaRPr lang="ru-RU" dirty="0"/>
          </a:p>
          <a:p>
            <a:pPr lvl="1"/>
            <a:r>
              <a:rPr lang="en-US" dirty="0" err="1"/>
              <a:t>sizeof</a:t>
            </a:r>
            <a:r>
              <a:rPr lang="en-US" dirty="0"/>
              <a:t>(long)  ≤ </a:t>
            </a:r>
            <a:r>
              <a:rPr lang="en-US" dirty="0" err="1"/>
              <a:t>sizeof</a:t>
            </a:r>
            <a:r>
              <a:rPr lang="en-US" dirty="0"/>
              <a:t>(long long)</a:t>
            </a:r>
            <a:endParaRPr lang="ru-RU" dirty="0"/>
          </a:p>
          <a:p>
            <a:pPr lvl="1"/>
            <a:r>
              <a:rPr lang="en-US" dirty="0" err="1"/>
              <a:t>sizeof</a:t>
            </a:r>
            <a:r>
              <a:rPr lang="en-US" dirty="0"/>
              <a:t>(char) ==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6A46E-9746-4205-9E24-D99E5C95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67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394FC-D140-7D1A-64B9-9B0A1C2A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нужно несколько целых типов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0C455-6A5D-C86C-9D6A-53D695312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Разные задачи требуют разных диапазонов значений.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счётчик цикла</a:t>
            </a:r>
          </a:p>
          <a:p>
            <a:pPr lvl="1"/>
            <a:r>
              <a:rPr lang="ru-RU" dirty="0"/>
              <a:t>индекс массива</a:t>
            </a:r>
          </a:p>
          <a:p>
            <a:pPr lvl="1"/>
            <a:r>
              <a:rPr lang="ru-RU" dirty="0"/>
              <a:t>размер файла</a:t>
            </a:r>
          </a:p>
          <a:p>
            <a:pPr lvl="1"/>
            <a:r>
              <a:rPr lang="ru-RU" dirty="0"/>
              <a:t>адрес памяти</a:t>
            </a:r>
          </a:p>
          <a:p>
            <a:r>
              <a:rPr lang="ru-RU" dirty="0"/>
              <a:t>Использование меньших типов может:</a:t>
            </a:r>
          </a:p>
          <a:p>
            <a:pPr lvl="1"/>
            <a:r>
              <a:rPr lang="ru-RU" dirty="0"/>
              <a:t>уменьшать объём памяти</a:t>
            </a:r>
          </a:p>
          <a:p>
            <a:pPr lvl="1"/>
            <a:r>
              <a:rPr lang="ru-RU" dirty="0"/>
              <a:t>повышать эффективность вычислений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686AA-1148-C35A-8B21-014FFD3D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0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7277-4F73-94A1-F992-1B66BFAE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Положительные и отрицательные числа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308395-89DF-BBE1-C030-999B14B7C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Если число хранится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битах, то можно представить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различных значений</a:t>
                </a:r>
              </a:p>
              <a:p>
                <a:pPr lvl="1"/>
                <a:r>
                  <a:rPr lang="ru-RU" dirty="0"/>
                  <a:t>8 бит → 256 значений (от 0</a:t>
                </a:r>
                <a:r>
                  <a:rPr lang="en-US" dirty="0"/>
                  <a:t>b</a:t>
                </a:r>
                <a:r>
                  <a:rPr lang="ru-RU" dirty="0"/>
                  <a:t>00000000</a:t>
                </a:r>
                <a:r>
                  <a:rPr lang="en-US" dirty="0"/>
                  <a:t> </a:t>
                </a:r>
                <a:r>
                  <a:rPr lang="ru-RU" dirty="0"/>
                  <a:t>до </a:t>
                </a:r>
                <a:r>
                  <a:rPr lang="en-US" dirty="0"/>
                  <a:t>0b11111111)</a:t>
                </a:r>
                <a:endParaRPr lang="ru-RU" dirty="0"/>
              </a:p>
              <a:p>
                <a:pPr lvl="1"/>
                <a:r>
                  <a:rPr lang="ru-RU" dirty="0"/>
                  <a:t>16 бит → 65536 значений</a:t>
                </a:r>
              </a:p>
              <a:p>
                <a:r>
                  <a:rPr lang="ru-RU" dirty="0"/>
                  <a:t>Как использовать эти комбинации</a:t>
                </a:r>
                <a:r>
                  <a:rPr lang="en-US" dirty="0"/>
                  <a:t>?</a:t>
                </a:r>
              </a:p>
              <a:p>
                <a:r>
                  <a:rPr lang="ru-RU" dirty="0"/>
                  <a:t>Варианты:</a:t>
                </a:r>
              </a:p>
              <a:p>
                <a:pPr lvl="1"/>
                <a:r>
                  <a:rPr lang="ru-RU" dirty="0"/>
                  <a:t>только для </a:t>
                </a:r>
                <a:r>
                  <a:rPr lang="ru-RU" b="1" dirty="0"/>
                  <a:t>неотрицательных чисел</a:t>
                </a:r>
                <a:endParaRPr lang="ru-RU" dirty="0"/>
              </a:p>
              <a:p>
                <a:pPr lvl="1"/>
                <a:r>
                  <a:rPr lang="ru-RU" dirty="0"/>
                  <a:t>для </a:t>
                </a:r>
                <a:r>
                  <a:rPr lang="ru-RU" b="1" dirty="0"/>
                  <a:t>положительных и отрицательных чисел</a:t>
                </a:r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308395-89DF-BBE1-C030-999B14B7C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ED19D-5AA3-8196-3C29-B1C26AFA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26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B86E-B0C5-F8CF-CF25-97A8F0BD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Беззнаковые числа (</a:t>
            </a:r>
            <a:r>
              <a:rPr lang="en-US" dirty="0"/>
              <a:t>unsigned)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F1D4C-3163-7833-BAB8-05403714D7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ru-RU" dirty="0"/>
                  <a:t>Если все битовые комбинации использовать для </a:t>
                </a:r>
                <a:r>
                  <a:rPr lang="ru-RU" b="1" dirty="0"/>
                  <a:t>неотрицательных значений</a:t>
                </a:r>
                <a:r>
                  <a:rPr lang="ru-RU" dirty="0"/>
                  <a:t>, для числа из </a:t>
                </a:r>
                <a:r>
                  <a:rPr lang="en-US" dirty="0"/>
                  <a:t>n </a:t>
                </a:r>
                <a:r>
                  <a:rPr lang="ru-RU" dirty="0"/>
                  <a:t>бит диапазон будет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dirty="0"/>
                  <a:t> …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Пример: 8 бит</a:t>
                </a:r>
              </a:p>
              <a:p>
                <a:pPr lvl="1"/>
                <a:r>
                  <a:rPr lang="ru-RU" dirty="0"/>
                  <a:t>00000000 → 0</a:t>
                </a:r>
                <a:endParaRPr lang="en-US" dirty="0"/>
              </a:p>
              <a:p>
                <a:pPr lvl="1"/>
                <a:r>
                  <a:rPr lang="ru-RU" dirty="0"/>
                  <a:t>00000001 → 1</a:t>
                </a:r>
                <a:endParaRPr lang="en-US" dirty="0"/>
              </a:p>
              <a:p>
                <a:pPr lvl="1"/>
                <a:r>
                  <a:rPr lang="ru-RU" dirty="0"/>
                  <a:t>...</a:t>
                </a:r>
                <a:endParaRPr lang="en-US" dirty="0"/>
              </a:p>
              <a:p>
                <a:pPr lvl="1"/>
                <a:r>
                  <a:rPr lang="ru-RU" dirty="0"/>
                  <a:t>11111111 → 255</a:t>
                </a:r>
              </a:p>
              <a:p>
                <a:r>
                  <a:rPr lang="ru-RU" dirty="0"/>
                  <a:t>В языке </a:t>
                </a:r>
                <a:r>
                  <a:rPr lang="en-US" dirty="0"/>
                  <a:t>C </a:t>
                </a:r>
                <a:r>
                  <a:rPr lang="ru-RU" dirty="0"/>
                  <a:t>используются типы:</a:t>
                </a:r>
              </a:p>
              <a:p>
                <a:pPr lvl="1"/>
                <a:r>
                  <a:rPr lang="en-US" dirty="0"/>
                  <a:t>unsigned char</a:t>
                </a:r>
              </a:p>
              <a:p>
                <a:pPr lvl="1"/>
                <a:r>
                  <a:rPr lang="en-US" dirty="0"/>
                  <a:t>unsigned short</a:t>
                </a:r>
              </a:p>
              <a:p>
                <a:pPr lvl="1"/>
                <a:r>
                  <a:rPr lang="en-US" dirty="0"/>
                  <a:t>unsigned int</a:t>
                </a:r>
              </a:p>
              <a:p>
                <a:pPr lvl="1"/>
                <a:r>
                  <a:rPr lang="en-US" dirty="0"/>
                  <a:t>unsigned long</a:t>
                </a:r>
              </a:p>
              <a:p>
                <a:pPr lvl="1"/>
                <a:r>
                  <a:rPr lang="en-US" dirty="0"/>
                  <a:t>unsigned long </a:t>
                </a:r>
                <a:r>
                  <a:rPr lang="en-US" dirty="0" err="1"/>
                  <a:t>long</a:t>
                </a:r>
                <a:endParaRPr lang="en-US" dirty="0"/>
              </a:p>
              <a:p>
                <a:r>
                  <a:rPr lang="ru-RU" dirty="0"/>
                  <a:t>Применение: размеры объектов в памяти, количество элементов, индексы массивов, битовые маски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F1D4C-3163-7833-BAB8-05403714D7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055A7-D4F1-CAFC-B37E-ADAFAECC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95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EEED-51D6-EE28-A2F4-1DB0397D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Знаковые числа (</a:t>
            </a:r>
            <a:r>
              <a:rPr lang="en-US" dirty="0"/>
              <a:t>signed)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E7F37-7862-9602-75A8-5D7C3D48A6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Если нужно хранить </a:t>
                </a:r>
                <a:r>
                  <a:rPr lang="ru-RU" b="1" dirty="0"/>
                  <a:t>положительные и отрицательные числа</a:t>
                </a:r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доступные битовые комбинации приходится разделить.</a:t>
                </a:r>
              </a:p>
              <a:p>
                <a:r>
                  <a:rPr lang="ru-RU" dirty="0"/>
                  <a:t>Для числа из n бит диапазон обычно: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r>
                  <a:rPr lang="ru-RU" dirty="0"/>
                  <a:t>…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Для 8 бит: -128 … 127</a:t>
                </a:r>
              </a:p>
              <a:p>
                <a:r>
                  <a:rPr lang="ru-RU" dirty="0"/>
                  <a:t>В языке C знаковые целые типы:</a:t>
                </a:r>
              </a:p>
              <a:p>
                <a:pPr lvl="1"/>
                <a:r>
                  <a:rPr lang="ru-RU" dirty="0" err="1"/>
                  <a:t>short</a:t>
                </a:r>
                <a:r>
                  <a:rPr lang="ru-RU" dirty="0"/>
                  <a:t> (</a:t>
                </a:r>
                <a:r>
                  <a:rPr lang="en-US" dirty="0"/>
                  <a:t>signed short)</a:t>
                </a:r>
                <a:endParaRPr lang="ru-RU" dirty="0"/>
              </a:p>
              <a:p>
                <a:pPr lvl="1"/>
                <a:r>
                  <a:rPr lang="en-US" dirty="0"/>
                  <a:t>i</a:t>
                </a:r>
                <a:r>
                  <a:rPr lang="ru-RU" dirty="0" err="1"/>
                  <a:t>nt</a:t>
                </a:r>
                <a:r>
                  <a:rPr lang="en-US" dirty="0"/>
                  <a:t>  (signed int)</a:t>
                </a:r>
                <a:endParaRPr lang="ru-RU" dirty="0"/>
              </a:p>
              <a:p>
                <a:pPr lvl="1"/>
                <a:r>
                  <a:rPr lang="en-US" dirty="0"/>
                  <a:t>l</a:t>
                </a:r>
                <a:r>
                  <a:rPr lang="ru-RU" dirty="0" err="1"/>
                  <a:t>ong</a:t>
                </a:r>
                <a:r>
                  <a:rPr lang="en-US" dirty="0"/>
                  <a:t> (signed long)</a:t>
                </a:r>
                <a:endParaRPr lang="ru-RU" dirty="0"/>
              </a:p>
              <a:p>
                <a:pPr lvl="1"/>
                <a:r>
                  <a:rPr lang="ru-RU" dirty="0" err="1"/>
                  <a:t>long</a:t>
                </a:r>
                <a:r>
                  <a:rPr lang="ru-RU" dirty="0"/>
                  <a:t> </a:t>
                </a:r>
                <a:r>
                  <a:rPr lang="ru-RU" dirty="0" err="1"/>
                  <a:t>long</a:t>
                </a:r>
                <a:r>
                  <a:rPr lang="en-US" dirty="0"/>
                  <a:t> (signed long long)</a:t>
                </a:r>
                <a:endParaRPr lang="ru-RU" dirty="0"/>
              </a:p>
              <a:p>
                <a:pPr lvl="1"/>
                <a:r>
                  <a:rPr lang="ru-RU" dirty="0" err="1"/>
                  <a:t>signed</a:t>
                </a:r>
                <a:r>
                  <a:rPr lang="ru-RU" dirty="0"/>
                  <a:t> </a:t>
                </a:r>
                <a:r>
                  <a:rPr lang="ru-RU" dirty="0" err="1"/>
                  <a:t>char</a:t>
                </a:r>
                <a:endParaRPr lang="ru-RU" dirty="0"/>
              </a:p>
              <a:p>
                <a:r>
                  <a:rPr lang="ru-RU" dirty="0" err="1"/>
                  <a:t>char</a:t>
                </a:r>
                <a:r>
                  <a:rPr lang="ru-RU" dirty="0"/>
                  <a:t> — отдельный тип. он может быть как </a:t>
                </a:r>
                <a:r>
                  <a:rPr lang="ru-RU" dirty="0" err="1"/>
                  <a:t>signed</a:t>
                </a:r>
                <a:r>
                  <a:rPr lang="ru-RU" dirty="0"/>
                  <a:t>, так и </a:t>
                </a:r>
                <a:r>
                  <a:rPr lang="ru-RU" dirty="0" err="1"/>
                  <a:t>unsigned</a:t>
                </a:r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E7F37-7862-9602-75A8-5D7C3D48A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7C0E3-FAFD-240D-9CD8-4D0E4E1C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0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C056-439D-7BC0-7168-53536F97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кодировать знак числа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69002-7847-B2FE-87EE-5AED4431E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1" dirty="0"/>
              <a:t>Знак + величина (</a:t>
            </a:r>
            <a:r>
              <a:rPr lang="ru-RU" b="1" dirty="0" err="1"/>
              <a:t>sign</a:t>
            </a:r>
            <a:r>
              <a:rPr lang="ru-RU" b="1" dirty="0"/>
              <a:t>–</a:t>
            </a:r>
            <a:r>
              <a:rPr lang="ru-RU" b="1" dirty="0" err="1"/>
              <a:t>magnitude</a:t>
            </a:r>
            <a:r>
              <a:rPr lang="ru-RU" b="1" dirty="0"/>
              <a:t>) </a:t>
            </a:r>
            <a:r>
              <a:rPr lang="ru-RU" dirty="0"/>
              <a:t>старший бит хранит знак</a:t>
            </a:r>
          </a:p>
          <a:p>
            <a:pPr lvl="1"/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ru-RU" dirty="0">
                <a:latin typeface="Consolas" panose="020B0609020204030204" pitchFamily="49" charset="0"/>
              </a:rPr>
              <a:t> 0000101 → +5</a:t>
            </a:r>
          </a:p>
          <a:p>
            <a:pPr lvl="1"/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 0000101 → -5</a:t>
            </a:r>
          </a:p>
          <a:p>
            <a:pPr lvl="1"/>
            <a:r>
              <a:rPr lang="ru-RU" dirty="0"/>
              <a:t>Недостатки:</a:t>
            </a:r>
          </a:p>
          <a:p>
            <a:pPr lvl="2"/>
            <a:r>
              <a:rPr lang="ru-RU" dirty="0"/>
              <a:t>два представления нуля</a:t>
            </a:r>
            <a:r>
              <a:rPr lang="en-US" dirty="0"/>
              <a:t> (0b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0000000</a:t>
            </a:r>
            <a:r>
              <a:rPr lang="ru-RU" dirty="0"/>
              <a:t> и </a:t>
            </a:r>
            <a:r>
              <a:rPr lang="en-US" dirty="0"/>
              <a:t>0b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0000000)</a:t>
            </a:r>
            <a:endParaRPr lang="ru-RU" dirty="0"/>
          </a:p>
          <a:p>
            <a:pPr lvl="2"/>
            <a:r>
              <a:rPr lang="ru-RU" dirty="0"/>
              <a:t>сложная арифметика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Обратный код (</a:t>
            </a:r>
            <a:r>
              <a:rPr lang="ru-RU" b="1" dirty="0" err="1"/>
              <a:t>one’s</a:t>
            </a:r>
            <a:r>
              <a:rPr lang="ru-RU" b="1" dirty="0"/>
              <a:t> </a:t>
            </a:r>
            <a:r>
              <a:rPr lang="ru-RU" b="1" dirty="0" err="1"/>
              <a:t>complement</a:t>
            </a:r>
            <a:r>
              <a:rPr lang="ru-RU" b="1" dirty="0"/>
              <a:t>) </a:t>
            </a:r>
            <a:r>
              <a:rPr lang="ru-RU" dirty="0"/>
              <a:t>отрицательное число — инверсия битов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+5 : 00000101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-5 : 11111010</a:t>
            </a:r>
          </a:p>
          <a:p>
            <a:pPr lvl="1"/>
            <a:r>
              <a:rPr lang="ru-RU" dirty="0"/>
              <a:t>Недостатки:</a:t>
            </a:r>
          </a:p>
          <a:p>
            <a:pPr lvl="2"/>
            <a:r>
              <a:rPr lang="ru-RU" dirty="0"/>
              <a:t>два представления нуля</a:t>
            </a:r>
            <a:r>
              <a:rPr lang="en-US" dirty="0"/>
              <a:t> (0b00000000 </a:t>
            </a:r>
            <a:r>
              <a:rPr lang="ru-RU" dirty="0"/>
              <a:t>и </a:t>
            </a:r>
            <a:r>
              <a:rPr lang="en-US" dirty="0"/>
              <a:t>0b11111111)</a:t>
            </a:r>
          </a:p>
          <a:p>
            <a:pPr lvl="2"/>
            <a:r>
              <a:rPr lang="ru-RU" dirty="0"/>
              <a:t>сложная логика сложения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Дополнительный код (</a:t>
            </a:r>
            <a:r>
              <a:rPr lang="ru-RU" b="1" dirty="0" err="1"/>
              <a:t>two’s</a:t>
            </a:r>
            <a:r>
              <a:rPr lang="ru-RU" b="1" dirty="0"/>
              <a:t> </a:t>
            </a:r>
            <a:r>
              <a:rPr lang="ru-RU" b="1" dirty="0" err="1"/>
              <a:t>complement</a:t>
            </a:r>
            <a:r>
              <a:rPr lang="ru-RU" b="1" dirty="0"/>
              <a:t>)</a:t>
            </a:r>
            <a:endParaRPr lang="en-US" dirty="0"/>
          </a:p>
          <a:p>
            <a:pPr lvl="1"/>
            <a:r>
              <a:rPr lang="ru-RU" dirty="0"/>
              <a:t>используется в современных компьютерах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E8914-643E-C48A-17D6-CBA9CA27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9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CE32-7A9D-DD99-4F38-B3D8F73A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Дополнительный код (</a:t>
            </a:r>
            <a:r>
              <a:rPr lang="en-US" dirty="0"/>
              <a:t>two’s complement)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672F0E-4F97-2B53-1381-A81AC99E9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Отрицательное число получается из положительного:</a:t>
                </a:r>
              </a:p>
              <a:p>
                <a:pPr lvl="1"/>
                <a:r>
                  <a:rPr lang="ru-RU" dirty="0"/>
                  <a:t>инвертировать все биты</a:t>
                </a:r>
              </a:p>
              <a:p>
                <a:pPr lvl="1"/>
                <a:r>
                  <a:rPr lang="ru-RU" dirty="0"/>
                  <a:t>прибавить 1</a:t>
                </a:r>
              </a:p>
              <a:p>
                <a:pPr lvl="1"/>
                <a:r>
                  <a:rPr lang="ru-RU" dirty="0"/>
                  <a:t>Положительное из отрицательного – так же</a:t>
                </a:r>
              </a:p>
              <a:p>
                <a:r>
                  <a:rPr lang="ru-RU" dirty="0"/>
                  <a:t>Пример (8 бит)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+5 : </a:t>
                </a:r>
                <a:r>
                  <a:rPr lang="ru-RU" dirty="0">
                    <a:latin typeface="Consolas" panose="020B0609020204030204" pitchFamily="49" charset="0"/>
                  </a:rPr>
                  <a:t>0</a:t>
                </a:r>
                <a:r>
                  <a:rPr lang="en-US" dirty="0">
                    <a:latin typeface="Consolas" panose="020B0609020204030204" pitchFamily="49" charset="0"/>
                  </a:rPr>
                  <a:t>b00000101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-5 : </a:t>
                </a:r>
                <a:r>
                  <a:rPr lang="ru-RU" dirty="0">
                    <a:latin typeface="Consolas" panose="020B0609020204030204" pitchFamily="49" charset="0"/>
                  </a:rPr>
                  <a:t>0</a:t>
                </a:r>
                <a:r>
                  <a:rPr lang="en-US" dirty="0">
                    <a:latin typeface="Consolas" panose="020B0609020204030204" pitchFamily="49" charset="0"/>
                  </a:rPr>
                  <a:t>b11111010 + 1 = </a:t>
                </a:r>
                <a:r>
                  <a:rPr lang="ru-RU" dirty="0">
                    <a:latin typeface="Consolas" panose="020B0609020204030204" pitchFamily="49" charset="0"/>
                  </a:rPr>
                  <a:t>0</a:t>
                </a:r>
                <a:r>
                  <a:rPr lang="en-US" dirty="0">
                    <a:latin typeface="Consolas" panose="020B0609020204030204" pitchFamily="49" charset="0"/>
                  </a:rPr>
                  <a:t>b=</a:t>
                </a:r>
                <a:r>
                  <a:rPr lang="ru-RU" dirty="0">
                    <a:latin typeface="Consolas" panose="020B0609020204030204" pitchFamily="49" charset="0"/>
                  </a:rPr>
                  <a:t>11111011</a:t>
                </a:r>
                <a:endParaRPr lang="en-US" dirty="0"/>
              </a:p>
              <a:p>
                <a:r>
                  <a:rPr lang="ru-RU" dirty="0"/>
                  <a:t>Диапазон для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бит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ru-RU" dirty="0"/>
                  <a:t>Для 8 бит: -128…+127</a:t>
                </a:r>
              </a:p>
              <a:p>
                <a:pPr lvl="1"/>
                <a:r>
                  <a:rPr lang="ru-RU" dirty="0"/>
                  <a:t>Для 16 бит: -32768 … +32767</a:t>
                </a:r>
              </a:p>
              <a:p>
                <a:r>
                  <a:rPr lang="ru-RU" dirty="0"/>
                  <a:t>Преимущества:</a:t>
                </a:r>
              </a:p>
              <a:p>
                <a:pPr lvl="1"/>
                <a:r>
                  <a:rPr lang="ru-RU" dirty="0"/>
                  <a:t>Единственное представление нуля</a:t>
                </a:r>
              </a:p>
              <a:p>
                <a:pPr lvl="1"/>
                <a:r>
                  <a:rPr lang="ru-RU" dirty="0"/>
                  <a:t>Простая реализация арифметики в процессоре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672F0E-4F97-2B53-1381-A81AC99E9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4F7D-2E76-595C-6EEC-6D57CBA2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67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A504-35C5-0F5B-E05B-66FD8A2F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Арифметика в дополнительном коде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9CA97-F699-6C34-18B0-F784900A8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(-3) + (-6) = -9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E22476-8C35-D713-9464-7997904D29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+3 = 00000011</a:t>
            </a:r>
          </a:p>
          <a:p>
            <a:r>
              <a:rPr lang="ru-RU" dirty="0">
                <a:latin typeface="Consolas" panose="020B0609020204030204" pitchFamily="49" charset="0"/>
              </a:rPr>
              <a:t>-3 = 11111101</a:t>
            </a:r>
          </a:p>
          <a:p>
            <a:r>
              <a:rPr lang="ru-RU" dirty="0">
                <a:latin typeface="Consolas" panose="020B0609020204030204" pitchFamily="49" charset="0"/>
              </a:rPr>
              <a:t>+6 = 00000110</a:t>
            </a:r>
          </a:p>
          <a:p>
            <a:r>
              <a:rPr lang="ru-RU" dirty="0">
                <a:latin typeface="Consolas" panose="020B0609020204030204" pitchFamily="49" charset="0"/>
              </a:rPr>
              <a:t>-6 = 11111010</a:t>
            </a:r>
          </a:p>
          <a:p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11111101 (-3)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+ 11111010 (-6)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-----------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11110111</a:t>
            </a:r>
            <a:r>
              <a:rPr lang="ru-RU" dirty="0">
                <a:latin typeface="Consolas" panose="020B0609020204030204" pitchFamily="49" charset="0"/>
              </a:rPr>
              <a:t> (-9)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64D29A-4B36-4F71-043B-15D854064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(-2) + (7) = 5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103158-A110-489E-8D30-DBEBFE08A0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+2 = 00000010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-2 = 11111110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+7 = 00000111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11111110 (-2)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+ 00000111 (7)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-----------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00000101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CCFEAC-0825-A45F-48DF-5B298CFD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63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77962B-227F-BCE6-018E-293CB1DC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использовать </a:t>
            </a:r>
            <a:r>
              <a:rPr lang="en-US" dirty="0"/>
              <a:t>unsigned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473C16-78BC-76DE-843F-FB968E6AD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Типы </a:t>
            </a:r>
            <a:r>
              <a:rPr lang="ru-RU" dirty="0" err="1"/>
              <a:t>unsigned</a:t>
            </a:r>
            <a:r>
              <a:rPr lang="ru-RU" dirty="0"/>
              <a:t> используются, когда значение не может быть отрицательным.</a:t>
            </a:r>
          </a:p>
          <a:p>
            <a:pPr lvl="1"/>
            <a:r>
              <a:rPr lang="ru-RU" dirty="0"/>
              <a:t>размеры объектов</a:t>
            </a:r>
            <a:endParaRPr lang="en-US" dirty="0"/>
          </a:p>
          <a:p>
            <a:pPr lvl="1"/>
            <a:r>
              <a:rPr lang="ru-RU" dirty="0"/>
              <a:t>количество элементов</a:t>
            </a:r>
            <a:endParaRPr lang="en-US" dirty="0"/>
          </a:p>
          <a:p>
            <a:pPr lvl="1"/>
            <a:r>
              <a:rPr lang="ru-RU" dirty="0"/>
              <a:t>индексы массивов</a:t>
            </a:r>
            <a:endParaRPr lang="en-US" dirty="0"/>
          </a:p>
          <a:p>
            <a:pPr lvl="1"/>
            <a:r>
              <a:rPr lang="ru-RU" dirty="0"/>
              <a:t>битовые маски и флаги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 err="1"/>
              <a:t>unsigned</a:t>
            </a:r>
            <a:r>
              <a:rPr lang="ru-RU" dirty="0"/>
              <a:t> 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count</a:t>
            </a:r>
            <a:r>
              <a:rPr lang="ru-RU" dirty="0"/>
              <a:t> = 100;</a:t>
            </a:r>
            <a:br>
              <a:rPr lang="ru-RU" dirty="0"/>
            </a:br>
            <a:r>
              <a:rPr lang="ru-RU" dirty="0" err="1"/>
              <a:t>unsigned</a:t>
            </a:r>
            <a:r>
              <a:rPr lang="ru-RU" dirty="0"/>
              <a:t> </a:t>
            </a:r>
            <a:r>
              <a:rPr lang="ru-RU" dirty="0" err="1"/>
              <a:t>char</a:t>
            </a:r>
            <a:r>
              <a:rPr lang="ru-RU" dirty="0"/>
              <a:t> </a:t>
            </a:r>
            <a:r>
              <a:rPr lang="ru-RU" dirty="0" err="1"/>
              <a:t>flags</a:t>
            </a:r>
            <a:r>
              <a:rPr lang="ru-RU" dirty="0"/>
              <a:t> = 0;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больший диапазон положительных значений</a:t>
            </a:r>
            <a:endParaRPr lang="en-US" dirty="0"/>
          </a:p>
          <a:p>
            <a:pPr lvl="1"/>
            <a:r>
              <a:rPr lang="ru-RU" dirty="0"/>
              <a:t>естественно подходит для работы с битами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8D6DD-5C02-0B02-CCED-035A277F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85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F5AD-8B8E-7E74-F075-5FD43BC3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Переполнение знаковых и беззнаковых чисел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51539-5B42-3AB1-A520-2FBBA07D2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9881" cy="4351338"/>
          </a:xfrm>
        </p:spPr>
        <p:txBody>
          <a:bodyPr>
            <a:normAutofit/>
          </a:bodyPr>
          <a:lstStyle/>
          <a:p>
            <a:r>
              <a:rPr lang="ru-RU" dirty="0"/>
              <a:t>Диапазон значений типа </a:t>
            </a:r>
            <a:r>
              <a:rPr lang="ru-RU" b="1" dirty="0"/>
              <a:t>ограничен</a:t>
            </a:r>
            <a:r>
              <a:rPr lang="ru-RU" dirty="0"/>
              <a:t>. Если результат выходит за пределы диапазона — происходит </a:t>
            </a:r>
            <a:r>
              <a:rPr lang="ru-RU" b="1" dirty="0"/>
              <a:t>переполнение</a:t>
            </a:r>
            <a:r>
              <a:rPr lang="ru-RU" dirty="0"/>
              <a:t>.</a:t>
            </a:r>
          </a:p>
          <a:p>
            <a:r>
              <a:rPr lang="ru-RU" b="1" dirty="0"/>
              <a:t>Беззнаковые числа (</a:t>
            </a:r>
            <a:r>
              <a:rPr lang="ru-RU" b="1" dirty="0" err="1"/>
              <a:t>unsigned</a:t>
            </a:r>
            <a:r>
              <a:rPr lang="ru-RU" b="1" dirty="0"/>
              <a:t>)</a:t>
            </a:r>
          </a:p>
          <a:p>
            <a:pPr lvl="1"/>
            <a:r>
              <a:rPr lang="ru-RU" dirty="0"/>
              <a:t>Арифметика выполняется </a:t>
            </a:r>
            <a:r>
              <a:rPr lang="ru-RU" b="1" dirty="0"/>
              <a:t>по модулю 2ⁿ</a:t>
            </a:r>
            <a:r>
              <a:rPr lang="ru-RU" dirty="0"/>
              <a:t>.</a:t>
            </a:r>
          </a:p>
          <a:p>
            <a:r>
              <a:rPr lang="ru-RU" b="1" dirty="0"/>
              <a:t>Знаковые числа (</a:t>
            </a:r>
            <a:r>
              <a:rPr lang="ru-RU" b="1" dirty="0" err="1"/>
              <a:t>signed</a:t>
            </a:r>
            <a:r>
              <a:rPr lang="ru-RU" b="1" dirty="0"/>
              <a:t>)</a:t>
            </a:r>
          </a:p>
          <a:p>
            <a:pPr lvl="1"/>
            <a:r>
              <a:rPr lang="ru-RU" dirty="0"/>
              <a:t>Переполнение </a:t>
            </a:r>
            <a:r>
              <a:rPr lang="ru-RU" b="1" dirty="0"/>
              <a:t>не определено стандартом C</a:t>
            </a:r>
            <a:r>
              <a:rPr lang="ru-RU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A2351-937F-0A63-D6E0-230D3EAD0AD6}"/>
              </a:ext>
            </a:extLst>
          </p:cNvPr>
          <p:cNvSpPr txBox="1"/>
          <p:nvPr/>
        </p:nvSpPr>
        <p:spPr>
          <a:xfrm>
            <a:off x="7707085" y="1825625"/>
            <a:ext cx="44849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limits.h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UCHAR_MAX;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"x: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 += 1: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INT_MAX;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 + 1: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(y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puts(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"Overflow\n"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348FB-AE9F-B600-89F6-7A951C137AA2}"/>
              </a:ext>
            </a:extLst>
          </p:cNvPr>
          <p:cNvSpPr txBox="1"/>
          <p:nvPr/>
        </p:nvSpPr>
        <p:spPr>
          <a:xfrm>
            <a:off x="6488977" y="5838409"/>
            <a:ext cx="2865118" cy="8617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600" dirty="0">
                <a:latin typeface="Consolas" panose="020B0609020204030204" pitchFamily="49" charset="0"/>
              </a:rPr>
              <a:t>x: 255</a:t>
            </a:r>
          </a:p>
          <a:p>
            <a:r>
              <a:rPr lang="es-ES" sz="1600" dirty="0">
                <a:latin typeface="Consolas" panose="020B0609020204030204" pitchFamily="49" charset="0"/>
              </a:rPr>
              <a:t>x += 1: 0</a:t>
            </a:r>
          </a:p>
          <a:p>
            <a:r>
              <a:rPr lang="es-ES" sz="1600" dirty="0">
                <a:latin typeface="Consolas" panose="020B0609020204030204" pitchFamily="49" charset="0"/>
              </a:rPr>
              <a:t>y + 1: -2147483648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66356-6A0D-75DE-71D2-5B102F5F0E1D}"/>
              </a:ext>
            </a:extLst>
          </p:cNvPr>
          <p:cNvSpPr txBox="1"/>
          <p:nvPr/>
        </p:nvSpPr>
        <p:spPr>
          <a:xfrm>
            <a:off x="1181398" y="5992297"/>
            <a:ext cx="3717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https://godbolt.org/z/5G4MMW1q3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435E1B8-5856-DBBE-6DC5-A1F2AB83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1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CCB1C8-2F41-754F-EC47-40A95CD8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Целые типы фиксированной разрядности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3A18A-AE0E-30F0-898B-3159D7317E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3"/>
              </a:rPr>
              <a:t>#include &lt;</a:t>
            </a:r>
            <a:r>
              <a:rPr lang="en-US" dirty="0" err="1">
                <a:hlinkClick r:id="rId3"/>
              </a:rPr>
              <a:t>stdint.h</a:t>
            </a:r>
            <a:r>
              <a:rPr lang="en-US" dirty="0">
                <a:hlinkClick r:id="rId3"/>
              </a:rPr>
              <a:t>&gt;</a:t>
            </a:r>
            <a:endParaRPr lang="en-US" dirty="0"/>
          </a:p>
          <a:p>
            <a:r>
              <a:rPr lang="ru-RU" dirty="0"/>
              <a:t>Типы с </a:t>
            </a:r>
            <a:r>
              <a:rPr lang="ru-RU" b="1" dirty="0"/>
              <a:t>точно заданным размером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int8_t, int16_t, int32_t, int64_t</a:t>
            </a:r>
          </a:p>
          <a:p>
            <a:pPr lvl="1"/>
            <a:r>
              <a:rPr lang="en-US" dirty="0"/>
              <a:t>uint8_t, uint16_t, uint32_t, uint64_t</a:t>
            </a:r>
          </a:p>
          <a:p>
            <a:r>
              <a:rPr lang="ru-RU" dirty="0"/>
              <a:t>Типы с размером, не меньше заданного</a:t>
            </a:r>
            <a:endParaRPr lang="en-US" dirty="0"/>
          </a:p>
          <a:p>
            <a:pPr lvl="1"/>
            <a:r>
              <a:rPr lang="en-US" dirty="0" err="1"/>
              <a:t>int_fast</a:t>
            </a:r>
            <a:r>
              <a:rPr lang="en-US" i="1" dirty="0" err="1"/>
              <a:t>N</a:t>
            </a:r>
            <a:r>
              <a:rPr lang="en-US" dirty="0" err="1"/>
              <a:t>_t</a:t>
            </a:r>
            <a:r>
              <a:rPr lang="en-US" dirty="0"/>
              <a:t>, </a:t>
            </a:r>
            <a:r>
              <a:rPr lang="en-US" dirty="0" err="1"/>
              <a:t>uint_fast</a:t>
            </a:r>
            <a:r>
              <a:rPr lang="en-US" i="1" dirty="0" err="1"/>
              <a:t>N</a:t>
            </a:r>
            <a:r>
              <a:rPr lang="en-US" dirty="0" err="1"/>
              <a:t>_t</a:t>
            </a:r>
            <a:endParaRPr lang="en-US" dirty="0"/>
          </a:p>
          <a:p>
            <a:pPr lvl="1"/>
            <a:r>
              <a:rPr lang="en-US" dirty="0" err="1"/>
              <a:t>int_least</a:t>
            </a:r>
            <a:r>
              <a:rPr lang="en-US" i="1" dirty="0" err="1"/>
              <a:t>N</a:t>
            </a:r>
            <a:r>
              <a:rPr lang="en-US" dirty="0" err="1"/>
              <a:t>_t</a:t>
            </a:r>
            <a:r>
              <a:rPr lang="en-US" dirty="0"/>
              <a:t>, </a:t>
            </a:r>
            <a:r>
              <a:rPr lang="en-US" dirty="0" err="1"/>
              <a:t>uint_least</a:t>
            </a:r>
            <a:r>
              <a:rPr lang="en-US" i="1" dirty="0" err="1"/>
              <a:t>N</a:t>
            </a:r>
            <a:r>
              <a:rPr lang="en-US" dirty="0" err="1"/>
              <a:t>_t</a:t>
            </a:r>
            <a:endParaRPr lang="en-US" dirty="0"/>
          </a:p>
          <a:p>
            <a:r>
              <a:rPr lang="ru-RU" dirty="0"/>
              <a:t>Прочие целые типы</a:t>
            </a:r>
          </a:p>
          <a:p>
            <a:pPr lvl="1"/>
            <a:r>
              <a:rPr lang="en-US" dirty="0" err="1"/>
              <a:t>intptr_t</a:t>
            </a:r>
            <a:r>
              <a:rPr lang="en-US" dirty="0"/>
              <a:t>, </a:t>
            </a:r>
            <a:r>
              <a:rPr lang="en-US" dirty="0" err="1"/>
              <a:t>uintptr_t</a:t>
            </a:r>
            <a:endParaRPr lang="en-US" dirty="0"/>
          </a:p>
          <a:p>
            <a:pPr lvl="1"/>
            <a:r>
              <a:rPr lang="en-US" dirty="0" err="1"/>
              <a:t>intmax_t</a:t>
            </a:r>
            <a:r>
              <a:rPr lang="en-US" dirty="0"/>
              <a:t>, </a:t>
            </a:r>
            <a:r>
              <a:rPr lang="en-US" dirty="0" err="1"/>
              <a:t>uintmax_t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086760-2F8B-6E5E-E1B1-DA1637BCD5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Когда используются</a:t>
            </a:r>
            <a:endParaRPr lang="ru-RU" dirty="0"/>
          </a:p>
          <a:p>
            <a:pPr lvl="1"/>
            <a:r>
              <a:rPr lang="ru-RU" dirty="0"/>
              <a:t>работа с протоколами и</a:t>
            </a:r>
            <a:endParaRPr lang="en-US" dirty="0"/>
          </a:p>
          <a:p>
            <a:pPr lvl="1"/>
            <a:r>
              <a:rPr lang="ru-RU" dirty="0"/>
              <a:t>бинарными форматами</a:t>
            </a:r>
            <a:endParaRPr lang="en-US" dirty="0"/>
          </a:p>
          <a:p>
            <a:pPr lvl="1"/>
            <a:r>
              <a:rPr lang="ru-RU" dirty="0"/>
              <a:t>сетевые пакеты</a:t>
            </a:r>
            <a:endParaRPr lang="en-US" dirty="0"/>
          </a:p>
          <a:p>
            <a:pPr lvl="1"/>
            <a:r>
              <a:rPr lang="ru-RU" dirty="0"/>
              <a:t>файлы фиксированного формата</a:t>
            </a:r>
            <a:endParaRPr lang="en-US" dirty="0"/>
          </a:p>
          <a:p>
            <a:pPr lvl="1"/>
            <a:r>
              <a:rPr lang="ru-RU" dirty="0" err="1"/>
              <a:t>embedded</a:t>
            </a:r>
            <a:r>
              <a:rPr lang="ru-RU" dirty="0"/>
              <a:t>-разработка</a:t>
            </a:r>
            <a:endParaRPr lang="en-US" dirty="0"/>
          </a:p>
          <a:p>
            <a:pPr lvl="1"/>
            <a:r>
              <a:rPr lang="ru-RU" dirty="0"/>
              <a:t>аппаратные регистры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3F7F6-4F12-972A-2F48-D2AE1067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6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3E0B73-3DB8-565A-518E-0FE0BF7A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Сравниваем время обработки массивов разного типа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CFF61-FACC-1414-99C7-68FC9F9B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C762C-9D77-C57E-DA5A-FF1DBBD73631}"/>
              </a:ext>
            </a:extLst>
          </p:cNvPr>
          <p:cNvSpPr txBox="1"/>
          <p:nvPr/>
        </p:nvSpPr>
        <p:spPr>
          <a:xfrm>
            <a:off x="38100" y="1690688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SumU16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size = 300 000 000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SumU32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size = 300 000 000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SumU64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size = 300 000 000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9D467-D986-BB47-CB40-07C79180360B}"/>
              </a:ext>
            </a:extLst>
          </p:cNvPr>
          <p:cNvSpPr txBox="1"/>
          <p:nvPr/>
        </p:nvSpPr>
        <p:spPr>
          <a:xfrm>
            <a:off x="5676899" y="5677138"/>
            <a:ext cx="4876801" cy="8617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unsigned short:     time = 0.072238 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unsigned int:       time = 0.085174 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unsigned long </a:t>
            </a:r>
            <a:r>
              <a:rPr lang="en-US" sz="1600" dirty="0" err="1">
                <a:latin typeface="Consolas" panose="020B0609020204030204" pitchFamily="49" charset="0"/>
              </a:rPr>
              <a:t>long</a:t>
            </a:r>
            <a:r>
              <a:rPr lang="en-US" sz="1600" dirty="0">
                <a:latin typeface="Consolas" panose="020B0609020204030204" pitchFamily="49" charset="0"/>
              </a:rPr>
              <a:t>: time = 0.125652 s</a:t>
            </a:r>
          </a:p>
        </p:txBody>
      </p:sp>
    </p:spTree>
    <p:extLst>
      <p:ext uri="{BB962C8B-B14F-4D97-AF65-F5344CB8AC3E}">
        <p14:creationId xmlns:p14="http://schemas.microsoft.com/office/powerpoint/2010/main" val="19940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1263B5-57E0-A48A-AF95-4A3CF481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байтов в памяти</a:t>
            </a:r>
            <a:r>
              <a:rPr lang="en-US" dirty="0"/>
              <a:t> (Endianness)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A2701B-217A-2042-3C22-31BDC6B42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CDEAD-4D64-D92D-1654-881DE57C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24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94DE0F-2C50-10A8-18A0-CE525F35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</a:t>
            </a:r>
            <a:r>
              <a:rPr lang="ru-RU" dirty="0" err="1"/>
              <a:t>многобайтовые</a:t>
            </a:r>
            <a:r>
              <a:rPr lang="ru-RU" dirty="0"/>
              <a:t> числа хранятся в памяти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A62913-66A7-AD61-98E8-0B65AD381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Мы знаем, что:</a:t>
            </a:r>
          </a:p>
          <a:p>
            <a:pPr lvl="1"/>
            <a:r>
              <a:rPr lang="ru-RU" dirty="0"/>
              <a:t>число может занимать </a:t>
            </a:r>
            <a:r>
              <a:rPr lang="ru-RU" b="1" dirty="0"/>
              <a:t>несколько байтов</a:t>
            </a:r>
            <a:endParaRPr lang="ru-RU" dirty="0"/>
          </a:p>
          <a:p>
            <a:pPr lvl="1"/>
            <a:r>
              <a:rPr lang="ru-RU" dirty="0"/>
              <a:t>память адресуется </a:t>
            </a:r>
            <a:r>
              <a:rPr lang="ru-RU" b="1" dirty="0"/>
              <a:t>по байтам</a:t>
            </a:r>
            <a:endParaRPr lang="ru-RU" dirty="0"/>
          </a:p>
          <a:p>
            <a:r>
              <a:rPr lang="ru-RU" dirty="0"/>
              <a:t>Возникает вопрос:</a:t>
            </a:r>
          </a:p>
          <a:p>
            <a:pPr lvl="1"/>
            <a:r>
              <a:rPr lang="ru-RU" dirty="0"/>
              <a:t>в каком порядке байты числа размещаются в памяти?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/>
              <a:t>uint32_t x = 0x12345678</a:t>
            </a:r>
          </a:p>
          <a:p>
            <a:r>
              <a:rPr lang="ru-RU" dirty="0"/>
              <a:t>Возможны разные варианты размещения байтов.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4C51D-7A5C-F00D-DA24-7EEB8363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28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2260-1DFE-2818-C5E8-66CB0DFA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endian и Big endian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A7C2-F76F-8BC4-5AE1-82A6B81E6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Существует два основных способа размещения байтов.</a:t>
            </a:r>
          </a:p>
          <a:p>
            <a:r>
              <a:rPr lang="ru-RU" b="1" dirty="0"/>
              <a:t>Big </a:t>
            </a:r>
            <a:r>
              <a:rPr lang="ru-RU" b="1" dirty="0" err="1"/>
              <a:t>endian</a:t>
            </a:r>
            <a:endParaRPr lang="ru-RU" dirty="0"/>
          </a:p>
          <a:p>
            <a:pPr lvl="1"/>
            <a:r>
              <a:rPr lang="ru-RU" dirty="0"/>
              <a:t>Адрес →</a:t>
            </a:r>
            <a:r>
              <a:rPr lang="en-US" dirty="0"/>
              <a:t>		</a:t>
            </a:r>
            <a:r>
              <a:rPr lang="ru-RU" dirty="0">
                <a:latin typeface="Consolas" panose="020B0609020204030204" pitchFamily="49" charset="0"/>
              </a:rPr>
              <a:t>1000 1001 1002 1003</a:t>
            </a:r>
            <a:br>
              <a:rPr lang="ru-RU" dirty="0"/>
            </a:br>
            <a:r>
              <a:rPr lang="ru-RU" dirty="0"/>
              <a:t>Данные →</a:t>
            </a:r>
            <a:r>
              <a:rPr lang="en-US" dirty="0"/>
              <a:t>	</a:t>
            </a:r>
            <a:r>
              <a:rPr lang="ru-RU" dirty="0">
                <a:latin typeface="Consolas" panose="020B0609020204030204" pitchFamily="49" charset="0"/>
              </a:rPr>
              <a:t>12   34   56   78</a:t>
            </a:r>
          </a:p>
          <a:p>
            <a:pPr lvl="1"/>
            <a:r>
              <a:rPr lang="ru-RU" b="1" dirty="0"/>
              <a:t>Старший</a:t>
            </a:r>
            <a:r>
              <a:rPr lang="ru-RU" dirty="0"/>
              <a:t> байт хранится первым.</a:t>
            </a:r>
          </a:p>
          <a:p>
            <a:r>
              <a:rPr lang="ru-RU" b="1" dirty="0"/>
              <a:t>Little </a:t>
            </a:r>
            <a:r>
              <a:rPr lang="ru-RU" b="1" dirty="0" err="1"/>
              <a:t>endian</a:t>
            </a:r>
            <a:endParaRPr lang="ru-RU" dirty="0"/>
          </a:p>
          <a:p>
            <a:pPr lvl="1"/>
            <a:r>
              <a:rPr lang="ru-RU" dirty="0"/>
              <a:t>Адрес →   </a:t>
            </a:r>
            <a:r>
              <a:rPr lang="en-US" dirty="0"/>
              <a:t>	</a:t>
            </a:r>
            <a:r>
              <a:rPr lang="ru-RU" dirty="0">
                <a:latin typeface="Consolas" panose="020B0609020204030204" pitchFamily="49" charset="0"/>
              </a:rPr>
              <a:t>1000 1001 1002 1003</a:t>
            </a:r>
            <a:br>
              <a:rPr lang="ru-RU" dirty="0"/>
            </a:br>
            <a:r>
              <a:rPr lang="ru-RU" dirty="0"/>
              <a:t>Данные →   </a:t>
            </a:r>
            <a:r>
              <a:rPr lang="en-US" dirty="0"/>
              <a:t>	</a:t>
            </a:r>
            <a:r>
              <a:rPr lang="ru-RU" dirty="0">
                <a:latin typeface="Consolas" panose="020B0609020204030204" pitchFamily="49" charset="0"/>
              </a:rPr>
              <a:t>78   56   34   12</a:t>
            </a:r>
          </a:p>
          <a:p>
            <a:pPr lvl="1"/>
            <a:r>
              <a:rPr lang="ru-RU" b="1" dirty="0"/>
              <a:t>Младший</a:t>
            </a:r>
            <a:r>
              <a:rPr lang="ru-RU" dirty="0"/>
              <a:t> байт хранится первым.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9EC7E-B573-99D0-0AAF-380658EB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10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69F707-1D7B-49FA-9517-BF745865C7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62" b="5119"/>
          <a:stretch/>
        </p:blipFill>
        <p:spPr>
          <a:xfrm>
            <a:off x="5735960" y="1088740"/>
            <a:ext cx="6096851" cy="262829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представления числа 666 в виде типа </a:t>
            </a:r>
            <a:r>
              <a:rPr lang="en-US" dirty="0"/>
              <a:t>short </a:t>
            </a:r>
            <a:r>
              <a:rPr lang="ru-RU" dirty="0"/>
              <a:t>и </a:t>
            </a:r>
            <a:r>
              <a:rPr lang="en-US" dirty="0" err="1"/>
              <a:t>int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988841"/>
            <a:ext cx="4313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Дано:</a:t>
            </a:r>
            <a:endParaRPr lang="en-US" dirty="0"/>
          </a:p>
          <a:p>
            <a:r>
              <a:rPr lang="ru-RU" dirty="0"/>
              <a:t>разрядность типа </a:t>
            </a:r>
            <a:r>
              <a:rPr lang="en-US" dirty="0"/>
              <a:t>char = 8 </a:t>
            </a:r>
            <a:r>
              <a:rPr lang="ru-RU" dirty="0"/>
              <a:t>бит</a:t>
            </a:r>
          </a:p>
          <a:p>
            <a:r>
              <a:rPr lang="ru-RU" dirty="0"/>
              <a:t>разрядность типа </a:t>
            </a:r>
            <a:r>
              <a:rPr lang="en-US" dirty="0"/>
              <a:t>short = 16 </a:t>
            </a:r>
            <a:r>
              <a:rPr lang="ru-RU" dirty="0"/>
              <a:t>бит</a:t>
            </a:r>
          </a:p>
          <a:p>
            <a:r>
              <a:rPr lang="ru-RU" dirty="0"/>
              <a:t>разрядность типа </a:t>
            </a:r>
            <a:r>
              <a:rPr lang="en-US" dirty="0" err="1"/>
              <a:t>int</a:t>
            </a:r>
            <a:r>
              <a:rPr lang="en-US" dirty="0"/>
              <a:t> = 32 </a:t>
            </a:r>
            <a:r>
              <a:rPr lang="ru-RU" dirty="0"/>
              <a:t>бита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43809"/>
            <a:ext cx="2592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666</a:t>
            </a:r>
            <a:r>
              <a:rPr lang="ru-RU" baseline="-25000" dirty="0"/>
              <a:t>256</a:t>
            </a:r>
            <a:r>
              <a:rPr lang="ru-RU" dirty="0"/>
              <a:t> = 2 * 256 + 154 * 1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1937539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154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2567609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3197679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3827749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6077998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6708068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35" name="Прямоугольник 34"/>
          <p:cNvSpPr/>
          <p:nvPr/>
        </p:nvSpPr>
        <p:spPr>
          <a:xfrm>
            <a:off x="7338138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36" name="Прямоугольник 35"/>
          <p:cNvSpPr/>
          <p:nvPr/>
        </p:nvSpPr>
        <p:spPr>
          <a:xfrm>
            <a:off x="7968208" y="450912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9558" y="4005064"/>
            <a:ext cx="136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6528049" y="4005064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947429" y="4581128"/>
            <a:ext cx="4055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int</a:t>
            </a:r>
            <a:endParaRPr lang="ru-RU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947429" y="5301208"/>
            <a:ext cx="622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short</a:t>
            </a:r>
            <a:endParaRPr lang="ru-RU" sz="1600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1901535" y="522920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154</a:t>
            </a:r>
          </a:p>
        </p:txBody>
      </p:sp>
      <p:sp>
        <p:nvSpPr>
          <p:cNvPr id="42" name="Прямоугольник 41"/>
          <p:cNvSpPr/>
          <p:nvPr/>
        </p:nvSpPr>
        <p:spPr>
          <a:xfrm>
            <a:off x="2531605" y="522920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6096000" y="522920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48" name="Прямоугольник 47"/>
          <p:cNvSpPr/>
          <p:nvPr/>
        </p:nvSpPr>
        <p:spPr>
          <a:xfrm>
            <a:off x="6726070" y="5229200"/>
            <a:ext cx="630070" cy="540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1453551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A4D0-1E84-0229-6951-37FB8136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это имеет значение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93C1E-E2E1-8DBC-557F-20DD4D927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Порядок байт важен когда программа:</a:t>
            </a:r>
          </a:p>
          <a:p>
            <a:pPr lvl="1"/>
            <a:r>
              <a:rPr lang="ru-RU" dirty="0"/>
              <a:t>работает с сырыми байтами памяти</a:t>
            </a:r>
            <a:endParaRPr lang="en-US" dirty="0"/>
          </a:p>
          <a:p>
            <a:pPr lvl="1"/>
            <a:r>
              <a:rPr lang="ru-RU" dirty="0"/>
              <a:t>читает бинарные файлы</a:t>
            </a:r>
            <a:endParaRPr lang="en-US" dirty="0"/>
          </a:p>
          <a:p>
            <a:pPr lvl="1"/>
            <a:r>
              <a:rPr lang="ru-RU" dirty="0"/>
              <a:t>передаёт данные по сети</a:t>
            </a:r>
            <a:endParaRPr lang="en-US" dirty="0"/>
          </a:p>
          <a:p>
            <a:pPr lvl="1"/>
            <a:r>
              <a:rPr lang="ru-RU" dirty="0"/>
              <a:t>взаимодействует с аппаратными устройствами</a:t>
            </a:r>
          </a:p>
          <a:p>
            <a:r>
              <a:rPr lang="ru-RU" dirty="0"/>
              <a:t>Современные архитектуры:</a:t>
            </a:r>
            <a:endParaRPr lang="en-US" dirty="0"/>
          </a:p>
          <a:p>
            <a:pPr lvl="1"/>
            <a:r>
              <a:rPr lang="ru-RU" dirty="0"/>
              <a:t>x86 / x86-64 → 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endian</a:t>
            </a:r>
            <a:endParaRPr lang="en-US" dirty="0"/>
          </a:p>
          <a:p>
            <a:pPr lvl="1"/>
            <a:r>
              <a:rPr lang="ru-RU" dirty="0"/>
              <a:t>ARM → обычно 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endian</a:t>
            </a:r>
            <a:endParaRPr lang="en-US" dirty="0"/>
          </a:p>
          <a:p>
            <a:r>
              <a:rPr lang="ru-RU" dirty="0"/>
              <a:t>Архитектуры, использовавшие </a:t>
            </a:r>
            <a:r>
              <a:rPr lang="en-US" dirty="0"/>
              <a:t>Big Endian</a:t>
            </a:r>
          </a:p>
          <a:p>
            <a:pPr lvl="1"/>
            <a:r>
              <a:rPr lang="en-US" dirty="0"/>
              <a:t>Motorola 68000</a:t>
            </a:r>
          </a:p>
          <a:p>
            <a:pPr lvl="1"/>
            <a:r>
              <a:rPr lang="en-US" dirty="0"/>
              <a:t>IBM System/360 </a:t>
            </a:r>
            <a:r>
              <a:rPr lang="ru-RU" dirty="0"/>
              <a:t>и </a:t>
            </a:r>
            <a:r>
              <a:rPr lang="en-US" dirty="0"/>
              <a:t>System/370</a:t>
            </a:r>
          </a:p>
          <a:p>
            <a:pPr lvl="1"/>
            <a:r>
              <a:rPr lang="en-US" dirty="0"/>
              <a:t>SPARC</a:t>
            </a:r>
          </a:p>
          <a:p>
            <a:pPr lvl="1"/>
            <a:r>
              <a:rPr lang="en-US" dirty="0"/>
              <a:t>PowerPC</a:t>
            </a:r>
            <a:endParaRPr lang="ru-RU" dirty="0"/>
          </a:p>
          <a:p>
            <a:r>
              <a:rPr lang="ru-RU" dirty="0"/>
              <a:t>Поэтому программа иногда должна явно учитывать порядок байтов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6C2E8-B999-FC33-A5A4-EE6F9450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9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90354-6DA8-3DA6-CC81-3023708C8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справка: порядок байтов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6C5C-BD9F-77D3-CB80-3AC59D394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Разные архитектуры выбрали разные соглашения о порядке байтов.</a:t>
            </a:r>
          </a:p>
          <a:p>
            <a:r>
              <a:rPr lang="en-US" dirty="0"/>
              <a:t>Big endian</a:t>
            </a:r>
          </a:p>
          <a:p>
            <a:pPr lvl="1"/>
            <a:r>
              <a:rPr lang="en-US" dirty="0"/>
              <a:t>Motorola 68000</a:t>
            </a:r>
          </a:p>
          <a:p>
            <a:pPr lvl="1"/>
            <a:r>
              <a:rPr lang="en-US" dirty="0"/>
              <a:t>IBM System/360 </a:t>
            </a:r>
            <a:r>
              <a:rPr lang="ru-RU" dirty="0"/>
              <a:t>и </a:t>
            </a:r>
            <a:r>
              <a:rPr lang="en-US" dirty="0"/>
              <a:t>z/Architecture</a:t>
            </a:r>
          </a:p>
          <a:p>
            <a:pPr lvl="1"/>
            <a:r>
              <a:rPr lang="en-US" dirty="0"/>
              <a:t>SPARC</a:t>
            </a:r>
          </a:p>
          <a:p>
            <a:pPr lvl="1"/>
            <a:r>
              <a:rPr lang="en-US" dirty="0"/>
              <a:t>PowerPC (</a:t>
            </a:r>
            <a:r>
              <a:rPr lang="ru-RU" dirty="0"/>
              <a:t>часто)</a:t>
            </a:r>
          </a:p>
          <a:p>
            <a:r>
              <a:rPr lang="en-US" dirty="0"/>
              <a:t>Little endian</a:t>
            </a:r>
          </a:p>
          <a:p>
            <a:pPr lvl="1"/>
            <a:r>
              <a:rPr lang="en-US" dirty="0"/>
              <a:t>Intel x86 / x86-64</a:t>
            </a:r>
          </a:p>
          <a:p>
            <a:pPr lvl="1"/>
            <a:r>
              <a:rPr lang="ru-RU" dirty="0"/>
              <a:t>большинстве современных </a:t>
            </a:r>
            <a:r>
              <a:rPr lang="en-US" dirty="0"/>
              <a:t>ARM </a:t>
            </a:r>
            <a:r>
              <a:rPr lang="ru-RU" dirty="0"/>
              <a:t>систем</a:t>
            </a:r>
          </a:p>
          <a:p>
            <a:r>
              <a:rPr lang="ru-RU" dirty="0"/>
              <a:t>В сетевых протоколах принят стандарт </a:t>
            </a:r>
            <a:r>
              <a:rPr lang="en-US" dirty="0"/>
              <a:t>network byte order </a:t>
            </a:r>
            <a:r>
              <a:rPr lang="ru-RU" dirty="0"/>
              <a:t>(</a:t>
            </a:r>
            <a:r>
              <a:rPr lang="en-US" dirty="0"/>
              <a:t>big endian</a:t>
            </a:r>
            <a:r>
              <a:rPr lang="ru-RU" dirty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8C1AC-CB0E-C44B-1786-9C5DBCA2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55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7570FE-98E5-7334-BFE0-C91546A5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представления числа в памяти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B1E4B-9CA8-C9DA-0CE8-90F8ED95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E92B3-C7C9-0F8D-1D7E-2E8D90994F49}"/>
              </a:ext>
            </a:extLst>
          </p:cNvPr>
          <p:cNvSpPr txBox="1"/>
          <p:nvPr/>
        </p:nvSpPr>
        <p:spPr>
          <a:xfrm>
            <a:off x="838200" y="1779687"/>
            <a:ext cx="651025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an integer: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&amp;x);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 =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*)&amp;x;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"Byte representation of %d: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"%02X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49C69-4E79-B020-0000-C1468373F48B}"/>
              </a:ext>
            </a:extLst>
          </p:cNvPr>
          <p:cNvSpPr txBox="1"/>
          <p:nvPr/>
        </p:nvSpPr>
        <p:spPr>
          <a:xfrm>
            <a:off x="4709160" y="6356350"/>
            <a:ext cx="3537065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https://godbolt.org/z/Yzdbxxeno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10617-1907-8FA5-69F5-3ECB96B7FE32}"/>
              </a:ext>
            </a:extLst>
          </p:cNvPr>
          <p:cNvSpPr txBox="1"/>
          <p:nvPr/>
        </p:nvSpPr>
        <p:spPr>
          <a:xfrm>
            <a:off x="6632518" y="4038500"/>
            <a:ext cx="5388032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Enter an integer: 1000</a:t>
            </a:r>
          </a:p>
          <a:p>
            <a:r>
              <a:rPr lang="en-US" dirty="0">
                <a:latin typeface="Consolas" panose="020B0609020204030204" pitchFamily="49" charset="0"/>
              </a:rPr>
              <a:t>Byte representation of 1000: E8 03 00 00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E5AF9F-A74F-FB8B-A993-3573CE2FE4C1}"/>
              </a:ext>
            </a:extLst>
          </p:cNvPr>
          <p:cNvSpPr txBox="1"/>
          <p:nvPr/>
        </p:nvSpPr>
        <p:spPr>
          <a:xfrm>
            <a:off x="6632518" y="5316537"/>
            <a:ext cx="5388032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Enter an integer: -15</a:t>
            </a:r>
          </a:p>
          <a:p>
            <a:r>
              <a:rPr lang="en-US" dirty="0">
                <a:latin typeface="Consolas" panose="020B0609020204030204" pitchFamily="49" charset="0"/>
              </a:rPr>
              <a:t>Byte representation of -15: F1 FF </a:t>
            </a:r>
            <a:r>
              <a:rPr lang="en-US" dirty="0" err="1">
                <a:latin typeface="Consolas" panose="020B0609020204030204" pitchFamily="49" charset="0"/>
              </a:rPr>
              <a:t>FF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FF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180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00AEBA-67C1-5354-0795-C71E43DA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операции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C274C-8255-D07E-EC50-692C20F2D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E754B-7AEB-7BC5-3EAA-D6E3CABF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10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416D5B-B469-291C-493C-F7E20A45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программе нужно работать с битами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9B4A7-C239-FE55-F718-8A8F2CA4F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Иногда число используется не как одно значение, а как </a:t>
            </a:r>
            <a:r>
              <a:rPr lang="ru-RU" b="1" dirty="0"/>
              <a:t>набор отдельных битов</a:t>
            </a:r>
            <a:r>
              <a:rPr lang="ru-RU" dirty="0"/>
              <a:t>.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флаги состояния</a:t>
            </a:r>
          </a:p>
          <a:p>
            <a:pPr lvl="1"/>
            <a:r>
              <a:rPr lang="ru-RU" dirty="0"/>
              <a:t>аппаратные регистры</a:t>
            </a:r>
          </a:p>
          <a:p>
            <a:pPr lvl="1"/>
            <a:r>
              <a:rPr lang="ru-RU" dirty="0"/>
              <a:t>битовые маски</a:t>
            </a:r>
          </a:p>
          <a:p>
            <a:pPr lvl="1"/>
            <a:r>
              <a:rPr lang="ru-RU" dirty="0"/>
              <a:t>шифрование данных</a:t>
            </a:r>
          </a:p>
          <a:p>
            <a:pPr lvl="1"/>
            <a:r>
              <a:rPr lang="ru-RU" dirty="0"/>
              <a:t>компрессия данных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E32C2-AA2F-1A8B-F7D1-15E54883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94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35B8-CFDA-19C8-EB2E-E8E91CF5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Биты как флаги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78713-ED82-60C0-F101-1011DCF6D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Одно число может хранить </a:t>
            </a:r>
            <a:r>
              <a:rPr lang="ru-RU" b="1" dirty="0"/>
              <a:t>несколько булевых значений</a:t>
            </a:r>
            <a:r>
              <a:rPr lang="ru-RU" dirty="0"/>
              <a:t>.</a:t>
            </a:r>
          </a:p>
          <a:p>
            <a:r>
              <a:rPr lang="ru-RU" dirty="0"/>
              <a:t>Пример (8 бит):</a:t>
            </a:r>
          </a:p>
          <a:p>
            <a:pPr lvl="1"/>
            <a:r>
              <a:rPr lang="ru-RU" dirty="0"/>
              <a:t>00000101</a:t>
            </a:r>
          </a:p>
          <a:p>
            <a:pPr lvl="1"/>
            <a:r>
              <a:rPr lang="ru-RU" dirty="0" err="1"/>
              <a:t>bit</a:t>
            </a:r>
            <a:r>
              <a:rPr lang="ru-RU" dirty="0"/>
              <a:t> 2 → 1 (устройство готово</a:t>
            </a:r>
            <a:r>
              <a:rPr lang="en-US" dirty="0"/>
              <a:t>?)</a:t>
            </a:r>
            <a:endParaRPr lang="ru-RU" dirty="0"/>
          </a:p>
          <a:p>
            <a:pPr lvl="1"/>
            <a:r>
              <a:rPr lang="ru-RU" dirty="0" err="1"/>
              <a:t>bit</a:t>
            </a:r>
            <a:r>
              <a:rPr lang="ru-RU" dirty="0"/>
              <a:t> 1 → 0</a:t>
            </a:r>
            <a:r>
              <a:rPr lang="en-US" dirty="0"/>
              <a:t> (</a:t>
            </a:r>
            <a:r>
              <a:rPr lang="ru-RU" dirty="0"/>
              <a:t>произошла ошибка</a:t>
            </a:r>
            <a:r>
              <a:rPr lang="en-US" dirty="0"/>
              <a:t>?)</a:t>
            </a:r>
            <a:endParaRPr lang="ru-RU" dirty="0"/>
          </a:p>
          <a:p>
            <a:pPr lvl="1"/>
            <a:r>
              <a:rPr lang="ru-RU" dirty="0" err="1"/>
              <a:t>bit</a:t>
            </a:r>
            <a:r>
              <a:rPr lang="ru-RU" dirty="0"/>
              <a:t> 0 → 1</a:t>
            </a:r>
            <a:r>
              <a:rPr lang="en-US" dirty="0"/>
              <a:t> (</a:t>
            </a:r>
            <a:r>
              <a:rPr lang="ru-RU" dirty="0"/>
              <a:t>есть новые данные</a:t>
            </a:r>
            <a:r>
              <a:rPr lang="en-US" dirty="0"/>
              <a:t>?)</a:t>
            </a:r>
            <a:endParaRPr lang="ru-RU" dirty="0"/>
          </a:p>
          <a:p>
            <a:r>
              <a:rPr lang="ru-RU" dirty="0"/>
              <a:t>Это можно интерпретировать как:</a:t>
            </a:r>
          </a:p>
          <a:p>
            <a:pPr lvl="1"/>
            <a:r>
              <a:rPr lang="ru-RU" dirty="0"/>
              <a:t>flag2 = </a:t>
            </a:r>
            <a:r>
              <a:rPr lang="ru-RU" dirty="0" err="1"/>
              <a:t>true</a:t>
            </a:r>
            <a:br>
              <a:rPr lang="ru-RU" dirty="0"/>
            </a:br>
            <a:r>
              <a:rPr lang="ru-RU" dirty="0"/>
              <a:t>flag1 = </a:t>
            </a:r>
            <a:r>
              <a:rPr lang="ru-RU" dirty="0" err="1"/>
              <a:t>false</a:t>
            </a:r>
            <a:br>
              <a:rPr lang="ru-RU" dirty="0"/>
            </a:br>
            <a:r>
              <a:rPr lang="ru-RU" dirty="0"/>
              <a:t>flag0 = </a:t>
            </a:r>
            <a:r>
              <a:rPr lang="ru-RU" dirty="0" err="1"/>
              <a:t>true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38388-FD10-948C-E1ED-3B24DCF8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64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2FF0-A488-0167-6317-F37582B62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операции в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02BD7-CF0A-BE7B-7750-508BAF4D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&amp;   побитовое AND</a:t>
            </a:r>
            <a:endParaRPr lang="en-US" dirty="0"/>
          </a:p>
          <a:p>
            <a:r>
              <a:rPr lang="ru-RU" dirty="0"/>
              <a:t>|   побитовое OR</a:t>
            </a:r>
            <a:endParaRPr lang="en-US" dirty="0"/>
          </a:p>
          <a:p>
            <a:r>
              <a:rPr lang="ru-RU" dirty="0"/>
              <a:t>^   побитовое XOR</a:t>
            </a:r>
            <a:endParaRPr lang="en-US" dirty="0"/>
          </a:p>
          <a:p>
            <a:r>
              <a:rPr lang="ru-RU" dirty="0"/>
              <a:t>~   побитовое NOT</a:t>
            </a:r>
            <a:endParaRPr lang="en-US" dirty="0"/>
          </a:p>
          <a:p>
            <a:r>
              <a:rPr lang="ru-RU" dirty="0"/>
              <a:t>&lt;&lt;  сдвиг влево</a:t>
            </a:r>
            <a:endParaRPr lang="en-US" dirty="0"/>
          </a:p>
          <a:p>
            <a:r>
              <a:rPr lang="ru-RU" dirty="0"/>
              <a:t>&gt;&gt;  сдвиг вправо</a:t>
            </a:r>
          </a:p>
          <a:p>
            <a:r>
              <a:rPr lang="ru-RU" dirty="0"/>
              <a:t>Они работают </a:t>
            </a:r>
            <a:r>
              <a:rPr lang="ru-RU" b="1" dirty="0"/>
              <a:t>с отдельными битами числа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A759A-AB68-BB1E-C39E-707539EE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2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2C95-FEE0-749C-8B05-60BAAAB6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Побитовое </a:t>
            </a:r>
            <a:r>
              <a:rPr lang="en-US" dirty="0"/>
              <a:t>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AF85-A97C-553F-5440-1CAF8748F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a &amp; b</a:t>
            </a:r>
          </a:p>
          <a:p>
            <a:r>
              <a:rPr lang="ru-RU" dirty="0"/>
              <a:t>Правило:</a:t>
            </a:r>
          </a:p>
          <a:p>
            <a:pPr marL="4572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1 &amp; 1 → 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 &amp; 0 → 0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0 &amp; 1 → 0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0 &amp; 0 → 0</a:t>
            </a:r>
          </a:p>
          <a:p>
            <a:r>
              <a:rPr lang="ru-RU" dirty="0"/>
              <a:t>Пример:</a:t>
            </a:r>
          </a:p>
          <a:p>
            <a:pPr marL="4572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1101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&amp;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1011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----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1001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5C5E-92D8-E016-F0BF-AE315295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99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31D5-5B1F-3CC1-67C9-11A2C846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Побитовое </a:t>
            </a:r>
            <a:r>
              <a:rPr lang="en-US" dirty="0"/>
              <a:t>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65CB-4669-CAD0-7944-9A453EB34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| b</a:t>
            </a:r>
          </a:p>
          <a:p>
            <a:r>
              <a:rPr lang="ru-RU" dirty="0"/>
              <a:t>Правило:</a:t>
            </a:r>
          </a:p>
          <a:p>
            <a:pPr marL="4572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1 | 1 → 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 | 0 → 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0 | 1 → 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0 | 0 → 0</a:t>
            </a:r>
          </a:p>
          <a:p>
            <a:r>
              <a:rPr lang="ru-RU" dirty="0"/>
              <a:t>Пример:</a:t>
            </a:r>
          </a:p>
          <a:p>
            <a:pPr marL="4572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110</a:t>
            </a:r>
            <a:r>
              <a:rPr lang="en-US" dirty="0">
                <a:latin typeface="Consolas" panose="020B0609020204030204" pitchFamily="49" charset="0"/>
              </a:rPr>
              <a:t>0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|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101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----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111</a:t>
            </a:r>
            <a:r>
              <a:rPr lang="en-US" dirty="0">
                <a:latin typeface="Consolas" panose="020B0609020204030204" pitchFamily="49" charset="0"/>
              </a:rPr>
              <a:t>0</a:t>
            </a:r>
            <a:endParaRPr lang="ru-RU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FDE11-5C66-40F9-6A53-8FB9C8A0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42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744B-8263-196D-3E19-523C8DD9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Побитовое </a:t>
            </a:r>
            <a:r>
              <a:rPr lang="en-US" dirty="0"/>
              <a:t>XOR (</a:t>
            </a:r>
            <a:r>
              <a:rPr lang="ru-RU" dirty="0"/>
              <a:t>Исключающее ИЛИ)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829A8-D19C-BD21-B54D-7992E8F9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a ^ b</a:t>
            </a:r>
          </a:p>
          <a:p>
            <a:r>
              <a:rPr lang="ru-RU" dirty="0"/>
              <a:t>Правило:</a:t>
            </a:r>
          </a:p>
          <a:p>
            <a:pPr marL="4572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1 ^ 1 → 0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 ^ 0 → 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0 ^ 1 → 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0 ^ 0 → 0</a:t>
            </a:r>
          </a:p>
          <a:p>
            <a:r>
              <a:rPr lang="ru-RU" dirty="0"/>
              <a:t>Пример:</a:t>
            </a:r>
          </a:p>
          <a:p>
            <a:pPr marL="457200" lvl="1" indent="0">
              <a:buNone/>
            </a:pPr>
            <a:r>
              <a:rPr lang="ru-RU" dirty="0">
                <a:latin typeface="Consolas" panose="020B0609020204030204" pitchFamily="49" charset="0"/>
              </a:rPr>
              <a:t>1101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^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1011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----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0110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15160-A643-E2EE-E7C7-B82133DD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74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67FA-A0EC-DF86-93C2-4DD657FE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Побитовое </a:t>
            </a:r>
            <a:r>
              <a:rPr lang="en-US" dirty="0"/>
              <a:t>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1E86D-84BF-DE28-8147-06E95D23F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~a</a:t>
            </a:r>
          </a:p>
          <a:p>
            <a:r>
              <a:rPr lang="ru-RU" dirty="0"/>
              <a:t>Инвертирует все биты числа.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00001111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~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11110000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A2A62-AC18-49DD-CB5D-DA89BF20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65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1BAD-BD92-B01C-C2FA-5166A931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Сдвиги битов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30748-E036-BCC6-C209-6E5CDC661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Сдвиг влево:</a:t>
            </a:r>
          </a:p>
          <a:p>
            <a:pPr lvl="1"/>
            <a:r>
              <a:rPr lang="ru-RU" dirty="0"/>
              <a:t>x &lt;&lt; n</a:t>
            </a:r>
          </a:p>
          <a:p>
            <a:pPr lvl="1"/>
            <a:r>
              <a:rPr lang="ru-RU" dirty="0"/>
              <a:t>Пример:</a:t>
            </a:r>
          </a:p>
          <a:p>
            <a:pPr lvl="2"/>
            <a:r>
              <a:rPr lang="ru-RU" dirty="0"/>
              <a:t>0</a:t>
            </a:r>
            <a:r>
              <a:rPr lang="en-US" dirty="0"/>
              <a:t>b</a:t>
            </a:r>
            <a:r>
              <a:rPr lang="ru-RU" dirty="0"/>
              <a:t>000</a:t>
            </a:r>
            <a:r>
              <a:rPr lang="en-US" dirty="0"/>
              <a:t>1</a:t>
            </a:r>
            <a:r>
              <a:rPr lang="ru-RU" dirty="0"/>
              <a:t>0001 &lt;&lt; 3 → 0</a:t>
            </a:r>
            <a:r>
              <a:rPr lang="en-US" dirty="0"/>
              <a:t>b1</a:t>
            </a:r>
            <a:r>
              <a:rPr lang="ru-RU" dirty="0"/>
              <a:t>0001000</a:t>
            </a:r>
          </a:p>
          <a:p>
            <a:r>
              <a:rPr lang="ru-RU" dirty="0"/>
              <a:t>Сдвиг вправо:</a:t>
            </a:r>
          </a:p>
          <a:p>
            <a:pPr lvl="1"/>
            <a:r>
              <a:rPr lang="ru-RU" dirty="0"/>
              <a:t>x &gt;&gt; n</a:t>
            </a:r>
          </a:p>
          <a:p>
            <a:pPr lvl="1"/>
            <a:r>
              <a:rPr lang="ru-RU" dirty="0"/>
              <a:t>Пример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0b11010001 &gt;&gt; 3 </a:t>
            </a:r>
            <a:r>
              <a:rPr lang="ru-RU" dirty="0"/>
              <a:t>→</a:t>
            </a:r>
            <a:r>
              <a:rPr lang="en-US" dirty="0"/>
              <a:t> 0b00011010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D7D35-0E38-1FE3-C6CE-D9F56792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95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5865-A4C0-BDD7-8D03-A4D3515C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Типичные операции над битами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0E687-A82A-2892-4225-8B67F03A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Проверка,</a:t>
            </a:r>
            <a:r>
              <a:rPr lang="en-US" dirty="0"/>
              <a:t> </a:t>
            </a:r>
            <a:r>
              <a:rPr lang="ru-RU" dirty="0"/>
              <a:t>установлен ли </a:t>
            </a:r>
            <a:r>
              <a:rPr lang="en-US" dirty="0"/>
              <a:t>k-</a:t>
            </a:r>
            <a:r>
              <a:rPr lang="ru-RU" dirty="0"/>
              <a:t>й бит в </a:t>
            </a:r>
            <a:r>
              <a:rPr lang="en-US" dirty="0"/>
              <a:t>x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x &amp; (1 &lt;&lt; k)</a:t>
            </a:r>
            <a:endParaRPr lang="ru-RU" dirty="0"/>
          </a:p>
          <a:p>
            <a:r>
              <a:rPr lang="ru-RU" dirty="0"/>
              <a:t>Установка </a:t>
            </a:r>
            <a:r>
              <a:rPr lang="en-US" dirty="0"/>
              <a:t>k-</a:t>
            </a:r>
            <a:r>
              <a:rPr lang="ru-RU" dirty="0"/>
              <a:t>го бита:</a:t>
            </a:r>
          </a:p>
          <a:p>
            <a:pPr lvl="1"/>
            <a:r>
              <a:rPr lang="en-US" dirty="0"/>
              <a:t>x |= (1 &lt;&lt; k)</a:t>
            </a:r>
          </a:p>
          <a:p>
            <a:r>
              <a:rPr lang="ru-RU" dirty="0"/>
              <a:t>Сброс</a:t>
            </a:r>
            <a:r>
              <a:rPr lang="en-US" dirty="0"/>
              <a:t> k-</a:t>
            </a:r>
            <a:r>
              <a:rPr lang="ru-RU" dirty="0"/>
              <a:t>го бита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 &amp;=</a:t>
            </a:r>
            <a:r>
              <a:rPr lang="ru-RU" dirty="0"/>
              <a:t> </a:t>
            </a:r>
            <a:r>
              <a:rPr lang="en-US" dirty="0"/>
              <a:t>~(1 &lt;&lt; k)</a:t>
            </a:r>
          </a:p>
          <a:p>
            <a:r>
              <a:rPr lang="ru-RU" dirty="0"/>
              <a:t>Переключение бита:</a:t>
            </a:r>
            <a:endParaRPr lang="en-US" dirty="0"/>
          </a:p>
          <a:p>
            <a:pPr lvl="1"/>
            <a:r>
              <a:rPr lang="en-US" dirty="0"/>
              <a:t>x ^= (1 &lt;&lt; k)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78D97-9BFD-3CC5-E21E-67A2A860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344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49191B-17C8-55C3-1F27-AB13C8DA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Сжатие и распаковка чисел в диапазоне от -8 до 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6557B-BA50-6BDA-BEB2-6E8B7E82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5A177-485D-9FB5-01AF-5D40773C417B}"/>
              </a:ext>
            </a:extLst>
          </p:cNvPr>
          <p:cNvSpPr txBox="1"/>
          <p:nvPr/>
        </p:nvSpPr>
        <p:spPr>
          <a:xfrm>
            <a:off x="838200" y="1779687"/>
            <a:ext cx="105155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Compress(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int8_t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uint8_t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uint8_t a = (uint8_t)(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диапазон 0..15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uint8_t b = (uint8_t)(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диапазон 0..15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(a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 b;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Decompress(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uint8_t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int8_t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uint8_t a =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b="0" dirty="0">
                <a:solidFill>
                  <a:srgbClr val="3030C0"/>
                </a:solidFill>
                <a:effectLst/>
                <a:latin typeface="Consolas" panose="020B0609020204030204" pitchFamily="49" charset="0"/>
              </a:rPr>
              <a:t>0x0F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uint8_t b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&amp; </a:t>
            </a:r>
            <a:r>
              <a:rPr lang="en-US" b="0" dirty="0">
                <a:solidFill>
                  <a:srgbClr val="3030C0"/>
                </a:solidFill>
                <a:effectLst/>
                <a:latin typeface="Consolas" panose="020B0609020204030204" pitchFamily="49" charset="0"/>
              </a:rPr>
              <a:t>0x0F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  = (int8_t)a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(int8_t)b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BCB7E8-C207-4816-8D49-F7656F8B6CA2}"/>
              </a:ext>
            </a:extLst>
          </p:cNvPr>
          <p:cNvSpPr txBox="1"/>
          <p:nvPr/>
        </p:nvSpPr>
        <p:spPr>
          <a:xfrm>
            <a:off x="9982200" y="3048278"/>
            <a:ext cx="20764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 = 5  → </a:t>
            </a:r>
            <a:r>
              <a:rPr lang="en-US" dirty="0">
                <a:highlight>
                  <a:srgbClr val="00FFFF"/>
                </a:highlight>
                <a:latin typeface="Consolas" panose="020B0609020204030204" pitchFamily="49" charset="0"/>
              </a:rPr>
              <a:t>0101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b = 3  →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0011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(a &lt;&lt; 4) | b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highlight>
                  <a:srgbClr val="00FFFF"/>
                </a:highlight>
                <a:latin typeface="Consolas" panose="020B0609020204030204" pitchFamily="49" charset="0"/>
              </a:rPr>
              <a:t>0101</a:t>
            </a:r>
            <a:r>
              <a:rPr lang="en-US" dirty="0">
                <a:latin typeface="Consolas" panose="020B0609020204030204" pitchFamily="49" charset="0"/>
              </a:rPr>
              <a:t>0000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0000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0011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--------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highlight>
                  <a:srgbClr val="00FFFF"/>
                </a:highlight>
                <a:latin typeface="Consolas" panose="020B0609020204030204" pitchFamily="49" charset="0"/>
              </a:rPr>
              <a:t>0101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0011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D0934-60EB-5542-1529-03AA7DC1EB19}"/>
              </a:ext>
            </a:extLst>
          </p:cNvPr>
          <p:cNvSpPr txBox="1"/>
          <p:nvPr/>
        </p:nvSpPr>
        <p:spPr>
          <a:xfrm>
            <a:off x="6334125" y="6352143"/>
            <a:ext cx="351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https://godbolt.org/z/rWencPj38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18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7F60-0F49-DB58-52D4-05FAD5C6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Сжатие и распаковка в действии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34715-3789-8464-E894-7F2C63A1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3E87C-2825-3922-0E1E-73661AE59CDE}"/>
              </a:ext>
            </a:extLst>
          </p:cNvPr>
          <p:cNvSpPr txBox="1"/>
          <p:nvPr/>
        </p:nvSpPr>
        <p:spPr>
          <a:xfrm>
            <a:off x="838200" y="1690688"/>
            <a:ext cx="8305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int8_t data[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uint8_t packed[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int8_t restored[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Compress(data, packed);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Decompress(packed, restored);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"Original:\n"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data[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"Compressed bytes:\n"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"%02X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packed[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"Decompressed:\n"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restored[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9D490F-18F5-7FB2-88DC-F13ECC1FF5E1}"/>
              </a:ext>
            </a:extLst>
          </p:cNvPr>
          <p:cNvSpPr txBox="1"/>
          <p:nvPr/>
        </p:nvSpPr>
        <p:spPr>
          <a:xfrm>
            <a:off x="7410450" y="3375085"/>
            <a:ext cx="3695700" cy="23083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Original:</a:t>
            </a:r>
          </a:p>
          <a:p>
            <a:r>
              <a:rPr lang="en-US" dirty="0">
                <a:latin typeface="Consolas" panose="020B0609020204030204" pitchFamily="49" charset="0"/>
              </a:rPr>
              <a:t>-8 -3 0 7 5 -1 2 -6 4 -2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Compressed bytes:</a:t>
            </a:r>
          </a:p>
          <a:p>
            <a:r>
              <a:rPr lang="en-US" dirty="0">
                <a:latin typeface="Consolas" panose="020B0609020204030204" pitchFamily="49" charset="0"/>
              </a:rPr>
              <a:t>05 8F D7 A2 C6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Decompressed:</a:t>
            </a:r>
          </a:p>
          <a:p>
            <a:r>
              <a:rPr lang="en-US" dirty="0">
                <a:latin typeface="Consolas" panose="020B0609020204030204" pitchFamily="49" charset="0"/>
              </a:rPr>
              <a:t>-8 -3 0 7 5 -1 2 -6 4 -2 </a:t>
            </a:r>
          </a:p>
        </p:txBody>
      </p:sp>
    </p:spTree>
    <p:extLst>
      <p:ext uri="{BB962C8B-B14F-4D97-AF65-F5344CB8AC3E}">
        <p14:creationId xmlns:p14="http://schemas.microsoft.com/office/powerpoint/2010/main" val="3729943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252870-5A37-4B82-B029-C4338364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Перечислимые типы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F360A-D04C-F6A7-C189-D00EC1080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669F55-DF70-68BF-E4A5-8153B4A0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77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F2FE31-9F09-01CC-8704-B85479AB6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числовые коды без смысла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6700C1-7B5A-4DB2-FABC-D7939D51C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Программа часто использует </a:t>
            </a:r>
            <a:r>
              <a:rPr lang="ru-RU" b="1" dirty="0"/>
              <a:t>числовые коды</a:t>
            </a:r>
            <a:r>
              <a:rPr lang="ru-RU" dirty="0"/>
              <a:t>.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= 2;</a:t>
            </a:r>
          </a:p>
          <a:p>
            <a:r>
              <a:rPr lang="ru-RU" dirty="0"/>
              <a:t>Но что означает 2?</a:t>
            </a:r>
          </a:p>
          <a:p>
            <a:pPr lvl="1"/>
            <a:r>
              <a:rPr lang="ru-RU" dirty="0"/>
              <a:t>0 → IDLE</a:t>
            </a:r>
          </a:p>
          <a:p>
            <a:pPr lvl="1"/>
            <a:r>
              <a:rPr lang="ru-RU" dirty="0"/>
              <a:t>1 → RUNNING</a:t>
            </a:r>
          </a:p>
          <a:p>
            <a:pPr lvl="1"/>
            <a:r>
              <a:rPr lang="ru-RU" dirty="0"/>
              <a:t>2 → ERROR</a:t>
            </a:r>
          </a:p>
          <a:p>
            <a:r>
              <a:rPr lang="ru-RU" dirty="0"/>
              <a:t>Проблемы:</a:t>
            </a:r>
          </a:p>
          <a:p>
            <a:pPr lvl="1"/>
            <a:r>
              <a:rPr lang="ru-RU" dirty="0"/>
              <a:t>код трудно читать</a:t>
            </a:r>
          </a:p>
          <a:p>
            <a:pPr lvl="1"/>
            <a:r>
              <a:rPr lang="ru-RU" dirty="0"/>
              <a:t>легко допустить ошибку</a:t>
            </a:r>
          </a:p>
          <a:p>
            <a:pPr lvl="1"/>
            <a:r>
              <a:rPr lang="ru-RU" dirty="0"/>
              <a:t>значения нигде явно не описаны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3867B-0986-34C3-1AE5-F3EC2A01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650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C3BE-8DDB-0551-471A-78D80574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Перечислимые типы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BD49-0B03-7B0C-B7EA-9CD8F2C7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</a:t>
            </a:r>
            <a:r>
              <a:rPr lang="en-US" dirty="0"/>
              <a:t>C </a:t>
            </a:r>
            <a:r>
              <a:rPr lang="ru-RU" dirty="0"/>
              <a:t>можно задать </a:t>
            </a:r>
            <a:r>
              <a:rPr lang="ru-RU" b="1" dirty="0"/>
              <a:t>набор именованных значений</a:t>
            </a:r>
            <a:r>
              <a:rPr lang="ru-RU" dirty="0"/>
              <a:t>.</a:t>
            </a:r>
          </a:p>
          <a:p>
            <a:pPr lvl="1"/>
            <a:r>
              <a:rPr lang="en-US" dirty="0" err="1"/>
              <a:t>enum</a:t>
            </a:r>
            <a:r>
              <a:rPr lang="en-US" dirty="0"/>
              <a:t> State {</a:t>
            </a:r>
            <a:br>
              <a:rPr lang="en-US" dirty="0"/>
            </a:br>
            <a:r>
              <a:rPr lang="en-US" dirty="0"/>
              <a:t>    IDLE,</a:t>
            </a:r>
            <a:br>
              <a:rPr lang="en-US" dirty="0"/>
            </a:br>
            <a:r>
              <a:rPr lang="en-US" dirty="0"/>
              <a:t>    RUNNING,</a:t>
            </a:r>
            <a:br>
              <a:rPr lang="en-US" dirty="0"/>
            </a:br>
            <a:r>
              <a:rPr lang="en-US" dirty="0"/>
              <a:t>    ERROR</a:t>
            </a:r>
            <a:br>
              <a:rPr lang="en-US" dirty="0"/>
            </a:br>
            <a:r>
              <a:rPr lang="en-US" dirty="0"/>
              <a:t>};</a:t>
            </a:r>
          </a:p>
          <a:p>
            <a:r>
              <a:rPr lang="ru-RU" dirty="0"/>
              <a:t>Использование:</a:t>
            </a:r>
          </a:p>
          <a:p>
            <a:pPr lvl="1"/>
            <a:r>
              <a:rPr lang="en-US" dirty="0" err="1"/>
              <a:t>enum</a:t>
            </a:r>
            <a:r>
              <a:rPr lang="en-US" dirty="0"/>
              <a:t> State </a:t>
            </a:r>
            <a:r>
              <a:rPr lang="en-US" dirty="0" err="1"/>
              <a:t>state</a:t>
            </a:r>
            <a:r>
              <a:rPr lang="en-US" dirty="0"/>
              <a:t> = RUNNING;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C286-869F-C8D5-91B0-C954B828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65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0AC9-8AA3-DAED-8F46-1F61AEBD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C1648-F484-FCD7-2F8E-1398421E9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Перечисления — это </a:t>
            </a:r>
            <a:r>
              <a:rPr lang="ru-RU" b="1" dirty="0"/>
              <a:t>целые числа с именами</a:t>
            </a:r>
            <a:r>
              <a:rPr lang="ru-RU" dirty="0"/>
              <a:t>.</a:t>
            </a:r>
          </a:p>
          <a:p>
            <a:r>
              <a:rPr lang="ru-RU" dirty="0"/>
              <a:t>По умолчанию значения:</a:t>
            </a:r>
          </a:p>
          <a:p>
            <a:pPr lvl="1"/>
            <a:r>
              <a:rPr lang="ru-RU" dirty="0"/>
              <a:t>IDLE    = 0</a:t>
            </a:r>
            <a:br>
              <a:rPr lang="ru-RU" dirty="0"/>
            </a:br>
            <a:r>
              <a:rPr lang="ru-RU" dirty="0"/>
              <a:t>RUNNING = 1</a:t>
            </a:r>
            <a:br>
              <a:rPr lang="ru-RU" dirty="0"/>
            </a:br>
            <a:r>
              <a:rPr lang="ru-RU" dirty="0"/>
              <a:t>ERROR   = 2</a:t>
            </a:r>
          </a:p>
          <a:p>
            <a:r>
              <a:rPr lang="ru-RU" dirty="0"/>
              <a:t>Можно задавать значения явно:</a:t>
            </a:r>
            <a:endParaRPr lang="en-US" dirty="0"/>
          </a:p>
          <a:p>
            <a:pPr lvl="1"/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ErrorCode</a:t>
            </a:r>
            <a:r>
              <a:rPr lang="en-US" dirty="0"/>
              <a:t> {</a:t>
            </a:r>
            <a:br>
              <a:rPr lang="ru-RU" dirty="0"/>
            </a:br>
            <a:r>
              <a:rPr lang="ru-RU" dirty="0"/>
              <a:t>  </a:t>
            </a:r>
            <a:r>
              <a:rPr lang="en-US" dirty="0"/>
              <a:t>OK = 0,    NOT_FOUND = 404,   INTERNAL_ERROR = 500</a:t>
            </a:r>
            <a:br>
              <a:rPr lang="ru-RU" dirty="0"/>
            </a:br>
            <a:r>
              <a:rPr lang="en-US" dirty="0"/>
              <a:t>};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B0224-7E3F-554B-0E3B-F7BC4351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706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0982-06A7-9703-2F77-B326AFE5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</a:t>
            </a:r>
            <a:r>
              <a:rPr lang="ru-RU" dirty="0"/>
              <a:t>и память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796B3-50DB-5EA1-94A5-9754937D5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 </a:t>
            </a:r>
            <a:r>
              <a:rPr lang="ru-RU" dirty="0" err="1"/>
              <a:t>enum</a:t>
            </a:r>
            <a:r>
              <a:rPr lang="ru-RU" dirty="0"/>
              <a:t> хранится как </a:t>
            </a:r>
            <a:r>
              <a:rPr lang="ru-RU" b="1" dirty="0"/>
              <a:t>целое число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• его можно сравнивать</a:t>
            </a:r>
            <a:br>
              <a:rPr lang="ru-RU" dirty="0"/>
            </a:br>
            <a:r>
              <a:rPr lang="ru-RU" dirty="0"/>
              <a:t>• его можно передавать в функции</a:t>
            </a:r>
            <a:br>
              <a:rPr lang="ru-RU" dirty="0"/>
            </a:br>
            <a:r>
              <a:rPr lang="ru-RU" dirty="0"/>
              <a:t>• его можно использовать в </a:t>
            </a:r>
            <a:r>
              <a:rPr lang="ru-RU" dirty="0" err="1"/>
              <a:t>switch</a:t>
            </a:r>
            <a:endParaRPr lang="ru-RU" dirty="0"/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 err="1"/>
              <a:t>switch</a:t>
            </a:r>
            <a:r>
              <a:rPr lang="ru-RU" dirty="0"/>
              <a:t> (</a:t>
            </a:r>
            <a:r>
              <a:rPr lang="ru-RU" dirty="0" err="1"/>
              <a:t>state</a:t>
            </a:r>
            <a:r>
              <a:rPr lang="ru-RU" dirty="0"/>
              <a:t>) {</a:t>
            </a:r>
            <a:br>
              <a:rPr lang="ru-RU" dirty="0"/>
            </a:br>
            <a:r>
              <a:rPr lang="ru-RU" dirty="0"/>
              <a:t>    </a:t>
            </a:r>
            <a:r>
              <a:rPr lang="ru-RU" dirty="0" err="1"/>
              <a:t>case</a:t>
            </a:r>
            <a:r>
              <a:rPr lang="ru-RU" dirty="0"/>
              <a:t> IDLE:    ...</a:t>
            </a:r>
            <a:br>
              <a:rPr lang="ru-RU" dirty="0"/>
            </a:br>
            <a:r>
              <a:rPr lang="ru-RU" dirty="0"/>
              <a:t>    </a:t>
            </a:r>
            <a:r>
              <a:rPr lang="ru-RU" dirty="0" err="1"/>
              <a:t>case</a:t>
            </a:r>
            <a:r>
              <a:rPr lang="ru-RU" dirty="0"/>
              <a:t> RUNNING: ...</a:t>
            </a:r>
            <a:br>
              <a:rPr lang="ru-RU" dirty="0"/>
            </a:br>
            <a:r>
              <a:rPr lang="ru-RU" dirty="0"/>
              <a:t>    </a:t>
            </a:r>
            <a:r>
              <a:rPr lang="ru-RU" dirty="0" err="1"/>
              <a:t>case</a:t>
            </a:r>
            <a:r>
              <a:rPr lang="ru-RU" dirty="0"/>
              <a:t> ERROR:   ...</a:t>
            </a:r>
            <a:br>
              <a:rPr lang="ru-RU" dirty="0"/>
            </a:br>
            <a:r>
              <a:rPr lang="ru-RU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90DA4-B12E-BEEF-856E-87EF9DD7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94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D2E6-162F-E142-F403-054B7B73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typedef</a:t>
            </a:r>
            <a:r>
              <a:rPr lang="ru-RU" dirty="0"/>
              <a:t> с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8BD12-B880-F471-83A6-077212C5C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Без </a:t>
            </a:r>
            <a:r>
              <a:rPr lang="en-US" dirty="0"/>
              <a:t>typedef: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State {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IDLE, 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RUNNING,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ERROR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State </a:t>
            </a:r>
            <a:r>
              <a:rPr lang="en-US" dirty="0" err="1">
                <a:latin typeface="Consolas" panose="020B0609020204030204" pitchFamily="49" charset="0"/>
              </a:rPr>
              <a:t>state</a:t>
            </a:r>
            <a:r>
              <a:rPr lang="en-US" dirty="0">
                <a:latin typeface="Consolas" panose="020B0609020204030204" pitchFamily="49" charset="0"/>
              </a:rPr>
              <a:t> = RUNNING</a:t>
            </a:r>
            <a:r>
              <a:rPr lang="en-US" dirty="0"/>
              <a:t>;</a:t>
            </a:r>
          </a:p>
          <a:p>
            <a:r>
              <a:rPr lang="ru-RU" dirty="0"/>
              <a:t>С </a:t>
            </a:r>
            <a:r>
              <a:rPr lang="en-US" dirty="0"/>
              <a:t>typedef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typedef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IDLE,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RUNNING,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ERROR} State;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State state = RUNNING</a:t>
            </a:r>
            <a:r>
              <a:rPr lang="en-US" dirty="0"/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FD351-6080-F788-E5A9-19642C95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47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B9F7-695F-6264-0F89-34E53D81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51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3E97C-9062-F374-EFD1-E26833716EEB}"/>
              </a:ext>
            </a:extLst>
          </p:cNvPr>
          <p:cNvSpPr txBox="1"/>
          <p:nvPr/>
        </p:nvSpPr>
        <p:spPr>
          <a:xfrm>
            <a:off x="0" y="0"/>
            <a:ext cx="645885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STATE_SPACE, STATE_WORD, STATE_NUMBER, STATE_ERROR } State;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State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STATE_SPACE;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words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numbers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errors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((c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!= EOF)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isspace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 == STATE_WORD) words++;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 == STATE_NUMBER) numbers++;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 == STATE_ERROR) errors++;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state = STATE_SPACE;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STATE_SPACE: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isalpha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state = STATE_WORD;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isdigit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state = STATE_NUMBER;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state = STATE_ERROR;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STATE_WORD: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isdigit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state = STATE_ERROR;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isalpha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state = STATE_ERROR;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STATE_NUMBER: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isalpha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state = STATE_ERROR;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isdigit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state = STATE_ERROR;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STATE_ERROR: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isspace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 { errors++; state = STATE_SPACE;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A3112F-E732-3317-863F-6B38F42AD81B}"/>
              </a:ext>
            </a:extLst>
          </p:cNvPr>
          <p:cNvSpPr txBox="1"/>
          <p:nvPr/>
        </p:nvSpPr>
        <p:spPr>
          <a:xfrm>
            <a:off x="6458857" y="5151815"/>
            <a:ext cx="61032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завершение последней последовательности */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 == STATE_WORD) words++;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 == STATE_NUMBER) numbers++;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(state == STATE_ERROR) errors++;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"Words: %d\n"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words);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"Numbers: %d\n"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numbers);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"Errors: %d\n"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errors);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0981F6F-5C69-0307-5506-F538E9760A8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 flipH="1" flipV="1">
            <a:off x="5575711" y="2805533"/>
            <a:ext cx="1588492" cy="6281056"/>
          </a:xfrm>
          <a:prstGeom prst="bentConnector5">
            <a:avLst>
              <a:gd name="adj1" fmla="val -2004"/>
              <a:gd name="adj2" fmla="val 45158"/>
              <a:gd name="adj3" fmla="val 1143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A9DEFC-8506-CB9A-13DB-46F1572D0066}"/>
              </a:ext>
            </a:extLst>
          </p:cNvPr>
          <p:cNvSpPr txBox="1"/>
          <p:nvPr/>
        </p:nvSpPr>
        <p:spPr>
          <a:xfrm>
            <a:off x="6096000" y="4364882"/>
            <a:ext cx="4532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https://godbolt.org/z/j8rz9cbzb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0431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D007-83F2-DC94-994E-832855BE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типы и представление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8457-A7A0-8066-F809-41F9F140D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Память компьютера — это </a:t>
            </a:r>
            <a:r>
              <a:rPr lang="ru-RU" b="1" dirty="0"/>
              <a:t>массив байтов</a:t>
            </a:r>
            <a:r>
              <a:rPr lang="ru-RU" dirty="0"/>
              <a:t>.</a:t>
            </a:r>
          </a:p>
          <a:p>
            <a:r>
              <a:rPr lang="ru-RU" dirty="0"/>
              <a:t>Тип данных определяет:</a:t>
            </a:r>
          </a:p>
          <a:p>
            <a:pPr lvl="1"/>
            <a:r>
              <a:rPr lang="ru-RU" dirty="0"/>
              <a:t>сколько памяти занимает значение</a:t>
            </a:r>
          </a:p>
          <a:p>
            <a:pPr lvl="1"/>
            <a:r>
              <a:rPr lang="ru-RU" dirty="0"/>
              <a:t>как интерпретировать биты</a:t>
            </a:r>
          </a:p>
          <a:p>
            <a:r>
              <a:rPr lang="ru-RU" dirty="0"/>
              <a:t>Ключевые идеи:</a:t>
            </a:r>
          </a:p>
          <a:p>
            <a:pPr lvl="1"/>
            <a:r>
              <a:rPr lang="ru-RU" dirty="0"/>
              <a:t>тип данных задаёт </a:t>
            </a:r>
            <a:r>
              <a:rPr lang="ru-RU" b="1" dirty="0"/>
              <a:t>представление значения в памяти</a:t>
            </a:r>
          </a:p>
          <a:p>
            <a:pPr lvl="1"/>
            <a:r>
              <a:rPr lang="ru-RU" dirty="0"/>
              <a:t>архитектура компьютера влияет на </a:t>
            </a:r>
            <a:r>
              <a:rPr lang="ru-RU" b="1" dirty="0"/>
              <a:t>размеры и диапазоны типов</a:t>
            </a:r>
            <a:endParaRPr lang="ru-RU" dirty="0"/>
          </a:p>
          <a:p>
            <a:r>
              <a:rPr lang="ru-RU" dirty="0"/>
              <a:t>Мы рассмотрели:</a:t>
            </a:r>
          </a:p>
          <a:p>
            <a:pPr lvl="1"/>
            <a:r>
              <a:rPr lang="ru-RU" dirty="0"/>
              <a:t>целые типы разных размеров</a:t>
            </a:r>
          </a:p>
          <a:p>
            <a:pPr lvl="1"/>
            <a:r>
              <a:rPr lang="ru-RU" dirty="0"/>
              <a:t>знаковые и беззнаковые числа</a:t>
            </a:r>
          </a:p>
          <a:p>
            <a:pPr lvl="1"/>
            <a:r>
              <a:rPr lang="ru-RU" dirty="0"/>
              <a:t>представление чисел в дополнительном коде</a:t>
            </a:r>
          </a:p>
          <a:p>
            <a:pPr lvl="1"/>
            <a:r>
              <a:rPr lang="ru-RU" dirty="0"/>
              <a:t>порядок байтов в памяти (</a:t>
            </a:r>
            <a:r>
              <a:rPr lang="ru-RU" dirty="0" err="1"/>
              <a:t>endianness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битовые операции</a:t>
            </a:r>
          </a:p>
          <a:p>
            <a:pPr lvl="1"/>
            <a:r>
              <a:rPr lang="ru-RU" dirty="0"/>
              <a:t>перечислимые типы (</a:t>
            </a:r>
            <a:r>
              <a:rPr lang="ru-RU" dirty="0" err="1"/>
              <a:t>enum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D3713-9DC6-65D1-B7D0-BD45A7AF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3D0C-4E34-44CA-91CA-248E6D9AAF7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6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9979</Words>
  <Application>Microsoft Office PowerPoint</Application>
  <PresentationFormat>Widescreen</PresentationFormat>
  <Paragraphs>1273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Aptos Display</vt:lpstr>
      <vt:lpstr>Arial</vt:lpstr>
      <vt:lpstr>Cambria Math</vt:lpstr>
      <vt:lpstr>Consolas</vt:lpstr>
      <vt:lpstr>Office Theme</vt:lpstr>
      <vt:lpstr>Типы данных и их представление в памяти</vt:lpstr>
      <vt:lpstr>Где программа хранит данные?</vt:lpstr>
      <vt:lpstr>Прямая работа с адресами памяти</vt:lpstr>
      <vt:lpstr>Время жизни переменных</vt:lpstr>
      <vt:lpstr>Проблема интерпретации памяти</vt:lpstr>
      <vt:lpstr>Проблема размера данных</vt:lpstr>
      <vt:lpstr>Система типов и роль компилятора</vt:lpstr>
      <vt:lpstr>Целые типы и размеры данных</vt:lpstr>
      <vt:lpstr>Целые числа в математике и компьютере</vt:lpstr>
      <vt:lpstr>Ограничения памяти</vt:lpstr>
      <vt:lpstr>Ограничения архитектуры процессора</vt:lpstr>
      <vt:lpstr>Ограничения доступа к памяти</vt:lpstr>
      <vt:lpstr>Целые числа языка C</vt:lpstr>
      <vt:lpstr>Размеры типов</vt:lpstr>
      <vt:lpstr>Для чего нужно несколько целых типов</vt:lpstr>
      <vt:lpstr>Положительные и отрицательные числа</vt:lpstr>
      <vt:lpstr>Беззнаковые числа (unsigned)</vt:lpstr>
      <vt:lpstr>Знаковые числа (signed)</vt:lpstr>
      <vt:lpstr>Как кодировать знак числа</vt:lpstr>
      <vt:lpstr>Дополнительный код (two’s complement)</vt:lpstr>
      <vt:lpstr>Арифметика в дополнительном коде</vt:lpstr>
      <vt:lpstr>Когда использовать unsigned</vt:lpstr>
      <vt:lpstr>Переполнение знаковых и беззнаковых чисел</vt:lpstr>
      <vt:lpstr>Целые типы фиксированной разрядности</vt:lpstr>
      <vt:lpstr>Сравниваем время обработки массивов разного типа</vt:lpstr>
      <vt:lpstr>Порядок байтов в памяти (Endianness)</vt:lpstr>
      <vt:lpstr>Как многобайтовые числа хранятся в памяти</vt:lpstr>
      <vt:lpstr>Little endian и Big endian</vt:lpstr>
      <vt:lpstr>Пример представления числа 666 в виде типа short и int</vt:lpstr>
      <vt:lpstr>Где это имеет значение</vt:lpstr>
      <vt:lpstr>Историческая справка: порядок байтов</vt:lpstr>
      <vt:lpstr>Вывод представления числа в памяти</vt:lpstr>
      <vt:lpstr>Битовые операции</vt:lpstr>
      <vt:lpstr>Когда программе нужно работать с битами</vt:lpstr>
      <vt:lpstr>Биты как флаги</vt:lpstr>
      <vt:lpstr>Битовые операции в C</vt:lpstr>
      <vt:lpstr>Побитовое AND</vt:lpstr>
      <vt:lpstr>Побитовое OR</vt:lpstr>
      <vt:lpstr>Побитовое XOR (Исключающее ИЛИ)</vt:lpstr>
      <vt:lpstr>Побитовое NOT</vt:lpstr>
      <vt:lpstr>Сдвиги битов</vt:lpstr>
      <vt:lpstr>Типичные операции над битами</vt:lpstr>
      <vt:lpstr>Сжатие и распаковка чисел в диапазоне от -8 до 7</vt:lpstr>
      <vt:lpstr>Сжатие и распаковка в действии</vt:lpstr>
      <vt:lpstr>Перечислимые типы</vt:lpstr>
      <vt:lpstr>Проблема: числовые коды без смысла</vt:lpstr>
      <vt:lpstr>Перечислимые типы</vt:lpstr>
      <vt:lpstr>Как работает enum</vt:lpstr>
      <vt:lpstr>enum и память</vt:lpstr>
      <vt:lpstr>Использование typedef с enum</vt:lpstr>
      <vt:lpstr>PowerPoint Presentation</vt:lpstr>
      <vt:lpstr>Итоги: типы и представление данных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5</cp:revision>
  <dcterms:created xsi:type="dcterms:W3CDTF">2026-03-06T21:55:34Z</dcterms:created>
  <dcterms:modified xsi:type="dcterms:W3CDTF">2026-05-13T14:25:52Z</dcterms:modified>
</cp:coreProperties>
</file>