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65" r:id="rId3"/>
    <p:sldId id="266" r:id="rId4"/>
    <p:sldId id="267" r:id="rId5"/>
    <p:sldId id="268" r:id="rId6"/>
    <p:sldId id="257" r:id="rId7"/>
    <p:sldId id="269" r:id="rId8"/>
    <p:sldId id="270" r:id="rId9"/>
    <p:sldId id="305" r:id="rId10"/>
    <p:sldId id="306" r:id="rId11"/>
    <p:sldId id="309" r:id="rId12"/>
    <p:sldId id="272" r:id="rId13"/>
    <p:sldId id="273" r:id="rId14"/>
    <p:sldId id="274" r:id="rId15"/>
    <p:sldId id="271" r:id="rId16"/>
    <p:sldId id="310" r:id="rId17"/>
    <p:sldId id="276" r:id="rId18"/>
    <p:sldId id="307" r:id="rId19"/>
    <p:sldId id="308" r:id="rId20"/>
    <p:sldId id="275" r:id="rId21"/>
    <p:sldId id="278" r:id="rId22"/>
    <p:sldId id="264" r:id="rId23"/>
    <p:sldId id="279" r:id="rId24"/>
    <p:sldId id="284" r:id="rId25"/>
    <p:sldId id="259" r:id="rId26"/>
    <p:sldId id="280" r:id="rId27"/>
    <p:sldId id="283" r:id="rId28"/>
    <p:sldId id="281" r:id="rId29"/>
    <p:sldId id="282" r:id="rId30"/>
    <p:sldId id="287" r:id="rId31"/>
    <p:sldId id="260" r:id="rId32"/>
    <p:sldId id="285" r:id="rId33"/>
    <p:sldId id="286" r:id="rId34"/>
    <p:sldId id="288" r:id="rId35"/>
    <p:sldId id="289" r:id="rId36"/>
    <p:sldId id="290" r:id="rId37"/>
    <p:sldId id="291" r:id="rId38"/>
    <p:sldId id="293" r:id="rId39"/>
    <p:sldId id="294" r:id="rId40"/>
    <p:sldId id="258" r:id="rId41"/>
    <p:sldId id="295" r:id="rId42"/>
    <p:sldId id="296" r:id="rId43"/>
    <p:sldId id="297" r:id="rId44"/>
    <p:sldId id="263" r:id="rId45"/>
    <p:sldId id="298" r:id="rId46"/>
    <p:sldId id="299" r:id="rId47"/>
    <p:sldId id="300" r:id="rId48"/>
    <p:sldId id="301" r:id="rId49"/>
    <p:sldId id="277" r:id="rId50"/>
    <p:sldId id="302" r:id="rId51"/>
    <p:sldId id="303" r:id="rId52"/>
    <p:sldId id="304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330" autoAdjust="0"/>
  </p:normalViewPr>
  <p:slideViewPr>
    <p:cSldViewPr snapToGrid="0" showGuides="1">
      <p:cViewPr varScale="1">
        <p:scale>
          <a:sx n="68" d="100"/>
          <a:sy n="68" d="100"/>
        </p:scale>
        <p:origin x="2148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6FAB4-89C1-4F12-9627-A594E45A264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38FA8-9CB1-4042-99D0-8E2B03849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04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18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важно зафиксировать границу текущей модели, в рамках которой мы до сих пор работали.</a:t>
            </a:r>
          </a:p>
          <a:p>
            <a:endParaRPr lang="ru-RU" dirty="0"/>
          </a:p>
          <a:p>
            <a:r>
              <a:rPr lang="ru-RU" dirty="0"/>
              <a:t>Все данные, с которыми мы имели дело, размещались в оперативной памяти. Это означает, что их время жизни строго ограничено временем существования процесса. Как только программа завершается, её адресное пространство уничтожается операционной системой, и все данные становятся недоступны.</a:t>
            </a:r>
          </a:p>
          <a:p>
            <a:endParaRPr lang="ru-RU" dirty="0"/>
          </a:p>
          <a:p>
            <a:r>
              <a:rPr lang="ru-RU" dirty="0"/>
              <a:t>Из этого следуют несколько фундаментальных ограничений.</a:t>
            </a:r>
          </a:p>
          <a:p>
            <a:r>
              <a:rPr lang="ru-RU" dirty="0"/>
              <a:t>Во-первых, программа не может сохранять результаты своей работы между запусками. Каждый запуск начинается с «чистого состояния».</a:t>
            </a:r>
          </a:p>
          <a:p>
            <a:endParaRPr lang="ru-RU" dirty="0"/>
          </a:p>
          <a:p>
            <a:r>
              <a:rPr lang="ru-RU" dirty="0"/>
              <a:t>Во-вторых, мы ограничены объёмом доступной оперативной памяти. Если данные не помещаются в RAM, программа в текущей модели не сможет с ними работать.</a:t>
            </a:r>
          </a:p>
          <a:p>
            <a:endParaRPr lang="ru-RU" dirty="0"/>
          </a:p>
          <a:p>
            <a:r>
              <a:rPr lang="ru-RU" dirty="0"/>
              <a:t>И, в-третьих, отсутствует устойчивый механизм обмена данными между различными программами. После завершения процесса его данные исчезают и не могут быть напрямую использованы другим процессом.</a:t>
            </a:r>
          </a:p>
          <a:p>
            <a:endParaRPr lang="ru-RU" dirty="0"/>
          </a:p>
          <a:p>
            <a:r>
              <a:rPr lang="ru-RU" dirty="0"/>
              <a:t>Таким образом, если мы хотим выйти за пределы этих ограничений, нам необходимо ввести механизм хранения данных вне оперативной памяти. Именно это и приводит нас к понятию файлов.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8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отметили ограничения модели, в которой данные существуют только в оперативной памяти. Чтобы преодолеть эти ограничения, необходимо ввести механизм хранения данных вне времени жизни процесса.</a:t>
            </a:r>
          </a:p>
          <a:p>
            <a:endParaRPr lang="ru-RU" dirty="0"/>
          </a:p>
          <a:p>
            <a:r>
              <a:rPr lang="ru-RU" dirty="0"/>
              <a:t>Таким механизмом является внешняя память. На практике она представлена устройствами хранения — дисками, SSD и другими носителями. Основной абстракцией, через которую программа работает с внешней памятью, является </a:t>
            </a:r>
            <a:r>
              <a:rPr lang="ru-RU" b="1" dirty="0"/>
              <a:t>файл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Формально файл — это именованная последовательность байтов, размещённая во внешней памяти. Здесь важно подчеркнуть: файл не содержит никакой информации о типах данных или их структуре. Это просто линейный набор байтов.</a:t>
            </a:r>
          </a:p>
          <a:p>
            <a:endParaRPr lang="ru-RU" dirty="0"/>
          </a:p>
          <a:p>
            <a:r>
              <a:rPr lang="ru-RU" dirty="0"/>
              <a:t>Теперь о том, как происходит взаимодействие программы с файлом. Программа не выполняет вычисления «внутри файла». Любые операции происходят в оперативной памяти. Поэтому взаимодействие сводится к переносу данных: байты считываются из файла в адресное пространство процесса, обрабатываются, и при необходимости записываются обратно.</a:t>
            </a:r>
          </a:p>
          <a:p>
            <a:endParaRPr lang="ru-RU" dirty="0"/>
          </a:p>
          <a:p>
            <a:r>
              <a:rPr lang="ru-RU" dirty="0"/>
              <a:t>Таким образом, файл выступает не как место вычислений, а как внешнее хранилище, с которым программа обменивается данными.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52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строго разделять два уровня: представление данных и их интерпретацию.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 точки зрения операционной системы и файловой системы, файл — это просто последовательность байтов. В нём нет информации о том, какие типы данных там хранятся, где начинаются структуры, где заканчиваются числа и так далее.</a:t>
            </a:r>
          </a:p>
          <a:p>
            <a:endParaRPr lang="ru-RU" dirty="0"/>
          </a:p>
          <a:p>
            <a:r>
              <a:rPr lang="ru-RU" dirty="0"/>
              <a:t>Это означает, что любые данные в файле имеют одинаковую природу — это просто набор байтов. Например, последовательность из четырёх байтов может быть интерпретирована как целое число, как число с плавающей точкой или как часть более сложной структуры.</a:t>
            </a:r>
          </a:p>
          <a:p>
            <a:endParaRPr lang="ru-RU" dirty="0"/>
          </a:p>
          <a:p>
            <a:r>
              <a:rPr lang="ru-RU" dirty="0"/>
              <a:t>Более того, те же самые байты могут быть интерпретированы даже как машинные инструкции. Именно так, например, исполняемые файлы превращаются в программы при загрузке в память.</a:t>
            </a:r>
          </a:p>
          <a:p>
            <a:endParaRPr lang="ru-RU" dirty="0"/>
          </a:p>
          <a:p>
            <a:r>
              <a:rPr lang="ru-RU" dirty="0"/>
              <a:t>Отсюда следует фундаментальный вывод: тип данных не является свойством самих байтов. Тип — это способ, которым программа решает эти байты интерпретировать.</a:t>
            </a:r>
          </a:p>
          <a:p>
            <a:endParaRPr lang="ru-RU" dirty="0"/>
          </a:p>
          <a:p>
            <a:r>
              <a:rPr lang="ru-RU" dirty="0"/>
              <a:t>Это ровно та же идея, которую мы уже обсуждали для оперативной памяти. Теперь мы видим, что она в полной мере распространяется и на файлы.</a:t>
            </a:r>
          </a:p>
          <a:p>
            <a:endParaRPr lang="ru-RU" dirty="0"/>
          </a:p>
          <a:p>
            <a:r>
              <a:rPr lang="ru-RU" dirty="0"/>
              <a:t>Строго говоря, в истории существовали файловые системы и среды, в которых файлам сопоставлялась информация о типах данных — например, через метаданные. Однако такие модели не получили широкого распространения и не являются основой современных операционных систем.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03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этапе можно сформулировать обобщающую модель, которая объединяет оперативную память и файлы.</a:t>
            </a:r>
          </a:p>
          <a:p>
            <a:r>
              <a:rPr lang="ru-RU" dirty="0"/>
              <a:t>Ранее мы рассматривали оперативную память как адресуемое пространство байтов. Это означает, что каждый байт имеет адрес, и мы можем произвольно обращаться к любому участку памяти через указатели.</a:t>
            </a:r>
          </a:p>
          <a:p>
            <a:endParaRPr lang="ru-RU" dirty="0"/>
          </a:p>
          <a:p>
            <a:r>
              <a:rPr lang="ru-RU" dirty="0"/>
              <a:t>Теперь мы вводим файл как ещё одну форму хранения данных. С точки зрения представления, файл также является последовательностью байтов. Однако в отличие от памяти, он не является адресуемым в том же смысле.</a:t>
            </a:r>
          </a:p>
          <a:p>
            <a:endParaRPr lang="ru-RU" dirty="0"/>
          </a:p>
          <a:p>
            <a:r>
              <a:rPr lang="ru-RU" dirty="0"/>
              <a:t>В оперативной памяти доступ осуществляется напрямую по адресу — это произвольный доступ. В случае файла используется другая модель: у файла есть текущая позиция, и операции чтения и записи происходят относительно этой позиции. Мы можем изменять её, но это уже не указатели, а отдельный механизм — файловое смещение.</a:t>
            </a:r>
          </a:p>
          <a:p>
            <a:endParaRPr lang="ru-RU" dirty="0"/>
          </a:p>
          <a:p>
            <a:r>
              <a:rPr lang="ru-RU" dirty="0"/>
              <a:t>Второе важное различие — скорость. Доступ к оперативной памяти на порядки быстрее, чем доступ к внешнему носителю. Это принципиально влияет на организацию алгоритмов и систем.</a:t>
            </a:r>
          </a:p>
          <a:p>
            <a:endParaRPr lang="ru-RU" dirty="0"/>
          </a:p>
          <a:p>
            <a:r>
              <a:rPr lang="ru-RU" dirty="0"/>
              <a:t>Третье — время жизни данных. Память существует только в рамках выполнения процесса, тогда как файл обеспечивает долговременное хранение.</a:t>
            </a:r>
          </a:p>
          <a:p>
            <a:endParaRPr lang="ru-RU" dirty="0"/>
          </a:p>
          <a:p>
            <a:r>
              <a:rPr lang="ru-RU" dirty="0"/>
              <a:t>И отсюда следует ключевой вывод: различие между памятью и файлом не в том, как представлены данные — в обоих случаях это байты. Различие заключается в способе доступа к этим данным и в физических свойствах носителя. Это обобщение важно, потому что оно позволяет рассматривать разные уровни системы в единой модели.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51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12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языке C ввод-вывод построен не вокруг «файлов» как таковых, а вокруг более общей абстракции — потока.</a:t>
            </a:r>
          </a:p>
          <a:p>
            <a:endParaRPr lang="ru-RU" dirty="0"/>
          </a:p>
          <a:p>
            <a:r>
              <a:rPr lang="ru-RU" dirty="0"/>
              <a:t>Поток — это модель последовательного движения данных: либо мы читаем данные из источника, либо записываем их в приёмник. При этом источник может быть не только файлом на диске, но и, например, клавиатурой, сокетом или другим устройством.</a:t>
            </a:r>
          </a:p>
          <a:p>
            <a:endParaRPr lang="ru-RU" dirty="0"/>
          </a:p>
          <a:p>
            <a:r>
              <a:rPr lang="ru-RU" dirty="0"/>
              <a:t>Ключевая идея заключается в унификации: независимо от природы источника или приёмника, программа работает с ними через единый интерфейс потоков. Это позволяет писать переносимый код, не привязываясь к конкретному типу устройства.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94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представления потока в языке C используется тип FILE. Однако важно понимать, что это непрозрачный тип: его внутренняя структура скрыта от программиста.</a:t>
            </a:r>
          </a:p>
          <a:p>
            <a:endParaRPr lang="ru-RU" dirty="0"/>
          </a:p>
          <a:p>
            <a:r>
              <a:rPr lang="ru-RU" dirty="0"/>
              <a:t>Мы не знаем и не должны знать, как именно он устроен внутри. Концептуально объект FILE хранит информацию, необходимую для работы с потоком: текущую позицию, буфер, флаги ошибок и состояние конца файла.</a:t>
            </a:r>
          </a:p>
          <a:p>
            <a:endParaRPr lang="ru-RU" dirty="0"/>
          </a:p>
          <a:p>
            <a:r>
              <a:rPr lang="ru-RU" dirty="0"/>
              <a:t>Работа с потоками осуществляется не через сам объект FILE, а через указатель на него — FILE *. Именно поэтому часто говорят, что в C «файл — это указатель на FILE», хотя строго говоря это указатель на структуру, описывающую поток.</a:t>
            </a:r>
          </a:p>
          <a:p>
            <a:endParaRPr lang="ru-RU" dirty="0"/>
          </a:p>
          <a:p>
            <a:r>
              <a:rPr lang="ru-RU" dirty="0"/>
              <a:t>Важно подчеркнуть: мы никогда не создаём объекты FILE самостоятельно. Их создаёт и управляет ими стандартная библиотека.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52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каждой программе на языке C по умолчанию открыты три стандартных потока: </a:t>
            </a:r>
            <a:r>
              <a:rPr lang="ru-RU" dirty="0" err="1"/>
              <a:t>stdin</a:t>
            </a:r>
            <a:r>
              <a:rPr lang="ru-RU" dirty="0"/>
              <a:t>, </a:t>
            </a:r>
            <a:r>
              <a:rPr lang="ru-RU" dirty="0" err="1"/>
              <a:t>stdout</a:t>
            </a:r>
            <a:r>
              <a:rPr lang="ru-RU" dirty="0"/>
              <a:t> и </a:t>
            </a:r>
            <a:r>
              <a:rPr lang="ru-RU" dirty="0" err="1"/>
              <a:t>stderr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stdin</a:t>
            </a:r>
            <a:r>
              <a:rPr lang="ru-RU" dirty="0"/>
              <a:t> используется для ввода данных, обычно с клавиатуры. </a:t>
            </a:r>
            <a:r>
              <a:rPr lang="ru-RU" dirty="0" err="1"/>
              <a:t>stdout</a:t>
            </a:r>
            <a:r>
              <a:rPr lang="ru-RU" dirty="0"/>
              <a:t> — для обычного вывода, например, на экран. </a:t>
            </a:r>
            <a:r>
              <a:rPr lang="ru-RU" dirty="0" err="1"/>
              <a:t>stderr</a:t>
            </a:r>
            <a:r>
              <a:rPr lang="ru-RU" dirty="0"/>
              <a:t> — для вывода сообщений об ошибках.</a:t>
            </a:r>
          </a:p>
          <a:p>
            <a:endParaRPr lang="ru-RU" dirty="0"/>
          </a:p>
          <a:p>
            <a:r>
              <a:rPr lang="ru-RU" dirty="0"/>
              <a:t>Важно понимать, что это такие же потоки, как и файлы. С ними можно работать через те же функции стандартной библиотеки, например </a:t>
            </a:r>
            <a:r>
              <a:rPr lang="ru-RU" dirty="0" err="1"/>
              <a:t>fprintf</a:t>
            </a:r>
            <a:r>
              <a:rPr lang="ru-RU" dirty="0"/>
              <a:t> или </a:t>
            </a:r>
            <a:r>
              <a:rPr lang="ru-RU" dirty="0" err="1"/>
              <a:t>fscanf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34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Стандартные потоки отличаются не только назначением, но и поведением.</a:t>
            </a:r>
          </a:p>
          <a:p>
            <a:endParaRPr lang="ru-RU" dirty="0"/>
          </a:p>
          <a:p>
            <a:r>
              <a:rPr lang="ru-RU" dirty="0" err="1"/>
              <a:t>stdout</a:t>
            </a:r>
            <a:r>
              <a:rPr lang="ru-RU" dirty="0"/>
              <a:t> обычно буферизуется, то есть данные могут выводиться не сразу. </a:t>
            </a:r>
            <a:r>
              <a:rPr lang="ru-RU" dirty="0" err="1"/>
              <a:t>stderr</a:t>
            </a:r>
            <a:r>
              <a:rPr lang="ru-RU" dirty="0"/>
              <a:t>, напротив, чаще всего не буферизуется, чтобы сообщения об ошибках появлялись немедленно.</a:t>
            </a:r>
          </a:p>
          <a:p>
            <a:endParaRPr lang="ru-RU" dirty="0"/>
          </a:p>
          <a:p>
            <a:r>
              <a:rPr lang="ru-RU" dirty="0"/>
              <a:t>Разделение </a:t>
            </a:r>
            <a:r>
              <a:rPr lang="ru-RU" dirty="0" err="1"/>
              <a:t>stdout</a:t>
            </a:r>
            <a:r>
              <a:rPr lang="ru-RU" dirty="0"/>
              <a:t> и </a:t>
            </a:r>
            <a:r>
              <a:rPr lang="ru-RU" dirty="0" err="1"/>
              <a:t>stderr</a:t>
            </a:r>
            <a:r>
              <a:rPr lang="ru-RU" dirty="0"/>
              <a:t> позволяет направлять обычный вывод и ошибки в разные места. Это активно используется в командной строке, где можно перенаправлять потоки в разные файлы.</a:t>
            </a:r>
          </a:p>
          <a:p>
            <a:endParaRPr lang="ru-RU" dirty="0"/>
          </a:p>
          <a:p>
            <a:r>
              <a:rPr lang="ru-RU" dirty="0"/>
              <a:t>Таким образом, стандартные потоки — это не просто удобство, а важный механизм организации ввода-вывода в программах.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4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что стандартные потоки используются так же, как и любые другие потоки типа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FILE*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Мы читаем данные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stdin</a:t>
            </a:r>
            <a:r>
              <a:rPr lang="ru-RU" dirty="0"/>
              <a:t>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fscanf</a:t>
            </a:r>
            <a:r>
              <a:rPr lang="ru-RU" dirty="0"/>
              <a:t>. В качестве источника выступает стандартный ввод, который по умолчанию связан с клавиатурой, но может быть перенаправлен.</a:t>
            </a:r>
          </a:p>
          <a:p>
            <a:endParaRPr lang="ru-RU" dirty="0"/>
          </a:p>
          <a:p>
            <a:r>
              <a:rPr lang="ru-RU" dirty="0"/>
              <a:t>Если ввод некорректен, сообщение об ошибке выводится в поток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stderr</a:t>
            </a:r>
            <a:r>
              <a:rPr lang="ru-RU" dirty="0"/>
              <a:t>. Это важно, поскольку ошибки отделяются от основного вывода.</a:t>
            </a:r>
          </a:p>
          <a:p>
            <a:endParaRPr lang="ru-RU" dirty="0"/>
          </a:p>
          <a:p>
            <a:r>
              <a:rPr lang="ru-RU" dirty="0"/>
              <a:t>Результат вычисления выводится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stdout</a:t>
            </a:r>
            <a:r>
              <a:rPr lang="ru-RU" dirty="0"/>
              <a:t>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fprintf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Внизу приведён пример запуска программы с перенаправлением потоков. Входные данные берутся из файла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input.txt</a:t>
            </a:r>
            <a:r>
              <a:rPr lang="ru-RU" dirty="0"/>
              <a:t>, обычный вывод записывается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out.txt</a:t>
            </a:r>
            <a:r>
              <a:rPr lang="ru-RU" dirty="0"/>
              <a:t>, а сообщения об ошибках —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err.txt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стандартные потоки позволяют гибко управлять вводом и выводом без изменения кода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12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Стандартная библиотека языка C предоставляет универсальный интерфейс для работы с потоками через заголовочный файл </a:t>
            </a:r>
            <a:r>
              <a:rPr lang="ru-RU" dirty="0" err="1"/>
              <a:t>stdio.h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интерфейс должен работать на самых разных платформах и с различными типами устройств. Именно поэтому он построен на высоком уровне абстракции.</a:t>
            </a:r>
          </a:p>
          <a:p>
            <a:endParaRPr lang="ru-RU" dirty="0"/>
          </a:p>
          <a:p>
            <a:r>
              <a:rPr lang="ru-RU" dirty="0"/>
              <a:t>Однако у этой универсальности есть цена. Интерфейс получается достаточно ограниченным. Например, в стандарте языка C отсутствует даже понятие каталога, поскольку не все файловые системы имеют иерархическую структуру.</a:t>
            </a:r>
          </a:p>
          <a:p>
            <a:endParaRPr lang="ru-RU" dirty="0"/>
          </a:p>
          <a:p>
            <a:r>
              <a:rPr lang="ru-RU" dirty="0"/>
              <a:t>Кроме того, некоторые аспекты поведения функций ввода-вывода определены лишь частично и зависят от конкретной реализации. В спецификации это обычно формулируется как «в той степени, в которой поддерживается системой».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8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 границы применимости стандартной библиотеки.</a:t>
            </a:r>
          </a:p>
          <a:p>
            <a:endParaRPr lang="ru-RU" dirty="0"/>
          </a:p>
          <a:p>
            <a:r>
              <a:rPr lang="ru-RU" dirty="0"/>
              <a:t>Стандарт языка C ориентирован на переносимость. Он задаёт абстракции, которые могут быть реализованы на самых разных системах. Однако он не стремится покрыть все возможности конкретных операционных систем.</a:t>
            </a:r>
          </a:p>
          <a:p>
            <a:endParaRPr lang="ru-RU" dirty="0"/>
          </a:p>
          <a:p>
            <a:r>
              <a:rPr lang="ru-RU" dirty="0"/>
              <a:t>Поэтому в реальных приложениях часто используются более низкоуровневые и менее переносимые API — например, POSIX в Unix-подобных системах или </a:t>
            </a:r>
            <a:r>
              <a:rPr lang="ru-RU" dirty="0" err="1"/>
              <a:t>WinAPI</a:t>
            </a:r>
            <a:r>
              <a:rPr lang="ru-RU" dirty="0"/>
              <a:t> в Windows.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dirty="0" err="1"/>
              <a:t>stdio.h</a:t>
            </a:r>
            <a:r>
              <a:rPr lang="ru-RU" dirty="0"/>
              <a:t> следует рассматривать как базовый уровень — удобный, переносимый, но ограниченный. Он даёт нам модель работы с потоками, которая важна для понимания, но не охватывает всех аспектов взаимодействия с файловой системой.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15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сих пор мы работали с уже открытыми потоками. Теперь посмотрим, как создавать свои</a:t>
            </a:r>
          </a:p>
          <a:p>
            <a:endParaRPr lang="ru-RU" dirty="0"/>
          </a:p>
          <a:p>
            <a:r>
              <a:rPr lang="ru-RU" dirty="0"/>
              <a:t>Работа с файлом всегда начинается с его открытия. Для этого используется функция </a:t>
            </a:r>
            <a:r>
              <a:rPr lang="ru-RU" dirty="0" err="1"/>
              <a:t>fopen</a:t>
            </a:r>
            <a:r>
              <a:rPr lang="ru-RU" dirty="0"/>
              <a:t>, которая принимает имя файла и режим доступа.</a:t>
            </a:r>
          </a:p>
          <a:p>
            <a:endParaRPr lang="ru-RU" dirty="0"/>
          </a:p>
          <a:p>
            <a:r>
              <a:rPr lang="ru-RU" dirty="0"/>
              <a:t>Режим определяет, какие операции допустимы и как ведёт себя система. Например, режим "r" требует, чтобы файл уже существовал, тогда как "w" создаёт новый файл или очищает существующий.</a:t>
            </a:r>
          </a:p>
          <a:p>
            <a:endParaRPr lang="ru-RU" dirty="0"/>
          </a:p>
          <a:p>
            <a:r>
              <a:rPr lang="ru-RU" dirty="0"/>
              <a:t>Важно также различать текстовые и бинарные режимы, особенно на платформах, где они отличаются.</a:t>
            </a:r>
          </a:p>
          <a:p>
            <a:endParaRPr lang="ru-RU" dirty="0"/>
          </a:p>
          <a:p>
            <a:r>
              <a:rPr lang="ru-RU" dirty="0"/>
              <a:t>После завершения работы файл необходимо закрыть с помощью </a:t>
            </a:r>
            <a:r>
              <a:rPr lang="ru-RU" dirty="0" err="1"/>
              <a:t>fclose</a:t>
            </a:r>
            <a:r>
              <a:rPr lang="ru-RU" dirty="0"/>
              <a:t>. Это освобождает ресурсы и гарантирует, что все буферизованные данные будут записаны на устройство.</a:t>
            </a:r>
          </a:p>
          <a:p>
            <a:r>
              <a:rPr lang="ru-RU" dirty="0"/>
              <a:t>После вызова </a:t>
            </a:r>
            <a:r>
              <a:rPr lang="ru-RU" dirty="0" err="1"/>
              <a:t>fclose</a:t>
            </a:r>
            <a:r>
              <a:rPr lang="ru-RU" dirty="0"/>
              <a:t> указатель на FILE больше нельзя использовать.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43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показано, как те же самые операции ввода-вывода выполняются уже не со стандартными потоками, а с файлом на диске.</a:t>
            </a:r>
          </a:p>
          <a:p>
            <a:endParaRPr lang="ru-RU" dirty="0"/>
          </a:p>
          <a:p>
            <a:r>
              <a:rPr lang="ru-RU" dirty="0"/>
              <a:t>Сначала мы открываем файл в режиме записи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fopen</a:t>
            </a:r>
            <a:r>
              <a:rPr lang="ru-RU" dirty="0"/>
              <a:t>. Если файл открыть не удалось, необходимо обработать ошибку. Далее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fprintf</a:t>
            </a:r>
            <a:r>
              <a:rPr lang="ru-RU" dirty="0"/>
              <a:t> записываем в файл строки текста.</a:t>
            </a:r>
          </a:p>
          <a:p>
            <a:endParaRPr lang="ru-RU" dirty="0"/>
          </a:p>
          <a:p>
            <a:r>
              <a:rPr lang="ru-RU" dirty="0"/>
              <a:t>После завершения записи файл закрывается — это важно, чтобы данные были гарантированно сохранены.</a:t>
            </a:r>
          </a:p>
          <a:p>
            <a:endParaRPr lang="ru-RU" dirty="0"/>
          </a:p>
          <a:p>
            <a:r>
              <a:rPr lang="ru-RU" dirty="0"/>
              <a:t>Затем мы открываем тот же файл в режиме чтения и считываем строки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fgets</a:t>
            </a:r>
            <a:r>
              <a:rPr lang="ru-RU" dirty="0"/>
              <a:t>. Обратите внимание, что чтение происходит последовательно — сначала первая строка, затем вторая.</a:t>
            </a:r>
          </a:p>
          <a:p>
            <a:endParaRPr lang="ru-RU" dirty="0"/>
          </a:p>
          <a:p>
            <a:r>
              <a:rPr lang="ru-RU" dirty="0"/>
              <a:t>Этот пример показывает, что с точки зрения программы файл на диске и стандартные потоки обрабатываются одинаково: через единый интерфейс потоков.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86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обобщить, работа с файлами в языке C подчиняется простой, но важной модели: файл открывается, затем выполняется последовательность операций чтения или записи, после чего файл закрывается.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Операции ввода-вывода носят последовательный характер: каждая из них продвигает текущую позицию в потоке. Это отличает файловый ввод-вывод от произвольного доступа к памяти через указатели.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важно понимать, что все операции проходят через буфер стандартной библиотеки. Это влияет на производительность и на необходимость корректного закрытия файла.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Наконец, ввод-вывод — это потенциально ненадёжная операция: файлы могут отсутствовать, доступ может быть ограничен, устройство может выдавать ошибки. Поэтому корректная проверка результатов операций является обязательной частью работы с файлами.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64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стандартной библиотеке C предусмотрены функции для чтения и записи данных на уровне символов и строк.</a:t>
            </a:r>
          </a:p>
          <a:p>
            <a:endParaRPr lang="ru-RU" dirty="0"/>
          </a:p>
          <a:p>
            <a:r>
              <a:rPr lang="ru-RU" dirty="0"/>
              <a:t>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fgetc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fputc</a:t>
            </a:r>
            <a:r>
              <a:rPr lang="ru-RU" dirty="0"/>
              <a:t> позволяют работать с потоком посимвольно. Это удобно, когда требуется последовательно анализировать входные данные или выполнять простую обработку.</a:t>
            </a:r>
          </a:p>
          <a:p>
            <a:endParaRPr lang="ru-RU" dirty="0"/>
          </a:p>
          <a:p>
            <a:r>
              <a:rPr lang="ru-RU" dirty="0"/>
              <a:t>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fgets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fputs</a:t>
            </a:r>
            <a:r>
              <a:rPr lang="ru-RU" dirty="0"/>
              <a:t> работают со строками.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fgets</a:t>
            </a:r>
            <a:r>
              <a:rPr lang="ru-RU" dirty="0"/>
              <a:t> считывает строку в буфер, ограничивая количество символов, чтобы избежать переполнения. При этом, если в потоке встречается символ перевода строки, он сохраняется в буфере.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fputs</a:t>
            </a:r>
            <a:r>
              <a:rPr lang="ru-RU" dirty="0"/>
              <a:t>, в свою очередь, записывает строку в поток без каких-либо дополнительных изменений. Важно помнить, что символ перевода строки не добавляется автоматически и при необходимости должен быть записан явно.</a:t>
            </a:r>
          </a:p>
          <a:p>
            <a:endParaRPr lang="ru-RU" dirty="0"/>
          </a:p>
          <a:p>
            <a:r>
              <a:rPr lang="ru-RU" dirty="0"/>
              <a:t>Таким образом, эти функции позволяют работать с потоками на более удобном уровне — либо посимвольно, либо построчно, в зависимости от задачи.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969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что при работе с файлом не имеет значения, какими именно функциями были записаны данные.</a:t>
            </a:r>
          </a:p>
          <a:p>
            <a:endParaRPr lang="ru-RU" dirty="0"/>
          </a:p>
          <a:p>
            <a:r>
              <a:rPr lang="ru-RU" dirty="0"/>
              <a:t>Мы записываем строку «Hello»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fputs</a:t>
            </a:r>
            <a:r>
              <a:rPr lang="ru-RU" dirty="0"/>
              <a:t>, а затем добавляем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dirty="0"/>
              <a:t>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fputc</a:t>
            </a:r>
            <a:r>
              <a:rPr lang="ru-RU" dirty="0"/>
              <a:t>. В результате в файле оказывается последовательность байтов, соответствующая строке «Hello!».</a:t>
            </a:r>
          </a:p>
          <a:p>
            <a:endParaRPr lang="ru-RU" dirty="0"/>
          </a:p>
          <a:p>
            <a:r>
              <a:rPr lang="ru-RU" dirty="0"/>
              <a:t>При чтении мы используем другой набор функций: сначала читаем один символ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fgetc</a:t>
            </a:r>
            <a:r>
              <a:rPr lang="ru-RU" dirty="0"/>
              <a:t>, а затем оставшуюся часть строки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fgets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Результат оказывается корректным: первый символ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</a:t>
            </a:r>
            <a:r>
              <a:rPr lang="ru-RU" dirty="0"/>
              <a:t>, а оставшаяся строка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иллюстрирует ключевую идею: файл не хранит информацию о том, какими функциями данные были записаны. Он содержит только последовательность байтов, а способ чтения определяется программой.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698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работы с текстовыми данными используются функции </a:t>
            </a:r>
            <a:r>
              <a:rPr lang="ru-RU" dirty="0" err="1"/>
              <a:t>fprintf</a:t>
            </a:r>
            <a:r>
              <a:rPr lang="ru-RU" dirty="0"/>
              <a:t> и </a:t>
            </a:r>
            <a:r>
              <a:rPr lang="ru-RU" dirty="0" err="1"/>
              <a:t>fscanf</a:t>
            </a:r>
            <a:r>
              <a:rPr lang="ru-RU" dirty="0"/>
              <a:t>. Они аналогичны </a:t>
            </a:r>
            <a:r>
              <a:rPr lang="ru-RU" dirty="0" err="1"/>
              <a:t>printf</a:t>
            </a:r>
            <a:r>
              <a:rPr lang="ru-RU" dirty="0"/>
              <a:t> и </a:t>
            </a:r>
            <a:r>
              <a:rPr lang="ru-RU" dirty="0" err="1"/>
              <a:t>scanf</a:t>
            </a:r>
            <a:r>
              <a:rPr lang="ru-RU" dirty="0"/>
              <a:t>, но работают с произвольным потоком, а не только со стандартным вводом и выводом.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Ключевая особенность этих функций заключается в том, что они выполняют преобразование данных. Например, целое число или число с плавающей точкой преобразуется в текстовое представление при записи и обратно при чтении.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означает, что в файле хранятся не сами значения в их машинном виде, а их текстовая форма. Такой подход удобен для человека, но менее эффективен с точки зрения производительности и точности.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899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простой пример взаимодействия двух программ через файл.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Первая программа создаёт структуру Point и записывает её координаты в файл. Обратите внимание: используется функция </a:t>
            </a:r>
            <a:r>
              <a:rPr lang="ru-RU" dirty="0" err="1"/>
              <a:t>fprintf</a:t>
            </a:r>
            <a:r>
              <a:rPr lang="ru-RU" dirty="0"/>
              <a:t>, то есть данные записываются в текстовом виде.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результате в файле окажется строка, например: «1.5 -2.3».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Вторая программа открывает тот же файл и считывает данные с помощью </a:t>
            </a:r>
            <a:r>
              <a:rPr lang="ru-RU" dirty="0" err="1"/>
              <a:t>fscanf</a:t>
            </a:r>
            <a:r>
              <a:rPr lang="ru-RU" dirty="0"/>
              <a:t>, восстанавливая значения полей структуры. После этого координаты выводятся в стандартный поток вывода.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в файле не хранится сама структура Point. В нём хранится текстовое представление чисел. Связь с типом данных возникает только на этапе чтения, когда программа интерпретирует эти байты в соответствии с заданным форматом.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файл выступает как промежуточное хранилище, через которое разные программы могут обмениваться данными, при условии, что они согласованы относительно формата этих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649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отличие от операций в оперативной памяти, ввод-вывод является принципиально ненадёжной операцией. Он зависит от внешних факторов: состояния файловой системы, прав доступа, наличия устройства и корректности данных.</a:t>
            </a:r>
          </a:p>
          <a:p>
            <a:endParaRPr lang="ru-RU" dirty="0"/>
          </a:p>
          <a:p>
            <a:r>
              <a:rPr lang="ru-RU" dirty="0"/>
              <a:t>Поэтому каждая операция должна сопровождаться проверкой результата.</a:t>
            </a:r>
          </a:p>
          <a:p>
            <a:endParaRPr lang="ru-RU" dirty="0"/>
          </a:p>
          <a:p>
            <a:r>
              <a:rPr lang="ru-RU" dirty="0"/>
              <a:t>Первый и обязательный шаг — проверка результата функции </a:t>
            </a:r>
            <a:r>
              <a:rPr lang="ru-RU" dirty="0" err="1"/>
              <a:t>fopen</a:t>
            </a:r>
            <a:r>
              <a:rPr lang="ru-RU" dirty="0"/>
              <a:t>. Если файл не удалось открыть, возвращается NULL, и дальнейшая работа с таким указателем приведёт к ошибкам.</a:t>
            </a:r>
          </a:p>
          <a:p>
            <a:endParaRPr lang="ru-RU" dirty="0"/>
          </a:p>
          <a:p>
            <a:r>
              <a:rPr lang="ru-RU" dirty="0"/>
              <a:t>Далее необходимо проверять результаты операций записи и чтения. Функции форматированного ввода-вывода возвращают значения, по которым можно определить, успешно ли выполнена операция.</a:t>
            </a:r>
          </a:p>
          <a:p>
            <a:endParaRPr lang="ru-RU" dirty="0"/>
          </a:p>
          <a:p>
            <a:r>
              <a:rPr lang="ru-RU" dirty="0"/>
              <a:t>Кроме того, стандартная библиотека предоставляет функции для диагностики состояния потока: </a:t>
            </a:r>
            <a:r>
              <a:rPr lang="ru-RU" dirty="0" err="1"/>
              <a:t>ferror</a:t>
            </a:r>
            <a:r>
              <a:rPr lang="ru-RU" dirty="0"/>
              <a:t> позволяет определить, произошла ли ошибка, а </a:t>
            </a:r>
            <a:r>
              <a:rPr lang="ru-RU" dirty="0" err="1"/>
              <a:t>feof</a:t>
            </a:r>
            <a:r>
              <a:rPr lang="ru-RU" dirty="0"/>
              <a:t> — был ли достигнут конец файла.</a:t>
            </a:r>
          </a:p>
          <a:p>
            <a:endParaRPr lang="ru-RU" dirty="0"/>
          </a:p>
          <a:p>
            <a:r>
              <a:rPr lang="ru-RU" dirty="0"/>
              <a:t>Общий принцип, который следует усвоить: любая операция ввода-вывода может завершиться ошибкой, и корректная программа обязана это учитывать.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481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 программы, которая подсчитывает количество строк в текстовом файле. Заодно на этом примере можно аккуратно обсудить обработку ошибок и базовую работу с потоками.</a:t>
            </a:r>
          </a:p>
          <a:p>
            <a:endParaRPr lang="ru-RU" dirty="0"/>
          </a:p>
          <a:p>
            <a:r>
              <a:rPr lang="ru-RU" dirty="0"/>
              <a:t>Начнём с заголовка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 Здесь появляется новая для вас конструкция — параметры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argc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argv</a:t>
            </a:r>
            <a:r>
              <a:rPr lang="ru-RU" dirty="0"/>
              <a:t>. Это аргументы командной строки.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argc</a:t>
            </a:r>
            <a:r>
              <a:rPr lang="ru-RU" dirty="0"/>
              <a:t> — это количество аргументов, переданных программе,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argv</a:t>
            </a:r>
            <a:r>
              <a:rPr lang="ru-RU" dirty="0"/>
              <a:t> — это массив строк, содержащих сами аргументы. Первый элемент,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[0]</a:t>
            </a:r>
            <a:r>
              <a:rPr lang="ru-RU" dirty="0"/>
              <a:t>, — это имя программы,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[1]</a:t>
            </a:r>
            <a:r>
              <a:rPr lang="ru-RU" dirty="0"/>
              <a:t> — первый пользовательский аргумент, в нашем случае имя файла.</a:t>
            </a:r>
          </a:p>
          <a:p>
            <a:endParaRPr lang="ru-RU" dirty="0"/>
          </a:p>
          <a:p>
            <a:r>
              <a:rPr lang="ru-RU" dirty="0"/>
              <a:t>Мы ожидаем, что пользователь передаст ровно один аргумент — имя файла. Поэтому проверяем,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argc</a:t>
            </a:r>
            <a:r>
              <a:rPr lang="ru-RU" dirty="0"/>
              <a:t> равен двум. Если это не так, выводим сообщение об использовании программы и завершаем работу.</a:t>
            </a:r>
          </a:p>
          <a:p>
            <a:endParaRPr lang="ru-RU" dirty="0"/>
          </a:p>
          <a:p>
            <a:r>
              <a:rPr lang="ru-RU" dirty="0"/>
              <a:t>Далее мы открываем файл в режиме чтения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fopen</a:t>
            </a:r>
            <a:r>
              <a:rPr lang="ru-RU" dirty="0"/>
              <a:t>. Если открыть файл не удалось, функция возвращает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, и мы выводим сообщение об ошибке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perror</a:t>
            </a:r>
            <a:r>
              <a:rPr lang="ru-RU" dirty="0"/>
              <a:t>. Это важно: мы сразу прекращаем выполнение, потому что дальнейшая работа невозможна.</a:t>
            </a:r>
          </a:p>
          <a:p>
            <a:endParaRPr lang="ru-RU" dirty="0"/>
          </a:p>
          <a:p>
            <a:r>
              <a:rPr lang="ru-RU" dirty="0"/>
              <a:t>После этого начинается основной цикл. Мы читаем файл посимвольно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fgetc</a:t>
            </a:r>
            <a:r>
              <a:rPr lang="ru-RU" dirty="0"/>
              <a:t>. Обратите внимание, что переменная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r>
              <a:rPr lang="ru-RU" dirty="0"/>
              <a:t> имеет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а 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 Это необходимо, потому что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fgetc</a:t>
            </a:r>
            <a:r>
              <a:rPr lang="ru-RU" dirty="0"/>
              <a:t> может вернуть специальное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, которое не помещается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Цикл продолжается до тех пор, пока не встретится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. Каждый раз, когда мы встречаем символ перевода строки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'\n'</a:t>
            </a:r>
            <a:r>
              <a:rPr lang="ru-RU" dirty="0"/>
              <a:t>, увеличиваем счётчик строк.</a:t>
            </a:r>
          </a:p>
          <a:p>
            <a:endParaRPr lang="ru-RU" dirty="0"/>
          </a:p>
          <a:p>
            <a:r>
              <a:rPr lang="ru-RU" dirty="0"/>
              <a:t>После завершения цикла важно проверить, не произошло ли ошибки во время чтения. Дело в том, что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 может означать как нормальный конец файла, так и ошибку. Для различения используется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ferror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Затем мы закрываем файл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fclose</a:t>
            </a:r>
            <a:r>
              <a:rPr lang="ru-RU" dirty="0"/>
              <a:t>. Обратите внимание, что даже закрытие файла может завершиться ошибкой, поэтому результат также проверяется.</a:t>
            </a:r>
          </a:p>
          <a:p>
            <a:endParaRPr lang="ru-RU" dirty="0"/>
          </a:p>
          <a:p>
            <a:r>
              <a:rPr lang="ru-RU" dirty="0"/>
              <a:t>В конце программа выводит количество найденных строк.</a:t>
            </a:r>
          </a:p>
          <a:p>
            <a:endParaRPr lang="ru-RU" dirty="0"/>
          </a:p>
          <a:p>
            <a:r>
              <a:rPr lang="ru-RU" dirty="0"/>
              <a:t>Этот пример иллюстрирует несколько ключевых принципов: последовательную обработку потока, необходимость проверки ошибок на каждом этапе и различие между концом файла и ошибкой ввода-вывода.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435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4269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стандарте языка C текстовый ввод-вывод определяется через понятие текстового потока.</a:t>
            </a:r>
          </a:p>
          <a:p>
            <a:endParaRPr lang="ru-RU" dirty="0"/>
          </a:p>
          <a:p>
            <a:r>
              <a:rPr lang="ru-RU" dirty="0"/>
              <a:t>Текстовый поток — это последовательность символов, организованных в строки. Каждая строка заканчивается символом перевода строки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'\n'</a:t>
            </a:r>
            <a:r>
              <a:rPr lang="ru-RU" dirty="0"/>
              <a:t>, однако наличие этого символа в последней строке не гарантируется стандартом и зависит от реализации.</a:t>
            </a:r>
          </a:p>
          <a:p>
            <a:endParaRPr lang="ru-RU" dirty="0"/>
          </a:p>
          <a:p>
            <a:r>
              <a:rPr lang="ru-RU" dirty="0"/>
              <a:t>Важно понимать, что представление перевода строки зависит от операционной системы. В Unix-подобных системах используется один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'\n'</a:t>
            </a:r>
            <a:r>
              <a:rPr lang="ru-RU" dirty="0"/>
              <a:t>, тогда как в Windows — последовательность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'\r\n’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Стандартная библиотека языка C скрывает эти различия: при записи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'\n'</a:t>
            </a:r>
            <a:r>
              <a:rPr lang="ru-RU" dirty="0"/>
              <a:t> может быть преобразован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'\r\n'</a:t>
            </a:r>
            <a:r>
              <a:rPr lang="ru-RU" dirty="0"/>
              <a:t>, а при чтении — обратно. Это означает, что текстовый ввод-вывод не является </a:t>
            </a:r>
            <a:r>
              <a:rPr lang="ru-RU" dirty="0" err="1"/>
              <a:t>побайтово</a:t>
            </a:r>
            <a:r>
              <a:rPr lang="ru-RU" dirty="0"/>
              <a:t> точным.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985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работе с текстовыми потоками между памятью и файлом происходит не просто копирование байтов, а преобразование данных.</a:t>
            </a:r>
          </a:p>
          <a:p>
            <a:endParaRPr lang="ru-RU" dirty="0"/>
          </a:p>
          <a:p>
            <a:r>
              <a:rPr lang="ru-RU" dirty="0"/>
              <a:t>Стандарт допускает, что при вводе и выводе символы могут добавляться, удаляться или изменяться для соответствия соглашениям операционной системы.</a:t>
            </a:r>
          </a:p>
          <a:p>
            <a:endParaRPr lang="ru-RU" dirty="0"/>
          </a:p>
          <a:p>
            <a:r>
              <a:rPr lang="ru-RU" dirty="0"/>
              <a:t>Классический пример — преобразование перевода строки в Windows: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'\n'</a:t>
            </a:r>
            <a:r>
              <a:rPr lang="ru-RU" dirty="0"/>
              <a:t> в памяти при записи превращается в последовательность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'\r\n'</a:t>
            </a:r>
            <a:r>
              <a:rPr lang="ru-RU" dirty="0"/>
              <a:t>, а при чтении происходит обратное преобразование.</a:t>
            </a:r>
          </a:p>
          <a:p>
            <a:endParaRPr lang="ru-RU" dirty="0"/>
          </a:p>
          <a:p>
            <a:r>
              <a:rPr lang="ru-RU" dirty="0"/>
              <a:t>Это означает, что текстовый поток не является точным отражением данных в памяти на уровне байтов.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20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мы записываем число π в файл, а затем считываем его обратно и сравниваем значения.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Обратите внимание, что при записи используется формат по умолчанию (6 знаков после запятой). Это означает, что исходное значение округляется до текстового представления с ограниченной точностью.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 этого мы считываем значение обратно в переменную типа </a:t>
            </a:r>
            <a:r>
              <a:rPr lang="ru-RU" dirty="0" err="1"/>
              <a:t>double</a:t>
            </a:r>
            <a:r>
              <a:rPr lang="ru-RU" dirty="0"/>
              <a:t>. Однако это уже не исходное число, а приближённое значение, полученное из текстовой строки.</a:t>
            </a:r>
          </a:p>
          <a:p>
            <a:endParaRPr lang="ru-RU" dirty="0"/>
          </a:p>
          <a:p>
            <a:r>
              <a:rPr lang="ru-RU" dirty="0"/>
              <a:t>В конце мы выводим разницу между исходным и считанным значениями. Она оказывается отличной от нуля, что демонстрирует потерю точности.</a:t>
            </a:r>
          </a:p>
          <a:p>
            <a:endParaRPr lang="ru-RU" dirty="0"/>
          </a:p>
          <a:p>
            <a:r>
              <a:rPr lang="ru-RU" dirty="0"/>
              <a:t>Этот пример показывает, что текстовый ввод-вывод не сохраняет точное битовое представление чисел с плавающей точкой, а лишь их приближённое текстовое описание.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671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Стандарт языка C формулирует строгие условия, при которых данные, записанные в текстовый поток, могут быть корректно восстановлены при чтении.</a:t>
            </a:r>
          </a:p>
          <a:p>
            <a:endParaRPr lang="ru-RU" dirty="0"/>
          </a:p>
          <a:p>
            <a:r>
              <a:rPr lang="ru-RU" dirty="0"/>
              <a:t>Во-первых, данные должны состоять только из печатаемых символов, а также управляющих символов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'\t'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'\n'</a:t>
            </a:r>
            <a:r>
              <a:rPr lang="ru-RU" dirty="0"/>
              <a:t>. Использование других символов может приводить к неопределённому поведению.</a:t>
            </a:r>
          </a:p>
          <a:p>
            <a:endParaRPr lang="ru-RU" dirty="0"/>
          </a:p>
          <a:p>
            <a:r>
              <a:rPr lang="ru-RU" dirty="0"/>
              <a:t>Во-вторых, перед символом перевода строки не должно быть пробельных символов, так как при чтении они могут быть потеряны.</a:t>
            </a:r>
          </a:p>
          <a:p>
            <a:endParaRPr lang="ru-RU" dirty="0"/>
          </a:p>
          <a:p>
            <a:r>
              <a:rPr lang="ru-RU" dirty="0"/>
              <a:t>В-третьих, стандарт предполагает, что последняя строка завершается символом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'\n’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эти условия не выполняются, стандарт не гарантирует, что прочитанные данные будут совпадать с записанными.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674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Подведём итог обсуждения текстового ввода-вывода.</a:t>
            </a:r>
          </a:p>
          <a:p>
            <a:endParaRPr lang="ru-RU" dirty="0"/>
          </a:p>
          <a:p>
            <a:r>
              <a:rPr lang="ru-RU" dirty="0"/>
              <a:t>Данные проходят через промежуточный слой — текст. Это означает, что между памятью и файлом происходит преобразование, причём в ряде случаев оно зависит от платформы.</a:t>
            </a:r>
          </a:p>
          <a:p>
            <a:endParaRPr lang="ru-RU" dirty="0"/>
          </a:p>
          <a:p>
            <a:r>
              <a:rPr lang="ru-RU" dirty="0"/>
              <a:t>Мы видели, что символы могут изменяться при вводе и выводе, например, перевод строки в разных операционных системах представляется по-разному. Кроме того, корректность чтения зависит от согласованности форматов.</a:t>
            </a:r>
          </a:p>
          <a:p>
            <a:endParaRPr lang="ru-RU" dirty="0"/>
          </a:p>
          <a:p>
            <a:r>
              <a:rPr lang="ru-RU" dirty="0"/>
              <a:t>Отдельно стоит подчеркнуть проблему чисел с плавающей точкой. При преобразовании в текст и обратно неизбежно возникает округление, что приводит к потере точности.</a:t>
            </a:r>
          </a:p>
          <a:p>
            <a:endParaRPr lang="ru-RU" dirty="0"/>
          </a:p>
          <a:p>
            <a:r>
              <a:rPr lang="ru-RU" dirty="0"/>
              <a:t>В результате текстовый ввод-вывод не гарантирует точного восстановления исходных данных. Он удобен для человека, но не подходит для задач, где требуется строгое соответствие данных, например, при хранении структур или числовых результатов вычислений.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942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760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отличие от текстового ввода-вывода, бинарный ввод-вывод не использует промежуточное текстовое представление.</a:t>
            </a:r>
          </a:p>
          <a:p>
            <a:endParaRPr lang="ru-RU" dirty="0"/>
          </a:p>
          <a:p>
            <a:r>
              <a:rPr lang="ru-RU" dirty="0"/>
              <a:t>Данные записываются в файл в том виде, в котором они находятся в памяти — как последовательность байтов. При чтении происходит обратная операция: байты копируются из файла в память без каких-либо преобразований.</a:t>
            </a:r>
          </a:p>
          <a:p>
            <a:endParaRPr lang="ru-RU" dirty="0"/>
          </a:p>
          <a:p>
            <a:r>
              <a:rPr lang="ru-RU" dirty="0"/>
              <a:t>Это означает, что бинарный ввод-вывод обеспечивает точное соответствие между данными в памяти и их представлением в файле.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85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Основными функциями бинарного ввода-вывода являются </a:t>
            </a:r>
            <a:r>
              <a:rPr lang="ru-RU" dirty="0" err="1"/>
              <a:t>fwrite</a:t>
            </a:r>
            <a:r>
              <a:rPr lang="ru-RU" dirty="0"/>
              <a:t> и </a:t>
            </a:r>
            <a:r>
              <a:rPr lang="ru-RU" dirty="0" err="1"/>
              <a:t>fread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Они работают с памятью напрямую: мы передаём указатель на данные, размер одного элемента и количество элементов.</a:t>
            </a:r>
          </a:p>
          <a:p>
            <a:endParaRPr lang="ru-RU" dirty="0"/>
          </a:p>
          <a:p>
            <a:r>
              <a:rPr lang="ru-RU" dirty="0"/>
              <a:t>Таким образом, запись и чтение становятся симметричными операциями. Мы явно указываем, сколько байтов нужно передать между памятью и файлом.</a:t>
            </a:r>
          </a:p>
          <a:p>
            <a:endParaRPr lang="ru-RU" dirty="0"/>
          </a:p>
          <a:p>
            <a:r>
              <a:rPr lang="ru-RU" dirty="0"/>
              <a:t>Это принципиально отличается от форматированного ввода-вывода, где данные интерпретируются как текст.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042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 бинарного ввода-вывода и сравним его с текстовым вариантом, который мы обсуждали ранее.</a:t>
            </a:r>
          </a:p>
          <a:p>
            <a:endParaRPr lang="ru-RU" dirty="0"/>
          </a:p>
          <a:p>
            <a:r>
              <a:rPr lang="ru-RU" dirty="0"/>
              <a:t>Сначала мы открываем файл в режиме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wb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 — это означает запись в бинарном режиме. Важно использовать именно бинарный режим, чтобы избежать каких-либо преобразований данных.</a:t>
            </a:r>
          </a:p>
          <a:p>
            <a:endParaRPr lang="ru-RU" dirty="0"/>
          </a:p>
          <a:p>
            <a:r>
              <a:rPr lang="ru-RU" dirty="0"/>
              <a:t>Далее мы объявляем переменную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</a:t>
            </a:r>
            <a:r>
              <a:rPr lang="ru-RU" dirty="0"/>
              <a:t>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 и записываем её в файл с помощью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fwrite</a:t>
            </a:r>
            <a:r>
              <a:rPr lang="ru-RU" dirty="0"/>
              <a:t>. Обратите внимание: мы передаём адрес переменной, её размер в байтах и количество элементов. В данном случае мы записываем один объект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этого файл закрывается, и мы снова открываем его — теперь в режиме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rb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 для чтения.</a:t>
            </a:r>
          </a:p>
          <a:p>
            <a:endParaRPr lang="ru-RU" dirty="0"/>
          </a:p>
          <a:p>
            <a:r>
              <a:rPr lang="ru-RU" dirty="0"/>
              <a:t>Затем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fread</a:t>
            </a:r>
            <a:r>
              <a:rPr lang="ru-RU" dirty="0"/>
              <a:t> мы считываем данные обратно в переменную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pi1</a:t>
            </a:r>
            <a:r>
              <a:rPr lang="ru-RU" dirty="0"/>
              <a:t>. Здесь важно, что параметры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fread</a:t>
            </a:r>
            <a:r>
              <a:rPr lang="ru-RU" dirty="0"/>
              <a:t> полностью симметричны параметрам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fwrite</a:t>
            </a:r>
            <a:r>
              <a:rPr lang="ru-RU" dirty="0"/>
              <a:t>: тот же размер, тот же тип, то же количество элементов.</a:t>
            </a:r>
          </a:p>
          <a:p>
            <a:endParaRPr lang="ru-RU" dirty="0"/>
          </a:p>
          <a:p>
            <a:r>
              <a:rPr lang="ru-RU" dirty="0"/>
              <a:t>Теперь ключевой момент. Мы выводим оба значения — исходное и считанное — и видим, что они совпадают.</a:t>
            </a:r>
          </a:p>
          <a:p>
            <a:r>
              <a:rPr lang="ru-RU" dirty="0"/>
              <a:t>Но более строгая проверка — это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memcmp</a:t>
            </a:r>
            <a:r>
              <a:rPr lang="ru-RU" dirty="0"/>
              <a:t>. Эта функция сравнивает содержимое памяти побайтно. Результат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 означает, что все байты совпадают.</a:t>
            </a:r>
          </a:p>
          <a:p>
            <a:endParaRPr lang="ru-RU" dirty="0"/>
          </a:p>
          <a:p>
            <a:r>
              <a:rPr lang="ru-RU" dirty="0"/>
              <a:t>Это принципиальное отличие от текстового ввода-вывода. Здесь мы получаем не просто «похожее» значение, а </a:t>
            </a:r>
            <a:r>
              <a:rPr lang="ru-RU" b="1" dirty="0"/>
              <a:t>точно то же самое битовое представление</a:t>
            </a:r>
            <a:r>
              <a:rPr lang="ru-RU" dirty="0"/>
              <a:t>, которое было записано.</a:t>
            </a:r>
          </a:p>
          <a:p>
            <a:endParaRPr lang="ru-RU" dirty="0"/>
          </a:p>
          <a:p>
            <a:r>
              <a:rPr lang="ru-RU" dirty="0"/>
              <a:t>Таким образом, бинарный ввод-вывод обеспечивает полную идентичность данных при записи и чтении — при условии, что чтение выполняется в той же модели представления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62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Бинарный ввод-вывод решает основные проблемы текстового формата.</a:t>
            </a:r>
          </a:p>
          <a:p>
            <a:endParaRPr lang="ru-RU" dirty="0"/>
          </a:p>
          <a:p>
            <a:r>
              <a:rPr lang="ru-RU" dirty="0"/>
              <a:t>Он обеспечивает точное сохранение данных, включая числа с плавающей точкой, и, как правило, работает быстрее, поскольку отсутствуют преобразования.</a:t>
            </a:r>
          </a:p>
          <a:p>
            <a:endParaRPr lang="ru-RU" dirty="0"/>
          </a:p>
          <a:p>
            <a:r>
              <a:rPr lang="ru-RU" dirty="0"/>
              <a:t>Кроме того, он естественно подходит для работы со структурами, так как их можно записывать и читать как единый блок памяти.</a:t>
            </a:r>
          </a:p>
          <a:p>
            <a:endParaRPr lang="ru-RU" dirty="0"/>
          </a:p>
          <a:p>
            <a:r>
              <a:rPr lang="ru-RU" dirty="0"/>
              <a:t>Однако у этого подхода есть ограничения. Бинарное представление зависит от платформы: от порядка байтов, размеров типов и особенностей выравнивания.</a:t>
            </a:r>
          </a:p>
          <a:p>
            <a:endParaRPr lang="ru-RU" dirty="0"/>
          </a:p>
          <a:p>
            <a:r>
              <a:rPr lang="ru-RU" dirty="0"/>
              <a:t>Это означает, что бинарный файл, созданный на одной системе, может некорректно интерпретироваться на другой.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490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Рассмотрим, где на практике используются бинарные файлы.</a:t>
            </a:r>
          </a:p>
          <a:p>
            <a:endParaRPr lang="ru-RU" dirty="0"/>
          </a:p>
          <a:p>
            <a:r>
              <a:rPr lang="ru-RU" dirty="0"/>
              <a:t>Практически все распространённые форматы данных — графические, аудио, видео — являются бинарными. Это связано с тем, что они должны эффективно хранить большие объёмы данных и точно передавать информацию без потерь, связанных с текстовым представлением.</a:t>
            </a:r>
          </a:p>
          <a:p>
            <a:endParaRPr lang="ru-RU" dirty="0"/>
          </a:p>
          <a:p>
            <a:r>
              <a:rPr lang="ru-RU" dirty="0"/>
              <a:t>Архивы и базы данных также используют бинарные форматы, поскольку они требуют компактности и высокой производительности при доступе к данным.</a:t>
            </a:r>
          </a:p>
          <a:p>
            <a:endParaRPr lang="ru-RU" dirty="0"/>
          </a:p>
          <a:p>
            <a:r>
              <a:rPr lang="ru-RU" dirty="0"/>
              <a:t>В системном программировании бинарные файлы встречаются повсеместно: это исполняемые файлы, образы памяти, а также сетевые протоколы, где данные передаются в строго определённом формате.</a:t>
            </a:r>
          </a:p>
          <a:p>
            <a:endParaRPr lang="ru-RU" dirty="0"/>
          </a:p>
          <a:p>
            <a:r>
              <a:rPr lang="ru-RU" dirty="0"/>
              <a:t>Таким образом, бинарный формат используется везде, где важны точность, эффективность и контроль над представлением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822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показаны функции, которые выполняют явное преобразование между числовым значением и его байтовым представлением в заданном порядке — </a:t>
            </a:r>
            <a:r>
              <a:rPr lang="ru-RU" dirty="0" err="1"/>
              <a:t>little-endian</a:t>
            </a:r>
            <a:r>
              <a:rPr lang="ru-RU" dirty="0"/>
              <a:t> и </a:t>
            </a:r>
            <a:r>
              <a:rPr lang="ru-RU" dirty="0" err="1"/>
              <a:t>big-endian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подчеркнуть, что мы здесь </a:t>
            </a:r>
            <a:r>
              <a:rPr lang="ru-RU" b="1" dirty="0"/>
              <a:t>не полагаемся на то, как число хранится в памяти на текущей платформе</a:t>
            </a:r>
            <a:r>
              <a:rPr lang="ru-RU" dirty="0"/>
              <a:t>. Вместо этого мы явно задаём порядок байтов с помощью побитовых операций.</a:t>
            </a:r>
          </a:p>
          <a:p>
            <a:endParaRPr lang="ru-RU" dirty="0"/>
          </a:p>
          <a:p>
            <a:r>
              <a:rPr lang="ru-RU" dirty="0"/>
              <a:t>Функции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U32ToLE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U32ToBE</a:t>
            </a:r>
            <a:r>
              <a:rPr lang="ru-RU" dirty="0"/>
              <a:t> раскладывают 32-битное число на четыре байта в заданном порядке. Обратные функции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LEToU32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BEToU32</a:t>
            </a:r>
            <a:r>
              <a:rPr lang="ru-RU" dirty="0"/>
              <a:t> собирают число из массива байтов.</a:t>
            </a:r>
          </a:p>
          <a:p>
            <a:endParaRPr lang="ru-RU" dirty="0"/>
          </a:p>
          <a:p>
            <a:r>
              <a:rPr lang="ru-RU" dirty="0"/>
              <a:t>Таким образом, мы получаем способ работать с данными в формате с фиксированным </a:t>
            </a:r>
            <a:r>
              <a:rPr lang="ru-RU" dirty="0" err="1"/>
              <a:t>endianness</a:t>
            </a:r>
            <a:r>
              <a:rPr lang="ru-RU" dirty="0"/>
              <a:t> независимо от архитектуры.</a:t>
            </a:r>
          </a:p>
          <a:p>
            <a:endParaRPr lang="ru-RU" dirty="0"/>
          </a:p>
          <a:p>
            <a:r>
              <a:rPr lang="ru-RU" dirty="0"/>
              <a:t>Это особенно важно при работе с файлами и сетевыми протоколами, где формат данных должен быть строго определён и одинаково интерпретироваться на разных системах.</a:t>
            </a:r>
          </a:p>
          <a:p>
            <a:endParaRPr lang="ru-RU" dirty="0"/>
          </a:p>
          <a:p>
            <a:r>
              <a:rPr lang="ru-RU" dirty="0"/>
              <a:t>Ключевая идея: </a:t>
            </a:r>
            <a:r>
              <a:rPr lang="ru-RU" dirty="0" err="1"/>
              <a:t>endianness</a:t>
            </a:r>
            <a:r>
              <a:rPr lang="ru-RU" dirty="0"/>
              <a:t> — это не свойство числа, а способ упорядочивания его байтов при хранении или передаче.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359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сохранить структуру в файл в </a:t>
            </a:r>
            <a:r>
              <a:rPr lang="ru-RU" b="1" dirty="0"/>
              <a:t>фиксированном формате</a:t>
            </a:r>
            <a:r>
              <a:rPr lang="ru-RU" dirty="0"/>
              <a:t>, независимом от платформы.</a:t>
            </a:r>
          </a:p>
          <a:p>
            <a:endParaRPr lang="ru-RU" dirty="0"/>
          </a:p>
          <a:p>
            <a:r>
              <a:rPr lang="ru-RU" dirty="0"/>
              <a:t>Мы вводим вспомогательный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Point32</a:t>
            </a:r>
            <a:r>
              <a:rPr lang="ru-RU" dirty="0"/>
              <a:t>, в котором используются типы фиксированного размера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int32_t</a:t>
            </a:r>
            <a:r>
              <a:rPr lang="ru-RU" dirty="0"/>
              <a:t>. Это важно, потому что размер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может отличаться на разных системах.</a:t>
            </a:r>
          </a:p>
          <a:p>
            <a:endParaRPr lang="ru-RU" dirty="0"/>
          </a:p>
          <a:p>
            <a:r>
              <a:rPr lang="ru-RU" dirty="0"/>
              <a:t>Далее при записи каждая координата явно преобразуется в </a:t>
            </a:r>
            <a:r>
              <a:rPr lang="ru-RU" dirty="0" err="1"/>
              <a:t>little-endian</a:t>
            </a:r>
            <a:r>
              <a:rPr lang="ru-RU" dirty="0"/>
              <a:t> формат с помощью функции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U32ToLE</a:t>
            </a:r>
            <a:r>
              <a:rPr lang="ru-RU" dirty="0"/>
              <a:t>. Обратите внимание, что мы работаем не со структурой целиком, а преобразуем каждое поле отдельно.</a:t>
            </a:r>
          </a:p>
          <a:p>
            <a:r>
              <a:rPr lang="ru-RU" dirty="0"/>
              <a:t>После этого структура записывается в файл как последовательность байтов.</a:t>
            </a:r>
          </a:p>
          <a:p>
            <a:endParaRPr lang="ru-RU" dirty="0"/>
          </a:p>
          <a:p>
            <a:r>
              <a:rPr lang="ru-RU" dirty="0"/>
              <a:t>При чтении происходит обратная операция: мы читаем байты, затем явно интерпретируем их как </a:t>
            </a:r>
            <a:r>
              <a:rPr lang="ru-RU" dirty="0" err="1"/>
              <a:t>little-endian</a:t>
            </a:r>
            <a:r>
              <a:rPr lang="ru-RU" dirty="0"/>
              <a:t> с помощью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LEToU32</a:t>
            </a:r>
            <a:r>
              <a:rPr lang="ru-RU" dirty="0"/>
              <a:t> и восстанавливаем значения полей.</a:t>
            </a:r>
          </a:p>
          <a:p>
            <a:endParaRPr lang="ru-RU" dirty="0"/>
          </a:p>
          <a:p>
            <a:r>
              <a:rPr lang="ru-RU" dirty="0"/>
              <a:t>Ключевая идея: мы явно задаём формат хранения данных, а не полагаемся на внутреннее представление структуры в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078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 использование этих функций на практике.</a:t>
            </a:r>
          </a:p>
          <a:p>
            <a:endParaRPr lang="ru-RU" dirty="0"/>
          </a:p>
          <a:p>
            <a:r>
              <a:rPr lang="ru-RU" dirty="0"/>
              <a:t>Сначала создаётся точка и открывается файл для записи.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SavePointToFile</a:t>
            </a:r>
            <a:r>
              <a:rPr lang="ru-RU" dirty="0"/>
              <a:t> записывает данные в бинарном формате с фиксированным порядком байтов.</a:t>
            </a:r>
          </a:p>
          <a:p>
            <a:endParaRPr lang="ru-RU" dirty="0"/>
          </a:p>
          <a:p>
            <a:r>
              <a:rPr lang="ru-RU" dirty="0"/>
              <a:t>Затем файл открывается повторно для чтения, и данные загружаются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LoadPointFromFile</a:t>
            </a:r>
            <a:r>
              <a:rPr lang="ru-RU" dirty="0"/>
              <a:t>.</a:t>
            </a:r>
          </a:p>
          <a:p>
            <a:r>
              <a:rPr lang="ru-RU" dirty="0"/>
              <a:t>В результате мы получаем те же значения координат, что и исходные.</a:t>
            </a:r>
          </a:p>
          <a:p>
            <a:endParaRPr lang="ru-RU" dirty="0"/>
          </a:p>
          <a:p>
            <a:r>
              <a:rPr lang="ru-RU" dirty="0"/>
              <a:t>Важно понимать, что корректность этого результата не случайна: она обеспечивается тем, что формат записи и формат чтения полностью согласованы и не зависят от платформы.</a:t>
            </a:r>
          </a:p>
          <a:p>
            <a:endParaRPr lang="ru-RU" dirty="0"/>
          </a:p>
          <a:p>
            <a:r>
              <a:rPr lang="ru-RU" dirty="0"/>
              <a:t>Таким образом, этот пример демонстрирует полный цикл: от представления данных в памяти до их переносимого хранения и восстановления.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483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56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работе с файлами важно понимать, что у каждого потока есть текущая позиция — смещение относительно начала файла.</a:t>
            </a:r>
          </a:p>
          <a:p>
            <a:endParaRPr lang="ru-RU" dirty="0"/>
          </a:p>
          <a:p>
            <a:r>
              <a:rPr lang="ru-RU" dirty="0"/>
              <a:t>Все операции чтения и записи происходят относительно этой позиции. После выполнения операции позиция автоматически сдвигается.</a:t>
            </a:r>
          </a:p>
          <a:p>
            <a:endParaRPr lang="ru-RU" dirty="0"/>
          </a:p>
          <a:p>
            <a:r>
              <a:rPr lang="ru-RU" dirty="0"/>
              <a:t>Таким образом, поток можно рассматривать как указатель, который перемещается по последовательности байтов.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487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управления позицией в потоке в языке C предусмотрены три основные функции: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fseek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ftell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rewind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Начнём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fseek</a:t>
            </a:r>
            <a:r>
              <a:rPr lang="ru-RU" dirty="0"/>
              <a:t>. Это основная функция для перемещения по файлу. Она принимает три аргумента: указатель на поток, смещение и точку отсчёта. Точка отсчёта задаётся константой: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SEEK_SET</a:t>
            </a:r>
            <a:r>
              <a:rPr lang="ru-RU" dirty="0"/>
              <a:t> — от начала файла,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SEEK_CUR</a:t>
            </a:r>
            <a:r>
              <a:rPr lang="ru-RU" dirty="0"/>
              <a:t> — от текущей позиции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SEEK_END</a:t>
            </a:r>
            <a:r>
              <a:rPr lang="ru-RU" dirty="0"/>
              <a:t> — от конца файла. Смещение задаётся в байтах. 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fseek</a:t>
            </a:r>
            <a:r>
              <a:rPr lang="ru-RU" dirty="0"/>
              <a:t> позволяет перейти к произвольной позиции в файле.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ftell</a:t>
            </a:r>
            <a:r>
              <a:rPr lang="ru-RU" dirty="0"/>
              <a:t> выполняет обратную задачу — она возвращает текущую позицию в файле. То есть мы можем узнать, на каком смещении сейчас находится поток. Это удобно, например, чтобы сохранить позицию, выполнить какие-то операции, а затем вернуться обратно.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rewind</a:t>
            </a:r>
            <a:r>
              <a:rPr lang="ru-RU" dirty="0"/>
              <a:t> — это частный случай перемещения. Она просто возвращает позицию в начало файла. Её можно рассматривать как сокращённую запись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fseek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(f, 0, SEEK_SET)</a:t>
            </a:r>
            <a:r>
              <a:rPr lang="ru-RU" dirty="0"/>
              <a:t>, но с дополнительным эффектом — она также сбрасывает флаг ошибки и состояния конца файла.</a:t>
            </a:r>
          </a:p>
          <a:p>
            <a:endParaRPr lang="ru-RU" dirty="0"/>
          </a:p>
          <a:p>
            <a:r>
              <a:rPr lang="ru-RU" dirty="0"/>
              <a:t>Важно понимать, что все эти функции работают с байтовыми смещениями. В бинарных файлах это даёт точный контроль над данными. В текстовых потоках их поведение может быть ограничено стандартом, поэтому там их следует использовать с осторожностью.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102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Хотя управление позицией существует для всех потоков, на практике оно наиболее полезно при работе с бинарными файлами.</a:t>
            </a:r>
          </a:p>
          <a:p>
            <a:endParaRPr lang="ru-RU" dirty="0"/>
          </a:p>
          <a:p>
            <a:r>
              <a:rPr lang="ru-RU" dirty="0"/>
              <a:t>В бинарном файле данные представляют собой последовательность байтов без преобразований. Это позволяет точно вычислять смещения и обращаться к нужным данным напрямую.</a:t>
            </a:r>
          </a:p>
          <a:p>
            <a:endParaRPr lang="ru-RU" dirty="0"/>
          </a:p>
          <a:p>
            <a:r>
              <a:rPr lang="ru-RU" dirty="0"/>
              <a:t>Например, если файл содержит массив структур фиксированного размера, можно легко перейти к N-</a:t>
            </a:r>
            <a:r>
              <a:rPr lang="ru-RU" dirty="0" err="1"/>
              <a:t>му</a:t>
            </a:r>
            <a:r>
              <a:rPr lang="ru-RU" dirty="0"/>
              <a:t> элементу, вычислив его смещение.</a:t>
            </a:r>
          </a:p>
          <a:p>
            <a:endParaRPr lang="ru-RU" dirty="0"/>
          </a:p>
          <a:p>
            <a:r>
              <a:rPr lang="ru-RU" dirty="0"/>
              <a:t>Та же идея используется в реальных системах. В базах данных это позволяет быстро перейти к нужной записи по её смещению в файле. В мультимедийных форматах — перематывать видео или аудио, переходя к нужному фрагменту. В архивах — извлекать конкретный файл, не читая весь архив последовательно.</a:t>
            </a:r>
          </a:p>
          <a:p>
            <a:endParaRPr lang="ru-RU" dirty="0"/>
          </a:p>
          <a:p>
            <a:r>
              <a:rPr lang="ru-RU" dirty="0"/>
              <a:t>В текстовых файлах ситуация сложнее. Из-за преобразований символов и особенностей стандарта позиция в файле не всегда соответствует логической структуре данных.</a:t>
            </a:r>
          </a:p>
          <a:p>
            <a:endParaRPr lang="ru-RU" dirty="0"/>
          </a:p>
          <a:p>
            <a:r>
              <a:rPr lang="ru-RU" dirty="0"/>
              <a:t>Поэтому перемещение по файлу используется прежде всего для бинарных форматов, где структура данных строго определена и предсказуема.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575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показано, как можно использовать позицию в файле для изменения данных «на месте».</a:t>
            </a:r>
          </a:p>
          <a:p>
            <a:endParaRPr lang="ru-RU" dirty="0"/>
          </a:p>
          <a:p>
            <a:r>
              <a:rPr lang="ru-RU" dirty="0"/>
              <a:t>Сначала мы записываем в файл массив из пяти чисел. После этого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fseek</a:t>
            </a:r>
            <a:r>
              <a:rPr lang="ru-RU" dirty="0"/>
              <a:t> перемещаемся к нужному элементу. Смещение вычисляется как индекс элемента, умноженный на размер типа — в данном случае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 *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(uint32_t)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Затем мы записываем новое значение поверх существующего. Обратите внимание: файл не переписывается целиком — изменяется только нужный участок.</a:t>
            </a:r>
          </a:p>
          <a:p>
            <a:endParaRPr lang="ru-RU" dirty="0"/>
          </a:p>
          <a:p>
            <a:r>
              <a:rPr lang="ru-RU" dirty="0"/>
              <a:t>После этого мы возвращаемся в начало файла и считываем весь массив обратно, чтобы убедиться, что значение было изменено.</a:t>
            </a:r>
          </a:p>
          <a:p>
            <a:endParaRPr lang="ru-RU" dirty="0"/>
          </a:p>
          <a:p>
            <a:r>
              <a:rPr lang="ru-RU" dirty="0"/>
              <a:t>Этот пример хорошо иллюстрирует ключевое преимущество бинарных файлов: возможность произвольного доступа и модификации данных по вычисляемому смещению.</a:t>
            </a:r>
          </a:p>
          <a:p>
            <a:endParaRPr lang="ru-RU" dirty="0"/>
          </a:p>
          <a:p>
            <a:r>
              <a:rPr lang="ru-RU" dirty="0"/>
              <a:t>В этом примере не выполняется проверка ошибок — это сделано исключительно для компактности, чтобы код поместился на слайде. В реальной программе все операции ввода-вывода должны проверяться.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124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871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работе с файлами важно понимать, что операции ввода-вывода не всегда выполняются немедленно.</a:t>
            </a:r>
          </a:p>
          <a:p>
            <a:endParaRPr lang="ru-RU" dirty="0"/>
          </a:p>
          <a:p>
            <a:r>
              <a:rPr lang="ru-RU" dirty="0"/>
              <a:t>Когда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fprintf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fwrite</a:t>
            </a:r>
            <a:r>
              <a:rPr lang="ru-RU" dirty="0"/>
              <a:t>, данные сначала попадают во внутренний буфер стандартной библиотеки, а не сразу записываются на диск.</a:t>
            </a:r>
          </a:p>
          <a:p>
            <a:endParaRPr lang="ru-RU" dirty="0"/>
          </a:p>
          <a:p>
            <a:r>
              <a:rPr lang="ru-RU" dirty="0"/>
              <a:t>Это сделано для повышения производительности. Обращения к устройствам хранения — дорогая операция, поэтому данные записываются не по одному байту, а блоками.</a:t>
            </a:r>
          </a:p>
          <a:p>
            <a:endParaRPr lang="ru-RU" dirty="0"/>
          </a:p>
          <a:p>
            <a:r>
              <a:rPr lang="ru-RU" dirty="0"/>
              <a:t>Таким образом, между программой и файлом существует промежуточный слой — буфер, который временно хранит данные.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461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Поскольку данные могут находиться в буфере, возникает вопрос: как гарантировать, что они действительно записаны в файл?</a:t>
            </a:r>
          </a:p>
          <a:p>
            <a:endParaRPr lang="ru-RU" dirty="0"/>
          </a:p>
          <a:p>
            <a:r>
              <a:rPr lang="ru-RU" dirty="0"/>
              <a:t>Для этого используется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fflush</a:t>
            </a:r>
            <a:r>
              <a:rPr lang="ru-RU" dirty="0"/>
              <a:t>. Она принудительно сбрасывает буфер, то есть записывает накопленные данные на устройство.</a:t>
            </a:r>
          </a:p>
          <a:p>
            <a:endParaRPr lang="ru-RU" dirty="0"/>
          </a:p>
          <a:p>
            <a:r>
              <a:rPr lang="ru-RU" dirty="0"/>
              <a:t>Это особенно важно в ситуациях, когда программа может завершиться раньше, чем буфер будет автоматически записан, или когда нужно гарантировать сохранение данных в конкретный момент времени.</a:t>
            </a:r>
          </a:p>
          <a:p>
            <a:endParaRPr lang="ru-RU" dirty="0"/>
          </a:p>
          <a:p>
            <a:r>
              <a:rPr lang="ru-RU" dirty="0"/>
              <a:t>Стоит отметить, что при вызове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fclose</a:t>
            </a:r>
            <a:r>
              <a:rPr lang="ru-RU" dirty="0"/>
              <a:t> буфер автоматически сбрасывается, поэтому в простых программах дополнительный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fflush</a:t>
            </a:r>
            <a:r>
              <a:rPr lang="ru-RU" dirty="0"/>
              <a:t> не требуется.</a:t>
            </a:r>
          </a:p>
          <a:p>
            <a:endParaRPr lang="ru-RU" dirty="0"/>
          </a:p>
          <a:p>
            <a:r>
              <a:rPr lang="ru-RU" dirty="0"/>
              <a:t>Тем не менее, понимание буферизации важно, потому что оно объясняет, почему иногда данные «не появляются» в файле сразу после записи.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355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понимать, что запись в файл не всегда происходит сразу. Данные сначала попадают в буфер, и только позже передаются операционной системе.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означает, что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fwrite</a:t>
            </a:r>
            <a:r>
              <a:rPr lang="ru-RU" dirty="0"/>
              <a:t> может успешно завершиться, даже если реальная запись на устройство ещё не произошла.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Ошибки могут проявиться только в момент сброса буфера, который выполняется при вызове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fclose</a:t>
            </a:r>
            <a:r>
              <a:rPr lang="ru-RU" dirty="0"/>
              <a:t>. Поэтому именно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fclose</a:t>
            </a:r>
            <a:r>
              <a:rPr lang="ru-RU" dirty="0"/>
              <a:t> — это точка, где необходимо проверять результат.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Игнорирование возвращаемого значения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fclose</a:t>
            </a:r>
            <a:r>
              <a:rPr lang="ru-RU" dirty="0"/>
              <a:t> может привести к потере данных без явного сообщения об ошибке.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корректная программа обязана проверять результат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fclose</a:t>
            </a:r>
            <a:r>
              <a:rPr lang="ru-RU" dirty="0"/>
              <a:t>, особенно при работе с файлами, открытыми для записи.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107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мы открываем один и тот же файл двумя потоками: один используется для записи, другой — для чтения.</a:t>
            </a:r>
          </a:p>
          <a:p>
            <a:endParaRPr lang="ru-RU" dirty="0"/>
          </a:p>
          <a:p>
            <a:r>
              <a:rPr lang="ru-RU" dirty="0"/>
              <a:t>После записи строки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fprintf</a:t>
            </a:r>
            <a:r>
              <a:rPr lang="ru-RU" dirty="0"/>
              <a:t> данные попадают в буфер потока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fw</a:t>
            </a:r>
            <a:r>
              <a:rPr lang="ru-RU" dirty="0"/>
              <a:t>, но ещё не обязательно записаны в файл. Поэтому при попытке чтения через поток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</a:t>
            </a:r>
            <a:r>
              <a:rPr lang="ru-RU" dirty="0"/>
              <a:t> мы получаем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 — файл с точки зрения чтения пока пуст.</a:t>
            </a:r>
          </a:p>
          <a:p>
            <a:endParaRPr lang="ru-RU" dirty="0"/>
          </a:p>
          <a:p>
            <a:r>
              <a:rPr lang="ru-RU" dirty="0"/>
              <a:t>Далее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fflush</a:t>
            </a:r>
            <a:r>
              <a:rPr lang="ru-RU" dirty="0"/>
              <a:t>, который принудительно сбрасывает буфер записи и передаёт данные в файл. После этого мы перематываем поток чтения в начало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rewind</a:t>
            </a:r>
            <a:r>
              <a:rPr lang="ru-RU" dirty="0"/>
              <a:t> и повторяем чтение — теперь оно успешно.</a:t>
            </a:r>
          </a:p>
          <a:p>
            <a:endParaRPr lang="ru-RU" dirty="0"/>
          </a:p>
          <a:p>
            <a:r>
              <a:rPr lang="ru-RU" dirty="0"/>
              <a:t>Ключевой момент здесь в том, что потоки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fw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</a:t>
            </a:r>
            <a:r>
              <a:rPr lang="ru-RU" dirty="0"/>
              <a:t> имеют независимые буферы и не синхронизированы автоматически. Поток чтения не «видит» данные, пока они не сброшены из буфера записи.</a:t>
            </a:r>
          </a:p>
          <a:p>
            <a:endParaRPr lang="ru-RU" dirty="0"/>
          </a:p>
          <a:p>
            <a:r>
              <a:rPr lang="ru-RU" dirty="0"/>
              <a:t>Таким образом, при работе с несколькими потоками для одного файла необходимо явно синхронизировать состояние: сбрасывать буфер записи и корректно управлять позицией потока чтения.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0335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5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работе с файлами важно понимать, как определяется конец данных.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EOF — это специальный признак, который сигнализирует, что данные в потоке закончились. Он не является частью файла и не хранится в нём — это значение, которое возвращают функции ввода-вывода.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fgetc</a:t>
            </a:r>
            <a:r>
              <a:rPr lang="ru-RU" dirty="0"/>
              <a:t> возвращает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, когда дальнейшее чтение невозможно. Поэтому переменная для хранения результата должна иметь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а 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765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различать конец файла и ошибку ввода-вывода. Многие функции возвращают одинаковый признак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EOF</a:t>
            </a:r>
            <a:r>
              <a:rPr lang="ru-RU" dirty="0"/>
              <a:t>, и только дополнительные функции позволяют понять причину.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feof</a:t>
            </a:r>
            <a:r>
              <a:rPr lang="ru-RU" dirty="0"/>
              <a:t> сообщает, был ли достигнут конец файла,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ferror</a:t>
            </a:r>
            <a:r>
              <a:rPr lang="ru-RU" dirty="0"/>
              <a:t> — произошла ли ошибка.</a:t>
            </a:r>
          </a:p>
          <a:p>
            <a:endParaRPr lang="ru-RU" dirty="0"/>
          </a:p>
          <a:p>
            <a:r>
              <a:rPr lang="ru-RU" dirty="0"/>
              <a:t>Распространённая ошибка —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feof</a:t>
            </a:r>
            <a:r>
              <a:rPr lang="ru-RU" dirty="0"/>
              <a:t> как условие цикла. Это неверно, потому что флаг конца файла устанавливается только после неудачной попытки чтения.</a:t>
            </a:r>
          </a:p>
          <a:p>
            <a:endParaRPr lang="ru-RU" dirty="0"/>
          </a:p>
          <a:p>
            <a:r>
              <a:rPr lang="ru-RU" dirty="0"/>
              <a:t>Правильный подход — проверять результат самой операции чтения, а не состояние потока до неё.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5793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расширили модель, с которой работали ранее. Если раньше все данные существовали только в оперативной памяти, то теперь мы ввели файл как внешнее хранилище, представляющее собой ту же последовательность байтов.</a:t>
            </a:r>
          </a:p>
          <a:p>
            <a:endParaRPr lang="ru-RU" dirty="0"/>
          </a:p>
          <a:p>
            <a:r>
              <a:rPr lang="ru-RU" dirty="0"/>
              <a:t>Мы рассмотрели два подхода к вводу-выводу. Текстовый формат удобен, но сопровождается преобразованиями и потерей точности. Бинарный формат, напротив, сохраняет данные точно, но требует более строгого контроля.</a:t>
            </a:r>
          </a:p>
          <a:p>
            <a:endParaRPr lang="ru-RU" dirty="0"/>
          </a:p>
          <a:p>
            <a:r>
              <a:rPr lang="ru-RU" dirty="0"/>
              <a:t>Также мы познакомились с ключевыми механизмами: потоками, стандартными потоками ввода и вывода, буферизацией, управлением позицией и обработкой ошибок.</a:t>
            </a:r>
          </a:p>
          <a:p>
            <a:endParaRPr lang="ru-RU" dirty="0"/>
          </a:p>
          <a:p>
            <a:r>
              <a:rPr lang="ru-RU" dirty="0"/>
              <a:t>Важно, что все эти темы укладываются в единую модель: данные — это байты, а тип — это способ их интерпретации.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38FA8-9CB1-4042-99D0-8E2B0384932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59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89A2-E633-EC8E-D6E5-B2D5EF45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679F2-54D4-A0AC-1166-C7F76D4C7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FD45B-5106-96BC-2F22-5A9D1767B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D4EF2-C550-B6A2-96D7-6309DCB59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F2CA0-139A-C652-CB96-9D4F11D47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3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0B6A-E0E5-27D9-809B-2780D806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D0DED-C21A-E315-42F8-EFF1CD483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E0C06-96E2-12C5-C82B-CD5A9248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181B0-EEB0-CE2E-2BC1-BCB933E0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E5229-48E8-9207-63FA-574FB4E80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722A7-6D6B-20CD-44B8-09569F04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53702-F7EE-8B39-B78A-CBFEB82C0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222B8-904D-3C5E-E569-071EFBE90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FA78C-9F1A-72DB-C987-F7ED33CF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51617-EB9B-F054-3D16-F687977E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52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B4721-8AEF-8B9D-123D-EEADE795B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14CEE-013C-507B-86B4-B9158EACF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BDDFA-7743-B6B4-7F8C-F74B3E876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8611F-0427-0B82-85F3-E8988980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68D64-6514-81B2-D222-9190C191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3B3FD-CB77-06D2-94B1-3E02874E2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69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EBA2-CA62-046C-983E-0D75B781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7362F-3D02-89B4-62E3-952ACECB6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2B5FB-8062-2B92-3F15-8CA5AB1D5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1D759-49C4-5CB2-BE72-7BB0AA264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39D74-B1F0-11EC-A804-71E6D4B06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20FDE-1D45-509D-A389-E7192827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4186E-DFA7-BBA9-D51F-212881ABC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61CCA3-7EF0-565E-053D-D1DCDDD6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46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7162-CAB4-C078-B263-94877CE1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88848-FD14-FCF4-E63D-269193D7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76BB1-F12D-190C-29D7-2382B139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83E77-111E-DD0C-33E2-F664AD22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3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1B3043-E863-F850-A28A-6A965A055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804958-31D6-9F23-F314-9896A641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A65E8-6D5F-62B6-3C09-EC99468E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29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6672D-2505-70A5-DCDB-619300AD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BF928-F289-610A-C498-886196489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27614-B6DC-1673-E0BE-453F7A58E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DB5D9-A81C-9468-B336-7B4BAEC3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769C7-7586-5FE5-AB04-824D1AC6C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CD877-8174-4993-8E4A-2F1B98EE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5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BCAD3-E867-B0A2-DD99-82D47F93A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BE694E-B0F2-B1BB-37FB-37814E9952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2A66E-26B6-1BEB-B2DF-075216F61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81178-3313-07DD-55CA-1AD85E83F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13219-F536-A12C-3750-72E63D86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595AD-BB33-E830-876F-8D147E83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1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BE701-B091-AEF4-0ED3-B385724D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3B74D-C4DC-2668-10F0-096AF61DD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A67C0-23BF-5178-A620-6ABDBA9A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97F65-0381-865C-6AA4-8DA5ACC1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6E602-CD37-FD81-4B64-01A913DD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4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EEB9D6-DC9C-6FB1-B77E-62A962945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A9329-A5D2-5DCC-B0CF-91AB174A8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8D25A-1F93-C9EB-ADC5-87F2CEF5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5163E-6FC9-45BA-1363-B826B852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39CD2-6399-9109-3747-17DB87EA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8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859C9F-749C-1EF9-92D5-3A1F76FF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6D6DD-B854-4CB7-836B-0BB006967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E3E1-C511-4D26-2DCA-3FECFEDBD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22DDC-0B87-45EB-AFE2-6D8EE65F40E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5AAB2-3AF2-9912-0240-C0057430B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ACC3A-D632-0538-9F0E-8A2403F35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5F327-E2FC-4E11-A1D4-E8CBE5914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99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/io/fopen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cppreference.com/w/c/io/fclose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/io/ferror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cppreference.com/w/c/io/feof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/io/fprintf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cppreference.com/w/c/io/fscanf.html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A278-1D25-0033-FC9E-73F193DD5D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Файловый ввод-вывод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FE145-DFC2-5846-4B5D-69D0A836D0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36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1ABD-96FA-EDB0-92F8-F2D448BA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Ограничения вычислений в оперативной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F3F1-7C5B-B84E-7A94-755423905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Время жизни данных</a:t>
            </a:r>
          </a:p>
          <a:p>
            <a:pPr lvl="1"/>
            <a:r>
              <a:rPr lang="ru-RU" dirty="0"/>
              <a:t>Объекты, размещённые в оперативной памяти (RAM),</a:t>
            </a:r>
            <a:br>
              <a:rPr lang="ru-RU" dirty="0"/>
            </a:br>
            <a:r>
              <a:rPr lang="ru-RU" dirty="0"/>
              <a:t>существуют только в пределах времени выполнения процесса </a:t>
            </a:r>
          </a:p>
          <a:p>
            <a:pPr lvl="1"/>
            <a:r>
              <a:rPr lang="ru-RU" dirty="0"/>
              <a:t>После завершения процесса его адресное пространство уничтожается </a:t>
            </a:r>
          </a:p>
          <a:p>
            <a:r>
              <a:rPr lang="ru-RU" dirty="0"/>
              <a:t>Программы, работающие только с RAM, не могут:</a:t>
            </a:r>
          </a:p>
          <a:p>
            <a:pPr lvl="1"/>
            <a:r>
              <a:rPr lang="ru-RU" dirty="0"/>
              <a:t>сохранять результаты между запусками </a:t>
            </a:r>
          </a:p>
          <a:p>
            <a:pPr lvl="1"/>
            <a:r>
              <a:rPr lang="ru-RU" dirty="0"/>
              <a:t>обрабатывать объёмы данных, превышающие доступную память </a:t>
            </a:r>
          </a:p>
          <a:p>
            <a:pPr lvl="1"/>
            <a:r>
              <a:rPr lang="ru-RU" dirty="0"/>
              <a:t>обмениваться данными с другими процессами через устойчивое хранилище</a:t>
            </a:r>
          </a:p>
        </p:txBody>
      </p:sp>
    </p:spTree>
    <p:extLst>
      <p:ext uri="{BB962C8B-B14F-4D97-AF65-F5344CB8AC3E}">
        <p14:creationId xmlns:p14="http://schemas.microsoft.com/office/powerpoint/2010/main" val="1691346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27C2-1D64-C49E-8CA0-94F0622A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Внешняя память и файлы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D89B5-42D7-1A49-532F-B35C777DD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78236" cy="4351338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/>
              <a:t>Необходимость внешнего хранения</a:t>
            </a:r>
          </a:p>
          <a:p>
            <a:pPr lvl="1"/>
            <a:r>
              <a:rPr lang="ru-RU" dirty="0"/>
              <a:t>Для преодоления ограничений RAM требуется механизм долговременного хранения данных вне процесса</a:t>
            </a:r>
          </a:p>
          <a:p>
            <a:r>
              <a:rPr lang="ru-RU" b="1" dirty="0"/>
              <a:t>Файл</a:t>
            </a:r>
            <a:r>
              <a:rPr lang="ru-RU" dirty="0"/>
              <a:t> — это именованная последовательность байтов,</a:t>
            </a:r>
            <a:br>
              <a:rPr lang="ru-RU" dirty="0"/>
            </a:br>
            <a:r>
              <a:rPr lang="ru-RU" dirty="0"/>
              <a:t>размещённая во внешней памяти (диск, SSD и т.п.)</a:t>
            </a:r>
          </a:p>
          <a:p>
            <a:r>
              <a:rPr lang="ru-RU" b="1" dirty="0"/>
              <a:t>Модель взаимодействия</a:t>
            </a:r>
          </a:p>
          <a:p>
            <a:pPr lvl="1"/>
            <a:r>
              <a:rPr lang="ru-RU" dirty="0"/>
              <a:t>Данные не обрабатываются непосредственно «в файле» </a:t>
            </a:r>
          </a:p>
          <a:p>
            <a:pPr lvl="1"/>
            <a:r>
              <a:rPr lang="ru-RU" dirty="0"/>
              <a:t>Программа выполняет перенос данных между адресным пространством процесса и внешней </a:t>
            </a:r>
            <a:r>
              <a:rPr lang="ru-RU" dirty="0" err="1"/>
              <a:t>памятю</a:t>
            </a:r>
            <a:r>
              <a:rPr lang="ru-RU" dirty="0"/>
              <a:t> (файлом)</a:t>
            </a:r>
          </a:p>
          <a:p>
            <a:endParaRPr lang="ru-RU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680C86-BEF9-9F5C-D066-805AA4B024F4}"/>
              </a:ext>
            </a:extLst>
          </p:cNvPr>
          <p:cNvSpPr/>
          <p:nvPr/>
        </p:nvSpPr>
        <p:spPr>
          <a:xfrm>
            <a:off x="7192415" y="2014539"/>
            <a:ext cx="2589760" cy="2192826"/>
          </a:xfrm>
          <a:prstGeom prst="roundRect">
            <a:avLst>
              <a:gd name="adj" fmla="val 348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34210-EAE7-D7A1-C74E-BC39EFDBB7AE}"/>
              </a:ext>
            </a:extLst>
          </p:cNvPr>
          <p:cNvSpPr/>
          <p:nvPr/>
        </p:nvSpPr>
        <p:spPr>
          <a:xfrm>
            <a:off x="7248697" y="2094807"/>
            <a:ext cx="2477193" cy="3990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Процесс в памяти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33DA86-496E-47AD-3043-2F98D52F315B}"/>
              </a:ext>
            </a:extLst>
          </p:cNvPr>
          <p:cNvSpPr/>
          <p:nvPr/>
        </p:nvSpPr>
        <p:spPr>
          <a:xfrm>
            <a:off x="7248696" y="2617643"/>
            <a:ext cx="2477193" cy="1535257"/>
          </a:xfrm>
          <a:prstGeom prst="roundRect">
            <a:avLst>
              <a:gd name="adj" fmla="val 4259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Адресное пространство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2043E2-7F98-C846-194A-195D89826871}"/>
              </a:ext>
            </a:extLst>
          </p:cNvPr>
          <p:cNvSpPr/>
          <p:nvPr/>
        </p:nvSpPr>
        <p:spPr>
          <a:xfrm>
            <a:off x="7419975" y="3257550"/>
            <a:ext cx="2190750" cy="6953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6CFEE231-AB0A-0B8F-7DBA-70BE01E11571}"/>
              </a:ext>
            </a:extLst>
          </p:cNvPr>
          <p:cNvSpPr/>
          <p:nvPr/>
        </p:nvSpPr>
        <p:spPr>
          <a:xfrm>
            <a:off x="7419975" y="3257550"/>
            <a:ext cx="2190750" cy="257176"/>
          </a:xfrm>
          <a:prstGeom prst="round2SameRect">
            <a:avLst>
              <a:gd name="adj1" fmla="val 35186"/>
              <a:gd name="adj2" fmla="val 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/>
              <a:t>Буфер в памяти</a:t>
            </a:r>
            <a:endParaRPr lang="en-US" sz="14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7A8D13-8185-5D70-BB6A-31C68338615A}"/>
              </a:ext>
            </a:extLst>
          </p:cNvPr>
          <p:cNvSpPr/>
          <p:nvPr/>
        </p:nvSpPr>
        <p:spPr>
          <a:xfrm>
            <a:off x="7419975" y="3257549"/>
            <a:ext cx="2190750" cy="6953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EAC2B08-86A4-0DDE-EA6B-9C6FAA571AAA}"/>
              </a:ext>
            </a:extLst>
          </p:cNvPr>
          <p:cNvSpPr/>
          <p:nvPr/>
        </p:nvSpPr>
        <p:spPr>
          <a:xfrm>
            <a:off x="7519988" y="3709988"/>
            <a:ext cx="214312" cy="14763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839C8B-BDB0-3BC4-715D-6734A17042EE}"/>
              </a:ext>
            </a:extLst>
          </p:cNvPr>
          <p:cNvSpPr/>
          <p:nvPr/>
        </p:nvSpPr>
        <p:spPr>
          <a:xfrm>
            <a:off x="7727157" y="3709987"/>
            <a:ext cx="214312" cy="14763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26A4937-2F9F-5D69-1F19-890F43A66367}"/>
              </a:ext>
            </a:extLst>
          </p:cNvPr>
          <p:cNvSpPr/>
          <p:nvPr/>
        </p:nvSpPr>
        <p:spPr>
          <a:xfrm>
            <a:off x="7934326" y="3709986"/>
            <a:ext cx="214312" cy="14763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9BF4EA-9F84-A7E1-A60E-47B9559925B1}"/>
              </a:ext>
            </a:extLst>
          </p:cNvPr>
          <p:cNvSpPr/>
          <p:nvPr/>
        </p:nvSpPr>
        <p:spPr>
          <a:xfrm>
            <a:off x="8141495" y="3709985"/>
            <a:ext cx="214312" cy="14763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D53E27-7811-CE6A-90D7-612CA1179088}"/>
              </a:ext>
            </a:extLst>
          </p:cNvPr>
          <p:cNvSpPr/>
          <p:nvPr/>
        </p:nvSpPr>
        <p:spPr>
          <a:xfrm>
            <a:off x="8348664" y="3709984"/>
            <a:ext cx="214312" cy="14763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DD66411-DCAF-55D9-666D-586263244374}"/>
              </a:ext>
            </a:extLst>
          </p:cNvPr>
          <p:cNvSpPr/>
          <p:nvPr/>
        </p:nvSpPr>
        <p:spPr>
          <a:xfrm>
            <a:off x="8555833" y="3709983"/>
            <a:ext cx="214312" cy="14763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F1781EC-8A86-A3AC-5ABC-4B6913339BBC}"/>
              </a:ext>
            </a:extLst>
          </p:cNvPr>
          <p:cNvSpPr/>
          <p:nvPr/>
        </p:nvSpPr>
        <p:spPr>
          <a:xfrm>
            <a:off x="8763002" y="3709982"/>
            <a:ext cx="214312" cy="14763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8A21294-E26D-AD5A-4261-3BED0F11D431}"/>
              </a:ext>
            </a:extLst>
          </p:cNvPr>
          <p:cNvSpPr/>
          <p:nvPr/>
        </p:nvSpPr>
        <p:spPr>
          <a:xfrm>
            <a:off x="8970171" y="3709981"/>
            <a:ext cx="214312" cy="14763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524EB00-E98E-DD0F-0CE6-92F91430A659}"/>
              </a:ext>
            </a:extLst>
          </p:cNvPr>
          <p:cNvSpPr/>
          <p:nvPr/>
        </p:nvSpPr>
        <p:spPr>
          <a:xfrm>
            <a:off x="9177340" y="3709980"/>
            <a:ext cx="214312" cy="14763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 descr="Disk with solid fill">
            <a:extLst>
              <a:ext uri="{FF2B5EF4-FFF2-40B4-BE49-F238E27FC236}">
                <a16:creationId xmlns:a16="http://schemas.microsoft.com/office/drawing/2014/main" id="{5378B27C-3ABD-4726-E7B2-ACC699CD4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3468" y="2715852"/>
            <a:ext cx="1152144" cy="1152144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321809B-5B3C-BB6A-52B7-A9EFDF17FB85}"/>
              </a:ext>
            </a:extLst>
          </p:cNvPr>
          <p:cNvCxnSpPr/>
          <p:nvPr/>
        </p:nvCxnSpPr>
        <p:spPr>
          <a:xfrm>
            <a:off x="9906000" y="3605211"/>
            <a:ext cx="1133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45CC60-FA2D-5FB5-010B-9FD2BD8B672C}"/>
              </a:ext>
            </a:extLst>
          </p:cNvPr>
          <p:cNvGrpSpPr/>
          <p:nvPr/>
        </p:nvGrpSpPr>
        <p:grpSpPr>
          <a:xfrm>
            <a:off x="10167282" y="3275258"/>
            <a:ext cx="516258" cy="582359"/>
            <a:chOff x="9758364" y="4900327"/>
            <a:chExt cx="901634" cy="1017079"/>
          </a:xfrm>
        </p:grpSpPr>
        <p:sp>
          <p:nvSpPr>
            <p:cNvPr id="23" name="Rectangle: Folded Corner 22">
              <a:extLst>
                <a:ext uri="{FF2B5EF4-FFF2-40B4-BE49-F238E27FC236}">
                  <a16:creationId xmlns:a16="http://schemas.microsoft.com/office/drawing/2014/main" id="{BD815401-F972-1D5E-DD53-76F1BF48D4CC}"/>
                </a:ext>
              </a:extLst>
            </p:cNvPr>
            <p:cNvSpPr/>
            <p:nvPr/>
          </p:nvSpPr>
          <p:spPr>
            <a:xfrm flipV="1">
              <a:off x="9758364" y="4900327"/>
              <a:ext cx="901634" cy="1017079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693E7F3-86E3-51B7-6871-4CCB36C9C1A6}"/>
                </a:ext>
              </a:extLst>
            </p:cNvPr>
            <p:cNvGrpSpPr/>
            <p:nvPr/>
          </p:nvGrpSpPr>
          <p:grpSpPr>
            <a:xfrm>
              <a:off x="9878186" y="5185270"/>
              <a:ext cx="661990" cy="447191"/>
              <a:chOff x="10275380" y="5447347"/>
              <a:chExt cx="835819" cy="447191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BF6D151-1878-96A3-FBC9-338BB52A1DAD}"/>
                  </a:ext>
                </a:extLst>
              </p:cNvPr>
              <p:cNvGrpSpPr/>
              <p:nvPr/>
            </p:nvGrpSpPr>
            <p:grpSpPr>
              <a:xfrm>
                <a:off x="10275380" y="5447347"/>
                <a:ext cx="835819" cy="147637"/>
                <a:chOff x="10275380" y="5447347"/>
                <a:chExt cx="835819" cy="147637"/>
              </a:xfrm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B96471A3-2150-3378-3090-26C62CAAA699}"/>
                    </a:ext>
                  </a:extLst>
                </p:cNvPr>
                <p:cNvSpPr/>
                <p:nvPr/>
              </p:nvSpPr>
              <p:spPr>
                <a:xfrm>
                  <a:off x="10275380" y="5447347"/>
                  <a:ext cx="214312" cy="147637"/>
                </a:xfrm>
                <a:prstGeom prst="roundRect">
                  <a:avLst/>
                </a:prstGeom>
                <a:solidFill>
                  <a:srgbClr val="92D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DD35ECDD-E05C-490E-836B-56D7C5D266D7}"/>
                    </a:ext>
                  </a:extLst>
                </p:cNvPr>
                <p:cNvSpPr/>
                <p:nvPr/>
              </p:nvSpPr>
              <p:spPr>
                <a:xfrm>
                  <a:off x="10482549" y="5447347"/>
                  <a:ext cx="214312" cy="147637"/>
                </a:xfrm>
                <a:prstGeom prst="roundRect">
                  <a:avLst/>
                </a:prstGeom>
                <a:solidFill>
                  <a:srgbClr val="92D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6E3CE9F8-D2AC-E4B9-C23E-A46B5D625C09}"/>
                    </a:ext>
                  </a:extLst>
                </p:cNvPr>
                <p:cNvSpPr/>
                <p:nvPr/>
              </p:nvSpPr>
              <p:spPr>
                <a:xfrm>
                  <a:off x="10689718" y="5447347"/>
                  <a:ext cx="214312" cy="14763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91ED5126-9300-365E-1DD6-01DB5076100E}"/>
                    </a:ext>
                  </a:extLst>
                </p:cNvPr>
                <p:cNvSpPr/>
                <p:nvPr/>
              </p:nvSpPr>
              <p:spPr>
                <a:xfrm>
                  <a:off x="10896887" y="5447347"/>
                  <a:ext cx="214312" cy="147637"/>
                </a:xfrm>
                <a:prstGeom prst="roundRect">
                  <a:avLst/>
                </a:prstGeom>
                <a:solidFill>
                  <a:srgbClr val="92D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A59FD754-1A8E-7CCC-0501-387CFC58DE0C}"/>
                  </a:ext>
                </a:extLst>
              </p:cNvPr>
              <p:cNvGrpSpPr/>
              <p:nvPr/>
            </p:nvGrpSpPr>
            <p:grpSpPr>
              <a:xfrm>
                <a:off x="10275380" y="5594985"/>
                <a:ext cx="835819" cy="147637"/>
                <a:chOff x="10275380" y="5594985"/>
                <a:chExt cx="835819" cy="147637"/>
              </a:xfrm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C0699013-1083-C91F-6120-51D946E60FB4}"/>
                    </a:ext>
                  </a:extLst>
                </p:cNvPr>
                <p:cNvSpPr/>
                <p:nvPr/>
              </p:nvSpPr>
              <p:spPr>
                <a:xfrm>
                  <a:off x="10275380" y="5594985"/>
                  <a:ext cx="214312" cy="147637"/>
                </a:xfrm>
                <a:prstGeom prst="roundRect">
                  <a:avLst/>
                </a:prstGeom>
                <a:solidFill>
                  <a:srgbClr val="92D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44DB09DA-90CC-C29D-944F-8B7131A27FA9}"/>
                    </a:ext>
                  </a:extLst>
                </p:cNvPr>
                <p:cNvSpPr/>
                <p:nvPr/>
              </p:nvSpPr>
              <p:spPr>
                <a:xfrm>
                  <a:off x="10482549" y="5594985"/>
                  <a:ext cx="214312" cy="14763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65A4B803-4713-C3A8-E49C-2E3F47343209}"/>
                    </a:ext>
                  </a:extLst>
                </p:cNvPr>
                <p:cNvSpPr/>
                <p:nvPr/>
              </p:nvSpPr>
              <p:spPr>
                <a:xfrm>
                  <a:off x="10689718" y="5594985"/>
                  <a:ext cx="214312" cy="14763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50E19260-420B-F4E6-58EC-969B9983AFA0}"/>
                    </a:ext>
                  </a:extLst>
                </p:cNvPr>
                <p:cNvSpPr/>
                <p:nvPr/>
              </p:nvSpPr>
              <p:spPr>
                <a:xfrm>
                  <a:off x="10896887" y="5594985"/>
                  <a:ext cx="214312" cy="14763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A4E7319F-3C64-D7D0-6708-878F28DBCD0D}"/>
                  </a:ext>
                </a:extLst>
              </p:cNvPr>
              <p:cNvGrpSpPr/>
              <p:nvPr/>
            </p:nvGrpSpPr>
            <p:grpSpPr>
              <a:xfrm>
                <a:off x="10275380" y="5746901"/>
                <a:ext cx="831364" cy="147637"/>
                <a:chOff x="10279835" y="5746901"/>
                <a:chExt cx="831364" cy="147637"/>
              </a:xfrm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A8C10290-58BF-505E-B1B6-EBE185163E18}"/>
                    </a:ext>
                  </a:extLst>
                </p:cNvPr>
                <p:cNvSpPr/>
                <p:nvPr/>
              </p:nvSpPr>
              <p:spPr>
                <a:xfrm>
                  <a:off x="10486121" y="5746901"/>
                  <a:ext cx="214312" cy="147637"/>
                </a:xfrm>
                <a:prstGeom prst="roundRect">
                  <a:avLst/>
                </a:prstGeom>
                <a:solidFill>
                  <a:srgbClr val="92D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74EB1867-7D05-7068-C94F-7823A66067D4}"/>
                    </a:ext>
                  </a:extLst>
                </p:cNvPr>
                <p:cNvSpPr/>
                <p:nvPr/>
              </p:nvSpPr>
              <p:spPr>
                <a:xfrm>
                  <a:off x="10686147" y="5746901"/>
                  <a:ext cx="214312" cy="147637"/>
                </a:xfrm>
                <a:prstGeom prst="roundRect">
                  <a:avLst/>
                </a:prstGeom>
                <a:solidFill>
                  <a:srgbClr val="92D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CB70A018-CD99-50D0-4EE6-63E1AA57EE13}"/>
                    </a:ext>
                  </a:extLst>
                </p:cNvPr>
                <p:cNvSpPr/>
                <p:nvPr/>
              </p:nvSpPr>
              <p:spPr>
                <a:xfrm>
                  <a:off x="10279835" y="5746901"/>
                  <a:ext cx="214312" cy="147637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F0A0CF2C-B3C7-7F3E-93E3-2E46EEA02E31}"/>
                    </a:ext>
                  </a:extLst>
                </p:cNvPr>
                <p:cNvSpPr/>
                <p:nvPr/>
              </p:nvSpPr>
              <p:spPr>
                <a:xfrm>
                  <a:off x="10896887" y="5746901"/>
                  <a:ext cx="214312" cy="147637"/>
                </a:xfrm>
                <a:prstGeom prst="roundRect">
                  <a:avLst/>
                </a:prstGeom>
                <a:solidFill>
                  <a:srgbClr val="92D050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56EA1FC-E8FD-A991-495B-05F1D015DF9E}"/>
              </a:ext>
            </a:extLst>
          </p:cNvPr>
          <p:cNvCxnSpPr>
            <a:cxnSpLocks/>
          </p:cNvCxnSpPr>
          <p:nvPr/>
        </p:nvCxnSpPr>
        <p:spPr>
          <a:xfrm flipH="1" flipV="1">
            <a:off x="9980593" y="3018083"/>
            <a:ext cx="976308" cy="15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250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00A9-79C4-C58A-6608-040AECEC3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данных в файле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C64FE-8300-9BA5-8064-BFCE3140B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Содержимое файла не содержит информации о типах данных</a:t>
            </a:r>
          </a:p>
          <a:p>
            <a:pPr lvl="1"/>
            <a:r>
              <a:rPr lang="ru-RU" dirty="0"/>
              <a:t>содержимое файла рассматривается программой и ОС как последовательность байтов</a:t>
            </a:r>
            <a:r>
              <a:rPr lang="en-US" dirty="0"/>
              <a:t> </a:t>
            </a:r>
            <a:r>
              <a:rPr lang="ru-RU" dirty="0"/>
              <a:t>(в старых ФС тип мог храниться как метаданные)</a:t>
            </a:r>
          </a:p>
          <a:p>
            <a:pPr lvl="1"/>
            <a:r>
              <a:rPr lang="ru-RU" dirty="0"/>
              <a:t>Их интерпретация полностью определяется программой.</a:t>
            </a:r>
          </a:p>
          <a:p>
            <a:r>
              <a:rPr lang="ru-RU" dirty="0"/>
              <a:t>Один и тот же набор байтов может быть интерпретирован как:</a:t>
            </a:r>
          </a:p>
          <a:p>
            <a:pPr lvl="1"/>
            <a:r>
              <a:rPr lang="ru-RU" dirty="0"/>
              <a:t>целое число</a:t>
            </a:r>
          </a:p>
          <a:p>
            <a:pPr lvl="1"/>
            <a:r>
              <a:rPr lang="ru-RU" dirty="0"/>
              <a:t>число с плавающей точкой (</a:t>
            </a:r>
            <a:r>
              <a:rPr lang="ru-RU" dirty="0" err="1"/>
              <a:t>float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структура </a:t>
            </a:r>
          </a:p>
          <a:p>
            <a:pPr lvl="1"/>
            <a:r>
              <a:rPr lang="ru-RU" dirty="0"/>
              <a:t>машинная инструкция</a:t>
            </a:r>
          </a:p>
          <a:p>
            <a:r>
              <a:rPr lang="ru-RU" dirty="0"/>
              <a:t>Тип данных определяется способом интерпретации, а не самим байтовым представлением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085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0C47-689E-F946-107E-F46EE966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Унификация модели: память и файл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6595F-E675-639B-9E21-F9350132F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Оперативная память — адресуемое пространство байтов</a:t>
            </a:r>
          </a:p>
          <a:p>
            <a:r>
              <a:rPr lang="ru-RU" dirty="0"/>
              <a:t>Файл — линейная последовательность байтов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A3D2A1-5C4A-2AE3-8E35-63591DE16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067299"/>
            <a:ext cx="10515600" cy="110966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Различие между RAM и файлом заключается не в представлении данных, а в механизме доступа и физических характеристиках хранения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BFDC29-CF8D-B1D0-D91D-4F32D61CA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998890"/>
              </p:ext>
            </p:extLst>
          </p:nvPr>
        </p:nvGraphicFramePr>
        <p:xfrm>
          <a:off x="1200150" y="2891631"/>
          <a:ext cx="1015365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187191398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404224882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150453708"/>
                    </a:ext>
                  </a:extLst>
                </a:gridCol>
              </a:tblGrid>
              <a:tr h="157056">
                <a:tc>
                  <a:txBody>
                    <a:bodyPr/>
                    <a:lstStyle/>
                    <a:p>
                      <a:r>
                        <a:rPr lang="ru-RU" dirty="0"/>
                        <a:t>Свойство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ОЗУ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Файл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95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Доступ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произвольный (по адресу)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последовательный / с позицией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165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Модель доступа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указатели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Смещение в файле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459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Скорость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существенно ниже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80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Время жизни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время выполнения процесса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долговременное хранение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69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919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652D7-5426-CAB9-684E-397FC735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Абстракция файла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3FDEF-672D-4498-DC4E-4F84FB38C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3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465085-512A-9CA8-A055-68049646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в языке </a:t>
            </a:r>
            <a:r>
              <a:rPr lang="en-US" dirty="0"/>
              <a:t>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ACFD91-99EE-67D8-60EF-C74D09884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 языке C ввод-вывод осуществляется через </a:t>
            </a:r>
            <a:r>
              <a:rPr lang="ru-RU" b="1" dirty="0"/>
              <a:t>потоки</a:t>
            </a:r>
            <a:r>
              <a:rPr lang="ru-RU" dirty="0"/>
              <a:t> (</a:t>
            </a:r>
            <a:r>
              <a:rPr lang="ru-RU" dirty="0" err="1"/>
              <a:t>streams</a:t>
            </a:r>
            <a:r>
              <a:rPr lang="ru-RU" dirty="0"/>
              <a:t>)</a:t>
            </a:r>
          </a:p>
          <a:p>
            <a:r>
              <a:rPr lang="ru-RU" b="1" dirty="0"/>
              <a:t>Поток (</a:t>
            </a:r>
            <a:r>
              <a:rPr lang="ru-RU" b="1" dirty="0" err="1"/>
              <a:t>stream</a:t>
            </a:r>
            <a:r>
              <a:rPr lang="ru-RU" b="1" dirty="0"/>
              <a:t>)</a:t>
            </a:r>
            <a:r>
              <a:rPr lang="ru-RU" dirty="0"/>
              <a:t> — это абстракция для работы с последовательностью данных, поступающих из источника или направляемых в приёмник</a:t>
            </a:r>
          </a:p>
          <a:p>
            <a:r>
              <a:rPr lang="ru-RU" b="1" dirty="0"/>
              <a:t>Примеры источников и приёмников</a:t>
            </a:r>
          </a:p>
          <a:p>
            <a:pPr lvl="1"/>
            <a:r>
              <a:rPr lang="ru-RU" dirty="0"/>
              <a:t>файлы на диске </a:t>
            </a:r>
          </a:p>
          <a:p>
            <a:pPr lvl="1"/>
            <a:r>
              <a:rPr lang="ru-RU" dirty="0"/>
              <a:t>терминал (</a:t>
            </a:r>
            <a:r>
              <a:rPr lang="ru-RU" dirty="0" err="1"/>
              <a:t>stdin</a:t>
            </a:r>
            <a:r>
              <a:rPr lang="ru-RU" dirty="0"/>
              <a:t> / </a:t>
            </a:r>
            <a:r>
              <a:rPr lang="ru-RU" dirty="0" err="1"/>
              <a:t>stdout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сокеты </a:t>
            </a:r>
          </a:p>
          <a:p>
            <a:pPr lvl="1"/>
            <a:r>
              <a:rPr lang="ru-RU" dirty="0"/>
              <a:t>устройства (клавиатура, принтер и др.) </a:t>
            </a:r>
          </a:p>
          <a:p>
            <a:r>
              <a:rPr lang="ru-RU" b="1" dirty="0"/>
              <a:t>Ввод-вывод в C унифицирован</a:t>
            </a:r>
            <a:r>
              <a:rPr lang="ru-RU" dirty="0"/>
              <a:t>: разные устройства представлены одинаково — как потоки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42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F6E3C-8F9A-C89B-55F2-15D7B5A0D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 FILE и его роль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C4CBB-3260-6605-A443-CC6EE7910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Поток в </a:t>
            </a:r>
            <a:r>
              <a:rPr lang="en-US" dirty="0"/>
              <a:t>C </a:t>
            </a:r>
            <a:r>
              <a:rPr lang="ru-RU" dirty="0"/>
              <a:t>представлен типом </a:t>
            </a:r>
            <a:r>
              <a:rPr lang="ru-RU" b="1" dirty="0"/>
              <a:t>FILE *</a:t>
            </a:r>
            <a:endParaRPr lang="ru-RU" dirty="0"/>
          </a:p>
          <a:p>
            <a:r>
              <a:rPr lang="ru-RU" dirty="0"/>
              <a:t>Свойства FILE</a:t>
            </a:r>
          </a:p>
          <a:p>
            <a:pPr lvl="1"/>
            <a:r>
              <a:rPr lang="ru-RU" dirty="0"/>
              <a:t>непрозрачный (</a:t>
            </a:r>
            <a:r>
              <a:rPr lang="ru-RU" dirty="0" err="1"/>
              <a:t>opaque</a:t>
            </a:r>
            <a:r>
              <a:rPr lang="ru-RU" dirty="0"/>
              <a:t>) тип </a:t>
            </a:r>
          </a:p>
          <a:p>
            <a:pPr lvl="1"/>
            <a:r>
              <a:rPr lang="ru-RU" dirty="0"/>
              <a:t>структура скрыта от программиста </a:t>
            </a:r>
          </a:p>
          <a:p>
            <a:pPr lvl="1"/>
            <a:r>
              <a:rPr lang="ru-RU" dirty="0"/>
              <a:t>управляется стандартной библиотекой </a:t>
            </a:r>
          </a:p>
          <a:p>
            <a:r>
              <a:rPr lang="ru-RU" dirty="0"/>
              <a:t>Что содержит FILE (концептуально)</a:t>
            </a:r>
          </a:p>
          <a:p>
            <a:pPr lvl="1"/>
            <a:r>
              <a:rPr lang="ru-RU" dirty="0"/>
              <a:t>текущую позицию в потоке </a:t>
            </a:r>
          </a:p>
          <a:p>
            <a:pPr lvl="1"/>
            <a:r>
              <a:rPr lang="ru-RU" dirty="0"/>
              <a:t>буфер ввода/вывода </a:t>
            </a:r>
          </a:p>
          <a:p>
            <a:pPr lvl="1"/>
            <a:r>
              <a:rPr lang="ru-RU" dirty="0"/>
              <a:t>состояние ошибок </a:t>
            </a:r>
          </a:p>
          <a:p>
            <a:pPr lvl="1"/>
            <a:r>
              <a:rPr lang="ru-RU" dirty="0"/>
              <a:t>признак конца файла (EOF) </a:t>
            </a:r>
          </a:p>
          <a:p>
            <a:r>
              <a:rPr lang="ru-RU" dirty="0"/>
              <a:t>Ограничение</a:t>
            </a:r>
          </a:p>
          <a:p>
            <a:pPr lvl="1"/>
            <a:r>
              <a:rPr lang="ru-RU" dirty="0"/>
              <a:t>Объекты типа FILE не создаются напрямую</a:t>
            </a:r>
          </a:p>
          <a:p>
            <a:pPr lvl="1"/>
            <a:r>
              <a:rPr lang="ru-RU" dirty="0"/>
              <a:t>Используются только через API (</a:t>
            </a:r>
            <a:r>
              <a:rPr lang="ru-RU" dirty="0" err="1"/>
              <a:t>fopen</a:t>
            </a:r>
            <a:r>
              <a:rPr lang="ru-RU" dirty="0"/>
              <a:t>, </a:t>
            </a:r>
            <a:r>
              <a:rPr lang="ru-RU" dirty="0" err="1"/>
              <a:t>fread</a:t>
            </a:r>
            <a:r>
              <a:rPr lang="ru-RU" dirty="0"/>
              <a:t>, …)</a:t>
            </a:r>
          </a:p>
        </p:txBody>
      </p:sp>
    </p:spTree>
    <p:extLst>
      <p:ext uri="{BB962C8B-B14F-4D97-AF65-F5344CB8AC3E}">
        <p14:creationId xmlns:p14="http://schemas.microsoft.com/office/powerpoint/2010/main" val="1480501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9D36-1C3B-8A46-F413-4652BFAAB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Стандартные потоки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617A0-47D5-DCC3-DED0-672BF01A3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программе всегда доступны три стандартных потока</a:t>
            </a:r>
          </a:p>
          <a:p>
            <a:pPr lvl="1"/>
            <a:r>
              <a:rPr lang="en-US" dirty="0"/>
              <a:t>stdin — </a:t>
            </a:r>
            <a:r>
              <a:rPr lang="ru-RU" dirty="0"/>
              <a:t>стандартный ввод </a:t>
            </a:r>
          </a:p>
          <a:p>
            <a:pPr lvl="1"/>
            <a:r>
              <a:rPr lang="en-US" dirty="0" err="1"/>
              <a:t>stdout</a:t>
            </a:r>
            <a:r>
              <a:rPr lang="en-US" dirty="0"/>
              <a:t> — </a:t>
            </a:r>
            <a:r>
              <a:rPr lang="ru-RU" dirty="0"/>
              <a:t>стандартный вывод </a:t>
            </a:r>
          </a:p>
          <a:p>
            <a:pPr lvl="1"/>
            <a:r>
              <a:rPr lang="en-US" dirty="0"/>
              <a:t>stderr — </a:t>
            </a:r>
            <a:r>
              <a:rPr lang="ru-RU" dirty="0"/>
              <a:t>поток ошибок </a:t>
            </a:r>
          </a:p>
          <a:p>
            <a:r>
              <a:rPr lang="ru-RU" dirty="0"/>
              <a:t>Использование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("Hello\n");          // → </a:t>
            </a:r>
            <a:r>
              <a:rPr lang="en-US" dirty="0" err="1">
                <a:latin typeface="Consolas" panose="020B0609020204030204" pitchFamily="49" charset="0"/>
              </a:rPr>
              <a:t>stdout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fprintf</a:t>
            </a:r>
            <a:r>
              <a:rPr lang="en-US" dirty="0">
                <a:latin typeface="Consolas" panose="020B0609020204030204" pitchFamily="49" charset="0"/>
              </a:rPr>
              <a:t>(stderr, "Error\n"); // → stderr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</a:rPr>
              <a:t>("%d", &amp;x);           // ← stdin</a:t>
            </a:r>
          </a:p>
          <a:p>
            <a:r>
              <a:rPr lang="ru-RU" dirty="0"/>
              <a:t>Стандартные потоки — это обычные </a:t>
            </a:r>
            <a:r>
              <a:rPr lang="en-US" dirty="0"/>
              <a:t>FILE*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02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2D1ED-CDBD-248B-1826-2E469A9C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</a:t>
            </a:r>
            <a:r>
              <a:rPr lang="en-US" dirty="0"/>
              <a:t>stdin, </a:t>
            </a:r>
            <a:r>
              <a:rPr lang="en-US" dirty="0" err="1"/>
              <a:t>stdout</a:t>
            </a:r>
            <a:r>
              <a:rPr lang="en-US" dirty="0"/>
              <a:t>, stderr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5D6A0-87C8-4061-7B04-F4E045E0F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Буферизация</a:t>
            </a:r>
          </a:p>
          <a:p>
            <a:pPr lvl="1"/>
            <a:r>
              <a:rPr lang="ru-RU" dirty="0" err="1"/>
              <a:t>stdout</a:t>
            </a:r>
            <a:r>
              <a:rPr lang="ru-RU" dirty="0"/>
              <a:t> — обычно буферизован </a:t>
            </a:r>
          </a:p>
          <a:p>
            <a:pPr lvl="1"/>
            <a:r>
              <a:rPr lang="ru-RU" dirty="0" err="1"/>
              <a:t>stderr</a:t>
            </a:r>
            <a:r>
              <a:rPr lang="ru-RU" dirty="0"/>
              <a:t> — как правило, не буферизован </a:t>
            </a:r>
          </a:p>
          <a:p>
            <a:r>
              <a:rPr lang="ru-RU" dirty="0"/>
              <a:t>Назначение</a:t>
            </a:r>
          </a:p>
          <a:p>
            <a:pPr lvl="1"/>
            <a:r>
              <a:rPr lang="ru-RU" dirty="0" err="1"/>
              <a:t>stdout</a:t>
            </a:r>
            <a:r>
              <a:rPr lang="ru-RU" dirty="0"/>
              <a:t> → нормальный вывод  </a:t>
            </a:r>
            <a:br>
              <a:rPr lang="ru-RU" dirty="0"/>
            </a:br>
            <a:r>
              <a:rPr lang="ru-RU" dirty="0" err="1"/>
              <a:t>stderr</a:t>
            </a:r>
            <a:r>
              <a:rPr lang="ru-RU" dirty="0"/>
              <a:t> → сообщения об ошибках</a:t>
            </a:r>
          </a:p>
          <a:p>
            <a:pPr lvl="1"/>
            <a:r>
              <a:rPr lang="ru-RU" dirty="0"/>
              <a:t>Позволяет разделять данные и ошибки</a:t>
            </a:r>
          </a:p>
          <a:p>
            <a:r>
              <a:rPr lang="ru-RU" dirty="0"/>
              <a:t>Пример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./</a:t>
            </a:r>
            <a:r>
              <a:rPr lang="ru-RU" dirty="0" err="1">
                <a:latin typeface="Consolas" panose="020B0609020204030204" pitchFamily="49" charset="0"/>
              </a:rPr>
              <a:t>program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&lt; in.txt</a:t>
            </a:r>
            <a:r>
              <a:rPr lang="ru-RU" dirty="0">
                <a:latin typeface="Consolas" panose="020B0609020204030204" pitchFamily="49" charset="0"/>
              </a:rPr>
              <a:t> &gt; out.txt 2&gt; err.txt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240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3BD2DD-3A80-2875-6222-99A0B219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Ввод-вывод в стандартные потоки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20667-E2E5-5C80-924F-B29DF35AACEB}"/>
              </a:ext>
            </a:extLst>
          </p:cNvPr>
          <p:cNvSpPr txBox="1"/>
          <p:nvPr/>
        </p:nvSpPr>
        <p:spPr>
          <a:xfrm>
            <a:off x="838199" y="2037598"/>
            <a:ext cx="99235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fscanf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A1B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A1B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Input error: expected two integers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A1B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Sum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99B80-7874-BBF7-6096-4CC3F8F0A127}"/>
              </a:ext>
            </a:extLst>
          </p:cNvPr>
          <p:cNvSpPr txBox="1"/>
          <p:nvPr/>
        </p:nvSpPr>
        <p:spPr>
          <a:xfrm>
            <a:off x="838199" y="6077827"/>
            <a:ext cx="6098344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./program &lt; input.txt &gt; out.txt 2&gt; err.txt</a:t>
            </a:r>
          </a:p>
        </p:txBody>
      </p:sp>
    </p:spTree>
    <p:extLst>
      <p:ext uri="{BB962C8B-B14F-4D97-AF65-F5344CB8AC3E}">
        <p14:creationId xmlns:p14="http://schemas.microsoft.com/office/powerpoint/2010/main" val="785683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73BC40-8F18-4A26-A73B-7B1D239EA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как уровень абстракции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812DD-CE51-B11E-D391-B858BD326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Уровень абстракции стандартной библиотеки</a:t>
            </a:r>
          </a:p>
          <a:p>
            <a:pPr lvl="1"/>
            <a:r>
              <a:rPr lang="ru-RU" dirty="0" err="1"/>
              <a:t>stdio.h</a:t>
            </a:r>
            <a:r>
              <a:rPr lang="ru-RU" dirty="0"/>
              <a:t> предоставляет универсальный интерфейс для работы с различными источниками данных</a:t>
            </a:r>
          </a:p>
          <a:p>
            <a:r>
              <a:rPr lang="ru-RU" dirty="0"/>
              <a:t>Имеем одинаковый API для файлов, терминала, устройств </a:t>
            </a:r>
          </a:p>
          <a:p>
            <a:r>
              <a:rPr lang="ru-RU" dirty="0"/>
              <a:t>Цена абстракции</a:t>
            </a:r>
          </a:p>
          <a:p>
            <a:pPr lvl="1"/>
            <a:r>
              <a:rPr lang="ru-RU" dirty="0"/>
              <a:t>Интерфейс является обобщённым и ограниченным</a:t>
            </a:r>
          </a:p>
          <a:p>
            <a:r>
              <a:rPr lang="ru-RU" dirty="0"/>
              <a:t>Примеры ограничений</a:t>
            </a:r>
          </a:p>
          <a:p>
            <a:pPr lvl="1"/>
            <a:r>
              <a:rPr lang="ru-RU" dirty="0"/>
              <a:t>нет понятия каталогов </a:t>
            </a:r>
          </a:p>
          <a:p>
            <a:pPr lvl="1"/>
            <a:r>
              <a:rPr lang="ru-RU" dirty="0"/>
              <a:t>нет прямого доступа к файловой системе </a:t>
            </a:r>
          </a:p>
          <a:p>
            <a:pPr lvl="1"/>
            <a:r>
              <a:rPr lang="ru-RU" dirty="0"/>
              <a:t>поведение может зависеть от платформы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50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C02F-CA09-61D9-57AB-29FF1432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Переносимость и реальные системы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5341C-FDEF-E848-996E-835C992B0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 C обеспечивает переносимость, но не полноту возможностей</a:t>
            </a:r>
          </a:p>
          <a:p>
            <a:r>
              <a:rPr lang="ru-RU" dirty="0"/>
              <a:t>Для реальных задач используются:</a:t>
            </a:r>
          </a:p>
          <a:p>
            <a:pPr lvl="1"/>
            <a:r>
              <a:rPr lang="ru-RU" dirty="0"/>
              <a:t>POSIX API (Unix/Linux) </a:t>
            </a:r>
          </a:p>
          <a:p>
            <a:pPr lvl="1"/>
            <a:r>
              <a:rPr lang="ru-RU" dirty="0" err="1"/>
              <a:t>WinAPI</a:t>
            </a:r>
            <a:r>
              <a:rPr lang="ru-RU" dirty="0"/>
              <a:t> (Windows) </a:t>
            </a:r>
          </a:p>
          <a:p>
            <a:pPr lvl="1"/>
            <a:r>
              <a:rPr lang="ru-RU" dirty="0"/>
              <a:t>платформенно-зависимые расширения </a:t>
            </a:r>
          </a:p>
          <a:p>
            <a:r>
              <a:rPr lang="ru-RU" dirty="0" err="1"/>
              <a:t>stdio.h</a:t>
            </a:r>
            <a:r>
              <a:rPr lang="ru-RU" dirty="0"/>
              <a:t> — это базовый уровень, а не полный интерфейс файловой системы</a:t>
            </a:r>
          </a:p>
          <a:p>
            <a:r>
              <a:rPr lang="ru-RU" dirty="0"/>
              <a:t>Язык C определяет абстракцию, а не конкретную реализацию ввода-вывода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500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7A12-48CF-4C6A-F76B-4525ED3FF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Открытие и закрытие файла на диске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97554-A6B9-063E-F26C-F55A1EC0E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Открытие файла</a:t>
            </a:r>
            <a:endParaRPr lang="fr-FR" dirty="0"/>
          </a:p>
          <a:p>
            <a:pPr lvl="1"/>
            <a:r>
              <a:rPr lang="fr-FR" dirty="0"/>
              <a:t>FILE *f = </a:t>
            </a:r>
            <a:r>
              <a:rPr lang="fr-FR" dirty="0" err="1">
                <a:hlinkClick r:id="rId3"/>
              </a:rPr>
              <a:t>fopen</a:t>
            </a:r>
            <a:r>
              <a:rPr lang="fr-FR" dirty="0"/>
              <a:t>("file.txt", "mode");</a:t>
            </a:r>
            <a:endParaRPr lang="ru-RU" dirty="0"/>
          </a:p>
          <a:p>
            <a:pPr lvl="2"/>
            <a:r>
              <a:rPr lang="ru-RU" dirty="0"/>
              <a:t>Часто используемые режимы:</a:t>
            </a:r>
          </a:p>
          <a:p>
            <a:pPr lvl="3"/>
            <a:r>
              <a:rPr lang="en-US" dirty="0"/>
              <a:t>“r“ - </a:t>
            </a:r>
            <a:r>
              <a:rPr lang="ru-RU" dirty="0"/>
              <a:t>открыть для чтения</a:t>
            </a:r>
          </a:p>
          <a:p>
            <a:pPr lvl="3"/>
            <a:r>
              <a:rPr lang="en-US" dirty="0"/>
              <a:t>“w” – </a:t>
            </a:r>
            <a:r>
              <a:rPr lang="ru-RU" dirty="0"/>
              <a:t>открыть для записи</a:t>
            </a:r>
          </a:p>
          <a:p>
            <a:pPr lvl="3"/>
            <a:r>
              <a:rPr lang="en-US" dirty="0"/>
              <a:t>“a” </a:t>
            </a:r>
            <a:r>
              <a:rPr lang="ru-RU" dirty="0"/>
              <a:t>– добавление в конец файла</a:t>
            </a:r>
          </a:p>
          <a:p>
            <a:pPr lvl="3"/>
            <a:r>
              <a:rPr lang="en-US" dirty="0"/>
              <a:t>“</a:t>
            </a:r>
            <a:r>
              <a:rPr lang="en-US" dirty="0" err="1"/>
              <a:t>rb</a:t>
            </a:r>
            <a:r>
              <a:rPr lang="en-US" dirty="0"/>
              <a:t>” / “</a:t>
            </a:r>
            <a:r>
              <a:rPr lang="en-US" dirty="0" err="1"/>
              <a:t>wb</a:t>
            </a:r>
            <a:r>
              <a:rPr lang="en-US" dirty="0"/>
              <a:t>”</a:t>
            </a:r>
            <a:r>
              <a:rPr lang="ru-RU" dirty="0"/>
              <a:t> открыть в двоичном режиме</a:t>
            </a:r>
          </a:p>
          <a:p>
            <a:pPr lvl="1"/>
            <a:r>
              <a:rPr lang="ru-RU" dirty="0"/>
              <a:t>Возврат </a:t>
            </a:r>
            <a:r>
              <a:rPr lang="en-US" dirty="0"/>
              <a:t>NULL</a:t>
            </a:r>
            <a:r>
              <a:rPr lang="ru-RU" dirty="0"/>
              <a:t> – признак ошибки</a:t>
            </a:r>
          </a:p>
          <a:p>
            <a:r>
              <a:rPr lang="ru-RU" dirty="0"/>
              <a:t>Закрытие файла</a:t>
            </a:r>
          </a:p>
          <a:p>
            <a:pPr lvl="1"/>
            <a:r>
              <a:rPr lang="en-US" dirty="0" err="1">
                <a:hlinkClick r:id="rId4"/>
              </a:rPr>
              <a:t>fclose</a:t>
            </a:r>
            <a:r>
              <a:rPr lang="en-US" dirty="0"/>
              <a:t>(f)</a:t>
            </a:r>
            <a:endParaRPr lang="ru-RU" dirty="0"/>
          </a:p>
          <a:p>
            <a:pPr lvl="1"/>
            <a:r>
              <a:rPr lang="ru-RU" dirty="0"/>
              <a:t>После </a:t>
            </a:r>
            <a:r>
              <a:rPr lang="ru-RU" dirty="0" err="1"/>
              <a:t>fclose</a:t>
            </a:r>
            <a:r>
              <a:rPr lang="ru-RU" dirty="0"/>
              <a:t> поток становится недействительным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95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1595-6C47-9EE1-ADD8-14080061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и запись файла на диске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6D605-684D-2EC9-FA4A-CF12B8A4A4C1}"/>
              </a:ext>
            </a:extLst>
          </p:cNvPr>
          <p:cNvSpPr txBox="1"/>
          <p:nvPr/>
        </p:nvSpPr>
        <p:spPr>
          <a:xfrm>
            <a:off x="838200" y="1679185"/>
            <a:ext cx="1116154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записи текста в файл, необходимо открыть его в режиме "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w" (write).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file.txt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значит произошла ошибка при открытии файла.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Failed to op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en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ile.txt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 love C!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How do you do?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file.txt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Проверка ошибок пропущена для экономии места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 line: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Second line: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D4F9E-5F0E-11E5-5466-A6ADC7ABC9FC}"/>
              </a:ext>
            </a:extLst>
          </p:cNvPr>
          <p:cNvSpPr txBox="1"/>
          <p:nvPr/>
        </p:nvSpPr>
        <p:spPr>
          <a:xfrm>
            <a:off x="7761849" y="3900927"/>
            <a:ext cx="4139419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First line: I love C!</a:t>
            </a:r>
          </a:p>
          <a:p>
            <a:r>
              <a:rPr lang="en-US" dirty="0">
                <a:latin typeface="Consolas" panose="020B0609020204030204" pitchFamily="49" charset="0"/>
              </a:rPr>
              <a:t>Second line: How do you do?</a:t>
            </a:r>
          </a:p>
        </p:txBody>
      </p:sp>
    </p:spTree>
    <p:extLst>
      <p:ext uri="{BB962C8B-B14F-4D97-AF65-F5344CB8AC3E}">
        <p14:creationId xmlns:p14="http://schemas.microsoft.com/office/powerpoint/2010/main" val="428425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9128B2-7AE4-A0A6-6ED0-545572F19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файловыми потоками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C2133-4E82-E4A1-5465-DE4EFA7D5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20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3996-65AD-2FF0-9714-2D79AA05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операций ввода-вывода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C9FE-A1FF-E6EE-D73A-6583F00CF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Последовательность работы</a:t>
            </a:r>
          </a:p>
          <a:p>
            <a:pPr lvl="1"/>
            <a:r>
              <a:rPr lang="ru-RU" dirty="0"/>
              <a:t>открытие → операции чтения/записи → закрытие</a:t>
            </a:r>
          </a:p>
          <a:p>
            <a:r>
              <a:rPr lang="ru-RU" dirty="0"/>
              <a:t>Характер операций</a:t>
            </a:r>
          </a:p>
          <a:p>
            <a:pPr lvl="1"/>
            <a:r>
              <a:rPr lang="ru-RU" dirty="0"/>
              <a:t>ввод-вывод осуществляется </a:t>
            </a:r>
            <a:r>
              <a:rPr lang="ru-RU" b="1" dirty="0"/>
              <a:t>последовательно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каждая операция изменяет позицию в файле </a:t>
            </a:r>
          </a:p>
          <a:p>
            <a:pPr lvl="1"/>
            <a:r>
              <a:rPr lang="ru-RU" dirty="0"/>
              <a:t>данные проходят через буфер библиотеки </a:t>
            </a:r>
          </a:p>
          <a:p>
            <a:r>
              <a:rPr lang="ru-RU" dirty="0"/>
              <a:t>Обработка ошибок</a:t>
            </a:r>
          </a:p>
          <a:p>
            <a:pPr lvl="1"/>
            <a:r>
              <a:rPr lang="ru-RU" dirty="0" err="1"/>
              <a:t>fopen</a:t>
            </a:r>
            <a:r>
              <a:rPr lang="ru-RU" dirty="0"/>
              <a:t> → проверка на NULL </a:t>
            </a:r>
          </a:p>
          <a:p>
            <a:pPr lvl="1"/>
            <a:r>
              <a:rPr lang="ru-RU" dirty="0" err="1"/>
              <a:t>fprintf</a:t>
            </a:r>
            <a:r>
              <a:rPr lang="ru-RU" dirty="0"/>
              <a:t> / </a:t>
            </a:r>
            <a:r>
              <a:rPr lang="ru-RU" dirty="0" err="1"/>
              <a:t>fscanf</a:t>
            </a:r>
            <a:r>
              <a:rPr lang="ru-RU" dirty="0"/>
              <a:t> → проверка возвращаемого значения </a:t>
            </a:r>
          </a:p>
          <a:p>
            <a:pPr lvl="1"/>
            <a:r>
              <a:rPr lang="ru-RU" dirty="0" err="1">
                <a:hlinkClick r:id="rId3"/>
              </a:rPr>
              <a:t>ferror</a:t>
            </a:r>
            <a:r>
              <a:rPr lang="ru-RU" dirty="0"/>
              <a:t>, </a:t>
            </a:r>
            <a:r>
              <a:rPr lang="ru-RU" dirty="0" err="1">
                <a:hlinkClick r:id="rId4"/>
              </a:rPr>
              <a:t>feof</a:t>
            </a:r>
            <a:r>
              <a:rPr lang="ru-RU" dirty="0"/>
              <a:t> </a:t>
            </a:r>
          </a:p>
          <a:p>
            <a:r>
              <a:rPr lang="ru-RU" dirty="0"/>
              <a:t>Ввод-вывод — это управляемое перемещение данных</a:t>
            </a:r>
            <a:r>
              <a:rPr lang="en-US" dirty="0"/>
              <a:t> </a:t>
            </a:r>
            <a:r>
              <a:rPr lang="ru-RU" dirty="0"/>
              <a:t>между потоком и памятью программы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332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7454-BAEE-EC3E-1703-86898C08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Символьный и построчный ввод-вывод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80BF7-78A2-EAC7-B991-C0A879838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Посимвольный ввод-вывод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</a:rPr>
              <a:t>fgetc</a:t>
            </a:r>
            <a:r>
              <a:rPr lang="en-US" dirty="0">
                <a:latin typeface="Consolas" panose="020B0609020204030204" pitchFamily="49" charset="0"/>
              </a:rPr>
              <a:t>(FILE *f);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</a:rPr>
              <a:t>fputc</a:t>
            </a:r>
            <a:r>
              <a:rPr lang="en-US" dirty="0">
                <a:latin typeface="Consolas" panose="020B0609020204030204" pitchFamily="49" charset="0"/>
              </a:rPr>
              <a:t>(int c, FILE *f);</a:t>
            </a:r>
          </a:p>
          <a:p>
            <a:pPr lvl="1"/>
            <a:r>
              <a:rPr lang="en-US" dirty="0" err="1"/>
              <a:t>fgetc</a:t>
            </a:r>
            <a:r>
              <a:rPr lang="en-US" dirty="0"/>
              <a:t> — </a:t>
            </a:r>
            <a:r>
              <a:rPr lang="ru-RU" dirty="0"/>
              <a:t>чтение одного символа </a:t>
            </a:r>
          </a:p>
          <a:p>
            <a:pPr lvl="1"/>
            <a:r>
              <a:rPr lang="en-US" dirty="0" err="1"/>
              <a:t>fputc</a:t>
            </a:r>
            <a:r>
              <a:rPr lang="en-US" dirty="0"/>
              <a:t> — </a:t>
            </a:r>
            <a:r>
              <a:rPr lang="ru-RU" dirty="0"/>
              <a:t>запись одного символа </a:t>
            </a:r>
          </a:p>
          <a:p>
            <a:r>
              <a:rPr lang="ru-RU" dirty="0"/>
              <a:t>Построчный ввод-вывод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char *</a:t>
            </a:r>
            <a:r>
              <a:rPr lang="en-US" dirty="0" err="1">
                <a:latin typeface="Consolas" panose="020B0609020204030204" pitchFamily="49" charset="0"/>
              </a:rPr>
              <a:t>fgets</a:t>
            </a:r>
            <a:r>
              <a:rPr lang="en-US" dirty="0">
                <a:latin typeface="Consolas" panose="020B0609020204030204" pitchFamily="49" charset="0"/>
              </a:rPr>
              <a:t>(char *s, int size, FILE *f);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int   </a:t>
            </a:r>
            <a:r>
              <a:rPr lang="en-US" dirty="0" err="1">
                <a:latin typeface="Consolas" panose="020B0609020204030204" pitchFamily="49" charset="0"/>
              </a:rPr>
              <a:t>fputs</a:t>
            </a:r>
            <a:r>
              <a:rPr lang="en-US" dirty="0">
                <a:latin typeface="Consolas" panose="020B0609020204030204" pitchFamily="49" charset="0"/>
              </a:rPr>
              <a:t>(const char *s, FILE *f);</a:t>
            </a:r>
          </a:p>
          <a:p>
            <a:pPr lvl="1"/>
            <a:r>
              <a:rPr lang="en-US" dirty="0" err="1"/>
              <a:t>fgets</a:t>
            </a:r>
            <a:r>
              <a:rPr lang="en-US" dirty="0"/>
              <a:t> — </a:t>
            </a:r>
            <a:r>
              <a:rPr lang="ru-RU" dirty="0"/>
              <a:t>чтение строки в буфер </a:t>
            </a:r>
            <a:r>
              <a:rPr lang="en-US" dirty="0"/>
              <a:t>(</a:t>
            </a:r>
            <a:r>
              <a:rPr lang="ru-RU" dirty="0" err="1"/>
              <a:t>сохрнаяет</a:t>
            </a:r>
            <a:r>
              <a:rPr lang="ru-RU" dirty="0"/>
              <a:t> </a:t>
            </a:r>
            <a:r>
              <a:rPr lang="en-US" dirty="0"/>
              <a:t>'\n'</a:t>
            </a:r>
            <a:r>
              <a:rPr lang="ru-RU" dirty="0"/>
              <a:t>, если он был прочитан)</a:t>
            </a:r>
          </a:p>
          <a:p>
            <a:pPr lvl="1"/>
            <a:r>
              <a:rPr lang="en-US" dirty="0" err="1"/>
              <a:t>fputs</a:t>
            </a:r>
            <a:r>
              <a:rPr lang="en-US" dirty="0"/>
              <a:t> — </a:t>
            </a:r>
            <a:r>
              <a:rPr lang="ru-RU" dirty="0"/>
              <a:t>запись строки в поток  (не добавляет '\</a:t>
            </a:r>
            <a:r>
              <a:rPr lang="en-US" dirty="0"/>
              <a:t>n' </a:t>
            </a:r>
            <a:r>
              <a:rPr lang="ru-RU" dirty="0"/>
              <a:t>автоматически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Когда используются</a:t>
            </a:r>
          </a:p>
          <a:p>
            <a:pPr lvl="1"/>
            <a:r>
              <a:rPr lang="en-US" dirty="0" err="1"/>
              <a:t>fgetc</a:t>
            </a:r>
            <a:r>
              <a:rPr lang="en-US" dirty="0"/>
              <a:t> / </a:t>
            </a:r>
            <a:r>
              <a:rPr lang="en-US" dirty="0" err="1"/>
              <a:t>fputc</a:t>
            </a:r>
            <a:r>
              <a:rPr lang="en-US" dirty="0"/>
              <a:t> — </a:t>
            </a:r>
            <a:r>
              <a:rPr lang="ru-RU" dirty="0"/>
              <a:t>обработка данных посимвольно </a:t>
            </a:r>
          </a:p>
          <a:p>
            <a:pPr lvl="1"/>
            <a:r>
              <a:rPr lang="en-US" dirty="0" err="1"/>
              <a:t>fgets</a:t>
            </a:r>
            <a:r>
              <a:rPr lang="en-US" dirty="0"/>
              <a:t> / </a:t>
            </a:r>
            <a:r>
              <a:rPr lang="en-US" dirty="0" err="1"/>
              <a:t>fputs</a:t>
            </a:r>
            <a:r>
              <a:rPr lang="en-US" dirty="0"/>
              <a:t> — </a:t>
            </a:r>
            <a:r>
              <a:rPr lang="ru-RU" dirty="0"/>
              <a:t>работа со строками целиком </a:t>
            </a:r>
          </a:p>
        </p:txBody>
      </p:sp>
    </p:spTree>
    <p:extLst>
      <p:ext uri="{BB962C8B-B14F-4D97-AF65-F5344CB8AC3E}">
        <p14:creationId xmlns:p14="http://schemas.microsoft.com/office/powerpoint/2010/main" val="1757436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99D5EF-0222-84A9-8268-765360D2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и запись символов и строк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540007-EECB-4831-993E-4735F7A2B34E}"/>
              </a:ext>
            </a:extLst>
          </p:cNvPr>
          <p:cNvSpPr txBox="1"/>
          <p:nvPr/>
        </p:nvSpPr>
        <p:spPr>
          <a:xfrm>
            <a:off x="838200" y="1969477"/>
            <a:ext cx="5257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example.txt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fputs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fputc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example.txt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A0B0A-5296-8AF7-7BAD-1CC961FB61EB}"/>
              </a:ext>
            </a:extLst>
          </p:cNvPr>
          <p:cNvSpPr txBox="1"/>
          <p:nvPr/>
        </p:nvSpPr>
        <p:spPr>
          <a:xfrm>
            <a:off x="6093656" y="1969477"/>
            <a:ext cx="60983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fgetc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 char: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%c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Rest: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7922C2-74D3-0FAD-B773-41F05AF0AB69}"/>
              </a:ext>
            </a:extLst>
          </p:cNvPr>
          <p:cNvSpPr txBox="1"/>
          <p:nvPr/>
        </p:nvSpPr>
        <p:spPr>
          <a:xfrm>
            <a:off x="6096000" y="5846544"/>
            <a:ext cx="2457157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First char: H</a:t>
            </a:r>
          </a:p>
          <a:p>
            <a:r>
              <a:rPr lang="en-US" dirty="0">
                <a:latin typeface="Consolas" panose="020B0609020204030204" pitchFamily="49" charset="0"/>
              </a:rPr>
              <a:t>Rest: </a:t>
            </a:r>
            <a:r>
              <a:rPr lang="en-US" dirty="0" err="1">
                <a:latin typeface="Consolas" panose="020B0609020204030204" pitchFamily="49" charset="0"/>
              </a:rPr>
              <a:t>ello</a:t>
            </a:r>
            <a:r>
              <a:rPr lang="en-US" dirty="0">
                <a:latin typeface="Consolas" panose="020B0609020204030204" pitchFamily="49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60568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98A30-F7A3-1541-9DAA-54057FF6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Форматированный ввод-вывод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4784B-8BF8-CE52-B699-CDCB9112C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Запись форматированных данных</a:t>
            </a:r>
          </a:p>
          <a:p>
            <a:pPr lvl="1"/>
            <a:r>
              <a:rPr lang="ru-RU" dirty="0" err="1">
                <a:hlinkClick r:id="rId3"/>
              </a:rPr>
              <a:t>fprintf</a:t>
            </a:r>
            <a:r>
              <a:rPr lang="ru-RU" dirty="0"/>
              <a:t>(f, "%d %f\n", x, y);</a:t>
            </a:r>
          </a:p>
          <a:p>
            <a:r>
              <a:rPr lang="ru-RU" dirty="0"/>
              <a:t>Чтение форматированных данных</a:t>
            </a:r>
          </a:p>
          <a:p>
            <a:pPr lvl="1"/>
            <a:r>
              <a:rPr lang="ru-RU" dirty="0" err="1">
                <a:hlinkClick r:id="rId4"/>
              </a:rPr>
              <a:t>fscanf</a:t>
            </a:r>
            <a:r>
              <a:rPr lang="ru-RU" dirty="0"/>
              <a:t>(f, "%d %f", &amp;x, &amp;y);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аналогичны </a:t>
            </a:r>
            <a:r>
              <a:rPr lang="ru-RU" dirty="0" err="1"/>
              <a:t>printf</a:t>
            </a:r>
            <a:r>
              <a:rPr lang="ru-RU" dirty="0"/>
              <a:t> / </a:t>
            </a:r>
            <a:r>
              <a:rPr lang="ru-RU" dirty="0" err="1"/>
              <a:t>scanf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выполняют преобразование данных ↔ текст </a:t>
            </a:r>
          </a:p>
          <a:p>
            <a:pPr lvl="1"/>
            <a:r>
              <a:rPr lang="ru-RU" dirty="0"/>
              <a:t>работают с форматными строками</a:t>
            </a:r>
          </a:p>
          <a:p>
            <a:r>
              <a:rPr lang="ru-RU" dirty="0"/>
              <a:t>Пример представления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42 3.14</a:t>
            </a:r>
          </a:p>
          <a:p>
            <a:pPr lvl="1"/>
            <a:r>
              <a:rPr lang="ru-RU" dirty="0"/>
              <a:t>в файле хранится текст, а не бинарное представление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56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388F74-5A8F-B54C-084D-1276D1EF7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текстовый ввод-вывод структуры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474C0-77FC-F888-166B-00808AE626A8}"/>
              </a:ext>
            </a:extLst>
          </p:cNvPr>
          <p:cNvSpPr txBox="1"/>
          <p:nvPr/>
        </p:nvSpPr>
        <p:spPr>
          <a:xfrm>
            <a:off x="838200" y="1871457"/>
            <a:ext cx="5257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point.txt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Open error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%f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C6CCDE-1515-0159-EAD5-4ED7ACD404A4}"/>
              </a:ext>
            </a:extLst>
          </p:cNvPr>
          <p:cNvSpPr txBox="1"/>
          <p:nvPr/>
        </p:nvSpPr>
        <p:spPr>
          <a:xfrm>
            <a:off x="6096000" y="1871457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… 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point.txt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Open failed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fscanf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lf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stderr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 error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Point: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33944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DC89-9F24-1A76-0239-0F7B92B7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ошибок при работе с файлами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23DD9-4769-B5C4-8881-B294153EE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Любая операция ввода-вывода может завершиться ошибкой</a:t>
            </a:r>
          </a:p>
          <a:p>
            <a:pPr lvl="1"/>
            <a:r>
              <a:rPr lang="ru-RU" dirty="0"/>
              <a:t>файл не существует </a:t>
            </a:r>
          </a:p>
          <a:p>
            <a:pPr lvl="1"/>
            <a:r>
              <a:rPr lang="ru-RU" dirty="0"/>
              <a:t>недостаточно прав доступа </a:t>
            </a:r>
          </a:p>
          <a:p>
            <a:pPr lvl="1"/>
            <a:r>
              <a:rPr lang="ru-RU" dirty="0"/>
              <a:t>ошибки устройства ввода-вывода </a:t>
            </a:r>
          </a:p>
          <a:p>
            <a:pPr lvl="1"/>
            <a:r>
              <a:rPr lang="ru-RU" dirty="0"/>
              <a:t>некорректный формат данных</a:t>
            </a:r>
          </a:p>
          <a:p>
            <a:r>
              <a:rPr lang="ru-RU" dirty="0"/>
              <a:t>Открытие файла</a:t>
            </a:r>
          </a:p>
          <a:p>
            <a:pPr lvl="1"/>
            <a:r>
              <a:rPr lang="en-US" dirty="0" err="1"/>
              <a:t>fopen</a:t>
            </a:r>
            <a:r>
              <a:rPr lang="ru-RU" dirty="0"/>
              <a:t> возвращает </a:t>
            </a:r>
            <a:r>
              <a:rPr lang="en-US" dirty="0"/>
              <a:t>NULL</a:t>
            </a:r>
          </a:p>
          <a:p>
            <a:r>
              <a:rPr lang="ru-RU" dirty="0"/>
              <a:t>Проверка операций ввода-вывода</a:t>
            </a:r>
            <a:endParaRPr lang="en-US" dirty="0"/>
          </a:p>
          <a:p>
            <a:pPr lvl="1"/>
            <a:r>
              <a:rPr lang="en-US" dirty="0" err="1"/>
              <a:t>fprintf</a:t>
            </a:r>
            <a:r>
              <a:rPr lang="ru-RU" dirty="0"/>
              <a:t> может вернуть</a:t>
            </a:r>
            <a:r>
              <a:rPr lang="en-US" dirty="0"/>
              <a:t> </a:t>
            </a:r>
            <a:r>
              <a:rPr lang="ru-RU" dirty="0"/>
              <a:t>отрицательное значение</a:t>
            </a:r>
          </a:p>
          <a:p>
            <a:pPr lvl="1"/>
            <a:r>
              <a:rPr lang="en-US" dirty="0" err="1"/>
              <a:t>fscanf</a:t>
            </a:r>
            <a:r>
              <a:rPr lang="ru-RU" dirty="0"/>
              <a:t> возвращает количество прочитанных элементов</a:t>
            </a:r>
          </a:p>
          <a:p>
            <a:r>
              <a:rPr lang="ru-RU" dirty="0"/>
              <a:t>Дополнительные средства</a:t>
            </a:r>
          </a:p>
          <a:p>
            <a:pPr lvl="1"/>
            <a:r>
              <a:rPr lang="ru-RU" dirty="0" err="1"/>
              <a:t>ferror</a:t>
            </a:r>
            <a:r>
              <a:rPr lang="ru-RU" dirty="0"/>
              <a:t>(f) — проверка ошибки потока </a:t>
            </a:r>
          </a:p>
          <a:p>
            <a:pPr lvl="1"/>
            <a:r>
              <a:rPr lang="ru-RU" dirty="0" err="1"/>
              <a:t>feof</a:t>
            </a:r>
            <a:r>
              <a:rPr lang="ru-RU" dirty="0"/>
              <a:t>(f) — достижение конца файла </a:t>
            </a:r>
          </a:p>
        </p:txBody>
      </p:sp>
    </p:spTree>
    <p:extLst>
      <p:ext uri="{BB962C8B-B14F-4D97-AF65-F5344CB8AC3E}">
        <p14:creationId xmlns:p14="http://schemas.microsoft.com/office/powerpoint/2010/main" val="1523988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D1A409-BACA-F620-9DD8-BED8D481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подсчёт количества строк в файле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32AAB-7F0C-0AAB-3F59-0E1F3DA1EB02}"/>
              </a:ext>
            </a:extLst>
          </p:cNvPr>
          <p:cNvSpPr txBox="1"/>
          <p:nvPr/>
        </p:nvSpPr>
        <p:spPr>
          <a:xfrm>
            <a:off x="838200" y="1737727"/>
            <a:ext cx="5257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stderr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Usage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&lt;file&gt;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fgetc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!=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dirty="0" err="1">
                <a:solidFill>
                  <a:srgbClr val="1F377F"/>
                </a:solidFill>
                <a:latin typeface="Consolas" panose="020B0609020204030204" pitchFamily="49" charset="0"/>
              </a:rPr>
              <a:t>C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B17FC-DFC6-63C7-424D-A0AC731D7B6C}"/>
              </a:ext>
            </a:extLst>
          </p:cNvPr>
          <p:cNvSpPr txBox="1"/>
          <p:nvPr/>
        </p:nvSpPr>
        <p:spPr>
          <a:xfrm>
            <a:off x="6096000" y="1737727"/>
            <a:ext cx="60579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fgetc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 of lines: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dirty="0" err="1">
                <a:solidFill>
                  <a:srgbClr val="1F377F"/>
                </a:solidFill>
                <a:latin typeface="Consolas" panose="020B0609020204030204" pitchFamily="49" charset="0"/>
              </a:rPr>
              <a:t>C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8889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3BD5FB-0C5E-EE3E-9D9B-C9265D73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Текстовый ввод-вывод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27E9C-BAC9-F8BC-2DF8-F35BCBB95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09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6749-4337-2DEE-8F62-5D7B9636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Текстовый поток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A5647-3A4B-03AE-7956-B776164BB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Текстовый поток — это последовательность символов, организованная в строки</a:t>
            </a:r>
          </a:p>
          <a:p>
            <a:pPr lvl="1"/>
            <a:r>
              <a:rPr lang="ru-RU" dirty="0"/>
              <a:t>строка = 0 или более символов + завершающий '\n' </a:t>
            </a:r>
          </a:p>
          <a:p>
            <a:pPr lvl="1"/>
            <a:r>
              <a:rPr lang="ru-RU" dirty="0"/>
              <a:t>наличие '\n' в последней строке — зависит от реализации </a:t>
            </a:r>
          </a:p>
          <a:p>
            <a:r>
              <a:rPr lang="ru-RU" dirty="0"/>
              <a:t>Представление строк зависит от операционной системы</a:t>
            </a:r>
          </a:p>
          <a:p>
            <a:pPr lvl="1"/>
            <a:r>
              <a:rPr lang="ru-RU" dirty="0"/>
              <a:t>Unix: \n </a:t>
            </a:r>
          </a:p>
          <a:p>
            <a:pPr lvl="1"/>
            <a:r>
              <a:rPr lang="ru-RU" dirty="0"/>
              <a:t>Windows: \r\n </a:t>
            </a:r>
          </a:p>
          <a:p>
            <a:r>
              <a:rPr lang="ru-RU" dirty="0"/>
              <a:t>Следствие</a:t>
            </a:r>
          </a:p>
          <a:p>
            <a:pPr lvl="1"/>
            <a:r>
              <a:rPr lang="ru-RU" dirty="0"/>
              <a:t>При вводе/выводе в текстовый поток возможны преобразования символов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284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C414-DD7A-F257-7421-CDB11925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Преобразования в текстовом режиме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D8BA-D5AC-B7F5-6DD7-18B589F6F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Модель ввода-вывода</a:t>
            </a:r>
          </a:p>
          <a:p>
            <a:pPr lvl="1"/>
            <a:r>
              <a:rPr lang="ru-RU" dirty="0"/>
              <a:t>данные в памяти ↔ текстовое представление ↔ поток</a:t>
            </a:r>
          </a:p>
          <a:p>
            <a:r>
              <a:rPr lang="ru-RU" dirty="0"/>
              <a:t>Возможные преобразования</a:t>
            </a:r>
          </a:p>
          <a:p>
            <a:pPr lvl="1"/>
            <a:r>
              <a:rPr lang="ru-RU" dirty="0"/>
              <a:t>добавление символов </a:t>
            </a:r>
          </a:p>
          <a:p>
            <a:pPr lvl="1"/>
            <a:r>
              <a:rPr lang="ru-RU" dirty="0"/>
              <a:t>удаление символов </a:t>
            </a:r>
          </a:p>
          <a:p>
            <a:pPr lvl="1"/>
            <a:r>
              <a:rPr lang="ru-RU" dirty="0"/>
              <a:t>замена символов </a:t>
            </a:r>
          </a:p>
          <a:p>
            <a:r>
              <a:rPr lang="ru-RU" dirty="0"/>
              <a:t>Пример (Windows)</a:t>
            </a:r>
          </a:p>
          <a:p>
            <a:pPr lvl="1"/>
            <a:r>
              <a:rPr lang="ru-RU" dirty="0"/>
              <a:t>'\n'  → '\r\n'   (запись)</a:t>
            </a:r>
            <a:br>
              <a:rPr lang="ru-RU" dirty="0"/>
            </a:br>
            <a:r>
              <a:rPr lang="ru-RU" dirty="0"/>
              <a:t>'\r\n' → '\n'    (чтение)</a:t>
            </a:r>
          </a:p>
          <a:p>
            <a:r>
              <a:rPr lang="ru-RU" dirty="0"/>
              <a:t>Ключевое следствие</a:t>
            </a:r>
          </a:p>
          <a:p>
            <a:pPr lvl="1"/>
            <a:r>
              <a:rPr lang="ru-RU" dirty="0"/>
              <a:t>Текстовый поток не гарантирует побайтовую идентичность данных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917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57DCA-D0A6-999A-AB85-61222006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Потеря точности при работе с числами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34894-F3DD-5F78-96F9-2B2E1FCA415E}"/>
              </a:ext>
            </a:extLst>
          </p:cNvPr>
          <p:cNvSpPr txBox="1"/>
          <p:nvPr/>
        </p:nvSpPr>
        <p:spPr>
          <a:xfrm>
            <a:off x="1" y="1460728"/>
            <a:ext cx="53848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pi.txt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3.14159265358979323846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%f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fopen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pi.txt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r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11E87-A9C3-41AA-2426-FCC87549F787}"/>
              </a:ext>
            </a:extLst>
          </p:cNvPr>
          <p:cNvSpPr txBox="1"/>
          <p:nvPr/>
        </p:nvSpPr>
        <p:spPr>
          <a:xfrm>
            <a:off x="6096001" y="1467987"/>
            <a:ext cx="53848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8A1BFF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perror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fopen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fscanf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lf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 pi1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stderr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Ошибка чтения</a:t>
            </a:r>
            <a:r>
              <a:rPr lang="ru-RU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pi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%.15f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pi1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%.15f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pi1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difference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%.15f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pi1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F0023B-ECB6-C654-427A-F37ADFF8C0AF}"/>
              </a:ext>
            </a:extLst>
          </p:cNvPr>
          <p:cNvSpPr txBox="1"/>
          <p:nvPr/>
        </p:nvSpPr>
        <p:spPr>
          <a:xfrm>
            <a:off x="6637867" y="5934670"/>
            <a:ext cx="4715933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pi = 3.141592653589793</a:t>
            </a:r>
          </a:p>
          <a:p>
            <a:r>
              <a:rPr lang="en-US" dirty="0">
                <a:latin typeface="Consolas" panose="020B0609020204030204" pitchFamily="49" charset="0"/>
              </a:rPr>
              <a:t>pi1 = 3.141593000000000</a:t>
            </a:r>
          </a:p>
          <a:p>
            <a:r>
              <a:rPr lang="en-US" dirty="0">
                <a:latin typeface="Consolas" panose="020B0609020204030204" pitchFamily="49" charset="0"/>
              </a:rPr>
              <a:t>difference = -0.000000346410207</a:t>
            </a:r>
          </a:p>
        </p:txBody>
      </p:sp>
    </p:spTree>
    <p:extLst>
      <p:ext uri="{BB962C8B-B14F-4D97-AF65-F5344CB8AC3E}">
        <p14:creationId xmlns:p14="http://schemas.microsoft.com/office/powerpoint/2010/main" val="30792847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1141-D302-FC8F-B3D7-A1018F993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Условия корректного восстановления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B1B8A-7C8D-2FCA-77FD-48AAAE1F1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Данные при чтении совпадут с записанными только при выполнении условий</a:t>
            </a:r>
          </a:p>
          <a:p>
            <a:pPr lvl="1"/>
            <a:r>
              <a:rPr lang="ru-RU" dirty="0"/>
              <a:t>используются только печатаемые символы, '\t' и '\n' </a:t>
            </a:r>
          </a:p>
          <a:p>
            <a:pPr lvl="1"/>
            <a:r>
              <a:rPr lang="ru-RU" dirty="0"/>
              <a:t>перед '\n' отсутствуют пробельные символы </a:t>
            </a:r>
          </a:p>
          <a:p>
            <a:pPr lvl="1"/>
            <a:r>
              <a:rPr lang="ru-RU" dirty="0"/>
              <a:t>последний символ — '\n' </a:t>
            </a:r>
          </a:p>
          <a:p>
            <a:r>
              <a:rPr lang="ru-RU" dirty="0"/>
              <a:t>Нарушение этих условий может изменить данные при чтении</a:t>
            </a:r>
          </a:p>
        </p:txBody>
      </p:sp>
    </p:spTree>
    <p:extLst>
      <p:ext uri="{BB962C8B-B14F-4D97-AF65-F5344CB8AC3E}">
        <p14:creationId xmlns:p14="http://schemas.microsoft.com/office/powerpoint/2010/main" val="3242552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C9AB-2BE9-3BD5-0BFB-8DB932DD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текстового формата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9CF12-02E3-64C4-3D60-FD9ADDD21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Свойства текстового ввода-вывода</a:t>
            </a:r>
          </a:p>
          <a:p>
            <a:pPr lvl="1"/>
            <a:r>
              <a:rPr lang="ru-RU" dirty="0"/>
              <a:t>данные проходят через текстовое представление </a:t>
            </a:r>
          </a:p>
          <a:p>
            <a:pPr lvl="1"/>
            <a:r>
              <a:rPr lang="ru-RU" dirty="0"/>
              <a:t>возможны платформенно-зависимые преобразования </a:t>
            </a:r>
          </a:p>
          <a:p>
            <a:pPr lvl="1"/>
            <a:r>
              <a:rPr lang="ru-RU" dirty="0"/>
              <a:t>отсутствует побайтовая идентичность </a:t>
            </a:r>
          </a:p>
          <a:p>
            <a:r>
              <a:rPr lang="ru-RU" dirty="0"/>
              <a:t>Ограничения</a:t>
            </a:r>
          </a:p>
          <a:p>
            <a:pPr lvl="1"/>
            <a:r>
              <a:rPr lang="ru-RU" dirty="0"/>
              <a:t>преобразование символов (например, '\n' ↔ "\r\n") </a:t>
            </a:r>
          </a:p>
          <a:p>
            <a:pPr lvl="1"/>
            <a:r>
              <a:rPr lang="ru-RU" dirty="0"/>
              <a:t>зависимость от формата записи и чтения </a:t>
            </a:r>
          </a:p>
          <a:p>
            <a:pPr lvl="1"/>
            <a:r>
              <a:rPr lang="ru-RU" dirty="0"/>
              <a:t>возможная потеря или изменение данных </a:t>
            </a:r>
          </a:p>
          <a:p>
            <a:pPr lvl="1"/>
            <a:r>
              <a:rPr lang="ru-RU" dirty="0"/>
              <a:t>потеря точности чисел с плавающей точкой </a:t>
            </a:r>
          </a:p>
          <a:p>
            <a:r>
              <a:rPr lang="ru-RU" dirty="0"/>
              <a:t>Текстовый ввод-вывод не гарантирует точного восстановления исходного представления данных</a:t>
            </a:r>
          </a:p>
          <a:p>
            <a:r>
              <a:rPr lang="ru-RU" dirty="0"/>
              <a:t>Он удобен для человека, но не подходит для точного хранения и передачи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1375859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9BA1A1-3233-BFBA-8D19-DA308DE4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Бинарный ввод-вывод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CD291-66F7-EFA1-A538-EAF3C254F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67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2D5A-B6D6-7829-2B40-D0DF9AA1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Бинарный ввод-вывод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1A879-0774-849E-DD30-5A76686F7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Основная идея</a:t>
            </a:r>
          </a:p>
          <a:p>
            <a:pPr lvl="1"/>
            <a:r>
              <a:rPr lang="ru-RU" dirty="0"/>
              <a:t>байты в памяти те же, что и байты в файле</a:t>
            </a:r>
          </a:p>
          <a:p>
            <a:r>
              <a:rPr lang="ru-RU" dirty="0"/>
              <a:t>Свойства</a:t>
            </a:r>
          </a:p>
          <a:p>
            <a:pPr lvl="1"/>
            <a:r>
              <a:rPr lang="ru-RU" dirty="0"/>
              <a:t>отсутствует текстовое представление </a:t>
            </a:r>
          </a:p>
          <a:p>
            <a:pPr lvl="1"/>
            <a:r>
              <a:rPr lang="ru-RU" dirty="0"/>
              <a:t>нет преобразований при вводе/выводе </a:t>
            </a:r>
          </a:p>
          <a:p>
            <a:pPr lvl="1"/>
            <a:r>
              <a:rPr lang="ru-RU" dirty="0"/>
              <a:t>данные копируются побайтно </a:t>
            </a:r>
          </a:p>
          <a:p>
            <a:r>
              <a:rPr lang="ru-RU" dirty="0"/>
              <a:t>Следствие</a:t>
            </a:r>
          </a:p>
          <a:p>
            <a:pPr lvl="1"/>
            <a:r>
              <a:rPr lang="ru-RU" dirty="0"/>
              <a:t>Файл содержит точное представление данных в памяти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03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3040-290B-F339-439E-93A7644B6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функции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D6901-F224-68AA-DAE3-50C519151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Запись</a:t>
            </a:r>
          </a:p>
          <a:p>
            <a:pPr lvl="1"/>
            <a:r>
              <a:rPr lang="en-US" dirty="0" err="1"/>
              <a:t>size_t</a:t>
            </a:r>
            <a:r>
              <a:rPr lang="en-US" dirty="0"/>
              <a:t> </a:t>
            </a:r>
            <a:r>
              <a:rPr lang="en-US" dirty="0" err="1"/>
              <a:t>fwrite</a:t>
            </a:r>
            <a:r>
              <a:rPr lang="en-US" dirty="0"/>
              <a:t>(const void *</a:t>
            </a:r>
            <a:r>
              <a:rPr lang="en-US" dirty="0" err="1"/>
              <a:t>ptr</a:t>
            </a:r>
            <a:r>
              <a:rPr lang="en-US" dirty="0"/>
              <a:t>, </a:t>
            </a:r>
            <a:r>
              <a:rPr lang="en-US" dirty="0" err="1"/>
              <a:t>size_t</a:t>
            </a:r>
            <a:r>
              <a:rPr lang="en-US" dirty="0"/>
              <a:t> size,</a:t>
            </a:r>
            <a:r>
              <a:rPr lang="ru-RU" dirty="0"/>
              <a:t> </a:t>
            </a:r>
            <a:r>
              <a:rPr lang="en-US" dirty="0" err="1"/>
              <a:t>size_t</a:t>
            </a:r>
            <a:r>
              <a:rPr lang="en-US" dirty="0"/>
              <a:t> count, FILE *f);</a:t>
            </a:r>
          </a:p>
          <a:p>
            <a:r>
              <a:rPr lang="ru-RU" dirty="0"/>
              <a:t>Чтение</a:t>
            </a:r>
          </a:p>
          <a:p>
            <a:pPr lvl="1"/>
            <a:r>
              <a:rPr lang="en-US" dirty="0" err="1"/>
              <a:t>size_t</a:t>
            </a:r>
            <a:r>
              <a:rPr lang="en-US" dirty="0"/>
              <a:t> </a:t>
            </a:r>
            <a:r>
              <a:rPr lang="en-US" dirty="0" err="1"/>
              <a:t>fread</a:t>
            </a:r>
            <a:r>
              <a:rPr lang="en-US" dirty="0"/>
              <a:t>(void *</a:t>
            </a:r>
            <a:r>
              <a:rPr lang="en-US" dirty="0" err="1"/>
              <a:t>ptr</a:t>
            </a:r>
            <a:r>
              <a:rPr lang="en-US" dirty="0"/>
              <a:t>, </a:t>
            </a:r>
            <a:r>
              <a:rPr lang="en-US" dirty="0" err="1"/>
              <a:t>size_t</a:t>
            </a:r>
            <a:r>
              <a:rPr lang="en-US" dirty="0"/>
              <a:t> size,</a:t>
            </a:r>
            <a:r>
              <a:rPr lang="ru-RU" dirty="0"/>
              <a:t> </a:t>
            </a:r>
            <a:r>
              <a:rPr lang="en-US" dirty="0" err="1"/>
              <a:t>size_t</a:t>
            </a:r>
            <a:r>
              <a:rPr lang="en-US" dirty="0"/>
              <a:t> count, FILE *f);</a:t>
            </a:r>
          </a:p>
          <a:p>
            <a:r>
              <a:rPr lang="ru-RU" dirty="0"/>
              <a:t>Интерпретация параметров</a:t>
            </a:r>
          </a:p>
          <a:p>
            <a:pPr lvl="1"/>
            <a:r>
              <a:rPr lang="en-US" dirty="0" err="1"/>
              <a:t>ptr</a:t>
            </a:r>
            <a:r>
              <a:rPr lang="en-US" dirty="0"/>
              <a:t> — </a:t>
            </a:r>
            <a:r>
              <a:rPr lang="ru-RU" dirty="0"/>
              <a:t>указатель на данные </a:t>
            </a:r>
          </a:p>
          <a:p>
            <a:pPr lvl="1"/>
            <a:r>
              <a:rPr lang="en-US" dirty="0"/>
              <a:t>size — </a:t>
            </a:r>
            <a:r>
              <a:rPr lang="ru-RU" dirty="0"/>
              <a:t>размер одного элемента </a:t>
            </a:r>
          </a:p>
          <a:p>
            <a:pPr lvl="1"/>
            <a:r>
              <a:rPr lang="en-US" dirty="0"/>
              <a:t>count — </a:t>
            </a:r>
            <a:r>
              <a:rPr lang="ru-RU" dirty="0"/>
              <a:t>количество элементов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992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AEC56C-6DF2-8180-D2EB-511932132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чтение и запись двоичных чисел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68C3B-1795-211E-7914-92ADA41683B9}"/>
              </a:ext>
            </a:extLst>
          </p:cNvPr>
          <p:cNvSpPr txBox="1"/>
          <p:nvPr/>
        </p:nvSpPr>
        <p:spPr>
          <a:xfrm>
            <a:off x="0" y="1690688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pi.bin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wb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3.14159265358979323846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pi.bin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rb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FF0F4-8632-9625-F65D-51CFF12A47B2}"/>
              </a:ext>
            </a:extLst>
          </p:cNvPr>
          <p:cNvSpPr txBox="1"/>
          <p:nvPr/>
        </p:nvSpPr>
        <p:spPr>
          <a:xfrm>
            <a:off x="6096000" y="1691561"/>
            <a:ext cx="6121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fread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pi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%.15f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pi1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%.15f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memcmp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7745C7-1A37-4B44-A8D4-08823377CD6D}"/>
              </a:ext>
            </a:extLst>
          </p:cNvPr>
          <p:cNvSpPr txBox="1"/>
          <p:nvPr/>
        </p:nvSpPr>
        <p:spPr>
          <a:xfrm>
            <a:off x="8674100" y="5707608"/>
            <a:ext cx="3263900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pi = 3.141592653589793</a:t>
            </a:r>
          </a:p>
          <a:p>
            <a:r>
              <a:rPr lang="en-US" dirty="0">
                <a:latin typeface="Consolas" panose="020B0609020204030204" pitchFamily="49" charset="0"/>
              </a:rPr>
              <a:t>pi1 = 3.141592653589793</a:t>
            </a:r>
          </a:p>
          <a:p>
            <a:r>
              <a:rPr lang="en-US" dirty="0" err="1">
                <a:latin typeface="Consolas" panose="020B0609020204030204" pitchFamily="49" charset="0"/>
              </a:rPr>
              <a:t>memcmp</a:t>
            </a:r>
            <a:r>
              <a:rPr lang="en-US" dirty="0">
                <a:latin typeface="Consolas" panose="020B0609020204030204" pitchFamily="49" charset="0"/>
              </a:rPr>
              <a:t>: 0</a:t>
            </a:r>
          </a:p>
        </p:txBody>
      </p:sp>
    </p:spTree>
    <p:extLst>
      <p:ext uri="{BB962C8B-B14F-4D97-AF65-F5344CB8AC3E}">
        <p14:creationId xmlns:p14="http://schemas.microsoft.com/office/powerpoint/2010/main" val="3234574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B598C5-48A1-079B-3864-178669CC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ограничения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658FD-9F7C-0A4D-8E80-617AD4728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Преимущества</a:t>
            </a:r>
          </a:p>
          <a:p>
            <a:pPr lvl="1"/>
            <a:r>
              <a:rPr lang="ru-RU" dirty="0"/>
              <a:t>точное сохранение данных </a:t>
            </a:r>
          </a:p>
          <a:p>
            <a:pPr lvl="1"/>
            <a:r>
              <a:rPr lang="ru-RU" dirty="0"/>
              <a:t>отсутствие потери точности </a:t>
            </a:r>
          </a:p>
          <a:p>
            <a:pPr lvl="1"/>
            <a:r>
              <a:rPr lang="ru-RU" dirty="0"/>
              <a:t>высокая производительность </a:t>
            </a:r>
          </a:p>
          <a:p>
            <a:pPr lvl="1"/>
            <a:r>
              <a:rPr lang="ru-RU" dirty="0"/>
              <a:t>простота для структур </a:t>
            </a:r>
          </a:p>
          <a:p>
            <a:r>
              <a:rPr lang="ru-RU" dirty="0"/>
              <a:t>Ограничение – зависимость от платформы: </a:t>
            </a:r>
          </a:p>
          <a:p>
            <a:pPr lvl="1"/>
            <a:r>
              <a:rPr lang="ru-RU" dirty="0"/>
              <a:t>порядок байтов (</a:t>
            </a:r>
            <a:r>
              <a:rPr lang="ru-RU" dirty="0" err="1"/>
              <a:t>endianness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размеры типов </a:t>
            </a:r>
          </a:p>
          <a:p>
            <a:pPr lvl="1"/>
            <a:r>
              <a:rPr lang="ru-RU" dirty="0"/>
              <a:t>выравнивание и </a:t>
            </a:r>
            <a:r>
              <a:rPr lang="ru-RU" dirty="0" err="1"/>
              <a:t>padding</a:t>
            </a:r>
            <a:r>
              <a:rPr lang="ru-RU" dirty="0"/>
              <a:t> </a:t>
            </a:r>
          </a:p>
          <a:p>
            <a:r>
              <a:rPr lang="ru-RU" dirty="0"/>
              <a:t>Бинарный файл привязан к представлению данных в памяти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947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9BD9-B3F3-EF6C-32E5-77B2D042B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бинарных файлов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A903B-620E-23AA-A5D7-2F0D9D316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Типичные области использования</a:t>
            </a:r>
          </a:p>
          <a:p>
            <a:pPr lvl="1"/>
            <a:r>
              <a:rPr lang="ru-RU" dirty="0"/>
              <a:t>графические форматы (PNG, JPEG, BMP) </a:t>
            </a:r>
          </a:p>
          <a:p>
            <a:pPr lvl="1"/>
            <a:r>
              <a:rPr lang="ru-RU" dirty="0"/>
              <a:t>аудио и видео файлы (MP3, WAV, MP4) </a:t>
            </a:r>
          </a:p>
          <a:p>
            <a:pPr lvl="1"/>
            <a:r>
              <a:rPr lang="ru-RU" dirty="0"/>
              <a:t>архивы (ZIP, TAR) </a:t>
            </a:r>
          </a:p>
          <a:p>
            <a:pPr lvl="1"/>
            <a:r>
              <a:rPr lang="ru-RU" dirty="0"/>
              <a:t>базы данных и их файлы хранения </a:t>
            </a:r>
          </a:p>
          <a:p>
            <a:r>
              <a:rPr lang="ru-RU" dirty="0"/>
              <a:t>Системное программирование</a:t>
            </a:r>
          </a:p>
          <a:p>
            <a:pPr lvl="1"/>
            <a:r>
              <a:rPr lang="ru-RU" dirty="0"/>
              <a:t>исполняемые файлы </a:t>
            </a:r>
          </a:p>
          <a:p>
            <a:pPr lvl="1"/>
            <a:r>
              <a:rPr lang="ru-RU" dirty="0"/>
              <a:t>образы памяти (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dumps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сетевые протоколы </a:t>
            </a:r>
          </a:p>
          <a:p>
            <a:r>
              <a:rPr lang="ru-RU" dirty="0"/>
              <a:t>Бинарные файлы используются, когда требуется точное, компактное и эффективное хранение данных</a:t>
            </a:r>
          </a:p>
          <a:p>
            <a:r>
              <a:rPr lang="ru-RU" dirty="0"/>
              <a:t>Ограничения</a:t>
            </a:r>
          </a:p>
          <a:p>
            <a:pPr lvl="1"/>
            <a:r>
              <a:rPr lang="ru-RU" dirty="0"/>
              <a:t>зависимость от платформы </a:t>
            </a:r>
          </a:p>
          <a:p>
            <a:pPr lvl="1"/>
            <a:r>
              <a:rPr lang="ru-RU" dirty="0"/>
              <a:t>необходимость строгого формата </a:t>
            </a:r>
          </a:p>
          <a:p>
            <a:pPr lvl="1"/>
            <a:r>
              <a:rPr lang="ru-RU" dirty="0"/>
              <a:t>нечитаемость человеком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995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93F8DE-2B39-4B23-F012-C2BAF6CD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</a:t>
            </a:r>
            <a:r>
              <a:rPr lang="en-US" dirty="0"/>
              <a:t>Little Endian &lt;-&gt; Big Endian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5B668-D624-A8E2-F1E3-4AD125FA0D16}"/>
              </a:ext>
            </a:extLst>
          </p:cNvPr>
          <p:cNvSpPr txBox="1"/>
          <p:nvPr/>
        </p:nvSpPr>
        <p:spPr>
          <a:xfrm>
            <a:off x="0" y="1857458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Converts a 32-bit unsigned integer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to a 4-byte array in little-endian format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U32ToLE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Converts a 4-byte array in little-endian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format to a 32-bit unsigned integer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LEToU32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| ((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| ((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| ((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87B922-EEC5-EC10-2D5D-880E1CD75415}"/>
              </a:ext>
            </a:extLst>
          </p:cNvPr>
          <p:cNvSpPr txBox="1"/>
          <p:nvPr/>
        </p:nvSpPr>
        <p:spPr>
          <a:xfrm>
            <a:off x="6096000" y="1857458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Converts a 32-bit unsigned integer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to a 4-byte array in big-endian format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U32ToBE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Converts a 4-byte array in big-endian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format to a 32-bit unsigned integer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BEToU32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| ((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| ((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|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79743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26AB-E696-0E51-6B9F-A249B999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и сохранение точек в </a:t>
            </a:r>
            <a:r>
              <a:rPr lang="en-US" dirty="0"/>
              <a:t>Little Endian-</a:t>
            </a:r>
            <a:r>
              <a:rPr lang="ru-RU" dirty="0"/>
              <a:t>формате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29AEE-61C8-A976-DE1C-B07A0B1CF9CC}"/>
              </a:ext>
            </a:extLst>
          </p:cNvPr>
          <p:cNvSpPr txBox="1"/>
          <p:nvPr/>
        </p:nvSpPr>
        <p:spPr>
          <a:xfrm>
            <a:off x="838200" y="1968560"/>
            <a:ext cx="345116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498B3-78DC-29E2-0ACC-CBE8091AB768}"/>
              </a:ext>
            </a:extLst>
          </p:cNvPr>
          <p:cNvSpPr txBox="1"/>
          <p:nvPr/>
        </p:nvSpPr>
        <p:spPr>
          <a:xfrm>
            <a:off x="4921134" y="1903695"/>
            <a:ext cx="6849687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SavePointToFile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U32ToLE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U32ToLE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LoadPointFromFile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-&gt;x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LEToU32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-&gt;y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LEToU32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3402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C05C-9499-6E95-6532-6547B2CB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и сохранение точек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4033F-42A3-B2D5-3687-18F59577A544}"/>
              </a:ext>
            </a:extLst>
          </p:cNvPr>
          <p:cNvSpPr txBox="1"/>
          <p:nvPr/>
        </p:nvSpPr>
        <p:spPr>
          <a:xfrm>
            <a:off x="1" y="1995054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.x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123456789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.y = -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987654321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point.bin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wb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SavePointToFile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point.bin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rb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97858-A322-DCF2-297A-89EF5E78D029}"/>
              </a:ext>
            </a:extLst>
          </p:cNvPr>
          <p:cNvSpPr txBox="1"/>
          <p:nvPr/>
        </p:nvSpPr>
        <p:spPr>
          <a:xfrm>
            <a:off x="6082145" y="1995054"/>
            <a:ext cx="61098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LoadPointFromFile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fread</a:t>
            </a:r>
            <a:r>
              <a:rPr lang="en-US" sz="1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Point: (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.x,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.y);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err: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53EE4-BC4C-D81E-CE83-AF192CAE16B8}"/>
              </a:ext>
            </a:extLst>
          </p:cNvPr>
          <p:cNvSpPr txBox="1"/>
          <p:nvPr/>
        </p:nvSpPr>
        <p:spPr>
          <a:xfrm>
            <a:off x="6213763" y="6165426"/>
            <a:ext cx="4044142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Point: (123456789, -987654321)</a:t>
            </a:r>
          </a:p>
        </p:txBody>
      </p:sp>
    </p:spTree>
    <p:extLst>
      <p:ext uri="{BB962C8B-B14F-4D97-AF65-F5344CB8AC3E}">
        <p14:creationId xmlns:p14="http://schemas.microsoft.com/office/powerpoint/2010/main" val="37804441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E35686-39D1-7F79-8436-C2D81285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и позиция в файле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1905B-7293-25B1-E99B-776A13984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519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24A4-50CE-701B-625E-0F6D4DE3C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и позиция в файле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F9BF5-ADE3-7E89-2514-627521716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Файл — это последовательность байтов</a:t>
            </a:r>
          </a:p>
          <a:p>
            <a:r>
              <a:rPr lang="ru-RU" dirty="0"/>
              <a:t>Текущая позиция</a:t>
            </a:r>
          </a:p>
          <a:p>
            <a:pPr lvl="1"/>
            <a:r>
              <a:rPr lang="ru-RU" dirty="0"/>
              <a:t>каждый поток имеет текущую позицию (</a:t>
            </a:r>
            <a:r>
              <a:rPr lang="ru-RU" dirty="0" err="1"/>
              <a:t>offset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операции чтения/записи используют эту позицию </a:t>
            </a:r>
          </a:p>
          <a:p>
            <a:pPr lvl="1"/>
            <a:r>
              <a:rPr lang="ru-RU" dirty="0"/>
              <a:t>после операции позиция сдвигается </a:t>
            </a:r>
          </a:p>
          <a:p>
            <a:r>
              <a:rPr lang="ru-RU" dirty="0"/>
              <a:t>Пример</a:t>
            </a:r>
          </a:p>
          <a:p>
            <a:pPr lvl="1"/>
            <a:r>
              <a:rPr lang="ru-RU" dirty="0" err="1"/>
              <a:t>int</a:t>
            </a:r>
            <a:r>
              <a:rPr lang="ru-RU" dirty="0"/>
              <a:t> c = </a:t>
            </a:r>
            <a:r>
              <a:rPr lang="ru-RU" dirty="0" err="1"/>
              <a:t>fgetc</a:t>
            </a:r>
            <a:r>
              <a:rPr lang="ru-RU" dirty="0"/>
              <a:t>(f);</a:t>
            </a:r>
          </a:p>
          <a:p>
            <a:pPr lvl="1"/>
            <a:r>
              <a:rPr lang="ru-RU" dirty="0"/>
              <a:t>читается байт из текущей позиции</a:t>
            </a:r>
          </a:p>
          <a:p>
            <a:pPr lvl="1"/>
            <a:r>
              <a:rPr lang="ru-RU" dirty="0"/>
              <a:t>позиция увеличивается на 1</a:t>
            </a:r>
          </a:p>
          <a:p>
            <a:r>
              <a:rPr lang="ru-RU" dirty="0"/>
              <a:t>Ключевая идея</a:t>
            </a:r>
          </a:p>
          <a:p>
            <a:pPr lvl="1"/>
            <a:r>
              <a:rPr lang="ru-RU" dirty="0"/>
              <a:t>Поток ведёт себя как указатель, движущийся по массиву байтов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153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D6D48-F170-544B-F8AC-D039C602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позицией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53ED5-49C8-3120-7689-9A0C28D1C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Основные функции</a:t>
            </a:r>
          </a:p>
          <a:p>
            <a:pPr lvl="1"/>
            <a:r>
              <a:rPr lang="en-US" dirty="0" err="1"/>
              <a:t>fseek</a:t>
            </a:r>
            <a:r>
              <a:rPr lang="en-US" dirty="0"/>
              <a:t>(f, offset, origin);</a:t>
            </a:r>
            <a:endParaRPr lang="ru-RU" dirty="0"/>
          </a:p>
          <a:p>
            <a:pPr lvl="1"/>
            <a:r>
              <a:rPr lang="en-US" dirty="0" err="1"/>
              <a:t>ftell</a:t>
            </a:r>
            <a:r>
              <a:rPr lang="en-US" dirty="0"/>
              <a:t>(f);</a:t>
            </a:r>
            <a:endParaRPr lang="ru-RU" dirty="0"/>
          </a:p>
          <a:p>
            <a:pPr lvl="1"/>
            <a:r>
              <a:rPr lang="en-US" dirty="0"/>
              <a:t>rewind(f);</a:t>
            </a:r>
          </a:p>
          <a:p>
            <a:r>
              <a:rPr lang="ru-RU" dirty="0"/>
              <a:t>Параметры </a:t>
            </a:r>
            <a:r>
              <a:rPr lang="en-US" dirty="0" err="1"/>
              <a:t>fseek</a:t>
            </a:r>
            <a:endParaRPr lang="en-US" dirty="0"/>
          </a:p>
          <a:p>
            <a:pPr lvl="1"/>
            <a:r>
              <a:rPr lang="en-US" dirty="0"/>
              <a:t>offset — </a:t>
            </a:r>
            <a:r>
              <a:rPr lang="ru-RU" dirty="0"/>
              <a:t>смещение </a:t>
            </a:r>
          </a:p>
          <a:p>
            <a:pPr lvl="1"/>
            <a:r>
              <a:rPr lang="en-US" dirty="0"/>
              <a:t>origin: </a:t>
            </a:r>
          </a:p>
          <a:p>
            <a:pPr lvl="2"/>
            <a:r>
              <a:rPr lang="en-US" dirty="0"/>
              <a:t>SEEK_SET — </a:t>
            </a:r>
            <a:r>
              <a:rPr lang="ru-RU" dirty="0"/>
              <a:t>от начала файла </a:t>
            </a:r>
          </a:p>
          <a:p>
            <a:pPr lvl="2"/>
            <a:r>
              <a:rPr lang="en-US" dirty="0"/>
              <a:t>SEEK_CUR — </a:t>
            </a:r>
            <a:r>
              <a:rPr lang="ru-RU" dirty="0"/>
              <a:t>от текущей позиции </a:t>
            </a:r>
          </a:p>
          <a:p>
            <a:pPr lvl="2"/>
            <a:r>
              <a:rPr lang="en-US" dirty="0"/>
              <a:t>SEEK_END — </a:t>
            </a:r>
            <a:r>
              <a:rPr lang="ru-RU" dirty="0"/>
              <a:t>от конца файла </a:t>
            </a:r>
          </a:p>
          <a:p>
            <a:r>
              <a:rPr lang="ru-RU" dirty="0"/>
              <a:t>Пример</a:t>
            </a:r>
          </a:p>
          <a:p>
            <a:pPr lvl="1"/>
            <a:r>
              <a:rPr lang="en-US" dirty="0" err="1"/>
              <a:t>fseek</a:t>
            </a:r>
            <a:r>
              <a:rPr lang="en-US" dirty="0"/>
              <a:t>(f, 100, SEEK_SET);</a:t>
            </a:r>
            <a:r>
              <a:rPr lang="ru-RU" dirty="0"/>
              <a:t> </a:t>
            </a:r>
            <a:r>
              <a:rPr lang="en-US" dirty="0"/>
              <a:t>→ </a:t>
            </a:r>
            <a:r>
              <a:rPr lang="ru-RU" dirty="0"/>
              <a:t>перейти к 100-му байту файла</a:t>
            </a:r>
          </a:p>
          <a:p>
            <a:r>
              <a:rPr lang="ru-RU" dirty="0"/>
              <a:t>Назначение</a:t>
            </a:r>
          </a:p>
          <a:p>
            <a:pPr lvl="1"/>
            <a:r>
              <a:rPr lang="ru-RU" dirty="0"/>
              <a:t>Произвольный доступ к данным в файле</a:t>
            </a:r>
          </a:p>
        </p:txBody>
      </p:sp>
    </p:spTree>
    <p:extLst>
      <p:ext uri="{BB962C8B-B14F-4D97-AF65-F5344CB8AC3E}">
        <p14:creationId xmlns:p14="http://schemas.microsoft.com/office/powerpoint/2010/main" val="21421197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E28C4-8466-9610-844E-6EF6C3A3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применяется позиционирование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AE07-ED8A-C01B-C1E0-B659BAE48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Основная область применения</a:t>
            </a:r>
            <a:r>
              <a:rPr lang="en-US" dirty="0"/>
              <a:t>  - </a:t>
            </a:r>
            <a:r>
              <a:rPr lang="ru-RU" dirty="0"/>
              <a:t>бинарные файлы</a:t>
            </a:r>
          </a:p>
          <a:p>
            <a:pPr lvl="1"/>
            <a:r>
              <a:rPr lang="ru-RU" dirty="0"/>
              <a:t>файл рассматривается как массив байтов </a:t>
            </a:r>
          </a:p>
          <a:p>
            <a:pPr lvl="1"/>
            <a:r>
              <a:rPr lang="ru-RU" dirty="0"/>
              <a:t>данные имеют фиксированную структуру </a:t>
            </a:r>
          </a:p>
          <a:p>
            <a:pPr lvl="1"/>
            <a:r>
              <a:rPr lang="ru-RU" dirty="0"/>
              <a:t>можно вычислить смещение </a:t>
            </a:r>
          </a:p>
          <a:p>
            <a:r>
              <a:rPr lang="ru-RU" dirty="0"/>
              <a:t>Пример</a:t>
            </a:r>
          </a:p>
          <a:p>
            <a:pPr lvl="1"/>
            <a:r>
              <a:rPr lang="ru-RU" dirty="0"/>
              <a:t>N-й элемент → </a:t>
            </a:r>
            <a:r>
              <a:rPr lang="ru-RU" dirty="0" err="1"/>
              <a:t>offset</a:t>
            </a:r>
            <a:r>
              <a:rPr lang="ru-RU" dirty="0"/>
              <a:t> = N * </a:t>
            </a:r>
            <a:r>
              <a:rPr lang="ru-RU" dirty="0" err="1"/>
              <a:t>sizeof</a:t>
            </a:r>
            <a:r>
              <a:rPr lang="ru-RU" dirty="0"/>
              <a:t>(</a:t>
            </a:r>
            <a:r>
              <a:rPr lang="ru-RU" dirty="0" err="1"/>
              <a:t>element</a:t>
            </a:r>
            <a:r>
              <a:rPr lang="ru-RU" dirty="0"/>
              <a:t>)</a:t>
            </a:r>
          </a:p>
          <a:p>
            <a:r>
              <a:rPr lang="ru-RU" dirty="0"/>
              <a:t>Ограничения для текстовых файлов:</a:t>
            </a:r>
          </a:p>
          <a:p>
            <a:pPr lvl="1"/>
            <a:r>
              <a:rPr lang="ru-RU" dirty="0"/>
              <a:t>возможны преобразования символов </a:t>
            </a:r>
          </a:p>
          <a:p>
            <a:pPr lvl="1"/>
            <a:r>
              <a:rPr lang="ru-RU" dirty="0"/>
              <a:t>позиция может не соответствовать «символам» </a:t>
            </a:r>
          </a:p>
          <a:p>
            <a:pPr lvl="1"/>
            <a:r>
              <a:rPr lang="ru-RU" dirty="0"/>
              <a:t>поведение </a:t>
            </a:r>
            <a:r>
              <a:rPr lang="ru-RU" dirty="0" err="1"/>
              <a:t>fseek</a:t>
            </a:r>
            <a:r>
              <a:rPr lang="ru-RU" dirty="0"/>
              <a:t> ограничено стандартом </a:t>
            </a:r>
          </a:p>
          <a:p>
            <a:r>
              <a:rPr lang="ru-RU" dirty="0"/>
              <a:t>Перемещение по файлу имеет смысл прежде всего</a:t>
            </a:r>
            <a:r>
              <a:rPr lang="en-US" dirty="0"/>
              <a:t> </a:t>
            </a:r>
            <a:r>
              <a:rPr lang="ru-RU" dirty="0"/>
              <a:t>для бинарных данных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7639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6EC964-1434-4425-B375-FF2E859AD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Перезапись части файла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63D13-CB76-9330-F262-A83B544389F5}"/>
              </a:ext>
            </a:extLst>
          </p:cNvPr>
          <p:cNvSpPr txBox="1"/>
          <p:nvPr/>
        </p:nvSpPr>
        <p:spPr>
          <a:xfrm>
            <a:off x="861753" y="1690688"/>
            <a:ext cx="8301643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numbers.bin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w+b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fseek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SEEK_SET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fseek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SEEK_SET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Modified array: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%u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EB8307-D77D-0173-4D5B-230FFBBC2B78}"/>
              </a:ext>
            </a:extLst>
          </p:cNvPr>
          <p:cNvSpPr txBox="1"/>
          <p:nvPr/>
        </p:nvSpPr>
        <p:spPr>
          <a:xfrm>
            <a:off x="6623512" y="6123543"/>
            <a:ext cx="4254038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Modified array: 10 20 30 42 50</a:t>
            </a:r>
          </a:p>
        </p:txBody>
      </p:sp>
    </p:spTree>
    <p:extLst>
      <p:ext uri="{BB962C8B-B14F-4D97-AF65-F5344CB8AC3E}">
        <p14:creationId xmlns:p14="http://schemas.microsoft.com/office/powerpoint/2010/main" val="398075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CB4C7-6245-025F-D7EE-FE89CDB79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Буферизация потоков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1D916-F9AC-65E8-9FE5-896B7D6E5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41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B26962-FE15-5455-EA6F-1BD830949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Буферизация потоков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250C15-9CE2-6638-3C10-A898CF65B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происходит при вводе-выводе</a:t>
            </a:r>
          </a:p>
          <a:p>
            <a:pPr lvl="1"/>
            <a:r>
              <a:rPr lang="ru-RU" dirty="0"/>
              <a:t>программа → буфер → файл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операции </a:t>
            </a:r>
            <a:r>
              <a:rPr lang="ru-RU" dirty="0" err="1"/>
              <a:t>fprintf</a:t>
            </a:r>
            <a:r>
              <a:rPr lang="ru-RU" dirty="0"/>
              <a:t>, </a:t>
            </a:r>
            <a:r>
              <a:rPr lang="ru-RU" dirty="0" err="1"/>
              <a:t>fwrite</a:t>
            </a:r>
            <a:r>
              <a:rPr lang="ru-RU" dirty="0"/>
              <a:t> не обязательно сразу пишут в файл </a:t>
            </a:r>
          </a:p>
          <a:p>
            <a:pPr lvl="1"/>
            <a:r>
              <a:rPr lang="ru-RU" dirty="0"/>
              <a:t>данные накапливаются во внутреннем буфере </a:t>
            </a:r>
          </a:p>
          <a:p>
            <a:pPr lvl="1"/>
            <a:r>
              <a:rPr lang="ru-RU" dirty="0"/>
              <a:t>запись происходит пакетами </a:t>
            </a:r>
          </a:p>
          <a:p>
            <a:r>
              <a:rPr lang="ru-RU" dirty="0"/>
              <a:t>Причина</a:t>
            </a:r>
          </a:p>
          <a:p>
            <a:pPr lvl="1"/>
            <a:r>
              <a:rPr lang="ru-RU" dirty="0"/>
              <a:t>Буферизация повышает производительность</a:t>
            </a:r>
          </a:p>
          <a:p>
            <a:pPr lvl="1"/>
            <a:r>
              <a:rPr lang="ru-RU" dirty="0"/>
              <a:t>меньше системных вызовов </a:t>
            </a:r>
          </a:p>
          <a:p>
            <a:pPr lvl="1"/>
            <a:r>
              <a:rPr lang="ru-RU" dirty="0"/>
              <a:t>эффективнее работа с устройством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1710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8D6D4-06A9-1911-9E54-074F8044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Сброс буфера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8FD47-B9CD-9FBC-D210-E1B947F94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Данные могут оставаться в буфере и не попадать в файл сразу</a:t>
            </a:r>
          </a:p>
          <a:p>
            <a:r>
              <a:rPr lang="ru-RU" dirty="0"/>
              <a:t>Решение</a:t>
            </a:r>
          </a:p>
          <a:p>
            <a:pPr lvl="1"/>
            <a:r>
              <a:rPr lang="ru-RU" dirty="0" err="1"/>
              <a:t>fflush</a:t>
            </a:r>
            <a:r>
              <a:rPr lang="ru-RU" dirty="0"/>
              <a:t>(f);</a:t>
            </a:r>
          </a:p>
          <a:p>
            <a:r>
              <a:rPr lang="ru-RU" dirty="0"/>
              <a:t>Что делает </a:t>
            </a:r>
            <a:r>
              <a:rPr lang="ru-RU" dirty="0" err="1"/>
              <a:t>fflush</a:t>
            </a:r>
            <a:endParaRPr lang="ru-RU" dirty="0"/>
          </a:p>
          <a:p>
            <a:pPr lvl="1"/>
            <a:r>
              <a:rPr lang="ru-RU" dirty="0"/>
              <a:t>принудительно записывает буфер в файл </a:t>
            </a:r>
          </a:p>
          <a:p>
            <a:pPr lvl="1"/>
            <a:r>
              <a:rPr lang="ru-RU" dirty="0"/>
              <a:t>гарантирует, что данные переданы системе </a:t>
            </a:r>
          </a:p>
          <a:p>
            <a:r>
              <a:rPr lang="ru-RU" dirty="0"/>
              <a:t>Когда используется</a:t>
            </a:r>
          </a:p>
          <a:p>
            <a:pPr lvl="1"/>
            <a:r>
              <a:rPr lang="ru-RU" dirty="0"/>
              <a:t>когда данные нужно сделать видимыми немедленно</a:t>
            </a:r>
          </a:p>
          <a:p>
            <a:pPr lvl="1"/>
            <a:r>
              <a:rPr lang="ru-RU" dirty="0"/>
              <a:t>при отладке </a:t>
            </a:r>
          </a:p>
          <a:p>
            <a:pPr lvl="1"/>
            <a:r>
              <a:rPr lang="ru-RU" dirty="0"/>
              <a:t>при работе с критическими данными </a:t>
            </a:r>
          </a:p>
          <a:p>
            <a:r>
              <a:rPr lang="ru-RU" dirty="0" err="1"/>
              <a:t>fclose</a:t>
            </a:r>
            <a:r>
              <a:rPr lang="ru-RU" dirty="0"/>
              <a:t> автоматически выполняет </a:t>
            </a:r>
            <a:r>
              <a:rPr lang="ru-RU" dirty="0" err="1"/>
              <a:t>fflush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9716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AC953-9D81-35D1-3386-259BA36E0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</a:t>
            </a:r>
            <a:r>
              <a:rPr lang="en-US" dirty="0" err="1"/>
              <a:t>fclose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29429-7887-8A34-F294-9B01B787A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Ошибки записи могут проявиться только при </a:t>
            </a:r>
            <a:r>
              <a:rPr lang="ru-RU" dirty="0" err="1"/>
              <a:t>fclose</a:t>
            </a:r>
            <a:endParaRPr lang="ru-RU" dirty="0"/>
          </a:p>
          <a:p>
            <a:r>
              <a:rPr lang="ru-RU" dirty="0"/>
              <a:t>Неправильно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fwrite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data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size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count</a:t>
            </a:r>
            <a:r>
              <a:rPr lang="ru-RU" dirty="0">
                <a:latin typeface="Consolas" panose="020B0609020204030204" pitchFamily="49" charset="0"/>
              </a:rPr>
              <a:t>, f);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fclose</a:t>
            </a:r>
            <a:r>
              <a:rPr lang="ru-RU" dirty="0">
                <a:latin typeface="Consolas" panose="020B0609020204030204" pitchFamily="49" charset="0"/>
              </a:rPr>
              <a:t>(f);   // результат игнорируется</a:t>
            </a:r>
          </a:p>
          <a:p>
            <a:r>
              <a:rPr lang="ru-RU" dirty="0"/>
              <a:t>Правильно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fwrite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data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size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count</a:t>
            </a:r>
            <a:r>
              <a:rPr lang="ru-RU" dirty="0">
                <a:latin typeface="Consolas" panose="020B0609020204030204" pitchFamily="49" charset="0"/>
              </a:rPr>
              <a:t>, f);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if</a:t>
            </a:r>
            <a:r>
              <a:rPr lang="ru-RU" dirty="0">
                <a:latin typeface="Consolas" panose="020B0609020204030204" pitchFamily="49" charset="0"/>
              </a:rPr>
              <a:t> (</a:t>
            </a:r>
            <a:r>
              <a:rPr lang="ru-RU" dirty="0" err="1">
                <a:latin typeface="Consolas" panose="020B0609020204030204" pitchFamily="49" charset="0"/>
              </a:rPr>
              <a:t>fclose</a:t>
            </a:r>
            <a:r>
              <a:rPr lang="ru-RU" dirty="0">
                <a:latin typeface="Consolas" panose="020B0609020204030204" pitchFamily="49" charset="0"/>
              </a:rPr>
              <a:t>(f) == EOF) 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ru-RU" dirty="0" err="1">
                <a:latin typeface="Consolas" panose="020B0609020204030204" pitchFamily="49" charset="0"/>
              </a:rPr>
              <a:t>perror</a:t>
            </a:r>
            <a:r>
              <a:rPr lang="ru-RU" dirty="0">
                <a:latin typeface="Consolas" panose="020B0609020204030204" pitchFamily="49" charset="0"/>
              </a:rPr>
              <a:t>("</a:t>
            </a:r>
            <a:r>
              <a:rPr lang="ru-RU" dirty="0" err="1">
                <a:latin typeface="Consolas" panose="020B0609020204030204" pitchFamily="49" charset="0"/>
              </a:rPr>
              <a:t>fclose</a:t>
            </a:r>
            <a:r>
              <a:rPr lang="ru-RU" dirty="0">
                <a:latin typeface="Consolas" panose="020B0609020204030204" pitchFamily="49" charset="0"/>
              </a:rPr>
              <a:t>");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Причина</a:t>
            </a:r>
          </a:p>
          <a:p>
            <a:pPr lvl="1"/>
            <a:r>
              <a:rPr lang="ru-RU" dirty="0"/>
              <a:t>данные сначала записываются в буфер </a:t>
            </a:r>
          </a:p>
          <a:p>
            <a:pPr lvl="1"/>
            <a:r>
              <a:rPr lang="ru-RU" dirty="0"/>
              <a:t>фактическая запись может происходить позже </a:t>
            </a:r>
          </a:p>
          <a:p>
            <a:pPr lvl="1"/>
            <a:r>
              <a:rPr lang="ru-RU" dirty="0"/>
              <a:t>ошибка может возникнуть при сбросе буфера </a:t>
            </a:r>
          </a:p>
          <a:p>
            <a:r>
              <a:rPr lang="ru-RU" dirty="0"/>
              <a:t>Проверка </a:t>
            </a:r>
            <a:r>
              <a:rPr lang="ru-RU" dirty="0" err="1"/>
              <a:t>fclose</a:t>
            </a:r>
            <a:r>
              <a:rPr lang="ru-RU" dirty="0"/>
              <a:t> обязательна</a:t>
            </a:r>
            <a:r>
              <a:rPr lang="en-US" dirty="0"/>
              <a:t> </a:t>
            </a:r>
            <a:r>
              <a:rPr lang="ru-RU" dirty="0"/>
              <a:t>для корректной обработки ошибок ввода-вывода</a:t>
            </a:r>
          </a:p>
        </p:txBody>
      </p:sp>
    </p:spTree>
    <p:extLst>
      <p:ext uri="{BB962C8B-B14F-4D97-AF65-F5344CB8AC3E}">
        <p14:creationId xmlns:p14="http://schemas.microsoft.com/office/powerpoint/2010/main" val="157118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B00614-ACC2-A000-89BA-7988CE99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два потока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649C0-4338-488B-F21A-0F16F6B035DC}"/>
              </a:ext>
            </a:extLst>
          </p:cNvPr>
          <p:cNvSpPr txBox="1"/>
          <p:nvPr/>
        </p:nvSpPr>
        <p:spPr>
          <a:xfrm>
            <a:off x="1" y="1928552"/>
            <a:ext cx="6096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test.txt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поток записи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поток чтения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 before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fflush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EOF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DDC62-E27F-FC01-8CFB-7F3835A9AD12}"/>
              </a:ext>
            </a:extLst>
          </p:cNvPr>
          <p:cNvSpPr txBox="1"/>
          <p:nvPr/>
        </p:nvSpPr>
        <p:spPr>
          <a:xfrm>
            <a:off x="6096000" y="1928552"/>
            <a:ext cx="61098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fflush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синхронизация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rewind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вернуться в начало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!= </a:t>
            </a:r>
            <a:r>
              <a:rPr lang="en-US" sz="18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 after 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fflush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18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fclose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725F69-C6BD-1E10-9D31-6FB7628EA63A}"/>
              </a:ext>
            </a:extLst>
          </p:cNvPr>
          <p:cNvSpPr txBox="1"/>
          <p:nvPr/>
        </p:nvSpPr>
        <p:spPr>
          <a:xfrm>
            <a:off x="6096000" y="5560315"/>
            <a:ext cx="3563389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Read before </a:t>
            </a:r>
            <a:r>
              <a:rPr lang="en-US" dirty="0" err="1">
                <a:latin typeface="Consolas" panose="020B0609020204030204" pitchFamily="49" charset="0"/>
              </a:rPr>
              <a:t>fflush</a:t>
            </a:r>
            <a:r>
              <a:rPr lang="en-US" dirty="0">
                <a:latin typeface="Consolas" panose="020B0609020204030204" pitchFamily="49" charset="0"/>
              </a:rPr>
              <a:t>: EOF</a:t>
            </a:r>
          </a:p>
          <a:p>
            <a:r>
              <a:rPr lang="en-US" dirty="0">
                <a:latin typeface="Consolas" panose="020B0609020204030204" pitchFamily="49" charset="0"/>
              </a:rPr>
              <a:t>Read after </a:t>
            </a:r>
            <a:r>
              <a:rPr lang="en-US" dirty="0" err="1">
                <a:latin typeface="Consolas" panose="020B0609020204030204" pitchFamily="49" charset="0"/>
              </a:rPr>
              <a:t>fflush</a:t>
            </a:r>
            <a:r>
              <a:rPr lang="en-US" dirty="0">
                <a:latin typeface="Consolas" panose="020B0609020204030204" pitchFamily="49" charset="0"/>
              </a:rPr>
              <a:t>: Hello</a:t>
            </a:r>
          </a:p>
        </p:txBody>
      </p:sp>
    </p:spTree>
    <p:extLst>
      <p:ext uri="{BB962C8B-B14F-4D97-AF65-F5344CB8AC3E}">
        <p14:creationId xmlns:p14="http://schemas.microsoft.com/office/powerpoint/2010/main" val="26924017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69130-6090-B8DF-EA09-32090A988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Конец файла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D1682-0F8C-8D3E-06C8-74F25B44D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543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5C907-C168-25B3-71B9-8A95B7B99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78DC-93C2-7E15-C584-8473607A5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Конец файла (</a:t>
            </a:r>
            <a:r>
              <a:rPr lang="en-US" dirty="0"/>
              <a:t>EOF)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90C7C-DAD3-3FD5-8242-CDE1A873A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EOF (End Of File) — признак достижения конца потока</a:t>
            </a:r>
          </a:p>
          <a:p>
            <a:r>
              <a:rPr lang="ru-RU" dirty="0"/>
              <a:t>Как возникает</a:t>
            </a:r>
          </a:p>
          <a:p>
            <a:pPr lvl="1"/>
            <a:r>
              <a:rPr lang="ru-RU" dirty="0"/>
              <a:t>чтение дошло до конца файла </a:t>
            </a:r>
          </a:p>
          <a:p>
            <a:pPr lvl="1"/>
            <a:r>
              <a:rPr lang="ru-RU" dirty="0"/>
              <a:t>дальнейшие операции чтения невозможны </a:t>
            </a:r>
          </a:p>
          <a:p>
            <a:r>
              <a:rPr lang="ru-RU" dirty="0"/>
              <a:t>Пример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c;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while</a:t>
            </a:r>
            <a:r>
              <a:rPr lang="ru-RU" dirty="0">
                <a:latin typeface="Consolas" panose="020B0609020204030204" pitchFamily="49" charset="0"/>
              </a:rPr>
              <a:t> ((c = </a:t>
            </a:r>
            <a:r>
              <a:rPr lang="ru-RU" dirty="0" err="1">
                <a:latin typeface="Consolas" panose="020B0609020204030204" pitchFamily="49" charset="0"/>
              </a:rPr>
              <a:t>fgetc</a:t>
            </a:r>
            <a:r>
              <a:rPr lang="ru-RU" dirty="0">
                <a:latin typeface="Consolas" panose="020B0609020204030204" pitchFamily="49" charset="0"/>
              </a:rPr>
              <a:t>(f)) != EOF) 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// обработка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EOF — это не символ, а специальное значение</a:t>
            </a:r>
          </a:p>
        </p:txBody>
      </p:sp>
    </p:spTree>
    <p:extLst>
      <p:ext uri="{BB962C8B-B14F-4D97-AF65-F5344CB8AC3E}">
        <p14:creationId xmlns:p14="http://schemas.microsoft.com/office/powerpoint/2010/main" val="15988304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F1B9-9EFA-3D40-F9B1-4F1CEA31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EOF </a:t>
            </a:r>
            <a:r>
              <a:rPr lang="ru-RU" dirty="0"/>
              <a:t>и ошибки чтения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5B4E0-A131-EC88-C109-15C45B9F4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Проблема</a:t>
            </a:r>
          </a:p>
          <a:p>
            <a:pPr lvl="1"/>
            <a:r>
              <a:rPr lang="en-US" dirty="0"/>
              <a:t>EOF </a:t>
            </a:r>
            <a:r>
              <a:rPr lang="ru-RU" dirty="0"/>
              <a:t>может означать:</a:t>
            </a:r>
            <a:r>
              <a:rPr lang="en-US" dirty="0"/>
              <a:t> </a:t>
            </a:r>
            <a:r>
              <a:rPr lang="ru-RU" dirty="0"/>
              <a:t>конец файла</a:t>
            </a:r>
            <a:r>
              <a:rPr lang="en-US" dirty="0"/>
              <a:t> </a:t>
            </a:r>
            <a:r>
              <a:rPr lang="ru-RU" dirty="0"/>
              <a:t>или ошибку чтения</a:t>
            </a:r>
          </a:p>
          <a:p>
            <a:r>
              <a:rPr lang="ru-RU" dirty="0"/>
              <a:t>Проверка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if (</a:t>
            </a:r>
            <a:r>
              <a:rPr lang="en-US" dirty="0" err="1">
                <a:latin typeface="Consolas" panose="020B0609020204030204" pitchFamily="49" charset="0"/>
              </a:rPr>
              <a:t>ferror</a:t>
            </a:r>
            <a:r>
              <a:rPr lang="en-US" dirty="0">
                <a:latin typeface="Consolas" panose="020B0609020204030204" pitchFamily="49" charset="0"/>
              </a:rPr>
              <a:t>(f))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// </a:t>
            </a:r>
            <a:r>
              <a:rPr lang="ru-RU" dirty="0">
                <a:latin typeface="Consolas" panose="020B0609020204030204" pitchFamily="49" charset="0"/>
              </a:rPr>
              <a:t>ошибка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}</a:t>
            </a:r>
            <a:br>
              <a:rPr lang="ru-RU" dirty="0">
                <a:latin typeface="Consolas" panose="020B0609020204030204" pitchFamily="49" charset="0"/>
              </a:rPr>
            </a:b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if (</a:t>
            </a:r>
            <a:r>
              <a:rPr lang="en-US" dirty="0" err="1">
                <a:latin typeface="Consolas" panose="020B0609020204030204" pitchFamily="49" charset="0"/>
              </a:rPr>
              <a:t>feof</a:t>
            </a:r>
            <a:r>
              <a:rPr lang="en-US" dirty="0">
                <a:latin typeface="Consolas" panose="020B0609020204030204" pitchFamily="49" charset="0"/>
              </a:rPr>
              <a:t>(f))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// </a:t>
            </a:r>
            <a:r>
              <a:rPr lang="ru-RU" dirty="0">
                <a:latin typeface="Consolas" panose="020B0609020204030204" pitchFamily="49" charset="0"/>
              </a:rPr>
              <a:t>достигнут конец файла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Типичная ошибка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while (!</a:t>
            </a:r>
            <a:r>
              <a:rPr lang="en-US" dirty="0" err="1">
                <a:latin typeface="Consolas" panose="020B0609020204030204" pitchFamily="49" charset="0"/>
              </a:rPr>
              <a:t>feof</a:t>
            </a:r>
            <a:r>
              <a:rPr lang="en-US" dirty="0">
                <a:latin typeface="Consolas" panose="020B0609020204030204" pitchFamily="49" charset="0"/>
              </a:rPr>
              <a:t>(f))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fread</a:t>
            </a:r>
            <a:r>
              <a:rPr lang="en-US" dirty="0">
                <a:latin typeface="Consolas" panose="020B0609020204030204" pitchFamily="49" charset="0"/>
              </a:rPr>
              <a:t>(...); // ❌ </a:t>
            </a:r>
            <a:r>
              <a:rPr lang="ru-RU" dirty="0">
                <a:latin typeface="Consolas" panose="020B0609020204030204" pitchFamily="49" charset="0"/>
              </a:rPr>
              <a:t>неверно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Правильный подход – проверять результат операции чтения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382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45B92-D0C9-EC7D-0AEF-56182755A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3ADCA-D4A1-FAEA-8EDB-07DF6DE9B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Модель</a:t>
            </a:r>
          </a:p>
          <a:p>
            <a:pPr lvl="1"/>
            <a:r>
              <a:rPr lang="ru-RU" dirty="0"/>
              <a:t>файл = последовательность байтов </a:t>
            </a:r>
          </a:p>
          <a:p>
            <a:pPr lvl="1"/>
            <a:r>
              <a:rPr lang="ru-RU" dirty="0"/>
              <a:t>ввод-вывод = перенос данных </a:t>
            </a:r>
          </a:p>
          <a:p>
            <a:r>
              <a:rPr lang="ru-RU" dirty="0"/>
              <a:t>Подходы</a:t>
            </a:r>
          </a:p>
          <a:p>
            <a:pPr lvl="1"/>
            <a:r>
              <a:rPr lang="ru-RU" dirty="0"/>
              <a:t>текстовый → преобразования </a:t>
            </a:r>
          </a:p>
          <a:p>
            <a:pPr lvl="1"/>
            <a:r>
              <a:rPr lang="ru-RU" dirty="0"/>
              <a:t>бинарный → точное представление </a:t>
            </a:r>
          </a:p>
          <a:p>
            <a:r>
              <a:rPr lang="ru-RU" dirty="0"/>
              <a:t>Механизмы</a:t>
            </a:r>
          </a:p>
          <a:p>
            <a:pPr lvl="1"/>
            <a:r>
              <a:rPr lang="ru-RU" dirty="0"/>
              <a:t>потоки (FILE*) </a:t>
            </a:r>
          </a:p>
          <a:p>
            <a:pPr lvl="1"/>
            <a:r>
              <a:rPr lang="ru-RU" dirty="0"/>
              <a:t>стандартные потоки (</a:t>
            </a:r>
            <a:r>
              <a:rPr lang="ru-RU" dirty="0" err="1"/>
              <a:t>stdin</a:t>
            </a:r>
            <a:r>
              <a:rPr lang="ru-RU" dirty="0"/>
              <a:t>, </a:t>
            </a:r>
            <a:r>
              <a:rPr lang="ru-RU" dirty="0" err="1"/>
              <a:t>stdout</a:t>
            </a:r>
            <a:r>
              <a:rPr lang="ru-RU" dirty="0"/>
              <a:t>, </a:t>
            </a:r>
            <a:r>
              <a:rPr lang="ru-RU" dirty="0" err="1"/>
              <a:t>stderr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буферизация </a:t>
            </a:r>
          </a:p>
          <a:p>
            <a:pPr lvl="1"/>
            <a:r>
              <a:rPr lang="ru-RU" dirty="0"/>
              <a:t>позиция в файле</a:t>
            </a:r>
          </a:p>
          <a:p>
            <a:r>
              <a:rPr lang="ru-RU" dirty="0"/>
              <a:t>Практика</a:t>
            </a:r>
          </a:p>
          <a:p>
            <a:pPr lvl="1"/>
            <a:r>
              <a:rPr lang="ru-RU" dirty="0"/>
              <a:t>проверка ошибок </a:t>
            </a:r>
          </a:p>
          <a:p>
            <a:pPr lvl="1"/>
            <a:r>
              <a:rPr lang="ru-RU" dirty="0"/>
              <a:t>согласованный формат </a:t>
            </a:r>
          </a:p>
          <a:p>
            <a:pPr lvl="1"/>
            <a:r>
              <a:rPr lang="ru-RU" dirty="0"/>
              <a:t>учёт </a:t>
            </a:r>
            <a:r>
              <a:rPr lang="ru-RU" dirty="0" err="1"/>
              <a:t>endianness</a:t>
            </a:r>
            <a:r>
              <a:rPr lang="ru-RU" dirty="0"/>
              <a:t> </a:t>
            </a:r>
          </a:p>
          <a:p>
            <a:r>
              <a:rPr lang="ru-RU" dirty="0"/>
              <a:t>Файл и память — это байты. Различие — в доступе и хранении.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062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10327</Words>
  <Application>Microsoft Office PowerPoint</Application>
  <PresentationFormat>Widescreen</PresentationFormat>
  <Paragraphs>1163</Paragraphs>
  <Slides>52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Aptos</vt:lpstr>
      <vt:lpstr>Aptos Display</vt:lpstr>
      <vt:lpstr>Arial</vt:lpstr>
      <vt:lpstr>Consolas</vt:lpstr>
      <vt:lpstr>Office Theme</vt:lpstr>
      <vt:lpstr>Файловый ввод-вывод</vt:lpstr>
      <vt:lpstr>Ограничения вычислений в оперативной памяти</vt:lpstr>
      <vt:lpstr>Внешняя память и файлы</vt:lpstr>
      <vt:lpstr>Представление данных в файле</vt:lpstr>
      <vt:lpstr>Унификация модели: память и файл</vt:lpstr>
      <vt:lpstr>Абстракция файла</vt:lpstr>
      <vt:lpstr>Потоки в языке C</vt:lpstr>
      <vt:lpstr>Тип FILE и его роль</vt:lpstr>
      <vt:lpstr>Стандартные потоки</vt:lpstr>
      <vt:lpstr>Особенности stdin, stdout, stderr</vt:lpstr>
      <vt:lpstr>Ввод-вывод в стандартные потоки</vt:lpstr>
      <vt:lpstr>Потоки как уровень абстракции</vt:lpstr>
      <vt:lpstr>Переносимость и реальные системы</vt:lpstr>
      <vt:lpstr>Открытие и закрытие файла на диске</vt:lpstr>
      <vt:lpstr>Чтение и запись файла на диске</vt:lpstr>
      <vt:lpstr>Операции над файловыми потоками</vt:lpstr>
      <vt:lpstr>Модель операций ввода-вывода</vt:lpstr>
      <vt:lpstr>Символьный и построчный ввод-вывод</vt:lpstr>
      <vt:lpstr>Чтение и запись символов и строк</vt:lpstr>
      <vt:lpstr>Форматированный ввод-вывод</vt:lpstr>
      <vt:lpstr>Пример – текстовый ввод-вывод структуры</vt:lpstr>
      <vt:lpstr>Обработка ошибок при работе с файлами</vt:lpstr>
      <vt:lpstr>Пример: подсчёт количества строк в файле</vt:lpstr>
      <vt:lpstr>Текстовый ввод-вывод</vt:lpstr>
      <vt:lpstr>Текстовый поток</vt:lpstr>
      <vt:lpstr>Преобразования в текстовом режиме</vt:lpstr>
      <vt:lpstr>Потеря точности при работе с числами</vt:lpstr>
      <vt:lpstr>Условия корректного восстановления данных</vt:lpstr>
      <vt:lpstr>Ограничения текстового формата</vt:lpstr>
      <vt:lpstr>Бинарный ввод-вывод</vt:lpstr>
      <vt:lpstr>Бинарный ввод-вывод</vt:lpstr>
      <vt:lpstr>Основные функции</vt:lpstr>
      <vt:lpstr>Пример: чтение и запись двоичных чисел</vt:lpstr>
      <vt:lpstr>Преимущества и ограничения</vt:lpstr>
      <vt:lpstr>Применение бинарных файлов</vt:lpstr>
      <vt:lpstr>Преобразование Little Endian &lt;-&gt; Big Endian</vt:lpstr>
      <vt:lpstr>Загрузка и сохранение точек в Little Endian-формате</vt:lpstr>
      <vt:lpstr>Загрузка и сохранение точек</vt:lpstr>
      <vt:lpstr>Потоки и позиция в файле</vt:lpstr>
      <vt:lpstr>Потоки и позиция в файле </vt:lpstr>
      <vt:lpstr>Управление позицией</vt:lpstr>
      <vt:lpstr>Где применяется позиционирование?</vt:lpstr>
      <vt:lpstr>Перезапись части файла</vt:lpstr>
      <vt:lpstr>Буферизация потоков</vt:lpstr>
      <vt:lpstr>Буферизация потоков</vt:lpstr>
      <vt:lpstr>Сброс буфера</vt:lpstr>
      <vt:lpstr>Проверка fclose</vt:lpstr>
      <vt:lpstr>Пример: два потока</vt:lpstr>
      <vt:lpstr>Конец файла</vt:lpstr>
      <vt:lpstr>Конец файла (EOF)</vt:lpstr>
      <vt:lpstr>EOF и ошибки чтения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182</cp:revision>
  <dcterms:created xsi:type="dcterms:W3CDTF">2026-03-25T20:58:07Z</dcterms:created>
  <dcterms:modified xsi:type="dcterms:W3CDTF">2026-03-27T08:52:43Z</dcterms:modified>
</cp:coreProperties>
</file>