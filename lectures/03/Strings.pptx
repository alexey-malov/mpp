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6" r:id="rId20"/>
    <p:sldId id="278" r:id="rId21"/>
    <p:sldId id="279" r:id="rId22"/>
    <p:sldId id="280" r:id="rId23"/>
    <p:sldId id="281" r:id="rId24"/>
    <p:sldId id="288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150" autoAdjust="0"/>
  </p:normalViewPr>
  <p:slideViewPr>
    <p:cSldViewPr snapToGrid="0" showGuides="1">
      <p:cViewPr varScale="1">
        <p:scale>
          <a:sx n="70" d="100"/>
          <a:sy n="70" d="100"/>
        </p:scale>
        <p:origin x="2070" y="28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890D5-55D3-4584-BC51-03E5E36A84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A46E3-A062-4F85-8E8F-D4EACE1D2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8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работали с числами и массивами.</a:t>
            </a:r>
            <a:br>
              <a:rPr lang="ru-RU" dirty="0"/>
            </a:br>
            <a:r>
              <a:rPr lang="ru-RU" dirty="0"/>
              <a:t>Теперь возникает естественный вопрос — а как хранится текст?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("Hello");</a:t>
            </a:r>
          </a:p>
          <a:p>
            <a:r>
              <a:rPr lang="ru-RU" dirty="0"/>
              <a:t>кажется, что существует какой-то специальный тип данных “строка”.</a:t>
            </a:r>
            <a:br>
              <a:rPr lang="ru-RU" dirty="0"/>
            </a:br>
            <a:r>
              <a:rPr lang="ru-RU" dirty="0"/>
              <a:t>Но на уровне процессора никакого текста не существует.</a:t>
            </a:r>
          </a:p>
          <a:p>
            <a:r>
              <a:rPr lang="ru-RU" dirty="0"/>
              <a:t>Процессор знает только:</a:t>
            </a:r>
          </a:p>
          <a:p>
            <a:r>
              <a:rPr lang="ru-RU" dirty="0"/>
              <a:t>байты,</a:t>
            </a:r>
          </a:p>
          <a:p>
            <a:r>
              <a:rPr lang="ru-RU" dirty="0"/>
              <a:t>числа,</a:t>
            </a:r>
          </a:p>
          <a:p>
            <a:r>
              <a:rPr lang="ru-RU" dirty="0"/>
              <a:t>адреса,</a:t>
            </a:r>
          </a:p>
          <a:p>
            <a:r>
              <a:rPr lang="ru-RU" dirty="0"/>
              <a:t>и инструкции.</a:t>
            </a:r>
          </a:p>
          <a:p>
            <a:r>
              <a:rPr lang="ru-RU" dirty="0"/>
              <a:t>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dirty="0"/>
              <a:t> — это не буква. Это просто число 65.</a:t>
            </a:r>
            <a:br>
              <a:rPr lang="ru-RU" dirty="0"/>
            </a:br>
            <a:r>
              <a:rPr lang="ru-RU" dirty="0"/>
              <a:t>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'i'</a:t>
            </a:r>
            <a:r>
              <a:rPr lang="ru-RU" dirty="0"/>
              <a:t> — это число 105.</a:t>
            </a:r>
          </a:p>
          <a:p>
            <a:r>
              <a:rPr lang="ru-RU" dirty="0"/>
              <a:t>Когда мы записываем строку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"Hi"</a:t>
            </a:r>
            <a:r>
              <a:rPr lang="ru-RU" dirty="0"/>
              <a:t>, в памяти лежат просто три байта:</a:t>
            </a:r>
          </a:p>
          <a:p>
            <a:r>
              <a:rPr lang="ru-RU" dirty="0"/>
              <a:t>72</a:t>
            </a:r>
          </a:p>
          <a:p>
            <a:r>
              <a:rPr lang="ru-RU" dirty="0"/>
              <a:t>105</a:t>
            </a:r>
          </a:p>
          <a:p>
            <a:r>
              <a:rPr lang="ru-RU" dirty="0"/>
              <a:t>0</a:t>
            </a:r>
          </a:p>
          <a:p>
            <a:r>
              <a:rPr lang="ru-RU" dirty="0"/>
              <a:t>Последний ноль — это очень важно.</a:t>
            </a:r>
            <a:br>
              <a:rPr lang="ru-RU" dirty="0"/>
            </a:br>
            <a:r>
              <a:rPr lang="ru-RU" dirty="0"/>
              <a:t>Это специальный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который говорит программе:</a:t>
            </a:r>
            <a:br>
              <a:rPr lang="ru-RU" dirty="0"/>
            </a:br>
            <a:r>
              <a:rPr lang="ru-RU" dirty="0"/>
              <a:t>“строка закончилась”.</a:t>
            </a:r>
          </a:p>
          <a:p>
            <a:r>
              <a:rPr lang="ru-RU" dirty="0"/>
              <a:t>Процессор не хранит длину строки отдельно.</a:t>
            </a:r>
            <a:br>
              <a:rPr lang="ru-RU" dirty="0"/>
            </a:br>
            <a:r>
              <a:rPr lang="ru-RU" dirty="0"/>
              <a:t>Он просто идёт по памяти, пока не встретит нулевой байт.</a:t>
            </a:r>
          </a:p>
          <a:p>
            <a:r>
              <a:rPr lang="ru-RU" dirty="0"/>
              <a:t>И вот здесь происходит очень важный момент нашего курса:</a:t>
            </a:r>
          </a:p>
          <a:p>
            <a:r>
              <a:rPr lang="ru-RU" dirty="0"/>
              <a:t>Строка — это не магия.</a:t>
            </a:r>
            <a:br>
              <a:rPr lang="ru-RU" dirty="0"/>
            </a:br>
            <a:r>
              <a:rPr lang="ru-RU" dirty="0"/>
              <a:t>Это обычный массив байтов.</a:t>
            </a:r>
          </a:p>
          <a:p>
            <a:r>
              <a:rPr lang="ru-RU" dirty="0"/>
              <a:t>А значит, всё, что мы изучали:</a:t>
            </a:r>
          </a:p>
          <a:p>
            <a:r>
              <a:rPr lang="ru-RU" dirty="0"/>
              <a:t>индексы,</a:t>
            </a:r>
          </a:p>
          <a:p>
            <a:r>
              <a:rPr lang="ru-RU" dirty="0"/>
              <a:t>циклы,</a:t>
            </a:r>
          </a:p>
          <a:p>
            <a:r>
              <a:rPr lang="ru-RU" dirty="0"/>
              <a:t>сравнения,</a:t>
            </a:r>
          </a:p>
          <a:p>
            <a:r>
              <a:rPr lang="ru-RU" dirty="0"/>
              <a:t>переходы,</a:t>
            </a:r>
          </a:p>
          <a:p>
            <a:r>
              <a:rPr lang="ru-RU" dirty="0"/>
              <a:t>— полностью применимо к строкам.</a:t>
            </a:r>
          </a:p>
          <a:p>
            <a:r>
              <a:rPr lang="ru-RU" dirty="0"/>
              <a:t>Сегодня мы будем разбирать, как именно это работает.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2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 строки, нужно сначала понять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— это самый маленький тип данных в C.</a:t>
            </a:r>
            <a:br>
              <a:rPr lang="ru-RU" dirty="0"/>
            </a:br>
            <a:r>
              <a:rPr lang="ru-RU" dirty="0"/>
              <a:t>Он занимает ровно один байт.</a:t>
            </a:r>
          </a:p>
          <a:p>
            <a:r>
              <a:rPr lang="ru-RU" dirty="0"/>
              <a:t>Один байт — это 8 бит.</a:t>
            </a:r>
            <a:br>
              <a:rPr lang="ru-RU" dirty="0"/>
            </a:br>
            <a:r>
              <a:rPr lang="ru-RU" dirty="0"/>
              <a:t>И этот байт хранит просто число.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 = 'A';</a:t>
            </a:r>
          </a:p>
          <a:p>
            <a:r>
              <a:rPr lang="ru-RU" dirty="0"/>
              <a:t>кажется, что мы сохраняем букву.</a:t>
            </a:r>
            <a:br>
              <a:rPr lang="ru-RU" dirty="0"/>
            </a:br>
            <a:r>
              <a:rPr lang="ru-RU" dirty="0"/>
              <a:t>Но на самом деле в памяти лежит число 65 — код символа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dirty="0"/>
              <a:t>.</a:t>
            </a:r>
          </a:p>
          <a:p>
            <a:r>
              <a:rPr lang="ru-RU" dirty="0"/>
              <a:t>Это очень важно: в компьютере нет букв — есть только числа.</a:t>
            </a:r>
          </a:p>
          <a:p>
            <a:r>
              <a:rPr lang="ru-RU" dirty="0"/>
              <a:t>Теперь ключевой момент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 возвращает размер </a:t>
            </a:r>
            <a:r>
              <a:rPr lang="ru-RU" b="1" dirty="0"/>
              <a:t>в байтах</a:t>
            </a:r>
            <a:r>
              <a:rPr lang="ru-RU" dirty="0"/>
              <a:t>.</a:t>
            </a:r>
          </a:p>
          <a:p>
            <a:r>
              <a:rPr lang="ru-RU" dirty="0"/>
              <a:t>А что такое байт в языке C?</a:t>
            </a:r>
          </a:p>
          <a:p>
            <a:r>
              <a:rPr lang="ru-RU" dirty="0"/>
              <a:t>По стандарту C: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== 1</a:t>
            </a:r>
          </a:p>
          <a:p>
            <a:r>
              <a:rPr lang="ru-RU" dirty="0"/>
              <a:t>Это определение.</a:t>
            </a:r>
          </a:p>
          <a:p>
            <a:r>
              <a:rPr lang="ru-RU" dirty="0"/>
              <a:t>То есть один байт — это размер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и получаем, например, 4 —</a:t>
            </a:r>
            <a:br>
              <a:rPr lang="ru-RU" dirty="0"/>
            </a:br>
            <a:r>
              <a:rPr lang="ru-RU" dirty="0"/>
              <a:t>это означает,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занимает 4 байта,</a:t>
            </a:r>
            <a:br>
              <a:rPr lang="ru-RU" dirty="0"/>
            </a:br>
            <a:r>
              <a:rPr lang="ru-RU" dirty="0"/>
              <a:t>то есть 4 объекта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r>
              <a:rPr lang="ru-RU" dirty="0"/>
              <a:t>Таким образом,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— это фундамент измерения памяти.</a:t>
            </a:r>
          </a:p>
          <a:p>
            <a:r>
              <a:rPr lang="ru-RU" dirty="0"/>
              <a:t>Вся память в C измеряется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И строки — это просто последовательности таких байтов.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2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9C8F7C-2BA4-427E-8D0C-7F24C2D019E5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3" y="4343400"/>
            <a:ext cx="6553200" cy="4405313"/>
          </a:xfrm>
          <a:noFill/>
          <a:ln/>
        </p:spPr>
        <p:txBody>
          <a:bodyPr/>
          <a:lstStyle/>
          <a:p>
            <a:r>
              <a:rPr lang="ru-RU" sz="800" dirty="0"/>
              <a:t>Символьная константа — это запись числа в виде символа в одиночных кавычках. Когда мы пишем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sz="800" dirty="0"/>
              <a:t>, в программе это не «буква», а целое число, равное коду этой буквы в кодировке. Чаще всего это ASCII, где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sz="800" dirty="0"/>
              <a:t> имеет код 65,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'0'</a:t>
            </a:r>
            <a:r>
              <a:rPr lang="ru-RU" sz="800" dirty="0"/>
              <a:t> имеет код 48.</a:t>
            </a:r>
          </a:p>
          <a:p>
            <a:endParaRPr lang="ru-RU" sz="800" dirty="0"/>
          </a:p>
          <a:p>
            <a:r>
              <a:rPr lang="ru-RU" sz="800" dirty="0"/>
              <a:t>Важно понимать, что символьная константа имеет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800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800" dirty="0"/>
              <a:t>. Это историческая особенность языка C. Когда мы присваиваем её переменной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800" dirty="0"/>
              <a:t>, происходит обычное приведение типа.</a:t>
            </a:r>
          </a:p>
          <a:p>
            <a:endParaRPr lang="ru-RU" sz="800" dirty="0"/>
          </a:p>
          <a:p>
            <a:r>
              <a:rPr lang="ru-RU" sz="800" dirty="0"/>
              <a:t>Escape-последовательности выглядят как два символа,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ru-RU" sz="8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sz="800" dirty="0"/>
              <a:t>, но обозначают один символ.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sz="800" dirty="0"/>
              <a:t> — это один байт с кодом перевода строки. Аналогично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 — это один байт со значением 0. Мы часто используем именно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, чтобы подчеркнуть, что речь идёт о символе, а не просто о числе 0.</a:t>
            </a:r>
          </a:p>
          <a:p>
            <a:endParaRPr lang="ru-RU" sz="800" dirty="0"/>
          </a:p>
          <a:p>
            <a:r>
              <a:rPr lang="ru-RU" sz="800" dirty="0"/>
              <a:t>Также код символа можно задать явно через восьмеричную или шестнадцатеричную запись.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'\177'</a:t>
            </a:r>
            <a:r>
              <a:rPr lang="ru-RU" sz="800" dirty="0"/>
              <a:t> — это символ с кодом 127,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xff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ru-RU" sz="800" dirty="0"/>
              <a:t> — с кодом 255. Это полезно, когда нужно работать с конкретными байтовыми значениями.</a:t>
            </a:r>
          </a:p>
          <a:p>
            <a:endParaRPr lang="ru-RU" sz="800" dirty="0"/>
          </a:p>
          <a:p>
            <a:r>
              <a:rPr lang="ru-RU" sz="800" dirty="0"/>
              <a:t>Ключевая идея: символьная константа — это обычное число. Именно поэтому мы можем сравнивать символы, вычитать их и использовать в арифметических выражениях. Для процессора это всегда просто числа в памяти.</a:t>
            </a:r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552643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нет встроенного типа данных «строка». Это принципиальный момент. Когда мы пишем строку, мы на самом деле создаём массив элементов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s[6] = {'H', 'e', 'l', 'l', 'o', '\0'};</a:t>
            </a:r>
            <a:r>
              <a:rPr lang="ru-RU" dirty="0"/>
              <a:t> создаёт массив из шести байтов. Последний элемент — это специальный нулевой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Его код равен нулю, и он используется для обозначения конца строки.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Очень важно понимать, что длина массива и длина строки — это разные вещи. Массив может быть больше, чем фактическая строка. Конец строки определяется не размером массива, а появлением нулевого байта.</a:t>
            </a:r>
          </a:p>
          <a:p>
            <a:r>
              <a:rPr lang="ru-RU" dirty="0"/>
              <a:t>Когда мы используем сокращённую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s[] = "Hello";</a:t>
            </a:r>
            <a:r>
              <a:rPr lang="ru-RU" dirty="0"/>
              <a:t>, компилятор автоматически добавляет завершающий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В памяти фактически хранится шесть байтов, а не пять.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посмотреть на память, мы увидим последовательные байты с кодами символов, а затем ноль. Никакой дополнительной информации о длине строки не хранится. Программа узнаёт, что строка закончилась, только когда встречает байт со значением 0.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строка в C — это просто непрерывный участок памяти, заполненный байтами, где конец определяется специальным соглашением. Именно это соглашение мы будем использовать во всех дальнейших примерах работы со строками.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8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знаем, что строка — это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Но возникает вопрос: как программа понимает, где строка заканчивается?</a:t>
            </a:r>
          </a:p>
          <a:p>
            <a:endParaRPr lang="ru-RU" dirty="0"/>
          </a:p>
          <a:p>
            <a:r>
              <a:rPr lang="ru-RU" dirty="0"/>
              <a:t>В массиве не хранится длина строки. Там просто лежат байты подряд. Никакой дополнительной информации о количестве символов нет.</a:t>
            </a:r>
          </a:p>
          <a:p>
            <a:endParaRPr lang="ru-RU" dirty="0"/>
          </a:p>
          <a:p>
            <a:r>
              <a:rPr lang="ru-RU" dirty="0"/>
              <a:t>Поэтому в языке C используется специальное соглашение: строка заканчивается нулевым байтом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Его числовое значение равно нулю.</a:t>
            </a:r>
          </a:p>
          <a:p>
            <a:endParaRPr lang="ru-RU" dirty="0"/>
          </a:p>
          <a:p>
            <a:r>
              <a:rPr lang="ru-RU" dirty="0"/>
              <a:t>Рассмотрим пример с функцией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. Когда мы передаём ей строку, она получает адрес первого символа и начинает читать память байт за байтом. Она выводит символы до тех пор, пока не встретит байт со значением 0. Именно этот нулевой байт сигнализирует о завершении строки.</a:t>
            </a:r>
          </a:p>
          <a:p>
            <a:endParaRPr lang="ru-RU" dirty="0"/>
          </a:p>
          <a:p>
            <a:r>
              <a:rPr lang="ru-RU" dirty="0"/>
              <a:t>Важно понимать,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 не знает размер массива. Она просто двигается по памяти вперёд. Если по какой-то причине в массиве не окажется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функция продолжит читать память за его пределами, пока случайно не встретит нулевой байт. Это и есть неопределённое поведение.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 — это не «ещё один символ текста», а механизм, который делает массив байтов строкой. Без этого соглашения никакой строки в языке C не существует.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22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реализацию функции, выполняющей вывод строки по принципу стандартной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, используя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putchar</a:t>
            </a:r>
            <a:r>
              <a:rPr lang="ru-RU" dirty="0"/>
              <a:t>.</a:t>
            </a:r>
          </a:p>
          <a:p>
            <a:r>
              <a:rPr lang="ru-RU" dirty="0"/>
              <a:t>Функция принимает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s[]</a:t>
            </a:r>
            <a:r>
              <a:rPr lang="ru-RU" dirty="0"/>
              <a:t>. Фактически это адрес первого элемента массива символов. Внутри функции используется индекс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, который последовательно увеличивается.</a:t>
            </a:r>
          </a:p>
          <a:p>
            <a:endParaRPr lang="ru-RU" dirty="0"/>
          </a:p>
          <a:p>
            <a:r>
              <a:rPr lang="ru-RU" dirty="0"/>
              <a:t>На каждой итерации цикла проверяется условие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s[i] != '\0'</a:t>
            </a:r>
            <a:r>
              <a:rPr lang="ru-RU" dirty="0"/>
              <a:t>. Пока текущий символ не равен нулю, он передаётся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putchar</a:t>
            </a:r>
            <a:r>
              <a:rPr lang="ru-RU" dirty="0"/>
              <a:t>, после чего индекс увеличивается. Таким образом, осуществляется последовательный проход по памяти.</a:t>
            </a:r>
          </a:p>
          <a:p>
            <a:endParaRPr lang="ru-RU" dirty="0"/>
          </a:p>
          <a:p>
            <a:r>
              <a:rPr lang="ru-RU" dirty="0"/>
              <a:t>Когда встречается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цикл завершается. После этого дополнительно выводится символ перевода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, что соответствует поведению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Следует подчеркнуть, что функция не получает информации о размере массива. Она опирается исключительно на соглашение о нулевом завершающем символе. Если строка не содержит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поведение функции будет неопределённым, поскольку чтение выйдет за пределы массива.</a:t>
            </a:r>
          </a:p>
          <a:p>
            <a:endParaRPr lang="ru-RU" dirty="0"/>
          </a:p>
          <a:p>
            <a:r>
              <a:rPr lang="ru-RU" dirty="0"/>
              <a:t>Данный пример демонстрирует, что строковые операции в языке C реализуются посредством последовательного чтения байтов из памяти и проверки их значения.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30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my_strlen</a:t>
            </a:r>
            <a:r>
              <a:rPr lang="ru-RU" dirty="0"/>
              <a:t> предназначена для определения длины строки. Под длиной понимается количество символов до нулевого завершающего символа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принимает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s[]</a:t>
            </a:r>
            <a:r>
              <a:rPr lang="ru-RU" dirty="0"/>
              <a:t>, что означает, что строка не изменяется в процессе работы. Внутри используется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</a:t>
            </a:r>
            <a:r>
              <a:rPr lang="ru-RU" dirty="0"/>
              <a:t>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dirty="0"/>
              <a:t>.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dirty="0"/>
              <a:t> применяется для представления размеров объектов в памяти и возвращается стандартной функцией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Алгоритм работы прост: начиная с нулевого индекса, выполняется последовательная проверка элементов массива. Пока текущий символ не равен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счётчик увеличивается. Как только встречается нулевой символ, цикл завершается, и функция возвращает накопленное значение.</a:t>
            </a:r>
          </a:p>
          <a:p>
            <a:endParaRPr lang="ru-RU" dirty="0"/>
          </a:p>
          <a:p>
            <a:r>
              <a:rPr lang="ru-RU" dirty="0"/>
              <a:t>Следует подчеркнуть, что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 не включается в длину строки. Он служит только маркером завершения.</a:t>
            </a:r>
          </a:p>
          <a:p>
            <a:r>
              <a:rPr lang="ru-RU" dirty="0"/>
              <a:t>Данная реализация демонстрирует фундаментальный принцип работы со строками в языке C: длина не хранится явно, а определяется путём последовательного анализа содержимого памяти. Корректность работы функции зависит от наличия завершающего нулевого символа.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02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 нулевого завершающего символа как механизма хранения строк имеет исторические причины. Язык C разрабатывался в начале 1970-х годов для системного программирования на компьютерах с крайне ограниченными ресурсами. В таких условиях приоритет отдавался простоте реализации компилятора и минимальным накладным расходам.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Модель строки как массива байтов, заканчивающегося нулём, естественным образом соответствует архитектуре памяти. Процессор легко выполняет последовательное чтение байтов и сравнение их с нулём. Такая схема не требует хранения дополнительной информации о длине строки.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этот способ хранения нельзя назвать оптимальным. Для определения длины строки требуется пройти по всем символам до встречи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Таким образом, операция вычисления длины имеет линейную сложность O(n). Если длина запрашивается многократно, возникают дополнительные временные затраты.</a:t>
            </a:r>
          </a:p>
          <a:p>
            <a:r>
              <a:rPr lang="ru-RU" dirty="0"/>
              <a:t>Кроме того, внутри строки невозможно хранить байт со значением 0, поскольку он интерпретируется как признак завершения. Ошибка в размещении завершающего символа приводит к чтению за пределами массива и неопределённому поведению программы.</a:t>
            </a:r>
          </a:p>
          <a:p>
            <a:r>
              <a:rPr lang="ru-RU" dirty="0"/>
              <a:t>Существуют более эффективные способы хранения строк, например представление в виде структуры, содержащей длину и массив символов. В этом случае длина доступна немедленно, а строка может содержать произвольные байты. Многие современные языки используют именно такую модель.</a:t>
            </a:r>
          </a:p>
          <a:p>
            <a:r>
              <a:rPr lang="ru-RU" dirty="0"/>
              <a:t>Тем не менее, подход с завершающим нулевым символом исторически закрепился в языке C и остаётся фундаментом стандартной библиотеки и значительной части программного обеспечения, написанного на этом языке.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49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со строками одной из наиболее распространённых ошибок является неверное указание размера массива.</a:t>
            </a:r>
          </a:p>
          <a:p>
            <a:endParaRPr lang="ru-RU" dirty="0"/>
          </a:p>
          <a:p>
            <a:r>
              <a:rPr lang="ru-RU" dirty="0"/>
              <a:t>Рассмотрим 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s[5] = "Hello";</a:t>
            </a:r>
            <a:r>
              <a:rPr lang="ru-RU" dirty="0"/>
              <a:t>. На первый взгляд может показаться, что для слова из пяти букв достаточно пяти элементов. Однако строка в языке C всегда включает завершающий нулевой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Следовательно,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 занимает шесть байтов: пять символов и один нулевой байт. Поэтому массив из пяти элементов недостаточен.</a:t>
            </a:r>
          </a:p>
          <a:p>
            <a:endParaRPr lang="ru-RU" dirty="0"/>
          </a:p>
          <a:p>
            <a:r>
              <a:rPr lang="ru-RU" dirty="0"/>
              <a:t>Корректная запись должна предусматривать дополнительный элемент: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s[6] = "Hello";</a:t>
            </a:r>
            <a:r>
              <a:rPr lang="ru-RU" dirty="0"/>
              <a:t>. Более безопасным вариантом является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s[] = "Hello";</a:t>
            </a:r>
            <a:r>
              <a:rPr lang="ru-RU" dirty="0"/>
              <a:t>, при которой компилятор автоматически определяет необходимый размер.</a:t>
            </a:r>
          </a:p>
          <a:p>
            <a:endParaRPr lang="ru-RU" dirty="0"/>
          </a:p>
          <a:p>
            <a:r>
              <a:rPr lang="ru-RU" dirty="0"/>
              <a:t>Другая распространённая ошибка возникает при ручном заполнении массива символами без добавления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Если нулевой символ отсутствует, массив не является корректной строкой. Любая функция, работающая со строками, будет продолжать чтение памяти за пределами массива до случайной встречи нулевого байта.</a:t>
            </a:r>
          </a:p>
          <a:p>
            <a:r>
              <a:rPr lang="ru-RU" dirty="0"/>
              <a:t>Следует подчеркнуть, что язык C не выполняет автоматическую проверку выхода за границы массива. Ошибки такого рода приводят к неопределённому поведению, которое может проявляться непредсказуемым образом. Поэтому при работе со строками необходимо строго контролировать размер массива и наличие завершающего нулевого символа.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72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ввод и вывод строк в языке C. Все функции работают с адресом первого символа строки и предполагают наличие завершающего нулевого символа.</a:t>
            </a:r>
          </a:p>
          <a:p>
            <a:endParaRPr lang="ru-RU" dirty="0"/>
          </a:p>
          <a:p>
            <a:r>
              <a:rPr lang="ru-RU" dirty="0"/>
              <a:t>Для вывода строки часто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puts</a:t>
            </a:r>
            <a:r>
              <a:rPr lang="ru-RU" dirty="0"/>
              <a:t>. Она получает указатель на строку и выводит символы до встречи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после чего автоматически добавляет перевод строки. Если требуется более гибкое форматирование, применяется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ru-RU" dirty="0"/>
              <a:t> со спецификатором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%s</a:t>
            </a:r>
            <a:r>
              <a:rPr lang="ru-RU" dirty="0"/>
              <a:t>. В обоих случаях корректность работы зависит от наличия завершающего нулевого символа.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57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ввода строк возможны разные подходы.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ru-RU" dirty="0"/>
              <a:t> со спецификатором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%s</a:t>
            </a:r>
            <a:r>
              <a:rPr lang="ru-RU" dirty="0"/>
              <a:t> считывает последовательность </a:t>
            </a:r>
            <a:r>
              <a:rPr lang="ru-RU" dirty="0" err="1"/>
              <a:t>непробельных</a:t>
            </a:r>
            <a:r>
              <a:rPr lang="ru-RU" dirty="0"/>
              <a:t> символов и автоматически добавляет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Однако она прекращает чтение при первом пробеле, поэтому не подходит для строк, содержащих пробелы. Кроме того, необходимо явно ограничивать максимальное количество символов, чтобы избежать переполнения массива.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Более безопасным и универсальным способом является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. Она считывает строку целиком, включая пробелы, но не более чем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(массив) - 1</a:t>
            </a:r>
            <a:r>
              <a:rPr lang="ru-RU" dirty="0"/>
              <a:t> символов, оставляя место для завершающего нуля. Функция гарантированно добавляет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Следует учитывать,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 сохраняет символ перевода строки, если он был считан. Поэтому часто требуется дополнительная обработка для его удаления.</a:t>
            </a:r>
            <a:endParaRPr lang="en-US" dirty="0"/>
          </a:p>
          <a:p>
            <a:r>
              <a:rPr lang="ru-RU" dirty="0"/>
              <a:t>Таким образом, корректный ввод и вывод строк требует понимания размера массива, наличия завершающего нулевого символа и особенностей поведения стандартных функций.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54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массивы не поддерживают операцию присваивания. Это означает, что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b;</a:t>
            </a:r>
            <a:r>
              <a:rPr lang="ru-RU" dirty="0"/>
              <a:t>, где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являются массивами, приводит к ошибке компиляции. Массив представляет собой непрерывную область памяти, и его содержимое не может быть скопировано одной операцией присваивания.</a:t>
            </a:r>
          </a:p>
          <a:p>
            <a:endParaRPr lang="ru-RU" dirty="0"/>
          </a:p>
          <a:p>
            <a:r>
              <a:rPr lang="ru-RU" dirty="0"/>
              <a:t>Поэтому копирование строк выполняется посимвольно. Рассмотренная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my_strcpy</a:t>
            </a:r>
            <a:r>
              <a:rPr lang="ru-RU" dirty="0"/>
              <a:t> реализует этот механизм. Она принимает массив назначения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dirty="0"/>
              <a:t> и исходную 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. В цикле выполняется присваивание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</a:t>
            </a:r>
            <a:r>
              <a:rPr lang="ru-RU" dirty="0"/>
              <a:t>, а результат этого выражения сравнивается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Цикл продолжается до тех пор, пока не будет скопирован нулевой завершающий символ.</a:t>
            </a:r>
          </a:p>
          <a:p>
            <a:endParaRPr lang="ru-RU" dirty="0"/>
          </a:p>
          <a:p>
            <a:r>
              <a:rPr lang="ru-RU" dirty="0"/>
              <a:t>Следует обратить внимание, что нулевой символ также копируется. Это обеспечивает корректное завершение строки в массиве назначения.</a:t>
            </a:r>
          </a:p>
          <a:p>
            <a:endParaRPr lang="ru-RU" dirty="0"/>
          </a:p>
          <a:p>
            <a:r>
              <a:rPr lang="ru-RU" dirty="0"/>
              <a:t>Важно понимать, что функция не проверяет размер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dirty="0"/>
              <a:t>. Ответственность за то, чтобы массив назначения был достаточно велик для размещения копируемой строки вместе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полностью лежит на программисте. Нарушение этого условия приводит к выходу за границы массива и неопределённому поведению программы.</a:t>
            </a:r>
          </a:p>
          <a:p>
            <a:endParaRPr lang="ru-RU" dirty="0"/>
          </a:p>
          <a:p>
            <a:r>
              <a:rPr lang="ru-RU" dirty="0"/>
              <a:t>Таким образом, копирование строк в языке C сводится к последовательному переносу байтов до встречи нулевого символа.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32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сравнении строк в языке C распространённой ошибкой является использование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. В случае массивов этот оператор сравнивает адреса, а не содержимое. Следовательно, даже если две строки содержат одинаковые символы,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== b</a:t>
            </a:r>
            <a:r>
              <a:rPr lang="ru-RU" dirty="0"/>
              <a:t> будет истинным только в том случае, если оба указателя указывают на одну и ту же область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Корректное сравнение строк выполняется посимвольно. В функции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MyStrCmp</a:t>
            </a:r>
            <a:r>
              <a:rPr lang="ru-RU" dirty="0"/>
              <a:t> сравниваются соответствующие элементы массивов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 Цикл продолжается до тех пор, пока символы совпадают. Если одновременно встречается нулевой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это означает, что строки полностью совпадают, и функция возвращает 0.</a:t>
            </a:r>
          </a:p>
          <a:p>
            <a:r>
              <a:rPr lang="ru-RU" dirty="0"/>
              <a:t>Если обнаружено различие, функция возвращает разность кодов символов. Здесь используется приведение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Это необходимо потому, что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может быть знаковым, и значения с установленным старшим битом могут интерпретироваться как отрицательные. Приведение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гарантирует, что сравнение выполняется по числовым значениям байтов от 0 до 255.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приведения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выполняется стандартное целочисленное продвижение типов. Согласно правилам языка C, операнды арифметических операций меньших целых типов автоматически расширяются до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Таким образом, в выражении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)a[i] -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)b[i]</a:t>
            </a:r>
            <a:r>
              <a:rPr lang="ru-RU" dirty="0"/>
              <a:t> оба операнда сначала приводятся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unsigned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затем расширяются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и только после этого выполняется вычитание. В результате функция возвращает значение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Возвращаемое значение интерпретируется следующим образом: ноль означает равенство строк, отрицательное значение означает, что первая строка лексикографически меньше второй, положительное — что больше.</a:t>
            </a:r>
          </a:p>
          <a:p>
            <a:r>
              <a:rPr lang="ru-RU" dirty="0"/>
              <a:t>Таким образом, сравнение строк в языке C представляет собой последовательное сравнение байтов до первого различия или до завершения строки, с учётом правил преобразования целых типов языка.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05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понимания стандартной библиотеки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необходимо ввести минимальное представление об указателях.</a:t>
            </a:r>
          </a:p>
          <a:p>
            <a:r>
              <a:rPr lang="ru-RU" dirty="0"/>
              <a:t>Указатель — это переменная, которая хранит адрес в памяти. Если объявить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*p;</a:t>
            </a:r>
            <a:r>
              <a:rPr lang="ru-RU" dirty="0"/>
              <a:t>, это означает,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может хранить адрес объекта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Если имеется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 = 'A';</a:t>
            </a:r>
            <a:r>
              <a:rPr lang="ru-RU" dirty="0"/>
              <a:t>, то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&amp;c</a:t>
            </a:r>
            <a:r>
              <a:rPr lang="ru-RU" dirty="0"/>
              <a:t> даёт её адрес, и этот адрес можно присвоить указателю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.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применяется для разыменования указателя, то есть получения значения по хранимому адресу.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55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Далее важно установить связь между массивами и указателями. В большинстве выражений имя массива интерпретируется как адрес его первого элемента. Если объявлен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s[] = "Hi";</a:t>
            </a:r>
            <a:r>
              <a:rPr lang="ru-RU" dirty="0"/>
              <a:t>, то имя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ru-RU" dirty="0"/>
              <a:t> в выражении фактически означает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&amp;s[0]</a:t>
            </a:r>
            <a:r>
              <a:rPr lang="ru-RU" dirty="0"/>
              <a:t>. Именно поэтому возможна эквивалентность записей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s[i]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*(s + i)</a:t>
            </a:r>
            <a:r>
              <a:rPr lang="ru-RU" dirty="0"/>
              <a:t>. Первая форма является индексной, вторая — через арифметику указателей.</a:t>
            </a:r>
          </a:p>
          <a:p>
            <a:r>
              <a:rPr lang="ru-RU" dirty="0"/>
              <a:t>Однако следует подчеркнуть, что массив и указатель не являются одним и тем же. Массив — это фиксированная область памяти определённого размера. Указатель — это отдельная переменная, которая хранит адрес.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53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указателями важно различать два независимых свойства: можно ли изменять данные, на которые указывает указатель, и можно ли изменять сам указатель, то есть хранимый в нём адрес.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Рассмотрим объявление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*p;</a:t>
            </a:r>
            <a:r>
              <a:rPr lang="ru-RU" dirty="0"/>
              <a:t>. В этом случае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является указателем на константные данные. Это означает, что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нельзя изменять содержимое памяти. Попытка записи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*p = 'A';</a:t>
            </a:r>
            <a:r>
              <a:rPr lang="ru-RU" dirty="0"/>
              <a:t> приведёт к ошибке компиляции. Однако сам указатель можно изменить и присвоить ему другой адрес.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 втором варианте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 = s;</a:t>
            </a:r>
            <a:r>
              <a:rPr lang="ru-RU" dirty="0"/>
              <a:t> указатель объявлен константным. Это означает, что после инициализации изменить адрес, хранящийся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, нельзя. Однако данные, на которые он указывает, изменять допустимо.</a:t>
            </a:r>
          </a:p>
          <a:p>
            <a:r>
              <a:rPr lang="ru-RU" dirty="0"/>
              <a:t>Третий вариант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</a:t>
            </a:r>
            <a:r>
              <a:rPr lang="ru-RU" dirty="0"/>
              <a:t> объединяет оба ограничения: ни данные, ни сам указатель изменить нельзя.</a:t>
            </a:r>
          </a:p>
          <a:p>
            <a:r>
              <a:rPr lang="ru-RU" dirty="0"/>
              <a:t>Для чтения таких объявлений удобно использовать правило: спецификатор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относится к тому, что стоит справа от него. Если справа ничего нет, он относится к элементу слева. Это позволяет корректно интерпретировать даже более сложные объявления.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Практический пример можно увидеть в прототипе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*s);</a:t>
            </a:r>
            <a:r>
              <a:rPr lang="ru-RU" dirty="0"/>
              <a:t>. Спецификатор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указывает, что функция не изменяет содержимое строки. Это важная гарантия корректности интерфейса.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95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Заголовочный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предоставляет стандартный набор функций для работы со строками в формате C. Под строкой здесь понимается массив символов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завершающийся нулевым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</a:t>
            </a:r>
          </a:p>
          <a:p>
            <a:r>
              <a:rPr lang="ru-RU" dirty="0"/>
              <a:t>К основным функциям относятся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 для определения длины строки,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strcpy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strncpy</a:t>
            </a:r>
            <a:r>
              <a:rPr lang="ru-RU" dirty="0"/>
              <a:t> для копирования,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strcmp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strncmp</a:t>
            </a:r>
            <a:r>
              <a:rPr lang="ru-RU" dirty="0"/>
              <a:t> для сравнения, а также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strcat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strncat</a:t>
            </a:r>
            <a:r>
              <a:rPr lang="ru-RU" dirty="0"/>
              <a:t> для конкатенации строк.</a:t>
            </a:r>
          </a:p>
          <a:p>
            <a:endParaRPr lang="ru-RU" dirty="0"/>
          </a:p>
          <a:p>
            <a:r>
              <a:rPr lang="ru-RU" dirty="0"/>
              <a:t>Все эти функции работают по одному и тому же принципу: они получают адрес первого символа строки и выполняют последовательный обход памяти до встречи нулевого символа либо до достижения указанного ограничения.</a:t>
            </a:r>
          </a:p>
          <a:p>
            <a:endParaRPr lang="ru-RU" dirty="0"/>
          </a:p>
          <a:p>
            <a:r>
              <a:rPr lang="ru-RU" dirty="0"/>
              <a:t>Следует подчеркнуть, что стандартные строковые функции, как правило, не выполняют автоматическую проверку размера буфера назначения. Ответственность за корректность размеров лежит на программисте.</a:t>
            </a:r>
          </a:p>
          <a:p>
            <a:r>
              <a:rPr lang="ru-RU" dirty="0"/>
              <a:t>Таким образом, библиотека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не вводит нового механизма хранения строк, а предоставляет готовые реализации типовых операций, основанных на уже изученной модели строки как массива байтов с завершающим нулём.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30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пример, демонстрирующий совместное использование функций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strcpy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strncpy</a:t>
            </a:r>
            <a:r>
              <a:rPr lang="ru-RU" dirty="0"/>
              <a:t>.</a:t>
            </a:r>
          </a:p>
          <a:p>
            <a:r>
              <a:rPr lang="ru-RU" dirty="0"/>
              <a:t>Сначала определяется длина 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. Важно подчеркнуть, что возвращаемое значение не включает нулевой завершающий символ. Для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 длина будет равна 5.</a:t>
            </a:r>
          </a:p>
          <a:p>
            <a:endParaRPr lang="ru-RU" dirty="0"/>
          </a:p>
          <a:p>
            <a:r>
              <a:rPr lang="ru-RU" dirty="0"/>
              <a:t>Далее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strcpy</a:t>
            </a:r>
            <a:r>
              <a:rPr lang="ru-RU" dirty="0"/>
              <a:t>, которая копирует строку целиком, включая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Поэтому массив назначения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dest1</a:t>
            </a:r>
            <a:r>
              <a:rPr lang="ru-RU" dirty="0"/>
              <a:t> должен иметь размер не менее шести байтов.</a:t>
            </a:r>
          </a:p>
          <a:p>
            <a:endParaRPr lang="ru-RU" dirty="0"/>
          </a:p>
          <a:p>
            <a:r>
              <a:rPr lang="ru-RU" dirty="0"/>
              <a:t>Во втором случае применяется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strncpy</a:t>
            </a:r>
            <a:r>
              <a:rPr lang="ru-RU" dirty="0"/>
              <a:t>. Она копирует не более указанного количества символов. Если размер буфера равен размеру строки вместе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копирование будет корректным. Однако стандарт не гарантирует автоматическую запись нулевого символа, если исходная строка имеет длину, равную или превышающую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. Поэтому в примере дополнительно выполняется явная установка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dest2[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(dest2) - 1] = '\0';</a:t>
            </a:r>
            <a:r>
              <a:rPr lang="ru-RU" dirty="0"/>
              <a:t>.</a:t>
            </a:r>
          </a:p>
          <a:p>
            <a:r>
              <a:rPr lang="ru-RU" dirty="0"/>
              <a:t>Данный пример подчёркивает два важных аспекта: во-первых, необходимость учитывать длину строки при выделении памяти, а во-вторых, особенности поведения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strncpy</a:t>
            </a:r>
            <a:r>
              <a:rPr lang="ru-RU" dirty="0"/>
              <a:t>, которые требуют дополнительной осторожности при использовании.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81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данном примере показано различие между функциями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strcmp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strncmp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strcmp</a:t>
            </a:r>
            <a:r>
              <a:rPr lang="ru-RU" dirty="0"/>
              <a:t> выполняет полное лексикографическое сравнение строк. При сравнении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ru-RU" dirty="0"/>
              <a:t> различие возникает на третьем символе: в строке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'p'</a:t>
            </a:r>
            <a:r>
              <a:rPr lang="ru-RU" dirty="0"/>
              <a:t>, а в строке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apricot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'r'</a:t>
            </a:r>
            <a:r>
              <a:rPr lang="ru-RU" dirty="0"/>
              <a:t>. Поскольку код символа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'p'</a:t>
            </a:r>
            <a:r>
              <a:rPr lang="ru-RU" dirty="0"/>
              <a:t> меньше кода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'r'</a:t>
            </a:r>
            <a:r>
              <a:rPr lang="ru-RU" dirty="0"/>
              <a:t>, результат будет отрицательным. При сравнении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s3</a:t>
            </a:r>
            <a:r>
              <a:rPr lang="ru-RU" dirty="0"/>
              <a:t> строки полностью совпадают, поэтому возвращается 0.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strncmp</a:t>
            </a:r>
            <a:r>
              <a:rPr lang="ru-RU" dirty="0"/>
              <a:t> сравнивает не более указанного числа символов. В данном случае сравниваются только первые два символа строк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s2</a:t>
            </a:r>
            <a:r>
              <a:rPr lang="ru-RU" dirty="0"/>
              <a:t>. Поскольку первые два символа в обеих строках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, функция возвращает 0, несмотря на различие в последующих позициях.</a:t>
            </a:r>
          </a:p>
          <a:p>
            <a:endParaRPr lang="ru-RU" dirty="0"/>
          </a:p>
          <a:p>
            <a:r>
              <a:rPr lang="ru-RU" dirty="0"/>
              <a:t>Следует подчеркнуть, что возвращаемое значение не ограничивается числами −1, 0 и 1. Это разность кодов первых различающихся символов после стандартных целочисленных преобразований.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strncmp</a:t>
            </a:r>
            <a:r>
              <a:rPr lang="ru-RU" dirty="0"/>
              <a:t> позволяет ограничить область сравнения, что особенно полезно при анализе префиксов строк.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31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данном примере демонстрируется работа функций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strcat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strncat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strcat</a:t>
            </a:r>
            <a:r>
              <a:rPr lang="ru-RU" dirty="0"/>
              <a:t> выполняет конкатенацию строк, то есть дописывает 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 в конец 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dirty="0"/>
              <a:t>. Перед началом копирования она находит нулевой символ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dirty="0"/>
              <a:t>, после чего начинает перенос символов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, включая завершающий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В результате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s1</a:t>
            </a:r>
            <a:r>
              <a:rPr lang="ru-RU" dirty="0"/>
              <a:t> превращается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 World"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понимать, что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</a:t>
            </a:r>
            <a:r>
              <a:rPr lang="ru-RU" dirty="0"/>
              <a:t> должен иметь достаточный размер для размещения исходной строки, добавляемой строки и завершающего нулевого символа. Проверка переполнения автоматически не выполняется.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strncat</a:t>
            </a:r>
            <a:r>
              <a:rPr lang="ru-RU" dirty="0"/>
              <a:t> работает аналогично, но дописывает не более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символов из 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. В примере к строке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"Number: "</a:t>
            </a:r>
            <a:r>
              <a:rPr lang="ru-RU" dirty="0"/>
              <a:t> добавляются только первые три символа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"12345"</a:t>
            </a:r>
            <a:r>
              <a:rPr lang="ru-RU" dirty="0"/>
              <a:t>, поэтому результатом будет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"Number: 123"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Следует отметить,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strncat</a:t>
            </a:r>
            <a:r>
              <a:rPr lang="ru-RU" dirty="0"/>
              <a:t> также добавляет завершающий нулевой символ после копирования. Однако ограничение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относится только к количеству символов, переносимых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, а не к общему размеру буфера назначения. Поэтому корректный расчёт свободного места остаётся обязанностью программиста.</a:t>
            </a:r>
          </a:p>
          <a:p>
            <a:endParaRPr lang="ru-RU" dirty="0"/>
          </a:p>
          <a:p>
            <a:r>
              <a:rPr lang="ru-RU" dirty="0"/>
              <a:t>Таким образом, функции конкатенации работают путём поиска конца строки назначения и последовательного копирования символов из второй строки.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25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настоящего момента во всех примерах использовались массивы фиксированного размера. Это удобно в учебных задачах, но в реальных программах длина строки часто заранее неизвестна.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выбрать слишком маленький буфер, возникает переполнение, которое приводит к неопределённому поведению. Если выбрать слишком большой — память используется неэффективно.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Следовательно, при работе со строками произвольной длины требуется динамическое управление памятью. Это означает, что память выделяется во время выполнения программы и при необходимости может быть увеличена.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важно подчеркнуть, что сама модель строки не меняется. Это по-прежнему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завершающийся нулевым символом. Изменяется только способ управления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56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данном слайде показан базовый пример динамического выделения памяти.</a:t>
            </a:r>
          </a:p>
          <a:p>
            <a:r>
              <a:rPr lang="ru-RU" dirty="0"/>
              <a:t>В начале подключаются заголовочные файлы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Именно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объявлены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.</a:t>
            </a:r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создаётся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dirty="0"/>
              <a:t>. Затем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(1000)</a:t>
            </a:r>
            <a:r>
              <a:rPr lang="ru-RU" dirty="0"/>
              <a:t>. Это означает, что во время выполнения программы в куче выделяется 1000 байтов памяти.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возвращает адрес первого байта выделенного блока, и этот адрес сохраняется в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dirty="0"/>
              <a:t>.</a:t>
            </a:r>
          </a:p>
          <a:p>
            <a:r>
              <a:rPr lang="ru-RU" dirty="0"/>
              <a:t>Важно понимать, что сама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dirty="0"/>
              <a:t> располагается в стеке, а память, на которую она указывает, — в куче. На схеме справа это показано явно: указатель находится в стеке, а выделенный блок — в области кучи. Указатель просто хранит адрес.</a:t>
            </a:r>
          </a:p>
          <a:p>
            <a:r>
              <a:rPr lang="ru-RU" dirty="0"/>
              <a:t>Далее выполняется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 = 42;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 = 123;</a:t>
            </a:r>
            <a:r>
              <a:rPr lang="ru-RU" dirty="0"/>
              <a:t>. Это обычная работа с массивом байтов.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[i]</a:t>
            </a:r>
            <a:r>
              <a:rPr lang="ru-RU" dirty="0"/>
              <a:t> эквивалентно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i)</a:t>
            </a:r>
            <a:r>
              <a:rPr lang="ru-RU" dirty="0"/>
              <a:t>. Таким образом, динамически выделенная память используется так же, как обычный массив.</a:t>
            </a:r>
          </a:p>
          <a:p>
            <a:r>
              <a:rPr lang="ru-RU" dirty="0"/>
              <a:t>После завершения работы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r>
              <a:rPr lang="ru-RU" dirty="0"/>
              <a:t>. Эта функция освобождает ранее выделенный блок памяти. Если не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, возникнет утечка памяти, поскольку система не освободит этот участок автоматически до завершения процесса.</a:t>
            </a:r>
          </a:p>
          <a:p>
            <a:r>
              <a:rPr lang="ru-RU" dirty="0"/>
              <a:t>Ключевая идея слайда заключается в следующем: динамическая память — это просто область оперативной памяти, выделенная во время выполнения программы. Указатель хранит адрес этой области, а дальнейшая работа с ней ничем не отличается от работы со статическим массивом.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134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данном примере показан базовый способ работы со строкой произвольной длины.</a:t>
            </a:r>
          </a:p>
          <a:p>
            <a:r>
              <a:rPr lang="ru-RU" dirty="0"/>
              <a:t>Сначала определяется длина строки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strlen</a:t>
            </a:r>
            <a:r>
              <a:rPr lang="ru-RU" dirty="0"/>
              <a:t>. Далее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для выделения памяти объёмом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+ 1</a:t>
            </a:r>
            <a:r>
              <a:rPr lang="ru-RU" dirty="0"/>
              <a:t> байтов. Дополнительный байт необходим для размещения нулевого завершающего символа.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возвращает указатель на выделенную область памяти. Если память выделить не удалось, возвращается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что необходимо проверять.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выделения памяти выполняется копирование строки функцией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strcpy</a:t>
            </a:r>
            <a:r>
              <a:rPr lang="ru-RU" dirty="0"/>
              <a:t>. Затем строка используется обычным образом.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завершении работы память должна быть освобождена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. Невыполнение этого требования приводит к утечкам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работа со строками произвольной длины требует явного управления памятью, но при этом сохраняется базовая модель строки как массива байтов с завершающим нулём.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032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данном примере чтение строки произвольной длины вынесено в отдельную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ReadString</a:t>
            </a:r>
            <a:r>
              <a:rPr lang="ru-RU" dirty="0"/>
              <a:t>. Функция возвращает указатель на динамически выделенную строку либо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 в случае ошибки.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Алгоритм работы аналогичен ранее рассмотренному примеру. Чтение выполняется посимвольно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getchar</a:t>
            </a:r>
            <a:r>
              <a:rPr lang="ru-RU" dirty="0"/>
              <a:t>. После каждого считанного символа выполняется перераспределение памяти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ru-RU" dirty="0"/>
              <a:t>, увеличивая буфер на один байт.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Ключевым моментом является использование временного указателя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ru-RU" dirty="0"/>
              <a:t>.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ru-RU" dirty="0"/>
              <a:t> завершится неудачно и вернёт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необходимо освободить уже выделенную память и вернуть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. Это предотвращает утечку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завершения ввода дополнительно выделяется один байт для размещения нулевого символа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который завершает строку в формате C.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не освобождает память самостоятельно, поскольку возвращает указатель вызывающей стороне. Следовательно, ответственность за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 лежит на коде, который использует результат функции.</a:t>
            </a:r>
          </a:p>
          <a:p>
            <a:r>
              <a:rPr lang="ru-RU" dirty="0"/>
              <a:t>Данный пример демонстрирует стандартный шаблон безопасной работы с динамически изменяемыми строками в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8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7780-C43D-773B-F652-9EBA2EF1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A9CF3-970A-C035-CA8C-500A28980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C72CF-D410-2F24-71BA-44EC9FBE7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данном варианте при любой ошибке выделения памяти выполняется переход к метке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. В этом месте сосредоточена очистка ресурсов и возврат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.</a:t>
            </a:r>
          </a:p>
          <a:p>
            <a:r>
              <a:rPr lang="ru-RU" dirty="0"/>
              <a:t>Такой подход: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устраняет повторяющийся код освобождения памяти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упрощает структуру функции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делает обработку ошибок централизованной</a:t>
            </a:r>
          </a:p>
          <a:p>
            <a:r>
              <a:rPr lang="ru-RU" dirty="0"/>
              <a:t>Следует подчеркнуть, что подобное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считается корректным и распространённым в языке C, особенно в функциях, где требуется аккуратное освобождение нескольких ресурсов. Это пример дисциплинированного и структурированного применения оператора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21BB9-4CCA-3A45-05CE-29230764B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23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Динамическое выделение памяти применяется не только для строк. Аналогичным образом можно создавать массивы любого типа во время выполнения программы.</a:t>
            </a:r>
          </a:p>
          <a:p>
            <a:r>
              <a:rPr lang="ru-RU" dirty="0"/>
              <a:t>Общая форма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 для массива имеет вид: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</a:t>
            </a:r>
            <a:r>
              <a:rPr lang="ru-RU" dirty="0"/>
              <a:t>, где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— количество элементов,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размер одного элемента в байтах. Произведение этих величин даёт общий объём памяти, необходимый для размещения массива.</a:t>
            </a:r>
          </a:p>
          <a:p>
            <a:endParaRPr lang="ru-RU" dirty="0"/>
          </a:p>
          <a:p>
            <a:r>
              <a:rPr lang="ru-RU" dirty="0"/>
              <a:t>Например,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</a:t>
            </a:r>
            <a:r>
              <a:rPr lang="ru-RU" dirty="0"/>
              <a:t> выделяет память под массив из ста элементов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Важно использовать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, а не фиксированное число байтов, поскольку размер типа может отличаться на разных платформах.</a:t>
            </a:r>
          </a:p>
          <a:p>
            <a:endParaRPr lang="ru-RU" dirty="0"/>
          </a:p>
          <a:p>
            <a:r>
              <a:rPr lang="ru-RU" dirty="0"/>
              <a:t>Размер массива может определяться во время выполнения программы, что невозможно при использовании статических массивов.</a:t>
            </a:r>
          </a:p>
          <a:p>
            <a:r>
              <a:rPr lang="ru-RU" dirty="0"/>
              <a:t>После завершения работы с динамически выделенной памятью необходимо освободить её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. Также обязательно проверять результат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, поскольку при нехватке памяти функция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динамическое выделение памяти позволяет создавать массивы произвольного размера для любых типов данных, сохраняя общую модель работы с памятью как с последовательностью байтов.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38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считывается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, которое определяет размер массива.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dirty="0"/>
              <a:t> используется для представления количества элементов, поскольку он предназначен для хранения размеров объектов.</a:t>
            </a:r>
          </a:p>
          <a:p>
            <a:endParaRPr lang="ru-RU" dirty="0"/>
          </a:p>
          <a:p>
            <a:r>
              <a:rPr lang="ru-RU" dirty="0"/>
              <a:t>Далее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</a:t>
            </a:r>
            <a:r>
              <a:rPr lang="ru-RU" dirty="0"/>
              <a:t>. Произведение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вычисляет общее количество байтов, необходимое для размещения массива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элементов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Возвращаемое значение проверяется на равенство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что позволяет корректно обработать возможную ошибку выделения памяти.</a:t>
            </a:r>
          </a:p>
          <a:p>
            <a:endParaRPr lang="ru-RU" dirty="0"/>
          </a:p>
          <a:p>
            <a:r>
              <a:rPr lang="ru-RU" dirty="0"/>
              <a:t>Затем в цикле считываются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целых чисел и сохраняются в массиве. При ошибке ввода память освобождается перед завершением программы.</a:t>
            </a:r>
          </a:p>
          <a:p>
            <a:endParaRPr lang="ru-RU" dirty="0"/>
          </a:p>
          <a:p>
            <a:r>
              <a:rPr lang="ru-RU" dirty="0"/>
              <a:t>После использования массива вызывается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, которая освобождает ранее выделенную память.</a:t>
            </a:r>
          </a:p>
          <a:p>
            <a:r>
              <a:rPr lang="ru-RU" dirty="0"/>
              <a:t>Данный пример демонстрирует стандартный шаблон работы с динамически выделяемыми массивами произвольного размера.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94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данной лекции мы объединили несколько фундаментальных понятий. Прежде всего был рассмотрен одномерный массив как непрерывная область памяти. Это базовая модель хранения данных в языке C.</a:t>
            </a:r>
          </a:p>
          <a:p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играет особую роль, поскольку именно через него измеряется память. По определению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== 1</a:t>
            </a:r>
            <a:r>
              <a:rPr lang="ru-RU" dirty="0"/>
              <a:t>, и размеры всех остальных типов выражаются в этих единицах.</a:t>
            </a:r>
          </a:p>
          <a:p>
            <a:endParaRPr lang="ru-RU" dirty="0"/>
          </a:p>
          <a:p>
            <a:r>
              <a:rPr lang="ru-RU" dirty="0"/>
              <a:t>Строка в языке C представляет собой частный случай одномерного массива — это массив символов, завершающийся нулевым байтом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Длина строки не хранится явно, а определяется последовательным просмотром памяти.</a:t>
            </a:r>
          </a:p>
          <a:p>
            <a:r>
              <a:rPr lang="ru-RU" dirty="0"/>
              <a:t>Была показана связь между массивами и указателями: имя массива в выражениях интерпретируется как адрес первого элемента, а функции стандартной библиотеки получают именно адрес начала строки.</a:t>
            </a:r>
          </a:p>
          <a:p>
            <a:endParaRPr lang="ru-RU" dirty="0"/>
          </a:p>
          <a:p>
            <a:r>
              <a:rPr lang="ru-RU" dirty="0"/>
              <a:t>Также рассмотрены основные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, реализующие типовые операции над строками, и продемонстрировано динамическое выделение памяти для массивов и строк произвольного размера.</a:t>
            </a:r>
          </a:p>
          <a:p>
            <a:r>
              <a:rPr lang="ru-RU" dirty="0"/>
              <a:t>Таким образом, строки естественным образом вписываются в общую модель курса: язык C предоставляет синтаксис, за которым стоят адреса, байты и машинные операции. Работа со строками — это частный случай работы с массивами и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A46E3-A062-4F85-8E8F-D4EACE1D22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60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703A-F223-A0F1-3A04-8FC9D50CA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6726F-A95E-A275-86B4-1673BC59A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9F5FE-6D79-C5D9-A0E1-00D4A3F0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8126-11F0-42F1-B2AD-BCB361797751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FDFC3-CDE2-0BB1-9315-2D7D0665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D6785-833E-96BA-B4FA-DE02C4DB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4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5F68-BD4B-8417-138E-4A98A622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5F2F-A837-E94F-46CC-62AA29F90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83A6D-7099-2073-B84D-D91CE48E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62E5-A477-4720-A5B6-861E705CA59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8543-4CD9-C492-C0A5-953825FC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F5DE2-1512-F1B2-6970-5EA6A099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C208-4D96-1E4B-37A7-96DDD08E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BD677-F63E-7605-C0E8-8DAC265B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9A3E7-0866-CA99-6FE6-ED8313BC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B681-9E76-4503-92B2-6085A3FBB20C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734AC-18A9-A8C5-A688-BDA2E6F5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4C377-0CE6-3FB1-F007-010E2D4A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A9DF-F1BB-960D-420C-0A82BEED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E0CBC-A99F-CFDC-4DA1-E7C0FA0B5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62E9E-BF42-06F3-B1EA-E26014D36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13B4A-42EB-95A9-0C06-B631F048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E56F-41EF-4004-8A84-CA098826154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CE116-42B6-F134-6AE4-9749F8A4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6C86E-A41B-3703-EF39-C2D05BC0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D751-3255-6759-FB91-AF97FAC9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6663C-808D-1471-3D25-0AB7119E5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22ECB-27AB-7DA6-9E3E-5D7F5668E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460-9AC8-01E9-1EF6-24403D4B1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7A21D-BEBE-7CEA-3BA5-04535D5C53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8364D-A010-BE56-C84B-4166CD6A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38C8-72C1-4656-A61F-6B1A26C52FFD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4C3F0-3876-D191-0C31-1C9B3090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E7FF4-6C09-14A5-B3D1-C5C448EF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6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0213-E1DA-0F24-E6BA-A5022738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AF84B-6164-978E-3BC6-6D81467D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0441C-BE82-4239-8A52-C467F35B73F0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23E2E-9950-8EC0-BE26-7E1D36F5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9DEAD-295F-9999-1937-11665ADF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0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CD6B0-5D30-F555-94E3-9056BFF4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077B-694A-4126-B19F-30B1D6B48D50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C6DD3-FB6C-2310-5B42-BDEB5A67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25CE1-B706-90B3-792D-9750ADB1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8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010E-E4C8-C396-DFD3-422E2E40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9DEF-5FA5-7EB2-A444-F452D25C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F22EC-C78A-8455-886A-9A5363FAD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44809-F989-133B-8139-38771536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8933B-7571-4724-81C2-BE48EF44F308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27EEF-07F9-EB5A-9F68-2F0120DA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57C28-EC99-695A-934F-DC353F75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6E74-1B67-13E6-0D6C-47A7E399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EE396-226D-80D1-D685-9BC38647A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EA8EB-605D-CCA6-3DE4-B3BBF4E25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882C2-CFA1-1F74-CF6F-00515880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E61E-3E6C-41B0-A0F1-BD3B6E590911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FA199-D961-F0B4-742A-335DCF90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8A98-AA0F-11E1-9347-FEBC4D4A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3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52DC-C8DA-37F8-BD33-14361F0B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9B28B-DEDE-776B-6DAE-CD3563914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7F54-C63E-7CE0-897E-B982DDA7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2E9E6-9212-4001-A285-634ECC620462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0A34-B2E5-91E3-B37A-574B2302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09AC-32F7-4F35-E978-447409C8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5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5E080-BE83-6FA7-3F67-15CA86A2A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BD61-DDF6-53C1-6741-BAB4239D5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92B0-6965-C0A1-5F97-FDF0C225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A14F9-3CEA-491F-9D5C-49079BB88AC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421E-A412-D4C1-6446-BF1F35C6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05A68-E292-3629-3329-18D42B79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0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59B9C-406A-5EF9-26DF-19866BE9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2AD91-1D23-2F23-D517-4404A815A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3E13-836E-2170-5022-68D6ED9AE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F7731-4D22-42BA-97A8-9A0FFDBD9EC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00A05-7ECE-7326-6F61-3BBA94559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99CE-24B4-2F70-8165-BABEBA7DD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E9561-002A-41EF-B5BA-43A01A72A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3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7oKWTxn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odbolt.org/z/qxnzTz4Kd" TargetMode="External"/><Relationship Id="rId4" Type="http://schemas.openxmlformats.org/officeDocument/2006/relationships/hyperlink" Target="https://godbolt.org/z/66T8baMP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/io/fge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8xsPP79c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nr9r7ad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nr9r7ad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7ex6E6dx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Ex7YMTT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1xev9Ys5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7EqW6hhP7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5G3G3aeqx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aWEoPMfs9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AE8D-B0BA-B9A4-C6EE-F400494F4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Работа со строками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33C09-104F-1E8D-8377-FA7D014E1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1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0976-5D01-3D3E-E62D-E30C746F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хранится текст в памяти компьютера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C90B-00DA-F6AF-CC20-FE18C5175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92636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Компьютер не знает «текста». Процессор понимает только:</a:t>
            </a:r>
          </a:p>
          <a:p>
            <a:pPr lvl="1"/>
            <a:r>
              <a:rPr lang="ru-RU" dirty="0"/>
              <a:t>числа</a:t>
            </a:r>
          </a:p>
          <a:p>
            <a:pPr lvl="1"/>
            <a:r>
              <a:rPr lang="ru-RU" dirty="0"/>
              <a:t>байты</a:t>
            </a:r>
          </a:p>
          <a:p>
            <a:pPr lvl="1"/>
            <a:r>
              <a:rPr lang="ru-RU" dirty="0"/>
              <a:t>адреса памяти</a:t>
            </a:r>
          </a:p>
          <a:p>
            <a:pPr lvl="1"/>
            <a:r>
              <a:rPr lang="ru-RU" dirty="0"/>
              <a:t>инструкции</a:t>
            </a:r>
          </a:p>
          <a:p>
            <a:r>
              <a:rPr lang="ru-RU" dirty="0"/>
              <a:t>Текст – это последовательность числовых кодов символов, размещённых в памяти подряд</a:t>
            </a:r>
          </a:p>
          <a:p>
            <a:r>
              <a:rPr lang="ru-RU" dirty="0"/>
              <a:t>В </a:t>
            </a:r>
            <a:r>
              <a:rPr lang="en-US" dirty="0"/>
              <a:t>C </a:t>
            </a:r>
            <a:r>
              <a:rPr lang="ru-RU" dirty="0"/>
              <a:t>строка – это массив элементов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ru-RU" dirty="0"/>
              <a:t>, который заканчивается специальным символом </a:t>
            </a:r>
            <a:r>
              <a:rPr lang="en-US" dirty="0">
                <a:latin typeface="Consolas" panose="020B0609020204030204" pitchFamily="49" charset="0"/>
              </a:rPr>
              <a:t>\0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37A43-7123-20FA-AF14-2FB2F0D21FA3}"/>
              </a:ext>
            </a:extLst>
          </p:cNvPr>
          <p:cNvSpPr txBox="1"/>
          <p:nvPr/>
        </p:nvSpPr>
        <p:spPr>
          <a:xfrm>
            <a:off x="8379229" y="1825625"/>
            <a:ext cx="2522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7BF2C-0257-97B1-ADFC-7B36E8D59D1A}"/>
              </a:ext>
            </a:extLst>
          </p:cNvPr>
          <p:cNvSpPr/>
          <p:nvPr/>
        </p:nvSpPr>
        <p:spPr>
          <a:xfrm>
            <a:off x="8379229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A1FE5-CCBB-5C21-EFCD-A261C659D36D}"/>
              </a:ext>
            </a:extLst>
          </p:cNvPr>
          <p:cNvSpPr/>
          <p:nvPr/>
        </p:nvSpPr>
        <p:spPr>
          <a:xfrm>
            <a:off x="8861367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564E6-7F8B-4242-AFCA-83FD397FF5DD}"/>
              </a:ext>
            </a:extLst>
          </p:cNvPr>
          <p:cNvSpPr/>
          <p:nvPr/>
        </p:nvSpPr>
        <p:spPr>
          <a:xfrm>
            <a:off x="9343505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EE0A7-F016-3BB9-AE4F-26CD44BF6E50}"/>
              </a:ext>
            </a:extLst>
          </p:cNvPr>
          <p:cNvSpPr/>
          <p:nvPr/>
        </p:nvSpPr>
        <p:spPr>
          <a:xfrm>
            <a:off x="9825643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67A853-DFA5-6EFC-6892-B8A317311338}"/>
              </a:ext>
            </a:extLst>
          </p:cNvPr>
          <p:cNvSpPr/>
          <p:nvPr/>
        </p:nvSpPr>
        <p:spPr>
          <a:xfrm>
            <a:off x="10307781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A7CDC6-3B83-91CA-A226-94CE9F856B6B}"/>
              </a:ext>
            </a:extLst>
          </p:cNvPr>
          <p:cNvSpPr/>
          <p:nvPr/>
        </p:nvSpPr>
        <p:spPr>
          <a:xfrm>
            <a:off x="10789919" y="3724102"/>
            <a:ext cx="482138" cy="5652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\0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AF4DF-25EE-0567-CC4D-E1CB153A81DC}"/>
              </a:ext>
            </a:extLst>
          </p:cNvPr>
          <p:cNvSpPr txBox="1"/>
          <p:nvPr/>
        </p:nvSpPr>
        <p:spPr>
          <a:xfrm>
            <a:off x="8379229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67927-64BB-75F9-DAE6-A9AA2E439228}"/>
              </a:ext>
            </a:extLst>
          </p:cNvPr>
          <p:cNvSpPr txBox="1"/>
          <p:nvPr/>
        </p:nvSpPr>
        <p:spPr>
          <a:xfrm>
            <a:off x="8861367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B8DBAF-E72F-FE3A-0D27-BA309BD02EC0}"/>
              </a:ext>
            </a:extLst>
          </p:cNvPr>
          <p:cNvSpPr txBox="1"/>
          <p:nvPr/>
        </p:nvSpPr>
        <p:spPr>
          <a:xfrm>
            <a:off x="9343505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75AE7-4C8E-325B-A7FB-08546153443A}"/>
              </a:ext>
            </a:extLst>
          </p:cNvPr>
          <p:cNvSpPr txBox="1"/>
          <p:nvPr/>
        </p:nvSpPr>
        <p:spPr>
          <a:xfrm>
            <a:off x="9825643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D42130-DBB7-9DE0-7773-6CC2DCA7B546}"/>
              </a:ext>
            </a:extLst>
          </p:cNvPr>
          <p:cNvSpPr txBox="1"/>
          <p:nvPr/>
        </p:nvSpPr>
        <p:spPr>
          <a:xfrm>
            <a:off x="10307781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D3CCE2-9857-508D-DA60-8C1565483B23}"/>
              </a:ext>
            </a:extLst>
          </p:cNvPr>
          <p:cNvSpPr txBox="1"/>
          <p:nvPr/>
        </p:nvSpPr>
        <p:spPr>
          <a:xfrm>
            <a:off x="10789919" y="4289367"/>
            <a:ext cx="482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5E59F0-C840-CF34-5AE4-1F67AF01D399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8620298" y="2194957"/>
            <a:ext cx="1020387" cy="1529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D6CA0C8-BBB2-8BEE-D4F4-19E5D49A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DA9B-A3CD-63F4-250F-B19E8021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</a:t>
            </a:r>
            <a:r>
              <a:rPr lang="en-US" dirty="0"/>
              <a:t>char </a:t>
            </a:r>
            <a:r>
              <a:rPr lang="ru-RU" dirty="0"/>
              <a:t>и память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58FD-0F7B-E911-2DF0-49E9671E1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char – </a:t>
            </a:r>
            <a:r>
              <a:rPr lang="ru-RU" dirty="0"/>
              <a:t>минимальная адресуемая единица памяти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c = 'A';</a:t>
            </a:r>
          </a:p>
          <a:p>
            <a:pPr lvl="1"/>
            <a:r>
              <a:rPr lang="en-US" dirty="0"/>
              <a:t>char </a:t>
            </a:r>
            <a:r>
              <a:rPr lang="ru-RU" dirty="0"/>
              <a:t>занимает 1 байт</a:t>
            </a:r>
          </a:p>
          <a:p>
            <a:pPr lvl="1"/>
            <a:r>
              <a:rPr lang="ru-RU" dirty="0"/>
              <a:t>1 байт = 8 бит</a:t>
            </a:r>
          </a:p>
          <a:p>
            <a:pPr lvl="1"/>
            <a:r>
              <a:rPr lang="ru-RU" dirty="0"/>
              <a:t>хранит число, а не символ</a:t>
            </a:r>
          </a:p>
          <a:p>
            <a:r>
              <a:rPr lang="ru-RU" dirty="0"/>
              <a:t>Символ – это числовой код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("%d\n", 'A');</a:t>
            </a:r>
            <a:r>
              <a:rPr lang="en-US" dirty="0"/>
              <a:t> // 65</a:t>
            </a:r>
          </a:p>
          <a:p>
            <a:r>
              <a:rPr lang="en-US" dirty="0" err="1"/>
              <a:t>sizeof</a:t>
            </a:r>
            <a:r>
              <a:rPr lang="en-US" dirty="0"/>
              <a:t>(char) == 1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/>
              <a:t> </a:t>
            </a:r>
            <a:r>
              <a:rPr lang="ru-RU" dirty="0"/>
              <a:t>возвращает размер в байтах. 1 байт по определению равен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(char)</a:t>
            </a:r>
          </a:p>
          <a:p>
            <a:pPr lvl="1"/>
            <a:r>
              <a:rPr lang="ru-RU" dirty="0"/>
              <a:t>Размер любого типа измеряется в </a:t>
            </a:r>
            <a:r>
              <a:rPr lang="en-US" dirty="0">
                <a:latin typeface="Consolas" panose="020B0609020204030204" pitchFamily="49" charset="0"/>
              </a:rPr>
              <a:t>char</a:t>
            </a:r>
          </a:p>
          <a:p>
            <a:r>
              <a:rPr lang="ru-RU" dirty="0"/>
              <a:t>Вся память компьютера измеряется в байтах, а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– </a:t>
            </a:r>
            <a:r>
              <a:rPr lang="ru-RU" dirty="0"/>
              <a:t>это тип, соответствующий одному байту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E42D3-B130-FB9F-8099-F9EDFDC3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1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Символьные константы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Символьная константа — символ в одиночных кавычках</a:t>
            </a:r>
            <a:r>
              <a:rPr lang="en-US" dirty="0"/>
              <a:t>: </a:t>
            </a:r>
            <a:r>
              <a:rPr lang="ru-RU" dirty="0"/>
              <a:t>'A', '1', </a:t>
            </a:r>
            <a:r>
              <a:rPr lang="en-US" dirty="0"/>
              <a:t>'</a:t>
            </a:r>
            <a:r>
              <a:rPr lang="ru-RU" dirty="0"/>
              <a:t>+</a:t>
            </a:r>
            <a:r>
              <a:rPr lang="en-US" dirty="0"/>
              <a:t>', '\0’</a:t>
            </a:r>
            <a:endParaRPr lang="ru-RU" dirty="0"/>
          </a:p>
          <a:p>
            <a:pPr lvl="1"/>
            <a:r>
              <a:rPr lang="ru-RU" dirty="0"/>
              <a:t>Она представляет </a:t>
            </a:r>
            <a:r>
              <a:rPr lang="ru-RU" b="1" dirty="0"/>
              <a:t>целое число</a:t>
            </a:r>
            <a:r>
              <a:rPr lang="ru-RU" dirty="0"/>
              <a:t> — код символа в используемой кодировке</a:t>
            </a:r>
            <a:br>
              <a:rPr lang="ru-RU" dirty="0"/>
            </a:br>
            <a:r>
              <a:rPr lang="ru-RU" dirty="0"/>
              <a:t>(например, ASCII)</a:t>
            </a:r>
          </a:p>
          <a:p>
            <a:r>
              <a:rPr lang="ru-RU" dirty="0"/>
              <a:t>Это именно число:</a:t>
            </a:r>
            <a:endParaRPr lang="en-US" dirty="0"/>
          </a:p>
          <a:p>
            <a:pPr lvl="1"/>
            <a:r>
              <a:rPr lang="en-US" dirty="0"/>
              <a:t>'A' == 65</a:t>
            </a:r>
          </a:p>
          <a:p>
            <a:pPr lvl="1"/>
            <a:r>
              <a:rPr lang="en-US" dirty="0"/>
              <a:t>'0' == 48</a:t>
            </a:r>
            <a:endParaRPr lang="ru-RU" dirty="0"/>
          </a:p>
          <a:p>
            <a:r>
              <a:rPr lang="ru-RU" b="1" dirty="0"/>
              <a:t>Escape-последовательности</a:t>
            </a:r>
            <a:r>
              <a:rPr lang="en-US" dirty="0"/>
              <a:t> </a:t>
            </a:r>
            <a:r>
              <a:rPr lang="ru-RU" dirty="0"/>
              <a:t>записываются с \, но обозначают </a:t>
            </a:r>
            <a:r>
              <a:rPr lang="ru-RU" b="1" dirty="0"/>
              <a:t>один символ</a:t>
            </a:r>
            <a:endParaRPr lang="ru-RU" dirty="0"/>
          </a:p>
          <a:p>
            <a:pPr lvl="2"/>
            <a:r>
              <a:rPr lang="ru-RU" dirty="0"/>
              <a:t>'\n' — перевод строки</a:t>
            </a:r>
          </a:p>
          <a:p>
            <a:pPr lvl="2"/>
            <a:r>
              <a:rPr lang="ru-RU" dirty="0"/>
              <a:t>'\0' — нулевой символ (код 0)</a:t>
            </a:r>
          </a:p>
          <a:p>
            <a:pPr lvl="2"/>
            <a:r>
              <a:rPr lang="ru-RU" dirty="0"/>
              <a:t>'\'' — одиночная кавычка</a:t>
            </a:r>
          </a:p>
          <a:p>
            <a:pPr lvl="2"/>
            <a:r>
              <a:rPr lang="ru-RU" dirty="0"/>
              <a:t>'\\' — обратный слеш</a:t>
            </a:r>
          </a:p>
          <a:p>
            <a:r>
              <a:rPr lang="ru-RU" b="1" dirty="0"/>
              <a:t>Явное задание кода символа</a:t>
            </a:r>
            <a:endParaRPr lang="ru-RU" dirty="0"/>
          </a:p>
          <a:p>
            <a:pPr lvl="1"/>
            <a:r>
              <a:rPr lang="ru-RU" dirty="0"/>
              <a:t>Восьмеричный код: '\</a:t>
            </a:r>
            <a:r>
              <a:rPr lang="ru-RU" dirty="0" err="1"/>
              <a:t>ooo</a:t>
            </a:r>
            <a:r>
              <a:rPr lang="ru-RU" dirty="0"/>
              <a:t>' (0…7)</a:t>
            </a:r>
          </a:p>
          <a:p>
            <a:pPr lvl="1"/>
            <a:r>
              <a:rPr lang="ru-RU" dirty="0"/>
              <a:t>Шестнадцатеричный код: '\</a:t>
            </a:r>
            <a:r>
              <a:rPr lang="ru-RU" dirty="0" err="1"/>
              <a:t>xhh</a:t>
            </a:r>
            <a:r>
              <a:rPr lang="ru-RU" dirty="0"/>
              <a:t>'</a:t>
            </a:r>
          </a:p>
          <a:p>
            <a:pPr lvl="1"/>
            <a:r>
              <a:rPr lang="ru-RU" dirty="0"/>
              <a:t>Примеры:</a:t>
            </a:r>
          </a:p>
          <a:p>
            <a:pPr lvl="2"/>
            <a:r>
              <a:rPr lang="ru-RU" dirty="0"/>
              <a:t>'\177' — код 127</a:t>
            </a:r>
          </a:p>
          <a:p>
            <a:pPr lvl="2"/>
            <a:r>
              <a:rPr lang="ru-RU" dirty="0"/>
              <a:t>'\</a:t>
            </a:r>
            <a:r>
              <a:rPr lang="ru-RU" dirty="0" err="1"/>
              <a:t>xff</a:t>
            </a:r>
            <a:r>
              <a:rPr lang="ru-RU" dirty="0"/>
              <a:t>' — код 255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82B29-DBDF-40E6-247B-5C594C13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42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DB778-16C7-ABE5-F804-B27AFD90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Строка как массив </a:t>
            </a:r>
            <a:r>
              <a:rPr lang="en-US" dirty="0">
                <a:latin typeface="Consolas" panose="020B0609020204030204" pitchFamily="49" charset="0"/>
              </a:rPr>
              <a:t>char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658B-FE40-C260-26E7-415741C2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языке </a:t>
            </a:r>
            <a:r>
              <a:rPr lang="en-US" dirty="0"/>
              <a:t>C </a:t>
            </a:r>
            <a:r>
              <a:rPr lang="ru-RU" dirty="0"/>
              <a:t>нет отдельного типа «строка». Строка – это массив символов:</a:t>
            </a:r>
          </a:p>
          <a:p>
            <a:pPr lvl="1"/>
            <a:r>
              <a:rPr lang="it-I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it-IT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it-IT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/>
          </a:p>
          <a:p>
            <a:r>
              <a:rPr lang="ru-RU" dirty="0"/>
              <a:t>Специальный завершающий символ</a:t>
            </a:r>
          </a:p>
          <a:p>
            <a:pPr lvl="1"/>
            <a:r>
              <a:rPr lang="ru-RU" dirty="0"/>
              <a:t>Строка обязательно заканчивается нулевым символом: </a:t>
            </a:r>
            <a:r>
              <a:rPr lang="en-US" dirty="0">
                <a:latin typeface="Consolas" panose="020B0609020204030204" pitchFamily="49" charset="0"/>
              </a:rPr>
              <a:t>\0</a:t>
            </a:r>
          </a:p>
          <a:p>
            <a:r>
              <a:rPr lang="ru-RU" dirty="0"/>
              <a:t>Сокращённая запись:</a:t>
            </a:r>
            <a:endParaRPr lang="en-US" dirty="0"/>
          </a:p>
          <a:p>
            <a:pPr lvl="1"/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ru-RU" dirty="0"/>
              <a:t>Компилятор автоматически добавляет '\0'.</a:t>
            </a:r>
          </a:p>
          <a:p>
            <a:pPr lvl="1"/>
            <a:r>
              <a:rPr lang="ru-RU" dirty="0"/>
              <a:t>Фактически создаётся массив из 6 элементов:</a:t>
            </a:r>
          </a:p>
          <a:p>
            <a:r>
              <a:rPr lang="ru-RU" dirty="0"/>
              <a:t>Строка — это последовательность байтов в памяти,</a:t>
            </a:r>
            <a:br>
              <a:rPr lang="ru-RU" dirty="0"/>
            </a:br>
            <a:r>
              <a:rPr lang="ru-RU" dirty="0"/>
              <a:t>а конец определяется значением 0, а не размером массива.</a:t>
            </a:r>
          </a:p>
          <a:p>
            <a:pPr lvl="1"/>
            <a:endParaRPr lang="ru-R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35EBD9-1945-001A-E286-A958D329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2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83AB-9E71-EA66-0B6D-16D96BB7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нужен </a:t>
            </a:r>
            <a:r>
              <a:rPr lang="en-US" dirty="0">
                <a:latin typeface="Consolas" panose="020B0609020204030204" pitchFamily="49" charset="0"/>
              </a:rPr>
              <a:t>'\0'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6A96-3C46-6114-FD4B-895892573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У строки нет встроенной длины</a:t>
            </a:r>
          </a:p>
          <a:p>
            <a:pPr lvl="1"/>
            <a:r>
              <a:rPr lang="ru-RU" dirty="0"/>
              <a:t>В массиве </a:t>
            </a:r>
            <a:r>
              <a:rPr lang="en-US" dirty="0"/>
              <a:t>char</a:t>
            </a:r>
            <a:r>
              <a:rPr lang="ru-RU" dirty="0"/>
              <a:t> хранится только последовательность байтов. Информация о длине строки отдельно не сохраняется</a:t>
            </a:r>
          </a:p>
          <a:p>
            <a:r>
              <a:rPr lang="ru-RU" dirty="0"/>
              <a:t>Функции работы со строками понимают, где конец, по специальному символу.</a:t>
            </a:r>
          </a:p>
          <a:p>
            <a:r>
              <a:rPr lang="ru-RU" dirty="0"/>
              <a:t>Если </a:t>
            </a:r>
            <a:r>
              <a:rPr lang="en-US" dirty="0">
                <a:latin typeface="Consolas" panose="020B0609020204030204" pitchFamily="49" charset="0"/>
              </a:rPr>
              <a:t>'\0'</a:t>
            </a:r>
            <a:r>
              <a:rPr lang="en-US" dirty="0"/>
              <a:t> </a:t>
            </a:r>
            <a:r>
              <a:rPr lang="ru-RU" dirty="0"/>
              <a:t>нет, функция продолжит читать память дальше, пока случайно не встретит 0.</a:t>
            </a:r>
          </a:p>
          <a:p>
            <a:pPr lvl="1"/>
            <a:r>
              <a:rPr lang="ru-RU" dirty="0"/>
              <a:t>Это неопределённое поведение</a:t>
            </a:r>
          </a:p>
          <a:p>
            <a:r>
              <a:rPr lang="ru-RU" b="1" dirty="0"/>
              <a:t>Ключевая идея</a:t>
            </a:r>
          </a:p>
          <a:p>
            <a:pPr lvl="1"/>
            <a:r>
              <a:rPr lang="ru-RU" dirty="0"/>
              <a:t>'\0' — это соглашение о конце строки. Без него строка не существует как строка.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682A9-C310-8A1C-310B-E5E35D0D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BE6C-D4BF-DBB9-0A33-2C7DCE70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Упрощённая реализация</a:t>
            </a:r>
            <a:r>
              <a:rPr lang="en-US" dirty="0"/>
              <a:t> puts</a:t>
            </a:r>
            <a:r>
              <a:rPr lang="ru-RU" dirty="0"/>
              <a:t> через </a:t>
            </a:r>
            <a:r>
              <a:rPr lang="en-US" dirty="0" err="1"/>
              <a:t>putchar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F0FD8-FCCD-D316-6121-4EBB12280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Принцип работы</a:t>
            </a:r>
          </a:p>
          <a:p>
            <a:pPr lvl="1"/>
            <a:r>
              <a:rPr lang="ru-RU" dirty="0"/>
              <a:t>В функцию передаётся адрес первого символа строки.</a:t>
            </a:r>
          </a:p>
          <a:p>
            <a:pPr lvl="1"/>
            <a:r>
              <a:rPr lang="ru-RU" dirty="0"/>
              <a:t>Последовательно считываются элементы массива </a:t>
            </a:r>
            <a:r>
              <a:rPr lang="ru-RU" dirty="0" err="1"/>
              <a:t>char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Вывод продолжается до встречи символа '\0'.</a:t>
            </a:r>
          </a:p>
          <a:p>
            <a:pPr lvl="1"/>
            <a:r>
              <a:rPr lang="ru-RU" dirty="0"/>
              <a:t>После завершения добавляется перевод строки.</a:t>
            </a:r>
          </a:p>
          <a:p>
            <a:r>
              <a:rPr lang="ru-RU" b="1" dirty="0"/>
              <a:t>Существенное замечание</a:t>
            </a:r>
          </a:p>
          <a:p>
            <a:pPr lvl="1"/>
            <a:r>
              <a:rPr lang="ru-RU" dirty="0"/>
              <a:t>Функция не знает размер массива. Окончание вывода определяется исключительно символом '\0'.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743D-B60C-BF03-1079-89D0F26055FA}"/>
              </a:ext>
            </a:extLst>
          </p:cNvPr>
          <p:cNvSpPr txBox="1"/>
          <p:nvPr/>
        </p:nvSpPr>
        <p:spPr>
          <a:xfrm>
            <a:off x="6338455" y="1805825"/>
            <a:ext cx="60932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MyPuts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9637C-17DC-6D73-A64B-32D58910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1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C93C-FA27-0D26-5C82-245D352A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 err="1"/>
              <a:t>my_strlen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E349-F85D-2B0D-F7BE-40D2D4AF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Принцип работы</a:t>
            </a:r>
          </a:p>
          <a:p>
            <a:pPr lvl="1"/>
            <a:r>
              <a:rPr lang="ru-RU" dirty="0"/>
              <a:t>Счётчик </a:t>
            </a:r>
            <a:r>
              <a:rPr lang="ru-RU" dirty="0" err="1">
                <a:latin typeface="Consolas" panose="020B0609020204030204" pitchFamily="49" charset="0"/>
              </a:rPr>
              <a:t>len</a:t>
            </a:r>
            <a:r>
              <a:rPr lang="ru-RU" dirty="0"/>
              <a:t> увеличивается, пока не встретится '\0'.</a:t>
            </a:r>
          </a:p>
          <a:p>
            <a:pPr lvl="1"/>
            <a:r>
              <a:rPr lang="ru-RU" dirty="0"/>
              <a:t>Нулевой символ в длину строки не включается.</a:t>
            </a:r>
          </a:p>
          <a:p>
            <a:pPr lvl="1"/>
            <a:r>
              <a:rPr lang="ru-RU" dirty="0"/>
              <a:t>Возвращаемое значение — количество символов до конца строки.</a:t>
            </a:r>
            <a:endParaRPr lang="en-US" dirty="0"/>
          </a:p>
          <a:p>
            <a:r>
              <a:rPr lang="ru-RU" b="1" dirty="0"/>
              <a:t>Замечание</a:t>
            </a:r>
          </a:p>
          <a:p>
            <a:pPr lvl="1"/>
            <a:r>
              <a:rPr lang="ru-RU" dirty="0"/>
              <a:t>Функция предполагает корректно сформированную строку, содержащую завершающий символ '\0'.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5A67B-8031-43A4-0653-B46FEA047F65}"/>
              </a:ext>
            </a:extLst>
          </p:cNvPr>
          <p:cNvSpPr txBox="1"/>
          <p:nvPr/>
        </p:nvSpPr>
        <p:spPr>
          <a:xfrm>
            <a:off x="6096000" y="1757353"/>
            <a:ext cx="5257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stddef.h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my_strlen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E953-2E44-F2AC-F24D-68A43197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7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E9E4-CCE4-57A2-F571-E2680E6F8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строки в </a:t>
            </a:r>
            <a:r>
              <a:rPr lang="en-US" dirty="0"/>
              <a:t>C</a:t>
            </a:r>
            <a:r>
              <a:rPr lang="ru-RU" dirty="0"/>
              <a:t> завершаются </a:t>
            </a:r>
            <a:r>
              <a:rPr lang="en-US" dirty="0"/>
              <a:t>'\0'?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BBB2-25F9-6DDC-B3EA-5995BCE11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Исторические причины</a:t>
            </a:r>
          </a:p>
          <a:p>
            <a:pPr lvl="1"/>
            <a:r>
              <a:rPr lang="ru-RU" dirty="0"/>
              <a:t>Язык C (1970-е годы), ограниченные ресурсы.</a:t>
            </a:r>
          </a:p>
          <a:p>
            <a:pPr lvl="1"/>
            <a:r>
              <a:rPr lang="ru-RU" dirty="0"/>
              <a:t>Простота реализации на уровне машинных инструкций.</a:t>
            </a:r>
          </a:p>
          <a:p>
            <a:pPr lvl="1"/>
            <a:r>
              <a:rPr lang="ru-RU" dirty="0"/>
              <a:t>Строка как последовательность байтов + признак конца.</a:t>
            </a:r>
          </a:p>
          <a:p>
            <a:r>
              <a:rPr lang="ru-RU" b="1" dirty="0"/>
              <a:t>Недостатки</a:t>
            </a:r>
          </a:p>
          <a:p>
            <a:pPr lvl="1"/>
            <a:r>
              <a:rPr lang="ru-RU" dirty="0"/>
              <a:t>Длина вычисляется за O(n).</a:t>
            </a:r>
          </a:p>
          <a:p>
            <a:pPr lvl="1"/>
            <a:r>
              <a:rPr lang="ru-RU" dirty="0"/>
              <a:t>Нельзя хранить байт со значением 0 внутри строки.</a:t>
            </a:r>
          </a:p>
          <a:p>
            <a:pPr lvl="1"/>
            <a:r>
              <a:rPr lang="ru-RU" dirty="0"/>
              <a:t>Ошибка с '\0' приводит к неопределённому поведению.</a:t>
            </a:r>
          </a:p>
          <a:p>
            <a:r>
              <a:rPr lang="ru-RU" b="1" dirty="0"/>
              <a:t>Альтернатива</a:t>
            </a:r>
          </a:p>
          <a:p>
            <a:pPr lvl="1"/>
            <a:r>
              <a:rPr lang="ru-RU" dirty="0"/>
              <a:t>Структура вида:</a:t>
            </a:r>
            <a:r>
              <a:rPr lang="en-US" dirty="0"/>
              <a:t> </a:t>
            </a:r>
            <a:r>
              <a:rPr lang="ru-RU" dirty="0"/>
              <a:t>[длина][массив байтов]</a:t>
            </a:r>
          </a:p>
          <a:p>
            <a:pPr lvl="1"/>
            <a:r>
              <a:rPr lang="ru-RU" dirty="0"/>
              <a:t>Длина доступна за O(1).</a:t>
            </a:r>
          </a:p>
          <a:p>
            <a:pPr lvl="1"/>
            <a:r>
              <a:rPr lang="ru-RU" dirty="0"/>
              <a:t>Возможны любые значения байтов.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54DBA-197B-FCB4-C0B0-F918A9DE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5D22-8428-ABCF-E2D4-8B95DE96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с размером массива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2E9D2-D74A-C6BE-E98D-17C045D082DB}"/>
              </a:ext>
            </a:extLst>
          </p:cNvPr>
          <p:cNvSpPr txBox="1"/>
          <p:nvPr/>
        </p:nvSpPr>
        <p:spPr>
          <a:xfrm>
            <a:off x="838200" y="169068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https://godbolt.org/z/n7oKWTxn6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C38D5-8D0D-6336-1E67-9E9298EF481C}"/>
              </a:ext>
            </a:extLst>
          </p:cNvPr>
          <p:cNvSpPr txBox="1"/>
          <p:nvPr/>
        </p:nvSpPr>
        <p:spPr>
          <a:xfrm>
            <a:off x="838200" y="2114618"/>
            <a:ext cx="7374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Неверно задан размер строки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puts(s);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3CBC48-1FFE-E0E6-EB3A-1342CBB83943}"/>
              </a:ext>
            </a:extLst>
          </p:cNvPr>
          <p:cNvSpPr txBox="1"/>
          <p:nvPr/>
        </p:nvSpPr>
        <p:spPr>
          <a:xfrm>
            <a:off x="6096000" y="4385207"/>
            <a:ext cx="57440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либо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chars[] = "Hello";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puts(s);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24D86E-E7FC-A5E9-E2DA-C77ED7E9159D}"/>
              </a:ext>
            </a:extLst>
          </p:cNvPr>
          <p:cNvSpPr txBox="1"/>
          <p:nvPr/>
        </p:nvSpPr>
        <p:spPr>
          <a:xfrm>
            <a:off x="6096000" y="4015875"/>
            <a:ext cx="3646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https://godbolt.org/z/66T8baMPE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B16E32-8F0C-8EA0-A1D4-45BA6C30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DB28C-9908-788E-E123-46DADE03CFD8}"/>
              </a:ext>
            </a:extLst>
          </p:cNvPr>
          <p:cNvSpPr txBox="1"/>
          <p:nvPr/>
        </p:nvSpPr>
        <p:spPr>
          <a:xfrm>
            <a:off x="951809" y="4015875"/>
            <a:ext cx="4401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https://godbolt.org/z/qxnzTz4Kd</a:t>
            </a:r>
            <a:r>
              <a:rPr lang="en-US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E2A4A-F00A-FB37-F1A5-D5BF38A61571}"/>
              </a:ext>
            </a:extLst>
          </p:cNvPr>
          <p:cNvSpPr txBox="1"/>
          <p:nvPr/>
        </p:nvSpPr>
        <p:spPr>
          <a:xfrm>
            <a:off x="951809" y="4413151"/>
            <a:ext cx="29717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puts(s);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793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7E8D-A1F3-74BC-F907-EC414085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строк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B188F-2E71-0760-D36C-0DE665E612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ru-RU" b="1" dirty="0" err="1"/>
              <a:t>puts</a:t>
            </a:r>
            <a:endParaRPr lang="ru-RU" b="1" dirty="0"/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s[] = "Hello";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puts</a:t>
            </a:r>
            <a:r>
              <a:rPr lang="ru-RU" dirty="0">
                <a:latin typeface="Consolas" panose="020B0609020204030204" pitchFamily="49" charset="0"/>
              </a:rPr>
              <a:t>(s);</a:t>
            </a:r>
          </a:p>
          <a:p>
            <a:pPr lvl="1"/>
            <a:r>
              <a:rPr lang="ru-RU" dirty="0"/>
              <a:t>Выводит строку до '\0'</a:t>
            </a:r>
          </a:p>
          <a:p>
            <a:pPr lvl="1"/>
            <a:r>
              <a:rPr lang="ru-RU" dirty="0"/>
              <a:t>Автоматически добавляет '\n'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F0D201-E4AB-BFCF-3453-78C398D9DF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ru-RU" b="1" dirty="0" err="1"/>
              <a:t>printf</a:t>
            </a:r>
            <a:endParaRPr lang="ru-RU" b="1" dirty="0"/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printf</a:t>
            </a:r>
            <a:r>
              <a:rPr lang="ru-RU" dirty="0">
                <a:latin typeface="Consolas" panose="020B0609020204030204" pitchFamily="49" charset="0"/>
              </a:rPr>
              <a:t>("%s\n", s);</a:t>
            </a:r>
          </a:p>
          <a:p>
            <a:r>
              <a:rPr lang="ru-RU" dirty="0"/>
              <a:t>Форматированный вывод</a:t>
            </a:r>
          </a:p>
          <a:p>
            <a:r>
              <a:rPr lang="ru-RU" dirty="0">
                <a:latin typeface="Consolas" panose="020B0609020204030204" pitchFamily="49" charset="0"/>
              </a:rPr>
              <a:t>%s</a:t>
            </a:r>
            <a:r>
              <a:rPr lang="ru-RU" dirty="0"/>
              <a:t> ожидает корректную строку (с </a:t>
            </a:r>
            <a:r>
              <a:rPr lang="ru-RU" dirty="0">
                <a:latin typeface="Consolas" panose="020B0609020204030204" pitchFamily="49" charset="0"/>
              </a:rPr>
              <a:t>'\0'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E1C2F-EBCF-78F0-AB06-738ED301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97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2E67-3A40-EE37-36D3-127BEE25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строк: </a:t>
            </a:r>
            <a:r>
              <a:rPr lang="en-US" dirty="0" err="1"/>
              <a:t>scanf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03EF7-7A7B-815A-99B3-3D00A6928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Чтение без пробелов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s[100];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scanf</a:t>
            </a:r>
            <a:r>
              <a:rPr lang="ru-RU" dirty="0">
                <a:latin typeface="Consolas" panose="020B0609020204030204" pitchFamily="49" charset="0"/>
              </a:rPr>
              <a:t>("%99s", s);</a:t>
            </a:r>
          </a:p>
          <a:p>
            <a:r>
              <a:rPr lang="ru-RU" b="1" dirty="0"/>
              <a:t>Особенности</a:t>
            </a:r>
          </a:p>
          <a:p>
            <a:pPr lvl="1"/>
            <a:r>
              <a:rPr lang="ru-RU" dirty="0"/>
              <a:t>Чтение прекращается при пробеле или переводе строки.</a:t>
            </a:r>
          </a:p>
          <a:p>
            <a:pPr lvl="1"/>
            <a:r>
              <a:rPr lang="ru-RU" dirty="0"/>
              <a:t>Необходимо ограничивать длину (%99s).</a:t>
            </a:r>
          </a:p>
          <a:p>
            <a:pPr lvl="1"/>
            <a:r>
              <a:rPr lang="ru-RU" dirty="0"/>
              <a:t>Завершающий '\0' добавляется автоматически.</a:t>
            </a:r>
          </a:p>
          <a:p>
            <a:r>
              <a:rPr lang="ru-RU" b="1" dirty="0"/>
              <a:t>Ограничение</a:t>
            </a:r>
          </a:p>
          <a:p>
            <a:pPr lvl="1"/>
            <a:r>
              <a:rPr lang="ru-RU" dirty="0"/>
              <a:t>Невозможно считать строку с пробелами.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B3C10-5D66-6D1F-BA66-E18C690B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DE22-DB1B-F9C9-B62B-FB3AB4CF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строк: </a:t>
            </a:r>
            <a:r>
              <a:rPr lang="en-US" dirty="0" err="1">
                <a:hlinkClick r:id="rId3"/>
              </a:rPr>
              <a:t>fgets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CE71-8714-802C-2CC8-842B8296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Предпочтительный способ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s[100];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fgets</a:t>
            </a:r>
            <a:r>
              <a:rPr lang="ru-RU" dirty="0">
                <a:latin typeface="Consolas" panose="020B0609020204030204" pitchFamily="49" charset="0"/>
              </a:rPr>
              <a:t>(s, </a:t>
            </a:r>
            <a:r>
              <a:rPr lang="ru-RU" dirty="0" err="1">
                <a:latin typeface="Consolas" panose="020B0609020204030204" pitchFamily="49" charset="0"/>
              </a:rPr>
              <a:t>sizeof</a:t>
            </a:r>
            <a:r>
              <a:rPr lang="ru-RU" dirty="0">
                <a:latin typeface="Consolas" panose="020B0609020204030204" pitchFamily="49" charset="0"/>
              </a:rPr>
              <a:t>(s), </a:t>
            </a:r>
            <a:r>
              <a:rPr lang="ru-RU" dirty="0" err="1">
                <a:latin typeface="Consolas" panose="020B0609020204030204" pitchFamily="49" charset="0"/>
              </a:rPr>
              <a:t>stdin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b="1" dirty="0"/>
              <a:t>Особенности</a:t>
            </a:r>
          </a:p>
          <a:p>
            <a:pPr lvl="1"/>
            <a:r>
              <a:rPr lang="ru-RU" dirty="0"/>
              <a:t>Считывает строку целиком, включая пробелы.</a:t>
            </a:r>
          </a:p>
          <a:p>
            <a:pPr lvl="1"/>
            <a:r>
              <a:rPr lang="ru-RU" dirty="0"/>
              <a:t>Читает не более </a:t>
            </a:r>
            <a:r>
              <a:rPr lang="ru-RU" dirty="0" err="1"/>
              <a:t>sizeof</a:t>
            </a:r>
            <a:r>
              <a:rPr lang="ru-RU" dirty="0"/>
              <a:t>(s) - 1 символов.</a:t>
            </a:r>
          </a:p>
          <a:p>
            <a:pPr lvl="1"/>
            <a:r>
              <a:rPr lang="ru-RU" dirty="0"/>
              <a:t>Всегда добавляет '\0'.</a:t>
            </a:r>
          </a:p>
          <a:p>
            <a:pPr lvl="1"/>
            <a:r>
              <a:rPr lang="ru-RU" dirty="0"/>
              <a:t>Сохраняет символ '\n', если он помещается.</a:t>
            </a:r>
            <a:endParaRPr lang="en-US" dirty="0"/>
          </a:p>
          <a:p>
            <a:r>
              <a:rPr lang="ru-RU" b="1" dirty="0"/>
              <a:t>Удаление </a:t>
            </a:r>
            <a:r>
              <a:rPr lang="en-US" b="1" dirty="0"/>
              <a:t>'\n'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my_strlen</a:t>
            </a:r>
            <a:r>
              <a:rPr lang="en-US" dirty="0">
                <a:latin typeface="Consolas" panose="020B0609020204030204" pitchFamily="49" charset="0"/>
              </a:rPr>
              <a:t>(s);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 &gt; 0 &amp;&amp; s[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 - 1] == '\n’)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s[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 - 1] = '\0';</a:t>
            </a:r>
            <a:endParaRPr lang="ru-RU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B1419-5867-F040-DB00-E9FF7606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8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1AC4-0170-52D0-1718-CF079681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строк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7A98-FD3E-8FDE-4A39-0B25F741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3713" cy="435133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Массивы нельзя присваивать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a[10];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b[10] = "Hello";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a = b;    // ошибка</a:t>
            </a:r>
          </a:p>
          <a:p>
            <a:pPr lvl="1"/>
            <a:r>
              <a:rPr lang="ru-RU" dirty="0"/>
              <a:t>Массивы в языке C не поддерживают операцию присваивания.</a:t>
            </a:r>
            <a:endParaRPr lang="en-US" dirty="0"/>
          </a:p>
          <a:p>
            <a:r>
              <a:rPr lang="ru-RU" dirty="0"/>
              <a:t>Требуется посимвольное копирование</a:t>
            </a:r>
          </a:p>
          <a:p>
            <a:r>
              <a:rPr lang="ru-RU" b="1" dirty="0"/>
              <a:t>Важно</a:t>
            </a:r>
          </a:p>
          <a:p>
            <a:pPr lvl="1"/>
            <a:r>
              <a:rPr lang="ru-RU" dirty="0"/>
              <a:t>Массив </a:t>
            </a:r>
            <a:r>
              <a:rPr lang="ru-RU" dirty="0" err="1"/>
              <a:t>dest</a:t>
            </a:r>
            <a:r>
              <a:rPr lang="ru-RU" dirty="0"/>
              <a:t> должен иметь достаточный размер.</a:t>
            </a:r>
          </a:p>
          <a:p>
            <a:pPr lvl="1"/>
            <a:r>
              <a:rPr lang="ru-RU" dirty="0"/>
              <a:t>Проверка границ не выполняется автоматически.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8F9F9-2926-B7B4-D72C-B2515C9E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F5FFE-31B8-9C0D-D2ED-30C1481B3A37}"/>
              </a:ext>
            </a:extLst>
          </p:cNvPr>
          <p:cNvSpPr txBox="1"/>
          <p:nvPr/>
        </p:nvSpPr>
        <p:spPr>
          <a:xfrm>
            <a:off x="6140334" y="1825625"/>
            <a:ext cx="60516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!=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puts(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1E011-43F2-C640-02C9-2BB0C5EF7F17}"/>
              </a:ext>
            </a:extLst>
          </p:cNvPr>
          <p:cNvSpPr txBox="1"/>
          <p:nvPr/>
        </p:nvSpPr>
        <p:spPr>
          <a:xfrm>
            <a:off x="6140334" y="6373290"/>
            <a:ext cx="4001193" cy="37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https://godbolt.org/z/68xsPP79c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297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652D-C0CC-4B3C-F6B0-60DCE696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строк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E1D-6E51-2376-9F2C-BEE178D2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Неправильный способ</a:t>
            </a:r>
          </a:p>
          <a:p>
            <a:pPr lvl="1"/>
            <a:r>
              <a:rPr lang="ru-RU" dirty="0" err="1"/>
              <a:t>if</a:t>
            </a:r>
            <a:r>
              <a:rPr lang="ru-RU" dirty="0"/>
              <a:t> (a == b)   // сравниваются адреса</a:t>
            </a:r>
          </a:p>
          <a:p>
            <a:pPr lvl="1"/>
            <a:r>
              <a:rPr lang="ru-RU" dirty="0"/>
              <a:t>Оператор == для массивов сравнивает указатели, а не содержимое.</a:t>
            </a:r>
          </a:p>
          <a:p>
            <a:r>
              <a:rPr lang="ru-RU" b="1" dirty="0"/>
              <a:t>Правильный способ</a:t>
            </a:r>
            <a:r>
              <a:rPr lang="ru-RU" dirty="0"/>
              <a:t> – посимвольное сравнение</a:t>
            </a:r>
          </a:p>
          <a:p>
            <a:pPr lvl="1"/>
            <a:r>
              <a:rPr lang="ru-RU" dirty="0"/>
              <a:t>Результат: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0</a:t>
            </a:r>
            <a:r>
              <a:rPr lang="ru-RU" dirty="0"/>
              <a:t> – строки равны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 0</a:t>
            </a:r>
            <a:r>
              <a:rPr lang="en-US" dirty="0"/>
              <a:t> – </a:t>
            </a:r>
            <a:r>
              <a:rPr lang="ru-RU" dirty="0"/>
              <a:t>строка </a:t>
            </a:r>
            <a:r>
              <a:rPr lang="en-US" dirty="0"/>
              <a:t>a </a:t>
            </a:r>
            <a:r>
              <a:rPr lang="ru-RU" dirty="0"/>
              <a:t>лексикографически предшествует </a:t>
            </a:r>
            <a:r>
              <a:rPr lang="en-US" dirty="0"/>
              <a:t>b</a:t>
            </a:r>
            <a:endParaRPr lang="ru-RU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&gt; 0</a:t>
            </a:r>
            <a:r>
              <a:rPr lang="en-US" dirty="0"/>
              <a:t> – </a:t>
            </a:r>
            <a:r>
              <a:rPr lang="ru-RU" dirty="0"/>
              <a:t>строка </a:t>
            </a:r>
            <a:r>
              <a:rPr lang="en-US" dirty="0"/>
              <a:t>a </a:t>
            </a:r>
            <a:r>
              <a:rPr lang="ru-RU" dirty="0"/>
              <a:t>следует за </a:t>
            </a:r>
            <a:r>
              <a:rPr lang="en-US" dirty="0"/>
              <a:t>b</a:t>
            </a:r>
          </a:p>
          <a:p>
            <a:r>
              <a:rPr lang="ru-RU" dirty="0"/>
              <a:t>Принцип работы: сравнение до первого различия или до встречи </a:t>
            </a:r>
            <a:r>
              <a:rPr lang="en-US" dirty="0">
                <a:latin typeface="Consolas" panose="020B0609020204030204" pitchFamily="49" charset="0"/>
              </a:rPr>
              <a:t>'\0'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02563-8861-79CB-6578-4C0F6BFA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E3C26-B23A-A580-E625-33FEE9D23A5F}"/>
              </a:ext>
            </a:extLst>
          </p:cNvPr>
          <p:cNvSpPr txBox="1"/>
          <p:nvPr/>
        </p:nvSpPr>
        <p:spPr>
          <a:xfrm>
            <a:off x="6096001" y="1822916"/>
            <a:ext cx="60959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MyStrCmp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a[],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b[])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b[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Строки закончились -&gt; равны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)a[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-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)b[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s1[]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s2[]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"Hello1"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MyStrCmp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s2));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048E0-D867-C0C2-494E-992A3A37A7E7}"/>
              </a:ext>
            </a:extLst>
          </p:cNvPr>
          <p:cNvSpPr txBox="1"/>
          <p:nvPr/>
        </p:nvSpPr>
        <p:spPr>
          <a:xfrm>
            <a:off x="6096000" y="6356349"/>
            <a:ext cx="3513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https://godbolt.org/z/6nr9r7ad7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4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2EA2-83A5-B635-AFF7-B417B026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Указатели на </a:t>
            </a:r>
            <a:r>
              <a:rPr lang="en-US" dirty="0"/>
              <a:t>char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9902-975C-329D-CC7D-B10BF4894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Что такое указатель</a:t>
            </a:r>
          </a:p>
          <a:p>
            <a:pPr lvl="1"/>
            <a:r>
              <a:rPr lang="ru-RU" dirty="0"/>
              <a:t>Указатель — это переменная, хранящая адрес в памяти.</a:t>
            </a:r>
          </a:p>
          <a:p>
            <a:pPr lvl="1"/>
            <a:r>
              <a:rPr lang="ru-RU" dirty="0" err="1"/>
              <a:t>char</a:t>
            </a:r>
            <a:r>
              <a:rPr lang="ru-RU" dirty="0"/>
              <a:t> *p;</a:t>
            </a:r>
            <a:r>
              <a:rPr lang="en-US" dirty="0"/>
              <a:t> // </a:t>
            </a:r>
            <a:r>
              <a:rPr lang="ru-RU" dirty="0"/>
              <a:t>p — указатель на объект типа </a:t>
            </a:r>
            <a:r>
              <a:rPr lang="ru-RU" dirty="0" err="1"/>
              <a:t>char</a:t>
            </a:r>
            <a:r>
              <a:rPr lang="ru-RU" dirty="0"/>
              <a:t>.</a:t>
            </a:r>
          </a:p>
          <a:p>
            <a:r>
              <a:rPr lang="ru-RU" b="1" dirty="0"/>
              <a:t>Пример</a:t>
            </a:r>
          </a:p>
          <a:p>
            <a:pPr lvl="1"/>
            <a:r>
              <a:rPr lang="ru-RU" dirty="0" err="1"/>
              <a:t>char</a:t>
            </a:r>
            <a:r>
              <a:rPr lang="ru-RU" dirty="0"/>
              <a:t> c = 'A’;</a:t>
            </a:r>
            <a:br>
              <a:rPr lang="en-US" dirty="0"/>
            </a:br>
            <a:r>
              <a:rPr lang="ru-RU" dirty="0" err="1"/>
              <a:t>char</a:t>
            </a:r>
            <a:r>
              <a:rPr lang="ru-RU" dirty="0"/>
              <a:t> *p = &amp;c;</a:t>
            </a:r>
          </a:p>
          <a:p>
            <a:pPr lvl="1"/>
            <a:r>
              <a:rPr lang="ru-RU" dirty="0"/>
              <a:t>c — хранит значение 65</a:t>
            </a:r>
          </a:p>
          <a:p>
            <a:pPr lvl="1"/>
            <a:r>
              <a:rPr lang="ru-RU" dirty="0"/>
              <a:t>&amp;c — адрес переменной</a:t>
            </a:r>
          </a:p>
          <a:p>
            <a:pPr lvl="1"/>
            <a:r>
              <a:rPr lang="ru-RU" dirty="0"/>
              <a:t>p — хранит этот адрес</a:t>
            </a:r>
          </a:p>
          <a:p>
            <a:r>
              <a:rPr lang="ru-RU" b="1" dirty="0"/>
              <a:t>Разыменование</a:t>
            </a:r>
          </a:p>
          <a:p>
            <a:pPr lvl="1"/>
            <a:r>
              <a:rPr lang="ru-RU" dirty="0"/>
              <a:t>*p   // значение по адресу</a:t>
            </a:r>
          </a:p>
          <a:p>
            <a:pPr lvl="1"/>
            <a:r>
              <a:rPr lang="ru-RU" dirty="0"/>
              <a:t>Если p указывает на c, то *p == 'A</a:t>
            </a:r>
            <a:r>
              <a:rPr lang="en-US" dirty="0"/>
              <a:t>'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3A4A1-AF95-9898-AEC1-D49887B1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09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06E9-79A2-5582-8713-5D5F08FD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 и указатели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6EA2-A553-C6CB-E08E-4144F255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Имя массива — это адрес первого элемента</a:t>
            </a:r>
          </a:p>
          <a:p>
            <a:pPr lvl="1"/>
            <a:r>
              <a:rPr lang="ru-RU" dirty="0" err="1"/>
              <a:t>char</a:t>
            </a:r>
            <a:r>
              <a:rPr lang="ru-RU" dirty="0"/>
              <a:t> s[] = "Hi";</a:t>
            </a:r>
          </a:p>
          <a:p>
            <a:pPr lvl="1"/>
            <a:r>
              <a:rPr lang="ru-RU" dirty="0"/>
              <a:t>Имя s в выражениях — это:</a:t>
            </a:r>
          </a:p>
          <a:p>
            <a:pPr lvl="1"/>
            <a:r>
              <a:rPr lang="ru-RU" dirty="0"/>
              <a:t>&amp;s[0]</a:t>
            </a:r>
          </a:p>
          <a:p>
            <a:r>
              <a:rPr lang="ru-RU" b="1" dirty="0"/>
              <a:t>Эквивалентность записи</a:t>
            </a:r>
          </a:p>
          <a:p>
            <a:pPr lvl="1"/>
            <a:r>
              <a:rPr lang="ru-RU" dirty="0"/>
              <a:t>s[i]      // доступ к элементу массива по индексу</a:t>
            </a:r>
          </a:p>
          <a:p>
            <a:pPr lvl="1"/>
            <a:r>
              <a:rPr lang="ru-RU" dirty="0"/>
              <a:t>*(s + i)  // через указатель</a:t>
            </a:r>
          </a:p>
          <a:p>
            <a:r>
              <a:rPr lang="ru-RU" b="1" dirty="0"/>
              <a:t>Важно</a:t>
            </a:r>
          </a:p>
          <a:p>
            <a:pPr lvl="1"/>
            <a:r>
              <a:rPr lang="ru-RU" dirty="0"/>
              <a:t>Массив — это область памяти.</a:t>
            </a:r>
          </a:p>
          <a:p>
            <a:pPr lvl="1"/>
            <a:r>
              <a:rPr lang="ru-RU" dirty="0"/>
              <a:t>Указатель — это переменная, хранящая адрес.</a:t>
            </a:r>
          </a:p>
          <a:p>
            <a:pPr lvl="1"/>
            <a:r>
              <a:rPr lang="ru-RU" dirty="0"/>
              <a:t>Имя массива не является переменной-указателем.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36237-8FE0-4468-FB36-7D5F41FF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7361-54FE-3A16-5650-45E438FB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Константность указателя и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0CE30-BE8D-47B5-5AAD-0B567602C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Указатель на константные данные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ru-RU" dirty="0"/>
              <a:t>Нельзя изменять данные через p</a:t>
            </a:r>
          </a:p>
          <a:p>
            <a:pPr lvl="1"/>
            <a:r>
              <a:rPr lang="ru-RU" dirty="0"/>
              <a:t>Можно изменять сам указатель</a:t>
            </a:r>
          </a:p>
          <a:p>
            <a:pPr marL="914400" lvl="2" indent="0">
              <a:buNone/>
            </a:pPr>
            <a:r>
              <a:rPr lang="ru-RU" dirty="0">
                <a:latin typeface="Consolas" panose="020B0609020204030204" pitchFamily="49" charset="0"/>
              </a:rPr>
              <a:t>*p = 'A';   // ошибка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p = </a:t>
            </a:r>
            <a:r>
              <a:rPr lang="ru-RU" dirty="0" err="1">
                <a:latin typeface="Consolas" panose="020B0609020204030204" pitchFamily="49" charset="0"/>
              </a:rPr>
              <a:t>other</a:t>
            </a:r>
            <a:r>
              <a:rPr lang="ru-RU" dirty="0">
                <a:latin typeface="Consolas" panose="020B0609020204030204" pitchFamily="49" charset="0"/>
              </a:rPr>
              <a:t>;  // допустимо</a:t>
            </a:r>
          </a:p>
          <a:p>
            <a:r>
              <a:rPr lang="ru-RU" b="1" dirty="0"/>
              <a:t>Константный указатель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*</a:t>
            </a:r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p = s;</a:t>
            </a:r>
          </a:p>
          <a:p>
            <a:pPr lvl="1"/>
            <a:r>
              <a:rPr lang="ru-RU" dirty="0"/>
              <a:t>Можно изменять данные</a:t>
            </a:r>
          </a:p>
          <a:p>
            <a:pPr lvl="1"/>
            <a:r>
              <a:rPr lang="ru-RU" dirty="0"/>
              <a:t>Нельзя изменить адрес, хранящийся в p</a:t>
            </a:r>
          </a:p>
          <a:p>
            <a:pPr marL="914400" lvl="2" indent="0">
              <a:buNone/>
            </a:pPr>
            <a:r>
              <a:rPr lang="ru-RU" dirty="0">
                <a:latin typeface="Consolas" panose="020B0609020204030204" pitchFamily="49" charset="0"/>
              </a:rPr>
              <a:t>*p = 'A';   // допустимо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p = </a:t>
            </a:r>
            <a:r>
              <a:rPr lang="ru-RU" dirty="0" err="1">
                <a:latin typeface="Consolas" panose="020B0609020204030204" pitchFamily="49" charset="0"/>
              </a:rPr>
              <a:t>other</a:t>
            </a:r>
            <a:r>
              <a:rPr lang="ru-RU" dirty="0">
                <a:latin typeface="Consolas" panose="020B0609020204030204" pitchFamily="49" charset="0"/>
              </a:rPr>
              <a:t>;  // ошибка</a:t>
            </a:r>
          </a:p>
          <a:p>
            <a:r>
              <a:rPr lang="ru-RU" b="1" dirty="0"/>
              <a:t>Константный указатель на константные данные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char</a:t>
            </a:r>
            <a:r>
              <a:rPr lang="ru-RU" dirty="0">
                <a:latin typeface="Consolas" panose="020B0609020204030204" pitchFamily="49" charset="0"/>
              </a:rPr>
              <a:t> *</a:t>
            </a:r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p = s;</a:t>
            </a:r>
          </a:p>
          <a:p>
            <a:pPr lvl="1"/>
            <a:r>
              <a:rPr lang="ru-RU" dirty="0"/>
              <a:t>Нельзя изменять данные</a:t>
            </a:r>
          </a:p>
          <a:p>
            <a:pPr lvl="1"/>
            <a:r>
              <a:rPr lang="ru-RU" dirty="0"/>
              <a:t>Нельзя изменять указатель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CC65CB-E9B2-5E98-C4DC-C42FB0DE01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Как читать объявление</a:t>
            </a:r>
          </a:p>
          <a:p>
            <a:pPr lvl="1"/>
            <a:r>
              <a:rPr lang="ru-RU" b="1" dirty="0" err="1"/>
              <a:t>const</a:t>
            </a:r>
            <a:r>
              <a:rPr lang="ru-RU" dirty="0"/>
              <a:t> относится к тому, что стоит справа от него. Если справа ничего нет — относится к тому, что слева.</a:t>
            </a:r>
          </a:p>
          <a:p>
            <a:r>
              <a:rPr lang="ru-RU" b="1" dirty="0"/>
              <a:t>Пример</a:t>
            </a:r>
          </a:p>
          <a:p>
            <a:pPr lvl="1"/>
            <a:r>
              <a:rPr lang="ru-RU" dirty="0" err="1"/>
              <a:t>size_t</a:t>
            </a:r>
            <a:r>
              <a:rPr lang="ru-RU" dirty="0"/>
              <a:t> </a:t>
            </a:r>
            <a:r>
              <a:rPr lang="ru-RU" dirty="0" err="1"/>
              <a:t>strlen</a:t>
            </a:r>
            <a:r>
              <a:rPr lang="ru-RU" dirty="0"/>
              <a:t>(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char</a:t>
            </a:r>
            <a:r>
              <a:rPr lang="ru-RU" dirty="0"/>
              <a:t> *s);</a:t>
            </a:r>
            <a:endParaRPr lang="en-US" dirty="0"/>
          </a:p>
          <a:p>
            <a:pPr lvl="1"/>
            <a:r>
              <a:rPr lang="ru-RU" dirty="0"/>
              <a:t>Функция не изменяет строку.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31645-CA9C-53A1-A3BE-17FF8BD5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07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7376-D448-7D20-E648-757B44C3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Стандартная библиотека работы со строками </a:t>
            </a:r>
            <a:r>
              <a:rPr lang="en-US" dirty="0" err="1"/>
              <a:t>string.h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86D1C-98E2-4574-A87A-2EC91C27F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Назначение</a:t>
            </a:r>
          </a:p>
          <a:p>
            <a:pPr lvl="1"/>
            <a:r>
              <a:rPr lang="ru-RU" dirty="0"/>
              <a:t>&lt;</a:t>
            </a:r>
            <a:r>
              <a:rPr lang="ru-RU" dirty="0" err="1"/>
              <a:t>string.h</a:t>
            </a:r>
            <a:r>
              <a:rPr lang="ru-RU" dirty="0"/>
              <a:t>&gt; содержит стандартные функции для работы со строками в формате C-строк (массив </a:t>
            </a:r>
            <a:r>
              <a:rPr lang="ru-RU" dirty="0" err="1"/>
              <a:t>char</a:t>
            </a:r>
            <a:r>
              <a:rPr lang="ru-RU" dirty="0"/>
              <a:t>, завершающийся '\0').</a:t>
            </a:r>
          </a:p>
          <a:p>
            <a:r>
              <a:rPr lang="ru-RU" b="1" dirty="0"/>
              <a:t>Основные функции</a:t>
            </a:r>
          </a:p>
          <a:p>
            <a:pPr lvl="1"/>
            <a:r>
              <a:rPr lang="en-US" dirty="0" err="1"/>
              <a:t>strlen</a:t>
            </a:r>
            <a:r>
              <a:rPr lang="en-US" dirty="0"/>
              <a:t>(s)          // </a:t>
            </a:r>
            <a:r>
              <a:rPr lang="ru-RU" dirty="0"/>
              <a:t>длина строки</a:t>
            </a:r>
          </a:p>
          <a:p>
            <a:pPr lvl="1"/>
            <a:r>
              <a:rPr lang="en-US" dirty="0" err="1"/>
              <a:t>strcpy</a:t>
            </a:r>
            <a:r>
              <a:rPr lang="en-US" dirty="0"/>
              <a:t>(</a:t>
            </a:r>
            <a:r>
              <a:rPr lang="en-US" dirty="0" err="1"/>
              <a:t>dest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en-US" dirty="0"/>
              <a:t>)  // </a:t>
            </a:r>
            <a:r>
              <a:rPr lang="ru-RU" dirty="0"/>
              <a:t>копирование строки</a:t>
            </a:r>
          </a:p>
          <a:p>
            <a:pPr lvl="1"/>
            <a:r>
              <a:rPr lang="en-US" dirty="0" err="1"/>
              <a:t>strncpy</a:t>
            </a:r>
            <a:r>
              <a:rPr lang="en-US" dirty="0"/>
              <a:t>(</a:t>
            </a:r>
            <a:r>
              <a:rPr lang="en-US" dirty="0" err="1"/>
              <a:t>dest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en-US" dirty="0"/>
              <a:t>, n)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err="1"/>
              <a:t>strcmp</a:t>
            </a:r>
            <a:r>
              <a:rPr lang="en-US" dirty="0"/>
              <a:t>(a, b)       // </a:t>
            </a:r>
            <a:r>
              <a:rPr lang="ru-RU" dirty="0"/>
              <a:t>сравнение строк</a:t>
            </a:r>
          </a:p>
          <a:p>
            <a:pPr lvl="1"/>
            <a:r>
              <a:rPr lang="en-US" dirty="0" err="1"/>
              <a:t>strncmp</a:t>
            </a:r>
            <a:r>
              <a:rPr lang="en-US" dirty="0"/>
              <a:t>(a, b, n)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strcat</a:t>
            </a:r>
            <a:r>
              <a:rPr lang="en-US" dirty="0"/>
              <a:t>(</a:t>
            </a:r>
            <a:r>
              <a:rPr lang="en-US" dirty="0" err="1"/>
              <a:t>dest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en-US" dirty="0"/>
              <a:t>)  // </a:t>
            </a:r>
            <a:r>
              <a:rPr lang="ru-RU" dirty="0"/>
              <a:t>конкатенация строк</a:t>
            </a:r>
          </a:p>
          <a:p>
            <a:pPr lvl="1"/>
            <a:r>
              <a:rPr lang="en-US" dirty="0" err="1"/>
              <a:t>strncat</a:t>
            </a:r>
            <a:r>
              <a:rPr lang="en-US" dirty="0"/>
              <a:t>(</a:t>
            </a:r>
            <a:r>
              <a:rPr lang="en-US" dirty="0" err="1"/>
              <a:t>dest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en-US" dirty="0"/>
              <a:t>, n)</a:t>
            </a:r>
          </a:p>
          <a:p>
            <a:r>
              <a:rPr lang="ru-RU" b="1" dirty="0"/>
              <a:t>Общие свойства</a:t>
            </a:r>
          </a:p>
          <a:p>
            <a:pPr lvl="1"/>
            <a:r>
              <a:rPr lang="ru-RU" dirty="0"/>
              <a:t>Работают до встречи '\0'.</a:t>
            </a:r>
          </a:p>
          <a:p>
            <a:pPr lvl="1"/>
            <a:r>
              <a:rPr lang="ru-RU" dirty="0"/>
              <a:t>Не проверяют автоматически размер буфера.</a:t>
            </a:r>
          </a:p>
          <a:p>
            <a:pPr lvl="1"/>
            <a:r>
              <a:rPr lang="ru-RU" dirty="0"/>
              <a:t>Получают адрес первого символа (</a:t>
            </a:r>
            <a:r>
              <a:rPr lang="ru-RU" dirty="0" err="1"/>
              <a:t>char</a:t>
            </a:r>
            <a:r>
              <a:rPr lang="ru-RU" dirty="0"/>
              <a:t> *).</a:t>
            </a:r>
          </a:p>
          <a:p>
            <a:pPr lvl="1"/>
            <a:r>
              <a:rPr lang="ru-RU" dirty="0"/>
              <a:t>Все функции реализуют те же принципы: последовательный обход памяти и сравнение байтов.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06207-48C4-4172-ECE6-3DC8EAFB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14A9-B042-3190-CACB-4AF69DF5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строки с учётом длины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8A748-F610-4EFD-7F7C-5DB717D2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F014B-EF8E-0501-0565-8B1E05B475CA}"/>
              </a:ext>
            </a:extLst>
          </p:cNvPr>
          <p:cNvSpPr txBox="1"/>
          <p:nvPr/>
        </p:nvSpPr>
        <p:spPr>
          <a:xfrm>
            <a:off x="838200" y="1690688"/>
            <a:ext cx="1083286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source[]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(source);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dest1[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(dest1, source);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dest2[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strncpy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(dest2, source,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(dest2));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dest2[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(dest2)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"source: %s (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source,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"dest1 : %s\n"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dest1);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"dest2 : %s\n"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dest2);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6A26F-678C-41B1-7DCE-05A3E5523872}"/>
              </a:ext>
            </a:extLst>
          </p:cNvPr>
          <p:cNvSpPr txBox="1"/>
          <p:nvPr/>
        </p:nvSpPr>
        <p:spPr>
          <a:xfrm>
            <a:off x="7926186" y="5300316"/>
            <a:ext cx="3744883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source: Hello 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= 5)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dest1 : Hello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dest2 : Hello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9BA07-95CF-011E-7CD7-728BAA16355E}"/>
              </a:ext>
            </a:extLst>
          </p:cNvPr>
          <p:cNvSpPr txBox="1"/>
          <p:nvPr/>
        </p:nvSpPr>
        <p:spPr>
          <a:xfrm>
            <a:off x="7926186" y="4679966"/>
            <a:ext cx="3596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https://godbolt.org/z/6nr9r7ad7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766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73D3-BC89-D6F2-C6D5-10248734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строк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2F3B9-375C-D500-4091-6DD60BB91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396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/>
              <a:t>strcmp</a:t>
            </a:r>
            <a:r>
              <a:rPr lang="ru-RU" dirty="0"/>
              <a:t> сравнивает строки полностью.</a:t>
            </a:r>
          </a:p>
          <a:p>
            <a:r>
              <a:rPr lang="ru-RU" dirty="0" err="1"/>
              <a:t>strncmp</a:t>
            </a:r>
            <a:r>
              <a:rPr lang="ru-RU" dirty="0"/>
              <a:t> сравнивает не более n первых символов.</a:t>
            </a:r>
          </a:p>
          <a:p>
            <a:r>
              <a:rPr lang="ru-RU" dirty="0"/>
              <a:t>Если первые n символов совпадают, результат равен 0.</a:t>
            </a:r>
          </a:p>
          <a:p>
            <a:r>
              <a:rPr lang="ru-RU" dirty="0"/>
              <a:t>Возвращаемое значение:</a:t>
            </a:r>
          </a:p>
          <a:p>
            <a:pPr lvl="1"/>
            <a:r>
              <a:rPr lang="ru-RU" dirty="0"/>
              <a:t>0 — строки равны (в пределах сравнения).</a:t>
            </a:r>
          </a:p>
          <a:p>
            <a:pPr lvl="1"/>
            <a:r>
              <a:rPr lang="ru-RU" dirty="0"/>
              <a:t>&lt; 0 — первая строка меньше.</a:t>
            </a:r>
          </a:p>
          <a:p>
            <a:pPr lvl="1"/>
            <a:r>
              <a:rPr lang="ru-RU" dirty="0"/>
              <a:t>&gt; 0 — первая строка больше.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DD7C9-FB93-6137-4363-E83E07AE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DC107-EE78-3911-C9EA-3457297A961A}"/>
              </a:ext>
            </a:extLst>
          </p:cNvPr>
          <p:cNvSpPr txBox="1"/>
          <p:nvPr/>
        </p:nvSpPr>
        <p:spPr>
          <a:xfrm>
            <a:off x="6096000" y="1832035"/>
            <a:ext cx="58452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s1[]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s2[]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"apricot"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s3[]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r1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s2);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r2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s3);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r3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strncmp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s2,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(s1, s2)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r1);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(s1, s3)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r2);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strncmp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(s1, s2, 3) = %d\n"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r3);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A88D4-1823-1295-2E84-26F3C1FB7D75}"/>
              </a:ext>
            </a:extLst>
          </p:cNvPr>
          <p:cNvSpPr txBox="1"/>
          <p:nvPr/>
        </p:nvSpPr>
        <p:spPr>
          <a:xfrm>
            <a:off x="6096000" y="6354247"/>
            <a:ext cx="4303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https://godbolt.org/z/x7ex6E6dx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292FF0-A60F-9FEC-CFD7-D9DAD86A605A}"/>
              </a:ext>
            </a:extLst>
          </p:cNvPr>
          <p:cNvSpPr txBox="1"/>
          <p:nvPr/>
        </p:nvSpPr>
        <p:spPr>
          <a:xfrm>
            <a:off x="1202229" y="5892582"/>
            <a:ext cx="3417916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(s1, s2) = -2</a:t>
            </a:r>
          </a:p>
          <a:p>
            <a:pPr algn="l">
              <a:buNone/>
            </a:pP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(s1, s3) = 0</a:t>
            </a:r>
          </a:p>
          <a:p>
            <a:pPr algn="l">
              <a:buNone/>
            </a:pP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strncmp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(s1, s2, 3) = 0</a:t>
            </a:r>
          </a:p>
        </p:txBody>
      </p:sp>
    </p:spTree>
    <p:extLst>
      <p:ext uri="{BB962C8B-B14F-4D97-AF65-F5344CB8AC3E}">
        <p14:creationId xmlns:p14="http://schemas.microsoft.com/office/powerpoint/2010/main" val="1749352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E780-3429-A452-3F0A-C7ED787E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Конкатенация строк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CB5D-07DF-086A-B84B-DA17FE629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ru-RU" dirty="0" err="1"/>
              <a:t>strcat</a:t>
            </a:r>
            <a:r>
              <a:rPr lang="ru-RU" dirty="0"/>
              <a:t>(</a:t>
            </a:r>
            <a:r>
              <a:rPr lang="ru-RU" dirty="0" err="1"/>
              <a:t>dest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) дописывает строку </a:t>
            </a:r>
            <a:r>
              <a:rPr lang="ru-RU" dirty="0" err="1"/>
              <a:t>src</a:t>
            </a:r>
            <a:r>
              <a:rPr lang="ru-RU" dirty="0"/>
              <a:t> в конец </a:t>
            </a:r>
            <a:r>
              <a:rPr lang="ru-RU" dirty="0" err="1"/>
              <a:t>dest</a:t>
            </a:r>
            <a:r>
              <a:rPr lang="ru-RU" dirty="0"/>
              <a:t>.</a:t>
            </a:r>
          </a:p>
          <a:p>
            <a:r>
              <a:rPr lang="ru-RU" dirty="0" err="1"/>
              <a:t>strncat</a:t>
            </a:r>
            <a:r>
              <a:rPr lang="ru-RU" dirty="0"/>
              <a:t>(</a:t>
            </a:r>
            <a:r>
              <a:rPr lang="ru-RU" dirty="0" err="1"/>
              <a:t>dest</a:t>
            </a:r>
            <a:r>
              <a:rPr lang="ru-RU" dirty="0"/>
              <a:t>, </a:t>
            </a:r>
            <a:r>
              <a:rPr lang="ru-RU" dirty="0" err="1"/>
              <a:t>src</a:t>
            </a:r>
            <a:r>
              <a:rPr lang="ru-RU" dirty="0"/>
              <a:t>, n) дописывает не более n символов из </a:t>
            </a:r>
            <a:r>
              <a:rPr lang="ru-RU" dirty="0" err="1"/>
              <a:t>src</a:t>
            </a:r>
            <a:r>
              <a:rPr lang="ru-RU" dirty="0"/>
              <a:t>.</a:t>
            </a:r>
          </a:p>
          <a:p>
            <a:r>
              <a:rPr lang="ru-RU" dirty="0"/>
              <a:t>В массиве </a:t>
            </a:r>
            <a:r>
              <a:rPr lang="ru-RU" dirty="0" err="1"/>
              <a:t>dest</a:t>
            </a:r>
            <a:r>
              <a:rPr lang="ru-RU" dirty="0"/>
              <a:t> должно быть </a:t>
            </a:r>
            <a:r>
              <a:rPr lang="ru-RU" b="1" dirty="0"/>
              <a:t>достаточно свободного места</a:t>
            </a:r>
            <a:r>
              <a:rPr lang="ru-RU" dirty="0"/>
              <a:t>.</a:t>
            </a:r>
          </a:p>
          <a:p>
            <a:r>
              <a:rPr lang="ru-RU" dirty="0"/>
              <a:t>Завершающий '\0’ добавляется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985FC-DA76-45C4-70E0-0FB60074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012A1-8078-120E-F561-EE9C78873356}"/>
              </a:ext>
            </a:extLst>
          </p:cNvPr>
          <p:cNvSpPr txBox="1"/>
          <p:nvPr/>
        </p:nvSpPr>
        <p:spPr>
          <a:xfrm>
            <a:off x="6255328" y="1825625"/>
            <a:ext cx="6093228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s1[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s2[]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"Hello" + " 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(s1, s2);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 " + "World"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"After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%s\n"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s1);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s3[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s4[]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strncat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(s3, s4,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"After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strncat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%s\n"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s3);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9EA1C-3FAF-ED39-05ED-FC1FB10B4D6F}"/>
              </a:ext>
            </a:extLst>
          </p:cNvPr>
          <p:cNvSpPr txBox="1"/>
          <p:nvPr/>
        </p:nvSpPr>
        <p:spPr>
          <a:xfrm>
            <a:off x="6255328" y="6488668"/>
            <a:ext cx="391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https://godbolt.org/z/jEx7YMTTf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DDCF9-7917-9B7F-A9B0-C425C2B36F9C}"/>
              </a:ext>
            </a:extLst>
          </p:cNvPr>
          <p:cNvSpPr txBox="1"/>
          <p:nvPr/>
        </p:nvSpPr>
        <p:spPr>
          <a:xfrm>
            <a:off x="838200" y="6165275"/>
            <a:ext cx="3524596" cy="5847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After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: Hello World</a:t>
            </a:r>
          </a:p>
          <a:p>
            <a:pPr algn="l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After </a:t>
            </a:r>
            <a:r>
              <a:rPr lang="en-US" sz="1600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strncat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Number: 123</a:t>
            </a:r>
          </a:p>
        </p:txBody>
      </p:sp>
    </p:spTree>
    <p:extLst>
      <p:ext uri="{BB962C8B-B14F-4D97-AF65-F5344CB8AC3E}">
        <p14:creationId xmlns:p14="http://schemas.microsoft.com/office/powerpoint/2010/main" val="3906841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C0AF-11B6-43BD-A45B-3970E681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строк произвольной длины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BA8F-5259-C741-DE9B-2ADE2836A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Ограничение статических массивов</a:t>
            </a:r>
          </a:p>
          <a:p>
            <a:pPr lvl="1"/>
            <a:r>
              <a:rPr lang="ru-RU" dirty="0" err="1"/>
              <a:t>char</a:t>
            </a:r>
            <a:r>
              <a:rPr lang="ru-RU" dirty="0"/>
              <a:t> s[100];</a:t>
            </a:r>
          </a:p>
          <a:p>
            <a:pPr lvl="1"/>
            <a:r>
              <a:rPr lang="ru-RU" dirty="0"/>
              <a:t>Размер фиксирован на этапе компиляции.</a:t>
            </a:r>
          </a:p>
          <a:p>
            <a:pPr lvl="1"/>
            <a:r>
              <a:rPr lang="ru-RU" dirty="0"/>
              <a:t>Возможны два риска:</a:t>
            </a:r>
          </a:p>
          <a:p>
            <a:pPr lvl="2"/>
            <a:r>
              <a:rPr lang="ru-RU" dirty="0"/>
              <a:t>Переполнение буфера.</a:t>
            </a:r>
          </a:p>
          <a:p>
            <a:pPr lvl="2"/>
            <a:r>
              <a:rPr lang="ru-RU" dirty="0"/>
              <a:t>Неэффективное использование памяти.</a:t>
            </a:r>
          </a:p>
          <a:p>
            <a:r>
              <a:rPr lang="ru-RU" b="1" dirty="0"/>
              <a:t>Если длина неизвестна заранее, нужно:</a:t>
            </a:r>
          </a:p>
          <a:p>
            <a:pPr lvl="1"/>
            <a:r>
              <a:rPr lang="ru-RU" dirty="0"/>
              <a:t>Выделять память во время выполнения программы.</a:t>
            </a:r>
          </a:p>
          <a:p>
            <a:pPr lvl="1"/>
            <a:r>
              <a:rPr lang="ru-RU" dirty="0"/>
              <a:t>Увеличивать буфер при необходимости.</a:t>
            </a:r>
          </a:p>
          <a:p>
            <a:r>
              <a:rPr lang="ru-RU" b="1" dirty="0"/>
              <a:t>Решение: </a:t>
            </a:r>
            <a:r>
              <a:rPr lang="ru-RU" dirty="0"/>
              <a:t>динамическое выделение памяти:</a:t>
            </a:r>
          </a:p>
          <a:p>
            <a:pPr lvl="1"/>
            <a:r>
              <a:rPr lang="ru-RU" dirty="0" err="1"/>
              <a:t>malloc</a:t>
            </a:r>
            <a:endParaRPr lang="ru-RU" dirty="0"/>
          </a:p>
          <a:p>
            <a:pPr lvl="1"/>
            <a:r>
              <a:rPr lang="ru-RU" dirty="0" err="1"/>
              <a:t>realloc</a:t>
            </a:r>
            <a:endParaRPr lang="ru-RU" dirty="0"/>
          </a:p>
          <a:p>
            <a:pPr lvl="1"/>
            <a:r>
              <a:rPr lang="en-US" dirty="0"/>
              <a:t>f</a:t>
            </a:r>
            <a:r>
              <a:rPr lang="ru-RU" dirty="0" err="1"/>
              <a:t>ree</a:t>
            </a:r>
            <a:endParaRPr lang="ru-RU" b="1" dirty="0"/>
          </a:p>
          <a:p>
            <a:r>
              <a:rPr lang="ru-RU" dirty="0"/>
              <a:t>Строка остаётся массивом </a:t>
            </a:r>
            <a:r>
              <a:rPr lang="ru-RU" dirty="0" err="1"/>
              <a:t>char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но память управляется программой вручную.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88A6F-F4B9-9FCE-3BBD-E2C93768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76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7086ED-B359-A4CE-2611-8489455D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выделение памяти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2D632-E2D6-47A0-9DBB-6351DE02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506491-7786-042C-9F1A-D8B2D08D63AE}"/>
              </a:ext>
            </a:extLst>
          </p:cNvPr>
          <p:cNvSpPr/>
          <p:nvPr/>
        </p:nvSpPr>
        <p:spPr>
          <a:xfrm>
            <a:off x="6450841" y="2095274"/>
            <a:ext cx="3305032" cy="4397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ОЗУ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8CA20-DBAC-D5C3-BEEE-B0F58EF0A7F7}"/>
              </a:ext>
            </a:extLst>
          </p:cNvPr>
          <p:cNvSpPr/>
          <p:nvPr/>
        </p:nvSpPr>
        <p:spPr>
          <a:xfrm>
            <a:off x="6761327" y="2689793"/>
            <a:ext cx="2743200" cy="18685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Куча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02E35C-0685-C3B8-37CA-E3C9D0E6671E}"/>
              </a:ext>
            </a:extLst>
          </p:cNvPr>
          <p:cNvSpPr/>
          <p:nvPr/>
        </p:nvSpPr>
        <p:spPr>
          <a:xfrm>
            <a:off x="7076930" y="3033192"/>
            <a:ext cx="1869744" cy="43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4C34E-7C36-0180-C1CE-7AA83EC3E4E9}"/>
              </a:ext>
            </a:extLst>
          </p:cNvPr>
          <p:cNvSpPr/>
          <p:nvPr/>
        </p:nvSpPr>
        <p:spPr>
          <a:xfrm>
            <a:off x="6731757" y="4684108"/>
            <a:ext cx="2743200" cy="11298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стек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93219B-8463-3B2A-CA27-DA46B4BFECCA}"/>
              </a:ext>
            </a:extLst>
          </p:cNvPr>
          <p:cNvSpPr/>
          <p:nvPr/>
        </p:nvSpPr>
        <p:spPr>
          <a:xfrm>
            <a:off x="7076930" y="5104861"/>
            <a:ext cx="743237" cy="420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ptr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A9B0F1-A003-8013-6F94-6F600EAE74B6}"/>
              </a:ext>
            </a:extLst>
          </p:cNvPr>
          <p:cNvCxnSpPr>
            <a:endCxn id="7" idx="2"/>
          </p:cNvCxnSpPr>
          <p:nvPr/>
        </p:nvCxnSpPr>
        <p:spPr>
          <a:xfrm flipV="1">
            <a:off x="7410734" y="3465513"/>
            <a:ext cx="601068" cy="1639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9FAC07-B1C2-E65F-FB0B-30A6A6E24292}"/>
              </a:ext>
            </a:extLst>
          </p:cNvPr>
          <p:cNvSpPr txBox="1"/>
          <p:nvPr/>
        </p:nvSpPr>
        <p:spPr>
          <a:xfrm>
            <a:off x="691199" y="2034352"/>
            <a:ext cx="5279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malloc(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7795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9B99-9FA1-391C-5745-6094342B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копирование строки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F560-3EC7-9570-4D39-A267F2B93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Длина определяется с помощью </a:t>
            </a:r>
            <a:r>
              <a:rPr lang="ru-RU" b="1" dirty="0" err="1"/>
              <a:t>strlen</a:t>
            </a:r>
            <a:r>
              <a:rPr lang="ru-RU" dirty="0"/>
              <a:t>.</a:t>
            </a:r>
          </a:p>
          <a:p>
            <a:r>
              <a:rPr lang="ru-RU" dirty="0"/>
              <a:t>Память выделяется под </a:t>
            </a:r>
            <a:r>
              <a:rPr lang="ru-RU" dirty="0" err="1"/>
              <a:t>len</a:t>
            </a:r>
            <a:r>
              <a:rPr lang="ru-RU" dirty="0"/>
              <a:t> + 1 байтов функцией </a:t>
            </a:r>
            <a:r>
              <a:rPr lang="en-US" b="1" dirty="0"/>
              <a:t>malloc</a:t>
            </a:r>
            <a:endParaRPr lang="ru-RU" b="1" dirty="0"/>
          </a:p>
          <a:p>
            <a:r>
              <a:rPr lang="ru-RU" dirty="0"/>
              <a:t>Копируется строка вместе с '\0'.</a:t>
            </a:r>
          </a:p>
          <a:p>
            <a:r>
              <a:rPr lang="ru-RU" dirty="0"/>
              <a:t>После использования память освобождается функцией </a:t>
            </a:r>
            <a:r>
              <a:rPr lang="en-US" b="1" dirty="0"/>
              <a:t>free</a:t>
            </a:r>
            <a:endParaRPr lang="ru-RU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40500-D378-C8DC-FA12-72E1548E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790F4-24B1-7E6A-3DB5-C7A2ADC85984}"/>
              </a:ext>
            </a:extLst>
          </p:cNvPr>
          <p:cNvSpPr txBox="1"/>
          <p:nvPr/>
        </p:nvSpPr>
        <p:spPr>
          <a:xfrm>
            <a:off x="6384174" y="1690688"/>
            <a:ext cx="580782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source[]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dynamic world!"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(source);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*copy = malloc(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(copy == NULL)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 хватило памяти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(copy, source);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puts(copy);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free(copy);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D19FF-08DC-8A05-4075-D634AC8E279B}"/>
              </a:ext>
            </a:extLst>
          </p:cNvPr>
          <p:cNvSpPr txBox="1"/>
          <p:nvPr/>
        </p:nvSpPr>
        <p:spPr>
          <a:xfrm>
            <a:off x="6384174" y="6406684"/>
            <a:ext cx="362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https://godbolt.org/z/n1xev9Ys5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DA73E-9552-37CD-12B2-57FF9193A306}"/>
              </a:ext>
            </a:extLst>
          </p:cNvPr>
          <p:cNvSpPr txBox="1"/>
          <p:nvPr/>
        </p:nvSpPr>
        <p:spPr>
          <a:xfrm>
            <a:off x="1167939" y="6176963"/>
            <a:ext cx="398595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Hello, dynamic world!</a:t>
            </a:r>
          </a:p>
        </p:txBody>
      </p:sp>
    </p:spTree>
    <p:extLst>
      <p:ext uri="{BB962C8B-B14F-4D97-AF65-F5344CB8AC3E}">
        <p14:creationId xmlns:p14="http://schemas.microsoft.com/office/powerpoint/2010/main" val="404213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B4233-15FC-0218-C5B6-4A581519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3F367-B81C-9FAA-EEC8-8C17224D007C}"/>
              </a:ext>
            </a:extLst>
          </p:cNvPr>
          <p:cNvSpPr txBox="1"/>
          <p:nvPr/>
        </p:nvSpPr>
        <p:spPr>
          <a:xfrm>
            <a:off x="1" y="0"/>
            <a:ext cx="609599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*s = NULL;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!=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EOF)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NULL)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free(s);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NULL)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free(s);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NULL;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C13C2-7615-B6BC-71A9-C1C83D01FF20}"/>
              </a:ext>
            </a:extLst>
          </p:cNvPr>
          <p:cNvSpPr txBox="1"/>
          <p:nvPr/>
        </p:nvSpPr>
        <p:spPr>
          <a:xfrm>
            <a:off x="6096000" y="3493264"/>
            <a:ext cx="4326775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*line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(line == NULL)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puts(line);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free(line);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8A29D-EBDA-D7E8-8A85-AB37360DDB8B}"/>
              </a:ext>
            </a:extLst>
          </p:cNvPr>
          <p:cNvSpPr txBox="1"/>
          <p:nvPr/>
        </p:nvSpPr>
        <p:spPr>
          <a:xfrm>
            <a:off x="6082145" y="5909692"/>
            <a:ext cx="3793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https://godbolt.org/z/7EqW6hhP7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06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B72B-B58C-C81F-C8FA-61500E3B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09C30-1EDD-FBB1-A3C2-B8F4667A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BC56D-3823-BD7F-BC00-CC2E64D3E14A}"/>
              </a:ext>
            </a:extLst>
          </p:cNvPr>
          <p:cNvSpPr txBox="1"/>
          <p:nvPr/>
        </p:nvSpPr>
        <p:spPr>
          <a:xfrm>
            <a:off x="1" y="0"/>
            <a:ext cx="609599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*s = NULL;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 !=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EOF)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NULL)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goto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error;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++] =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NULL)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goto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error;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s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s[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error: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free(s);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NULL;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BD993-1044-2F25-2F95-D1D5A1AFED84}"/>
              </a:ext>
            </a:extLst>
          </p:cNvPr>
          <p:cNvSpPr txBox="1"/>
          <p:nvPr/>
        </p:nvSpPr>
        <p:spPr>
          <a:xfrm>
            <a:off x="6096000" y="3493264"/>
            <a:ext cx="4326775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*line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(line == NULL)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puts(line);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free(line);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5477D-C33B-3CD0-DB14-8BEED9D9905C}"/>
              </a:ext>
            </a:extLst>
          </p:cNvPr>
          <p:cNvSpPr txBox="1"/>
          <p:nvPr/>
        </p:nvSpPr>
        <p:spPr>
          <a:xfrm>
            <a:off x="6082145" y="5909692"/>
            <a:ext cx="3793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https://godbolt.org/z/5G3G3aeqx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9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80BF18-970D-6FAD-AE3D-18636B6B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Динамическое выделение массивов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DE49E-F963-CC6D-6B31-C33C89C0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Память можно выделять не только под строки</a:t>
            </a:r>
          </a:p>
          <a:p>
            <a:r>
              <a:rPr lang="ru-RU" dirty="0"/>
              <a:t>Любой массив можно создать динамически: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*p = malloc(N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(type));</a:t>
            </a:r>
          </a:p>
          <a:p>
            <a:r>
              <a:rPr lang="ru-RU" b="1" dirty="0"/>
              <a:t>Пример: массив </a:t>
            </a:r>
            <a:r>
              <a:rPr lang="en-US" b="1" dirty="0"/>
              <a:t>int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int *a = malloc(100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(a == NULL)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/* </a:t>
            </a:r>
            <a:r>
              <a:rPr lang="ru-RU" dirty="0">
                <a:latin typeface="Consolas" panose="020B0609020204030204" pitchFamily="49" charset="0"/>
              </a:rPr>
              <a:t>обработка ошибки */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ru-RU" dirty="0"/>
              <a:t>Создаётся массив из 100 элементов типа </a:t>
            </a:r>
            <a:r>
              <a:rPr lang="en-US" dirty="0"/>
              <a:t>int.</a:t>
            </a:r>
          </a:p>
          <a:p>
            <a:r>
              <a:rPr lang="ru-RU" b="1" dirty="0"/>
              <a:t>Общее правило</a:t>
            </a:r>
          </a:p>
          <a:p>
            <a:pPr lvl="1"/>
            <a:r>
              <a:rPr lang="ru-RU" dirty="0" err="1"/>
              <a:t>malloc</a:t>
            </a:r>
            <a:r>
              <a:rPr lang="ru-RU" dirty="0"/>
              <a:t>(</a:t>
            </a:r>
            <a:r>
              <a:rPr lang="ru-RU" dirty="0" err="1"/>
              <a:t>количество_элементов</a:t>
            </a:r>
            <a:r>
              <a:rPr lang="ru-RU" dirty="0"/>
              <a:t> * </a:t>
            </a:r>
            <a:r>
              <a:rPr lang="ru-RU" dirty="0" err="1"/>
              <a:t>sizeof</a:t>
            </a:r>
            <a:r>
              <a:rPr lang="ru-RU" dirty="0"/>
              <a:t>(тип))</a:t>
            </a:r>
          </a:p>
          <a:p>
            <a:r>
              <a:rPr lang="ru-RU" b="1" dirty="0"/>
              <a:t>Важно</a:t>
            </a:r>
          </a:p>
          <a:p>
            <a:pPr lvl="1"/>
            <a:r>
              <a:rPr lang="ru-RU" dirty="0" err="1"/>
              <a:t>sizeof</a:t>
            </a:r>
            <a:r>
              <a:rPr lang="ru-RU" dirty="0"/>
              <a:t>(</a:t>
            </a:r>
            <a:r>
              <a:rPr lang="ru-RU" dirty="0" err="1"/>
              <a:t>type</a:t>
            </a:r>
            <a:r>
              <a:rPr lang="ru-RU" dirty="0"/>
              <a:t>) возвращает размер одного элемента в байтах.</a:t>
            </a:r>
          </a:p>
          <a:p>
            <a:pPr lvl="1"/>
            <a:r>
              <a:rPr lang="ru-RU" dirty="0"/>
              <a:t>Память необходимо освобождать через </a:t>
            </a:r>
            <a:r>
              <a:rPr lang="ru-RU" dirty="0" err="1"/>
              <a:t>free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Проверка на NULL обязательна.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00392-9D38-D32B-D314-ECDDFCFE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3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41A56-0819-5668-DCEA-E8B3CB10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9FE2E-CA40-68DA-E089-16440794D440}"/>
              </a:ext>
            </a:extLst>
          </p:cNvPr>
          <p:cNvSpPr txBox="1"/>
          <p:nvPr/>
        </p:nvSpPr>
        <p:spPr>
          <a:xfrm>
            <a:off x="177421" y="136525"/>
            <a:ext cx="8963166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</a:t>
            </a:r>
            <a:r>
              <a:rPr lang="en-US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&amp;N) !=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*a = malloc(N *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== NULL)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&amp;a[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!=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free(a);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a[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free(a);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2A062-5374-CEDE-3DCB-E6B89A86647A}"/>
              </a:ext>
            </a:extLst>
          </p:cNvPr>
          <p:cNvSpPr txBox="1"/>
          <p:nvPr/>
        </p:nvSpPr>
        <p:spPr>
          <a:xfrm>
            <a:off x="6098276" y="542404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https://godbolt.org/z/aWEoPMfs9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80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07B41C-302F-8117-577A-34921FCA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A4E27-F125-1976-A7DF-79FA037E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Что было рассмотрено</a:t>
            </a:r>
          </a:p>
          <a:p>
            <a:pPr lvl="1"/>
            <a:r>
              <a:rPr lang="ru-RU" dirty="0"/>
              <a:t>Одномерные массивы как непрерывные области памяти.</a:t>
            </a:r>
          </a:p>
          <a:p>
            <a:pPr lvl="1"/>
            <a:r>
              <a:rPr lang="ru-RU" dirty="0"/>
              <a:t>Тип </a:t>
            </a:r>
            <a:r>
              <a:rPr lang="ru-RU" dirty="0" err="1"/>
              <a:t>char</a:t>
            </a:r>
            <a:r>
              <a:rPr lang="ru-RU" dirty="0"/>
              <a:t> как единица измерения памяти (</a:t>
            </a:r>
            <a:r>
              <a:rPr lang="ru-RU" dirty="0" err="1"/>
              <a:t>sizeof</a:t>
            </a:r>
            <a:r>
              <a:rPr lang="ru-RU" dirty="0"/>
              <a:t>(</a:t>
            </a:r>
            <a:r>
              <a:rPr lang="ru-RU" dirty="0" err="1"/>
              <a:t>char</a:t>
            </a:r>
            <a:r>
              <a:rPr lang="ru-RU" dirty="0"/>
              <a:t>) == 1).</a:t>
            </a:r>
          </a:p>
          <a:p>
            <a:pPr lvl="1"/>
            <a:r>
              <a:rPr lang="ru-RU" dirty="0"/>
              <a:t>Строка — массив </a:t>
            </a:r>
            <a:r>
              <a:rPr lang="ru-RU" dirty="0" err="1"/>
              <a:t>char</a:t>
            </a:r>
            <a:r>
              <a:rPr lang="ru-RU" dirty="0"/>
              <a:t>, завершающийся '\0'.</a:t>
            </a:r>
          </a:p>
          <a:p>
            <a:pPr lvl="1"/>
            <a:r>
              <a:rPr lang="ru-RU" dirty="0"/>
              <a:t>Указатели и связь массивов с адресами.</a:t>
            </a:r>
          </a:p>
          <a:p>
            <a:pPr lvl="1"/>
            <a:r>
              <a:rPr lang="ru-RU" dirty="0"/>
              <a:t>Основные функции &lt;</a:t>
            </a:r>
            <a:r>
              <a:rPr lang="ru-RU" dirty="0" err="1"/>
              <a:t>string.h</a:t>
            </a:r>
            <a:r>
              <a:rPr lang="ru-RU" dirty="0"/>
              <a:t>&gt;.</a:t>
            </a:r>
          </a:p>
          <a:p>
            <a:pPr lvl="1"/>
            <a:r>
              <a:rPr lang="ru-RU" dirty="0"/>
              <a:t>Динамическое выделение памяти для массивов и строк.</a:t>
            </a:r>
          </a:p>
          <a:p>
            <a:r>
              <a:rPr lang="ru-RU" b="1" dirty="0"/>
              <a:t>Ключевые идеи</a:t>
            </a:r>
          </a:p>
          <a:p>
            <a:pPr lvl="1"/>
            <a:r>
              <a:rPr lang="ru-RU" dirty="0"/>
              <a:t>Массив — это непрерывный участок памяти.</a:t>
            </a:r>
          </a:p>
          <a:p>
            <a:pPr lvl="1"/>
            <a:r>
              <a:rPr lang="ru-RU" dirty="0"/>
              <a:t>Строка — это соглашение поверх массива.</a:t>
            </a:r>
          </a:p>
          <a:p>
            <a:pPr lvl="1"/>
            <a:r>
              <a:rPr lang="ru-RU" dirty="0"/>
              <a:t>Длина строки не хранится явно.</a:t>
            </a:r>
          </a:p>
          <a:p>
            <a:pPr lvl="1"/>
            <a:r>
              <a:rPr lang="ru-RU" dirty="0"/>
              <a:t>Все операции сводятся к работе с байтами и адресами.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62A532-5619-D1A9-45C9-447A8089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E9561-002A-41EF-B5BA-43A01A72A4F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80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68b760-d21f-4b9a-b4bb-b9454236800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8277</Words>
  <Application>Microsoft Office PowerPoint</Application>
  <PresentationFormat>Widescreen</PresentationFormat>
  <Paragraphs>846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Courier New</vt:lpstr>
      <vt:lpstr>Office Theme</vt:lpstr>
      <vt:lpstr>Работа со строками</vt:lpstr>
      <vt:lpstr>Как хранится текст в памяти компьютера</vt:lpstr>
      <vt:lpstr>Тип char и память</vt:lpstr>
      <vt:lpstr>Символьные константы</vt:lpstr>
      <vt:lpstr>Строка как массив char</vt:lpstr>
      <vt:lpstr>Почему нужен '\0'?</vt:lpstr>
      <vt:lpstr>Упрощённая реализация puts через putchar</vt:lpstr>
      <vt:lpstr>Функция my_strlen</vt:lpstr>
      <vt:lpstr>Почему строки в C завершаются '\0'?</vt:lpstr>
      <vt:lpstr>Ошибки с размером массива</vt:lpstr>
      <vt:lpstr>Вывод строк</vt:lpstr>
      <vt:lpstr>Ввод строк: scanf</vt:lpstr>
      <vt:lpstr>Ввод строк: fgets</vt:lpstr>
      <vt:lpstr>Копирование строк</vt:lpstr>
      <vt:lpstr>Сравнение строк</vt:lpstr>
      <vt:lpstr>Указатели на char</vt:lpstr>
      <vt:lpstr>Массивы и указатели</vt:lpstr>
      <vt:lpstr>Константность указателя и данных</vt:lpstr>
      <vt:lpstr>Стандартная библиотека работы со строками string.h</vt:lpstr>
      <vt:lpstr>Копирование строки с учётом длины</vt:lpstr>
      <vt:lpstr>Сравнение строк</vt:lpstr>
      <vt:lpstr>Конкатенация строк</vt:lpstr>
      <vt:lpstr>Проблема строк произвольной длины</vt:lpstr>
      <vt:lpstr>Динамическое выделение памяти</vt:lpstr>
      <vt:lpstr>Динамическое копирование строки</vt:lpstr>
      <vt:lpstr>PowerPoint Presentation</vt:lpstr>
      <vt:lpstr>PowerPoint Presentation</vt:lpstr>
      <vt:lpstr>Динамическое выделение массивов</vt:lpstr>
      <vt:lpstr>PowerPoint Presentation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64</cp:revision>
  <dcterms:created xsi:type="dcterms:W3CDTF">2026-02-16T20:40:07Z</dcterms:created>
  <dcterms:modified xsi:type="dcterms:W3CDTF">2026-02-24T14:39:31Z</dcterms:modified>
</cp:coreProperties>
</file>