
<file path=[Content_Types].xml><?xml version="1.0" encoding="utf-8"?>
<Types xmlns="http://schemas.openxmlformats.org/package/2006/content-types">
  <Default Extension="jpeg" ContentType="image/jpe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tags/tag1.xml" ContentType="application/vnd.openxmlformats-officedocument.presentationml.tags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0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howSpecialPlsOnTitleSld="0" saveSubsetFonts="1">
  <p:sldMasterIdLst>
    <p:sldMasterId id="2147483648" r:id="rId1"/>
  </p:sldMasterIdLst>
  <p:notesMasterIdLst>
    <p:notesMasterId r:id="rId32"/>
  </p:notesMasterIdLst>
  <p:sldIdLst>
    <p:sldId id="256" r:id="rId2"/>
    <p:sldId id="257" r:id="rId3"/>
    <p:sldId id="258" r:id="rId4"/>
    <p:sldId id="263" r:id="rId5"/>
    <p:sldId id="259" r:id="rId6"/>
    <p:sldId id="264" r:id="rId7"/>
    <p:sldId id="265" r:id="rId8"/>
    <p:sldId id="266" r:id="rId9"/>
    <p:sldId id="267" r:id="rId10"/>
    <p:sldId id="268" r:id="rId11"/>
    <p:sldId id="269" r:id="rId12"/>
    <p:sldId id="270" r:id="rId13"/>
    <p:sldId id="271" r:id="rId14"/>
    <p:sldId id="272" r:id="rId15"/>
    <p:sldId id="273" r:id="rId16"/>
    <p:sldId id="274" r:id="rId17"/>
    <p:sldId id="275" r:id="rId18"/>
    <p:sldId id="277" r:id="rId19"/>
    <p:sldId id="276" r:id="rId20"/>
    <p:sldId id="278" r:id="rId21"/>
    <p:sldId id="279" r:id="rId22"/>
    <p:sldId id="280" r:id="rId23"/>
    <p:sldId id="281" r:id="rId24"/>
    <p:sldId id="288" r:id="rId25"/>
    <p:sldId id="282" r:id="rId26"/>
    <p:sldId id="283" r:id="rId27"/>
    <p:sldId id="284" r:id="rId28"/>
    <p:sldId id="285" r:id="rId29"/>
    <p:sldId id="286" r:id="rId30"/>
    <p:sldId id="287" r:id="rId31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83" userDrawn="1">
          <p15:clr>
            <a:srgbClr val="A4A3A4"/>
          </p15:clr>
        </p15:guide>
        <p15:guide id="2" pos="384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4995" autoAdjust="0"/>
    <p:restoredTop sz="74150" autoAdjust="0"/>
  </p:normalViewPr>
  <p:slideViewPr>
    <p:cSldViewPr snapToGrid="0" showGuides="1">
      <p:cViewPr varScale="1">
        <p:scale>
          <a:sx n="70" d="100"/>
          <a:sy n="70" d="100"/>
        </p:scale>
        <p:origin x="2070" y="288"/>
      </p:cViewPr>
      <p:guideLst>
        <p:guide orient="horz" pos="2183"/>
        <p:guide pos="384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slide" Target="slides/slide25.xml"/><Relationship Id="rId3" Type="http://schemas.openxmlformats.org/officeDocument/2006/relationships/slide" Target="slides/slide2.xml"/><Relationship Id="rId21" Type="http://schemas.openxmlformats.org/officeDocument/2006/relationships/slide" Target="slides/slide20.xml"/><Relationship Id="rId34" Type="http://schemas.openxmlformats.org/officeDocument/2006/relationships/viewProps" Target="viewProps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33" Type="http://schemas.openxmlformats.org/officeDocument/2006/relationships/presProps" Target="presProps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29" Type="http://schemas.openxmlformats.org/officeDocument/2006/relationships/slide" Target="slides/slide28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32" Type="http://schemas.openxmlformats.org/officeDocument/2006/relationships/notesMaster" Target="notesMasters/notesMaster1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slide" Target="slides/slide27.xml"/><Relationship Id="rId36" Type="http://schemas.openxmlformats.org/officeDocument/2006/relationships/tableStyles" Target="tableStyles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31" Type="http://schemas.openxmlformats.org/officeDocument/2006/relationships/slide" Target="slides/slide30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30" Type="http://schemas.openxmlformats.org/officeDocument/2006/relationships/slide" Target="slides/slide29.xml"/><Relationship Id="rId35" Type="http://schemas.openxmlformats.org/officeDocument/2006/relationships/theme" Target="theme/theme1.xml"/><Relationship Id="rId8" Type="http://schemas.openxmlformats.org/officeDocument/2006/relationships/slide" Target="slides/slide7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426890D5-55D3-4584-BC51-03E5E36A84C4}" type="datetimeFigureOut">
              <a:rPr lang="en-US" smtClean="0"/>
              <a:t>2/17/2026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E59A46E3-A062-4F85-8E8F-D4EACE1D224A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48183948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.xml"/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.xml"/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7.xml"/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8.xml"/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9.xml"/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0.xml"/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1.xml"/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2.xml"/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3.xml"/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4.xml"/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5.xml"/><Relationship Id="rId1" Type="http://schemas.openxmlformats.org/officeDocument/2006/relationships/notesMaster" Target="../notesMasters/notesMaster1.xml"/></Relationships>
</file>

<file path=ppt/notesSlides/_rels/notesSlide2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6.xml"/><Relationship Id="rId1" Type="http://schemas.openxmlformats.org/officeDocument/2006/relationships/notesMaster" Target="../notesMasters/notesMaster1.xml"/></Relationships>
</file>

<file path=ppt/notesSlides/_rels/notesSlide2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7.xml"/><Relationship Id="rId1" Type="http://schemas.openxmlformats.org/officeDocument/2006/relationships/notesMaster" Target="../notesMasters/notesMaster1.xml"/></Relationships>
</file>

<file path=ppt/notesSlides/_rels/notesSlide2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8.xml"/><Relationship Id="rId1" Type="http://schemas.openxmlformats.org/officeDocument/2006/relationships/notesMaster" Target="../notesMasters/notesMaster1.xml"/></Relationships>
</file>

<file path=ppt/notesSlides/_rels/notesSlide2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9.xml"/><Relationship Id="rId1" Type="http://schemas.openxmlformats.org/officeDocument/2006/relationships/notesMaster" Target="../notesMasters/notesMaster1.xml"/></Relationships>
</file>

<file path=ppt/notesSlides/_rels/notesSlide3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0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E59A46E3-A062-4F85-8E8F-D4EACE1D224A}" type="slidenum">
              <a:rPr lang="en-US" smtClean="0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01977459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ru-RU" dirty="0"/>
              <a:t>До этого момента мы работали с числами и массивами.</a:t>
            </a:r>
            <a:br>
              <a:rPr lang="ru-RU" dirty="0"/>
            </a:br>
            <a:r>
              <a:rPr lang="ru-RU" dirty="0"/>
              <a:t>Теперь возникает естественный вопрос — а как хранится текст?</a:t>
            </a:r>
          </a:p>
          <a:p>
            <a:r>
              <a:rPr lang="ru-RU" dirty="0"/>
              <a:t>Когда мы пишем:</a:t>
            </a:r>
          </a:p>
          <a:p>
            <a:pPr rtl="0"/>
            <a:r>
              <a:rPr lang="ru-RU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printf</a:t>
            </a:r>
            <a:r>
              <a:rPr lang="ru-RU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("Hello");</a:t>
            </a:r>
          </a:p>
          <a:p>
            <a:r>
              <a:rPr lang="ru-RU" dirty="0"/>
              <a:t>кажется, что существует какой-то специальный тип данных “строка”.</a:t>
            </a:r>
            <a:br>
              <a:rPr lang="ru-RU" dirty="0"/>
            </a:br>
            <a:r>
              <a:rPr lang="ru-RU" dirty="0"/>
              <a:t>Но на уровне процессора никакого текста не существует.</a:t>
            </a:r>
          </a:p>
          <a:p>
            <a:r>
              <a:rPr lang="ru-RU" dirty="0"/>
              <a:t>Процессор знает только:</a:t>
            </a:r>
          </a:p>
          <a:p>
            <a:r>
              <a:rPr lang="ru-RU" dirty="0"/>
              <a:t>байты,</a:t>
            </a:r>
          </a:p>
          <a:p>
            <a:r>
              <a:rPr lang="ru-RU" dirty="0"/>
              <a:t>числа,</a:t>
            </a:r>
          </a:p>
          <a:p>
            <a:r>
              <a:rPr lang="ru-RU" dirty="0"/>
              <a:t>адреса,</a:t>
            </a:r>
          </a:p>
          <a:p>
            <a:r>
              <a:rPr lang="ru-RU" dirty="0"/>
              <a:t>и инструкции.</a:t>
            </a:r>
          </a:p>
          <a:p>
            <a:r>
              <a:rPr lang="ru-RU" dirty="0"/>
              <a:t>Символ </a:t>
            </a:r>
            <a:r>
              <a:rPr lang="ru-RU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'A'</a:t>
            </a:r>
            <a:r>
              <a:rPr lang="ru-RU" dirty="0"/>
              <a:t> — это не буква. Это просто число 65.</a:t>
            </a:r>
            <a:br>
              <a:rPr lang="ru-RU" dirty="0"/>
            </a:br>
            <a:r>
              <a:rPr lang="ru-RU" dirty="0"/>
              <a:t>Символ </a:t>
            </a:r>
            <a:r>
              <a:rPr lang="ru-RU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'i'</a:t>
            </a:r>
            <a:r>
              <a:rPr lang="ru-RU" dirty="0"/>
              <a:t> — это число 105.</a:t>
            </a:r>
          </a:p>
          <a:p>
            <a:r>
              <a:rPr lang="ru-RU" dirty="0"/>
              <a:t>Когда мы записываем строку </a:t>
            </a:r>
            <a:r>
              <a:rPr lang="ru-RU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"Hi"</a:t>
            </a:r>
            <a:r>
              <a:rPr lang="ru-RU" dirty="0"/>
              <a:t>, в памяти лежат просто три байта:</a:t>
            </a:r>
          </a:p>
          <a:p>
            <a:r>
              <a:rPr lang="ru-RU" dirty="0"/>
              <a:t>72</a:t>
            </a:r>
          </a:p>
          <a:p>
            <a:r>
              <a:rPr lang="ru-RU" dirty="0"/>
              <a:t>105</a:t>
            </a:r>
          </a:p>
          <a:p>
            <a:r>
              <a:rPr lang="ru-RU" dirty="0"/>
              <a:t>0</a:t>
            </a:r>
          </a:p>
          <a:p>
            <a:r>
              <a:rPr lang="ru-RU" dirty="0"/>
              <a:t>Последний ноль — это очень важно.</a:t>
            </a:r>
            <a:br>
              <a:rPr lang="ru-RU" dirty="0"/>
            </a:br>
            <a:r>
              <a:rPr lang="ru-RU" dirty="0"/>
              <a:t>Это специальный символ </a:t>
            </a:r>
            <a:r>
              <a:rPr lang="ru-RU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'\0'</a:t>
            </a:r>
            <a:r>
              <a:rPr lang="ru-RU" dirty="0"/>
              <a:t>, который говорит программе:</a:t>
            </a:r>
            <a:br>
              <a:rPr lang="ru-RU" dirty="0"/>
            </a:br>
            <a:r>
              <a:rPr lang="ru-RU" dirty="0"/>
              <a:t>“строка закончилась”.</a:t>
            </a:r>
          </a:p>
          <a:p>
            <a:r>
              <a:rPr lang="ru-RU" dirty="0"/>
              <a:t>Процессор не хранит длину строки отдельно.</a:t>
            </a:r>
            <a:br>
              <a:rPr lang="ru-RU" dirty="0"/>
            </a:br>
            <a:r>
              <a:rPr lang="ru-RU" dirty="0"/>
              <a:t>Он просто идёт по памяти, пока не встретит нулевой байт.</a:t>
            </a:r>
          </a:p>
          <a:p>
            <a:r>
              <a:rPr lang="ru-RU" dirty="0"/>
              <a:t>И вот здесь происходит очень важный момент нашего курса:</a:t>
            </a:r>
          </a:p>
          <a:p>
            <a:r>
              <a:rPr lang="ru-RU" dirty="0"/>
              <a:t>Строка — это не магия.</a:t>
            </a:r>
            <a:br>
              <a:rPr lang="ru-RU" dirty="0"/>
            </a:br>
            <a:r>
              <a:rPr lang="ru-RU" dirty="0"/>
              <a:t>Это обычный массив байтов.</a:t>
            </a:r>
          </a:p>
          <a:p>
            <a:r>
              <a:rPr lang="ru-RU" dirty="0"/>
              <a:t>А значит, всё, что мы изучали:</a:t>
            </a:r>
          </a:p>
          <a:p>
            <a:r>
              <a:rPr lang="ru-RU" dirty="0"/>
              <a:t>индексы,</a:t>
            </a:r>
          </a:p>
          <a:p>
            <a:r>
              <a:rPr lang="ru-RU" dirty="0"/>
              <a:t>циклы,</a:t>
            </a:r>
          </a:p>
          <a:p>
            <a:r>
              <a:rPr lang="ru-RU" dirty="0"/>
              <a:t>сравнения,</a:t>
            </a:r>
          </a:p>
          <a:p>
            <a:r>
              <a:rPr lang="ru-RU" dirty="0"/>
              <a:t>переходы,</a:t>
            </a:r>
          </a:p>
          <a:p>
            <a:r>
              <a:rPr lang="ru-RU" dirty="0"/>
              <a:t>— полностью применимо к строкам.</a:t>
            </a:r>
          </a:p>
          <a:p>
            <a:r>
              <a:rPr lang="ru-RU" dirty="0"/>
              <a:t>Сегодня мы будем разбирать, как именно это работает.</a:t>
            </a:r>
          </a:p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E59A46E3-A062-4F85-8E8F-D4EACE1D224A}" type="slidenum">
              <a:rPr lang="en-US" smtClean="0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38072132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ru-RU" dirty="0"/>
              <a:t>Чтобы понять строки, нужно сначала понять тип </a:t>
            </a:r>
            <a:r>
              <a:rPr lang="ru-RU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char</a:t>
            </a:r>
            <a:r>
              <a:rPr lang="ru-RU" dirty="0"/>
              <a:t>.</a:t>
            </a:r>
          </a:p>
          <a:p>
            <a:r>
              <a:rPr lang="ru-RU" dirty="0"/>
              <a:t>Тип </a:t>
            </a:r>
            <a:r>
              <a:rPr lang="ru-RU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char</a:t>
            </a:r>
            <a:r>
              <a:rPr lang="ru-RU" dirty="0"/>
              <a:t> — это самый маленький тип данных в C.</a:t>
            </a:r>
            <a:br>
              <a:rPr lang="ru-RU" dirty="0"/>
            </a:br>
            <a:r>
              <a:rPr lang="ru-RU" dirty="0"/>
              <a:t>Он занимает ровно один байт.</a:t>
            </a:r>
          </a:p>
          <a:p>
            <a:r>
              <a:rPr lang="ru-RU" dirty="0"/>
              <a:t>Один байт — это 8 бит.</a:t>
            </a:r>
            <a:br>
              <a:rPr lang="ru-RU" dirty="0"/>
            </a:br>
            <a:r>
              <a:rPr lang="ru-RU" dirty="0"/>
              <a:t>И этот байт хранит просто число.</a:t>
            </a:r>
          </a:p>
          <a:p>
            <a:r>
              <a:rPr lang="ru-RU" dirty="0"/>
              <a:t>Когда мы пишем:</a:t>
            </a:r>
          </a:p>
          <a:p>
            <a:pPr rtl="0"/>
            <a:r>
              <a:rPr lang="ru-RU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char</a:t>
            </a:r>
            <a:r>
              <a:rPr lang="ru-RU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 c = 'A';</a:t>
            </a:r>
          </a:p>
          <a:p>
            <a:r>
              <a:rPr lang="ru-RU" dirty="0"/>
              <a:t>кажется, что мы сохраняем букву.</a:t>
            </a:r>
            <a:br>
              <a:rPr lang="ru-RU" dirty="0"/>
            </a:br>
            <a:r>
              <a:rPr lang="ru-RU" dirty="0"/>
              <a:t>Но на самом деле в памяти лежит число 65 — код символа </a:t>
            </a:r>
            <a:r>
              <a:rPr lang="ru-RU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'A'</a:t>
            </a:r>
            <a:r>
              <a:rPr lang="ru-RU" dirty="0"/>
              <a:t>.</a:t>
            </a:r>
          </a:p>
          <a:p>
            <a:r>
              <a:rPr lang="ru-RU" dirty="0"/>
              <a:t>Это очень важно: в компьютере нет букв — есть только числа.</a:t>
            </a:r>
          </a:p>
          <a:p>
            <a:r>
              <a:rPr lang="ru-RU" dirty="0"/>
              <a:t>Теперь ключевой момент про </a:t>
            </a:r>
            <a:r>
              <a:rPr lang="ru-RU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sizeof</a:t>
            </a:r>
            <a:r>
              <a:rPr lang="ru-RU" dirty="0"/>
              <a:t>.</a:t>
            </a:r>
            <a:br>
              <a:rPr lang="ru-RU" dirty="0"/>
            </a:br>
            <a:r>
              <a:rPr lang="ru-RU" dirty="0"/>
              <a:t>Но </a:t>
            </a:r>
            <a:r>
              <a:rPr lang="ru-RU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sizeof</a:t>
            </a:r>
            <a:r>
              <a:rPr lang="ru-RU" dirty="0"/>
              <a:t> возвращает размер </a:t>
            </a:r>
            <a:r>
              <a:rPr lang="ru-RU" b="1" dirty="0"/>
              <a:t>в байтах</a:t>
            </a:r>
            <a:r>
              <a:rPr lang="ru-RU" dirty="0"/>
              <a:t>.</a:t>
            </a:r>
          </a:p>
          <a:p>
            <a:r>
              <a:rPr lang="ru-RU" dirty="0"/>
              <a:t>А что такое байт в языке C?</a:t>
            </a:r>
          </a:p>
          <a:p>
            <a:r>
              <a:rPr lang="ru-RU" dirty="0"/>
              <a:t>По стандарту C:</a:t>
            </a:r>
          </a:p>
          <a:p>
            <a:pPr rtl="0"/>
            <a:r>
              <a:rPr lang="ru-RU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sizeof</a:t>
            </a:r>
            <a:r>
              <a:rPr lang="ru-RU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(</a:t>
            </a:r>
            <a:r>
              <a:rPr lang="ru-RU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char</a:t>
            </a:r>
            <a:r>
              <a:rPr lang="ru-RU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) == 1</a:t>
            </a:r>
          </a:p>
          <a:p>
            <a:r>
              <a:rPr lang="ru-RU" dirty="0"/>
              <a:t>Это определение.</a:t>
            </a:r>
          </a:p>
          <a:p>
            <a:r>
              <a:rPr lang="ru-RU" dirty="0"/>
              <a:t>То есть один байт — это размер типа </a:t>
            </a:r>
            <a:r>
              <a:rPr lang="ru-RU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char</a:t>
            </a:r>
            <a:r>
              <a:rPr lang="ru-RU" dirty="0"/>
              <a:t>.</a:t>
            </a:r>
          </a:p>
          <a:p>
            <a:r>
              <a:rPr lang="ru-RU" dirty="0"/>
              <a:t>Когда мы пишем:</a:t>
            </a:r>
          </a:p>
          <a:p>
            <a:pPr rtl="0"/>
            <a:r>
              <a:rPr lang="ru-RU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sizeof</a:t>
            </a:r>
            <a:r>
              <a:rPr lang="ru-RU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(</a:t>
            </a:r>
            <a:r>
              <a:rPr lang="ru-RU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int</a:t>
            </a:r>
            <a:r>
              <a:rPr lang="ru-RU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)</a:t>
            </a:r>
          </a:p>
          <a:p>
            <a:r>
              <a:rPr lang="ru-RU" dirty="0"/>
              <a:t>и получаем, например, 4 —</a:t>
            </a:r>
            <a:br>
              <a:rPr lang="ru-RU" dirty="0"/>
            </a:br>
            <a:r>
              <a:rPr lang="ru-RU" dirty="0"/>
              <a:t>это означает, что </a:t>
            </a:r>
            <a:r>
              <a:rPr lang="ru-RU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int</a:t>
            </a:r>
            <a:r>
              <a:rPr lang="ru-RU" dirty="0"/>
              <a:t> занимает 4 байта,</a:t>
            </a:r>
            <a:br>
              <a:rPr lang="ru-RU" dirty="0"/>
            </a:br>
            <a:r>
              <a:rPr lang="ru-RU" dirty="0"/>
              <a:t>то есть 4 объекта типа </a:t>
            </a:r>
            <a:r>
              <a:rPr lang="ru-RU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char</a:t>
            </a:r>
            <a:r>
              <a:rPr lang="ru-RU" dirty="0"/>
              <a:t>.</a:t>
            </a:r>
          </a:p>
          <a:p>
            <a:r>
              <a:rPr lang="ru-RU" dirty="0"/>
              <a:t>Таким образом, тип </a:t>
            </a:r>
            <a:r>
              <a:rPr lang="ru-RU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char</a:t>
            </a:r>
            <a:r>
              <a:rPr lang="ru-RU" dirty="0"/>
              <a:t> — это фундамент измерения памяти.</a:t>
            </a:r>
          </a:p>
          <a:p>
            <a:r>
              <a:rPr lang="ru-RU" dirty="0"/>
              <a:t>Вся память в C измеряется через </a:t>
            </a:r>
            <a:r>
              <a:rPr lang="ru-RU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char</a:t>
            </a:r>
            <a:r>
              <a:rPr lang="ru-RU" dirty="0"/>
              <a:t>.</a:t>
            </a:r>
            <a:br>
              <a:rPr lang="ru-RU" dirty="0"/>
            </a:br>
            <a:r>
              <a:rPr lang="ru-RU" dirty="0"/>
              <a:t>И строки — это просто последовательности таких байтов.</a:t>
            </a:r>
          </a:p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E59A46E3-A062-4F85-8E8F-D4EACE1D224A}" type="slidenum">
              <a:rPr lang="en-US" smtClean="0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296823896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6738" name="Rectangle 7"/>
          <p:cNvSpPr>
            <a:spLocks noGrp="1" noChangeArrowheads="1"/>
          </p:cNvSpPr>
          <p:nvPr>
            <p:ph type="sldNum" sz="quarter" idx="5"/>
          </p:nvPr>
        </p:nvSpPr>
        <p:spPr>
          <a:noFill/>
        </p:spPr>
        <p:txBody>
          <a:bodyPr/>
          <a:lstStyle/>
          <a:p>
            <a:fld id="{669C8F7C-2BA4-427E-8D0C-7F24C2D019E5}" type="slidenum">
              <a:rPr lang="ru-RU" smtClean="0"/>
              <a:pPr/>
              <a:t>4</a:t>
            </a:fld>
            <a:endParaRPr lang="ru-RU"/>
          </a:p>
        </p:txBody>
      </p:sp>
      <p:sp>
        <p:nvSpPr>
          <p:cNvPr id="116739" name="Rectangle 2"/>
          <p:cNvSpPr>
            <a:spLocks noGrp="1" noRot="1" noChangeAspect="1" noChangeArrowheads="1" noTextEdit="1"/>
          </p:cNvSpPr>
          <p:nvPr>
            <p:ph type="sldImg"/>
          </p:nvPr>
        </p:nvSpPr>
        <p:spPr>
          <a:xfrm>
            <a:off x="381000" y="685800"/>
            <a:ext cx="6096000" cy="3429000"/>
          </a:xfrm>
          <a:ln/>
        </p:spPr>
      </p:sp>
      <p:sp>
        <p:nvSpPr>
          <p:cNvPr id="116740" name="Rectangle 3"/>
          <p:cNvSpPr>
            <a:spLocks noGrp="1" noChangeArrowheads="1"/>
          </p:cNvSpPr>
          <p:nvPr>
            <p:ph type="body" idx="1"/>
          </p:nvPr>
        </p:nvSpPr>
        <p:spPr>
          <a:xfrm>
            <a:off x="188913" y="4343400"/>
            <a:ext cx="6553200" cy="4405313"/>
          </a:xfrm>
          <a:noFill/>
          <a:ln/>
        </p:spPr>
        <p:txBody>
          <a:bodyPr/>
          <a:lstStyle/>
          <a:p>
            <a:r>
              <a:rPr lang="ru-RU" sz="800" dirty="0"/>
              <a:t>Символьная константа — это запись числа в виде символа в одиночных кавычках. Когда мы пишем </a:t>
            </a:r>
            <a:r>
              <a:rPr lang="ru-RU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'A'</a:t>
            </a:r>
            <a:r>
              <a:rPr lang="ru-RU" sz="800" dirty="0"/>
              <a:t>, в программе это не «буква», а целое число, равное коду этой буквы в кодировке. Чаще всего это ASCII, где </a:t>
            </a:r>
            <a:r>
              <a:rPr lang="ru-RU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'A'</a:t>
            </a:r>
            <a:r>
              <a:rPr lang="ru-RU" sz="800" dirty="0"/>
              <a:t> имеет код 65, а </a:t>
            </a:r>
            <a:r>
              <a:rPr lang="ru-RU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'0'</a:t>
            </a:r>
            <a:r>
              <a:rPr lang="ru-RU" sz="800" dirty="0"/>
              <a:t> имеет код 48.</a:t>
            </a:r>
          </a:p>
          <a:p>
            <a:endParaRPr lang="ru-RU" sz="800" dirty="0"/>
          </a:p>
          <a:p>
            <a:r>
              <a:rPr lang="ru-RU" sz="800" dirty="0"/>
              <a:t>Важно понимать, что символьная константа имеет тип </a:t>
            </a:r>
            <a:r>
              <a:rPr lang="ru-RU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int</a:t>
            </a:r>
            <a:r>
              <a:rPr lang="ru-RU" sz="800" dirty="0"/>
              <a:t>, а не </a:t>
            </a:r>
            <a:r>
              <a:rPr lang="ru-RU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char</a:t>
            </a:r>
            <a:r>
              <a:rPr lang="ru-RU" sz="800" dirty="0"/>
              <a:t>. Это историческая особенность языка C. Когда мы присваиваем её переменной типа </a:t>
            </a:r>
            <a:r>
              <a:rPr lang="ru-RU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char</a:t>
            </a:r>
            <a:r>
              <a:rPr lang="ru-RU" sz="800" dirty="0"/>
              <a:t>, происходит обычное приведение типа.</a:t>
            </a:r>
          </a:p>
          <a:p>
            <a:endParaRPr lang="ru-RU" sz="800" dirty="0"/>
          </a:p>
          <a:p>
            <a:r>
              <a:rPr lang="ru-RU" sz="800" dirty="0"/>
              <a:t>Escape-последовательности выглядят как два символа, например </a:t>
            </a:r>
            <a:r>
              <a:rPr lang="ru-RU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\</a:t>
            </a:r>
            <a:r>
              <a:rPr lang="ru-RU" sz="800" dirty="0"/>
              <a:t> и </a:t>
            </a:r>
            <a:r>
              <a:rPr lang="ru-RU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n</a:t>
            </a:r>
            <a:r>
              <a:rPr lang="ru-RU" sz="800" dirty="0"/>
              <a:t>, но обозначают один символ. Запись </a:t>
            </a:r>
            <a:r>
              <a:rPr lang="ru-RU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'\n'</a:t>
            </a:r>
            <a:r>
              <a:rPr lang="ru-RU" sz="800" dirty="0"/>
              <a:t> — это один байт с кодом перевода строки. Аналогично </a:t>
            </a:r>
            <a:r>
              <a:rPr lang="ru-RU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'\0'</a:t>
            </a:r>
            <a:r>
              <a:rPr lang="ru-RU" sz="800" dirty="0"/>
              <a:t> — это один байт со значением 0. Мы часто используем именно запись </a:t>
            </a:r>
            <a:r>
              <a:rPr lang="ru-RU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'\0'</a:t>
            </a:r>
            <a:r>
              <a:rPr lang="ru-RU" sz="800" dirty="0"/>
              <a:t>, чтобы подчеркнуть, что речь идёт о символе, а не просто о числе 0.</a:t>
            </a:r>
          </a:p>
          <a:p>
            <a:endParaRPr lang="ru-RU" sz="800" dirty="0"/>
          </a:p>
          <a:p>
            <a:r>
              <a:rPr lang="ru-RU" sz="800" dirty="0"/>
              <a:t>Также код символа можно задать явно через восьмеричную или шестнадцатеричную запись. Например, </a:t>
            </a:r>
            <a:r>
              <a:rPr lang="ru-RU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'\177'</a:t>
            </a:r>
            <a:r>
              <a:rPr lang="ru-RU" sz="800" dirty="0"/>
              <a:t> — это символ с кодом 127, а </a:t>
            </a:r>
            <a:r>
              <a:rPr lang="ru-RU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'\</a:t>
            </a:r>
            <a:r>
              <a:rPr lang="ru-RU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xff</a:t>
            </a:r>
            <a:r>
              <a:rPr lang="ru-RU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'</a:t>
            </a:r>
            <a:r>
              <a:rPr lang="ru-RU" sz="800" dirty="0"/>
              <a:t> — с кодом 255. Это полезно, когда нужно работать с конкретными байтовыми значениями.</a:t>
            </a:r>
          </a:p>
          <a:p>
            <a:endParaRPr lang="ru-RU" sz="800" dirty="0"/>
          </a:p>
          <a:p>
            <a:r>
              <a:rPr lang="ru-RU" sz="800" dirty="0"/>
              <a:t>Ключевая идея: символьная константа — это обычное число. Именно поэтому мы можем сравнивать символы, вычитать их и использовать в арифметических выражениях. Для процессора это всегда просто числа в памяти.</a:t>
            </a:r>
          </a:p>
          <a:p>
            <a:endParaRPr lang="ru-RU" sz="800" dirty="0"/>
          </a:p>
        </p:txBody>
      </p:sp>
    </p:spTree>
    <p:extLst>
      <p:ext uri="{BB962C8B-B14F-4D97-AF65-F5344CB8AC3E}">
        <p14:creationId xmlns:p14="http://schemas.microsoft.com/office/powerpoint/2010/main" val="1552643503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ru-RU" dirty="0"/>
              <a:t>В языке C нет встроенного типа данных «строка». Это принципиальный момент. Когда мы пишем строку, мы на самом деле создаём массив элементов типа </a:t>
            </a:r>
            <a:r>
              <a:rPr lang="ru-RU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char</a:t>
            </a:r>
            <a:r>
              <a:rPr lang="ru-RU" dirty="0"/>
              <a:t>.</a:t>
            </a:r>
            <a:endParaRPr lang="en-US" dirty="0"/>
          </a:p>
          <a:p>
            <a:endParaRPr lang="ru-RU" dirty="0"/>
          </a:p>
          <a:p>
            <a:r>
              <a:rPr lang="ru-RU" dirty="0"/>
              <a:t>Например, запись </a:t>
            </a:r>
            <a:r>
              <a:rPr lang="ru-RU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char</a:t>
            </a:r>
            <a:r>
              <a:rPr lang="ru-RU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 s[6] = {'H', 'e', 'l', 'l', 'o', '\0'};</a:t>
            </a:r>
            <a:r>
              <a:rPr lang="ru-RU" dirty="0"/>
              <a:t> создаёт массив из шести байтов. Последний элемент — это специальный нулевой символ </a:t>
            </a:r>
            <a:r>
              <a:rPr lang="ru-RU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'\0'</a:t>
            </a:r>
            <a:r>
              <a:rPr lang="ru-RU" dirty="0"/>
              <a:t>. Его код равен нулю, и он используется для обозначения конца строки.</a:t>
            </a:r>
            <a:endParaRPr lang="en-US" dirty="0"/>
          </a:p>
          <a:p>
            <a:endParaRPr lang="ru-RU" dirty="0"/>
          </a:p>
          <a:p>
            <a:r>
              <a:rPr lang="ru-RU" dirty="0"/>
              <a:t>Очень важно понимать, что длина массива и длина строки — это разные вещи. Массив может быть больше, чем фактическая строка. Конец строки определяется не размером массива, а появлением нулевого байта.</a:t>
            </a:r>
          </a:p>
          <a:p>
            <a:r>
              <a:rPr lang="ru-RU" dirty="0"/>
              <a:t>Когда мы используем сокращённую запись </a:t>
            </a:r>
            <a:r>
              <a:rPr lang="ru-RU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char</a:t>
            </a:r>
            <a:r>
              <a:rPr lang="ru-RU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 s[] = "Hello";</a:t>
            </a:r>
            <a:r>
              <a:rPr lang="ru-RU" dirty="0"/>
              <a:t>, компилятор автоматически добавляет завершающий </a:t>
            </a:r>
            <a:r>
              <a:rPr lang="ru-RU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'\0'</a:t>
            </a:r>
            <a:r>
              <a:rPr lang="ru-RU" dirty="0"/>
              <a:t>. В памяти фактически хранится шесть байтов, а не пять.</a:t>
            </a:r>
            <a:endParaRPr lang="en-US" dirty="0"/>
          </a:p>
          <a:p>
            <a:endParaRPr lang="ru-RU" dirty="0"/>
          </a:p>
          <a:p>
            <a:r>
              <a:rPr lang="ru-RU" dirty="0"/>
              <a:t>Если посмотреть на память, мы увидим последовательные байты с кодами символов, а затем ноль. Никакой дополнительной информации о длине строки не хранится. Программа узнаёт, что строка закончилась, только когда встречает байт со значением 0.</a:t>
            </a:r>
            <a:endParaRPr lang="en-US" dirty="0"/>
          </a:p>
          <a:p>
            <a:endParaRPr lang="ru-RU" dirty="0"/>
          </a:p>
          <a:p>
            <a:r>
              <a:rPr lang="ru-RU" dirty="0"/>
              <a:t>Таким образом, строка в C — это просто непрерывный участок памяти, заполненный байтами, где конец определяется специальным соглашением. Именно это соглашение мы будем использовать во всех дальнейших примерах работы со строками.</a:t>
            </a:r>
          </a:p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E59A46E3-A062-4F85-8E8F-D4EACE1D224A}" type="slidenum">
              <a:rPr lang="en-US" smtClean="0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64383387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ru-RU" dirty="0"/>
              <a:t>Мы уже знаем, что строка — это массив </a:t>
            </a:r>
            <a:r>
              <a:rPr lang="ru-RU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char</a:t>
            </a:r>
            <a:r>
              <a:rPr lang="ru-RU" dirty="0"/>
              <a:t>. Но возникает вопрос: как программа понимает, где строка заканчивается?</a:t>
            </a:r>
          </a:p>
          <a:p>
            <a:endParaRPr lang="ru-RU" dirty="0"/>
          </a:p>
          <a:p>
            <a:r>
              <a:rPr lang="ru-RU" dirty="0"/>
              <a:t>В массиве не хранится длина строки. Там просто лежат байты подряд. Никакой дополнительной информации о количестве символов нет.</a:t>
            </a:r>
          </a:p>
          <a:p>
            <a:endParaRPr lang="ru-RU" dirty="0"/>
          </a:p>
          <a:p>
            <a:r>
              <a:rPr lang="ru-RU" dirty="0"/>
              <a:t>Поэтому в языке C используется специальное соглашение: строка заканчивается нулевым байтом </a:t>
            </a:r>
            <a:r>
              <a:rPr lang="ru-RU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'\0'</a:t>
            </a:r>
            <a:r>
              <a:rPr lang="ru-RU" dirty="0"/>
              <a:t>. Его числовое значение равно нулю.</a:t>
            </a:r>
          </a:p>
          <a:p>
            <a:endParaRPr lang="ru-RU" dirty="0"/>
          </a:p>
          <a:p>
            <a:r>
              <a:rPr lang="ru-RU" dirty="0"/>
              <a:t>Рассмотрим пример с функцией </a:t>
            </a:r>
            <a:r>
              <a:rPr lang="ru-RU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puts</a:t>
            </a:r>
            <a:r>
              <a:rPr lang="ru-RU" dirty="0"/>
              <a:t>. Когда мы передаём ей строку, она получает адрес первого символа и начинает читать память байт за байтом. Она выводит символы до тех пор, пока не встретит байт со значением 0. Именно этот нулевой байт сигнализирует о завершении строки.</a:t>
            </a:r>
          </a:p>
          <a:p>
            <a:endParaRPr lang="ru-RU" dirty="0"/>
          </a:p>
          <a:p>
            <a:r>
              <a:rPr lang="ru-RU" dirty="0"/>
              <a:t>Важно понимать, что </a:t>
            </a:r>
            <a:r>
              <a:rPr lang="ru-RU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puts</a:t>
            </a:r>
            <a:r>
              <a:rPr lang="ru-RU" dirty="0"/>
              <a:t> не знает размер массива. Она просто двигается по памяти вперёд. Если по какой-то причине в массиве не окажется </a:t>
            </a:r>
            <a:r>
              <a:rPr lang="ru-RU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'\0'</a:t>
            </a:r>
            <a:r>
              <a:rPr lang="ru-RU" dirty="0"/>
              <a:t>, функция продолжит читать память за его пределами, пока случайно не встретит нулевой байт. Это и есть неопределённое поведение.</a:t>
            </a:r>
          </a:p>
          <a:p>
            <a:endParaRPr lang="ru-RU" dirty="0"/>
          </a:p>
          <a:p>
            <a:r>
              <a:rPr lang="ru-RU" dirty="0"/>
              <a:t>Таким образом, </a:t>
            </a:r>
            <a:r>
              <a:rPr lang="ru-RU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'\0'</a:t>
            </a:r>
            <a:r>
              <a:rPr lang="ru-RU" dirty="0"/>
              <a:t> — это не «ещё один символ текста», а механизм, который делает массив байтов строкой. Без этого соглашения никакой строки в языке C не существует.</a:t>
            </a:r>
          </a:p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E59A46E3-A062-4F85-8E8F-D4EACE1D224A}" type="slidenum">
              <a:rPr lang="en-US" smtClean="0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373222755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ru-RU" dirty="0"/>
              <a:t>Рассмотрим реализацию функции, выполняющей вывод строки по принципу стандартной функции </a:t>
            </a:r>
            <a:r>
              <a:rPr lang="ru-RU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puts</a:t>
            </a:r>
            <a:r>
              <a:rPr lang="ru-RU" dirty="0"/>
              <a:t>, используя только </a:t>
            </a:r>
            <a:r>
              <a:rPr lang="ru-RU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putchar</a:t>
            </a:r>
            <a:r>
              <a:rPr lang="ru-RU" dirty="0"/>
              <a:t>.</a:t>
            </a:r>
          </a:p>
          <a:p>
            <a:r>
              <a:rPr lang="ru-RU" dirty="0"/>
              <a:t>Функция принимает параметр </a:t>
            </a:r>
            <a:r>
              <a:rPr lang="ru-RU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const</a:t>
            </a:r>
            <a:r>
              <a:rPr lang="ru-RU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 </a:t>
            </a:r>
            <a:r>
              <a:rPr lang="ru-RU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char</a:t>
            </a:r>
            <a:r>
              <a:rPr lang="ru-RU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 s[]</a:t>
            </a:r>
            <a:r>
              <a:rPr lang="ru-RU" dirty="0"/>
              <a:t>. Фактически это адрес первого элемента массива символов. Внутри функции используется индекс </a:t>
            </a:r>
            <a:r>
              <a:rPr lang="ru-RU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i</a:t>
            </a:r>
            <a:r>
              <a:rPr lang="ru-RU" dirty="0"/>
              <a:t>, который последовательно увеличивается.</a:t>
            </a:r>
          </a:p>
          <a:p>
            <a:endParaRPr lang="ru-RU" dirty="0"/>
          </a:p>
          <a:p>
            <a:r>
              <a:rPr lang="ru-RU" dirty="0"/>
              <a:t>На каждой итерации цикла проверяется условие </a:t>
            </a:r>
            <a:r>
              <a:rPr lang="ru-RU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s[i] != '\0'</a:t>
            </a:r>
            <a:r>
              <a:rPr lang="ru-RU" dirty="0"/>
              <a:t>. Пока текущий символ не равен нулю, он передаётся функции </a:t>
            </a:r>
            <a:r>
              <a:rPr lang="ru-RU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putchar</a:t>
            </a:r>
            <a:r>
              <a:rPr lang="ru-RU" dirty="0"/>
              <a:t>, после чего индекс увеличивается. Таким образом, осуществляется последовательный проход по памяти.</a:t>
            </a:r>
          </a:p>
          <a:p>
            <a:endParaRPr lang="ru-RU" dirty="0"/>
          </a:p>
          <a:p>
            <a:r>
              <a:rPr lang="ru-RU" dirty="0"/>
              <a:t>Когда встречается символ </a:t>
            </a:r>
            <a:r>
              <a:rPr lang="ru-RU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'\0'</a:t>
            </a:r>
            <a:r>
              <a:rPr lang="ru-RU" dirty="0"/>
              <a:t>, цикл завершается. После этого дополнительно выводится символ перевода строки </a:t>
            </a:r>
            <a:r>
              <a:rPr lang="ru-RU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'\n'</a:t>
            </a:r>
            <a:r>
              <a:rPr lang="ru-RU" dirty="0"/>
              <a:t>, что соответствует поведению функции </a:t>
            </a:r>
            <a:r>
              <a:rPr lang="ru-RU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puts</a:t>
            </a:r>
            <a:r>
              <a:rPr lang="ru-RU" dirty="0"/>
              <a:t>.</a:t>
            </a:r>
          </a:p>
          <a:p>
            <a:endParaRPr lang="ru-RU" dirty="0"/>
          </a:p>
          <a:p>
            <a:r>
              <a:rPr lang="ru-RU" dirty="0"/>
              <a:t>Следует подчеркнуть, что функция не получает информации о размере массива. Она опирается исключительно на соглашение о нулевом завершающем символе. Если строка не содержит </a:t>
            </a:r>
            <a:r>
              <a:rPr lang="ru-RU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'\0'</a:t>
            </a:r>
            <a:r>
              <a:rPr lang="ru-RU" dirty="0"/>
              <a:t>, поведение функции будет неопределённым, поскольку чтение выйдет за пределы массива.</a:t>
            </a:r>
          </a:p>
          <a:p>
            <a:endParaRPr lang="ru-RU" dirty="0"/>
          </a:p>
          <a:p>
            <a:r>
              <a:rPr lang="ru-RU" dirty="0"/>
              <a:t>Данный пример демонстрирует, что строковые операции в языке C реализуются посредством последовательного чтения байтов из памяти и проверки их значения.</a:t>
            </a:r>
          </a:p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E59A46E3-A062-4F85-8E8F-D4EACE1D224A}" type="slidenum">
              <a:rPr lang="en-US" smtClean="0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12930705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ru-RU" dirty="0"/>
              <a:t>Функция </a:t>
            </a:r>
            <a:r>
              <a:rPr lang="ru-RU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my_strlen</a:t>
            </a:r>
            <a:r>
              <a:rPr lang="ru-RU" dirty="0"/>
              <a:t> предназначена для определения длины строки. Под длиной понимается количество символов до нулевого завершающего символа </a:t>
            </a:r>
            <a:r>
              <a:rPr lang="ru-RU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'\0’</a:t>
            </a:r>
            <a:r>
              <a:rPr lang="ru-RU" dirty="0"/>
              <a:t>.</a:t>
            </a:r>
          </a:p>
          <a:p>
            <a:endParaRPr lang="ru-RU" dirty="0"/>
          </a:p>
          <a:p>
            <a:r>
              <a:rPr lang="ru-RU" dirty="0"/>
              <a:t>Функция принимает параметр </a:t>
            </a:r>
            <a:r>
              <a:rPr lang="ru-RU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const</a:t>
            </a:r>
            <a:r>
              <a:rPr lang="ru-RU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 </a:t>
            </a:r>
            <a:r>
              <a:rPr lang="ru-RU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char</a:t>
            </a:r>
            <a:r>
              <a:rPr lang="ru-RU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 s[]</a:t>
            </a:r>
            <a:r>
              <a:rPr lang="ru-RU" dirty="0"/>
              <a:t>, что означает, что строка не изменяется в процессе работы. Внутри используется переменная </a:t>
            </a:r>
            <a:r>
              <a:rPr lang="ru-RU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len</a:t>
            </a:r>
            <a:r>
              <a:rPr lang="ru-RU" dirty="0"/>
              <a:t> типа </a:t>
            </a:r>
            <a:r>
              <a:rPr lang="ru-RU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size_t</a:t>
            </a:r>
            <a:r>
              <a:rPr lang="ru-RU" dirty="0"/>
              <a:t>. Тип </a:t>
            </a:r>
            <a:r>
              <a:rPr lang="ru-RU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size_t</a:t>
            </a:r>
            <a:r>
              <a:rPr lang="ru-RU" dirty="0"/>
              <a:t> применяется для представления размеров объектов в памяти и возвращается стандартной функцией </a:t>
            </a:r>
            <a:r>
              <a:rPr lang="ru-RU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strlen</a:t>
            </a:r>
            <a:r>
              <a:rPr lang="ru-RU" dirty="0"/>
              <a:t>.</a:t>
            </a:r>
          </a:p>
          <a:p>
            <a:endParaRPr lang="ru-RU" dirty="0"/>
          </a:p>
          <a:p>
            <a:r>
              <a:rPr lang="ru-RU" dirty="0"/>
              <a:t>Алгоритм работы прост: начиная с нулевого индекса, выполняется последовательная проверка элементов массива. Пока текущий символ не равен </a:t>
            </a:r>
            <a:r>
              <a:rPr lang="ru-RU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'\0'</a:t>
            </a:r>
            <a:r>
              <a:rPr lang="ru-RU" dirty="0"/>
              <a:t>, счётчик увеличивается. Как только встречается нулевой символ, цикл завершается, и функция возвращает накопленное значение.</a:t>
            </a:r>
          </a:p>
          <a:p>
            <a:endParaRPr lang="ru-RU" dirty="0"/>
          </a:p>
          <a:p>
            <a:r>
              <a:rPr lang="ru-RU" dirty="0"/>
              <a:t>Следует подчеркнуть, что символ </a:t>
            </a:r>
            <a:r>
              <a:rPr lang="ru-RU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'\0'</a:t>
            </a:r>
            <a:r>
              <a:rPr lang="ru-RU" dirty="0"/>
              <a:t> не включается в длину строки. Он служит только маркером завершения.</a:t>
            </a:r>
          </a:p>
          <a:p>
            <a:r>
              <a:rPr lang="ru-RU" dirty="0"/>
              <a:t>Данная реализация демонстрирует фундаментальный принцип работы со строками в языке C: длина не хранится явно, а определяется путём последовательного анализа содержимого памяти. Корректность работы функции зависит от наличия завершающего нулевого символа.</a:t>
            </a:r>
          </a:p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E59A46E3-A062-4F85-8E8F-D4EACE1D224A}" type="slidenum">
              <a:rPr lang="en-US" smtClean="0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822602586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ru-RU" dirty="0"/>
              <a:t>Выбор нулевого завершающего символа как механизма хранения строк имеет исторические причины. Язык C разрабатывался в начале 1970-х годов для системного программирования на компьютерах с крайне ограниченными ресурсами. В таких условиях приоритет отдавался простоте реализации компилятора и минимальным накладным расходам.</a:t>
            </a:r>
            <a:endParaRPr lang="en-US" dirty="0"/>
          </a:p>
          <a:p>
            <a:endParaRPr lang="ru-RU" dirty="0"/>
          </a:p>
          <a:p>
            <a:r>
              <a:rPr lang="ru-RU" dirty="0"/>
              <a:t>Модель строки как массива байтов, заканчивающегося нулём, естественным образом соответствует архитектуре памяти. Процессор легко выполняет последовательное чтение байтов и сравнение их с нулём. Такая схема не требует хранения дополнительной информации о длине строки.</a:t>
            </a:r>
            <a:endParaRPr lang="en-US" dirty="0"/>
          </a:p>
          <a:p>
            <a:endParaRPr lang="ru-RU" dirty="0"/>
          </a:p>
          <a:p>
            <a:r>
              <a:rPr lang="ru-RU" dirty="0"/>
              <a:t>Однако этот способ хранения нельзя назвать оптимальным. Для определения длины строки требуется пройти по всем символам до встречи </a:t>
            </a:r>
            <a:r>
              <a:rPr lang="ru-RU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'\0'</a:t>
            </a:r>
            <a:r>
              <a:rPr lang="ru-RU" dirty="0"/>
              <a:t>. Таким образом, операция вычисления длины имеет линейную сложность O(n). Если длина запрашивается многократно, возникают дополнительные временные затраты.</a:t>
            </a:r>
          </a:p>
          <a:p>
            <a:r>
              <a:rPr lang="ru-RU" dirty="0"/>
              <a:t>Кроме того, внутри строки невозможно хранить байт со значением 0, поскольку он интерпретируется как признак завершения. Ошибка в размещении завершающего символа приводит к чтению за пределами массива и неопределённому поведению программы.</a:t>
            </a:r>
          </a:p>
          <a:p>
            <a:r>
              <a:rPr lang="ru-RU" dirty="0"/>
              <a:t>Существуют более эффективные способы хранения строк, например представление в виде структуры, содержащей длину и массив символов. В этом случае длина доступна немедленно, а строка может содержать произвольные байты. Многие современные языки используют именно такую модель.</a:t>
            </a:r>
          </a:p>
          <a:p>
            <a:r>
              <a:rPr lang="ru-RU" dirty="0"/>
              <a:t>Тем не менее, подход с завершающим нулевым символом исторически закрепился в языке C и остаётся фундаментом стандартной библиотеки и значительной части программного обеспечения, написанного на этом языке.</a:t>
            </a:r>
          </a:p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E59A46E3-A062-4F85-8E8F-D4EACE1D224A}" type="slidenum">
              <a:rPr lang="en-US" smtClean="0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004949128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ru-RU" dirty="0"/>
              <a:t>При работе со строками одной из наиболее распространённых ошибок является неверное указание размера массива.</a:t>
            </a:r>
          </a:p>
          <a:p>
            <a:endParaRPr lang="ru-RU" dirty="0"/>
          </a:p>
          <a:p>
            <a:r>
              <a:rPr lang="ru-RU" dirty="0"/>
              <a:t>Рассмотрим пример </a:t>
            </a:r>
            <a:r>
              <a:rPr lang="ru-RU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char</a:t>
            </a:r>
            <a:r>
              <a:rPr lang="ru-RU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 s[5] = "Hello";</a:t>
            </a:r>
            <a:r>
              <a:rPr lang="ru-RU" dirty="0"/>
              <a:t>. На первый взгляд может показаться, что для слова из пяти букв достаточно пяти элементов. Однако строка в языке C всегда включает завершающий нулевой символ </a:t>
            </a:r>
            <a:r>
              <a:rPr lang="ru-RU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'\0'</a:t>
            </a:r>
            <a:r>
              <a:rPr lang="ru-RU" dirty="0"/>
              <a:t>. Следовательно, строка </a:t>
            </a:r>
            <a:r>
              <a:rPr lang="ru-RU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"Hello"</a:t>
            </a:r>
            <a:r>
              <a:rPr lang="ru-RU" dirty="0"/>
              <a:t> занимает шесть байтов: пять символов и один нулевой байт. Поэтому массив из пяти элементов недостаточен.</a:t>
            </a:r>
          </a:p>
          <a:p>
            <a:endParaRPr lang="ru-RU" dirty="0"/>
          </a:p>
          <a:p>
            <a:r>
              <a:rPr lang="ru-RU" dirty="0"/>
              <a:t>Корректная запись должна предусматривать дополнительный элемент: </a:t>
            </a:r>
            <a:r>
              <a:rPr lang="ru-RU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char</a:t>
            </a:r>
            <a:r>
              <a:rPr lang="ru-RU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 s[6] = "Hello";</a:t>
            </a:r>
            <a:r>
              <a:rPr lang="ru-RU" dirty="0"/>
              <a:t>. Более безопасным вариантом является запись </a:t>
            </a:r>
            <a:r>
              <a:rPr lang="ru-RU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char</a:t>
            </a:r>
            <a:r>
              <a:rPr lang="ru-RU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 s[] = "Hello";</a:t>
            </a:r>
            <a:r>
              <a:rPr lang="ru-RU" dirty="0"/>
              <a:t>, при которой компилятор автоматически определяет необходимый размер.</a:t>
            </a:r>
          </a:p>
          <a:p>
            <a:endParaRPr lang="ru-RU" dirty="0"/>
          </a:p>
          <a:p>
            <a:r>
              <a:rPr lang="ru-RU" dirty="0"/>
              <a:t>Другая распространённая ошибка возникает при ручном заполнении массива символами без добавления </a:t>
            </a:r>
            <a:r>
              <a:rPr lang="ru-RU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'\0'</a:t>
            </a:r>
            <a:r>
              <a:rPr lang="ru-RU" dirty="0"/>
              <a:t>. Если нулевой символ отсутствует, массив не является корректной строкой. Любая функция, работающая со строками, будет продолжать чтение памяти за пределами массива до случайной встречи нулевого байта.</a:t>
            </a:r>
          </a:p>
          <a:p>
            <a:r>
              <a:rPr lang="ru-RU" dirty="0"/>
              <a:t>Следует подчеркнуть, что язык C не выполняет автоматическую проверку выхода за границы массива. Ошибки такого рода приводят к неопределённому поведению, которое может проявляться непредсказуемым образом. Поэтому при работе со строками необходимо строго контролировать размер массива и наличие завершающего нулевого символа.</a:t>
            </a:r>
          </a:p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E59A46E3-A062-4F85-8E8F-D4EACE1D224A}" type="slidenum">
              <a:rPr lang="en-US" smtClean="0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101872429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ru-RU" dirty="0"/>
              <a:t>Рассмотрим ввод и вывод строк в языке C. Все функции работают с адресом первого символа строки и предполагают наличие завершающего нулевого символа.</a:t>
            </a:r>
          </a:p>
          <a:p>
            <a:endParaRPr lang="ru-RU" dirty="0"/>
          </a:p>
          <a:p>
            <a:r>
              <a:rPr lang="ru-RU" dirty="0"/>
              <a:t>Для вывода строки часто используется функция </a:t>
            </a:r>
            <a:r>
              <a:rPr lang="ru-RU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puts</a:t>
            </a:r>
            <a:r>
              <a:rPr lang="ru-RU" dirty="0"/>
              <a:t>. Она получает указатель на строку и выводит символы до встречи </a:t>
            </a:r>
            <a:r>
              <a:rPr lang="ru-RU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'\0'</a:t>
            </a:r>
            <a:r>
              <a:rPr lang="ru-RU" dirty="0"/>
              <a:t>, после чего автоматически добавляет перевод строки. Если требуется более гибкое форматирование, применяется функция </a:t>
            </a:r>
            <a:r>
              <a:rPr lang="ru-RU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printf</a:t>
            </a:r>
            <a:r>
              <a:rPr lang="ru-RU" dirty="0"/>
              <a:t> со спецификатором </a:t>
            </a:r>
            <a:r>
              <a:rPr lang="ru-RU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%s</a:t>
            </a:r>
            <a:r>
              <a:rPr lang="ru-RU" dirty="0"/>
              <a:t>. В обоих случаях корректность работы зависит от наличия завершающего нулевого символа.</a:t>
            </a:r>
          </a:p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E59A46E3-A062-4F85-8E8F-D4EACE1D224A}" type="slidenum">
              <a:rPr lang="en-US" smtClean="0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85757050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ru-RU" dirty="0"/>
              <a:t>Для ввода строк возможны разные подходы. Функция </a:t>
            </a:r>
            <a:r>
              <a:rPr lang="ru-RU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scanf</a:t>
            </a:r>
            <a:r>
              <a:rPr lang="ru-RU" dirty="0"/>
              <a:t> со спецификатором </a:t>
            </a:r>
            <a:r>
              <a:rPr lang="ru-RU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%s</a:t>
            </a:r>
            <a:r>
              <a:rPr lang="ru-RU" dirty="0"/>
              <a:t> считывает последовательность </a:t>
            </a:r>
            <a:r>
              <a:rPr lang="ru-RU" dirty="0" err="1"/>
              <a:t>непробельных</a:t>
            </a:r>
            <a:r>
              <a:rPr lang="ru-RU" dirty="0"/>
              <a:t> символов и автоматически добавляет </a:t>
            </a:r>
            <a:r>
              <a:rPr lang="ru-RU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'\0'</a:t>
            </a:r>
            <a:r>
              <a:rPr lang="ru-RU" dirty="0"/>
              <a:t>. Однако она прекращает чтение при первом пробеле, поэтому не подходит для строк, содержащих пробелы. Кроме того, необходимо явно ограничивать максимальное количество символов, чтобы избежать переполнения массива.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E59A46E3-A062-4F85-8E8F-D4EACE1D224A}" type="slidenum">
              <a:rPr lang="en-US" smtClean="0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28741523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ru-RU" dirty="0"/>
              <a:t>Более безопасным и универсальным способом является функция </a:t>
            </a:r>
            <a:r>
              <a:rPr lang="ru-RU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fgets</a:t>
            </a:r>
            <a:r>
              <a:rPr lang="ru-RU" dirty="0"/>
              <a:t>. Она считывает строку целиком, включая пробелы, но не более чем </a:t>
            </a:r>
            <a:r>
              <a:rPr lang="ru-RU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sizeof</a:t>
            </a:r>
            <a:r>
              <a:rPr lang="ru-RU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(массив) - 1</a:t>
            </a:r>
            <a:r>
              <a:rPr lang="ru-RU" dirty="0"/>
              <a:t> символов, оставляя место для завершающего нуля. Функция гарантированно добавляет </a:t>
            </a:r>
            <a:r>
              <a:rPr lang="ru-RU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'\0'</a:t>
            </a:r>
            <a:r>
              <a:rPr lang="ru-RU" dirty="0"/>
              <a:t>. Следует учитывать, что </a:t>
            </a:r>
            <a:r>
              <a:rPr lang="ru-RU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fgets</a:t>
            </a:r>
            <a:r>
              <a:rPr lang="ru-RU" dirty="0"/>
              <a:t> сохраняет символ перевода строки, если он был считан. Поэтому часто требуется дополнительная обработка для его удаления.</a:t>
            </a:r>
            <a:endParaRPr lang="en-US" dirty="0"/>
          </a:p>
          <a:p>
            <a:r>
              <a:rPr lang="ru-RU" dirty="0"/>
              <a:t>Таким образом, корректный ввод и вывод строк требует понимания размера массива, наличия завершающего нулевого символа и особенностей поведения стандартных функций.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E59A46E3-A062-4F85-8E8F-D4EACE1D224A}" type="slidenum">
              <a:rPr lang="en-US" smtClean="0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5715433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ru-RU" dirty="0"/>
              <a:t>В языке C массивы не поддерживают операцию присваивания. Это означает, что запись </a:t>
            </a:r>
            <a:r>
              <a:rPr lang="ru-RU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a = b;</a:t>
            </a:r>
            <a:r>
              <a:rPr lang="ru-RU" dirty="0"/>
              <a:t>, где </a:t>
            </a:r>
            <a:r>
              <a:rPr lang="ru-RU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a</a:t>
            </a:r>
            <a:r>
              <a:rPr lang="ru-RU" dirty="0"/>
              <a:t> и </a:t>
            </a:r>
            <a:r>
              <a:rPr lang="ru-RU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b</a:t>
            </a:r>
            <a:r>
              <a:rPr lang="ru-RU" dirty="0"/>
              <a:t> являются массивами, приводит к ошибке компиляции. Массив представляет собой непрерывную область памяти, и его содержимое не может быть скопировано одной операцией присваивания.</a:t>
            </a:r>
          </a:p>
          <a:p>
            <a:endParaRPr lang="ru-RU" dirty="0"/>
          </a:p>
          <a:p>
            <a:r>
              <a:rPr lang="ru-RU" dirty="0"/>
              <a:t>Поэтому копирование строк выполняется посимвольно. Рассмотренная функция </a:t>
            </a:r>
            <a:r>
              <a:rPr lang="ru-RU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my_strcpy</a:t>
            </a:r>
            <a:r>
              <a:rPr lang="ru-RU" dirty="0"/>
              <a:t> реализует этот механизм. Она принимает массив назначения </a:t>
            </a:r>
            <a:r>
              <a:rPr lang="ru-RU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dest</a:t>
            </a:r>
            <a:r>
              <a:rPr lang="ru-RU" dirty="0"/>
              <a:t> и исходную строку </a:t>
            </a:r>
            <a:r>
              <a:rPr lang="ru-RU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src</a:t>
            </a:r>
            <a:r>
              <a:rPr lang="ru-RU" dirty="0"/>
              <a:t>. В цикле выполняется присваивание </a:t>
            </a:r>
            <a:r>
              <a:rPr lang="ru-RU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dest</a:t>
            </a:r>
            <a:r>
              <a:rPr lang="ru-RU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[i] = </a:t>
            </a:r>
            <a:r>
              <a:rPr lang="ru-RU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src</a:t>
            </a:r>
            <a:r>
              <a:rPr lang="ru-RU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[i]</a:t>
            </a:r>
            <a:r>
              <a:rPr lang="ru-RU" dirty="0"/>
              <a:t>, а результат этого выражения сравнивается с </a:t>
            </a:r>
            <a:r>
              <a:rPr lang="ru-RU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'\0'</a:t>
            </a:r>
            <a:r>
              <a:rPr lang="ru-RU" dirty="0"/>
              <a:t>. Цикл продолжается до тех пор, пока не будет скопирован нулевой завершающий символ.</a:t>
            </a:r>
          </a:p>
          <a:p>
            <a:endParaRPr lang="ru-RU" dirty="0"/>
          </a:p>
          <a:p>
            <a:r>
              <a:rPr lang="ru-RU" dirty="0"/>
              <a:t>Следует обратить внимание, что нулевой символ также копируется. Это обеспечивает корректное завершение строки в массиве назначения.</a:t>
            </a:r>
          </a:p>
          <a:p>
            <a:endParaRPr lang="ru-RU" dirty="0"/>
          </a:p>
          <a:p>
            <a:r>
              <a:rPr lang="ru-RU" dirty="0"/>
              <a:t>Важно понимать, что функция не проверяет размер массива </a:t>
            </a:r>
            <a:r>
              <a:rPr lang="ru-RU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dest</a:t>
            </a:r>
            <a:r>
              <a:rPr lang="ru-RU" dirty="0"/>
              <a:t>. Ответственность за то, чтобы массив назначения был достаточно велик для размещения копируемой строки вместе с </a:t>
            </a:r>
            <a:r>
              <a:rPr lang="ru-RU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'\0'</a:t>
            </a:r>
            <a:r>
              <a:rPr lang="ru-RU" dirty="0"/>
              <a:t>, полностью лежит на программисте. Нарушение этого условия приводит к выходу за границы массива и неопределённому поведению программы.</a:t>
            </a:r>
          </a:p>
          <a:p>
            <a:endParaRPr lang="ru-RU" dirty="0"/>
          </a:p>
          <a:p>
            <a:r>
              <a:rPr lang="ru-RU" dirty="0"/>
              <a:t>Таким образом, копирование строк в языке C сводится к последовательному переносу байтов до встречи нулевого символа.</a:t>
            </a:r>
          </a:p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E59A46E3-A062-4F85-8E8F-D4EACE1D224A}" type="slidenum">
              <a:rPr lang="en-US" smtClean="0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463132233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ru-RU" dirty="0"/>
              <a:t>При сравнении строк в языке C распространённой ошибкой является использование оператора </a:t>
            </a:r>
            <a:r>
              <a:rPr lang="ru-RU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==</a:t>
            </a:r>
            <a:r>
              <a:rPr lang="ru-RU" dirty="0"/>
              <a:t>. В случае массивов этот оператор сравнивает адреса, а не содержимое. Следовательно, даже если две строки содержат одинаковые символы, выражение </a:t>
            </a:r>
            <a:r>
              <a:rPr lang="ru-RU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a == b</a:t>
            </a:r>
            <a:r>
              <a:rPr lang="ru-RU" dirty="0"/>
              <a:t> будет истинным только в том случае, если оба указателя указывают на одну и ту же область памяти.</a:t>
            </a:r>
            <a:endParaRPr lang="en-US" dirty="0"/>
          </a:p>
          <a:p>
            <a:endParaRPr lang="ru-RU" dirty="0"/>
          </a:p>
          <a:p>
            <a:r>
              <a:rPr lang="ru-RU" dirty="0"/>
              <a:t>Корректное сравнение строк выполняется посимвольно. В функции </a:t>
            </a:r>
            <a:r>
              <a:rPr lang="en-US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MyStrCmp</a:t>
            </a:r>
            <a:r>
              <a:rPr lang="ru-RU" dirty="0"/>
              <a:t> сравниваются соответствующие элементы массивов </a:t>
            </a:r>
            <a:r>
              <a:rPr lang="ru-RU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a</a:t>
            </a:r>
            <a:r>
              <a:rPr lang="ru-RU" dirty="0"/>
              <a:t> и </a:t>
            </a:r>
            <a:r>
              <a:rPr lang="ru-RU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b</a:t>
            </a:r>
            <a:r>
              <a:rPr lang="ru-RU" dirty="0"/>
              <a:t>. Цикл продолжается до тех пор, пока символы совпадают. Если одновременно встречается нулевой символ </a:t>
            </a:r>
            <a:r>
              <a:rPr lang="ru-RU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'\0'</a:t>
            </a:r>
            <a:r>
              <a:rPr lang="ru-RU" dirty="0"/>
              <a:t>, это означает, что строки полностью совпадают, и функция возвращает 0.</a:t>
            </a:r>
          </a:p>
          <a:p>
            <a:r>
              <a:rPr lang="ru-RU" dirty="0"/>
              <a:t>Если обнаружено различие, функция возвращает разность кодов символов. Здесь используется приведение к типу </a:t>
            </a:r>
            <a:r>
              <a:rPr lang="ru-RU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unsigned</a:t>
            </a:r>
            <a:r>
              <a:rPr lang="ru-RU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 </a:t>
            </a:r>
            <a:r>
              <a:rPr lang="ru-RU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char</a:t>
            </a:r>
            <a:r>
              <a:rPr lang="ru-RU" dirty="0"/>
              <a:t>. Это необходимо потому, что тип </a:t>
            </a:r>
            <a:r>
              <a:rPr lang="ru-RU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char</a:t>
            </a:r>
            <a:r>
              <a:rPr lang="ru-RU" dirty="0"/>
              <a:t> может быть знаковым, и значения с установленным старшим битом могут интерпретироваться как отрицательные. Приведение к </a:t>
            </a:r>
            <a:r>
              <a:rPr lang="ru-RU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unsigned</a:t>
            </a:r>
            <a:r>
              <a:rPr lang="ru-RU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 </a:t>
            </a:r>
            <a:r>
              <a:rPr lang="ru-RU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char</a:t>
            </a:r>
            <a:r>
              <a:rPr lang="ru-RU" dirty="0"/>
              <a:t> гарантирует, что сравнение выполняется по числовым значениям байтов от 0 до 255.</a:t>
            </a:r>
            <a:endParaRPr lang="en-US" dirty="0"/>
          </a:p>
          <a:p>
            <a:endParaRPr lang="ru-RU" dirty="0"/>
          </a:p>
          <a:p>
            <a:r>
              <a:rPr lang="ru-RU" dirty="0"/>
              <a:t>После приведения к типу </a:t>
            </a:r>
            <a:r>
              <a:rPr lang="ru-RU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unsigned</a:t>
            </a:r>
            <a:r>
              <a:rPr lang="ru-RU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 </a:t>
            </a:r>
            <a:r>
              <a:rPr lang="ru-RU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char</a:t>
            </a:r>
            <a:r>
              <a:rPr lang="ru-RU" dirty="0"/>
              <a:t> выполняется стандартное целочисленное продвижение типов. Согласно правилам языка C, операнды арифметических операций меньших целых типов автоматически расширяются до типа </a:t>
            </a:r>
            <a:r>
              <a:rPr lang="ru-RU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int</a:t>
            </a:r>
            <a:r>
              <a:rPr lang="ru-RU" dirty="0"/>
              <a:t>. Таким образом, в выражении </a:t>
            </a:r>
            <a:r>
              <a:rPr lang="ru-RU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(</a:t>
            </a:r>
            <a:r>
              <a:rPr lang="ru-RU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unsigned</a:t>
            </a:r>
            <a:r>
              <a:rPr lang="ru-RU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 </a:t>
            </a:r>
            <a:r>
              <a:rPr lang="ru-RU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char</a:t>
            </a:r>
            <a:r>
              <a:rPr lang="ru-RU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)a[i] - (</a:t>
            </a:r>
            <a:r>
              <a:rPr lang="ru-RU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unsigned</a:t>
            </a:r>
            <a:r>
              <a:rPr lang="ru-RU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 </a:t>
            </a:r>
            <a:r>
              <a:rPr lang="ru-RU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char</a:t>
            </a:r>
            <a:r>
              <a:rPr lang="ru-RU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)b[i]</a:t>
            </a:r>
            <a:r>
              <a:rPr lang="ru-RU" dirty="0"/>
              <a:t> оба операнда сначала приводятся к </a:t>
            </a:r>
            <a:r>
              <a:rPr lang="ru-RU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unsigned</a:t>
            </a:r>
            <a:r>
              <a:rPr lang="ru-RU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 </a:t>
            </a:r>
            <a:r>
              <a:rPr lang="ru-RU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char</a:t>
            </a:r>
            <a:r>
              <a:rPr lang="ru-RU" dirty="0"/>
              <a:t>, затем расширяются до </a:t>
            </a:r>
            <a:r>
              <a:rPr lang="ru-RU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int</a:t>
            </a:r>
            <a:r>
              <a:rPr lang="ru-RU" dirty="0"/>
              <a:t>, и только после этого выполняется вычитание. В результате функция возвращает значение типа </a:t>
            </a:r>
            <a:r>
              <a:rPr lang="ru-RU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int</a:t>
            </a:r>
            <a:r>
              <a:rPr lang="ru-RU" dirty="0"/>
              <a:t>.</a:t>
            </a:r>
            <a:endParaRPr lang="en-US" dirty="0"/>
          </a:p>
          <a:p>
            <a:endParaRPr lang="ru-RU" dirty="0"/>
          </a:p>
          <a:p>
            <a:r>
              <a:rPr lang="ru-RU" dirty="0"/>
              <a:t>Возвращаемое значение интерпретируется следующим образом: ноль означает равенство строк, отрицательное значение означает, что первая строка лексикографически меньше второй, положительное — что больше.</a:t>
            </a:r>
          </a:p>
          <a:p>
            <a:r>
              <a:rPr lang="ru-RU" dirty="0"/>
              <a:t>Таким образом, сравнение строк в языке C представляет собой последовательное сравнение байтов до первого различия или до завершения строки, с учётом правил преобразования целых типов языка.</a:t>
            </a:r>
          </a:p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E59A46E3-A062-4F85-8E8F-D4EACE1D224A}" type="slidenum">
              <a:rPr lang="en-US" smtClean="0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313205840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ru-RU" dirty="0"/>
              <a:t>Для понимания стандартной библиотеки </a:t>
            </a:r>
            <a:r>
              <a:rPr lang="ru-RU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&lt;</a:t>
            </a:r>
            <a:r>
              <a:rPr lang="ru-RU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string.h</a:t>
            </a:r>
            <a:r>
              <a:rPr lang="ru-RU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&gt;</a:t>
            </a:r>
            <a:r>
              <a:rPr lang="ru-RU" dirty="0"/>
              <a:t> необходимо ввести минимальное представление об указателях.</a:t>
            </a:r>
          </a:p>
          <a:p>
            <a:r>
              <a:rPr lang="ru-RU" dirty="0"/>
              <a:t>Указатель — это переменная, которая хранит адрес в памяти. Если объявить </a:t>
            </a:r>
            <a:r>
              <a:rPr lang="ru-RU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char</a:t>
            </a:r>
            <a:r>
              <a:rPr lang="ru-RU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 *p;</a:t>
            </a:r>
            <a:r>
              <a:rPr lang="ru-RU" dirty="0"/>
              <a:t>, это означает, что </a:t>
            </a:r>
            <a:r>
              <a:rPr lang="ru-RU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p</a:t>
            </a:r>
            <a:r>
              <a:rPr lang="ru-RU" dirty="0"/>
              <a:t> может хранить адрес объекта типа </a:t>
            </a:r>
            <a:r>
              <a:rPr lang="ru-RU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char</a:t>
            </a:r>
            <a:r>
              <a:rPr lang="ru-RU" dirty="0"/>
              <a:t>. Если имеется переменная </a:t>
            </a:r>
            <a:r>
              <a:rPr lang="ru-RU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char</a:t>
            </a:r>
            <a:r>
              <a:rPr lang="ru-RU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 c = 'A';</a:t>
            </a:r>
            <a:r>
              <a:rPr lang="ru-RU" dirty="0"/>
              <a:t>, то выражение </a:t>
            </a:r>
            <a:r>
              <a:rPr lang="ru-RU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&amp;c</a:t>
            </a:r>
            <a:r>
              <a:rPr lang="ru-RU" dirty="0"/>
              <a:t> даёт её адрес, и этот адрес можно присвоить указателю </a:t>
            </a:r>
            <a:r>
              <a:rPr lang="ru-RU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p</a:t>
            </a:r>
            <a:r>
              <a:rPr lang="ru-RU" dirty="0"/>
              <a:t>. Оператор </a:t>
            </a:r>
            <a:r>
              <a:rPr lang="ru-RU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*</a:t>
            </a:r>
            <a:r>
              <a:rPr lang="ru-RU" dirty="0"/>
              <a:t> применяется для разыменования указателя, то есть получения значения по хранимому адресу.</a:t>
            </a:r>
          </a:p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E59A46E3-A062-4F85-8E8F-D4EACE1D224A}" type="slidenum">
              <a:rPr lang="en-US" smtClean="0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77615573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ru-RU" dirty="0"/>
              <a:t>Далее важно установить связь между массивами и указателями. В большинстве выражений имя массива интерпретируется как адрес его первого элемента. Если объявлен массив </a:t>
            </a:r>
            <a:r>
              <a:rPr lang="ru-RU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char</a:t>
            </a:r>
            <a:r>
              <a:rPr lang="ru-RU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 s[] = "Hi";</a:t>
            </a:r>
            <a:r>
              <a:rPr lang="ru-RU" dirty="0"/>
              <a:t>, то имя </a:t>
            </a:r>
            <a:r>
              <a:rPr lang="ru-RU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s</a:t>
            </a:r>
            <a:r>
              <a:rPr lang="ru-RU" dirty="0"/>
              <a:t> в выражении фактически означает </a:t>
            </a:r>
            <a:r>
              <a:rPr lang="ru-RU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&amp;s[0]</a:t>
            </a:r>
            <a:r>
              <a:rPr lang="ru-RU" dirty="0"/>
              <a:t>. Именно поэтому возможна эквивалентность записей </a:t>
            </a:r>
            <a:r>
              <a:rPr lang="ru-RU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s[i]</a:t>
            </a:r>
            <a:r>
              <a:rPr lang="ru-RU" dirty="0"/>
              <a:t> и </a:t>
            </a:r>
            <a:r>
              <a:rPr lang="ru-RU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*(s + i)</a:t>
            </a:r>
            <a:r>
              <a:rPr lang="ru-RU" dirty="0"/>
              <a:t>. Первая форма является индексной, вторая — через арифметику указателей.</a:t>
            </a:r>
          </a:p>
          <a:p>
            <a:r>
              <a:rPr lang="ru-RU" dirty="0"/>
              <a:t>Однако следует подчеркнуть, что массив и указатель не являются одним и тем же. Массив — это фиксированная область памяти определённого размера. Указатель — это отдельная переменная, которая хранит адрес.</a:t>
            </a:r>
          </a:p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E59A46E3-A062-4F85-8E8F-D4EACE1D224A}" type="slidenum">
              <a:rPr lang="en-US" smtClean="0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3135377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ru-RU" dirty="0"/>
              <a:t>При работе с указателями важно различать два независимых свойства: можно ли изменять данные, на которые указывает указатель, и можно ли изменять сам указатель, то есть хранимый в нём адрес.</a:t>
            </a:r>
            <a:endParaRPr lang="en-US" dirty="0"/>
          </a:p>
          <a:p>
            <a:endParaRPr lang="ru-RU" dirty="0"/>
          </a:p>
          <a:p>
            <a:r>
              <a:rPr lang="ru-RU" dirty="0"/>
              <a:t>Рассмотрим объявление </a:t>
            </a:r>
            <a:r>
              <a:rPr lang="ru-RU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const</a:t>
            </a:r>
            <a:r>
              <a:rPr lang="ru-RU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 </a:t>
            </a:r>
            <a:r>
              <a:rPr lang="ru-RU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char</a:t>
            </a:r>
            <a:r>
              <a:rPr lang="ru-RU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 *p;</a:t>
            </a:r>
            <a:r>
              <a:rPr lang="ru-RU" dirty="0"/>
              <a:t>. В этом случае </a:t>
            </a:r>
            <a:r>
              <a:rPr lang="ru-RU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p</a:t>
            </a:r>
            <a:r>
              <a:rPr lang="ru-RU" dirty="0"/>
              <a:t> является указателем на константные данные. Это означает, что через </a:t>
            </a:r>
            <a:r>
              <a:rPr lang="ru-RU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p</a:t>
            </a:r>
            <a:r>
              <a:rPr lang="ru-RU" dirty="0"/>
              <a:t> нельзя изменять содержимое памяти. Попытка записи </a:t>
            </a:r>
            <a:r>
              <a:rPr lang="ru-RU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*p = 'A';</a:t>
            </a:r>
            <a:r>
              <a:rPr lang="ru-RU" dirty="0"/>
              <a:t> приведёт к ошибке компиляции. Однако сам указатель можно изменить и присвоить ему другой адрес.</a:t>
            </a:r>
            <a:endParaRPr lang="en-US" dirty="0"/>
          </a:p>
          <a:p>
            <a:endParaRPr lang="ru-RU" dirty="0"/>
          </a:p>
          <a:p>
            <a:r>
              <a:rPr lang="ru-RU" dirty="0"/>
              <a:t>Во втором варианте </a:t>
            </a:r>
            <a:r>
              <a:rPr lang="ru-RU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char</a:t>
            </a:r>
            <a:r>
              <a:rPr lang="ru-RU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 *</a:t>
            </a:r>
            <a:r>
              <a:rPr lang="ru-RU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const</a:t>
            </a:r>
            <a:r>
              <a:rPr lang="ru-RU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 p = s;</a:t>
            </a:r>
            <a:r>
              <a:rPr lang="ru-RU" dirty="0"/>
              <a:t> указатель объявлен константным. Это означает, что после инициализации изменить адрес, хранящийся в </a:t>
            </a:r>
            <a:r>
              <a:rPr lang="ru-RU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p</a:t>
            </a:r>
            <a:r>
              <a:rPr lang="ru-RU" dirty="0"/>
              <a:t>, нельзя. Однако данные, на которые он указывает, изменять допустимо.</a:t>
            </a:r>
          </a:p>
          <a:p>
            <a:r>
              <a:rPr lang="ru-RU" dirty="0"/>
              <a:t>Третий вариант </a:t>
            </a:r>
            <a:r>
              <a:rPr lang="ru-RU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const</a:t>
            </a:r>
            <a:r>
              <a:rPr lang="ru-RU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 </a:t>
            </a:r>
            <a:r>
              <a:rPr lang="ru-RU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char</a:t>
            </a:r>
            <a:r>
              <a:rPr lang="ru-RU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 *</a:t>
            </a:r>
            <a:r>
              <a:rPr lang="ru-RU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const</a:t>
            </a:r>
            <a:r>
              <a:rPr lang="ru-RU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 p</a:t>
            </a:r>
            <a:r>
              <a:rPr lang="ru-RU" dirty="0"/>
              <a:t> объединяет оба ограничения: ни данные, ни сам указатель изменить нельзя.</a:t>
            </a:r>
          </a:p>
          <a:p>
            <a:r>
              <a:rPr lang="ru-RU" dirty="0"/>
              <a:t>Для чтения таких объявлений удобно использовать правило: спецификатор </a:t>
            </a:r>
            <a:r>
              <a:rPr lang="ru-RU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const</a:t>
            </a:r>
            <a:r>
              <a:rPr lang="ru-RU" dirty="0"/>
              <a:t> относится к тому, что стоит справа от него. Если справа ничего нет, он относится к элементу слева. Это позволяет корректно интерпретировать даже более сложные объявления.</a:t>
            </a:r>
            <a:endParaRPr lang="en-US" dirty="0"/>
          </a:p>
          <a:p>
            <a:endParaRPr lang="ru-RU" dirty="0"/>
          </a:p>
          <a:p>
            <a:r>
              <a:rPr lang="ru-RU" dirty="0"/>
              <a:t>Практический пример можно увидеть в прототипе функции </a:t>
            </a:r>
            <a:r>
              <a:rPr lang="ru-RU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strlen</a:t>
            </a:r>
            <a:r>
              <a:rPr lang="ru-RU" dirty="0"/>
              <a:t>: </a:t>
            </a:r>
            <a:r>
              <a:rPr lang="ru-RU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size_t</a:t>
            </a:r>
            <a:r>
              <a:rPr lang="ru-RU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 </a:t>
            </a:r>
            <a:r>
              <a:rPr lang="ru-RU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strlen</a:t>
            </a:r>
            <a:r>
              <a:rPr lang="ru-RU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(</a:t>
            </a:r>
            <a:r>
              <a:rPr lang="ru-RU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const</a:t>
            </a:r>
            <a:r>
              <a:rPr lang="ru-RU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 </a:t>
            </a:r>
            <a:r>
              <a:rPr lang="ru-RU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char</a:t>
            </a:r>
            <a:r>
              <a:rPr lang="ru-RU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 *s);</a:t>
            </a:r>
            <a:r>
              <a:rPr lang="ru-RU" dirty="0"/>
              <a:t>. Спецификатор </a:t>
            </a:r>
            <a:r>
              <a:rPr lang="ru-RU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const</a:t>
            </a:r>
            <a:r>
              <a:rPr lang="ru-RU" dirty="0"/>
              <a:t> указывает, что функция не изменяет содержимое строки. Это важная гарантия корректности интерфейса.</a:t>
            </a:r>
          </a:p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E59A46E3-A062-4F85-8E8F-D4EACE1D224A}" type="slidenum">
              <a:rPr lang="en-US" smtClean="0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631395848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ru-RU" dirty="0"/>
              <a:t>Заголовочный файл </a:t>
            </a:r>
            <a:r>
              <a:rPr lang="ru-RU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&lt;</a:t>
            </a:r>
            <a:r>
              <a:rPr lang="ru-RU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string.h</a:t>
            </a:r>
            <a:r>
              <a:rPr lang="ru-RU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&gt;</a:t>
            </a:r>
            <a:r>
              <a:rPr lang="ru-RU" dirty="0"/>
              <a:t> предоставляет стандартный набор функций для работы со строками в формате C. Под строкой здесь понимается массив символов типа </a:t>
            </a:r>
            <a:r>
              <a:rPr lang="ru-RU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char</a:t>
            </a:r>
            <a:r>
              <a:rPr lang="ru-RU" dirty="0"/>
              <a:t>, завершающийся нулевым символом </a:t>
            </a:r>
            <a:r>
              <a:rPr lang="ru-RU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'\0'</a:t>
            </a:r>
            <a:r>
              <a:rPr lang="ru-RU" dirty="0"/>
              <a:t>.</a:t>
            </a:r>
          </a:p>
          <a:p>
            <a:r>
              <a:rPr lang="ru-RU" dirty="0"/>
              <a:t>К основным функциям относятся </a:t>
            </a:r>
            <a:r>
              <a:rPr lang="ru-RU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strlen</a:t>
            </a:r>
            <a:r>
              <a:rPr lang="ru-RU" dirty="0"/>
              <a:t> для определения длины строки, </a:t>
            </a:r>
            <a:r>
              <a:rPr lang="ru-RU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strcpy</a:t>
            </a:r>
            <a:r>
              <a:rPr lang="ru-RU" dirty="0"/>
              <a:t> и </a:t>
            </a:r>
            <a:r>
              <a:rPr lang="ru-RU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strncpy</a:t>
            </a:r>
            <a:r>
              <a:rPr lang="ru-RU" dirty="0"/>
              <a:t> для копирования, </a:t>
            </a:r>
            <a:r>
              <a:rPr lang="ru-RU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strcmp</a:t>
            </a:r>
            <a:r>
              <a:rPr lang="ru-RU" dirty="0"/>
              <a:t> и </a:t>
            </a:r>
            <a:r>
              <a:rPr lang="ru-RU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strncmp</a:t>
            </a:r>
            <a:r>
              <a:rPr lang="ru-RU" dirty="0"/>
              <a:t> для сравнения, а также </a:t>
            </a:r>
            <a:r>
              <a:rPr lang="ru-RU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strcat</a:t>
            </a:r>
            <a:r>
              <a:rPr lang="ru-RU" dirty="0"/>
              <a:t> и </a:t>
            </a:r>
            <a:r>
              <a:rPr lang="ru-RU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strncat</a:t>
            </a:r>
            <a:r>
              <a:rPr lang="ru-RU" dirty="0"/>
              <a:t> для конкатенации строк.</a:t>
            </a:r>
          </a:p>
          <a:p>
            <a:endParaRPr lang="ru-RU" dirty="0"/>
          </a:p>
          <a:p>
            <a:r>
              <a:rPr lang="ru-RU" dirty="0"/>
              <a:t>Все эти функции работают по одному и тому же принципу: они получают адрес первого символа строки и выполняют последовательный обход памяти до встречи нулевого символа либо до достижения указанного ограничения.</a:t>
            </a:r>
          </a:p>
          <a:p>
            <a:endParaRPr lang="ru-RU" dirty="0"/>
          </a:p>
          <a:p>
            <a:r>
              <a:rPr lang="ru-RU" dirty="0"/>
              <a:t>Следует подчеркнуть, что стандартные строковые функции, как правило, не выполняют автоматическую проверку размера буфера назначения. Ответственность за корректность размеров лежит на программисте.</a:t>
            </a:r>
          </a:p>
          <a:p>
            <a:r>
              <a:rPr lang="ru-RU" dirty="0"/>
              <a:t>Таким образом, библиотека </a:t>
            </a:r>
            <a:r>
              <a:rPr lang="ru-RU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&lt;</a:t>
            </a:r>
            <a:r>
              <a:rPr lang="ru-RU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string.h</a:t>
            </a:r>
            <a:r>
              <a:rPr lang="ru-RU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&gt;</a:t>
            </a:r>
            <a:r>
              <a:rPr lang="ru-RU" dirty="0"/>
              <a:t> не вводит нового механизма хранения строк, а предоставляет готовые реализации типовых операций, основанных на уже изученной модели строки как массива байтов с завершающим нулём.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E59A46E3-A062-4F85-8E8F-D4EACE1D224A}" type="slidenum">
              <a:rPr lang="en-US" smtClean="0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152830495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ru-RU" dirty="0"/>
              <a:t>Рассмотрим пример, демонстрирующий совместное использование функций </a:t>
            </a:r>
            <a:r>
              <a:rPr lang="ru-RU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strlen</a:t>
            </a:r>
            <a:r>
              <a:rPr lang="ru-RU" dirty="0"/>
              <a:t>, </a:t>
            </a:r>
            <a:r>
              <a:rPr lang="ru-RU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strcpy</a:t>
            </a:r>
            <a:r>
              <a:rPr lang="ru-RU" dirty="0"/>
              <a:t> и </a:t>
            </a:r>
            <a:r>
              <a:rPr lang="ru-RU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strncpy</a:t>
            </a:r>
            <a:r>
              <a:rPr lang="ru-RU" dirty="0"/>
              <a:t>.</a:t>
            </a:r>
          </a:p>
          <a:p>
            <a:r>
              <a:rPr lang="ru-RU" dirty="0"/>
              <a:t>Сначала определяется длина строки </a:t>
            </a:r>
            <a:r>
              <a:rPr lang="ru-RU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source</a:t>
            </a:r>
            <a:r>
              <a:rPr lang="ru-RU" dirty="0"/>
              <a:t> с помощью </a:t>
            </a:r>
            <a:r>
              <a:rPr lang="ru-RU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strlen</a:t>
            </a:r>
            <a:r>
              <a:rPr lang="ru-RU" dirty="0"/>
              <a:t>. Важно подчеркнуть, что возвращаемое значение не включает нулевой завершающий символ. Для строки </a:t>
            </a:r>
            <a:r>
              <a:rPr lang="ru-RU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"Hello"</a:t>
            </a:r>
            <a:r>
              <a:rPr lang="ru-RU" dirty="0"/>
              <a:t> длина будет равна 5.</a:t>
            </a:r>
          </a:p>
          <a:p>
            <a:endParaRPr lang="ru-RU" dirty="0"/>
          </a:p>
          <a:p>
            <a:r>
              <a:rPr lang="ru-RU" dirty="0"/>
              <a:t>Далее используется функция </a:t>
            </a:r>
            <a:r>
              <a:rPr lang="ru-RU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strcpy</a:t>
            </a:r>
            <a:r>
              <a:rPr lang="ru-RU" dirty="0"/>
              <a:t>, которая копирует строку целиком, включая символ </a:t>
            </a:r>
            <a:r>
              <a:rPr lang="ru-RU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'\0'</a:t>
            </a:r>
            <a:r>
              <a:rPr lang="ru-RU" dirty="0"/>
              <a:t>. Поэтому массив назначения </a:t>
            </a:r>
            <a:r>
              <a:rPr lang="ru-RU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dest1</a:t>
            </a:r>
            <a:r>
              <a:rPr lang="ru-RU" dirty="0"/>
              <a:t> должен иметь размер не менее шести байтов.</a:t>
            </a:r>
          </a:p>
          <a:p>
            <a:endParaRPr lang="ru-RU" dirty="0"/>
          </a:p>
          <a:p>
            <a:r>
              <a:rPr lang="ru-RU" dirty="0"/>
              <a:t>Во втором случае применяется функция </a:t>
            </a:r>
            <a:r>
              <a:rPr lang="ru-RU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strncpy</a:t>
            </a:r>
            <a:r>
              <a:rPr lang="ru-RU" dirty="0"/>
              <a:t>. Она копирует не более указанного количества символов. Если размер буфера равен размеру строки вместе с </a:t>
            </a:r>
            <a:r>
              <a:rPr lang="ru-RU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'\0'</a:t>
            </a:r>
            <a:r>
              <a:rPr lang="ru-RU" dirty="0"/>
              <a:t>, копирование будет корректным. Однако стандарт не гарантирует автоматическую запись нулевого символа, если исходная строка имеет длину, равную или превышающую </a:t>
            </a:r>
            <a:r>
              <a:rPr lang="ru-RU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n</a:t>
            </a:r>
            <a:r>
              <a:rPr lang="ru-RU" dirty="0"/>
              <a:t>. Поэтому в примере дополнительно выполняется явная установка </a:t>
            </a:r>
            <a:r>
              <a:rPr lang="ru-RU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dest2[</a:t>
            </a:r>
            <a:r>
              <a:rPr lang="ru-RU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sizeof</a:t>
            </a:r>
            <a:r>
              <a:rPr lang="ru-RU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(dest2) - 1] = '\0';</a:t>
            </a:r>
            <a:r>
              <a:rPr lang="ru-RU" dirty="0"/>
              <a:t>.</a:t>
            </a:r>
          </a:p>
          <a:p>
            <a:r>
              <a:rPr lang="ru-RU" dirty="0"/>
              <a:t>Данный пример подчёркивает два важных аспекта: во-первых, необходимость учитывать длину строки при выделении памяти, а во-вторых, особенности поведения функции </a:t>
            </a:r>
            <a:r>
              <a:rPr lang="ru-RU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strncpy</a:t>
            </a:r>
            <a:r>
              <a:rPr lang="ru-RU" dirty="0"/>
              <a:t>, которые требуют дополнительной осторожности при использовании.</a:t>
            </a:r>
          </a:p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E59A46E3-A062-4F85-8E8F-D4EACE1D224A}" type="slidenum">
              <a:rPr lang="en-US" smtClean="0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940981344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ru-RU" dirty="0"/>
              <a:t>В данном примере показано различие между функциями </a:t>
            </a:r>
            <a:r>
              <a:rPr lang="ru-RU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strcmp</a:t>
            </a:r>
            <a:r>
              <a:rPr lang="ru-RU" dirty="0"/>
              <a:t> и </a:t>
            </a:r>
            <a:r>
              <a:rPr lang="ru-RU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strncmp</a:t>
            </a:r>
            <a:r>
              <a:rPr lang="ru-RU" dirty="0"/>
              <a:t>.</a:t>
            </a:r>
          </a:p>
          <a:p>
            <a:r>
              <a:rPr lang="ru-RU" dirty="0"/>
              <a:t>Функция </a:t>
            </a:r>
            <a:r>
              <a:rPr lang="ru-RU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strcmp</a:t>
            </a:r>
            <a:r>
              <a:rPr lang="ru-RU" dirty="0"/>
              <a:t> выполняет полное лексикографическое сравнение строк. При сравнении </a:t>
            </a:r>
            <a:r>
              <a:rPr lang="ru-RU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s1</a:t>
            </a:r>
            <a:r>
              <a:rPr lang="ru-RU" dirty="0"/>
              <a:t> и </a:t>
            </a:r>
            <a:r>
              <a:rPr lang="ru-RU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s2</a:t>
            </a:r>
            <a:r>
              <a:rPr lang="ru-RU" dirty="0"/>
              <a:t> различие возникает на третьем символе: в строке </a:t>
            </a:r>
            <a:r>
              <a:rPr lang="ru-RU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"</a:t>
            </a:r>
            <a:r>
              <a:rPr lang="ru-RU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apple</a:t>
            </a:r>
            <a:r>
              <a:rPr lang="ru-RU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"</a:t>
            </a:r>
            <a:r>
              <a:rPr lang="ru-RU" dirty="0"/>
              <a:t> это </a:t>
            </a:r>
            <a:r>
              <a:rPr lang="ru-RU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'p'</a:t>
            </a:r>
            <a:r>
              <a:rPr lang="ru-RU" dirty="0"/>
              <a:t>, а в строке </a:t>
            </a:r>
            <a:r>
              <a:rPr lang="ru-RU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"</a:t>
            </a:r>
            <a:r>
              <a:rPr lang="ru-RU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apricot</a:t>
            </a:r>
            <a:r>
              <a:rPr lang="ru-RU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"</a:t>
            </a:r>
            <a:r>
              <a:rPr lang="ru-RU" dirty="0"/>
              <a:t> — </a:t>
            </a:r>
            <a:r>
              <a:rPr lang="ru-RU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'r'</a:t>
            </a:r>
            <a:r>
              <a:rPr lang="ru-RU" dirty="0"/>
              <a:t>. Поскольку код символа </a:t>
            </a:r>
            <a:r>
              <a:rPr lang="ru-RU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'p'</a:t>
            </a:r>
            <a:r>
              <a:rPr lang="ru-RU" dirty="0"/>
              <a:t> меньше кода </a:t>
            </a:r>
            <a:r>
              <a:rPr lang="ru-RU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'r'</a:t>
            </a:r>
            <a:r>
              <a:rPr lang="ru-RU" dirty="0"/>
              <a:t>, результат будет отрицательным. При сравнении </a:t>
            </a:r>
            <a:r>
              <a:rPr lang="ru-RU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s1</a:t>
            </a:r>
            <a:r>
              <a:rPr lang="ru-RU" dirty="0"/>
              <a:t> и </a:t>
            </a:r>
            <a:r>
              <a:rPr lang="ru-RU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s3</a:t>
            </a:r>
            <a:r>
              <a:rPr lang="ru-RU" dirty="0"/>
              <a:t> строки полностью совпадают, поэтому возвращается 0.</a:t>
            </a:r>
          </a:p>
          <a:p>
            <a:endParaRPr lang="ru-RU" dirty="0"/>
          </a:p>
          <a:p>
            <a:r>
              <a:rPr lang="ru-RU" dirty="0"/>
              <a:t>Функция </a:t>
            </a:r>
            <a:r>
              <a:rPr lang="ru-RU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strncmp</a:t>
            </a:r>
            <a:r>
              <a:rPr lang="ru-RU" dirty="0"/>
              <a:t> сравнивает не более указанного числа символов. В данном случае сравниваются только первые два символа строк </a:t>
            </a:r>
            <a:r>
              <a:rPr lang="ru-RU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s1</a:t>
            </a:r>
            <a:r>
              <a:rPr lang="ru-RU" dirty="0"/>
              <a:t> и </a:t>
            </a:r>
            <a:r>
              <a:rPr lang="ru-RU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s2</a:t>
            </a:r>
            <a:r>
              <a:rPr lang="ru-RU" dirty="0"/>
              <a:t>. Поскольку первые два символа в обеих строках — </a:t>
            </a:r>
            <a:r>
              <a:rPr lang="ru-RU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"</a:t>
            </a:r>
            <a:r>
              <a:rPr lang="ru-RU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ap</a:t>
            </a:r>
            <a:r>
              <a:rPr lang="ru-RU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"</a:t>
            </a:r>
            <a:r>
              <a:rPr lang="ru-RU" dirty="0"/>
              <a:t>, функция возвращает 0, несмотря на различие в последующих позициях.</a:t>
            </a:r>
          </a:p>
          <a:p>
            <a:endParaRPr lang="ru-RU" dirty="0"/>
          </a:p>
          <a:p>
            <a:r>
              <a:rPr lang="ru-RU" dirty="0"/>
              <a:t>Следует подчеркнуть, что возвращаемое значение не ограничивается числами −1, 0 и 1. Это разность кодов первых различающихся символов после стандартных целочисленных преобразований.</a:t>
            </a:r>
          </a:p>
          <a:p>
            <a:endParaRPr lang="ru-RU" dirty="0"/>
          </a:p>
          <a:p>
            <a:r>
              <a:rPr lang="ru-RU" dirty="0"/>
              <a:t>Таким образом, </a:t>
            </a:r>
            <a:r>
              <a:rPr lang="ru-RU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strncmp</a:t>
            </a:r>
            <a:r>
              <a:rPr lang="ru-RU" dirty="0"/>
              <a:t> позволяет ограничить область сравнения, что особенно полезно при анализе префиксов строк.</a:t>
            </a:r>
          </a:p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E59A46E3-A062-4F85-8E8F-D4EACE1D224A}" type="slidenum">
              <a:rPr lang="en-US" smtClean="0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62431893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ru-RU" dirty="0"/>
              <a:t>В данном примере демонстрируется работа функций </a:t>
            </a:r>
            <a:r>
              <a:rPr lang="ru-RU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strcat</a:t>
            </a:r>
            <a:r>
              <a:rPr lang="ru-RU" dirty="0"/>
              <a:t> и </a:t>
            </a:r>
            <a:r>
              <a:rPr lang="ru-RU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strncat</a:t>
            </a:r>
            <a:r>
              <a:rPr lang="ru-RU" dirty="0"/>
              <a:t>.</a:t>
            </a:r>
          </a:p>
          <a:p>
            <a:r>
              <a:rPr lang="ru-RU" dirty="0"/>
              <a:t>Функция </a:t>
            </a:r>
            <a:r>
              <a:rPr lang="ru-RU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strcat</a:t>
            </a:r>
            <a:r>
              <a:rPr lang="ru-RU" dirty="0"/>
              <a:t> выполняет конкатенацию строк, то есть дописывает строку </a:t>
            </a:r>
            <a:r>
              <a:rPr lang="ru-RU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src</a:t>
            </a:r>
            <a:r>
              <a:rPr lang="ru-RU" dirty="0"/>
              <a:t> в конец строки </a:t>
            </a:r>
            <a:r>
              <a:rPr lang="ru-RU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dest</a:t>
            </a:r>
            <a:r>
              <a:rPr lang="ru-RU" dirty="0"/>
              <a:t>. Перед началом копирования она находит нулевой символ в </a:t>
            </a:r>
            <a:r>
              <a:rPr lang="ru-RU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dest</a:t>
            </a:r>
            <a:r>
              <a:rPr lang="ru-RU" dirty="0"/>
              <a:t>, после чего начинает перенос символов из </a:t>
            </a:r>
            <a:r>
              <a:rPr lang="ru-RU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src</a:t>
            </a:r>
            <a:r>
              <a:rPr lang="ru-RU" dirty="0"/>
              <a:t>, включая завершающий </a:t>
            </a:r>
            <a:r>
              <a:rPr lang="ru-RU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'\0'</a:t>
            </a:r>
            <a:r>
              <a:rPr lang="ru-RU" dirty="0"/>
              <a:t>. В результате строка </a:t>
            </a:r>
            <a:r>
              <a:rPr lang="ru-RU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s1</a:t>
            </a:r>
            <a:r>
              <a:rPr lang="ru-RU" dirty="0"/>
              <a:t> превращается в </a:t>
            </a:r>
            <a:r>
              <a:rPr lang="ru-RU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"Hello World"</a:t>
            </a:r>
            <a:r>
              <a:rPr lang="ru-RU" dirty="0"/>
              <a:t>.</a:t>
            </a:r>
          </a:p>
          <a:p>
            <a:endParaRPr lang="ru-RU" dirty="0"/>
          </a:p>
          <a:p>
            <a:r>
              <a:rPr lang="ru-RU" dirty="0"/>
              <a:t>Важно понимать, что массив </a:t>
            </a:r>
            <a:r>
              <a:rPr lang="ru-RU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dest</a:t>
            </a:r>
            <a:r>
              <a:rPr lang="ru-RU" dirty="0"/>
              <a:t> должен иметь достаточный размер для размещения исходной строки, добавляемой строки и завершающего нулевого символа. Проверка переполнения автоматически не выполняется.</a:t>
            </a:r>
          </a:p>
          <a:p>
            <a:endParaRPr lang="ru-RU" dirty="0"/>
          </a:p>
          <a:p>
            <a:r>
              <a:rPr lang="ru-RU" dirty="0"/>
              <a:t>Функция </a:t>
            </a:r>
            <a:r>
              <a:rPr lang="ru-RU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strncat</a:t>
            </a:r>
            <a:r>
              <a:rPr lang="ru-RU" dirty="0"/>
              <a:t> работает аналогично, но дописывает не более </a:t>
            </a:r>
            <a:r>
              <a:rPr lang="ru-RU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n</a:t>
            </a:r>
            <a:r>
              <a:rPr lang="ru-RU" dirty="0"/>
              <a:t> символов из строки </a:t>
            </a:r>
            <a:r>
              <a:rPr lang="ru-RU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src</a:t>
            </a:r>
            <a:r>
              <a:rPr lang="ru-RU" dirty="0"/>
              <a:t>. В примере к строке </a:t>
            </a:r>
            <a:r>
              <a:rPr lang="ru-RU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"Number: "</a:t>
            </a:r>
            <a:r>
              <a:rPr lang="ru-RU" dirty="0"/>
              <a:t> добавляются только первые три символа строки </a:t>
            </a:r>
            <a:r>
              <a:rPr lang="ru-RU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"12345"</a:t>
            </a:r>
            <a:r>
              <a:rPr lang="ru-RU" dirty="0"/>
              <a:t>, поэтому результатом будет строка </a:t>
            </a:r>
            <a:r>
              <a:rPr lang="ru-RU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"Number: 123"</a:t>
            </a:r>
            <a:r>
              <a:rPr lang="ru-RU" dirty="0"/>
              <a:t>.</a:t>
            </a:r>
          </a:p>
          <a:p>
            <a:endParaRPr lang="ru-RU" dirty="0"/>
          </a:p>
          <a:p>
            <a:r>
              <a:rPr lang="ru-RU" dirty="0"/>
              <a:t>Следует отметить, что </a:t>
            </a:r>
            <a:r>
              <a:rPr lang="ru-RU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strncat</a:t>
            </a:r>
            <a:r>
              <a:rPr lang="ru-RU" dirty="0"/>
              <a:t> также добавляет завершающий нулевой символ после копирования. Однако ограничение </a:t>
            </a:r>
            <a:r>
              <a:rPr lang="ru-RU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n</a:t>
            </a:r>
            <a:r>
              <a:rPr lang="ru-RU" dirty="0"/>
              <a:t> относится только к количеству символов, переносимых из </a:t>
            </a:r>
            <a:r>
              <a:rPr lang="ru-RU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src</a:t>
            </a:r>
            <a:r>
              <a:rPr lang="ru-RU" dirty="0"/>
              <a:t>, а не к общему размеру буфера назначения. Поэтому корректный расчёт свободного места остаётся обязанностью программиста.</a:t>
            </a:r>
          </a:p>
          <a:p>
            <a:endParaRPr lang="ru-RU" dirty="0"/>
          </a:p>
          <a:p>
            <a:r>
              <a:rPr lang="ru-RU" dirty="0"/>
              <a:t>Таким образом, функции конкатенации работают путём поиска конца строки назначения и последовательного копирования символов из второй строки.</a:t>
            </a:r>
          </a:p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E59A46E3-A062-4F85-8E8F-D4EACE1D224A}" type="slidenum">
              <a:rPr lang="en-US" smtClean="0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807225250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ru-RU" dirty="0"/>
              <a:t>До настоящего момента во всех примерах использовались массивы фиксированного размера. Это удобно в учебных задачах, но в реальных программах длина строки часто заранее неизвестна.</a:t>
            </a:r>
            <a:endParaRPr lang="en-US" dirty="0"/>
          </a:p>
          <a:p>
            <a:endParaRPr lang="ru-RU" dirty="0"/>
          </a:p>
          <a:p>
            <a:r>
              <a:rPr lang="ru-RU" dirty="0"/>
              <a:t>Если выбрать слишком маленький буфер, возникает переполнение, которое приводит к неопределённому поведению. Если выбрать слишком большой — память используется неэффективно.</a:t>
            </a:r>
            <a:endParaRPr lang="en-US" dirty="0"/>
          </a:p>
          <a:p>
            <a:endParaRPr lang="ru-RU" dirty="0"/>
          </a:p>
          <a:p>
            <a:r>
              <a:rPr lang="ru-RU" dirty="0"/>
              <a:t>Следовательно, при работе со строками произвольной длины требуется динамическое управление памятью. Это означает, что память выделяется во время выполнения программы и при необходимости может быть увеличена.</a:t>
            </a:r>
            <a:endParaRPr lang="en-US" dirty="0"/>
          </a:p>
          <a:p>
            <a:endParaRPr lang="ru-RU" dirty="0"/>
          </a:p>
          <a:p>
            <a:r>
              <a:rPr lang="ru-RU" dirty="0"/>
              <a:t>При этом важно подчеркнуть, что сама модель строки не меняется. Это по-прежнему массив </a:t>
            </a:r>
            <a:r>
              <a:rPr lang="ru-RU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char</a:t>
            </a:r>
            <a:r>
              <a:rPr lang="ru-RU" dirty="0"/>
              <a:t>, завершающийся нулевым символом. Изменяется только способ управления памятью.</a:t>
            </a:r>
          </a:p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E59A46E3-A062-4F85-8E8F-D4EACE1D224A}" type="slidenum">
              <a:rPr lang="en-US" smtClean="0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129656786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ru-RU" dirty="0"/>
              <a:t>На данном слайде показан базовый пример динамического выделения памяти.</a:t>
            </a:r>
          </a:p>
          <a:p>
            <a:r>
              <a:rPr lang="ru-RU" dirty="0"/>
              <a:t>В начале подключаются заголовочные файлы </a:t>
            </a:r>
            <a:r>
              <a:rPr lang="ru-RU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&lt;</a:t>
            </a:r>
            <a:r>
              <a:rPr lang="ru-RU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stdio.h</a:t>
            </a:r>
            <a:r>
              <a:rPr lang="ru-RU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&gt;</a:t>
            </a:r>
            <a:r>
              <a:rPr lang="ru-RU" dirty="0"/>
              <a:t> и </a:t>
            </a:r>
            <a:r>
              <a:rPr lang="ru-RU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&lt;</a:t>
            </a:r>
            <a:r>
              <a:rPr lang="ru-RU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stdlib.h</a:t>
            </a:r>
            <a:r>
              <a:rPr lang="ru-RU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&gt;</a:t>
            </a:r>
            <a:r>
              <a:rPr lang="ru-RU" dirty="0"/>
              <a:t>. Именно в </a:t>
            </a:r>
            <a:r>
              <a:rPr lang="ru-RU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&lt;</a:t>
            </a:r>
            <a:r>
              <a:rPr lang="ru-RU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stdlib.h</a:t>
            </a:r>
            <a:r>
              <a:rPr lang="ru-RU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&gt;</a:t>
            </a:r>
            <a:r>
              <a:rPr lang="ru-RU" dirty="0"/>
              <a:t> объявлены функции </a:t>
            </a:r>
            <a:r>
              <a:rPr lang="ru-RU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malloc</a:t>
            </a:r>
            <a:r>
              <a:rPr lang="ru-RU" dirty="0"/>
              <a:t> и </a:t>
            </a:r>
            <a:r>
              <a:rPr lang="ru-RU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free</a:t>
            </a:r>
            <a:r>
              <a:rPr lang="ru-RU" dirty="0"/>
              <a:t>.</a:t>
            </a:r>
          </a:p>
          <a:p>
            <a:r>
              <a:rPr lang="ru-RU" dirty="0"/>
              <a:t>В функции </a:t>
            </a:r>
            <a:r>
              <a:rPr lang="ru-RU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main</a:t>
            </a:r>
            <a:r>
              <a:rPr lang="ru-RU" dirty="0"/>
              <a:t> создаётся указатель </a:t>
            </a:r>
            <a:r>
              <a:rPr lang="ru-RU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char</a:t>
            </a:r>
            <a:r>
              <a:rPr lang="ru-RU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 *</a:t>
            </a:r>
            <a:r>
              <a:rPr lang="ru-RU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ptr</a:t>
            </a:r>
            <a:r>
              <a:rPr lang="ru-RU" dirty="0"/>
              <a:t>. Затем вызывается </a:t>
            </a:r>
            <a:r>
              <a:rPr lang="ru-RU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malloc</a:t>
            </a:r>
            <a:r>
              <a:rPr lang="ru-RU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(1000)</a:t>
            </a:r>
            <a:r>
              <a:rPr lang="ru-RU" dirty="0"/>
              <a:t>. Это означает, что во время выполнения программы в куче выделяется 1000 байтов памяти. Функция </a:t>
            </a:r>
            <a:r>
              <a:rPr lang="ru-RU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malloc</a:t>
            </a:r>
            <a:r>
              <a:rPr lang="ru-RU" dirty="0"/>
              <a:t> возвращает адрес первого байта выделенного блока, и этот адрес сохраняется в переменной </a:t>
            </a:r>
            <a:r>
              <a:rPr lang="ru-RU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ptr</a:t>
            </a:r>
            <a:r>
              <a:rPr lang="ru-RU" dirty="0"/>
              <a:t>.</a:t>
            </a:r>
          </a:p>
          <a:p>
            <a:r>
              <a:rPr lang="ru-RU" dirty="0"/>
              <a:t>Важно понимать, что сама переменная </a:t>
            </a:r>
            <a:r>
              <a:rPr lang="ru-RU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ptr</a:t>
            </a:r>
            <a:r>
              <a:rPr lang="ru-RU" dirty="0"/>
              <a:t> располагается в стеке, а память, на которую она указывает, — в куче. На схеме справа это показано явно: указатель находится в стеке, а выделенный блок — в области кучи. Указатель просто хранит адрес.</a:t>
            </a:r>
          </a:p>
          <a:p>
            <a:r>
              <a:rPr lang="ru-RU" dirty="0"/>
              <a:t>Далее выполняется запись </a:t>
            </a:r>
            <a:r>
              <a:rPr lang="ru-RU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ptr</a:t>
            </a:r>
            <a:r>
              <a:rPr lang="ru-RU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[0] = 42;</a:t>
            </a:r>
            <a:r>
              <a:rPr lang="ru-RU" dirty="0"/>
              <a:t> и </a:t>
            </a:r>
            <a:r>
              <a:rPr lang="ru-RU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ptr</a:t>
            </a:r>
            <a:r>
              <a:rPr lang="ru-RU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[1] = 123;</a:t>
            </a:r>
            <a:r>
              <a:rPr lang="ru-RU" dirty="0"/>
              <a:t>. Это обычная работа с массивом байтов. Выражение </a:t>
            </a:r>
            <a:r>
              <a:rPr lang="ru-RU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ptr</a:t>
            </a:r>
            <a:r>
              <a:rPr lang="ru-RU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[i]</a:t>
            </a:r>
            <a:r>
              <a:rPr lang="ru-RU" dirty="0"/>
              <a:t> эквивалентно </a:t>
            </a:r>
            <a:r>
              <a:rPr lang="ru-RU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*(</a:t>
            </a:r>
            <a:r>
              <a:rPr lang="ru-RU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ptr</a:t>
            </a:r>
            <a:r>
              <a:rPr lang="ru-RU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 + i)</a:t>
            </a:r>
            <a:r>
              <a:rPr lang="ru-RU" dirty="0"/>
              <a:t>. Таким образом, динамически выделенная память используется так же, как обычный массив.</a:t>
            </a:r>
          </a:p>
          <a:p>
            <a:r>
              <a:rPr lang="ru-RU" dirty="0"/>
              <a:t>После завершения работы вызывается </a:t>
            </a:r>
            <a:r>
              <a:rPr lang="ru-RU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free</a:t>
            </a:r>
            <a:r>
              <a:rPr lang="ru-RU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(</a:t>
            </a:r>
            <a:r>
              <a:rPr lang="ru-RU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ptr</a:t>
            </a:r>
            <a:r>
              <a:rPr lang="ru-RU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);</a:t>
            </a:r>
            <a:r>
              <a:rPr lang="ru-RU" dirty="0"/>
              <a:t>. Эта функция освобождает ранее выделенный блок памяти. Если не вызвать </a:t>
            </a:r>
            <a:r>
              <a:rPr lang="ru-RU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free</a:t>
            </a:r>
            <a:r>
              <a:rPr lang="ru-RU" dirty="0"/>
              <a:t>, возникнет утечка памяти, поскольку система не освободит этот участок автоматически до завершения процесса.</a:t>
            </a:r>
          </a:p>
          <a:p>
            <a:r>
              <a:rPr lang="ru-RU" dirty="0"/>
              <a:t>Ключевая идея слайда заключается в следующем: динамическая память — это просто область оперативной памяти, выделенная во время выполнения программы. Указатель хранит адрес этой области, а дальнейшая работа с ней ничем не отличается от работы со статическим массивом.</a:t>
            </a:r>
          </a:p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E59A46E3-A062-4F85-8E8F-D4EACE1D224A}" type="slidenum">
              <a:rPr lang="en-US" smtClean="0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693713407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ru-RU" dirty="0"/>
              <a:t>В данном примере показан базовый способ работы со строкой произвольной длины.</a:t>
            </a:r>
          </a:p>
          <a:p>
            <a:r>
              <a:rPr lang="ru-RU" dirty="0"/>
              <a:t>Сначала определяется длина строки с помощью </a:t>
            </a:r>
            <a:r>
              <a:rPr lang="ru-RU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strlen</a:t>
            </a:r>
            <a:r>
              <a:rPr lang="ru-RU" dirty="0"/>
              <a:t>. Далее вызывается </a:t>
            </a:r>
            <a:r>
              <a:rPr lang="ru-RU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malloc</a:t>
            </a:r>
            <a:r>
              <a:rPr lang="ru-RU" dirty="0"/>
              <a:t> для выделения памяти объёмом </a:t>
            </a:r>
            <a:r>
              <a:rPr lang="ru-RU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len</a:t>
            </a:r>
            <a:r>
              <a:rPr lang="ru-RU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 + 1</a:t>
            </a:r>
            <a:r>
              <a:rPr lang="ru-RU" dirty="0"/>
              <a:t> байтов. Дополнительный байт необходим для размещения нулевого завершающего символа.</a:t>
            </a:r>
            <a:endParaRPr lang="en-US" dirty="0"/>
          </a:p>
          <a:p>
            <a:endParaRPr lang="ru-RU" dirty="0"/>
          </a:p>
          <a:p>
            <a:r>
              <a:rPr lang="ru-RU" dirty="0"/>
              <a:t>Функция </a:t>
            </a:r>
            <a:r>
              <a:rPr lang="ru-RU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malloc</a:t>
            </a:r>
            <a:r>
              <a:rPr lang="ru-RU" dirty="0"/>
              <a:t> возвращает указатель на выделенную область памяти. Если память выделить не удалось, возвращается </a:t>
            </a:r>
            <a:r>
              <a:rPr lang="ru-RU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NULL</a:t>
            </a:r>
            <a:r>
              <a:rPr lang="ru-RU" dirty="0"/>
              <a:t>, что необходимо проверять.</a:t>
            </a:r>
            <a:endParaRPr lang="en-US" dirty="0"/>
          </a:p>
          <a:p>
            <a:endParaRPr lang="ru-RU" dirty="0"/>
          </a:p>
          <a:p>
            <a:r>
              <a:rPr lang="ru-RU" dirty="0"/>
              <a:t>После выделения памяти выполняется копирование строки функцией </a:t>
            </a:r>
            <a:r>
              <a:rPr lang="ru-RU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strcpy</a:t>
            </a:r>
            <a:r>
              <a:rPr lang="ru-RU" dirty="0"/>
              <a:t>. Затем строка используется обычным образом.</a:t>
            </a:r>
            <a:endParaRPr lang="en-US" dirty="0"/>
          </a:p>
          <a:p>
            <a:endParaRPr lang="ru-RU" dirty="0"/>
          </a:p>
          <a:p>
            <a:r>
              <a:rPr lang="ru-RU" dirty="0"/>
              <a:t>По завершении работы память должна быть освобождена с помощью </a:t>
            </a:r>
            <a:r>
              <a:rPr lang="ru-RU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free</a:t>
            </a:r>
            <a:r>
              <a:rPr lang="ru-RU" dirty="0"/>
              <a:t>. Невыполнение этого требования приводит к утечкам памяти.</a:t>
            </a:r>
            <a:endParaRPr lang="en-US" dirty="0"/>
          </a:p>
          <a:p>
            <a:endParaRPr lang="ru-RU" dirty="0"/>
          </a:p>
          <a:p>
            <a:r>
              <a:rPr lang="ru-RU" dirty="0"/>
              <a:t>Таким образом, работа со строками произвольной длины требует явного управления памятью, но при этом сохраняется базовая модель строки как массива байтов с завершающим нулём.</a:t>
            </a:r>
          </a:p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E59A46E3-A062-4F85-8E8F-D4EACE1D224A}" type="slidenum">
              <a:rPr lang="en-US" smtClean="0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30203217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ru-RU" dirty="0"/>
              <a:t>В данном примере чтение строки произвольной длины вынесено в отдельную функцию </a:t>
            </a:r>
            <a:r>
              <a:rPr lang="ru-RU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ReadString</a:t>
            </a:r>
            <a:r>
              <a:rPr lang="ru-RU" dirty="0"/>
              <a:t>. Функция возвращает указатель на динамически выделенную строку либо </a:t>
            </a:r>
            <a:r>
              <a:rPr lang="ru-RU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NULL</a:t>
            </a:r>
            <a:r>
              <a:rPr lang="ru-RU" dirty="0"/>
              <a:t> в случае ошибки.</a:t>
            </a:r>
            <a:endParaRPr lang="en-US" dirty="0"/>
          </a:p>
          <a:p>
            <a:endParaRPr lang="ru-RU" dirty="0"/>
          </a:p>
          <a:p>
            <a:r>
              <a:rPr lang="ru-RU" dirty="0"/>
              <a:t>Алгоритм работы аналогичен ранее рассмотренному примеру. Чтение выполняется посимвольно с помощью </a:t>
            </a:r>
            <a:r>
              <a:rPr lang="ru-RU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getchar</a:t>
            </a:r>
            <a:r>
              <a:rPr lang="ru-RU" dirty="0"/>
              <a:t>. После каждого считанного символа выполняется перераспределение памяти с помощью </a:t>
            </a:r>
            <a:r>
              <a:rPr lang="ru-RU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realloc</a:t>
            </a:r>
            <a:r>
              <a:rPr lang="ru-RU" dirty="0"/>
              <a:t>, увеличивая буфер на один байт.</a:t>
            </a:r>
            <a:endParaRPr lang="en-US" dirty="0"/>
          </a:p>
          <a:p>
            <a:endParaRPr lang="ru-RU" dirty="0"/>
          </a:p>
          <a:p>
            <a:r>
              <a:rPr lang="ru-RU" dirty="0"/>
              <a:t>Ключевым моментом является использование временного указателя </a:t>
            </a:r>
            <a:r>
              <a:rPr lang="ru-RU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tmp</a:t>
            </a:r>
            <a:r>
              <a:rPr lang="ru-RU" dirty="0"/>
              <a:t>. Если </a:t>
            </a:r>
            <a:r>
              <a:rPr lang="ru-RU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realloc</a:t>
            </a:r>
            <a:r>
              <a:rPr lang="ru-RU" dirty="0"/>
              <a:t> завершится неудачно и вернёт </a:t>
            </a:r>
            <a:r>
              <a:rPr lang="ru-RU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NULL</a:t>
            </a:r>
            <a:r>
              <a:rPr lang="ru-RU" dirty="0"/>
              <a:t>, необходимо освободить уже выделенную память и вернуть </a:t>
            </a:r>
            <a:r>
              <a:rPr lang="ru-RU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NULL</a:t>
            </a:r>
            <a:r>
              <a:rPr lang="ru-RU" dirty="0"/>
              <a:t>. Это предотвращает утечку памяти.</a:t>
            </a:r>
            <a:endParaRPr lang="en-US" dirty="0"/>
          </a:p>
          <a:p>
            <a:endParaRPr lang="ru-RU" dirty="0"/>
          </a:p>
          <a:p>
            <a:r>
              <a:rPr lang="ru-RU" dirty="0"/>
              <a:t>После завершения ввода дополнительно выделяется один байт для размещения нулевого символа </a:t>
            </a:r>
            <a:r>
              <a:rPr lang="ru-RU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'\0'</a:t>
            </a:r>
            <a:r>
              <a:rPr lang="ru-RU" dirty="0"/>
              <a:t>, который завершает строку в формате C.</a:t>
            </a:r>
            <a:endParaRPr lang="en-US" dirty="0"/>
          </a:p>
          <a:p>
            <a:endParaRPr lang="ru-RU" dirty="0"/>
          </a:p>
          <a:p>
            <a:r>
              <a:rPr lang="ru-RU" dirty="0"/>
              <a:t>Функция не освобождает память самостоятельно, поскольку возвращает указатель вызывающей стороне. Следовательно, ответственность за вызов </a:t>
            </a:r>
            <a:r>
              <a:rPr lang="ru-RU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free</a:t>
            </a:r>
            <a:r>
              <a:rPr lang="ru-RU" dirty="0"/>
              <a:t> лежит на коде, который использует результат функции.</a:t>
            </a:r>
          </a:p>
          <a:p>
            <a:r>
              <a:rPr lang="ru-RU" dirty="0"/>
              <a:t>Данный пример демонстрирует стандартный шаблон безопасной работы с динамически изменяемыми строками в языке C.</a:t>
            </a:r>
          </a:p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E59A46E3-A062-4F85-8E8F-D4EACE1D224A}" type="slidenum">
              <a:rPr lang="en-US" smtClean="0"/>
              <a:t>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434378554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1957780-C43D-773B-F652-9EBA2EF17C3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1D0A9CF3-970A-C035-CA8C-500A2898027E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03AC72CF-D410-2F24-71BA-44EC9FBE7092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ru-RU" dirty="0"/>
              <a:t>В данном варианте при любой ошибке выделения памяти выполняется переход к метке </a:t>
            </a:r>
            <a:r>
              <a:rPr lang="ru-RU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error</a:t>
            </a:r>
            <a:r>
              <a:rPr lang="ru-RU" dirty="0"/>
              <a:t>. В этом месте сосредоточена очистка ресурсов и возврат </a:t>
            </a:r>
            <a:r>
              <a:rPr lang="ru-RU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NULL</a:t>
            </a:r>
            <a:r>
              <a:rPr lang="ru-RU" dirty="0"/>
              <a:t>.</a:t>
            </a:r>
          </a:p>
          <a:p>
            <a:r>
              <a:rPr lang="ru-RU" dirty="0"/>
              <a:t>Такой подход: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ru-RU" dirty="0"/>
              <a:t>устраняет повторяющийся код освобождения памяти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ru-RU" dirty="0"/>
              <a:t>упрощает структуру функции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ru-RU" dirty="0"/>
              <a:t>делает обработку ошибок централизованной</a:t>
            </a:r>
          </a:p>
          <a:p>
            <a:r>
              <a:rPr lang="ru-RU" dirty="0"/>
              <a:t>Следует подчеркнуть, что подобное использование </a:t>
            </a:r>
            <a:r>
              <a:rPr lang="ru-RU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goto</a:t>
            </a:r>
            <a:r>
              <a:rPr lang="ru-RU" dirty="0"/>
              <a:t> считается корректным и распространённым в языке C, особенно в функциях, где требуется аккуратное освобождение нескольких ресурсов. Это пример дисциплинированного и структурированного применения оператора </a:t>
            </a:r>
            <a:r>
              <a:rPr lang="ru-RU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goto</a:t>
            </a:r>
            <a:r>
              <a:rPr lang="ru-RU" dirty="0"/>
              <a:t>.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AE321BB9-4CCA-3A45-05CE-29230764B798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E59A46E3-A062-4F85-8E8F-D4EACE1D224A}" type="slidenum">
              <a:rPr lang="en-US" smtClean="0"/>
              <a:t>27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82723904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ru-RU" dirty="0"/>
              <a:t>Динамическое выделение памяти применяется не только для строк. Аналогичным образом можно создавать массивы любого типа во время выполнения программы.</a:t>
            </a:r>
          </a:p>
          <a:p>
            <a:r>
              <a:rPr lang="ru-RU" dirty="0"/>
              <a:t>Общая форма вызова </a:t>
            </a:r>
            <a:r>
              <a:rPr lang="ru-RU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malloc</a:t>
            </a:r>
            <a:r>
              <a:rPr lang="ru-RU" dirty="0"/>
              <a:t> для массива имеет вид: </a:t>
            </a:r>
            <a:r>
              <a:rPr lang="ru-RU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malloc</a:t>
            </a:r>
            <a:r>
              <a:rPr lang="ru-RU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(N * </a:t>
            </a:r>
            <a:r>
              <a:rPr lang="ru-RU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sizeof</a:t>
            </a:r>
            <a:r>
              <a:rPr lang="ru-RU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(</a:t>
            </a:r>
            <a:r>
              <a:rPr lang="ru-RU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type</a:t>
            </a:r>
            <a:r>
              <a:rPr lang="ru-RU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))</a:t>
            </a:r>
            <a:r>
              <a:rPr lang="ru-RU" dirty="0"/>
              <a:t>, где </a:t>
            </a:r>
            <a:r>
              <a:rPr lang="ru-RU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N</a:t>
            </a:r>
            <a:r>
              <a:rPr lang="ru-RU" dirty="0"/>
              <a:t> — количество элементов, а </a:t>
            </a:r>
            <a:r>
              <a:rPr lang="ru-RU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sizeof</a:t>
            </a:r>
            <a:r>
              <a:rPr lang="ru-RU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(</a:t>
            </a:r>
            <a:r>
              <a:rPr lang="ru-RU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type</a:t>
            </a:r>
            <a:r>
              <a:rPr lang="ru-RU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)</a:t>
            </a:r>
            <a:r>
              <a:rPr lang="ru-RU" dirty="0"/>
              <a:t> — размер одного элемента в байтах. Произведение этих величин даёт общий объём памяти, необходимый для размещения массива.</a:t>
            </a:r>
          </a:p>
          <a:p>
            <a:endParaRPr lang="ru-RU" dirty="0"/>
          </a:p>
          <a:p>
            <a:r>
              <a:rPr lang="ru-RU" dirty="0"/>
              <a:t>Например, выражение </a:t>
            </a:r>
            <a:r>
              <a:rPr lang="ru-RU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malloc</a:t>
            </a:r>
            <a:r>
              <a:rPr lang="ru-RU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(100 * </a:t>
            </a:r>
            <a:r>
              <a:rPr lang="ru-RU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sizeof</a:t>
            </a:r>
            <a:r>
              <a:rPr lang="ru-RU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(</a:t>
            </a:r>
            <a:r>
              <a:rPr lang="ru-RU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int</a:t>
            </a:r>
            <a:r>
              <a:rPr lang="ru-RU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))</a:t>
            </a:r>
            <a:r>
              <a:rPr lang="ru-RU" dirty="0"/>
              <a:t> выделяет память под массив из ста элементов типа </a:t>
            </a:r>
            <a:r>
              <a:rPr lang="ru-RU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int</a:t>
            </a:r>
            <a:r>
              <a:rPr lang="ru-RU" dirty="0"/>
              <a:t>. Важно использовать именно </a:t>
            </a:r>
            <a:r>
              <a:rPr lang="ru-RU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sizeof</a:t>
            </a:r>
            <a:r>
              <a:rPr lang="ru-RU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(</a:t>
            </a:r>
            <a:r>
              <a:rPr lang="ru-RU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type</a:t>
            </a:r>
            <a:r>
              <a:rPr lang="ru-RU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)</a:t>
            </a:r>
            <a:r>
              <a:rPr lang="ru-RU" dirty="0"/>
              <a:t>, а не фиксированное число байтов, поскольку размер типа может отличаться на разных платформах.</a:t>
            </a:r>
          </a:p>
          <a:p>
            <a:endParaRPr lang="ru-RU" dirty="0"/>
          </a:p>
          <a:p>
            <a:r>
              <a:rPr lang="ru-RU" dirty="0"/>
              <a:t>Размер массива может определяться во время выполнения программы, что невозможно при использовании статических массивов.</a:t>
            </a:r>
          </a:p>
          <a:p>
            <a:r>
              <a:rPr lang="ru-RU" dirty="0"/>
              <a:t>После завершения работы с динамически выделенной памятью необходимо освободить её с помощью функции </a:t>
            </a:r>
            <a:r>
              <a:rPr lang="ru-RU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free</a:t>
            </a:r>
            <a:r>
              <a:rPr lang="ru-RU" dirty="0"/>
              <a:t>. Также обязательно проверять результат вызова </a:t>
            </a:r>
            <a:r>
              <a:rPr lang="ru-RU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malloc</a:t>
            </a:r>
            <a:r>
              <a:rPr lang="ru-RU" dirty="0"/>
              <a:t>, поскольку при нехватке памяти функция возвращает </a:t>
            </a:r>
            <a:r>
              <a:rPr lang="ru-RU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NULL</a:t>
            </a:r>
            <a:r>
              <a:rPr lang="ru-RU" dirty="0"/>
              <a:t>.</a:t>
            </a:r>
          </a:p>
          <a:p>
            <a:r>
              <a:rPr lang="ru-RU" dirty="0"/>
              <a:t>Таким образом, динамическое выделение памяти позволяет создавать массивы произвольного размера для любых типов данных, сохраняя общую модель работы с памятью как с последовательностью байтов.</a:t>
            </a:r>
          </a:p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E59A46E3-A062-4F85-8E8F-D4EACE1D224A}" type="slidenum">
              <a:rPr lang="en-US" smtClean="0"/>
              <a:t>28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567238042"/>
      </p:ext>
    </p:extLst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ru-RU" dirty="0"/>
              <a:t>Сначала считывается число </a:t>
            </a:r>
            <a:r>
              <a:rPr lang="ru-RU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N</a:t>
            </a:r>
            <a:r>
              <a:rPr lang="ru-RU" dirty="0"/>
              <a:t>, которое определяет размер массива. Тип </a:t>
            </a:r>
            <a:r>
              <a:rPr lang="ru-RU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size_t</a:t>
            </a:r>
            <a:r>
              <a:rPr lang="ru-RU" dirty="0"/>
              <a:t> используется для представления количества элементов, поскольку он предназначен для хранения размеров объектов.</a:t>
            </a:r>
          </a:p>
          <a:p>
            <a:endParaRPr lang="ru-RU" dirty="0"/>
          </a:p>
          <a:p>
            <a:r>
              <a:rPr lang="ru-RU" dirty="0"/>
              <a:t>Далее вызывается </a:t>
            </a:r>
            <a:r>
              <a:rPr lang="ru-RU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malloc</a:t>
            </a:r>
            <a:r>
              <a:rPr lang="ru-RU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(N * </a:t>
            </a:r>
            <a:r>
              <a:rPr lang="ru-RU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sizeof</a:t>
            </a:r>
            <a:r>
              <a:rPr lang="ru-RU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(</a:t>
            </a:r>
            <a:r>
              <a:rPr lang="ru-RU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int</a:t>
            </a:r>
            <a:r>
              <a:rPr lang="ru-RU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))</a:t>
            </a:r>
            <a:r>
              <a:rPr lang="ru-RU" dirty="0"/>
              <a:t>. Произведение </a:t>
            </a:r>
            <a:r>
              <a:rPr lang="ru-RU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N * </a:t>
            </a:r>
            <a:r>
              <a:rPr lang="ru-RU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sizeof</a:t>
            </a:r>
            <a:r>
              <a:rPr lang="ru-RU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(</a:t>
            </a:r>
            <a:r>
              <a:rPr lang="ru-RU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int</a:t>
            </a:r>
            <a:r>
              <a:rPr lang="ru-RU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)</a:t>
            </a:r>
            <a:r>
              <a:rPr lang="ru-RU" dirty="0"/>
              <a:t> вычисляет общее количество байтов, необходимое для размещения массива из </a:t>
            </a:r>
            <a:r>
              <a:rPr lang="ru-RU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N</a:t>
            </a:r>
            <a:r>
              <a:rPr lang="ru-RU" dirty="0"/>
              <a:t> элементов типа </a:t>
            </a:r>
            <a:r>
              <a:rPr lang="ru-RU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int</a:t>
            </a:r>
            <a:r>
              <a:rPr lang="ru-RU" dirty="0"/>
              <a:t>. Возвращаемое значение проверяется на равенство </a:t>
            </a:r>
            <a:r>
              <a:rPr lang="ru-RU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NULL</a:t>
            </a:r>
            <a:r>
              <a:rPr lang="ru-RU" dirty="0"/>
              <a:t>, что позволяет корректно обработать возможную ошибку выделения памяти.</a:t>
            </a:r>
          </a:p>
          <a:p>
            <a:endParaRPr lang="ru-RU" dirty="0"/>
          </a:p>
          <a:p>
            <a:r>
              <a:rPr lang="ru-RU" dirty="0"/>
              <a:t>Затем в цикле считываются </a:t>
            </a:r>
            <a:r>
              <a:rPr lang="ru-RU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N</a:t>
            </a:r>
            <a:r>
              <a:rPr lang="ru-RU" dirty="0"/>
              <a:t> целых чисел и сохраняются в массиве. При ошибке ввода память освобождается перед завершением программы.</a:t>
            </a:r>
          </a:p>
          <a:p>
            <a:endParaRPr lang="ru-RU" dirty="0"/>
          </a:p>
          <a:p>
            <a:r>
              <a:rPr lang="ru-RU" dirty="0"/>
              <a:t>После использования массива вызывается функция </a:t>
            </a:r>
            <a:r>
              <a:rPr lang="ru-RU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free</a:t>
            </a:r>
            <a:r>
              <a:rPr lang="ru-RU" dirty="0"/>
              <a:t>, которая освобождает ранее выделенную память.</a:t>
            </a:r>
          </a:p>
          <a:p>
            <a:r>
              <a:rPr lang="ru-RU" dirty="0"/>
              <a:t>Данный пример демонстрирует стандартный шаблон работы с динамически выделяемыми массивами произвольного размера.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E59A46E3-A062-4F85-8E8F-D4EACE1D224A}" type="slidenum">
              <a:rPr lang="en-US" smtClean="0"/>
              <a:t>29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93794415"/>
      </p:ext>
    </p:extLst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ru-RU" dirty="0"/>
              <a:t>На данной лекции мы объединили несколько фундаментальных понятий. Прежде всего был рассмотрен одномерный массив как непрерывная область памяти. Это базовая модель хранения данных в языке C.</a:t>
            </a:r>
          </a:p>
          <a:p>
            <a:r>
              <a:rPr lang="ru-RU" dirty="0"/>
              <a:t>Тип </a:t>
            </a:r>
            <a:r>
              <a:rPr lang="ru-RU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char</a:t>
            </a:r>
            <a:r>
              <a:rPr lang="ru-RU" dirty="0"/>
              <a:t> играет особую роль, поскольку именно через него измеряется память. По определению </a:t>
            </a:r>
            <a:r>
              <a:rPr lang="ru-RU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sizeof</a:t>
            </a:r>
            <a:r>
              <a:rPr lang="ru-RU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(</a:t>
            </a:r>
            <a:r>
              <a:rPr lang="ru-RU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char</a:t>
            </a:r>
            <a:r>
              <a:rPr lang="ru-RU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) == 1</a:t>
            </a:r>
            <a:r>
              <a:rPr lang="ru-RU" dirty="0"/>
              <a:t>, и размеры всех остальных типов выражаются в этих единицах.</a:t>
            </a:r>
          </a:p>
          <a:p>
            <a:endParaRPr lang="ru-RU" dirty="0"/>
          </a:p>
          <a:p>
            <a:r>
              <a:rPr lang="ru-RU" dirty="0"/>
              <a:t>Строка в языке C представляет собой частный случай одномерного массива — это массив символов, завершающийся нулевым байтом </a:t>
            </a:r>
            <a:r>
              <a:rPr lang="ru-RU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'\0'</a:t>
            </a:r>
            <a:r>
              <a:rPr lang="ru-RU" dirty="0"/>
              <a:t>. Длина строки не хранится явно, а определяется последовательным просмотром памяти.</a:t>
            </a:r>
          </a:p>
          <a:p>
            <a:r>
              <a:rPr lang="ru-RU" dirty="0"/>
              <a:t>Была показана связь между массивами и указателями: имя массива в выражениях интерпретируется как адрес первого элемента, а функции стандартной библиотеки получают именно адрес начала строки.</a:t>
            </a:r>
          </a:p>
          <a:p>
            <a:endParaRPr lang="ru-RU" dirty="0"/>
          </a:p>
          <a:p>
            <a:r>
              <a:rPr lang="ru-RU" dirty="0"/>
              <a:t>Также рассмотрены основные функции </a:t>
            </a:r>
            <a:r>
              <a:rPr lang="ru-RU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&lt;</a:t>
            </a:r>
            <a:r>
              <a:rPr lang="ru-RU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string.h</a:t>
            </a:r>
            <a:r>
              <a:rPr lang="ru-RU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&gt;</a:t>
            </a:r>
            <a:r>
              <a:rPr lang="ru-RU" dirty="0"/>
              <a:t>, реализующие типовые операции над строками, и продемонстрировано динамическое выделение памяти для массивов и строк произвольного размера.</a:t>
            </a:r>
          </a:p>
          <a:p>
            <a:r>
              <a:rPr lang="ru-RU" dirty="0"/>
              <a:t>Таким образом, строки естественным образом вписываются в общую модель курса: язык C предоставляет синтаксис, за которым стоят адреса, байты и машинные операции. Работа со строками — это частный случай работы с массивами и памятью.</a:t>
            </a:r>
          </a:p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E59A46E3-A062-4F85-8E8F-D4EACE1D224A}" type="slidenum">
              <a:rPr lang="en-US" smtClean="0"/>
              <a:t>30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396760424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FAE703A-F223-A0F1-3A04-8FC9D50CAE49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4646726F-A95E-A275-86B4-1673BC59A289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3839F5FE-6D79-C5D9-A0E1-00D4A3F0C02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7358126-11F0-42F1-B2AD-BCB361797751}" type="datetime1">
              <a:rPr lang="en-US" smtClean="0"/>
              <a:t>2/17/2026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CE4FDFC3-CDE2-0BB1-9315-2D7D066510A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22FD6785-833E-96BA-B4FA-DE02C4DB454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35E9561-002A-41EF-B5BA-43A01A72A4F8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804047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97F5F68-BD4B-8417-138E-4A98A622F95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7DA15F2F-A837-E94F-46CC-62AA29F9044E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7FF83A6D-7099-2073-B84D-D91CE48E0D4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D1562E5-A477-4720-A5B6-861E705CA596}" type="datetime1">
              <a:rPr lang="en-US" smtClean="0"/>
              <a:t>2/17/2026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DF0C8543-4CD9-C492-C0A5-953825FC257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EBBF5DE2-1512-F1B2-6970-5EA6A099B2E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35E9561-002A-41EF-B5BA-43A01A72A4F8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7214103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629C208-4D96-1E4B-37A7-96DDD08E8B6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A3CBD677-F63E-7605-C0E8-8DAC265BE3AE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A019A3E7-0866-CA99-6FE6-ED8313BCD07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546B681-9E76-4503-92B2-6085A3FBB20C}" type="datetime1">
              <a:rPr lang="en-US" smtClean="0"/>
              <a:t>2/17/2026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599734AC-18A9-A8C5-A688-BDA2E6F5860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BDC4C377-0CE6-3FB1-F007-010E2D4AFEF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35E9561-002A-41EF-B5BA-43A01A72A4F8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613230130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2A4A9DF-F1BB-960D-420C-0A82BEEDB4E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F3AE0CBC-A99F-CFDC-4DA1-E7C0FA0B5EFC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24562E9E-BF42-06F3-B1EA-E26014D36238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3A413B4A-42EB-95A9-0C06-B631F048C59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73EE56F-41EF-4004-8A84-CA0988261543}" type="datetime1">
              <a:rPr lang="en-US" smtClean="0"/>
              <a:t>2/17/2026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E17CE116-42B6-F134-6AE4-9749F8A45FE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BF26C86E-A41B-3703-EF39-C2D05BC0F42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35E9561-002A-41EF-B5BA-43A01A72A4F8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249709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C21D751-3255-6759-FB91-AF97FAC9ED9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73B6663C-808D-1471-3D25-0AB7119E5B75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68E22ECB-27AB-7DA6-9E3E-5D7F5668E30C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D9035460-9AC8-01E9-1EF6-24403D4B1424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1F37A21D-BEBE-7CEA-3BA5-04535D5C534D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01D8364D-A010-BE56-C84B-4166CD6AE10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82138C8-72C1-4656-A61F-6B1A26C52FFD}" type="datetime1">
              <a:rPr lang="en-US" smtClean="0"/>
              <a:t>2/17/2026</a:t>
            </a:fld>
            <a:endParaRPr lang="en-US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8EF4C3F0-3876-D191-0C31-1C9B309068A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0D5E7FF4-6C09-14A5-B3D1-C5C448EFE13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35E9561-002A-41EF-B5BA-43A01A72A4F8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7416821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7C40213-E1DA-0F24-E6BA-A5022738A23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415AF84B-6164-978E-3BC6-6D81467D097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540441C-BE82-4239-8A52-C467F35B73F0}" type="datetime1">
              <a:rPr lang="en-US" smtClean="0"/>
              <a:t>2/17/2026</a:t>
            </a:fld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E9723E2E-9950-8EC0-BE26-7E1D36F52B7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21F9DEAD-295F-9999-1937-11665ADF4C7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35E9561-002A-41EF-B5BA-43A01A72A4F8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566206254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C30CD6B0-5D30-F555-94E3-9056BFF4151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4B4077B-694A-4126-B19F-30B1D6B48D50}" type="datetime1">
              <a:rPr lang="en-US" smtClean="0"/>
              <a:t>2/17/2026</a:t>
            </a:fld>
            <a:endParaRPr lang="en-US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736C6DD3-FB6C-2310-5B42-BDEB5A67147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19325CE1-B706-90B3-792D-9750ADB1B7A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35E9561-002A-41EF-B5BA-43A01A72A4F8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20258365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594010E-E4C8-C396-DFD3-422E2E40D46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68D9DEF-5FA5-7EB2-A444-F452D25CE7DC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D39F22EC-C78A-8455-886A-9A5363FAD3BD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60D44809-F989-133B-8139-38771536224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EA8933B-7571-4724-81C2-BE48EF44F308}" type="datetime1">
              <a:rPr lang="en-US" smtClean="0"/>
              <a:t>2/17/2026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AAB27EEF-07F9-EB5A-9F68-2F0120DA473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3C557C28-EC99-695A-934F-DC353F7549D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35E9561-002A-41EF-B5BA-43A01A72A4F8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2641929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D6E6E74-1B67-13E6-0D6C-47A7E399BFE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025EE396-226D-80D1-D685-9BC38647A688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B1CEA8EB-605D-CCA6-3DE4-B3BBF4E25CC1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1C6882C2-CFA1-1F74-CF6F-00515880CBA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C46E61E-3E6C-41B0-A0F1-BD3B6E590911}" type="datetime1">
              <a:rPr lang="en-US" smtClean="0"/>
              <a:t>2/17/2026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21AFA199-D961-F0B4-742A-335DCF906C7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62D08A98-AA0F-11E1-9347-FEBC4D4A815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35E9561-002A-41EF-B5BA-43A01A72A4F8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26543389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11352DC-C8DA-37F8-BD33-14361F0BB14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7F49B28B-DEDE-776B-6DAE-CD3563914FB8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6FDA7F54-C63E-7CE0-897E-B982DDA7E5E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512E9E6-9212-4001-A285-634ECC620462}" type="datetime1">
              <a:rPr lang="en-US" smtClean="0"/>
              <a:t>2/17/2026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6D620A34-B2E5-91E3-B37A-574B2302DD5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391509AC-32F7-4F35-E978-447409C8FCB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35E9561-002A-41EF-B5BA-43A01A72A4F8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654555222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F315E080-BE83-6FA7-3F67-15CA86A2A62D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70A3BD61-DDF6-53C1-6741-BAB4239D5B59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F59192B0-6965-C0A1-5F97-FDF0C2252B5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C6A14F9-3CEA-491F-9D5C-49079BB88ACA}" type="datetime1">
              <a:rPr lang="en-US" smtClean="0"/>
              <a:t>2/17/2026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8311421E-A412-D4C1-6446-BF1F35C6AD4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62205A68-E292-3629-3329-18D42B79756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35E9561-002A-41EF-B5BA-43A01A72A4F8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390103082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1CF59B9C-406A-5EF9-26DF-19866BE937D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C6F2AD91-1D23-2F23-D517-4404A815A779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D28F3E13-836E-2170-5022-68D6ED9AE017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DCFF7731-4D22-42BA-97A8-9A0FFDBD9EC8}" type="datetime1">
              <a:rPr lang="en-US" smtClean="0"/>
              <a:t>2/17/2026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AFE00A05-7ECE-7326-6F61-3BBA94559543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607099CE-24B4-2F70-8165-BABEBA7DDD90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D35E9561-002A-41EF-B5BA-43A01A72A4F8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03537852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hf hdr="0" ftr="0" dt="0"/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notesSlide" Target="../notesSlides/notesSlide4.xml"/><Relationship Id="rId2" Type="http://schemas.openxmlformats.org/officeDocument/2006/relationships/slideLayout" Target="../slideLayouts/slideLayout2.xml"/><Relationship Id="rId1" Type="http://schemas.openxmlformats.org/officeDocument/2006/relationships/tags" Target="../tags/tag1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hyperlink" Target="https://godbolt.org/z/n7oKWTxn6" TargetMode="External"/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6.xml"/><Relationship Id="rId5" Type="http://schemas.openxmlformats.org/officeDocument/2006/relationships/hyperlink" Target="https://godbolt.org/z/qxnzTz4Kd" TargetMode="External"/><Relationship Id="rId4" Type="http://schemas.openxmlformats.org/officeDocument/2006/relationships/hyperlink" Target="https://godbolt.org/z/66T8baMPE" TargetMode="Externa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4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hyperlink" Target="https://en.cppreference.com/w/c/io/fgets" TargetMode="External"/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2.xml"/></Relationships>
</file>

<file path=ppt/slides/_rels/slide14.xml.rels><?xml version="1.0" encoding="UTF-8" standalone="yes"?>
<Relationships xmlns="http://schemas.openxmlformats.org/package/2006/relationships"><Relationship Id="rId3" Type="http://schemas.openxmlformats.org/officeDocument/2006/relationships/hyperlink" Target="https://godbolt.org/z/68xsPP79c" TargetMode="External"/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2.xml"/></Relationships>
</file>

<file path=ppt/slides/_rels/slide15.xml.rels><?xml version="1.0" encoding="UTF-8" standalone="yes"?>
<Relationships xmlns="http://schemas.openxmlformats.org/package/2006/relationships"><Relationship Id="rId3" Type="http://schemas.openxmlformats.org/officeDocument/2006/relationships/hyperlink" Target="https://godbolt.org/z/6nr9r7ad7" TargetMode="External"/><Relationship Id="rId2" Type="http://schemas.openxmlformats.org/officeDocument/2006/relationships/notesSlide" Target="../notesSlides/notesSlide15.xml"/><Relationship Id="rId1" Type="http://schemas.openxmlformats.org/officeDocument/2006/relationships/slideLayout" Target="../slideLayouts/slideLayout2.xml"/></Relationships>
</file>

<file path=ppt/slides/_rels/slide1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6.xml"/><Relationship Id="rId1" Type="http://schemas.openxmlformats.org/officeDocument/2006/relationships/slideLayout" Target="../slideLayouts/slideLayout2.xml"/></Relationships>
</file>

<file path=ppt/slides/_rels/slide1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7.xml"/><Relationship Id="rId1" Type="http://schemas.openxmlformats.org/officeDocument/2006/relationships/slideLayout" Target="../slideLayouts/slideLayout2.xml"/></Relationships>
</file>

<file path=ppt/slides/_rels/slide1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8.xml"/><Relationship Id="rId1" Type="http://schemas.openxmlformats.org/officeDocument/2006/relationships/slideLayout" Target="../slideLayouts/slideLayout4.xml"/></Relationships>
</file>

<file path=ppt/slides/_rels/slide1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9.xml"/><Relationship Id="rId1" Type="http://schemas.openxmlformats.org/officeDocument/2006/relationships/slideLayout" Target="../slideLayouts/slideLayout2.xml"/></Relationships>
</file>

<file path=ppt/slides/_rels/slide20.xml.rels><?xml version="1.0" encoding="UTF-8" standalone="yes"?>
<Relationships xmlns="http://schemas.openxmlformats.org/package/2006/relationships"><Relationship Id="rId3" Type="http://schemas.openxmlformats.org/officeDocument/2006/relationships/hyperlink" Target="https://godbolt.org/z/6nr9r7ad7" TargetMode="External"/><Relationship Id="rId2" Type="http://schemas.openxmlformats.org/officeDocument/2006/relationships/notesSlide" Target="../notesSlides/notesSlide20.xml"/><Relationship Id="rId1" Type="http://schemas.openxmlformats.org/officeDocument/2006/relationships/slideLayout" Target="../slideLayouts/slideLayout6.xml"/></Relationships>
</file>

<file path=ppt/slides/_rels/slide21.xml.rels><?xml version="1.0" encoding="UTF-8" standalone="yes"?>
<Relationships xmlns="http://schemas.openxmlformats.org/package/2006/relationships"><Relationship Id="rId3" Type="http://schemas.openxmlformats.org/officeDocument/2006/relationships/hyperlink" Target="https://godbolt.org/z/x7ex6E6dx" TargetMode="External"/><Relationship Id="rId2" Type="http://schemas.openxmlformats.org/officeDocument/2006/relationships/notesSlide" Target="../notesSlides/notesSlide21.xml"/><Relationship Id="rId1" Type="http://schemas.openxmlformats.org/officeDocument/2006/relationships/slideLayout" Target="../slideLayouts/slideLayout2.xml"/></Relationships>
</file>

<file path=ppt/slides/_rels/slide22.xml.rels><?xml version="1.0" encoding="UTF-8" standalone="yes"?>
<Relationships xmlns="http://schemas.openxmlformats.org/package/2006/relationships"><Relationship Id="rId3" Type="http://schemas.openxmlformats.org/officeDocument/2006/relationships/hyperlink" Target="https://godbolt.org/z/jEx7YMTTf" TargetMode="External"/><Relationship Id="rId2" Type="http://schemas.openxmlformats.org/officeDocument/2006/relationships/notesSlide" Target="../notesSlides/notesSlide22.xml"/><Relationship Id="rId1" Type="http://schemas.openxmlformats.org/officeDocument/2006/relationships/slideLayout" Target="../slideLayouts/slideLayout2.xml"/></Relationships>
</file>

<file path=ppt/slides/_rels/slide2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3.xml"/><Relationship Id="rId1" Type="http://schemas.openxmlformats.org/officeDocument/2006/relationships/slideLayout" Target="../slideLayouts/slideLayout2.xml"/></Relationships>
</file>

<file path=ppt/slides/_rels/slide2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4.xml"/><Relationship Id="rId1" Type="http://schemas.openxmlformats.org/officeDocument/2006/relationships/slideLayout" Target="../slideLayouts/slideLayout6.xml"/></Relationships>
</file>

<file path=ppt/slides/_rels/slide25.xml.rels><?xml version="1.0" encoding="UTF-8" standalone="yes"?>
<Relationships xmlns="http://schemas.openxmlformats.org/package/2006/relationships"><Relationship Id="rId3" Type="http://schemas.openxmlformats.org/officeDocument/2006/relationships/hyperlink" Target="https://godbolt.org/z/n1xev9Ys5" TargetMode="External"/><Relationship Id="rId2" Type="http://schemas.openxmlformats.org/officeDocument/2006/relationships/notesSlide" Target="../notesSlides/notesSlide25.xml"/><Relationship Id="rId1" Type="http://schemas.openxmlformats.org/officeDocument/2006/relationships/slideLayout" Target="../slideLayouts/slideLayout2.xml"/></Relationships>
</file>

<file path=ppt/slides/_rels/slide26.xml.rels><?xml version="1.0" encoding="UTF-8" standalone="yes"?>
<Relationships xmlns="http://schemas.openxmlformats.org/package/2006/relationships"><Relationship Id="rId3" Type="http://schemas.openxmlformats.org/officeDocument/2006/relationships/hyperlink" Target="https://godbolt.org/z/7EqW6hhP7" TargetMode="External"/><Relationship Id="rId2" Type="http://schemas.openxmlformats.org/officeDocument/2006/relationships/notesSlide" Target="../notesSlides/notesSlide26.xml"/><Relationship Id="rId1" Type="http://schemas.openxmlformats.org/officeDocument/2006/relationships/slideLayout" Target="../slideLayouts/slideLayout7.xml"/></Relationships>
</file>

<file path=ppt/slides/_rels/slide27.xml.rels><?xml version="1.0" encoding="UTF-8" standalone="yes"?>
<Relationships xmlns="http://schemas.openxmlformats.org/package/2006/relationships"><Relationship Id="rId3" Type="http://schemas.openxmlformats.org/officeDocument/2006/relationships/hyperlink" Target="https://godbolt.org/z/5G3G3aeqx" TargetMode="External"/><Relationship Id="rId2" Type="http://schemas.openxmlformats.org/officeDocument/2006/relationships/notesSlide" Target="../notesSlides/notesSlide27.xml"/><Relationship Id="rId1" Type="http://schemas.openxmlformats.org/officeDocument/2006/relationships/slideLayout" Target="../slideLayouts/slideLayout7.xml"/></Relationships>
</file>

<file path=ppt/slides/_rels/slide2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8.xml"/><Relationship Id="rId1" Type="http://schemas.openxmlformats.org/officeDocument/2006/relationships/slideLayout" Target="../slideLayouts/slideLayout2.xml"/></Relationships>
</file>

<file path=ppt/slides/_rels/slide29.xml.rels><?xml version="1.0" encoding="UTF-8" standalone="yes"?>
<Relationships xmlns="http://schemas.openxmlformats.org/package/2006/relationships"><Relationship Id="rId3" Type="http://schemas.openxmlformats.org/officeDocument/2006/relationships/hyperlink" Target="https://godbolt.org/z/aWEoPMfs9" TargetMode="External"/><Relationship Id="rId2" Type="http://schemas.openxmlformats.org/officeDocument/2006/relationships/notesSlide" Target="../notesSlides/notesSlide29.xml"/><Relationship Id="rId1" Type="http://schemas.openxmlformats.org/officeDocument/2006/relationships/slideLayout" Target="../slideLayouts/slideLayout7.xml"/></Relationships>
</file>

<file path=ppt/slides/_rels/slide3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0.xml"/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71FAE8D-B0BA-B9A4-C6EE-F400494F4151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ru-RU" dirty="0"/>
              <a:t>Работа со строками</a:t>
            </a:r>
            <a:endParaRPr lang="en-US" dirty="0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85633C09-104F-1E8D-8377-FA7D014E15AC}"/>
              </a:ext>
            </a:extLst>
          </p:cNvPr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163118665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4210976-5D01-3D3E-E62D-E30C746F74B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dirty="0"/>
              <a:t>Как хранится текст в памяти компьютера</a:t>
            </a: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DD29C90B-00DA-F6AF-CC20-FE18C51757C2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5"/>
            <a:ext cx="6892636" cy="4351338"/>
          </a:xfrm>
        </p:spPr>
        <p:txBody>
          <a:bodyPr>
            <a:normAutofit fontScale="92500" lnSpcReduction="10000"/>
          </a:bodyPr>
          <a:lstStyle/>
          <a:p>
            <a:r>
              <a:rPr lang="ru-RU" dirty="0"/>
              <a:t>Компьютер не знает «текста». Процессор понимает только:</a:t>
            </a:r>
          </a:p>
          <a:p>
            <a:pPr lvl="1"/>
            <a:r>
              <a:rPr lang="ru-RU" dirty="0"/>
              <a:t>числа</a:t>
            </a:r>
          </a:p>
          <a:p>
            <a:pPr lvl="1"/>
            <a:r>
              <a:rPr lang="ru-RU" dirty="0"/>
              <a:t>байты</a:t>
            </a:r>
          </a:p>
          <a:p>
            <a:pPr lvl="1"/>
            <a:r>
              <a:rPr lang="ru-RU" dirty="0"/>
              <a:t>адреса памяти</a:t>
            </a:r>
          </a:p>
          <a:p>
            <a:pPr lvl="1"/>
            <a:r>
              <a:rPr lang="ru-RU" dirty="0"/>
              <a:t>инструкции</a:t>
            </a:r>
          </a:p>
          <a:p>
            <a:r>
              <a:rPr lang="ru-RU" dirty="0"/>
              <a:t>Текст – это последовательность числовых кодов символов, размещённых в памяти подряд</a:t>
            </a:r>
          </a:p>
          <a:p>
            <a:r>
              <a:rPr lang="ru-RU" dirty="0"/>
              <a:t>В </a:t>
            </a:r>
            <a:r>
              <a:rPr lang="en-US" dirty="0"/>
              <a:t>C </a:t>
            </a:r>
            <a:r>
              <a:rPr lang="ru-RU" dirty="0"/>
              <a:t>строка – это массив элементов</a:t>
            </a:r>
            <a:r>
              <a:rPr lang="en-US" dirty="0"/>
              <a:t> </a:t>
            </a:r>
            <a:r>
              <a:rPr lang="en-US" dirty="0">
                <a:latin typeface="Consolas" panose="020B0609020204030204" pitchFamily="49" charset="0"/>
              </a:rPr>
              <a:t>char</a:t>
            </a:r>
            <a:r>
              <a:rPr lang="ru-RU" dirty="0"/>
              <a:t>, который заканчивается специальным символом </a:t>
            </a:r>
            <a:r>
              <a:rPr lang="en-US" dirty="0">
                <a:latin typeface="Consolas" panose="020B0609020204030204" pitchFamily="49" charset="0"/>
              </a:rPr>
              <a:t>\0</a:t>
            </a:r>
            <a:r>
              <a:rPr lang="en-US" dirty="0"/>
              <a:t>.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3D437A43-7123-20FA-AF14-2FB2F0D21FA3}"/>
              </a:ext>
            </a:extLst>
          </p:cNvPr>
          <p:cNvSpPr txBox="1"/>
          <p:nvPr/>
        </p:nvSpPr>
        <p:spPr>
          <a:xfrm>
            <a:off x="8379229" y="1825625"/>
            <a:ext cx="2522912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buNone/>
            </a:pPr>
            <a:r>
              <a:rPr lang="en-US" b="0" dirty="0" err="1">
                <a:solidFill>
                  <a:srgbClr val="74531F"/>
                </a:solidFill>
                <a:effectLst/>
                <a:latin typeface="Consolas" panose="020B0609020204030204" pitchFamily="49" charset="0"/>
              </a:rPr>
              <a:t>printf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b="0" dirty="0">
                <a:solidFill>
                  <a:srgbClr val="E21F1F"/>
                </a:solidFill>
                <a:effectLst/>
                <a:latin typeface="Consolas" panose="020B0609020204030204" pitchFamily="49" charset="0"/>
              </a:rPr>
              <a:t>"</a:t>
            </a:r>
            <a:r>
              <a:rPr lang="en-US" b="0" dirty="0">
                <a:solidFill>
                  <a:srgbClr val="A31515"/>
                </a:solidFill>
                <a:effectLst/>
                <a:latin typeface="Consolas" panose="020B0609020204030204" pitchFamily="49" charset="0"/>
              </a:rPr>
              <a:t>Hello</a:t>
            </a:r>
            <a:r>
              <a:rPr lang="en-US" b="0" dirty="0">
                <a:solidFill>
                  <a:srgbClr val="E21F1F"/>
                </a:solidFill>
                <a:effectLst/>
                <a:latin typeface="Consolas" panose="020B0609020204030204" pitchFamily="49" charset="0"/>
              </a:rPr>
              <a:t>"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);</a:t>
            </a:r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71B7BF2C-0257-97B1-ADFC-7B36E8D59D1A}"/>
              </a:ext>
            </a:extLst>
          </p:cNvPr>
          <p:cNvSpPr/>
          <p:nvPr/>
        </p:nvSpPr>
        <p:spPr>
          <a:xfrm>
            <a:off x="8379229" y="3724102"/>
            <a:ext cx="482138" cy="565265"/>
          </a:xfrm>
          <a:prstGeom prst="rect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dirty="0"/>
              <a:t>H</a:t>
            </a:r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DFAA1FE5-CCBB-5C21-EFCD-A261C659D36D}"/>
              </a:ext>
            </a:extLst>
          </p:cNvPr>
          <p:cNvSpPr/>
          <p:nvPr/>
        </p:nvSpPr>
        <p:spPr>
          <a:xfrm>
            <a:off x="8861367" y="3724102"/>
            <a:ext cx="482138" cy="565265"/>
          </a:xfrm>
          <a:prstGeom prst="rect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dirty="0"/>
              <a:t>e</a:t>
            </a:r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BAF564E6-7F8B-4242-AFCA-83FD397FF5DD}"/>
              </a:ext>
            </a:extLst>
          </p:cNvPr>
          <p:cNvSpPr/>
          <p:nvPr/>
        </p:nvSpPr>
        <p:spPr>
          <a:xfrm>
            <a:off x="9343505" y="3724102"/>
            <a:ext cx="482138" cy="565265"/>
          </a:xfrm>
          <a:prstGeom prst="rect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dirty="0"/>
              <a:t>l</a:t>
            </a:r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75CEE0A7-F016-3BB9-AE4F-26CD44BF6E50}"/>
              </a:ext>
            </a:extLst>
          </p:cNvPr>
          <p:cNvSpPr/>
          <p:nvPr/>
        </p:nvSpPr>
        <p:spPr>
          <a:xfrm>
            <a:off x="9825643" y="3724102"/>
            <a:ext cx="482138" cy="565265"/>
          </a:xfrm>
          <a:prstGeom prst="rect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dirty="0"/>
              <a:t>l</a:t>
            </a:r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7367A853-DFA5-6EFC-6892-B8A317311338}"/>
              </a:ext>
            </a:extLst>
          </p:cNvPr>
          <p:cNvSpPr/>
          <p:nvPr/>
        </p:nvSpPr>
        <p:spPr>
          <a:xfrm>
            <a:off x="10307781" y="3724102"/>
            <a:ext cx="482138" cy="565265"/>
          </a:xfrm>
          <a:prstGeom prst="rect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dirty="0"/>
              <a:t>o</a:t>
            </a:r>
          </a:p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54A7CDC6-3B83-91CA-A226-94CE9F856B6B}"/>
              </a:ext>
            </a:extLst>
          </p:cNvPr>
          <p:cNvSpPr/>
          <p:nvPr/>
        </p:nvSpPr>
        <p:spPr>
          <a:xfrm>
            <a:off x="10789919" y="3724102"/>
            <a:ext cx="482138" cy="565265"/>
          </a:xfrm>
          <a:prstGeom prst="rect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dirty="0"/>
              <a:t>\0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3AEAF4DF-25EE-0567-CC4D-E1CB153A81DC}"/>
              </a:ext>
            </a:extLst>
          </p:cNvPr>
          <p:cNvSpPr txBox="1"/>
          <p:nvPr/>
        </p:nvSpPr>
        <p:spPr>
          <a:xfrm>
            <a:off x="8379229" y="4289367"/>
            <a:ext cx="482138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400" dirty="0"/>
              <a:t>72</a:t>
            </a: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A7767927-64BB-75F9-DAE6-A9AA2E439228}"/>
              </a:ext>
            </a:extLst>
          </p:cNvPr>
          <p:cNvSpPr txBox="1"/>
          <p:nvPr/>
        </p:nvSpPr>
        <p:spPr>
          <a:xfrm>
            <a:off x="8861367" y="4289367"/>
            <a:ext cx="482138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400" dirty="0"/>
              <a:t>101</a:t>
            </a: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F5B8DBAF-E72F-FE3A-0D27-BA309BD02EC0}"/>
              </a:ext>
            </a:extLst>
          </p:cNvPr>
          <p:cNvSpPr txBox="1"/>
          <p:nvPr/>
        </p:nvSpPr>
        <p:spPr>
          <a:xfrm>
            <a:off x="9343505" y="4289367"/>
            <a:ext cx="482138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400" dirty="0"/>
              <a:t>108</a:t>
            </a: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2FC75AE7-4C8E-325B-A7FB-08546153443A}"/>
              </a:ext>
            </a:extLst>
          </p:cNvPr>
          <p:cNvSpPr txBox="1"/>
          <p:nvPr/>
        </p:nvSpPr>
        <p:spPr>
          <a:xfrm>
            <a:off x="9825643" y="4289367"/>
            <a:ext cx="482138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400" dirty="0"/>
              <a:t>108</a:t>
            </a: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CAD42130-DBB7-9DE0-7773-6CC2DCA7B546}"/>
              </a:ext>
            </a:extLst>
          </p:cNvPr>
          <p:cNvSpPr txBox="1"/>
          <p:nvPr/>
        </p:nvSpPr>
        <p:spPr>
          <a:xfrm>
            <a:off x="10307781" y="4289367"/>
            <a:ext cx="482138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400" dirty="0"/>
              <a:t>111</a:t>
            </a:r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6BD3CCE2-9857-508D-DA60-8C1565483B23}"/>
              </a:ext>
            </a:extLst>
          </p:cNvPr>
          <p:cNvSpPr txBox="1"/>
          <p:nvPr/>
        </p:nvSpPr>
        <p:spPr>
          <a:xfrm>
            <a:off x="10789919" y="4289367"/>
            <a:ext cx="482138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400" dirty="0"/>
              <a:t>0</a:t>
            </a:r>
          </a:p>
        </p:txBody>
      </p:sp>
      <p:cxnSp>
        <p:nvCxnSpPr>
          <p:cNvPr id="19" name="Straight Arrow Connector 18">
            <a:extLst>
              <a:ext uri="{FF2B5EF4-FFF2-40B4-BE49-F238E27FC236}">
                <a16:creationId xmlns:a16="http://schemas.microsoft.com/office/drawing/2014/main" id="{035E59F0-C840-CF34-5AE4-1F67AF01D399}"/>
              </a:ext>
            </a:extLst>
          </p:cNvPr>
          <p:cNvCxnSpPr>
            <a:stCxn id="5" idx="2"/>
            <a:endCxn id="6" idx="0"/>
          </p:cNvCxnSpPr>
          <p:nvPr/>
        </p:nvCxnSpPr>
        <p:spPr>
          <a:xfrm flipH="1">
            <a:off x="8620298" y="2194957"/>
            <a:ext cx="1020387" cy="1529145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0" name="Slide Number Placeholder 19">
            <a:extLst>
              <a:ext uri="{FF2B5EF4-FFF2-40B4-BE49-F238E27FC236}">
                <a16:creationId xmlns:a16="http://schemas.microsoft.com/office/drawing/2014/main" id="{CD6CA0C8-BBB2-8BEE-D4F4-19E5D49AD49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35E9561-002A-41EF-B5BA-43A01A72A4F8}" type="slidenum">
              <a:rPr lang="en-US" smtClean="0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39235637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761DA9B-A3CD-63F4-250F-B19E8021DEB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dirty="0"/>
              <a:t>Тип </a:t>
            </a:r>
            <a:r>
              <a:rPr lang="en-US" dirty="0"/>
              <a:t>char </a:t>
            </a:r>
            <a:r>
              <a:rPr lang="ru-RU" dirty="0"/>
              <a:t>и память</a:t>
            </a: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9FD58FD-0F7B-E911-2DF0-49E9671E1769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fontScale="92500" lnSpcReduction="20000"/>
          </a:bodyPr>
          <a:lstStyle/>
          <a:p>
            <a:r>
              <a:rPr lang="en-US" dirty="0"/>
              <a:t>char – </a:t>
            </a:r>
            <a:r>
              <a:rPr lang="ru-RU" dirty="0"/>
              <a:t>минимальная адресуемая единица памяти</a:t>
            </a:r>
          </a:p>
          <a:p>
            <a:pPr lvl="1"/>
            <a:r>
              <a:rPr lang="en-US" dirty="0">
                <a:latin typeface="Consolas" panose="020B0609020204030204" pitchFamily="49" charset="0"/>
              </a:rPr>
              <a:t>char c = 'A';</a:t>
            </a:r>
          </a:p>
          <a:p>
            <a:pPr lvl="1"/>
            <a:r>
              <a:rPr lang="en-US" dirty="0"/>
              <a:t>char </a:t>
            </a:r>
            <a:r>
              <a:rPr lang="ru-RU" dirty="0"/>
              <a:t>занимает 1 байт</a:t>
            </a:r>
          </a:p>
          <a:p>
            <a:pPr lvl="1"/>
            <a:r>
              <a:rPr lang="ru-RU" dirty="0"/>
              <a:t>1 байт = 8 бит</a:t>
            </a:r>
          </a:p>
          <a:p>
            <a:pPr lvl="1"/>
            <a:r>
              <a:rPr lang="ru-RU" dirty="0"/>
              <a:t>хранит число, а не символ</a:t>
            </a:r>
          </a:p>
          <a:p>
            <a:r>
              <a:rPr lang="ru-RU" dirty="0"/>
              <a:t>Символ – это числовой код</a:t>
            </a:r>
          </a:p>
          <a:p>
            <a:pPr lvl="1"/>
            <a:r>
              <a:rPr lang="en-US" dirty="0" err="1">
                <a:latin typeface="Consolas" panose="020B0609020204030204" pitchFamily="49" charset="0"/>
              </a:rPr>
              <a:t>printf</a:t>
            </a:r>
            <a:r>
              <a:rPr lang="en-US" dirty="0">
                <a:latin typeface="Consolas" panose="020B0609020204030204" pitchFamily="49" charset="0"/>
              </a:rPr>
              <a:t>("%d\n", 'A');</a:t>
            </a:r>
            <a:r>
              <a:rPr lang="en-US" dirty="0"/>
              <a:t> // 65</a:t>
            </a:r>
          </a:p>
          <a:p>
            <a:r>
              <a:rPr lang="en-US" dirty="0" err="1"/>
              <a:t>sizeof</a:t>
            </a:r>
            <a:r>
              <a:rPr lang="en-US" dirty="0"/>
              <a:t>(char) == 1</a:t>
            </a:r>
          </a:p>
          <a:p>
            <a:pPr lvl="1"/>
            <a:r>
              <a:rPr lang="en-US" dirty="0" err="1">
                <a:latin typeface="Consolas" panose="020B0609020204030204" pitchFamily="49" charset="0"/>
              </a:rPr>
              <a:t>sizeof</a:t>
            </a:r>
            <a:r>
              <a:rPr lang="en-US" dirty="0"/>
              <a:t> </a:t>
            </a:r>
            <a:r>
              <a:rPr lang="ru-RU" dirty="0"/>
              <a:t>возвращает размер в байтах. 1 байт по определению равен </a:t>
            </a:r>
            <a:r>
              <a:rPr lang="en-US" dirty="0" err="1">
                <a:latin typeface="Consolas" panose="020B0609020204030204" pitchFamily="49" charset="0"/>
              </a:rPr>
              <a:t>sizeof</a:t>
            </a:r>
            <a:r>
              <a:rPr lang="en-US" dirty="0">
                <a:latin typeface="Consolas" panose="020B0609020204030204" pitchFamily="49" charset="0"/>
              </a:rPr>
              <a:t>(char)</a:t>
            </a:r>
          </a:p>
          <a:p>
            <a:pPr lvl="1"/>
            <a:r>
              <a:rPr lang="ru-RU" dirty="0"/>
              <a:t>Размер любого типа измеряется в </a:t>
            </a:r>
            <a:r>
              <a:rPr lang="en-US" dirty="0">
                <a:latin typeface="Consolas" panose="020B0609020204030204" pitchFamily="49" charset="0"/>
              </a:rPr>
              <a:t>char</a:t>
            </a:r>
          </a:p>
          <a:p>
            <a:r>
              <a:rPr lang="ru-RU" dirty="0"/>
              <a:t>Вся память компьютера измеряется в байтах, а </a:t>
            </a:r>
            <a:r>
              <a:rPr lang="en-US" dirty="0">
                <a:latin typeface="Consolas" panose="020B0609020204030204" pitchFamily="49" charset="0"/>
              </a:rPr>
              <a:t>char</a:t>
            </a:r>
            <a:r>
              <a:rPr lang="en-US" dirty="0"/>
              <a:t> – </a:t>
            </a:r>
            <a:r>
              <a:rPr lang="ru-RU" dirty="0"/>
              <a:t>это тип, соответствующий одному байту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CB7E42D3-B130-FB9F-8099-F9EDFDC3547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35E9561-002A-41EF-B5BA-43A01A72A4F8}" type="slidenum">
              <a:rPr lang="en-US" smtClean="0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29716804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338" name="Rectangle 2"/>
          <p:cNvSpPr>
            <a:spLocks noGrp="1" noChangeArrowheads="1"/>
          </p:cNvSpPr>
          <p:nvPr>
            <p:ph type="title"/>
          </p:nvPr>
        </p:nvSpPr>
        <p:spPr/>
        <p:txBody>
          <a:bodyPr/>
          <a:lstStyle/>
          <a:p>
            <a:pPr eaLnBrk="1" hangingPunct="1"/>
            <a:r>
              <a:rPr lang="ru-RU" dirty="0"/>
              <a:t>Символьные константы</a:t>
            </a:r>
          </a:p>
        </p:txBody>
      </p:sp>
      <p:sp>
        <p:nvSpPr>
          <p:cNvPr id="11267" name="Rectangle 3"/>
          <p:cNvSpPr>
            <a:spLocks noGrp="1" noChangeArrowheads="1"/>
          </p:cNvSpPr>
          <p:nvPr>
            <p:ph idx="1"/>
          </p:nvPr>
        </p:nvSpPr>
        <p:spPr/>
        <p:txBody>
          <a:bodyPr>
            <a:normAutofit fontScale="70000" lnSpcReduction="20000"/>
          </a:bodyPr>
          <a:lstStyle/>
          <a:p>
            <a:r>
              <a:rPr lang="ru-RU" dirty="0"/>
              <a:t>Символьная константа — символ в одиночных кавычках</a:t>
            </a:r>
            <a:r>
              <a:rPr lang="en-US" dirty="0"/>
              <a:t>: </a:t>
            </a:r>
            <a:r>
              <a:rPr lang="ru-RU" dirty="0"/>
              <a:t>'A', '1', </a:t>
            </a:r>
            <a:r>
              <a:rPr lang="en-US" dirty="0"/>
              <a:t>'</a:t>
            </a:r>
            <a:r>
              <a:rPr lang="ru-RU" dirty="0"/>
              <a:t>+</a:t>
            </a:r>
            <a:r>
              <a:rPr lang="en-US" dirty="0"/>
              <a:t>', '\0’</a:t>
            </a:r>
            <a:endParaRPr lang="ru-RU" dirty="0"/>
          </a:p>
          <a:p>
            <a:pPr lvl="1"/>
            <a:r>
              <a:rPr lang="ru-RU" dirty="0"/>
              <a:t>Она представляет </a:t>
            </a:r>
            <a:r>
              <a:rPr lang="ru-RU" b="1" dirty="0"/>
              <a:t>целое число</a:t>
            </a:r>
            <a:r>
              <a:rPr lang="ru-RU" dirty="0"/>
              <a:t> — код символа в используемой кодировке</a:t>
            </a:r>
            <a:br>
              <a:rPr lang="ru-RU" dirty="0"/>
            </a:br>
            <a:r>
              <a:rPr lang="ru-RU" dirty="0"/>
              <a:t>(например, ASCII)</a:t>
            </a:r>
          </a:p>
          <a:p>
            <a:r>
              <a:rPr lang="ru-RU" dirty="0"/>
              <a:t>Это именно число:</a:t>
            </a:r>
            <a:endParaRPr lang="en-US" dirty="0"/>
          </a:p>
          <a:p>
            <a:pPr lvl="1"/>
            <a:r>
              <a:rPr lang="en-US" dirty="0"/>
              <a:t>'A' == 65</a:t>
            </a:r>
          </a:p>
          <a:p>
            <a:pPr lvl="1"/>
            <a:r>
              <a:rPr lang="en-US" dirty="0"/>
              <a:t>'0' == 48</a:t>
            </a:r>
            <a:endParaRPr lang="ru-RU" dirty="0"/>
          </a:p>
          <a:p>
            <a:r>
              <a:rPr lang="ru-RU" b="1" dirty="0"/>
              <a:t>Escape-последовательности</a:t>
            </a:r>
            <a:r>
              <a:rPr lang="en-US" dirty="0"/>
              <a:t> </a:t>
            </a:r>
            <a:r>
              <a:rPr lang="ru-RU" dirty="0"/>
              <a:t>записываются с \, но обозначают </a:t>
            </a:r>
            <a:r>
              <a:rPr lang="ru-RU" b="1" dirty="0"/>
              <a:t>один символ</a:t>
            </a:r>
            <a:endParaRPr lang="ru-RU" dirty="0"/>
          </a:p>
          <a:p>
            <a:pPr lvl="2"/>
            <a:r>
              <a:rPr lang="ru-RU" dirty="0"/>
              <a:t>'\n' — перевод строки</a:t>
            </a:r>
          </a:p>
          <a:p>
            <a:pPr lvl="2"/>
            <a:r>
              <a:rPr lang="ru-RU" dirty="0"/>
              <a:t>'\0' — нулевой символ (код 0)</a:t>
            </a:r>
          </a:p>
          <a:p>
            <a:pPr lvl="2"/>
            <a:r>
              <a:rPr lang="ru-RU" dirty="0"/>
              <a:t>'\'' — одиночная кавычка</a:t>
            </a:r>
          </a:p>
          <a:p>
            <a:pPr lvl="2"/>
            <a:r>
              <a:rPr lang="ru-RU" dirty="0"/>
              <a:t>'\\' — обратный слеш</a:t>
            </a:r>
          </a:p>
          <a:p>
            <a:r>
              <a:rPr lang="ru-RU" b="1" dirty="0"/>
              <a:t>Явное задание кода символа</a:t>
            </a:r>
            <a:endParaRPr lang="ru-RU" dirty="0"/>
          </a:p>
          <a:p>
            <a:pPr lvl="1"/>
            <a:r>
              <a:rPr lang="ru-RU" dirty="0"/>
              <a:t>Восьмеричный код: '\</a:t>
            </a:r>
            <a:r>
              <a:rPr lang="ru-RU" dirty="0" err="1"/>
              <a:t>ooo</a:t>
            </a:r>
            <a:r>
              <a:rPr lang="ru-RU" dirty="0"/>
              <a:t>' (0…7)</a:t>
            </a:r>
          </a:p>
          <a:p>
            <a:pPr lvl="1"/>
            <a:r>
              <a:rPr lang="ru-RU" dirty="0"/>
              <a:t>Шестнадцатеричный код: '\</a:t>
            </a:r>
            <a:r>
              <a:rPr lang="ru-RU" dirty="0" err="1"/>
              <a:t>xhh</a:t>
            </a:r>
            <a:r>
              <a:rPr lang="ru-RU" dirty="0"/>
              <a:t>'</a:t>
            </a:r>
          </a:p>
          <a:p>
            <a:pPr lvl="1"/>
            <a:r>
              <a:rPr lang="ru-RU" dirty="0"/>
              <a:t>Примеры:</a:t>
            </a:r>
          </a:p>
          <a:p>
            <a:pPr lvl="2"/>
            <a:r>
              <a:rPr lang="ru-RU" dirty="0"/>
              <a:t>'\177' — код 127</a:t>
            </a:r>
          </a:p>
          <a:p>
            <a:pPr lvl="2"/>
            <a:r>
              <a:rPr lang="ru-RU" dirty="0"/>
              <a:t>'\</a:t>
            </a:r>
            <a:r>
              <a:rPr lang="ru-RU" dirty="0" err="1"/>
              <a:t>xff</a:t>
            </a:r>
            <a:r>
              <a:rPr lang="ru-RU" dirty="0"/>
              <a:t>' — код 255</a:t>
            </a:r>
          </a:p>
        </p:txBody>
      </p:sp>
      <p:sp>
        <p:nvSpPr>
          <p:cNvPr id="2" name="Slide Number Placeholder 1">
            <a:extLst>
              <a:ext uri="{FF2B5EF4-FFF2-40B4-BE49-F238E27FC236}">
                <a16:creationId xmlns:a16="http://schemas.microsoft.com/office/drawing/2014/main" id="{A8E82B29-DBDF-40E6-247B-5C594C13BE4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FFDEFA0-FF01-4CA2-B8AA-E5F5B71BEE8D}" type="slidenum">
              <a:rPr lang="ru-RU" smtClean="0"/>
              <a:pPr/>
              <a:t>4</a:t>
            </a:fld>
            <a:endParaRPr lang="ru-RU"/>
          </a:p>
        </p:txBody>
      </p:sp>
    </p:spTree>
    <p:custDataLst>
      <p:tags r:id="rId1"/>
    </p:custDataLst>
    <p:extLst>
      <p:ext uri="{BB962C8B-B14F-4D97-AF65-F5344CB8AC3E}">
        <p14:creationId xmlns:p14="http://schemas.microsoft.com/office/powerpoint/2010/main" val="3054236657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267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11267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267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500"/>
                                        <p:tgtEl>
                                          <p:spTgt spid="11267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267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500"/>
                                        <p:tgtEl>
                                          <p:spTgt spid="11267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267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500"/>
                                        <p:tgtEl>
                                          <p:spTgt spid="11267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267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500"/>
                                        <p:tgtEl>
                                          <p:spTgt spid="11267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267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500"/>
                                        <p:tgtEl>
                                          <p:spTgt spid="11267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267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500"/>
                                        <p:tgtEl>
                                          <p:spTgt spid="11267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6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267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8" dur="500"/>
                                        <p:tgtEl>
                                          <p:spTgt spid="11267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9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267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1" dur="500"/>
                                        <p:tgtEl>
                                          <p:spTgt spid="11267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2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267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4" dur="500"/>
                                        <p:tgtEl>
                                          <p:spTgt spid="11267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5" fill="hold">
                      <p:stCondLst>
                        <p:cond delay="indefinite"/>
                      </p:stCondLst>
                      <p:childTnLst>
                        <p:par>
                          <p:cTn id="46" fill="hold">
                            <p:stCondLst>
                              <p:cond delay="0"/>
                            </p:stCondLst>
                            <p:childTnLst>
                              <p:par>
                                <p:cTn id="47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267">
                                            <p:txEl>
                                              <p:pRg st="10" end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9" dur="500"/>
                                        <p:tgtEl>
                                          <p:spTgt spid="11267">
                                            <p:txEl>
                                              <p:pRg st="10" end="1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0" fill="hold">
                      <p:stCondLst>
                        <p:cond delay="indefinite"/>
                      </p:stCondLst>
                      <p:childTnLst>
                        <p:par>
                          <p:cTn id="51" fill="hold">
                            <p:stCondLst>
                              <p:cond delay="0"/>
                            </p:stCondLst>
                            <p:childTnLst>
                              <p:par>
                                <p:cTn id="52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267">
                                            <p:txEl>
                                              <p:pRg st="11" end="1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4" dur="500"/>
                                        <p:tgtEl>
                                          <p:spTgt spid="11267">
                                            <p:txEl>
                                              <p:pRg st="11" end="1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5" fill="hold">
                      <p:stCondLst>
                        <p:cond delay="indefinite"/>
                      </p:stCondLst>
                      <p:childTnLst>
                        <p:par>
                          <p:cTn id="56" fill="hold">
                            <p:stCondLst>
                              <p:cond delay="0"/>
                            </p:stCondLst>
                            <p:childTnLst>
                              <p:par>
                                <p:cTn id="57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267">
                                            <p:txEl>
                                              <p:pRg st="12" end="1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9" dur="500"/>
                                        <p:tgtEl>
                                          <p:spTgt spid="11267">
                                            <p:txEl>
                                              <p:pRg st="12" end="1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0" fill="hold">
                      <p:stCondLst>
                        <p:cond delay="indefinite"/>
                      </p:stCondLst>
                      <p:childTnLst>
                        <p:par>
                          <p:cTn id="61" fill="hold">
                            <p:stCondLst>
                              <p:cond delay="0"/>
                            </p:stCondLst>
                            <p:childTnLst>
                              <p:par>
                                <p:cTn id="62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267">
                                            <p:txEl>
                                              <p:pRg st="13" end="1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4" dur="500"/>
                                        <p:tgtEl>
                                          <p:spTgt spid="11267">
                                            <p:txEl>
                                              <p:pRg st="13" end="1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5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267">
                                            <p:txEl>
                                              <p:pRg st="14" end="1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7" dur="500"/>
                                        <p:tgtEl>
                                          <p:spTgt spid="11267">
                                            <p:txEl>
                                              <p:pRg st="14" end="1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267">
                                            <p:txEl>
                                              <p:pRg st="15" end="1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0" dur="500"/>
                                        <p:tgtEl>
                                          <p:spTgt spid="11267">
                                            <p:txEl>
                                              <p:pRg st="15" end="1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1267" grpId="0" build="p" bldLvl="2"/>
    </p:bldLst>
  </p:timing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9BDB778-16C7-ABE5-F804-B27AFD90836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dirty="0"/>
              <a:t>Строка как массив </a:t>
            </a:r>
            <a:r>
              <a:rPr lang="en-US" dirty="0">
                <a:latin typeface="Consolas" panose="020B0609020204030204" pitchFamily="49" charset="0"/>
              </a:rPr>
              <a:t>char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9AE7658B-FE40-C260-26E7-415741C28124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lnSpcReduction="10000"/>
          </a:bodyPr>
          <a:lstStyle/>
          <a:p>
            <a:r>
              <a:rPr lang="ru-RU" dirty="0"/>
              <a:t>В языке </a:t>
            </a:r>
            <a:r>
              <a:rPr lang="en-US" dirty="0"/>
              <a:t>C </a:t>
            </a:r>
            <a:r>
              <a:rPr lang="ru-RU" dirty="0"/>
              <a:t>нет отдельного типа «строка». Строка – это массив символов:</a:t>
            </a:r>
          </a:p>
          <a:p>
            <a:pPr lvl="1"/>
            <a:r>
              <a:rPr lang="it-IT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char</a:t>
            </a:r>
            <a:r>
              <a:rPr lang="it-IT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s[</a:t>
            </a:r>
            <a:r>
              <a:rPr lang="it-IT" b="0" dirty="0">
                <a:solidFill>
                  <a:srgbClr val="098658"/>
                </a:solidFill>
                <a:effectLst/>
                <a:latin typeface="Consolas" panose="020B0609020204030204" pitchFamily="49" charset="0"/>
              </a:rPr>
              <a:t>6</a:t>
            </a:r>
            <a:r>
              <a:rPr lang="it-IT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] = {</a:t>
            </a:r>
            <a:r>
              <a:rPr lang="it-IT" b="0" dirty="0">
                <a:solidFill>
                  <a:srgbClr val="E21F1F"/>
                </a:solidFill>
                <a:effectLst/>
                <a:latin typeface="Consolas" panose="020B0609020204030204" pitchFamily="49" charset="0"/>
              </a:rPr>
              <a:t>'</a:t>
            </a:r>
            <a:r>
              <a:rPr lang="it-IT" b="0" dirty="0">
                <a:solidFill>
                  <a:srgbClr val="A31515"/>
                </a:solidFill>
                <a:effectLst/>
                <a:latin typeface="Consolas" panose="020B0609020204030204" pitchFamily="49" charset="0"/>
              </a:rPr>
              <a:t>H</a:t>
            </a:r>
            <a:r>
              <a:rPr lang="it-IT" b="0" dirty="0">
                <a:solidFill>
                  <a:srgbClr val="E21F1F"/>
                </a:solidFill>
                <a:effectLst/>
                <a:latin typeface="Consolas" panose="020B0609020204030204" pitchFamily="49" charset="0"/>
              </a:rPr>
              <a:t>'</a:t>
            </a:r>
            <a:r>
              <a:rPr lang="it-IT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, </a:t>
            </a:r>
            <a:r>
              <a:rPr lang="it-IT" b="0" dirty="0">
                <a:solidFill>
                  <a:srgbClr val="E21F1F"/>
                </a:solidFill>
                <a:effectLst/>
                <a:latin typeface="Consolas" panose="020B0609020204030204" pitchFamily="49" charset="0"/>
              </a:rPr>
              <a:t>'</a:t>
            </a:r>
            <a:r>
              <a:rPr lang="it-IT" b="0" dirty="0">
                <a:solidFill>
                  <a:srgbClr val="A31515"/>
                </a:solidFill>
                <a:effectLst/>
                <a:latin typeface="Consolas" panose="020B0609020204030204" pitchFamily="49" charset="0"/>
              </a:rPr>
              <a:t>e</a:t>
            </a:r>
            <a:r>
              <a:rPr lang="it-IT" b="0" dirty="0">
                <a:solidFill>
                  <a:srgbClr val="E21F1F"/>
                </a:solidFill>
                <a:effectLst/>
                <a:latin typeface="Consolas" panose="020B0609020204030204" pitchFamily="49" charset="0"/>
              </a:rPr>
              <a:t>'</a:t>
            </a:r>
            <a:r>
              <a:rPr lang="it-IT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, </a:t>
            </a:r>
            <a:r>
              <a:rPr lang="it-IT" b="0" dirty="0">
                <a:solidFill>
                  <a:srgbClr val="E21F1F"/>
                </a:solidFill>
                <a:effectLst/>
                <a:latin typeface="Consolas" panose="020B0609020204030204" pitchFamily="49" charset="0"/>
              </a:rPr>
              <a:t>'</a:t>
            </a:r>
            <a:r>
              <a:rPr lang="it-IT" b="0" dirty="0">
                <a:solidFill>
                  <a:srgbClr val="A31515"/>
                </a:solidFill>
                <a:effectLst/>
                <a:latin typeface="Consolas" panose="020B0609020204030204" pitchFamily="49" charset="0"/>
              </a:rPr>
              <a:t>l</a:t>
            </a:r>
            <a:r>
              <a:rPr lang="it-IT" b="0" dirty="0">
                <a:solidFill>
                  <a:srgbClr val="E21F1F"/>
                </a:solidFill>
                <a:effectLst/>
                <a:latin typeface="Consolas" panose="020B0609020204030204" pitchFamily="49" charset="0"/>
              </a:rPr>
              <a:t>'</a:t>
            </a:r>
            <a:r>
              <a:rPr lang="it-IT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, </a:t>
            </a:r>
            <a:r>
              <a:rPr lang="it-IT" b="0" dirty="0">
                <a:solidFill>
                  <a:srgbClr val="E21F1F"/>
                </a:solidFill>
                <a:effectLst/>
                <a:latin typeface="Consolas" panose="020B0609020204030204" pitchFamily="49" charset="0"/>
              </a:rPr>
              <a:t>'</a:t>
            </a:r>
            <a:r>
              <a:rPr lang="it-IT" b="0" dirty="0">
                <a:solidFill>
                  <a:srgbClr val="A31515"/>
                </a:solidFill>
                <a:effectLst/>
                <a:latin typeface="Consolas" panose="020B0609020204030204" pitchFamily="49" charset="0"/>
              </a:rPr>
              <a:t>l</a:t>
            </a:r>
            <a:r>
              <a:rPr lang="it-IT" b="0" dirty="0">
                <a:solidFill>
                  <a:srgbClr val="E21F1F"/>
                </a:solidFill>
                <a:effectLst/>
                <a:latin typeface="Consolas" panose="020B0609020204030204" pitchFamily="49" charset="0"/>
              </a:rPr>
              <a:t>'</a:t>
            </a:r>
            <a:r>
              <a:rPr lang="it-IT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, </a:t>
            </a:r>
            <a:r>
              <a:rPr lang="it-IT" b="0" dirty="0">
                <a:solidFill>
                  <a:srgbClr val="E21F1F"/>
                </a:solidFill>
                <a:effectLst/>
                <a:latin typeface="Consolas" panose="020B0609020204030204" pitchFamily="49" charset="0"/>
              </a:rPr>
              <a:t>'</a:t>
            </a:r>
            <a:r>
              <a:rPr lang="it-IT" b="0" dirty="0">
                <a:solidFill>
                  <a:srgbClr val="A31515"/>
                </a:solidFill>
                <a:effectLst/>
                <a:latin typeface="Consolas" panose="020B0609020204030204" pitchFamily="49" charset="0"/>
              </a:rPr>
              <a:t>o</a:t>
            </a:r>
            <a:r>
              <a:rPr lang="it-IT" b="0" dirty="0">
                <a:solidFill>
                  <a:srgbClr val="E21F1F"/>
                </a:solidFill>
                <a:effectLst/>
                <a:latin typeface="Consolas" panose="020B0609020204030204" pitchFamily="49" charset="0"/>
              </a:rPr>
              <a:t>'</a:t>
            </a:r>
            <a:r>
              <a:rPr lang="it-IT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, </a:t>
            </a:r>
            <a:r>
              <a:rPr lang="it-IT" b="0" dirty="0">
                <a:solidFill>
                  <a:srgbClr val="E21F1F"/>
                </a:solidFill>
                <a:effectLst/>
                <a:latin typeface="Consolas" panose="020B0609020204030204" pitchFamily="49" charset="0"/>
              </a:rPr>
              <a:t>'</a:t>
            </a:r>
            <a:r>
              <a:rPr lang="it-IT" b="0" dirty="0">
                <a:solidFill>
                  <a:srgbClr val="B776FB"/>
                </a:solidFill>
                <a:effectLst/>
                <a:latin typeface="Consolas" panose="020B0609020204030204" pitchFamily="49" charset="0"/>
              </a:rPr>
              <a:t>\0</a:t>
            </a:r>
            <a:r>
              <a:rPr lang="it-IT" b="0" dirty="0">
                <a:solidFill>
                  <a:srgbClr val="E21F1F"/>
                </a:solidFill>
                <a:effectLst/>
                <a:latin typeface="Consolas" panose="020B0609020204030204" pitchFamily="49" charset="0"/>
              </a:rPr>
              <a:t>'</a:t>
            </a:r>
            <a:r>
              <a:rPr lang="it-IT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};</a:t>
            </a:r>
            <a:endParaRPr lang="en-US" dirty="0"/>
          </a:p>
          <a:p>
            <a:r>
              <a:rPr lang="ru-RU" dirty="0"/>
              <a:t>Специальный завершающий символ</a:t>
            </a:r>
          </a:p>
          <a:p>
            <a:pPr lvl="1"/>
            <a:r>
              <a:rPr lang="ru-RU" dirty="0"/>
              <a:t>Строка обязательно заканчивается нулевым символом: </a:t>
            </a:r>
            <a:r>
              <a:rPr lang="en-US" dirty="0">
                <a:latin typeface="Consolas" panose="020B0609020204030204" pitchFamily="49" charset="0"/>
              </a:rPr>
              <a:t>\0</a:t>
            </a:r>
          </a:p>
          <a:p>
            <a:r>
              <a:rPr lang="ru-RU" dirty="0"/>
              <a:t>Сокращённая запись:</a:t>
            </a:r>
            <a:endParaRPr lang="en-US" dirty="0"/>
          </a:p>
          <a:p>
            <a:pPr lvl="1"/>
            <a:r>
              <a:rPr lang="en-US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char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s</a:t>
            </a:r>
            <a:r>
              <a:rPr lang="en-US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[]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= </a:t>
            </a:r>
            <a:r>
              <a:rPr lang="en-US" b="0" dirty="0">
                <a:solidFill>
                  <a:srgbClr val="E21F1F"/>
                </a:solidFill>
                <a:effectLst/>
                <a:latin typeface="Consolas" panose="020B0609020204030204" pitchFamily="49" charset="0"/>
              </a:rPr>
              <a:t>"</a:t>
            </a:r>
            <a:r>
              <a:rPr lang="en-US" b="0" dirty="0">
                <a:solidFill>
                  <a:srgbClr val="A31515"/>
                </a:solidFill>
                <a:effectLst/>
                <a:latin typeface="Consolas" panose="020B0609020204030204" pitchFamily="49" charset="0"/>
              </a:rPr>
              <a:t>Hello</a:t>
            </a:r>
            <a:r>
              <a:rPr lang="en-US" b="0" dirty="0">
                <a:solidFill>
                  <a:srgbClr val="E21F1F"/>
                </a:solidFill>
                <a:effectLst/>
                <a:latin typeface="Consolas" panose="020B0609020204030204" pitchFamily="49" charset="0"/>
              </a:rPr>
              <a:t>"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;</a:t>
            </a:r>
          </a:p>
          <a:p>
            <a:pPr lvl="1"/>
            <a:r>
              <a:rPr lang="ru-RU" dirty="0"/>
              <a:t>Компилятор автоматически добавляет '\0'.</a:t>
            </a:r>
          </a:p>
          <a:p>
            <a:pPr lvl="1"/>
            <a:r>
              <a:rPr lang="ru-RU" dirty="0"/>
              <a:t>Фактически создаётся массив из 6 элементов:</a:t>
            </a:r>
          </a:p>
          <a:p>
            <a:r>
              <a:rPr lang="ru-RU" dirty="0"/>
              <a:t>Строка — это последовательность байтов в памяти,</a:t>
            </a:r>
            <a:br>
              <a:rPr lang="ru-RU" dirty="0"/>
            </a:br>
            <a:r>
              <a:rPr lang="ru-RU" dirty="0"/>
              <a:t>а конец определяется значением 0, а не размером массива.</a:t>
            </a:r>
          </a:p>
          <a:p>
            <a:pPr lvl="1"/>
            <a:endParaRPr lang="ru-RU" dirty="0"/>
          </a:p>
        </p:txBody>
      </p:sp>
      <p:sp>
        <p:nvSpPr>
          <p:cNvPr id="8" name="Slide Number Placeholder 7">
            <a:extLst>
              <a:ext uri="{FF2B5EF4-FFF2-40B4-BE49-F238E27FC236}">
                <a16:creationId xmlns:a16="http://schemas.microsoft.com/office/drawing/2014/main" id="{EA35EBD9-1945-001A-E286-A958D3292B8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35E9561-002A-41EF-B5BA-43A01A72A4F8}" type="slidenum">
              <a:rPr lang="en-US" smtClean="0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067221624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7FA83AB-9E71-EA66-0B6D-16D96BB7DE7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dirty="0"/>
              <a:t>Почему нужен </a:t>
            </a:r>
            <a:r>
              <a:rPr lang="en-US" dirty="0">
                <a:latin typeface="Consolas" panose="020B0609020204030204" pitchFamily="49" charset="0"/>
              </a:rPr>
              <a:t>'\0'</a:t>
            </a:r>
            <a:r>
              <a:rPr lang="en-US" dirty="0"/>
              <a:t>?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454C6A96-3C46-6114-FD4B-895892573ED4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lnSpcReduction="10000"/>
          </a:bodyPr>
          <a:lstStyle/>
          <a:p>
            <a:r>
              <a:rPr lang="ru-RU" dirty="0"/>
              <a:t>У строки нет встроенной длины</a:t>
            </a:r>
          </a:p>
          <a:p>
            <a:pPr lvl="1"/>
            <a:r>
              <a:rPr lang="ru-RU" dirty="0"/>
              <a:t>В массиве </a:t>
            </a:r>
            <a:r>
              <a:rPr lang="en-US" dirty="0"/>
              <a:t>char</a:t>
            </a:r>
            <a:r>
              <a:rPr lang="ru-RU" dirty="0"/>
              <a:t> хранится только последовательность байтов. Информация о длине строки отдельно не сохраняется</a:t>
            </a:r>
          </a:p>
          <a:p>
            <a:r>
              <a:rPr lang="ru-RU" dirty="0"/>
              <a:t>Функции работы со строками понимают, где конец, по специальному символу.</a:t>
            </a:r>
          </a:p>
          <a:p>
            <a:r>
              <a:rPr lang="ru-RU" dirty="0"/>
              <a:t>Если </a:t>
            </a:r>
            <a:r>
              <a:rPr lang="en-US" dirty="0">
                <a:latin typeface="Consolas" panose="020B0609020204030204" pitchFamily="49" charset="0"/>
              </a:rPr>
              <a:t>'\0'</a:t>
            </a:r>
            <a:r>
              <a:rPr lang="en-US" dirty="0"/>
              <a:t> </a:t>
            </a:r>
            <a:r>
              <a:rPr lang="ru-RU" dirty="0"/>
              <a:t>нет, функция продолжит читать память дальше, пока случайно не встретит 0.</a:t>
            </a:r>
          </a:p>
          <a:p>
            <a:pPr lvl="1"/>
            <a:r>
              <a:rPr lang="ru-RU" dirty="0"/>
              <a:t>Это неопределённое поведение</a:t>
            </a:r>
          </a:p>
          <a:p>
            <a:r>
              <a:rPr lang="ru-RU" b="1" dirty="0"/>
              <a:t>Ключевая идея</a:t>
            </a:r>
          </a:p>
          <a:p>
            <a:pPr lvl="1"/>
            <a:r>
              <a:rPr lang="ru-RU" dirty="0"/>
              <a:t>'\0' — это соглашение о конце строки. Без него строка не существует как строка.</a:t>
            </a:r>
          </a:p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D2F682A9-C310-8A1C-310B-E5E35D0DC0B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35E9561-002A-41EF-B5BA-43A01A72A4F8}" type="slidenum">
              <a:rPr lang="en-US" smtClean="0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61609510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B60BE6C-D4BF-DBB9-0A33-2C7DCE7034E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dirty="0"/>
              <a:t>Упрощённая реализация</a:t>
            </a:r>
            <a:r>
              <a:rPr lang="en-US" dirty="0"/>
              <a:t> puts</a:t>
            </a:r>
            <a:r>
              <a:rPr lang="ru-RU" dirty="0"/>
              <a:t> через </a:t>
            </a:r>
            <a:r>
              <a:rPr lang="en-US" dirty="0" err="1"/>
              <a:t>putchar</a:t>
            </a:r>
            <a:endParaRPr lang="en-US" dirty="0"/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8D6F0FD8-FCCD-D316-6121-4EBB12280B54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5"/>
            <a:ext cx="5257800" cy="4351338"/>
          </a:xfrm>
        </p:spPr>
        <p:txBody>
          <a:bodyPr>
            <a:normAutofit fontScale="92500" lnSpcReduction="20000"/>
          </a:bodyPr>
          <a:lstStyle/>
          <a:p>
            <a:r>
              <a:rPr lang="ru-RU" b="1" dirty="0"/>
              <a:t>Принцип работы</a:t>
            </a:r>
          </a:p>
          <a:p>
            <a:pPr lvl="1"/>
            <a:r>
              <a:rPr lang="ru-RU" dirty="0"/>
              <a:t>В функцию передаётся адрес первого символа строки.</a:t>
            </a:r>
          </a:p>
          <a:p>
            <a:pPr lvl="1"/>
            <a:r>
              <a:rPr lang="ru-RU" dirty="0"/>
              <a:t>Последовательно считываются элементы массива </a:t>
            </a:r>
            <a:r>
              <a:rPr lang="ru-RU" dirty="0" err="1"/>
              <a:t>char</a:t>
            </a:r>
            <a:r>
              <a:rPr lang="ru-RU" dirty="0"/>
              <a:t>.</a:t>
            </a:r>
          </a:p>
          <a:p>
            <a:pPr lvl="1"/>
            <a:r>
              <a:rPr lang="ru-RU" dirty="0"/>
              <a:t>Вывод продолжается до встречи символа '\0'.</a:t>
            </a:r>
          </a:p>
          <a:p>
            <a:pPr lvl="1"/>
            <a:r>
              <a:rPr lang="ru-RU" dirty="0"/>
              <a:t>После завершения добавляется перевод строки.</a:t>
            </a:r>
          </a:p>
          <a:p>
            <a:r>
              <a:rPr lang="ru-RU" b="1" dirty="0"/>
              <a:t>Существенное замечание</a:t>
            </a:r>
          </a:p>
          <a:p>
            <a:pPr lvl="1"/>
            <a:r>
              <a:rPr lang="ru-RU" dirty="0"/>
              <a:t>Функция не знает размер массива. Окончание вывода определяется исключительно символом '\0'.</a:t>
            </a:r>
          </a:p>
          <a:p>
            <a:endParaRPr lang="en-US" dirty="0"/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1D48743D-B60C-BF03-1079-89D0F26055FA}"/>
              </a:ext>
            </a:extLst>
          </p:cNvPr>
          <p:cNvSpPr txBox="1"/>
          <p:nvPr/>
        </p:nvSpPr>
        <p:spPr>
          <a:xfrm>
            <a:off x="6338455" y="1805825"/>
            <a:ext cx="6093228" cy="369331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buNone/>
            </a:pPr>
            <a:r>
              <a:rPr lang="en-US" b="0" dirty="0">
                <a:solidFill>
                  <a:srgbClr val="808080"/>
                </a:solidFill>
                <a:effectLst/>
                <a:latin typeface="Consolas" panose="020B0609020204030204" pitchFamily="49" charset="0"/>
              </a:rPr>
              <a:t>#include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>
                <a:solidFill>
                  <a:srgbClr val="E21F1F"/>
                </a:solidFill>
                <a:effectLst/>
                <a:latin typeface="Consolas" panose="020B0609020204030204" pitchFamily="49" charset="0"/>
              </a:rPr>
              <a:t>&lt;</a:t>
            </a:r>
            <a:r>
              <a:rPr lang="en-US" b="0" dirty="0" err="1">
                <a:solidFill>
                  <a:srgbClr val="A31515"/>
                </a:solidFill>
                <a:effectLst/>
                <a:latin typeface="Consolas" panose="020B0609020204030204" pitchFamily="49" charset="0"/>
              </a:rPr>
              <a:t>stdio.h</a:t>
            </a:r>
            <a:r>
              <a:rPr lang="en-US" b="0" dirty="0">
                <a:solidFill>
                  <a:srgbClr val="E21F1F"/>
                </a:solidFill>
                <a:effectLst/>
                <a:latin typeface="Consolas" panose="020B0609020204030204" pitchFamily="49" charset="0"/>
              </a:rPr>
              <a:t>&gt;</a:t>
            </a:r>
            <a:endParaRPr lang="en-US" b="0" dirty="0">
              <a:solidFill>
                <a:srgbClr val="000000"/>
              </a:solidFill>
              <a:effectLst/>
              <a:latin typeface="Consolas" panose="020B0609020204030204" pitchFamily="49" charset="0"/>
            </a:endParaRPr>
          </a:p>
          <a:p>
            <a:pPr>
              <a:buNone/>
            </a:pPr>
            <a:endParaRPr lang="en-US" b="0" dirty="0">
              <a:solidFill>
                <a:srgbClr val="000000"/>
              </a:solidFill>
              <a:effectLst/>
              <a:latin typeface="Consolas" panose="020B0609020204030204" pitchFamily="49" charset="0"/>
            </a:endParaRPr>
          </a:p>
          <a:p>
            <a:pPr>
              <a:buNone/>
            </a:pPr>
            <a:r>
              <a:rPr lang="en-US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void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 err="1">
                <a:solidFill>
                  <a:srgbClr val="74531F"/>
                </a:solidFill>
                <a:effectLst/>
                <a:latin typeface="Consolas" panose="020B0609020204030204" pitchFamily="49" charset="0"/>
              </a:rPr>
              <a:t>MyPuts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const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char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>
                <a:solidFill>
                  <a:srgbClr val="808080"/>
                </a:solidFill>
                <a:effectLst/>
                <a:latin typeface="Consolas" panose="020B0609020204030204" pitchFamily="49" charset="0"/>
              </a:rPr>
              <a:t>s</a:t>
            </a:r>
            <a:r>
              <a:rPr lang="en-US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[]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)</a:t>
            </a:r>
          </a:p>
          <a:p>
            <a:pPr>
              <a:buNone/>
            </a:pP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{</a:t>
            </a:r>
          </a:p>
          <a:p>
            <a:pPr>
              <a:buNone/>
            </a:pP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int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 err="1">
                <a:solidFill>
                  <a:srgbClr val="1F377F"/>
                </a:solidFill>
                <a:effectLst/>
                <a:latin typeface="Consolas" panose="020B0609020204030204" pitchFamily="49" charset="0"/>
              </a:rPr>
              <a:t>i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= </a:t>
            </a:r>
            <a:r>
              <a:rPr lang="en-US" b="0" dirty="0">
                <a:solidFill>
                  <a:srgbClr val="098658"/>
                </a:solidFill>
                <a:effectLst/>
                <a:latin typeface="Consolas" panose="020B0609020204030204" pitchFamily="49" charset="0"/>
              </a:rPr>
              <a:t>0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;</a:t>
            </a:r>
          </a:p>
          <a:p>
            <a:pPr>
              <a:buNone/>
            </a:pPr>
            <a:endParaRPr lang="en-US" b="0" dirty="0">
              <a:solidFill>
                <a:srgbClr val="000000"/>
              </a:solidFill>
              <a:effectLst/>
              <a:latin typeface="Consolas" panose="020B0609020204030204" pitchFamily="49" charset="0"/>
            </a:endParaRPr>
          </a:p>
          <a:p>
            <a:pPr>
              <a:buNone/>
            </a:pP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b="0" dirty="0">
                <a:solidFill>
                  <a:srgbClr val="8F08C4"/>
                </a:solidFill>
                <a:effectLst/>
                <a:latin typeface="Consolas" panose="020B0609020204030204" pitchFamily="49" charset="0"/>
              </a:rPr>
              <a:t>while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(</a:t>
            </a:r>
            <a:r>
              <a:rPr lang="en-US" b="0" dirty="0">
                <a:solidFill>
                  <a:srgbClr val="808080"/>
                </a:solidFill>
                <a:effectLst/>
                <a:latin typeface="Consolas" panose="020B0609020204030204" pitchFamily="49" charset="0"/>
              </a:rPr>
              <a:t>s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[</a:t>
            </a:r>
            <a:r>
              <a:rPr lang="en-US" b="0" dirty="0" err="1">
                <a:solidFill>
                  <a:srgbClr val="1F377F"/>
                </a:solidFill>
                <a:effectLst/>
                <a:latin typeface="Consolas" panose="020B0609020204030204" pitchFamily="49" charset="0"/>
              </a:rPr>
              <a:t>i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] != </a:t>
            </a:r>
            <a:r>
              <a:rPr lang="en-US" b="0" dirty="0">
                <a:solidFill>
                  <a:srgbClr val="E21F1F"/>
                </a:solidFill>
                <a:effectLst/>
                <a:latin typeface="Consolas" panose="020B0609020204030204" pitchFamily="49" charset="0"/>
              </a:rPr>
              <a:t>'</a:t>
            </a:r>
            <a:r>
              <a:rPr lang="en-US" b="0" dirty="0">
                <a:solidFill>
                  <a:srgbClr val="B776FB"/>
                </a:solidFill>
                <a:effectLst/>
                <a:latin typeface="Consolas" panose="020B0609020204030204" pitchFamily="49" charset="0"/>
              </a:rPr>
              <a:t>\0</a:t>
            </a:r>
            <a:r>
              <a:rPr lang="en-US" b="0" dirty="0">
                <a:solidFill>
                  <a:srgbClr val="E21F1F"/>
                </a:solidFill>
                <a:effectLst/>
                <a:latin typeface="Consolas" panose="020B0609020204030204" pitchFamily="49" charset="0"/>
              </a:rPr>
              <a:t>'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) {</a:t>
            </a:r>
          </a:p>
          <a:p>
            <a:pPr>
              <a:buNone/>
            </a:pP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    </a:t>
            </a:r>
            <a:r>
              <a:rPr lang="en-US" b="0" dirty="0" err="1">
                <a:solidFill>
                  <a:srgbClr val="74531F"/>
                </a:solidFill>
                <a:effectLst/>
                <a:latin typeface="Consolas" panose="020B0609020204030204" pitchFamily="49" charset="0"/>
              </a:rPr>
              <a:t>putchar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b="0" dirty="0">
                <a:solidFill>
                  <a:srgbClr val="808080"/>
                </a:solidFill>
                <a:effectLst/>
                <a:latin typeface="Consolas" panose="020B0609020204030204" pitchFamily="49" charset="0"/>
              </a:rPr>
              <a:t>s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[</a:t>
            </a:r>
            <a:r>
              <a:rPr lang="en-US" b="0" dirty="0" err="1">
                <a:solidFill>
                  <a:srgbClr val="1F377F"/>
                </a:solidFill>
                <a:effectLst/>
                <a:latin typeface="Consolas" panose="020B0609020204030204" pitchFamily="49" charset="0"/>
              </a:rPr>
              <a:t>i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]);</a:t>
            </a:r>
          </a:p>
          <a:p>
            <a:pPr>
              <a:buNone/>
            </a:pP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    </a:t>
            </a:r>
            <a:r>
              <a:rPr lang="en-US" b="0" dirty="0" err="1">
                <a:solidFill>
                  <a:srgbClr val="1F377F"/>
                </a:solidFill>
                <a:effectLst/>
                <a:latin typeface="Consolas" panose="020B0609020204030204" pitchFamily="49" charset="0"/>
              </a:rPr>
              <a:t>i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++;</a:t>
            </a:r>
          </a:p>
          <a:p>
            <a:pPr>
              <a:buNone/>
            </a:pP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}</a:t>
            </a:r>
          </a:p>
          <a:p>
            <a:pPr>
              <a:buNone/>
            </a:pPr>
            <a:endParaRPr lang="en-US" b="0" dirty="0">
              <a:solidFill>
                <a:srgbClr val="000000"/>
              </a:solidFill>
              <a:effectLst/>
              <a:latin typeface="Consolas" panose="020B0609020204030204" pitchFamily="49" charset="0"/>
            </a:endParaRPr>
          </a:p>
          <a:p>
            <a:pPr>
              <a:buNone/>
            </a:pP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b="0" dirty="0" err="1">
                <a:solidFill>
                  <a:srgbClr val="74531F"/>
                </a:solidFill>
                <a:effectLst/>
                <a:latin typeface="Consolas" panose="020B0609020204030204" pitchFamily="49" charset="0"/>
              </a:rPr>
              <a:t>putchar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b="0" dirty="0">
                <a:solidFill>
                  <a:srgbClr val="E21F1F"/>
                </a:solidFill>
                <a:effectLst/>
                <a:latin typeface="Consolas" panose="020B0609020204030204" pitchFamily="49" charset="0"/>
              </a:rPr>
              <a:t>'</a:t>
            </a:r>
            <a:r>
              <a:rPr lang="en-US" b="0" dirty="0">
                <a:solidFill>
                  <a:srgbClr val="B776FB"/>
                </a:solidFill>
                <a:effectLst/>
                <a:latin typeface="Consolas" panose="020B0609020204030204" pitchFamily="49" charset="0"/>
              </a:rPr>
              <a:t>\n</a:t>
            </a:r>
            <a:r>
              <a:rPr lang="en-US" b="0" dirty="0">
                <a:solidFill>
                  <a:srgbClr val="E21F1F"/>
                </a:solidFill>
                <a:effectLst/>
                <a:latin typeface="Consolas" panose="020B0609020204030204" pitchFamily="49" charset="0"/>
              </a:rPr>
              <a:t>'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);</a:t>
            </a:r>
          </a:p>
          <a:p>
            <a:pPr>
              <a:buNone/>
            </a:pP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}</a:t>
            </a:r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E519637C-17DC-6D73-A64B-32D58910105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35E9561-002A-41EF-B5BA-43A01A72A4F8}" type="slidenum">
              <a:rPr lang="en-US" smtClean="0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99417082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3D1C93C-FA27-0D26-5C82-245D352AF13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dirty="0"/>
              <a:t>Функция </a:t>
            </a:r>
            <a:r>
              <a:rPr lang="en-US" dirty="0" err="1"/>
              <a:t>my_strlen</a:t>
            </a: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F9C9E349-F85D-2B0D-F7BE-40D2D4AF2204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5"/>
            <a:ext cx="5257800" cy="4351338"/>
          </a:xfrm>
        </p:spPr>
        <p:txBody>
          <a:bodyPr>
            <a:normAutofit fontScale="92500" lnSpcReduction="10000"/>
          </a:bodyPr>
          <a:lstStyle/>
          <a:p>
            <a:r>
              <a:rPr lang="ru-RU" b="1" dirty="0"/>
              <a:t>Принцип работы</a:t>
            </a:r>
          </a:p>
          <a:p>
            <a:pPr lvl="1"/>
            <a:r>
              <a:rPr lang="ru-RU" dirty="0"/>
              <a:t>Счётчик </a:t>
            </a:r>
            <a:r>
              <a:rPr lang="ru-RU" dirty="0" err="1">
                <a:latin typeface="Consolas" panose="020B0609020204030204" pitchFamily="49" charset="0"/>
              </a:rPr>
              <a:t>len</a:t>
            </a:r>
            <a:r>
              <a:rPr lang="ru-RU" dirty="0"/>
              <a:t> увеличивается, пока не встретится '\0'.</a:t>
            </a:r>
          </a:p>
          <a:p>
            <a:pPr lvl="1"/>
            <a:r>
              <a:rPr lang="ru-RU" dirty="0"/>
              <a:t>Нулевой символ в длину строки не включается.</a:t>
            </a:r>
          </a:p>
          <a:p>
            <a:pPr lvl="1"/>
            <a:r>
              <a:rPr lang="ru-RU" dirty="0"/>
              <a:t>Возвращаемое значение — количество символов до конца строки.</a:t>
            </a:r>
            <a:endParaRPr lang="en-US" dirty="0"/>
          </a:p>
          <a:p>
            <a:r>
              <a:rPr lang="ru-RU" b="1" dirty="0"/>
              <a:t>Замечание</a:t>
            </a:r>
          </a:p>
          <a:p>
            <a:pPr lvl="1"/>
            <a:r>
              <a:rPr lang="ru-RU" dirty="0"/>
              <a:t>Функция предполагает корректно сформированную строку, содержащую завершающий символ '\0'.</a:t>
            </a:r>
          </a:p>
          <a:p>
            <a:endParaRPr lang="ru-RU" dirty="0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84E5A67B-8031-43A4-0653-B46FEA047F65}"/>
              </a:ext>
            </a:extLst>
          </p:cNvPr>
          <p:cNvSpPr txBox="1"/>
          <p:nvPr/>
        </p:nvSpPr>
        <p:spPr>
          <a:xfrm>
            <a:off x="6096000" y="1757353"/>
            <a:ext cx="5257800" cy="3416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buNone/>
            </a:pPr>
            <a:r>
              <a:rPr lang="en-US" b="0" dirty="0">
                <a:solidFill>
                  <a:srgbClr val="808080"/>
                </a:solidFill>
                <a:effectLst/>
                <a:latin typeface="Consolas" panose="020B0609020204030204" pitchFamily="49" charset="0"/>
              </a:rPr>
              <a:t>#include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>
                <a:solidFill>
                  <a:srgbClr val="E21F1F"/>
                </a:solidFill>
                <a:effectLst/>
                <a:latin typeface="Consolas" panose="020B0609020204030204" pitchFamily="49" charset="0"/>
              </a:rPr>
              <a:t>&lt;</a:t>
            </a:r>
            <a:r>
              <a:rPr lang="en-US" b="0" dirty="0" err="1">
                <a:solidFill>
                  <a:srgbClr val="A31515"/>
                </a:solidFill>
                <a:effectLst/>
                <a:latin typeface="Consolas" panose="020B0609020204030204" pitchFamily="49" charset="0"/>
              </a:rPr>
              <a:t>stddef.h</a:t>
            </a:r>
            <a:r>
              <a:rPr lang="en-US" b="0" dirty="0">
                <a:solidFill>
                  <a:srgbClr val="E21F1F"/>
                </a:solidFill>
                <a:effectLst/>
                <a:latin typeface="Consolas" panose="020B0609020204030204" pitchFamily="49" charset="0"/>
              </a:rPr>
              <a:t>&gt;</a:t>
            </a:r>
            <a:b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</a:br>
            <a:endParaRPr lang="en-US" b="0" dirty="0">
              <a:solidFill>
                <a:srgbClr val="000000"/>
              </a:solidFill>
              <a:effectLst/>
              <a:latin typeface="Consolas" panose="020B0609020204030204" pitchFamily="49" charset="0"/>
            </a:endParaRPr>
          </a:p>
          <a:p>
            <a:pPr>
              <a:buNone/>
            </a:pPr>
            <a:r>
              <a:rPr lang="en-US" b="0" dirty="0" err="1">
                <a:solidFill>
                  <a:srgbClr val="2B91AF"/>
                </a:solidFill>
                <a:effectLst/>
                <a:latin typeface="Consolas" panose="020B0609020204030204" pitchFamily="49" charset="0"/>
              </a:rPr>
              <a:t>size_t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 err="1">
                <a:solidFill>
                  <a:srgbClr val="74531F"/>
                </a:solidFill>
                <a:effectLst/>
                <a:latin typeface="Consolas" panose="020B0609020204030204" pitchFamily="49" charset="0"/>
              </a:rPr>
              <a:t>my_strlen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const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char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>
                <a:solidFill>
                  <a:srgbClr val="808080"/>
                </a:solidFill>
                <a:effectLst/>
                <a:latin typeface="Consolas" panose="020B0609020204030204" pitchFamily="49" charset="0"/>
              </a:rPr>
              <a:t>s</a:t>
            </a:r>
            <a:r>
              <a:rPr lang="en-US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[]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)</a:t>
            </a:r>
          </a:p>
          <a:p>
            <a:pPr>
              <a:buNone/>
            </a:pP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{</a:t>
            </a:r>
          </a:p>
          <a:p>
            <a:pPr>
              <a:buNone/>
            </a:pP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b="0" dirty="0" err="1">
                <a:solidFill>
                  <a:srgbClr val="2B91AF"/>
                </a:solidFill>
                <a:effectLst/>
                <a:latin typeface="Consolas" panose="020B0609020204030204" pitchFamily="49" charset="0"/>
              </a:rPr>
              <a:t>size_t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 err="1">
                <a:solidFill>
                  <a:srgbClr val="1F377F"/>
                </a:solidFill>
                <a:effectLst/>
                <a:latin typeface="Consolas" panose="020B0609020204030204" pitchFamily="49" charset="0"/>
              </a:rPr>
              <a:t>len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= </a:t>
            </a:r>
            <a:r>
              <a:rPr lang="en-US" b="0" dirty="0">
                <a:solidFill>
                  <a:srgbClr val="098658"/>
                </a:solidFill>
                <a:effectLst/>
                <a:latin typeface="Consolas" panose="020B0609020204030204" pitchFamily="49" charset="0"/>
              </a:rPr>
              <a:t>0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;</a:t>
            </a:r>
            <a:b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</a:br>
            <a:endParaRPr lang="en-US" b="0" dirty="0">
              <a:solidFill>
                <a:srgbClr val="000000"/>
              </a:solidFill>
              <a:effectLst/>
              <a:latin typeface="Consolas" panose="020B0609020204030204" pitchFamily="49" charset="0"/>
            </a:endParaRPr>
          </a:p>
          <a:p>
            <a:pPr>
              <a:buNone/>
            </a:pP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b="0" dirty="0">
                <a:solidFill>
                  <a:srgbClr val="8F08C4"/>
                </a:solidFill>
                <a:effectLst/>
                <a:latin typeface="Consolas" panose="020B0609020204030204" pitchFamily="49" charset="0"/>
              </a:rPr>
              <a:t>while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(</a:t>
            </a:r>
            <a:r>
              <a:rPr lang="en-US" b="0" dirty="0">
                <a:solidFill>
                  <a:srgbClr val="808080"/>
                </a:solidFill>
                <a:effectLst/>
                <a:latin typeface="Consolas" panose="020B0609020204030204" pitchFamily="49" charset="0"/>
              </a:rPr>
              <a:t>s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[</a:t>
            </a:r>
            <a:r>
              <a:rPr lang="en-US" b="0" dirty="0" err="1">
                <a:solidFill>
                  <a:srgbClr val="1F377F"/>
                </a:solidFill>
                <a:effectLst/>
                <a:latin typeface="Consolas" panose="020B0609020204030204" pitchFamily="49" charset="0"/>
              </a:rPr>
              <a:t>len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] != </a:t>
            </a:r>
            <a:r>
              <a:rPr lang="en-US" b="0" dirty="0">
                <a:solidFill>
                  <a:srgbClr val="E21F1F"/>
                </a:solidFill>
                <a:effectLst/>
                <a:latin typeface="Consolas" panose="020B0609020204030204" pitchFamily="49" charset="0"/>
              </a:rPr>
              <a:t>'</a:t>
            </a:r>
            <a:r>
              <a:rPr lang="en-US" b="0" dirty="0">
                <a:solidFill>
                  <a:srgbClr val="B776FB"/>
                </a:solidFill>
                <a:effectLst/>
                <a:latin typeface="Consolas" panose="020B0609020204030204" pitchFamily="49" charset="0"/>
              </a:rPr>
              <a:t>\0</a:t>
            </a:r>
            <a:r>
              <a:rPr lang="en-US" b="0" dirty="0">
                <a:solidFill>
                  <a:srgbClr val="E21F1F"/>
                </a:solidFill>
                <a:effectLst/>
                <a:latin typeface="Consolas" panose="020B0609020204030204" pitchFamily="49" charset="0"/>
              </a:rPr>
              <a:t>'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) {</a:t>
            </a:r>
          </a:p>
          <a:p>
            <a:pPr>
              <a:buNone/>
            </a:pP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    </a:t>
            </a:r>
            <a:r>
              <a:rPr lang="en-US" b="0" dirty="0" err="1">
                <a:solidFill>
                  <a:srgbClr val="1F377F"/>
                </a:solidFill>
                <a:effectLst/>
                <a:latin typeface="Consolas" panose="020B0609020204030204" pitchFamily="49" charset="0"/>
              </a:rPr>
              <a:t>len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++;</a:t>
            </a:r>
          </a:p>
          <a:p>
            <a:pPr>
              <a:buNone/>
            </a:pP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}</a:t>
            </a:r>
          </a:p>
          <a:p>
            <a:pPr>
              <a:buNone/>
            </a:pPr>
            <a:endParaRPr lang="en-US" b="0" dirty="0">
              <a:solidFill>
                <a:srgbClr val="000000"/>
              </a:solidFill>
              <a:effectLst/>
              <a:latin typeface="Consolas" panose="020B0609020204030204" pitchFamily="49" charset="0"/>
            </a:endParaRPr>
          </a:p>
          <a:p>
            <a:pPr>
              <a:buNone/>
            </a:pP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b="0" dirty="0">
                <a:solidFill>
                  <a:srgbClr val="8F08C4"/>
                </a:solidFill>
                <a:effectLst/>
                <a:latin typeface="Consolas" panose="020B0609020204030204" pitchFamily="49" charset="0"/>
              </a:rPr>
              <a:t>return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 err="1">
                <a:solidFill>
                  <a:srgbClr val="1F377F"/>
                </a:solidFill>
                <a:effectLst/>
                <a:latin typeface="Consolas" panose="020B0609020204030204" pitchFamily="49" charset="0"/>
              </a:rPr>
              <a:t>len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;</a:t>
            </a:r>
          </a:p>
          <a:p>
            <a:pPr>
              <a:buNone/>
            </a:pP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}</a:t>
            </a: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6DB1E953-2E44-F2AC-F24D-68A43197206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35E9561-002A-41EF-B5BA-43A01A72A4F8}" type="slidenum">
              <a:rPr lang="en-US" smtClean="0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103070556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750E9E4-CCE4-57A2-F571-E2680E6F819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dirty="0"/>
              <a:t>Почему строки в </a:t>
            </a:r>
            <a:r>
              <a:rPr lang="en-US" dirty="0"/>
              <a:t>C</a:t>
            </a:r>
            <a:r>
              <a:rPr lang="ru-RU" dirty="0"/>
              <a:t> завершаются </a:t>
            </a:r>
            <a:r>
              <a:rPr lang="en-US" dirty="0"/>
              <a:t>'\0'?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A0E5BBB2-25F9-6DDC-B3EA-5995BCE114F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fontScale="92500" lnSpcReduction="10000"/>
          </a:bodyPr>
          <a:lstStyle/>
          <a:p>
            <a:r>
              <a:rPr lang="ru-RU" b="1" dirty="0"/>
              <a:t>Исторические причины</a:t>
            </a:r>
          </a:p>
          <a:p>
            <a:pPr lvl="1"/>
            <a:r>
              <a:rPr lang="ru-RU" dirty="0"/>
              <a:t>Язык C (1970-е годы), ограниченные ресурсы.</a:t>
            </a:r>
          </a:p>
          <a:p>
            <a:pPr lvl="1"/>
            <a:r>
              <a:rPr lang="ru-RU" dirty="0"/>
              <a:t>Простота реализации на уровне машинных инструкций.</a:t>
            </a:r>
          </a:p>
          <a:p>
            <a:pPr lvl="1"/>
            <a:r>
              <a:rPr lang="ru-RU" dirty="0"/>
              <a:t>Строка как последовательность байтов + признак конца.</a:t>
            </a:r>
          </a:p>
          <a:p>
            <a:r>
              <a:rPr lang="ru-RU" b="1" dirty="0"/>
              <a:t>Недостатки</a:t>
            </a:r>
          </a:p>
          <a:p>
            <a:pPr lvl="1"/>
            <a:r>
              <a:rPr lang="ru-RU" dirty="0"/>
              <a:t>Длина вычисляется за O(n).</a:t>
            </a:r>
          </a:p>
          <a:p>
            <a:pPr lvl="1"/>
            <a:r>
              <a:rPr lang="ru-RU" dirty="0"/>
              <a:t>Нельзя хранить байт со значением 0 внутри строки.</a:t>
            </a:r>
          </a:p>
          <a:p>
            <a:pPr lvl="1"/>
            <a:r>
              <a:rPr lang="ru-RU" dirty="0"/>
              <a:t>Ошибка с '\0' приводит к неопределённому поведению.</a:t>
            </a:r>
          </a:p>
          <a:p>
            <a:r>
              <a:rPr lang="ru-RU" b="1" dirty="0"/>
              <a:t>Альтернатива</a:t>
            </a:r>
          </a:p>
          <a:p>
            <a:pPr lvl="1"/>
            <a:r>
              <a:rPr lang="ru-RU" dirty="0"/>
              <a:t>Структура вида:</a:t>
            </a:r>
            <a:r>
              <a:rPr lang="en-US" dirty="0"/>
              <a:t> </a:t>
            </a:r>
            <a:r>
              <a:rPr lang="ru-RU" dirty="0"/>
              <a:t>[длина][массив байтов]</a:t>
            </a:r>
          </a:p>
          <a:p>
            <a:pPr lvl="1"/>
            <a:r>
              <a:rPr lang="ru-RU" dirty="0"/>
              <a:t>Длина доступна за O(1).</a:t>
            </a:r>
          </a:p>
          <a:p>
            <a:pPr lvl="1"/>
            <a:r>
              <a:rPr lang="ru-RU" dirty="0"/>
              <a:t>Возможны любые значения байтов.</a:t>
            </a:r>
          </a:p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7E254DBA-197B-FCB4-C0B0-F918A9DE7BC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35E9561-002A-41EF-B5BA-43A01A72A4F8}" type="slidenum">
              <a:rPr lang="en-US" smtClean="0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858029114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7275D22-8428-ABCF-E2D4-8B95DE96BDA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dirty="0"/>
              <a:t>Ошибки с размером массива</a:t>
            </a:r>
            <a:endParaRPr lang="en-US" dirty="0"/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6802E9D2-D74A-C6BE-E98D-17C045D082DB}"/>
              </a:ext>
            </a:extLst>
          </p:cNvPr>
          <p:cNvSpPr txBox="1"/>
          <p:nvPr/>
        </p:nvSpPr>
        <p:spPr>
          <a:xfrm>
            <a:off x="838200" y="1690688"/>
            <a:ext cx="6093228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dirty="0">
                <a:hlinkClick r:id="rId3"/>
              </a:rPr>
              <a:t>https://godbolt.org/z/n7oKWTxn6</a:t>
            </a:r>
            <a:endParaRPr lang="en-US" dirty="0"/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9D9C38D5-8D0D-6336-1E67-9E9298EF481C}"/>
              </a:ext>
            </a:extLst>
          </p:cNvPr>
          <p:cNvSpPr txBox="1"/>
          <p:nvPr/>
        </p:nvSpPr>
        <p:spPr>
          <a:xfrm>
            <a:off x="838200" y="2114618"/>
            <a:ext cx="7374775" cy="175432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buNone/>
            </a:pPr>
            <a:r>
              <a:rPr lang="en-US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#include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&lt;</a:t>
            </a:r>
            <a:r>
              <a:rPr lang="en-US" b="0" dirty="0" err="1">
                <a:solidFill>
                  <a:srgbClr val="A31515"/>
                </a:solidFill>
                <a:effectLst/>
                <a:latin typeface="Consolas" panose="020B0609020204030204" pitchFamily="49" charset="0"/>
              </a:rPr>
              <a:t>stdio.h</a:t>
            </a:r>
            <a:r>
              <a:rPr lang="en-US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&gt;</a:t>
            </a:r>
            <a:b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</a:br>
            <a:endParaRPr lang="en-US" b="0" dirty="0">
              <a:solidFill>
                <a:srgbClr val="000000"/>
              </a:solidFill>
              <a:effectLst/>
              <a:latin typeface="Consolas" panose="020B0609020204030204" pitchFamily="49" charset="0"/>
            </a:endParaRPr>
          </a:p>
          <a:p>
            <a:pPr>
              <a:buNone/>
            </a:pPr>
            <a:r>
              <a:rPr lang="en-US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int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main()</a:t>
            </a:r>
            <a:r>
              <a:rPr lang="ru-RU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{</a:t>
            </a:r>
          </a:p>
          <a:p>
            <a:pPr>
              <a:buNone/>
            </a:pP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char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s[</a:t>
            </a:r>
            <a:r>
              <a:rPr lang="en-US" b="0" dirty="0">
                <a:solidFill>
                  <a:srgbClr val="098658"/>
                </a:solidFill>
                <a:effectLst/>
                <a:latin typeface="Consolas" panose="020B0609020204030204" pitchFamily="49" charset="0"/>
              </a:rPr>
              <a:t>5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] = </a:t>
            </a:r>
            <a:r>
              <a:rPr lang="en-US" b="0" dirty="0">
                <a:solidFill>
                  <a:srgbClr val="A31515"/>
                </a:solidFill>
                <a:effectLst/>
                <a:latin typeface="Consolas" panose="020B0609020204030204" pitchFamily="49" charset="0"/>
              </a:rPr>
              <a:t>"Hello"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;   </a:t>
            </a:r>
            <a:r>
              <a:rPr lang="en-US" b="0" dirty="0">
                <a:solidFill>
                  <a:srgbClr val="008000"/>
                </a:solidFill>
                <a:effectLst/>
                <a:latin typeface="Consolas" panose="020B0609020204030204" pitchFamily="49" charset="0"/>
              </a:rPr>
              <a:t>//</a:t>
            </a:r>
            <a:r>
              <a:rPr lang="ru-RU" b="0" dirty="0">
                <a:solidFill>
                  <a:srgbClr val="008000"/>
                </a:solidFill>
                <a:effectLst/>
                <a:latin typeface="Consolas" panose="020B0609020204030204" pitchFamily="49" charset="0"/>
              </a:rPr>
              <a:t>Неверно задан размер строки</a:t>
            </a:r>
            <a:endParaRPr lang="en-US" b="0" dirty="0">
              <a:solidFill>
                <a:srgbClr val="000000"/>
              </a:solidFill>
              <a:effectLst/>
              <a:latin typeface="Consolas" panose="020B0609020204030204" pitchFamily="49" charset="0"/>
            </a:endParaRPr>
          </a:p>
          <a:p>
            <a:pPr>
              <a:buNone/>
            </a:pP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puts(s);</a:t>
            </a:r>
          </a:p>
          <a:p>
            <a:pPr>
              <a:buNone/>
            </a:pP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}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FB3CBC48-1FFE-E0E6-EB3A-1342CBB83943}"/>
              </a:ext>
            </a:extLst>
          </p:cNvPr>
          <p:cNvSpPr txBox="1"/>
          <p:nvPr/>
        </p:nvSpPr>
        <p:spPr>
          <a:xfrm>
            <a:off x="6096000" y="4385207"/>
            <a:ext cx="5744093" cy="2308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buNone/>
            </a:pPr>
            <a:r>
              <a:rPr lang="en-US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#include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&lt;</a:t>
            </a:r>
            <a:r>
              <a:rPr lang="en-US" b="0" dirty="0" err="1">
                <a:solidFill>
                  <a:srgbClr val="A31515"/>
                </a:solidFill>
                <a:effectLst/>
                <a:latin typeface="Consolas" panose="020B0609020204030204" pitchFamily="49" charset="0"/>
              </a:rPr>
              <a:t>stdio.h</a:t>
            </a:r>
            <a:r>
              <a:rPr lang="en-US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&gt;</a:t>
            </a:r>
            <a:endParaRPr lang="en-US" b="0" dirty="0">
              <a:solidFill>
                <a:srgbClr val="000000"/>
              </a:solidFill>
              <a:effectLst/>
              <a:latin typeface="Consolas" panose="020B0609020204030204" pitchFamily="49" charset="0"/>
            </a:endParaRPr>
          </a:p>
          <a:p>
            <a:pPr>
              <a:buNone/>
            </a:pPr>
            <a:endParaRPr lang="en-US" b="0" dirty="0">
              <a:solidFill>
                <a:srgbClr val="000000"/>
              </a:solidFill>
              <a:effectLst/>
              <a:latin typeface="Consolas" panose="020B0609020204030204" pitchFamily="49" charset="0"/>
            </a:endParaRPr>
          </a:p>
          <a:p>
            <a:pPr>
              <a:buNone/>
            </a:pPr>
            <a:r>
              <a:rPr lang="en-US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int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main()</a:t>
            </a:r>
            <a:r>
              <a:rPr lang="ru-RU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{</a:t>
            </a:r>
          </a:p>
          <a:p>
            <a:pPr>
              <a:buNone/>
            </a:pP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char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s[</a:t>
            </a:r>
            <a:r>
              <a:rPr lang="en-US" b="0" dirty="0">
                <a:solidFill>
                  <a:srgbClr val="098658"/>
                </a:solidFill>
                <a:effectLst/>
                <a:latin typeface="Consolas" panose="020B0609020204030204" pitchFamily="49" charset="0"/>
              </a:rPr>
              <a:t>6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] = </a:t>
            </a:r>
            <a:r>
              <a:rPr lang="en-US" b="0" dirty="0">
                <a:solidFill>
                  <a:srgbClr val="A31515"/>
                </a:solidFill>
                <a:effectLst/>
                <a:latin typeface="Consolas" panose="020B0609020204030204" pitchFamily="49" charset="0"/>
              </a:rPr>
              <a:t>"Hello"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;   </a:t>
            </a:r>
            <a:r>
              <a:rPr lang="en-US" b="0" dirty="0">
                <a:solidFill>
                  <a:srgbClr val="008000"/>
                </a:solidFill>
                <a:effectLst/>
                <a:latin typeface="Consolas" panose="020B0609020204030204" pitchFamily="49" charset="0"/>
              </a:rPr>
              <a:t>// ok</a:t>
            </a:r>
            <a:endParaRPr lang="en-US" b="0" dirty="0">
              <a:solidFill>
                <a:srgbClr val="000000"/>
              </a:solidFill>
              <a:effectLst/>
              <a:latin typeface="Consolas" panose="020B0609020204030204" pitchFamily="49" charset="0"/>
            </a:endParaRPr>
          </a:p>
          <a:p>
            <a:pPr>
              <a:buNone/>
            </a:pP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b="0" dirty="0">
                <a:solidFill>
                  <a:srgbClr val="008000"/>
                </a:solidFill>
                <a:effectLst/>
                <a:latin typeface="Consolas" panose="020B0609020204030204" pitchFamily="49" charset="0"/>
              </a:rPr>
              <a:t>// </a:t>
            </a:r>
            <a:r>
              <a:rPr lang="ru-RU" b="0" dirty="0">
                <a:solidFill>
                  <a:srgbClr val="008000"/>
                </a:solidFill>
                <a:effectLst/>
                <a:latin typeface="Consolas" panose="020B0609020204030204" pitchFamily="49" charset="0"/>
              </a:rPr>
              <a:t>либо</a:t>
            </a:r>
            <a:endParaRPr lang="ru-RU" b="0" dirty="0">
              <a:solidFill>
                <a:srgbClr val="000000"/>
              </a:solidFill>
              <a:effectLst/>
              <a:latin typeface="Consolas" panose="020B0609020204030204" pitchFamily="49" charset="0"/>
            </a:endParaRPr>
          </a:p>
          <a:p>
            <a:pPr>
              <a:buNone/>
            </a:pPr>
            <a:r>
              <a:rPr lang="ru-RU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ru-RU" b="0" dirty="0">
                <a:solidFill>
                  <a:srgbClr val="008000"/>
                </a:solidFill>
                <a:effectLst/>
                <a:latin typeface="Consolas" panose="020B0609020204030204" pitchFamily="49" charset="0"/>
              </a:rPr>
              <a:t>// </a:t>
            </a:r>
            <a:r>
              <a:rPr lang="en-US" b="0" dirty="0">
                <a:solidFill>
                  <a:srgbClr val="008000"/>
                </a:solidFill>
                <a:effectLst/>
                <a:latin typeface="Consolas" panose="020B0609020204030204" pitchFamily="49" charset="0"/>
              </a:rPr>
              <a:t>chars[] = "Hello"; </a:t>
            </a:r>
            <a:endParaRPr lang="en-US" b="0" dirty="0">
              <a:solidFill>
                <a:srgbClr val="000000"/>
              </a:solidFill>
              <a:effectLst/>
              <a:latin typeface="Consolas" panose="020B0609020204030204" pitchFamily="49" charset="0"/>
            </a:endParaRPr>
          </a:p>
          <a:p>
            <a:pPr>
              <a:buNone/>
            </a:pP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puts(s);</a:t>
            </a:r>
          </a:p>
          <a:p>
            <a:pPr>
              <a:buNone/>
            </a:pP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}</a:t>
            </a: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1A24D86E-E7FC-A5E9-E2DA-C77ED7E9159D}"/>
              </a:ext>
            </a:extLst>
          </p:cNvPr>
          <p:cNvSpPr txBox="1"/>
          <p:nvPr/>
        </p:nvSpPr>
        <p:spPr>
          <a:xfrm>
            <a:off x="6096000" y="4015875"/>
            <a:ext cx="3646516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dirty="0">
                <a:hlinkClick r:id="rId4"/>
              </a:rPr>
              <a:t>https://godbolt.org/z/66T8baMPE</a:t>
            </a:r>
            <a:endParaRPr lang="en-US" dirty="0"/>
          </a:p>
        </p:txBody>
      </p:sp>
      <p:sp>
        <p:nvSpPr>
          <p:cNvPr id="14" name="Slide Number Placeholder 13">
            <a:extLst>
              <a:ext uri="{FF2B5EF4-FFF2-40B4-BE49-F238E27FC236}">
                <a16:creationId xmlns:a16="http://schemas.microsoft.com/office/drawing/2014/main" id="{3AB16E32-8F0C-8EA0-A1D4-45BA6C30357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35E9561-002A-41EF-B5BA-43A01A72A4F8}" type="slidenum">
              <a:rPr lang="en-US" smtClean="0"/>
              <a:t>10</a:t>
            </a:fld>
            <a:endParaRPr lang="en-US"/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543DB28C-9908-788E-E123-46DADE03CFD8}"/>
              </a:ext>
            </a:extLst>
          </p:cNvPr>
          <p:cNvSpPr txBox="1"/>
          <p:nvPr/>
        </p:nvSpPr>
        <p:spPr>
          <a:xfrm>
            <a:off x="951809" y="4015875"/>
            <a:ext cx="4401587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dirty="0">
                <a:hlinkClick r:id="rId5"/>
              </a:rPr>
              <a:t>https://godbolt.org/z/qxnzTz4Kd</a:t>
            </a:r>
            <a:r>
              <a:rPr lang="en-US" dirty="0"/>
              <a:t> </a:t>
            </a:r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109E2A4A-F00A-FB37-F1A5-D5BF38A61571}"/>
              </a:ext>
            </a:extLst>
          </p:cNvPr>
          <p:cNvSpPr txBox="1"/>
          <p:nvPr/>
        </p:nvSpPr>
        <p:spPr>
          <a:xfrm>
            <a:off x="951809" y="4413151"/>
            <a:ext cx="2971798" cy="2308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buNone/>
            </a:pPr>
            <a:r>
              <a:rPr lang="en-US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#include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&lt;</a:t>
            </a:r>
            <a:r>
              <a:rPr lang="en-US" b="0" dirty="0" err="1">
                <a:solidFill>
                  <a:srgbClr val="A31515"/>
                </a:solidFill>
                <a:effectLst/>
                <a:latin typeface="Consolas" panose="020B0609020204030204" pitchFamily="49" charset="0"/>
              </a:rPr>
              <a:t>stdio.h</a:t>
            </a:r>
            <a:r>
              <a:rPr lang="en-US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&gt;</a:t>
            </a:r>
            <a:endParaRPr lang="en-US" b="0" dirty="0">
              <a:solidFill>
                <a:srgbClr val="000000"/>
              </a:solidFill>
              <a:effectLst/>
              <a:latin typeface="Consolas" panose="020B0609020204030204" pitchFamily="49" charset="0"/>
            </a:endParaRPr>
          </a:p>
          <a:p>
            <a:pPr>
              <a:buNone/>
            </a:pPr>
            <a:endParaRPr lang="en-US" b="0" dirty="0">
              <a:solidFill>
                <a:srgbClr val="000000"/>
              </a:solidFill>
              <a:effectLst/>
              <a:latin typeface="Consolas" panose="020B0609020204030204" pitchFamily="49" charset="0"/>
            </a:endParaRPr>
          </a:p>
          <a:p>
            <a:pPr>
              <a:buNone/>
            </a:pPr>
            <a:r>
              <a:rPr lang="en-US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int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main() {</a:t>
            </a:r>
          </a:p>
          <a:p>
            <a:pPr>
              <a:buNone/>
            </a:pP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char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s[</a:t>
            </a:r>
            <a:r>
              <a:rPr lang="en-US" b="0" dirty="0">
                <a:solidFill>
                  <a:srgbClr val="098658"/>
                </a:solidFill>
                <a:effectLst/>
                <a:latin typeface="Consolas" panose="020B0609020204030204" pitchFamily="49" charset="0"/>
              </a:rPr>
              <a:t>5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];</a:t>
            </a:r>
          </a:p>
          <a:p>
            <a:pPr>
              <a:buNone/>
            </a:pP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s[</a:t>
            </a:r>
            <a:r>
              <a:rPr lang="en-US" b="0" dirty="0">
                <a:solidFill>
                  <a:srgbClr val="098658"/>
                </a:solidFill>
                <a:effectLst/>
                <a:latin typeface="Consolas" panose="020B0609020204030204" pitchFamily="49" charset="0"/>
              </a:rPr>
              <a:t>0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] = </a:t>
            </a:r>
            <a:r>
              <a:rPr lang="en-US" b="0" dirty="0">
                <a:solidFill>
                  <a:srgbClr val="A31515"/>
                </a:solidFill>
                <a:effectLst/>
                <a:latin typeface="Consolas" panose="020B0609020204030204" pitchFamily="49" charset="0"/>
              </a:rPr>
              <a:t>'H'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;</a:t>
            </a:r>
          </a:p>
          <a:p>
            <a:pPr>
              <a:buNone/>
            </a:pP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s[</a:t>
            </a:r>
            <a:r>
              <a:rPr lang="en-US" b="0" dirty="0">
                <a:solidFill>
                  <a:srgbClr val="098658"/>
                </a:solidFill>
                <a:effectLst/>
                <a:latin typeface="Consolas" panose="020B0609020204030204" pitchFamily="49" charset="0"/>
              </a:rPr>
              <a:t>1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] = </a:t>
            </a:r>
            <a:r>
              <a:rPr lang="en-US" b="0" dirty="0">
                <a:solidFill>
                  <a:srgbClr val="A31515"/>
                </a:solidFill>
                <a:effectLst/>
                <a:latin typeface="Consolas" panose="020B0609020204030204" pitchFamily="49" charset="0"/>
              </a:rPr>
              <a:t>'</a:t>
            </a:r>
            <a:r>
              <a:rPr lang="en-US" b="0" dirty="0" err="1">
                <a:solidFill>
                  <a:srgbClr val="A31515"/>
                </a:solidFill>
                <a:effectLst/>
                <a:latin typeface="Consolas" panose="020B0609020204030204" pitchFamily="49" charset="0"/>
              </a:rPr>
              <a:t>i</a:t>
            </a:r>
            <a:r>
              <a:rPr lang="en-US" b="0" dirty="0">
                <a:solidFill>
                  <a:srgbClr val="A31515"/>
                </a:solidFill>
                <a:effectLst/>
                <a:latin typeface="Consolas" panose="020B0609020204030204" pitchFamily="49" charset="0"/>
              </a:rPr>
              <a:t>'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;</a:t>
            </a:r>
          </a:p>
          <a:p>
            <a:pPr>
              <a:buNone/>
            </a:pP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puts(s);</a:t>
            </a:r>
          </a:p>
          <a:p>
            <a:pPr>
              <a:buNone/>
            </a:pP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}</a:t>
            </a:r>
          </a:p>
        </p:txBody>
      </p:sp>
    </p:spTree>
    <p:extLst>
      <p:ext uri="{BB962C8B-B14F-4D97-AF65-F5344CB8AC3E}">
        <p14:creationId xmlns:p14="http://schemas.microsoft.com/office/powerpoint/2010/main" val="1067938149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DE07E8D-A1F3-74BC-F907-EC414085DBB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dirty="0"/>
              <a:t>Вывод строк</a:t>
            </a:r>
            <a:endParaRPr lang="en-US" dirty="0"/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90BB188F-2E71-0760-D36C-0DE665E612E9}"/>
              </a:ext>
            </a:extLst>
          </p:cNvPr>
          <p:cNvSpPr>
            <a:spLocks noGrp="1"/>
          </p:cNvSpPr>
          <p:nvPr>
            <p:ph sz="half" idx="1"/>
          </p:nvPr>
        </p:nvSpPr>
        <p:spPr/>
        <p:txBody>
          <a:bodyPr/>
          <a:lstStyle/>
          <a:p>
            <a:r>
              <a:rPr lang="ru-RU" b="1" dirty="0"/>
              <a:t>Функция </a:t>
            </a:r>
            <a:r>
              <a:rPr lang="ru-RU" b="1" dirty="0" err="1"/>
              <a:t>puts</a:t>
            </a:r>
            <a:endParaRPr lang="ru-RU" b="1" dirty="0"/>
          </a:p>
          <a:p>
            <a:pPr lvl="1"/>
            <a:r>
              <a:rPr lang="ru-RU" dirty="0" err="1">
                <a:latin typeface="Consolas" panose="020B0609020204030204" pitchFamily="49" charset="0"/>
              </a:rPr>
              <a:t>char</a:t>
            </a:r>
            <a:r>
              <a:rPr lang="ru-RU" dirty="0">
                <a:latin typeface="Consolas" panose="020B0609020204030204" pitchFamily="49" charset="0"/>
              </a:rPr>
              <a:t> s[] = "Hello";</a:t>
            </a:r>
            <a:br>
              <a:rPr lang="ru-RU" dirty="0">
                <a:latin typeface="Consolas" panose="020B0609020204030204" pitchFamily="49" charset="0"/>
              </a:rPr>
            </a:br>
            <a:r>
              <a:rPr lang="ru-RU" dirty="0" err="1">
                <a:latin typeface="Consolas" panose="020B0609020204030204" pitchFamily="49" charset="0"/>
              </a:rPr>
              <a:t>puts</a:t>
            </a:r>
            <a:r>
              <a:rPr lang="ru-RU" dirty="0">
                <a:latin typeface="Consolas" panose="020B0609020204030204" pitchFamily="49" charset="0"/>
              </a:rPr>
              <a:t>(s);</a:t>
            </a:r>
          </a:p>
          <a:p>
            <a:pPr lvl="1"/>
            <a:r>
              <a:rPr lang="ru-RU" dirty="0"/>
              <a:t>Выводит строку до '\0'</a:t>
            </a:r>
          </a:p>
          <a:p>
            <a:pPr lvl="1"/>
            <a:r>
              <a:rPr lang="ru-RU" dirty="0"/>
              <a:t>Автоматически добавляет '\n'</a:t>
            </a:r>
          </a:p>
          <a:p>
            <a:endParaRPr lang="en-US" dirty="0"/>
          </a:p>
        </p:txBody>
      </p:sp>
      <p:sp>
        <p:nvSpPr>
          <p:cNvPr id="5" name="Content Placeholder 4">
            <a:extLst>
              <a:ext uri="{FF2B5EF4-FFF2-40B4-BE49-F238E27FC236}">
                <a16:creationId xmlns:a16="http://schemas.microsoft.com/office/drawing/2014/main" id="{B9F0D201-E4AB-BFCF-3453-78C398D9DFCF}"/>
              </a:ext>
            </a:extLst>
          </p:cNvPr>
          <p:cNvSpPr>
            <a:spLocks noGrp="1"/>
          </p:cNvSpPr>
          <p:nvPr>
            <p:ph sz="half" idx="2"/>
          </p:nvPr>
        </p:nvSpPr>
        <p:spPr/>
        <p:txBody>
          <a:bodyPr/>
          <a:lstStyle/>
          <a:p>
            <a:r>
              <a:rPr lang="ru-RU" b="1" dirty="0"/>
              <a:t>Функция </a:t>
            </a:r>
            <a:r>
              <a:rPr lang="ru-RU" b="1" dirty="0" err="1"/>
              <a:t>printf</a:t>
            </a:r>
            <a:endParaRPr lang="ru-RU" b="1" dirty="0"/>
          </a:p>
          <a:p>
            <a:pPr lvl="1"/>
            <a:r>
              <a:rPr lang="ru-RU" dirty="0" err="1">
                <a:latin typeface="Consolas" panose="020B0609020204030204" pitchFamily="49" charset="0"/>
              </a:rPr>
              <a:t>printf</a:t>
            </a:r>
            <a:r>
              <a:rPr lang="ru-RU" dirty="0">
                <a:latin typeface="Consolas" panose="020B0609020204030204" pitchFamily="49" charset="0"/>
              </a:rPr>
              <a:t>("%s\n", s);</a:t>
            </a:r>
          </a:p>
          <a:p>
            <a:r>
              <a:rPr lang="ru-RU" dirty="0"/>
              <a:t>Форматированный вывод</a:t>
            </a:r>
          </a:p>
          <a:p>
            <a:r>
              <a:rPr lang="ru-RU" dirty="0">
                <a:latin typeface="Consolas" panose="020B0609020204030204" pitchFamily="49" charset="0"/>
              </a:rPr>
              <a:t>%s</a:t>
            </a:r>
            <a:r>
              <a:rPr lang="ru-RU" dirty="0"/>
              <a:t> ожидает корректную строку (с </a:t>
            </a:r>
            <a:r>
              <a:rPr lang="ru-RU" dirty="0">
                <a:latin typeface="Consolas" panose="020B0609020204030204" pitchFamily="49" charset="0"/>
              </a:rPr>
              <a:t>'\0'</a:t>
            </a:r>
            <a:r>
              <a:rPr lang="ru-RU" dirty="0"/>
              <a:t>)</a:t>
            </a:r>
          </a:p>
          <a:p>
            <a:endParaRPr lang="en-US" dirty="0"/>
          </a:p>
        </p:txBody>
      </p: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FC3E1C2F-EBCF-78F0-AB06-738ED301E2D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35E9561-002A-41EF-B5BA-43A01A72A4F8}" type="slidenum">
              <a:rPr lang="en-US" smtClean="0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19197340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6722E67-3A40-EE37-36D3-127BEE25DF5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dirty="0"/>
              <a:t>Ввод строк: </a:t>
            </a:r>
            <a:r>
              <a:rPr lang="en-US" dirty="0" err="1"/>
              <a:t>scanf</a:t>
            </a:r>
            <a:endParaRPr lang="en-US" dirty="0"/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66203EF7-7A7B-815A-99B3-3D00A6928515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ru-RU" b="1" dirty="0"/>
              <a:t>Чтение без пробелов</a:t>
            </a:r>
          </a:p>
          <a:p>
            <a:pPr lvl="1"/>
            <a:r>
              <a:rPr lang="ru-RU" dirty="0" err="1">
                <a:latin typeface="Consolas" panose="020B0609020204030204" pitchFamily="49" charset="0"/>
              </a:rPr>
              <a:t>char</a:t>
            </a:r>
            <a:r>
              <a:rPr lang="ru-RU" dirty="0">
                <a:latin typeface="Consolas" panose="020B0609020204030204" pitchFamily="49" charset="0"/>
              </a:rPr>
              <a:t> s[100];</a:t>
            </a:r>
            <a:br>
              <a:rPr lang="en-US" dirty="0">
                <a:latin typeface="Consolas" panose="020B0609020204030204" pitchFamily="49" charset="0"/>
              </a:rPr>
            </a:br>
            <a:r>
              <a:rPr lang="ru-RU" dirty="0" err="1">
                <a:latin typeface="Consolas" panose="020B0609020204030204" pitchFamily="49" charset="0"/>
              </a:rPr>
              <a:t>scanf</a:t>
            </a:r>
            <a:r>
              <a:rPr lang="ru-RU" dirty="0">
                <a:latin typeface="Consolas" panose="020B0609020204030204" pitchFamily="49" charset="0"/>
              </a:rPr>
              <a:t>("%99s", s);</a:t>
            </a:r>
          </a:p>
          <a:p>
            <a:r>
              <a:rPr lang="ru-RU" b="1" dirty="0"/>
              <a:t>Особенности</a:t>
            </a:r>
          </a:p>
          <a:p>
            <a:pPr lvl="1"/>
            <a:r>
              <a:rPr lang="ru-RU" dirty="0"/>
              <a:t>Чтение прекращается при пробеле или переводе строки.</a:t>
            </a:r>
          </a:p>
          <a:p>
            <a:pPr lvl="1"/>
            <a:r>
              <a:rPr lang="ru-RU" dirty="0"/>
              <a:t>Необходимо ограничивать длину (%99s).</a:t>
            </a:r>
          </a:p>
          <a:p>
            <a:pPr lvl="1"/>
            <a:r>
              <a:rPr lang="ru-RU" dirty="0"/>
              <a:t>Завершающий '\0' добавляется автоматически.</a:t>
            </a:r>
          </a:p>
          <a:p>
            <a:r>
              <a:rPr lang="ru-RU" b="1" dirty="0"/>
              <a:t>Ограничение</a:t>
            </a:r>
          </a:p>
          <a:p>
            <a:pPr lvl="1"/>
            <a:r>
              <a:rPr lang="ru-RU" dirty="0"/>
              <a:t>Невозможно считать строку с пробелами.</a:t>
            </a:r>
          </a:p>
          <a:p>
            <a:endParaRPr lang="en-US" dirty="0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8E4B3C10-5D66-6D1F-BA66-E18C690B5AB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35E9561-002A-41EF-B5BA-43A01A72A4F8}" type="slidenum">
              <a:rPr lang="en-US" smtClean="0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17990157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705DE22-DB1B-F9C9-B62B-FB3AB4CF3B6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dirty="0"/>
              <a:t>Ввод строк: </a:t>
            </a:r>
            <a:r>
              <a:rPr lang="en-US" dirty="0" err="1">
                <a:hlinkClick r:id="rId3"/>
              </a:rPr>
              <a:t>fgets</a:t>
            </a: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8B9CE71-8714-802C-2CC8-842B8296D906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fontScale="92500" lnSpcReduction="10000"/>
          </a:bodyPr>
          <a:lstStyle/>
          <a:p>
            <a:r>
              <a:rPr lang="ru-RU" b="1" dirty="0"/>
              <a:t>Предпочтительный способ</a:t>
            </a:r>
          </a:p>
          <a:p>
            <a:pPr lvl="1"/>
            <a:r>
              <a:rPr lang="ru-RU" dirty="0" err="1">
                <a:latin typeface="Consolas" panose="020B0609020204030204" pitchFamily="49" charset="0"/>
              </a:rPr>
              <a:t>char</a:t>
            </a:r>
            <a:r>
              <a:rPr lang="ru-RU" dirty="0">
                <a:latin typeface="Consolas" panose="020B0609020204030204" pitchFamily="49" charset="0"/>
              </a:rPr>
              <a:t> s[100];</a:t>
            </a:r>
            <a:br>
              <a:rPr lang="en-US" dirty="0">
                <a:latin typeface="Consolas" panose="020B0609020204030204" pitchFamily="49" charset="0"/>
              </a:rPr>
            </a:br>
            <a:r>
              <a:rPr lang="ru-RU" dirty="0" err="1">
                <a:latin typeface="Consolas" panose="020B0609020204030204" pitchFamily="49" charset="0"/>
              </a:rPr>
              <a:t>fgets</a:t>
            </a:r>
            <a:r>
              <a:rPr lang="ru-RU" dirty="0">
                <a:latin typeface="Consolas" panose="020B0609020204030204" pitchFamily="49" charset="0"/>
              </a:rPr>
              <a:t>(s, </a:t>
            </a:r>
            <a:r>
              <a:rPr lang="ru-RU" dirty="0" err="1">
                <a:latin typeface="Consolas" panose="020B0609020204030204" pitchFamily="49" charset="0"/>
              </a:rPr>
              <a:t>sizeof</a:t>
            </a:r>
            <a:r>
              <a:rPr lang="ru-RU" dirty="0">
                <a:latin typeface="Consolas" panose="020B0609020204030204" pitchFamily="49" charset="0"/>
              </a:rPr>
              <a:t>(s), </a:t>
            </a:r>
            <a:r>
              <a:rPr lang="ru-RU" dirty="0" err="1">
                <a:latin typeface="Consolas" panose="020B0609020204030204" pitchFamily="49" charset="0"/>
              </a:rPr>
              <a:t>stdin</a:t>
            </a:r>
            <a:r>
              <a:rPr lang="ru-RU" dirty="0">
                <a:latin typeface="Consolas" panose="020B0609020204030204" pitchFamily="49" charset="0"/>
              </a:rPr>
              <a:t>);</a:t>
            </a:r>
          </a:p>
          <a:p>
            <a:r>
              <a:rPr lang="ru-RU" b="1" dirty="0"/>
              <a:t>Особенности</a:t>
            </a:r>
          </a:p>
          <a:p>
            <a:pPr lvl="1"/>
            <a:r>
              <a:rPr lang="ru-RU" dirty="0"/>
              <a:t>Считывает строку целиком, включая пробелы.</a:t>
            </a:r>
          </a:p>
          <a:p>
            <a:pPr lvl="1"/>
            <a:r>
              <a:rPr lang="ru-RU" dirty="0"/>
              <a:t>Читает не более </a:t>
            </a:r>
            <a:r>
              <a:rPr lang="ru-RU" dirty="0" err="1"/>
              <a:t>sizeof</a:t>
            </a:r>
            <a:r>
              <a:rPr lang="ru-RU" dirty="0"/>
              <a:t>(s) - 1 символов.</a:t>
            </a:r>
          </a:p>
          <a:p>
            <a:pPr lvl="1"/>
            <a:r>
              <a:rPr lang="ru-RU" dirty="0"/>
              <a:t>Всегда добавляет '\0'.</a:t>
            </a:r>
          </a:p>
          <a:p>
            <a:pPr lvl="1"/>
            <a:r>
              <a:rPr lang="ru-RU" dirty="0"/>
              <a:t>Сохраняет символ '\n', если он помещается.</a:t>
            </a:r>
            <a:endParaRPr lang="en-US" dirty="0"/>
          </a:p>
          <a:p>
            <a:r>
              <a:rPr lang="ru-RU" b="1" dirty="0"/>
              <a:t>Удаление </a:t>
            </a:r>
            <a:r>
              <a:rPr lang="en-US" b="1" dirty="0"/>
              <a:t>'\n'</a:t>
            </a:r>
          </a:p>
          <a:p>
            <a:pPr lvl="1"/>
            <a:r>
              <a:rPr lang="en-US" dirty="0" err="1">
                <a:latin typeface="Consolas" panose="020B0609020204030204" pitchFamily="49" charset="0"/>
              </a:rPr>
              <a:t>size_t</a:t>
            </a:r>
            <a:r>
              <a:rPr lang="en-US" dirty="0">
                <a:latin typeface="Consolas" panose="020B0609020204030204" pitchFamily="49" charset="0"/>
              </a:rPr>
              <a:t> </a:t>
            </a:r>
            <a:r>
              <a:rPr lang="en-US" dirty="0" err="1">
                <a:latin typeface="Consolas" panose="020B0609020204030204" pitchFamily="49" charset="0"/>
              </a:rPr>
              <a:t>len</a:t>
            </a:r>
            <a:r>
              <a:rPr lang="en-US" dirty="0">
                <a:latin typeface="Consolas" panose="020B0609020204030204" pitchFamily="49" charset="0"/>
              </a:rPr>
              <a:t> = </a:t>
            </a:r>
            <a:r>
              <a:rPr lang="en-US" dirty="0" err="1">
                <a:latin typeface="Consolas" panose="020B0609020204030204" pitchFamily="49" charset="0"/>
              </a:rPr>
              <a:t>my_strlen</a:t>
            </a:r>
            <a:r>
              <a:rPr lang="en-US" dirty="0">
                <a:latin typeface="Consolas" panose="020B0609020204030204" pitchFamily="49" charset="0"/>
              </a:rPr>
              <a:t>(s);</a:t>
            </a:r>
            <a:br>
              <a:rPr lang="en-US" dirty="0">
                <a:latin typeface="Consolas" panose="020B0609020204030204" pitchFamily="49" charset="0"/>
              </a:rPr>
            </a:br>
            <a:r>
              <a:rPr lang="en-US" dirty="0">
                <a:latin typeface="Consolas" panose="020B0609020204030204" pitchFamily="49" charset="0"/>
              </a:rPr>
              <a:t>if (</a:t>
            </a:r>
            <a:r>
              <a:rPr lang="en-US" dirty="0" err="1">
                <a:latin typeface="Consolas" panose="020B0609020204030204" pitchFamily="49" charset="0"/>
              </a:rPr>
              <a:t>len</a:t>
            </a:r>
            <a:r>
              <a:rPr lang="en-US" dirty="0">
                <a:latin typeface="Consolas" panose="020B0609020204030204" pitchFamily="49" charset="0"/>
              </a:rPr>
              <a:t> &gt; 0 &amp;&amp; s[</a:t>
            </a:r>
            <a:r>
              <a:rPr lang="en-US" dirty="0" err="1">
                <a:latin typeface="Consolas" panose="020B0609020204030204" pitchFamily="49" charset="0"/>
              </a:rPr>
              <a:t>len</a:t>
            </a:r>
            <a:r>
              <a:rPr lang="en-US" dirty="0">
                <a:latin typeface="Consolas" panose="020B0609020204030204" pitchFamily="49" charset="0"/>
              </a:rPr>
              <a:t> - 1] == '\n’)</a:t>
            </a:r>
            <a:br>
              <a:rPr lang="en-US" dirty="0">
                <a:latin typeface="Consolas" panose="020B0609020204030204" pitchFamily="49" charset="0"/>
              </a:rPr>
            </a:br>
            <a:r>
              <a:rPr lang="en-US" dirty="0">
                <a:latin typeface="Consolas" panose="020B0609020204030204" pitchFamily="49" charset="0"/>
              </a:rPr>
              <a:t>    s[</a:t>
            </a:r>
            <a:r>
              <a:rPr lang="en-US" dirty="0" err="1">
                <a:latin typeface="Consolas" panose="020B0609020204030204" pitchFamily="49" charset="0"/>
              </a:rPr>
              <a:t>len</a:t>
            </a:r>
            <a:r>
              <a:rPr lang="en-US" dirty="0">
                <a:latin typeface="Consolas" panose="020B0609020204030204" pitchFamily="49" charset="0"/>
              </a:rPr>
              <a:t> - 1] = '\0';</a:t>
            </a:r>
            <a:endParaRPr lang="ru-RU" dirty="0">
              <a:latin typeface="Consolas" panose="020B0609020204030204" pitchFamily="49" charset="0"/>
            </a:endParaRPr>
          </a:p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AC5B1419-5867-F040-DB00-E9FF76067C9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35E9561-002A-41EF-B5BA-43A01A72A4F8}" type="slidenum">
              <a:rPr lang="en-US" smtClean="0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33184032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1BB1AC4-0170-52D0-1718-CF07968154E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dirty="0"/>
              <a:t>Копирование строк</a:t>
            </a: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DBF27A98-FD3E-8FDE-4A39-0B25F741914E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5"/>
            <a:ext cx="5113713" cy="4351338"/>
          </a:xfrm>
        </p:spPr>
        <p:txBody>
          <a:bodyPr>
            <a:normAutofit fontScale="92500" lnSpcReduction="20000"/>
          </a:bodyPr>
          <a:lstStyle/>
          <a:p>
            <a:r>
              <a:rPr lang="ru-RU" b="1" dirty="0"/>
              <a:t>Массивы нельзя присваивать</a:t>
            </a:r>
          </a:p>
          <a:p>
            <a:pPr lvl="1"/>
            <a:r>
              <a:rPr lang="ru-RU" dirty="0" err="1">
                <a:latin typeface="Consolas" panose="020B0609020204030204" pitchFamily="49" charset="0"/>
              </a:rPr>
              <a:t>char</a:t>
            </a:r>
            <a:r>
              <a:rPr lang="ru-RU" dirty="0">
                <a:latin typeface="Consolas" panose="020B0609020204030204" pitchFamily="49" charset="0"/>
              </a:rPr>
              <a:t> a[10];</a:t>
            </a:r>
            <a:br>
              <a:rPr lang="ru-RU" dirty="0">
                <a:latin typeface="Consolas" panose="020B0609020204030204" pitchFamily="49" charset="0"/>
              </a:rPr>
            </a:br>
            <a:r>
              <a:rPr lang="ru-RU" dirty="0" err="1">
                <a:latin typeface="Consolas" panose="020B0609020204030204" pitchFamily="49" charset="0"/>
              </a:rPr>
              <a:t>char</a:t>
            </a:r>
            <a:r>
              <a:rPr lang="ru-RU" dirty="0">
                <a:latin typeface="Consolas" panose="020B0609020204030204" pitchFamily="49" charset="0"/>
              </a:rPr>
              <a:t> b[10] = "Hello";</a:t>
            </a:r>
            <a:br>
              <a:rPr lang="ru-RU" dirty="0">
                <a:latin typeface="Consolas" panose="020B0609020204030204" pitchFamily="49" charset="0"/>
              </a:rPr>
            </a:br>
            <a:r>
              <a:rPr lang="ru-RU" dirty="0">
                <a:latin typeface="Consolas" panose="020B0609020204030204" pitchFamily="49" charset="0"/>
              </a:rPr>
              <a:t>a = b;    // ошибка</a:t>
            </a:r>
          </a:p>
          <a:p>
            <a:pPr lvl="1"/>
            <a:r>
              <a:rPr lang="ru-RU" dirty="0"/>
              <a:t>Массивы в языке C не поддерживают операцию присваивания.</a:t>
            </a:r>
            <a:endParaRPr lang="en-US" dirty="0"/>
          </a:p>
          <a:p>
            <a:r>
              <a:rPr lang="ru-RU" dirty="0"/>
              <a:t>Требуется посимвольное копирование</a:t>
            </a:r>
          </a:p>
          <a:p>
            <a:r>
              <a:rPr lang="ru-RU" b="1" dirty="0"/>
              <a:t>Важно</a:t>
            </a:r>
          </a:p>
          <a:p>
            <a:pPr lvl="1"/>
            <a:r>
              <a:rPr lang="ru-RU" dirty="0"/>
              <a:t>Массив </a:t>
            </a:r>
            <a:r>
              <a:rPr lang="ru-RU" dirty="0" err="1"/>
              <a:t>dest</a:t>
            </a:r>
            <a:r>
              <a:rPr lang="ru-RU" dirty="0"/>
              <a:t> должен иметь достаточный размер.</a:t>
            </a:r>
          </a:p>
          <a:p>
            <a:pPr lvl="1"/>
            <a:r>
              <a:rPr lang="ru-RU" dirty="0"/>
              <a:t>Проверка границ не выполняется автоматически.</a:t>
            </a:r>
          </a:p>
          <a:p>
            <a:endParaRPr lang="ru-RU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0578F9F9-2926-B7B4-D72C-B2515C9E39C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35E9561-002A-41EF-B5BA-43A01A72A4F8}" type="slidenum">
              <a:rPr lang="en-US" smtClean="0"/>
              <a:t>14</a:t>
            </a:fld>
            <a:endParaRPr lang="en-US"/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2B6F5FFE-31B8-9C0D-D2ED-30C1481B3A37}"/>
              </a:ext>
            </a:extLst>
          </p:cNvPr>
          <p:cNvSpPr txBox="1"/>
          <p:nvPr/>
        </p:nvSpPr>
        <p:spPr>
          <a:xfrm>
            <a:off x="6140334" y="1825625"/>
            <a:ext cx="6051666" cy="452431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buNone/>
            </a:pPr>
            <a:r>
              <a:rPr lang="en-US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#include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&lt;</a:t>
            </a:r>
            <a:r>
              <a:rPr lang="en-US" b="0" dirty="0" err="1">
                <a:solidFill>
                  <a:srgbClr val="A31515"/>
                </a:solidFill>
                <a:effectLst/>
                <a:latin typeface="Consolas" panose="020B0609020204030204" pitchFamily="49" charset="0"/>
              </a:rPr>
              <a:t>stdio.h</a:t>
            </a:r>
            <a:r>
              <a:rPr lang="en-US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&gt;</a:t>
            </a:r>
            <a:endParaRPr lang="en-US" b="0" dirty="0">
              <a:solidFill>
                <a:srgbClr val="000000"/>
              </a:solidFill>
              <a:effectLst/>
              <a:latin typeface="Consolas" panose="020B0609020204030204" pitchFamily="49" charset="0"/>
            </a:endParaRPr>
          </a:p>
          <a:p>
            <a:pPr>
              <a:buNone/>
            </a:pPr>
            <a:endParaRPr lang="en-US" b="0" dirty="0">
              <a:solidFill>
                <a:srgbClr val="000000"/>
              </a:solidFill>
              <a:effectLst/>
              <a:latin typeface="Consolas" panose="020B0609020204030204" pitchFamily="49" charset="0"/>
            </a:endParaRPr>
          </a:p>
          <a:p>
            <a:pPr>
              <a:buNone/>
            </a:pPr>
            <a:r>
              <a:rPr lang="en-US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void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 err="1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MyStrCpy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char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 err="1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dest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[], </a:t>
            </a:r>
            <a:r>
              <a:rPr lang="en-US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const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char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 err="1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src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[])</a:t>
            </a:r>
            <a:r>
              <a:rPr lang="ru-RU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{</a:t>
            </a:r>
          </a:p>
          <a:p>
            <a:pPr>
              <a:buNone/>
            </a:pPr>
            <a:r>
              <a:rPr lang="ru-RU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 </a:t>
            </a:r>
            <a:r>
              <a:rPr lang="en-US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int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 err="1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i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= </a:t>
            </a:r>
            <a:r>
              <a:rPr lang="en-US" b="0" dirty="0">
                <a:solidFill>
                  <a:srgbClr val="098658"/>
                </a:solidFill>
                <a:effectLst/>
                <a:latin typeface="Consolas" panose="020B0609020204030204" pitchFamily="49" charset="0"/>
              </a:rPr>
              <a:t>0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;</a:t>
            </a:r>
          </a:p>
          <a:p>
            <a:pPr>
              <a:buNone/>
            </a:pPr>
            <a:endParaRPr lang="en-US" b="0" dirty="0">
              <a:solidFill>
                <a:srgbClr val="000000"/>
              </a:solidFill>
              <a:effectLst/>
              <a:latin typeface="Consolas" panose="020B0609020204030204" pitchFamily="49" charset="0"/>
            </a:endParaRPr>
          </a:p>
          <a:p>
            <a:pPr>
              <a:buNone/>
            </a:pPr>
            <a:r>
              <a:rPr lang="ru-RU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 </a:t>
            </a:r>
            <a:r>
              <a:rPr lang="en-US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while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((</a:t>
            </a:r>
            <a:r>
              <a:rPr lang="en-US" b="0" dirty="0" err="1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dest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[</a:t>
            </a:r>
            <a:r>
              <a:rPr lang="en-US" b="0" dirty="0" err="1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i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] = </a:t>
            </a:r>
            <a:r>
              <a:rPr lang="en-US" b="0" dirty="0" err="1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src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[</a:t>
            </a:r>
            <a:r>
              <a:rPr lang="en-US" b="0" dirty="0" err="1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i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]) != </a:t>
            </a:r>
            <a:r>
              <a:rPr lang="en-US" b="0" dirty="0">
                <a:solidFill>
                  <a:srgbClr val="A31515"/>
                </a:solidFill>
                <a:effectLst/>
                <a:latin typeface="Consolas" panose="020B0609020204030204" pitchFamily="49" charset="0"/>
              </a:rPr>
              <a:t>'\0'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) {</a:t>
            </a:r>
          </a:p>
          <a:p>
            <a:pPr>
              <a:buNone/>
            </a:pPr>
            <a:r>
              <a:rPr lang="ru-RU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   </a:t>
            </a:r>
            <a:r>
              <a:rPr lang="en-US" b="0" dirty="0" err="1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i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++;</a:t>
            </a:r>
          </a:p>
          <a:p>
            <a:pPr>
              <a:buNone/>
            </a:pPr>
            <a:r>
              <a:rPr lang="ru-RU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 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}</a:t>
            </a:r>
          </a:p>
          <a:p>
            <a:pPr>
              <a:buNone/>
            </a:pP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}</a:t>
            </a:r>
          </a:p>
          <a:p>
            <a:pPr>
              <a:buNone/>
            </a:pPr>
            <a:endParaRPr lang="en-US" b="0" dirty="0">
              <a:solidFill>
                <a:srgbClr val="000000"/>
              </a:solidFill>
              <a:effectLst/>
              <a:latin typeface="Consolas" panose="020B0609020204030204" pitchFamily="49" charset="0"/>
            </a:endParaRPr>
          </a:p>
          <a:p>
            <a:pPr>
              <a:buNone/>
            </a:pPr>
            <a:r>
              <a:rPr lang="en-US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int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main()</a:t>
            </a:r>
            <a:r>
              <a:rPr lang="ru-RU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{</a:t>
            </a:r>
          </a:p>
          <a:p>
            <a:pPr>
              <a:buNone/>
            </a:pPr>
            <a:r>
              <a:rPr lang="ru-RU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 </a:t>
            </a:r>
            <a:r>
              <a:rPr lang="en-US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char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 err="1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src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[] = </a:t>
            </a:r>
            <a:r>
              <a:rPr lang="en-US" b="0" dirty="0">
                <a:solidFill>
                  <a:srgbClr val="A31515"/>
                </a:solidFill>
                <a:effectLst/>
                <a:latin typeface="Consolas" panose="020B0609020204030204" pitchFamily="49" charset="0"/>
              </a:rPr>
              <a:t>"Hello"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;</a:t>
            </a:r>
          </a:p>
          <a:p>
            <a:pPr>
              <a:buNone/>
            </a:pPr>
            <a:r>
              <a:rPr lang="ru-RU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 </a:t>
            </a:r>
            <a:r>
              <a:rPr lang="en-US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char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 err="1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dst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[</a:t>
            </a:r>
            <a:r>
              <a:rPr lang="en-US" b="0" dirty="0">
                <a:solidFill>
                  <a:srgbClr val="098658"/>
                </a:solidFill>
                <a:effectLst/>
                <a:latin typeface="Consolas" panose="020B0609020204030204" pitchFamily="49" charset="0"/>
              </a:rPr>
              <a:t>10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];</a:t>
            </a:r>
          </a:p>
          <a:p>
            <a:pPr>
              <a:buNone/>
            </a:pPr>
            <a:r>
              <a:rPr lang="ru-RU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 </a:t>
            </a:r>
            <a:r>
              <a:rPr lang="en-US" b="0" dirty="0" err="1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MyStrCpy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b="0" dirty="0" err="1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dst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, </a:t>
            </a:r>
            <a:r>
              <a:rPr lang="en-US" b="0" dirty="0" err="1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src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);</a:t>
            </a:r>
          </a:p>
          <a:p>
            <a:pPr>
              <a:buNone/>
            </a:pPr>
            <a:r>
              <a:rPr lang="ru-RU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 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puts(</a:t>
            </a:r>
            <a:r>
              <a:rPr lang="en-US" b="0" dirty="0" err="1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dst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);</a:t>
            </a:r>
          </a:p>
          <a:p>
            <a:pPr>
              <a:buNone/>
            </a:pP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}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DCE1E011-43F2-C640-02C9-2BB0C5EF7F17}"/>
              </a:ext>
            </a:extLst>
          </p:cNvPr>
          <p:cNvSpPr txBox="1"/>
          <p:nvPr/>
        </p:nvSpPr>
        <p:spPr>
          <a:xfrm>
            <a:off x="6140334" y="6373290"/>
            <a:ext cx="4001193" cy="37312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dirty="0">
                <a:hlinkClick r:id="rId3"/>
              </a:rPr>
              <a:t>https://godbolt.org/z/68xsPP79c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673297600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DA4652D-C0CC-4B3C-F6B0-60DCE696AFE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dirty="0"/>
              <a:t>Сравнение строк</a:t>
            </a: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303ADE1D-6E51-2376-9F2C-BEE178D27A33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5"/>
            <a:ext cx="5257800" cy="4351338"/>
          </a:xfrm>
        </p:spPr>
        <p:txBody>
          <a:bodyPr>
            <a:normAutofit fontScale="85000" lnSpcReduction="20000"/>
          </a:bodyPr>
          <a:lstStyle/>
          <a:p>
            <a:r>
              <a:rPr lang="ru-RU" b="1" dirty="0"/>
              <a:t>Неправильный способ</a:t>
            </a:r>
          </a:p>
          <a:p>
            <a:pPr lvl="1"/>
            <a:r>
              <a:rPr lang="ru-RU" dirty="0" err="1"/>
              <a:t>if</a:t>
            </a:r>
            <a:r>
              <a:rPr lang="ru-RU" dirty="0"/>
              <a:t> (a == b)   // сравниваются адреса</a:t>
            </a:r>
          </a:p>
          <a:p>
            <a:pPr lvl="1"/>
            <a:r>
              <a:rPr lang="ru-RU" dirty="0"/>
              <a:t>Оператор == для массивов сравнивает указатели, а не содержимое.</a:t>
            </a:r>
          </a:p>
          <a:p>
            <a:r>
              <a:rPr lang="ru-RU" b="1" dirty="0"/>
              <a:t>Правильный способ</a:t>
            </a:r>
            <a:r>
              <a:rPr lang="ru-RU" dirty="0"/>
              <a:t> – посимвольное сравнение</a:t>
            </a:r>
          </a:p>
          <a:p>
            <a:pPr lvl="1"/>
            <a:r>
              <a:rPr lang="ru-RU" dirty="0"/>
              <a:t>Результат:</a:t>
            </a:r>
          </a:p>
          <a:p>
            <a:pPr lvl="1"/>
            <a:r>
              <a:rPr lang="ru-RU" dirty="0">
                <a:latin typeface="Consolas" panose="020B0609020204030204" pitchFamily="49" charset="0"/>
              </a:rPr>
              <a:t>0</a:t>
            </a:r>
            <a:r>
              <a:rPr lang="ru-RU" dirty="0"/>
              <a:t> – строки равны</a:t>
            </a:r>
          </a:p>
          <a:p>
            <a:pPr lvl="1"/>
            <a:r>
              <a:rPr lang="en-US" dirty="0">
                <a:latin typeface="Consolas" panose="020B0609020204030204" pitchFamily="49" charset="0"/>
              </a:rPr>
              <a:t>&lt; 0</a:t>
            </a:r>
            <a:r>
              <a:rPr lang="en-US" dirty="0"/>
              <a:t> – </a:t>
            </a:r>
            <a:r>
              <a:rPr lang="ru-RU" dirty="0"/>
              <a:t>строка </a:t>
            </a:r>
            <a:r>
              <a:rPr lang="en-US" dirty="0"/>
              <a:t>a </a:t>
            </a:r>
            <a:r>
              <a:rPr lang="ru-RU" dirty="0"/>
              <a:t>лексикографически предшествует </a:t>
            </a:r>
            <a:r>
              <a:rPr lang="en-US" dirty="0"/>
              <a:t>b</a:t>
            </a:r>
            <a:endParaRPr lang="ru-RU" dirty="0"/>
          </a:p>
          <a:p>
            <a:pPr lvl="1"/>
            <a:r>
              <a:rPr lang="en-US" dirty="0">
                <a:latin typeface="Consolas" panose="020B0609020204030204" pitchFamily="49" charset="0"/>
              </a:rPr>
              <a:t>&gt; 0</a:t>
            </a:r>
            <a:r>
              <a:rPr lang="en-US" dirty="0"/>
              <a:t> – </a:t>
            </a:r>
            <a:r>
              <a:rPr lang="ru-RU" dirty="0"/>
              <a:t>строка </a:t>
            </a:r>
            <a:r>
              <a:rPr lang="en-US" dirty="0"/>
              <a:t>a </a:t>
            </a:r>
            <a:r>
              <a:rPr lang="ru-RU" dirty="0"/>
              <a:t>следует за </a:t>
            </a:r>
            <a:r>
              <a:rPr lang="en-US" dirty="0"/>
              <a:t>b</a:t>
            </a:r>
          </a:p>
          <a:p>
            <a:r>
              <a:rPr lang="ru-RU" dirty="0"/>
              <a:t>Принцип работы: сравнение до первого различия или до встречи </a:t>
            </a:r>
            <a:r>
              <a:rPr lang="en-US" dirty="0">
                <a:latin typeface="Consolas" panose="020B0609020204030204" pitchFamily="49" charset="0"/>
              </a:rPr>
              <a:t>'\0'</a:t>
            </a:r>
            <a:r>
              <a:rPr lang="en-US" dirty="0"/>
              <a:t>.</a:t>
            </a:r>
            <a:endParaRPr lang="ru-RU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23902563-8861-79CB-6578-4C0F6BFA974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35E9561-002A-41EF-B5BA-43A01A72A4F8}" type="slidenum">
              <a:rPr lang="en-US" smtClean="0"/>
              <a:t>15</a:t>
            </a:fld>
            <a:endParaRPr lang="en-US" dirty="0"/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B7DE3C26-B23A-A580-E625-33FEE9D23A5F}"/>
              </a:ext>
            </a:extLst>
          </p:cNvPr>
          <p:cNvSpPr txBox="1"/>
          <p:nvPr/>
        </p:nvSpPr>
        <p:spPr>
          <a:xfrm>
            <a:off x="6096001" y="1822916"/>
            <a:ext cx="6095999" cy="440120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buNone/>
            </a:pPr>
            <a:r>
              <a:rPr lang="en-US" sz="1400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#include</a:t>
            </a:r>
            <a:r>
              <a:rPr lang="en-US" sz="14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400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&lt;</a:t>
            </a:r>
            <a:r>
              <a:rPr lang="en-US" sz="1400" b="0" dirty="0" err="1">
                <a:solidFill>
                  <a:srgbClr val="A31515"/>
                </a:solidFill>
                <a:effectLst/>
                <a:latin typeface="Consolas" panose="020B0609020204030204" pitchFamily="49" charset="0"/>
              </a:rPr>
              <a:t>stdio.h</a:t>
            </a:r>
            <a:r>
              <a:rPr lang="en-US" sz="1400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&gt;</a:t>
            </a:r>
            <a:endParaRPr lang="en-US" sz="1400" b="0" dirty="0">
              <a:solidFill>
                <a:srgbClr val="000000"/>
              </a:solidFill>
              <a:effectLst/>
              <a:latin typeface="Consolas" panose="020B0609020204030204" pitchFamily="49" charset="0"/>
            </a:endParaRPr>
          </a:p>
          <a:p>
            <a:pPr>
              <a:buNone/>
            </a:pPr>
            <a:endParaRPr lang="en-US" sz="1400" b="0" dirty="0">
              <a:solidFill>
                <a:srgbClr val="000000"/>
              </a:solidFill>
              <a:effectLst/>
              <a:latin typeface="Consolas" panose="020B0609020204030204" pitchFamily="49" charset="0"/>
            </a:endParaRPr>
          </a:p>
          <a:p>
            <a:pPr>
              <a:buNone/>
            </a:pPr>
            <a:r>
              <a:rPr lang="en-US" sz="1400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int</a:t>
            </a:r>
            <a:r>
              <a:rPr lang="en-US" sz="14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400" b="0" dirty="0" err="1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MyStrCmp</a:t>
            </a:r>
            <a:r>
              <a:rPr lang="en-US" sz="14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sz="1400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const</a:t>
            </a:r>
            <a:r>
              <a:rPr lang="en-US" sz="14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400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char</a:t>
            </a:r>
            <a:r>
              <a:rPr lang="en-US" sz="14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a[], </a:t>
            </a:r>
            <a:r>
              <a:rPr lang="en-US" sz="1400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const</a:t>
            </a:r>
            <a:r>
              <a:rPr lang="en-US" sz="14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400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char</a:t>
            </a:r>
            <a:r>
              <a:rPr lang="en-US" sz="14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b[]) {</a:t>
            </a:r>
          </a:p>
          <a:p>
            <a:pPr>
              <a:buNone/>
            </a:pPr>
            <a:r>
              <a:rPr lang="en-US" sz="14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 </a:t>
            </a:r>
            <a:r>
              <a:rPr lang="en-US" sz="1400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int</a:t>
            </a:r>
            <a:r>
              <a:rPr lang="en-US" sz="14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400" b="0" dirty="0" err="1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i</a:t>
            </a:r>
            <a:r>
              <a:rPr lang="en-US" sz="14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= </a:t>
            </a:r>
            <a:r>
              <a:rPr lang="en-US" sz="1400" b="0" dirty="0">
                <a:solidFill>
                  <a:srgbClr val="098658"/>
                </a:solidFill>
                <a:effectLst/>
                <a:latin typeface="Consolas" panose="020B0609020204030204" pitchFamily="49" charset="0"/>
              </a:rPr>
              <a:t>0</a:t>
            </a:r>
            <a:r>
              <a:rPr lang="en-US" sz="14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;</a:t>
            </a:r>
          </a:p>
          <a:p>
            <a:pPr>
              <a:buNone/>
            </a:pPr>
            <a:endParaRPr lang="en-US" sz="1400" b="0" dirty="0">
              <a:solidFill>
                <a:srgbClr val="000000"/>
              </a:solidFill>
              <a:effectLst/>
              <a:latin typeface="Consolas" panose="020B0609020204030204" pitchFamily="49" charset="0"/>
            </a:endParaRPr>
          </a:p>
          <a:p>
            <a:pPr>
              <a:buNone/>
            </a:pPr>
            <a:r>
              <a:rPr lang="en-US" sz="14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 </a:t>
            </a:r>
            <a:r>
              <a:rPr lang="en-US" sz="1400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while</a:t>
            </a:r>
            <a:r>
              <a:rPr lang="en-US" sz="14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(a[</a:t>
            </a:r>
            <a:r>
              <a:rPr lang="en-US" sz="1400" b="0" dirty="0" err="1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i</a:t>
            </a:r>
            <a:r>
              <a:rPr lang="en-US" sz="14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] == b[</a:t>
            </a:r>
            <a:r>
              <a:rPr lang="en-US" sz="1400" b="0" dirty="0" err="1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i</a:t>
            </a:r>
            <a:r>
              <a:rPr lang="en-US" sz="14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]) {</a:t>
            </a:r>
          </a:p>
          <a:p>
            <a:pPr>
              <a:buNone/>
            </a:pPr>
            <a:r>
              <a:rPr lang="en-US" sz="14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   </a:t>
            </a:r>
            <a:r>
              <a:rPr lang="en-US" sz="1400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if</a:t>
            </a:r>
            <a:r>
              <a:rPr lang="en-US" sz="14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(a[</a:t>
            </a:r>
            <a:r>
              <a:rPr lang="en-US" sz="1400" b="0" dirty="0" err="1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i</a:t>
            </a:r>
            <a:r>
              <a:rPr lang="en-US" sz="14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] == </a:t>
            </a:r>
            <a:r>
              <a:rPr lang="en-US" sz="1400" b="0" dirty="0">
                <a:solidFill>
                  <a:srgbClr val="A31515"/>
                </a:solidFill>
                <a:effectLst/>
                <a:latin typeface="Consolas" panose="020B0609020204030204" pitchFamily="49" charset="0"/>
              </a:rPr>
              <a:t>'\0'</a:t>
            </a:r>
            <a:r>
              <a:rPr lang="en-US" sz="14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) {</a:t>
            </a:r>
          </a:p>
          <a:p>
            <a:pPr>
              <a:buNone/>
            </a:pPr>
            <a:r>
              <a:rPr lang="en-US" sz="14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     </a:t>
            </a:r>
            <a:r>
              <a:rPr lang="en-US" sz="1400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return</a:t>
            </a:r>
            <a:r>
              <a:rPr lang="en-US" sz="14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400" b="0" dirty="0">
                <a:solidFill>
                  <a:srgbClr val="098658"/>
                </a:solidFill>
                <a:effectLst/>
                <a:latin typeface="Consolas" panose="020B0609020204030204" pitchFamily="49" charset="0"/>
              </a:rPr>
              <a:t>0</a:t>
            </a:r>
            <a:r>
              <a:rPr lang="en-US" sz="14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; </a:t>
            </a:r>
            <a:r>
              <a:rPr lang="en-US" sz="1400" b="0" dirty="0">
                <a:solidFill>
                  <a:srgbClr val="008000"/>
                </a:solidFill>
                <a:effectLst/>
                <a:latin typeface="Consolas" panose="020B0609020204030204" pitchFamily="49" charset="0"/>
              </a:rPr>
              <a:t>// </a:t>
            </a:r>
            <a:r>
              <a:rPr lang="ru-RU" sz="1400" b="0" dirty="0">
                <a:solidFill>
                  <a:srgbClr val="008000"/>
                </a:solidFill>
                <a:effectLst/>
                <a:latin typeface="Consolas" panose="020B0609020204030204" pitchFamily="49" charset="0"/>
              </a:rPr>
              <a:t>Строки закончились -&gt; равны</a:t>
            </a:r>
            <a:endParaRPr lang="ru-RU" sz="1400" b="0" dirty="0">
              <a:solidFill>
                <a:srgbClr val="000000"/>
              </a:solidFill>
              <a:effectLst/>
              <a:latin typeface="Consolas" panose="020B0609020204030204" pitchFamily="49" charset="0"/>
            </a:endParaRPr>
          </a:p>
          <a:p>
            <a:pPr>
              <a:buNone/>
            </a:pPr>
            <a:r>
              <a:rPr lang="en-US" sz="14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   </a:t>
            </a:r>
            <a:r>
              <a:rPr lang="ru-RU" sz="14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}</a:t>
            </a:r>
          </a:p>
          <a:p>
            <a:pPr>
              <a:buNone/>
            </a:pPr>
            <a:r>
              <a:rPr lang="en-US" sz="14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   </a:t>
            </a:r>
            <a:r>
              <a:rPr lang="en-US" sz="1400" b="0" dirty="0" err="1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i</a:t>
            </a:r>
            <a:r>
              <a:rPr lang="en-US" sz="14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++;</a:t>
            </a:r>
          </a:p>
          <a:p>
            <a:pPr>
              <a:buNone/>
            </a:pPr>
            <a:r>
              <a:rPr lang="en-US" sz="14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 }</a:t>
            </a:r>
          </a:p>
          <a:p>
            <a:pPr>
              <a:buNone/>
            </a:pPr>
            <a:endParaRPr lang="en-US" sz="1400" b="0" dirty="0">
              <a:solidFill>
                <a:srgbClr val="000000"/>
              </a:solidFill>
              <a:effectLst/>
              <a:latin typeface="Consolas" panose="020B0609020204030204" pitchFamily="49" charset="0"/>
            </a:endParaRPr>
          </a:p>
          <a:p>
            <a:pPr>
              <a:buNone/>
            </a:pPr>
            <a:r>
              <a:rPr lang="en-US" sz="14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 </a:t>
            </a:r>
            <a:r>
              <a:rPr lang="en-US" sz="1400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return</a:t>
            </a:r>
            <a:r>
              <a:rPr lang="en-US" sz="14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(</a:t>
            </a:r>
            <a:r>
              <a:rPr lang="en-US" sz="1400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unsigned</a:t>
            </a:r>
            <a:r>
              <a:rPr lang="en-US" sz="14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400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char</a:t>
            </a:r>
            <a:r>
              <a:rPr lang="en-US" sz="14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)a[</a:t>
            </a:r>
            <a:r>
              <a:rPr lang="en-US" sz="1400" b="0" dirty="0" err="1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i</a:t>
            </a:r>
            <a:r>
              <a:rPr lang="en-US" sz="14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] - (</a:t>
            </a:r>
            <a:r>
              <a:rPr lang="en-US" sz="1400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unsigned</a:t>
            </a:r>
            <a:r>
              <a:rPr lang="en-US" sz="14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400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char</a:t>
            </a:r>
            <a:r>
              <a:rPr lang="en-US" sz="14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)b[</a:t>
            </a:r>
            <a:r>
              <a:rPr lang="en-US" sz="1400" b="0" dirty="0" err="1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i</a:t>
            </a:r>
            <a:r>
              <a:rPr lang="en-US" sz="14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];</a:t>
            </a:r>
          </a:p>
          <a:p>
            <a:pPr>
              <a:buNone/>
            </a:pPr>
            <a:r>
              <a:rPr lang="en-US" sz="14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}</a:t>
            </a:r>
          </a:p>
          <a:p>
            <a:pPr>
              <a:buNone/>
            </a:pPr>
            <a:endParaRPr lang="en-US" sz="1400" b="0" dirty="0">
              <a:solidFill>
                <a:srgbClr val="000000"/>
              </a:solidFill>
              <a:effectLst/>
              <a:latin typeface="Consolas" panose="020B0609020204030204" pitchFamily="49" charset="0"/>
            </a:endParaRPr>
          </a:p>
          <a:p>
            <a:pPr>
              <a:buNone/>
            </a:pPr>
            <a:r>
              <a:rPr lang="en-US" sz="1400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int</a:t>
            </a:r>
            <a:r>
              <a:rPr lang="en-US" sz="14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main() {</a:t>
            </a:r>
          </a:p>
          <a:p>
            <a:pPr>
              <a:buNone/>
            </a:pPr>
            <a:r>
              <a:rPr lang="en-US" sz="14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sz="1400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char</a:t>
            </a:r>
            <a:r>
              <a:rPr lang="en-US" sz="14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s1[] = </a:t>
            </a:r>
            <a:r>
              <a:rPr lang="en-US" sz="1400" b="0" dirty="0">
                <a:solidFill>
                  <a:srgbClr val="A31515"/>
                </a:solidFill>
                <a:effectLst/>
                <a:latin typeface="Consolas" panose="020B0609020204030204" pitchFamily="49" charset="0"/>
              </a:rPr>
              <a:t>"Hello"</a:t>
            </a:r>
            <a:r>
              <a:rPr lang="en-US" sz="14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;</a:t>
            </a:r>
          </a:p>
          <a:p>
            <a:pPr>
              <a:buNone/>
            </a:pPr>
            <a:r>
              <a:rPr lang="en-US" sz="14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sz="1400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char</a:t>
            </a:r>
            <a:r>
              <a:rPr lang="en-US" sz="14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s2[] = </a:t>
            </a:r>
            <a:r>
              <a:rPr lang="en-US" sz="1400" b="0" dirty="0">
                <a:solidFill>
                  <a:srgbClr val="A31515"/>
                </a:solidFill>
                <a:effectLst/>
                <a:latin typeface="Consolas" panose="020B0609020204030204" pitchFamily="49" charset="0"/>
              </a:rPr>
              <a:t>"Hello1"</a:t>
            </a:r>
            <a:r>
              <a:rPr lang="en-US" sz="14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;</a:t>
            </a:r>
          </a:p>
          <a:p>
            <a:pPr>
              <a:buNone/>
            </a:pPr>
            <a:r>
              <a:rPr lang="en-US" sz="14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sz="1400" b="0" dirty="0" err="1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printf</a:t>
            </a:r>
            <a:r>
              <a:rPr lang="en-US" sz="14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sz="1400" b="0" dirty="0">
                <a:solidFill>
                  <a:srgbClr val="A31515"/>
                </a:solidFill>
                <a:effectLst/>
                <a:latin typeface="Consolas" panose="020B0609020204030204" pitchFamily="49" charset="0"/>
              </a:rPr>
              <a:t>"%d\n"</a:t>
            </a:r>
            <a:r>
              <a:rPr lang="en-US" sz="14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, </a:t>
            </a:r>
            <a:r>
              <a:rPr lang="en-US" sz="1400" b="0" dirty="0" err="1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MyStrCmp</a:t>
            </a:r>
            <a:r>
              <a:rPr lang="en-US" sz="14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(s1, s2));</a:t>
            </a:r>
          </a:p>
          <a:p>
            <a:pPr>
              <a:buNone/>
            </a:pPr>
            <a:r>
              <a:rPr lang="en-US" sz="14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}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4C1048E0-D867-C0C2-494E-992A3A37A7E7}"/>
              </a:ext>
            </a:extLst>
          </p:cNvPr>
          <p:cNvSpPr txBox="1"/>
          <p:nvPr/>
        </p:nvSpPr>
        <p:spPr>
          <a:xfrm>
            <a:off x="6096000" y="6356349"/>
            <a:ext cx="3513513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dirty="0">
                <a:hlinkClick r:id="rId3"/>
              </a:rPr>
              <a:t>https://godbolt.org/z/6nr9r7ad7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737043968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FA02EA2-83A5-B635-AFF7-B417B026369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dirty="0"/>
              <a:t>Указатели на </a:t>
            </a:r>
            <a:r>
              <a:rPr lang="en-US" dirty="0"/>
              <a:t>char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5519902-975C-329D-CC7D-B10BF48944FA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fontScale="92500" lnSpcReduction="10000"/>
          </a:bodyPr>
          <a:lstStyle/>
          <a:p>
            <a:r>
              <a:rPr lang="ru-RU" b="1" dirty="0"/>
              <a:t>Что такое указатель</a:t>
            </a:r>
          </a:p>
          <a:p>
            <a:pPr lvl="1"/>
            <a:r>
              <a:rPr lang="ru-RU" dirty="0"/>
              <a:t>Указатель — это переменная, хранящая адрес в памяти.</a:t>
            </a:r>
          </a:p>
          <a:p>
            <a:pPr lvl="1"/>
            <a:r>
              <a:rPr lang="ru-RU" dirty="0" err="1"/>
              <a:t>char</a:t>
            </a:r>
            <a:r>
              <a:rPr lang="ru-RU" dirty="0"/>
              <a:t> *p;</a:t>
            </a:r>
            <a:r>
              <a:rPr lang="en-US" dirty="0"/>
              <a:t> // </a:t>
            </a:r>
            <a:r>
              <a:rPr lang="ru-RU" dirty="0"/>
              <a:t>p — указатель на объект типа </a:t>
            </a:r>
            <a:r>
              <a:rPr lang="ru-RU" dirty="0" err="1"/>
              <a:t>char</a:t>
            </a:r>
            <a:r>
              <a:rPr lang="ru-RU" dirty="0"/>
              <a:t>.</a:t>
            </a:r>
          </a:p>
          <a:p>
            <a:r>
              <a:rPr lang="ru-RU" b="1" dirty="0"/>
              <a:t>Пример</a:t>
            </a:r>
          </a:p>
          <a:p>
            <a:pPr lvl="1"/>
            <a:r>
              <a:rPr lang="ru-RU" dirty="0" err="1"/>
              <a:t>char</a:t>
            </a:r>
            <a:r>
              <a:rPr lang="ru-RU" dirty="0"/>
              <a:t> c = 'A’;</a:t>
            </a:r>
            <a:br>
              <a:rPr lang="en-US" dirty="0"/>
            </a:br>
            <a:r>
              <a:rPr lang="ru-RU" dirty="0" err="1"/>
              <a:t>char</a:t>
            </a:r>
            <a:r>
              <a:rPr lang="ru-RU" dirty="0"/>
              <a:t> *p = &amp;c;</a:t>
            </a:r>
          </a:p>
          <a:p>
            <a:pPr lvl="1"/>
            <a:r>
              <a:rPr lang="ru-RU" dirty="0"/>
              <a:t>c — хранит значение 65</a:t>
            </a:r>
          </a:p>
          <a:p>
            <a:pPr lvl="1"/>
            <a:r>
              <a:rPr lang="ru-RU" dirty="0"/>
              <a:t>&amp;c — адрес переменной</a:t>
            </a:r>
          </a:p>
          <a:p>
            <a:pPr lvl="1"/>
            <a:r>
              <a:rPr lang="ru-RU" dirty="0"/>
              <a:t>p — хранит этот адрес</a:t>
            </a:r>
          </a:p>
          <a:p>
            <a:r>
              <a:rPr lang="ru-RU" b="1" dirty="0"/>
              <a:t>Разыменование</a:t>
            </a:r>
          </a:p>
          <a:p>
            <a:pPr lvl="1"/>
            <a:r>
              <a:rPr lang="ru-RU" dirty="0"/>
              <a:t>*p   // значение по адресу</a:t>
            </a:r>
          </a:p>
          <a:p>
            <a:pPr lvl="1"/>
            <a:r>
              <a:rPr lang="ru-RU" dirty="0"/>
              <a:t>Если p указывает на c, то *p == 'A</a:t>
            </a:r>
            <a:r>
              <a:rPr lang="en-US" dirty="0"/>
              <a:t>'</a:t>
            </a:r>
            <a:r>
              <a:rPr lang="ru-RU" dirty="0"/>
              <a:t>.</a:t>
            </a:r>
          </a:p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6DF3A4A1-AF95-9898-AEC1-D49887B1E27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35E9561-002A-41EF-B5BA-43A01A72A4F8}" type="slidenum">
              <a:rPr lang="en-US" smtClean="0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997609251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63306E9-79A2-5582-8713-5D5F08FDA10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dirty="0"/>
              <a:t>Массивы и указатели</a:t>
            </a: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C3846EA2-A553-C6CB-E08E-4144F255F1FE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lnSpcReduction="10000"/>
          </a:bodyPr>
          <a:lstStyle/>
          <a:p>
            <a:r>
              <a:rPr lang="ru-RU" b="1" dirty="0"/>
              <a:t>Имя массива — это адрес первого элемента</a:t>
            </a:r>
          </a:p>
          <a:p>
            <a:pPr lvl="1"/>
            <a:r>
              <a:rPr lang="ru-RU" dirty="0" err="1"/>
              <a:t>char</a:t>
            </a:r>
            <a:r>
              <a:rPr lang="ru-RU" dirty="0"/>
              <a:t> s[] = "Hi";</a:t>
            </a:r>
          </a:p>
          <a:p>
            <a:pPr lvl="1"/>
            <a:r>
              <a:rPr lang="ru-RU" dirty="0"/>
              <a:t>Имя s в выражениях — это:</a:t>
            </a:r>
          </a:p>
          <a:p>
            <a:pPr lvl="1"/>
            <a:r>
              <a:rPr lang="ru-RU" dirty="0"/>
              <a:t>&amp;s[0]</a:t>
            </a:r>
          </a:p>
          <a:p>
            <a:r>
              <a:rPr lang="ru-RU" b="1" dirty="0"/>
              <a:t>Эквивалентность записи</a:t>
            </a:r>
          </a:p>
          <a:p>
            <a:pPr lvl="1"/>
            <a:r>
              <a:rPr lang="ru-RU" dirty="0"/>
              <a:t>s[i]      // доступ к элементу массива по индексу</a:t>
            </a:r>
          </a:p>
          <a:p>
            <a:pPr lvl="1"/>
            <a:r>
              <a:rPr lang="ru-RU" dirty="0"/>
              <a:t>*(s + i)  // через указатель</a:t>
            </a:r>
          </a:p>
          <a:p>
            <a:r>
              <a:rPr lang="ru-RU" b="1" dirty="0"/>
              <a:t>Важно</a:t>
            </a:r>
          </a:p>
          <a:p>
            <a:pPr lvl="1"/>
            <a:r>
              <a:rPr lang="ru-RU" dirty="0"/>
              <a:t>Массив — это область памяти.</a:t>
            </a:r>
          </a:p>
          <a:p>
            <a:pPr lvl="1"/>
            <a:r>
              <a:rPr lang="ru-RU" dirty="0"/>
              <a:t>Указатель — это переменная, хранящая адрес.</a:t>
            </a:r>
          </a:p>
          <a:p>
            <a:pPr lvl="1"/>
            <a:r>
              <a:rPr lang="ru-RU" dirty="0"/>
              <a:t>Имя массива не является переменной-указателем.</a:t>
            </a:r>
          </a:p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08C36237-8FE0-4468-FB36-7D5F41FFC8C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35E9561-002A-41EF-B5BA-43A01A72A4F8}" type="slidenum">
              <a:rPr lang="en-US" smtClean="0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060668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B9E7361-54FE-3A16-5650-45E438FB97B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dirty="0"/>
              <a:t>Константность указателя и данных</a:t>
            </a: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90B0CE30-BE8D-47B5-5AAD-0B567602C4D5}"/>
              </a:ext>
            </a:extLst>
          </p:cNvPr>
          <p:cNvSpPr>
            <a:spLocks noGrp="1"/>
          </p:cNvSpPr>
          <p:nvPr>
            <p:ph sz="half" idx="1"/>
          </p:nvPr>
        </p:nvSpPr>
        <p:spPr/>
        <p:txBody>
          <a:bodyPr>
            <a:normAutofit fontScale="70000" lnSpcReduction="20000"/>
          </a:bodyPr>
          <a:lstStyle/>
          <a:p>
            <a:r>
              <a:rPr lang="ru-RU" b="1" dirty="0"/>
              <a:t>Указатель на константные данные</a:t>
            </a:r>
          </a:p>
          <a:p>
            <a:pPr lvl="1"/>
            <a:r>
              <a:rPr lang="ru-RU" dirty="0" err="1">
                <a:latin typeface="Consolas" panose="020B0609020204030204" pitchFamily="49" charset="0"/>
              </a:rPr>
              <a:t>const</a:t>
            </a:r>
            <a:r>
              <a:rPr lang="ru-RU" dirty="0">
                <a:latin typeface="Consolas" panose="020B0609020204030204" pitchFamily="49" charset="0"/>
              </a:rPr>
              <a:t> </a:t>
            </a:r>
            <a:r>
              <a:rPr lang="ru-RU" dirty="0" err="1">
                <a:latin typeface="Consolas" panose="020B0609020204030204" pitchFamily="49" charset="0"/>
              </a:rPr>
              <a:t>char</a:t>
            </a:r>
            <a:r>
              <a:rPr lang="ru-RU" dirty="0">
                <a:latin typeface="Consolas" panose="020B0609020204030204" pitchFamily="49" charset="0"/>
              </a:rPr>
              <a:t> *p;</a:t>
            </a:r>
          </a:p>
          <a:p>
            <a:pPr lvl="1"/>
            <a:r>
              <a:rPr lang="ru-RU" dirty="0"/>
              <a:t>Нельзя изменять данные через p</a:t>
            </a:r>
          </a:p>
          <a:p>
            <a:pPr lvl="1"/>
            <a:r>
              <a:rPr lang="ru-RU" dirty="0"/>
              <a:t>Можно изменять сам указатель</a:t>
            </a:r>
          </a:p>
          <a:p>
            <a:pPr marL="914400" lvl="2" indent="0">
              <a:buNone/>
            </a:pPr>
            <a:r>
              <a:rPr lang="ru-RU" dirty="0">
                <a:latin typeface="Consolas" panose="020B0609020204030204" pitchFamily="49" charset="0"/>
              </a:rPr>
              <a:t>*p = 'A';   // ошибка</a:t>
            </a:r>
            <a:br>
              <a:rPr lang="ru-RU" dirty="0">
                <a:latin typeface="Consolas" panose="020B0609020204030204" pitchFamily="49" charset="0"/>
              </a:rPr>
            </a:br>
            <a:r>
              <a:rPr lang="ru-RU" dirty="0">
                <a:latin typeface="Consolas" panose="020B0609020204030204" pitchFamily="49" charset="0"/>
              </a:rPr>
              <a:t>p = </a:t>
            </a:r>
            <a:r>
              <a:rPr lang="ru-RU" dirty="0" err="1">
                <a:latin typeface="Consolas" panose="020B0609020204030204" pitchFamily="49" charset="0"/>
              </a:rPr>
              <a:t>other</a:t>
            </a:r>
            <a:r>
              <a:rPr lang="ru-RU" dirty="0">
                <a:latin typeface="Consolas" panose="020B0609020204030204" pitchFamily="49" charset="0"/>
              </a:rPr>
              <a:t>;  // допустимо</a:t>
            </a:r>
          </a:p>
          <a:p>
            <a:r>
              <a:rPr lang="ru-RU" b="1" dirty="0"/>
              <a:t>Константный указатель</a:t>
            </a:r>
          </a:p>
          <a:p>
            <a:pPr lvl="1"/>
            <a:r>
              <a:rPr lang="ru-RU" dirty="0" err="1">
                <a:latin typeface="Consolas" panose="020B0609020204030204" pitchFamily="49" charset="0"/>
              </a:rPr>
              <a:t>char</a:t>
            </a:r>
            <a:r>
              <a:rPr lang="ru-RU" dirty="0">
                <a:latin typeface="Consolas" panose="020B0609020204030204" pitchFamily="49" charset="0"/>
              </a:rPr>
              <a:t> *</a:t>
            </a:r>
            <a:r>
              <a:rPr lang="ru-RU" dirty="0" err="1">
                <a:latin typeface="Consolas" panose="020B0609020204030204" pitchFamily="49" charset="0"/>
              </a:rPr>
              <a:t>const</a:t>
            </a:r>
            <a:r>
              <a:rPr lang="ru-RU" dirty="0">
                <a:latin typeface="Consolas" panose="020B0609020204030204" pitchFamily="49" charset="0"/>
              </a:rPr>
              <a:t> p = s;</a:t>
            </a:r>
          </a:p>
          <a:p>
            <a:pPr lvl="1"/>
            <a:r>
              <a:rPr lang="ru-RU" dirty="0"/>
              <a:t>Можно изменять данные</a:t>
            </a:r>
          </a:p>
          <a:p>
            <a:pPr lvl="1"/>
            <a:r>
              <a:rPr lang="ru-RU" dirty="0"/>
              <a:t>Нельзя изменить адрес, хранящийся в p</a:t>
            </a:r>
          </a:p>
          <a:p>
            <a:pPr marL="914400" lvl="2" indent="0">
              <a:buNone/>
            </a:pPr>
            <a:r>
              <a:rPr lang="ru-RU" dirty="0">
                <a:latin typeface="Consolas" panose="020B0609020204030204" pitchFamily="49" charset="0"/>
              </a:rPr>
              <a:t>*p = 'A';   // допустимо</a:t>
            </a:r>
            <a:br>
              <a:rPr lang="ru-RU" dirty="0">
                <a:latin typeface="Consolas" panose="020B0609020204030204" pitchFamily="49" charset="0"/>
              </a:rPr>
            </a:br>
            <a:r>
              <a:rPr lang="ru-RU" dirty="0">
                <a:latin typeface="Consolas" panose="020B0609020204030204" pitchFamily="49" charset="0"/>
              </a:rPr>
              <a:t>p = </a:t>
            </a:r>
            <a:r>
              <a:rPr lang="ru-RU" dirty="0" err="1">
                <a:latin typeface="Consolas" panose="020B0609020204030204" pitchFamily="49" charset="0"/>
              </a:rPr>
              <a:t>other</a:t>
            </a:r>
            <a:r>
              <a:rPr lang="ru-RU" dirty="0">
                <a:latin typeface="Consolas" panose="020B0609020204030204" pitchFamily="49" charset="0"/>
              </a:rPr>
              <a:t>;  // ошибка</a:t>
            </a:r>
          </a:p>
          <a:p>
            <a:r>
              <a:rPr lang="ru-RU" b="1" dirty="0"/>
              <a:t>Константный указатель на константные данные</a:t>
            </a:r>
          </a:p>
          <a:p>
            <a:pPr lvl="1"/>
            <a:r>
              <a:rPr lang="ru-RU" dirty="0" err="1">
                <a:latin typeface="Consolas" panose="020B0609020204030204" pitchFamily="49" charset="0"/>
              </a:rPr>
              <a:t>const</a:t>
            </a:r>
            <a:r>
              <a:rPr lang="ru-RU" dirty="0">
                <a:latin typeface="Consolas" panose="020B0609020204030204" pitchFamily="49" charset="0"/>
              </a:rPr>
              <a:t> </a:t>
            </a:r>
            <a:r>
              <a:rPr lang="ru-RU" dirty="0" err="1">
                <a:latin typeface="Consolas" panose="020B0609020204030204" pitchFamily="49" charset="0"/>
              </a:rPr>
              <a:t>char</a:t>
            </a:r>
            <a:r>
              <a:rPr lang="ru-RU" dirty="0">
                <a:latin typeface="Consolas" panose="020B0609020204030204" pitchFamily="49" charset="0"/>
              </a:rPr>
              <a:t> *</a:t>
            </a:r>
            <a:r>
              <a:rPr lang="ru-RU" dirty="0" err="1">
                <a:latin typeface="Consolas" panose="020B0609020204030204" pitchFamily="49" charset="0"/>
              </a:rPr>
              <a:t>const</a:t>
            </a:r>
            <a:r>
              <a:rPr lang="ru-RU" dirty="0">
                <a:latin typeface="Consolas" panose="020B0609020204030204" pitchFamily="49" charset="0"/>
              </a:rPr>
              <a:t> p = s;</a:t>
            </a:r>
          </a:p>
          <a:p>
            <a:pPr lvl="1"/>
            <a:r>
              <a:rPr lang="ru-RU" dirty="0"/>
              <a:t>Нельзя изменять данные</a:t>
            </a:r>
          </a:p>
          <a:p>
            <a:pPr lvl="1"/>
            <a:r>
              <a:rPr lang="ru-RU" dirty="0"/>
              <a:t>Нельзя изменять указатель</a:t>
            </a:r>
          </a:p>
        </p:txBody>
      </p:sp>
      <p:sp>
        <p:nvSpPr>
          <p:cNvPr id="7" name="Content Placeholder 6">
            <a:extLst>
              <a:ext uri="{FF2B5EF4-FFF2-40B4-BE49-F238E27FC236}">
                <a16:creationId xmlns:a16="http://schemas.microsoft.com/office/drawing/2014/main" id="{27CC65CB-E9B2-5E98-C4DC-C42FB0DE0199}"/>
              </a:ext>
            </a:extLst>
          </p:cNvPr>
          <p:cNvSpPr>
            <a:spLocks noGrp="1"/>
          </p:cNvSpPr>
          <p:nvPr>
            <p:ph sz="half" idx="2"/>
          </p:nvPr>
        </p:nvSpPr>
        <p:spPr/>
        <p:txBody>
          <a:bodyPr/>
          <a:lstStyle/>
          <a:p>
            <a:r>
              <a:rPr lang="ru-RU" b="1" dirty="0"/>
              <a:t>Как читать объявление</a:t>
            </a:r>
          </a:p>
          <a:p>
            <a:pPr lvl="1"/>
            <a:r>
              <a:rPr lang="ru-RU" b="1" dirty="0" err="1"/>
              <a:t>const</a:t>
            </a:r>
            <a:r>
              <a:rPr lang="ru-RU" dirty="0"/>
              <a:t> относится к тому, что стоит справа от него. Если справа ничего нет — относится к тому, что слева.</a:t>
            </a:r>
          </a:p>
          <a:p>
            <a:r>
              <a:rPr lang="ru-RU" b="1" dirty="0"/>
              <a:t>Пример</a:t>
            </a:r>
          </a:p>
          <a:p>
            <a:pPr lvl="1"/>
            <a:r>
              <a:rPr lang="ru-RU" dirty="0" err="1"/>
              <a:t>size_t</a:t>
            </a:r>
            <a:r>
              <a:rPr lang="ru-RU" dirty="0"/>
              <a:t> </a:t>
            </a:r>
            <a:r>
              <a:rPr lang="ru-RU" dirty="0" err="1"/>
              <a:t>strlen</a:t>
            </a:r>
            <a:r>
              <a:rPr lang="ru-RU" dirty="0"/>
              <a:t>(</a:t>
            </a:r>
            <a:r>
              <a:rPr lang="ru-RU" dirty="0" err="1"/>
              <a:t>const</a:t>
            </a:r>
            <a:r>
              <a:rPr lang="ru-RU" dirty="0"/>
              <a:t> </a:t>
            </a:r>
            <a:r>
              <a:rPr lang="ru-RU" dirty="0" err="1"/>
              <a:t>char</a:t>
            </a:r>
            <a:r>
              <a:rPr lang="ru-RU" dirty="0"/>
              <a:t> *s);</a:t>
            </a:r>
            <a:endParaRPr lang="en-US" dirty="0"/>
          </a:p>
          <a:p>
            <a:pPr lvl="1"/>
            <a:r>
              <a:rPr lang="ru-RU" dirty="0"/>
              <a:t>Функция не изменяет строку.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8131645-CA9C-53A1-A3BE-17FF8BD58B6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35E9561-002A-41EF-B5BA-43A01A72A4F8}" type="slidenum">
              <a:rPr lang="en-US" smtClean="0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788207416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8617376-D448-7D20-E648-757B44C391E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dirty="0"/>
              <a:t>Стандартная библиотека работы со строками </a:t>
            </a:r>
            <a:r>
              <a:rPr lang="en-US" dirty="0" err="1"/>
              <a:t>string.h</a:t>
            </a: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5486D1C-98E2-4574-A87A-2EC91C27FD0C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fontScale="62500" lnSpcReduction="20000"/>
          </a:bodyPr>
          <a:lstStyle/>
          <a:p>
            <a:r>
              <a:rPr lang="ru-RU" b="1" dirty="0"/>
              <a:t>Назначение</a:t>
            </a:r>
          </a:p>
          <a:p>
            <a:pPr lvl="1"/>
            <a:r>
              <a:rPr lang="ru-RU" dirty="0"/>
              <a:t>&lt;</a:t>
            </a:r>
            <a:r>
              <a:rPr lang="ru-RU" dirty="0" err="1"/>
              <a:t>string.h</a:t>
            </a:r>
            <a:r>
              <a:rPr lang="ru-RU" dirty="0"/>
              <a:t>&gt; содержит стандартные функции для работы со строками в формате C-строк (массив </a:t>
            </a:r>
            <a:r>
              <a:rPr lang="ru-RU" dirty="0" err="1"/>
              <a:t>char</a:t>
            </a:r>
            <a:r>
              <a:rPr lang="ru-RU" dirty="0"/>
              <a:t>, завершающийся '\0').</a:t>
            </a:r>
          </a:p>
          <a:p>
            <a:r>
              <a:rPr lang="ru-RU" b="1" dirty="0"/>
              <a:t>Основные функции</a:t>
            </a:r>
          </a:p>
          <a:p>
            <a:pPr lvl="1"/>
            <a:r>
              <a:rPr lang="en-US" dirty="0" err="1"/>
              <a:t>strlen</a:t>
            </a:r>
            <a:r>
              <a:rPr lang="en-US" dirty="0"/>
              <a:t>(s)          // </a:t>
            </a:r>
            <a:r>
              <a:rPr lang="ru-RU" dirty="0"/>
              <a:t>длина строки</a:t>
            </a:r>
          </a:p>
          <a:p>
            <a:pPr lvl="1"/>
            <a:r>
              <a:rPr lang="en-US" dirty="0" err="1"/>
              <a:t>strcpy</a:t>
            </a:r>
            <a:r>
              <a:rPr lang="en-US" dirty="0"/>
              <a:t>(</a:t>
            </a:r>
            <a:r>
              <a:rPr lang="en-US" dirty="0" err="1"/>
              <a:t>dest</a:t>
            </a:r>
            <a:r>
              <a:rPr lang="en-US" dirty="0"/>
              <a:t>, </a:t>
            </a:r>
            <a:r>
              <a:rPr lang="en-US" dirty="0" err="1"/>
              <a:t>src</a:t>
            </a:r>
            <a:r>
              <a:rPr lang="en-US" dirty="0"/>
              <a:t>)  // </a:t>
            </a:r>
            <a:r>
              <a:rPr lang="ru-RU" dirty="0"/>
              <a:t>копирование строки</a:t>
            </a:r>
          </a:p>
          <a:p>
            <a:pPr lvl="1"/>
            <a:r>
              <a:rPr lang="en-US" dirty="0" err="1"/>
              <a:t>strncpy</a:t>
            </a:r>
            <a:r>
              <a:rPr lang="en-US" dirty="0"/>
              <a:t>(</a:t>
            </a:r>
            <a:r>
              <a:rPr lang="en-US" dirty="0" err="1"/>
              <a:t>dest</a:t>
            </a:r>
            <a:r>
              <a:rPr lang="en-US" dirty="0"/>
              <a:t>, </a:t>
            </a:r>
            <a:r>
              <a:rPr lang="en-US" dirty="0" err="1"/>
              <a:t>src</a:t>
            </a:r>
            <a:r>
              <a:rPr lang="en-US" dirty="0"/>
              <a:t>, n)</a:t>
            </a:r>
          </a:p>
          <a:p>
            <a:pPr marL="457200" lvl="1" indent="0">
              <a:buNone/>
            </a:pPr>
            <a:endParaRPr lang="en-US" dirty="0"/>
          </a:p>
          <a:p>
            <a:pPr lvl="1"/>
            <a:r>
              <a:rPr lang="en-US" dirty="0" err="1"/>
              <a:t>strcmp</a:t>
            </a:r>
            <a:r>
              <a:rPr lang="en-US" dirty="0"/>
              <a:t>(a, b)       // </a:t>
            </a:r>
            <a:r>
              <a:rPr lang="ru-RU" dirty="0"/>
              <a:t>сравнение строк</a:t>
            </a:r>
          </a:p>
          <a:p>
            <a:pPr lvl="1"/>
            <a:r>
              <a:rPr lang="en-US" dirty="0" err="1"/>
              <a:t>strncmp</a:t>
            </a:r>
            <a:r>
              <a:rPr lang="en-US" dirty="0"/>
              <a:t>(a, b, n)</a:t>
            </a:r>
          </a:p>
          <a:p>
            <a:pPr lvl="1"/>
            <a:endParaRPr lang="en-US" dirty="0"/>
          </a:p>
          <a:p>
            <a:pPr lvl="1"/>
            <a:r>
              <a:rPr lang="en-US" dirty="0" err="1"/>
              <a:t>strcat</a:t>
            </a:r>
            <a:r>
              <a:rPr lang="en-US" dirty="0"/>
              <a:t>(</a:t>
            </a:r>
            <a:r>
              <a:rPr lang="en-US" dirty="0" err="1"/>
              <a:t>dest</a:t>
            </a:r>
            <a:r>
              <a:rPr lang="en-US" dirty="0"/>
              <a:t>, </a:t>
            </a:r>
            <a:r>
              <a:rPr lang="en-US" dirty="0" err="1"/>
              <a:t>src</a:t>
            </a:r>
            <a:r>
              <a:rPr lang="en-US" dirty="0"/>
              <a:t>)  // </a:t>
            </a:r>
            <a:r>
              <a:rPr lang="ru-RU" dirty="0"/>
              <a:t>конкатенация строк</a:t>
            </a:r>
          </a:p>
          <a:p>
            <a:pPr lvl="1"/>
            <a:r>
              <a:rPr lang="en-US" dirty="0" err="1"/>
              <a:t>strncat</a:t>
            </a:r>
            <a:r>
              <a:rPr lang="en-US" dirty="0"/>
              <a:t>(</a:t>
            </a:r>
            <a:r>
              <a:rPr lang="en-US" dirty="0" err="1"/>
              <a:t>dest</a:t>
            </a:r>
            <a:r>
              <a:rPr lang="en-US" dirty="0"/>
              <a:t>, </a:t>
            </a:r>
            <a:r>
              <a:rPr lang="en-US" dirty="0" err="1"/>
              <a:t>src</a:t>
            </a:r>
            <a:r>
              <a:rPr lang="en-US" dirty="0"/>
              <a:t>, n)</a:t>
            </a:r>
          </a:p>
          <a:p>
            <a:r>
              <a:rPr lang="ru-RU" b="1" dirty="0"/>
              <a:t>Общие свойства</a:t>
            </a:r>
          </a:p>
          <a:p>
            <a:pPr lvl="1"/>
            <a:r>
              <a:rPr lang="ru-RU" dirty="0"/>
              <a:t>Работают до встречи '\0'.</a:t>
            </a:r>
          </a:p>
          <a:p>
            <a:pPr lvl="1"/>
            <a:r>
              <a:rPr lang="ru-RU" dirty="0"/>
              <a:t>Не проверяют автоматически размер буфера.</a:t>
            </a:r>
          </a:p>
          <a:p>
            <a:pPr lvl="1"/>
            <a:r>
              <a:rPr lang="ru-RU" dirty="0"/>
              <a:t>Получают адрес первого символа (</a:t>
            </a:r>
            <a:r>
              <a:rPr lang="ru-RU" dirty="0" err="1"/>
              <a:t>char</a:t>
            </a:r>
            <a:r>
              <a:rPr lang="ru-RU" dirty="0"/>
              <a:t> *).</a:t>
            </a:r>
          </a:p>
          <a:p>
            <a:pPr lvl="1"/>
            <a:r>
              <a:rPr lang="ru-RU" dirty="0"/>
              <a:t>Все функции реализуют те же принципы: последовательный обход памяти и сравнение байтов.</a:t>
            </a:r>
          </a:p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05506207-48C4-4172-ECE6-3DC8EAFB6E9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35E9561-002A-41EF-B5BA-43A01A72A4F8}" type="slidenum">
              <a:rPr lang="en-US" smtClean="0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746118724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37D14A9-B042-3190-CACB-4AF69DF5FFF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dirty="0"/>
              <a:t>Копирование строки с учётом длины</a:t>
            </a:r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E978A748-F610-4EFD-7F7C-5DB717D2487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35E9561-002A-41EF-B5BA-43A01A72A4F8}" type="slidenum">
              <a:rPr lang="en-US" smtClean="0"/>
              <a:t>20</a:t>
            </a:fld>
            <a:endParaRPr lang="en-US"/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F8EF014B-EF8E-0501-0565-8B1E05B475CA}"/>
              </a:ext>
            </a:extLst>
          </p:cNvPr>
          <p:cNvSpPr txBox="1"/>
          <p:nvPr/>
        </p:nvSpPr>
        <p:spPr>
          <a:xfrm>
            <a:off x="838200" y="1690688"/>
            <a:ext cx="10832869" cy="507831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buNone/>
            </a:pPr>
            <a:r>
              <a:rPr lang="en-US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#include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&lt;</a:t>
            </a:r>
            <a:r>
              <a:rPr lang="en-US" b="0" dirty="0" err="1">
                <a:solidFill>
                  <a:srgbClr val="A31515"/>
                </a:solidFill>
                <a:effectLst/>
                <a:latin typeface="Consolas" panose="020B0609020204030204" pitchFamily="49" charset="0"/>
              </a:rPr>
              <a:t>stdio.h</a:t>
            </a:r>
            <a:r>
              <a:rPr lang="en-US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&gt;</a:t>
            </a:r>
            <a:endParaRPr lang="en-US" b="0" dirty="0">
              <a:solidFill>
                <a:srgbClr val="000000"/>
              </a:solidFill>
              <a:effectLst/>
              <a:latin typeface="Consolas" panose="020B0609020204030204" pitchFamily="49" charset="0"/>
            </a:endParaRPr>
          </a:p>
          <a:p>
            <a:pPr>
              <a:buNone/>
            </a:pPr>
            <a:r>
              <a:rPr lang="en-US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#include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&lt;</a:t>
            </a:r>
            <a:r>
              <a:rPr lang="en-US" b="0" dirty="0" err="1">
                <a:solidFill>
                  <a:srgbClr val="A31515"/>
                </a:solidFill>
                <a:effectLst/>
                <a:latin typeface="Consolas" panose="020B0609020204030204" pitchFamily="49" charset="0"/>
              </a:rPr>
              <a:t>string.h</a:t>
            </a:r>
            <a:r>
              <a:rPr lang="en-US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&gt;</a:t>
            </a:r>
            <a:endParaRPr lang="en-US" b="0" dirty="0">
              <a:solidFill>
                <a:srgbClr val="000000"/>
              </a:solidFill>
              <a:effectLst/>
              <a:latin typeface="Consolas" panose="020B0609020204030204" pitchFamily="49" charset="0"/>
            </a:endParaRPr>
          </a:p>
          <a:p>
            <a:pPr>
              <a:buNone/>
            </a:pPr>
            <a:endParaRPr lang="en-US" b="0" dirty="0">
              <a:solidFill>
                <a:srgbClr val="000000"/>
              </a:solidFill>
              <a:effectLst/>
              <a:latin typeface="Consolas" panose="020B0609020204030204" pitchFamily="49" charset="0"/>
            </a:endParaRPr>
          </a:p>
          <a:p>
            <a:pPr>
              <a:buNone/>
            </a:pPr>
            <a:r>
              <a:rPr lang="en-US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int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main(</a:t>
            </a:r>
            <a:r>
              <a:rPr lang="en-US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void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)</a:t>
            </a:r>
            <a:r>
              <a:rPr lang="ru-RU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{</a:t>
            </a:r>
          </a:p>
          <a:p>
            <a:pPr>
              <a:buNone/>
            </a:pP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char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source[] = </a:t>
            </a:r>
            <a:r>
              <a:rPr lang="en-US" b="0" dirty="0">
                <a:solidFill>
                  <a:srgbClr val="A31515"/>
                </a:solidFill>
                <a:effectLst/>
                <a:latin typeface="Consolas" panose="020B0609020204030204" pitchFamily="49" charset="0"/>
              </a:rPr>
              <a:t>"Hello"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;</a:t>
            </a:r>
          </a:p>
          <a:p>
            <a:pPr>
              <a:buNone/>
            </a:pP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b="0" dirty="0" err="1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size_t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 err="1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len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= </a:t>
            </a:r>
            <a:r>
              <a:rPr lang="en-US" b="0" dirty="0" err="1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strlen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(source);</a:t>
            </a:r>
          </a:p>
          <a:p>
            <a:pPr>
              <a:buNone/>
            </a:pPr>
            <a:b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</a:b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char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dest1[</a:t>
            </a:r>
            <a:r>
              <a:rPr lang="en-US" b="0" dirty="0">
                <a:solidFill>
                  <a:srgbClr val="098658"/>
                </a:solidFill>
                <a:effectLst/>
                <a:latin typeface="Consolas" panose="020B0609020204030204" pitchFamily="49" charset="0"/>
              </a:rPr>
              <a:t>6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];</a:t>
            </a:r>
          </a:p>
          <a:p>
            <a:pPr>
              <a:buNone/>
            </a:pP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b="0" dirty="0" err="1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strcpy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(dest1, source);</a:t>
            </a:r>
          </a:p>
          <a:p>
            <a:pPr>
              <a:buNone/>
            </a:pPr>
            <a:b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</a:b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char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dest2[</a:t>
            </a:r>
            <a:r>
              <a:rPr lang="en-US" b="0" dirty="0">
                <a:solidFill>
                  <a:srgbClr val="098658"/>
                </a:solidFill>
                <a:effectLst/>
                <a:latin typeface="Consolas" panose="020B0609020204030204" pitchFamily="49" charset="0"/>
              </a:rPr>
              <a:t>6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];</a:t>
            </a:r>
          </a:p>
          <a:p>
            <a:pPr>
              <a:buNone/>
            </a:pP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b="0" dirty="0" err="1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strncpy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(dest2, source, </a:t>
            </a:r>
            <a:r>
              <a:rPr lang="en-US" b="0" dirty="0" err="1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sizeof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(dest2));</a:t>
            </a:r>
          </a:p>
          <a:p>
            <a:pPr>
              <a:buNone/>
            </a:pP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dest2[</a:t>
            </a:r>
            <a:r>
              <a:rPr lang="en-US" b="0" dirty="0" err="1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sizeof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(dest2) - </a:t>
            </a:r>
            <a:r>
              <a:rPr lang="en-US" b="0" dirty="0">
                <a:solidFill>
                  <a:srgbClr val="098658"/>
                </a:solidFill>
                <a:effectLst/>
                <a:latin typeface="Consolas" panose="020B0609020204030204" pitchFamily="49" charset="0"/>
              </a:rPr>
              <a:t>1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] = </a:t>
            </a:r>
            <a:r>
              <a:rPr lang="en-US" b="0" dirty="0">
                <a:solidFill>
                  <a:srgbClr val="A31515"/>
                </a:solidFill>
                <a:effectLst/>
                <a:latin typeface="Consolas" panose="020B0609020204030204" pitchFamily="49" charset="0"/>
              </a:rPr>
              <a:t>'\0'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;</a:t>
            </a:r>
          </a:p>
          <a:p>
            <a:pPr>
              <a:buNone/>
            </a:pPr>
            <a:b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</a:b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b="0" dirty="0" err="1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printf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b="0" dirty="0">
                <a:solidFill>
                  <a:srgbClr val="A31515"/>
                </a:solidFill>
                <a:effectLst/>
                <a:latin typeface="Consolas" panose="020B0609020204030204" pitchFamily="49" charset="0"/>
              </a:rPr>
              <a:t>"source: %s (</a:t>
            </a:r>
            <a:r>
              <a:rPr lang="en-US" b="0" dirty="0" err="1">
                <a:solidFill>
                  <a:srgbClr val="A31515"/>
                </a:solidFill>
                <a:effectLst/>
                <a:latin typeface="Consolas" panose="020B0609020204030204" pitchFamily="49" charset="0"/>
              </a:rPr>
              <a:t>len</a:t>
            </a:r>
            <a:r>
              <a:rPr lang="en-US" b="0" dirty="0">
                <a:solidFill>
                  <a:srgbClr val="A31515"/>
                </a:solidFill>
                <a:effectLst/>
                <a:latin typeface="Consolas" panose="020B0609020204030204" pitchFamily="49" charset="0"/>
              </a:rPr>
              <a:t> = %</a:t>
            </a:r>
            <a:r>
              <a:rPr lang="en-US" b="0" dirty="0" err="1">
                <a:solidFill>
                  <a:srgbClr val="A31515"/>
                </a:solidFill>
                <a:effectLst/>
                <a:latin typeface="Consolas" panose="020B0609020204030204" pitchFamily="49" charset="0"/>
              </a:rPr>
              <a:t>zu</a:t>
            </a:r>
            <a:r>
              <a:rPr lang="en-US" b="0" dirty="0">
                <a:solidFill>
                  <a:srgbClr val="A31515"/>
                </a:solidFill>
                <a:effectLst/>
                <a:latin typeface="Consolas" panose="020B0609020204030204" pitchFamily="49" charset="0"/>
              </a:rPr>
              <a:t>)\n"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, source, </a:t>
            </a:r>
            <a:r>
              <a:rPr lang="en-US" b="0" dirty="0" err="1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len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);</a:t>
            </a:r>
          </a:p>
          <a:p>
            <a:pPr>
              <a:buNone/>
            </a:pP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b="0" dirty="0" err="1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printf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b="0" dirty="0">
                <a:solidFill>
                  <a:srgbClr val="A31515"/>
                </a:solidFill>
                <a:effectLst/>
                <a:latin typeface="Consolas" panose="020B0609020204030204" pitchFamily="49" charset="0"/>
              </a:rPr>
              <a:t>"dest1 : %s\n"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, dest1);</a:t>
            </a:r>
          </a:p>
          <a:p>
            <a:pPr>
              <a:buNone/>
            </a:pP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b="0" dirty="0" err="1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printf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b="0" dirty="0">
                <a:solidFill>
                  <a:srgbClr val="A31515"/>
                </a:solidFill>
                <a:effectLst/>
                <a:latin typeface="Consolas" panose="020B0609020204030204" pitchFamily="49" charset="0"/>
              </a:rPr>
              <a:t>"dest2 : %s\n"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, dest2);</a:t>
            </a:r>
          </a:p>
          <a:p>
            <a:pPr>
              <a:buNone/>
            </a:pP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}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4066A26F-678C-41B1-7DCE-05A3E5523872}"/>
              </a:ext>
            </a:extLst>
          </p:cNvPr>
          <p:cNvSpPr txBox="1"/>
          <p:nvPr/>
        </p:nvSpPr>
        <p:spPr>
          <a:xfrm>
            <a:off x="7926186" y="5300316"/>
            <a:ext cx="3744883" cy="923330"/>
          </a:xfrm>
          <a:prstGeom prst="rect">
            <a:avLst/>
          </a:prstGeom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wrap="square">
            <a:spAutoFit/>
          </a:bodyPr>
          <a:lstStyle/>
          <a:p>
            <a:pPr algn="l">
              <a:buNone/>
            </a:pPr>
            <a:r>
              <a:rPr lang="en-US" b="0" i="0" dirty="0">
                <a:solidFill>
                  <a:schemeClr val="bg1"/>
                </a:solidFill>
                <a:effectLst/>
                <a:latin typeface="Courier New" panose="02070309020205020404" pitchFamily="49" charset="0"/>
              </a:rPr>
              <a:t>source: Hello (</a:t>
            </a:r>
            <a:r>
              <a:rPr lang="en-US" b="0" i="0" dirty="0" err="1">
                <a:solidFill>
                  <a:schemeClr val="bg1"/>
                </a:solidFill>
                <a:effectLst/>
                <a:latin typeface="Courier New" panose="02070309020205020404" pitchFamily="49" charset="0"/>
              </a:rPr>
              <a:t>len</a:t>
            </a:r>
            <a:r>
              <a:rPr lang="en-US" b="0" i="0" dirty="0">
                <a:solidFill>
                  <a:schemeClr val="bg1"/>
                </a:solidFill>
                <a:effectLst/>
                <a:latin typeface="Courier New" panose="02070309020205020404" pitchFamily="49" charset="0"/>
              </a:rPr>
              <a:t> = 5)</a:t>
            </a:r>
          </a:p>
          <a:p>
            <a:pPr algn="l">
              <a:buNone/>
            </a:pPr>
            <a:r>
              <a:rPr lang="en-US" b="0" i="0" dirty="0">
                <a:solidFill>
                  <a:schemeClr val="bg1"/>
                </a:solidFill>
                <a:effectLst/>
                <a:latin typeface="Courier New" panose="02070309020205020404" pitchFamily="49" charset="0"/>
              </a:rPr>
              <a:t>dest1 : Hello</a:t>
            </a:r>
          </a:p>
          <a:p>
            <a:pPr algn="l">
              <a:buNone/>
            </a:pPr>
            <a:r>
              <a:rPr lang="en-US" b="0" i="0" dirty="0">
                <a:solidFill>
                  <a:schemeClr val="bg1"/>
                </a:solidFill>
                <a:effectLst/>
                <a:latin typeface="Courier New" panose="02070309020205020404" pitchFamily="49" charset="0"/>
              </a:rPr>
              <a:t>dest2 : Hello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A289BA07-95CF-011E-7CD7-728BAA16355E}"/>
              </a:ext>
            </a:extLst>
          </p:cNvPr>
          <p:cNvSpPr txBox="1"/>
          <p:nvPr/>
        </p:nvSpPr>
        <p:spPr>
          <a:xfrm>
            <a:off x="7926186" y="4679966"/>
            <a:ext cx="3596641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dirty="0">
                <a:hlinkClick r:id="rId3"/>
              </a:rPr>
              <a:t>https://godbolt.org/z/6nr9r7ad7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493766576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C7D73D3-BC89-D6F2-C6D5-102487340D0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dirty="0"/>
              <a:t>Сравнение строк</a:t>
            </a:r>
            <a:endParaRPr lang="en-US" dirty="0"/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1002F3B9-375C-D500-4091-6DD60BB9138F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5"/>
            <a:ext cx="5013960" cy="4351338"/>
          </a:xfrm>
        </p:spPr>
        <p:txBody>
          <a:bodyPr>
            <a:normAutofit fontScale="92500" lnSpcReduction="10000"/>
          </a:bodyPr>
          <a:lstStyle/>
          <a:p>
            <a:r>
              <a:rPr lang="ru-RU" dirty="0" err="1"/>
              <a:t>strcmp</a:t>
            </a:r>
            <a:r>
              <a:rPr lang="ru-RU" dirty="0"/>
              <a:t> сравнивает строки полностью.</a:t>
            </a:r>
          </a:p>
          <a:p>
            <a:r>
              <a:rPr lang="ru-RU" dirty="0" err="1"/>
              <a:t>strncmp</a:t>
            </a:r>
            <a:r>
              <a:rPr lang="ru-RU" dirty="0"/>
              <a:t> сравнивает не более n первых символов.</a:t>
            </a:r>
          </a:p>
          <a:p>
            <a:r>
              <a:rPr lang="ru-RU" dirty="0"/>
              <a:t>Если первые n символов совпадают, результат равен 0.</a:t>
            </a:r>
          </a:p>
          <a:p>
            <a:r>
              <a:rPr lang="ru-RU" dirty="0"/>
              <a:t>Возвращаемое значение:</a:t>
            </a:r>
          </a:p>
          <a:p>
            <a:pPr lvl="1"/>
            <a:r>
              <a:rPr lang="ru-RU" dirty="0"/>
              <a:t>0 — строки равны (в пределах сравнения).</a:t>
            </a:r>
          </a:p>
          <a:p>
            <a:pPr lvl="1"/>
            <a:r>
              <a:rPr lang="ru-RU" dirty="0"/>
              <a:t>&lt; 0 — первая строка меньше.</a:t>
            </a:r>
          </a:p>
          <a:p>
            <a:pPr lvl="1"/>
            <a:r>
              <a:rPr lang="ru-RU" dirty="0"/>
              <a:t>&gt; 0 — первая строка больше.</a:t>
            </a:r>
          </a:p>
          <a:p>
            <a:endParaRPr lang="en-US" dirty="0"/>
          </a:p>
        </p:txBody>
      </p: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A84DD7C9-FB93-6137-4363-E83E07AE3BE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35E9561-002A-41EF-B5BA-43A01A72A4F8}" type="slidenum">
              <a:rPr lang="en-US" smtClean="0"/>
              <a:t>21</a:t>
            </a:fld>
            <a:endParaRPr lang="en-US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777DC107-EE78-3911-C9EA-3457297A961A}"/>
              </a:ext>
            </a:extLst>
          </p:cNvPr>
          <p:cNvSpPr txBox="1"/>
          <p:nvPr/>
        </p:nvSpPr>
        <p:spPr>
          <a:xfrm>
            <a:off x="6096000" y="1832035"/>
            <a:ext cx="5845233" cy="452431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buNone/>
            </a:pPr>
            <a:r>
              <a:rPr lang="en-US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#include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&lt;</a:t>
            </a:r>
            <a:r>
              <a:rPr lang="en-US" b="0" dirty="0" err="1">
                <a:solidFill>
                  <a:srgbClr val="A31515"/>
                </a:solidFill>
                <a:effectLst/>
                <a:latin typeface="Consolas" panose="020B0609020204030204" pitchFamily="49" charset="0"/>
              </a:rPr>
              <a:t>stdio.h</a:t>
            </a:r>
            <a:r>
              <a:rPr lang="en-US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&gt;</a:t>
            </a:r>
            <a:endParaRPr lang="en-US" b="0" dirty="0">
              <a:solidFill>
                <a:srgbClr val="000000"/>
              </a:solidFill>
              <a:effectLst/>
              <a:latin typeface="Consolas" panose="020B0609020204030204" pitchFamily="49" charset="0"/>
            </a:endParaRPr>
          </a:p>
          <a:p>
            <a:pPr>
              <a:buNone/>
            </a:pPr>
            <a:r>
              <a:rPr lang="en-US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#include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&lt;</a:t>
            </a:r>
            <a:r>
              <a:rPr lang="en-US" b="0" dirty="0" err="1">
                <a:solidFill>
                  <a:srgbClr val="A31515"/>
                </a:solidFill>
                <a:effectLst/>
                <a:latin typeface="Consolas" panose="020B0609020204030204" pitchFamily="49" charset="0"/>
              </a:rPr>
              <a:t>string.h</a:t>
            </a:r>
            <a:r>
              <a:rPr lang="en-US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&gt;</a:t>
            </a:r>
            <a:endParaRPr lang="en-US" b="0" dirty="0">
              <a:solidFill>
                <a:srgbClr val="000000"/>
              </a:solidFill>
              <a:effectLst/>
              <a:latin typeface="Consolas" panose="020B0609020204030204" pitchFamily="49" charset="0"/>
            </a:endParaRPr>
          </a:p>
          <a:p>
            <a:pPr>
              <a:buNone/>
            </a:pPr>
            <a:endParaRPr lang="en-US" b="0" dirty="0">
              <a:solidFill>
                <a:srgbClr val="000000"/>
              </a:solidFill>
              <a:effectLst/>
              <a:latin typeface="Consolas" panose="020B0609020204030204" pitchFamily="49" charset="0"/>
            </a:endParaRPr>
          </a:p>
          <a:p>
            <a:pPr>
              <a:buNone/>
            </a:pPr>
            <a:r>
              <a:rPr lang="en-US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int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main(</a:t>
            </a:r>
            <a:r>
              <a:rPr lang="en-US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void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)</a:t>
            </a:r>
            <a:r>
              <a:rPr lang="ru-RU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{</a:t>
            </a:r>
          </a:p>
          <a:p>
            <a:pPr>
              <a:buNone/>
            </a:pP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char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s1[] = </a:t>
            </a:r>
            <a:r>
              <a:rPr lang="en-US" b="0" dirty="0">
                <a:solidFill>
                  <a:srgbClr val="A31515"/>
                </a:solidFill>
                <a:effectLst/>
                <a:latin typeface="Consolas" panose="020B0609020204030204" pitchFamily="49" charset="0"/>
              </a:rPr>
              <a:t>"apple"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;</a:t>
            </a:r>
          </a:p>
          <a:p>
            <a:pPr>
              <a:buNone/>
            </a:pP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char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s2[] = </a:t>
            </a:r>
            <a:r>
              <a:rPr lang="en-US" b="0" dirty="0">
                <a:solidFill>
                  <a:srgbClr val="A31515"/>
                </a:solidFill>
                <a:effectLst/>
                <a:latin typeface="Consolas" panose="020B0609020204030204" pitchFamily="49" charset="0"/>
              </a:rPr>
              <a:t>"apricot"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;</a:t>
            </a:r>
          </a:p>
          <a:p>
            <a:pPr>
              <a:buNone/>
            </a:pP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char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s3[] = </a:t>
            </a:r>
            <a:r>
              <a:rPr lang="en-US" b="0" dirty="0">
                <a:solidFill>
                  <a:srgbClr val="A31515"/>
                </a:solidFill>
                <a:effectLst/>
                <a:latin typeface="Consolas" panose="020B0609020204030204" pitchFamily="49" charset="0"/>
              </a:rPr>
              <a:t>"apple"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;</a:t>
            </a:r>
          </a:p>
          <a:p>
            <a:pPr>
              <a:buNone/>
            </a:pPr>
            <a:endParaRPr lang="en-US" b="0" dirty="0">
              <a:solidFill>
                <a:srgbClr val="000000"/>
              </a:solidFill>
              <a:effectLst/>
              <a:latin typeface="Consolas" panose="020B0609020204030204" pitchFamily="49" charset="0"/>
            </a:endParaRPr>
          </a:p>
          <a:p>
            <a:pPr>
              <a:buNone/>
            </a:pP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int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r1 = </a:t>
            </a:r>
            <a:r>
              <a:rPr lang="en-US" b="0" dirty="0" err="1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strcmp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(s1, s2);</a:t>
            </a:r>
          </a:p>
          <a:p>
            <a:pPr>
              <a:buNone/>
            </a:pP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int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r2 = </a:t>
            </a:r>
            <a:r>
              <a:rPr lang="en-US" b="0" dirty="0" err="1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strcmp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(s1, s3);</a:t>
            </a:r>
          </a:p>
          <a:p>
            <a:pPr>
              <a:buNone/>
            </a:pP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int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r3 = </a:t>
            </a:r>
            <a:r>
              <a:rPr lang="en-US" b="0" dirty="0" err="1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strncmp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(s1, s2, </a:t>
            </a:r>
            <a:r>
              <a:rPr lang="en-US" b="0" dirty="0">
                <a:solidFill>
                  <a:srgbClr val="098658"/>
                </a:solidFill>
                <a:effectLst/>
                <a:latin typeface="Consolas" panose="020B0609020204030204" pitchFamily="49" charset="0"/>
              </a:rPr>
              <a:t>2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);</a:t>
            </a:r>
          </a:p>
          <a:p>
            <a:pPr>
              <a:buNone/>
            </a:pPr>
            <a:endParaRPr lang="en-US" b="0" dirty="0">
              <a:solidFill>
                <a:srgbClr val="000000"/>
              </a:solidFill>
              <a:effectLst/>
              <a:latin typeface="Consolas" panose="020B0609020204030204" pitchFamily="49" charset="0"/>
            </a:endParaRPr>
          </a:p>
          <a:p>
            <a:pPr>
              <a:buNone/>
            </a:pP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b="0" dirty="0" err="1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printf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b="0" dirty="0">
                <a:solidFill>
                  <a:srgbClr val="A31515"/>
                </a:solidFill>
                <a:effectLst/>
                <a:latin typeface="Consolas" panose="020B0609020204030204" pitchFamily="49" charset="0"/>
              </a:rPr>
              <a:t>"</a:t>
            </a:r>
            <a:r>
              <a:rPr lang="en-US" b="0" dirty="0" err="1">
                <a:solidFill>
                  <a:srgbClr val="A31515"/>
                </a:solidFill>
                <a:effectLst/>
                <a:latin typeface="Consolas" panose="020B0609020204030204" pitchFamily="49" charset="0"/>
              </a:rPr>
              <a:t>strcmp</a:t>
            </a:r>
            <a:r>
              <a:rPr lang="en-US" b="0" dirty="0">
                <a:solidFill>
                  <a:srgbClr val="A31515"/>
                </a:solidFill>
                <a:effectLst/>
                <a:latin typeface="Consolas" panose="020B0609020204030204" pitchFamily="49" charset="0"/>
              </a:rPr>
              <a:t>(s1, s2) = %d\n"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, r1);</a:t>
            </a:r>
          </a:p>
          <a:p>
            <a:pPr>
              <a:buNone/>
            </a:pP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b="0" dirty="0" err="1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printf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b="0" dirty="0">
                <a:solidFill>
                  <a:srgbClr val="A31515"/>
                </a:solidFill>
                <a:effectLst/>
                <a:latin typeface="Consolas" panose="020B0609020204030204" pitchFamily="49" charset="0"/>
              </a:rPr>
              <a:t>"</a:t>
            </a:r>
            <a:r>
              <a:rPr lang="en-US" b="0" dirty="0" err="1">
                <a:solidFill>
                  <a:srgbClr val="A31515"/>
                </a:solidFill>
                <a:effectLst/>
                <a:latin typeface="Consolas" panose="020B0609020204030204" pitchFamily="49" charset="0"/>
              </a:rPr>
              <a:t>strcmp</a:t>
            </a:r>
            <a:r>
              <a:rPr lang="en-US" b="0" dirty="0">
                <a:solidFill>
                  <a:srgbClr val="A31515"/>
                </a:solidFill>
                <a:effectLst/>
                <a:latin typeface="Consolas" panose="020B0609020204030204" pitchFamily="49" charset="0"/>
              </a:rPr>
              <a:t>(s1, s3) = %d\n"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, r2);</a:t>
            </a:r>
          </a:p>
          <a:p>
            <a:pPr>
              <a:buNone/>
            </a:pP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b="0" dirty="0" err="1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printf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b="0" dirty="0">
                <a:solidFill>
                  <a:srgbClr val="A31515"/>
                </a:solidFill>
                <a:effectLst/>
                <a:latin typeface="Consolas" panose="020B0609020204030204" pitchFamily="49" charset="0"/>
              </a:rPr>
              <a:t>"</a:t>
            </a:r>
            <a:r>
              <a:rPr lang="en-US" b="0" dirty="0" err="1">
                <a:solidFill>
                  <a:srgbClr val="A31515"/>
                </a:solidFill>
                <a:effectLst/>
                <a:latin typeface="Consolas" panose="020B0609020204030204" pitchFamily="49" charset="0"/>
              </a:rPr>
              <a:t>strncmp</a:t>
            </a:r>
            <a:r>
              <a:rPr lang="en-US" b="0" dirty="0">
                <a:solidFill>
                  <a:srgbClr val="A31515"/>
                </a:solidFill>
                <a:effectLst/>
                <a:latin typeface="Consolas" panose="020B0609020204030204" pitchFamily="49" charset="0"/>
              </a:rPr>
              <a:t>(s1, s2, 3) = %d\n"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, r3);</a:t>
            </a:r>
          </a:p>
          <a:p>
            <a:pPr>
              <a:buNone/>
            </a:pP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}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6AAA88D4-1823-1295-2E84-26F3C1FB7D75}"/>
              </a:ext>
            </a:extLst>
          </p:cNvPr>
          <p:cNvSpPr txBox="1"/>
          <p:nvPr/>
        </p:nvSpPr>
        <p:spPr>
          <a:xfrm>
            <a:off x="6096000" y="6354247"/>
            <a:ext cx="4303914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dirty="0">
                <a:hlinkClick r:id="rId3"/>
              </a:rPr>
              <a:t>https://godbolt.org/z/x7ex6E6dx</a:t>
            </a:r>
            <a:endParaRPr lang="en-US" dirty="0"/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4C292FF0-A60F-9FEC-CFD7-D9DAD86A605A}"/>
              </a:ext>
            </a:extLst>
          </p:cNvPr>
          <p:cNvSpPr txBox="1"/>
          <p:nvPr/>
        </p:nvSpPr>
        <p:spPr>
          <a:xfrm>
            <a:off x="1202229" y="5892582"/>
            <a:ext cx="3417916" cy="923330"/>
          </a:xfrm>
          <a:prstGeom prst="rect">
            <a:avLst/>
          </a:prstGeom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wrap="square">
            <a:spAutoFit/>
          </a:bodyPr>
          <a:lstStyle/>
          <a:p>
            <a:pPr algn="l">
              <a:buNone/>
            </a:pPr>
            <a:r>
              <a:rPr lang="en-US" b="0" i="0" dirty="0" err="1">
                <a:solidFill>
                  <a:schemeClr val="bg1"/>
                </a:solidFill>
                <a:effectLst/>
                <a:latin typeface="Consolas" panose="020B0609020204030204" pitchFamily="49" charset="0"/>
              </a:rPr>
              <a:t>strcmp</a:t>
            </a:r>
            <a:r>
              <a:rPr lang="en-US" b="0" i="0" dirty="0">
                <a:solidFill>
                  <a:schemeClr val="bg1"/>
                </a:solidFill>
                <a:effectLst/>
                <a:latin typeface="Consolas" panose="020B0609020204030204" pitchFamily="49" charset="0"/>
              </a:rPr>
              <a:t>(s1, s2) = -2</a:t>
            </a:r>
          </a:p>
          <a:p>
            <a:pPr algn="l">
              <a:buNone/>
            </a:pPr>
            <a:r>
              <a:rPr lang="en-US" b="0" i="0" dirty="0" err="1">
                <a:solidFill>
                  <a:schemeClr val="bg1"/>
                </a:solidFill>
                <a:effectLst/>
                <a:latin typeface="Consolas" panose="020B0609020204030204" pitchFamily="49" charset="0"/>
              </a:rPr>
              <a:t>strcmp</a:t>
            </a:r>
            <a:r>
              <a:rPr lang="en-US" b="0" i="0" dirty="0">
                <a:solidFill>
                  <a:schemeClr val="bg1"/>
                </a:solidFill>
                <a:effectLst/>
                <a:latin typeface="Consolas" panose="020B0609020204030204" pitchFamily="49" charset="0"/>
              </a:rPr>
              <a:t>(s1, s3) = 0</a:t>
            </a:r>
          </a:p>
          <a:p>
            <a:pPr algn="l">
              <a:buNone/>
            </a:pPr>
            <a:r>
              <a:rPr lang="en-US" b="0" i="0" dirty="0" err="1">
                <a:solidFill>
                  <a:schemeClr val="bg1"/>
                </a:solidFill>
                <a:effectLst/>
                <a:latin typeface="Consolas" panose="020B0609020204030204" pitchFamily="49" charset="0"/>
              </a:rPr>
              <a:t>strncmp</a:t>
            </a:r>
            <a:r>
              <a:rPr lang="en-US" b="0" i="0" dirty="0">
                <a:solidFill>
                  <a:schemeClr val="bg1"/>
                </a:solidFill>
                <a:effectLst/>
                <a:latin typeface="Consolas" panose="020B0609020204030204" pitchFamily="49" charset="0"/>
              </a:rPr>
              <a:t>(s1, s2, 3) = 0</a:t>
            </a:r>
          </a:p>
        </p:txBody>
      </p:sp>
    </p:spTree>
    <p:extLst>
      <p:ext uri="{BB962C8B-B14F-4D97-AF65-F5344CB8AC3E}">
        <p14:creationId xmlns:p14="http://schemas.microsoft.com/office/powerpoint/2010/main" val="1749352590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61EE780-3429-A452-3F0A-C7ED787E9EB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dirty="0"/>
              <a:t>Конкатенация строк</a:t>
            </a: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DD57CB5D-07DF-086A-B84B-DA17FE6295E7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5"/>
            <a:ext cx="5257800" cy="4351338"/>
          </a:xfrm>
        </p:spPr>
        <p:txBody>
          <a:bodyPr>
            <a:normAutofit/>
          </a:bodyPr>
          <a:lstStyle/>
          <a:p>
            <a:r>
              <a:rPr lang="ru-RU" dirty="0" err="1"/>
              <a:t>strcat</a:t>
            </a:r>
            <a:r>
              <a:rPr lang="ru-RU" dirty="0"/>
              <a:t>(</a:t>
            </a:r>
            <a:r>
              <a:rPr lang="ru-RU" dirty="0" err="1"/>
              <a:t>dest</a:t>
            </a:r>
            <a:r>
              <a:rPr lang="ru-RU" dirty="0"/>
              <a:t>, </a:t>
            </a:r>
            <a:r>
              <a:rPr lang="ru-RU" dirty="0" err="1"/>
              <a:t>src</a:t>
            </a:r>
            <a:r>
              <a:rPr lang="ru-RU" dirty="0"/>
              <a:t>) дописывает строку </a:t>
            </a:r>
            <a:r>
              <a:rPr lang="ru-RU" dirty="0" err="1"/>
              <a:t>src</a:t>
            </a:r>
            <a:r>
              <a:rPr lang="ru-RU" dirty="0"/>
              <a:t> в конец </a:t>
            </a:r>
            <a:r>
              <a:rPr lang="ru-RU" dirty="0" err="1"/>
              <a:t>dest</a:t>
            </a:r>
            <a:r>
              <a:rPr lang="ru-RU" dirty="0"/>
              <a:t>.</a:t>
            </a:r>
          </a:p>
          <a:p>
            <a:r>
              <a:rPr lang="ru-RU" dirty="0" err="1"/>
              <a:t>strncat</a:t>
            </a:r>
            <a:r>
              <a:rPr lang="ru-RU" dirty="0"/>
              <a:t>(</a:t>
            </a:r>
            <a:r>
              <a:rPr lang="ru-RU" dirty="0" err="1"/>
              <a:t>dest</a:t>
            </a:r>
            <a:r>
              <a:rPr lang="ru-RU" dirty="0"/>
              <a:t>, </a:t>
            </a:r>
            <a:r>
              <a:rPr lang="ru-RU" dirty="0" err="1"/>
              <a:t>src</a:t>
            </a:r>
            <a:r>
              <a:rPr lang="ru-RU" dirty="0"/>
              <a:t>, n) дописывает не более n символов из </a:t>
            </a:r>
            <a:r>
              <a:rPr lang="ru-RU" dirty="0" err="1"/>
              <a:t>src</a:t>
            </a:r>
            <a:r>
              <a:rPr lang="ru-RU" dirty="0"/>
              <a:t>.</a:t>
            </a:r>
          </a:p>
          <a:p>
            <a:r>
              <a:rPr lang="ru-RU" dirty="0"/>
              <a:t>В массиве </a:t>
            </a:r>
            <a:r>
              <a:rPr lang="ru-RU" dirty="0" err="1"/>
              <a:t>dest</a:t>
            </a:r>
            <a:r>
              <a:rPr lang="ru-RU" dirty="0"/>
              <a:t> должно быть </a:t>
            </a:r>
            <a:r>
              <a:rPr lang="ru-RU" b="1" dirty="0"/>
              <a:t>достаточно свободного места</a:t>
            </a:r>
            <a:r>
              <a:rPr lang="ru-RU" dirty="0"/>
              <a:t>.</a:t>
            </a:r>
          </a:p>
          <a:p>
            <a:r>
              <a:rPr lang="ru-RU" dirty="0"/>
              <a:t>Завершающий '\0’ добавляется автоматически.</a:t>
            </a:r>
          </a:p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96985FC-DA76-45C4-70E0-0FB60074B08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35E9561-002A-41EF-B5BA-43A01A72A4F8}" type="slidenum">
              <a:rPr lang="en-US" smtClean="0"/>
              <a:t>22</a:t>
            </a:fld>
            <a:endParaRPr lang="en-US"/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1DB012A1-8078-120E-F561-EE9C78873356}"/>
              </a:ext>
            </a:extLst>
          </p:cNvPr>
          <p:cNvSpPr txBox="1"/>
          <p:nvPr/>
        </p:nvSpPr>
        <p:spPr>
          <a:xfrm>
            <a:off x="6255328" y="1825625"/>
            <a:ext cx="6093228" cy="492442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buNone/>
            </a:pPr>
            <a:r>
              <a:rPr lang="en-US" sz="1600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#include</a:t>
            </a: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600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&lt;</a:t>
            </a:r>
            <a:r>
              <a:rPr lang="en-US" sz="1600" b="0" dirty="0" err="1">
                <a:solidFill>
                  <a:srgbClr val="A31515"/>
                </a:solidFill>
                <a:effectLst/>
                <a:latin typeface="Consolas" panose="020B0609020204030204" pitchFamily="49" charset="0"/>
              </a:rPr>
              <a:t>stdio.h</a:t>
            </a:r>
            <a:r>
              <a:rPr lang="en-US" sz="1600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&gt;</a:t>
            </a:r>
            <a:endParaRPr lang="en-US" sz="1600" b="0" dirty="0">
              <a:solidFill>
                <a:srgbClr val="000000"/>
              </a:solidFill>
              <a:effectLst/>
              <a:latin typeface="Consolas" panose="020B0609020204030204" pitchFamily="49" charset="0"/>
            </a:endParaRPr>
          </a:p>
          <a:p>
            <a:pPr>
              <a:buNone/>
            </a:pPr>
            <a:r>
              <a:rPr lang="en-US" sz="1600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#include</a:t>
            </a: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600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&lt;</a:t>
            </a:r>
            <a:r>
              <a:rPr lang="en-US" sz="1600" b="0" dirty="0" err="1">
                <a:solidFill>
                  <a:srgbClr val="A31515"/>
                </a:solidFill>
                <a:effectLst/>
                <a:latin typeface="Consolas" panose="020B0609020204030204" pitchFamily="49" charset="0"/>
              </a:rPr>
              <a:t>string.h</a:t>
            </a:r>
            <a:r>
              <a:rPr lang="en-US" sz="1600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&gt;</a:t>
            </a:r>
            <a:endParaRPr lang="en-US" sz="1600" b="0" dirty="0">
              <a:solidFill>
                <a:srgbClr val="000000"/>
              </a:solidFill>
              <a:effectLst/>
              <a:latin typeface="Consolas" panose="020B0609020204030204" pitchFamily="49" charset="0"/>
            </a:endParaRPr>
          </a:p>
          <a:p>
            <a:pPr>
              <a:buNone/>
            </a:pPr>
            <a:endParaRPr lang="en-US" sz="1600" b="0" dirty="0">
              <a:solidFill>
                <a:srgbClr val="000000"/>
              </a:solidFill>
              <a:effectLst/>
              <a:latin typeface="Consolas" panose="020B0609020204030204" pitchFamily="49" charset="0"/>
            </a:endParaRPr>
          </a:p>
          <a:p>
            <a:pPr>
              <a:buNone/>
            </a:pPr>
            <a:r>
              <a:rPr lang="en-US" sz="1600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int</a:t>
            </a: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main(</a:t>
            </a:r>
            <a:r>
              <a:rPr lang="en-US" sz="1600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void</a:t>
            </a: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) {</a:t>
            </a:r>
          </a:p>
          <a:p>
            <a:pPr>
              <a:buNone/>
            </a:pP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sz="1600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char</a:t>
            </a: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s1[</a:t>
            </a:r>
            <a:r>
              <a:rPr lang="en-US" sz="1600" b="0" dirty="0">
                <a:solidFill>
                  <a:srgbClr val="098658"/>
                </a:solidFill>
                <a:effectLst/>
                <a:latin typeface="Consolas" panose="020B0609020204030204" pitchFamily="49" charset="0"/>
              </a:rPr>
              <a:t>20</a:t>
            </a: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] = </a:t>
            </a:r>
            <a:r>
              <a:rPr lang="en-US" sz="1600" b="0" dirty="0">
                <a:solidFill>
                  <a:srgbClr val="A31515"/>
                </a:solidFill>
                <a:effectLst/>
                <a:latin typeface="Consolas" panose="020B0609020204030204" pitchFamily="49" charset="0"/>
              </a:rPr>
              <a:t>"Hello"</a:t>
            </a: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;</a:t>
            </a:r>
          </a:p>
          <a:p>
            <a:pPr>
              <a:buNone/>
            </a:pP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sz="1600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char</a:t>
            </a: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s2[] = </a:t>
            </a:r>
            <a:r>
              <a:rPr lang="en-US" sz="1600" b="0" dirty="0">
                <a:solidFill>
                  <a:srgbClr val="A31515"/>
                </a:solidFill>
                <a:effectLst/>
                <a:latin typeface="Consolas" panose="020B0609020204030204" pitchFamily="49" charset="0"/>
              </a:rPr>
              <a:t>"World"</a:t>
            </a: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;</a:t>
            </a:r>
          </a:p>
          <a:p>
            <a:pPr>
              <a:buNone/>
            </a:pPr>
            <a:endParaRPr lang="en-US" sz="1600" b="0" dirty="0">
              <a:solidFill>
                <a:srgbClr val="000000"/>
              </a:solidFill>
              <a:effectLst/>
              <a:latin typeface="Consolas" panose="020B0609020204030204" pitchFamily="49" charset="0"/>
            </a:endParaRPr>
          </a:p>
          <a:p>
            <a:pPr>
              <a:buNone/>
            </a:pP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sz="1600" b="0" dirty="0" err="1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strcat</a:t>
            </a: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(s1, </a:t>
            </a:r>
            <a:r>
              <a:rPr lang="en-US" sz="1600" b="0" dirty="0">
                <a:solidFill>
                  <a:srgbClr val="A31515"/>
                </a:solidFill>
                <a:effectLst/>
                <a:latin typeface="Consolas" panose="020B0609020204030204" pitchFamily="49" charset="0"/>
              </a:rPr>
              <a:t>" "</a:t>
            </a: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); </a:t>
            </a:r>
            <a:r>
              <a:rPr lang="en-US" sz="1600" b="0" dirty="0">
                <a:solidFill>
                  <a:srgbClr val="008000"/>
                </a:solidFill>
                <a:effectLst/>
                <a:latin typeface="Consolas" panose="020B0609020204030204" pitchFamily="49" charset="0"/>
              </a:rPr>
              <a:t>// "Hello" + " "</a:t>
            </a:r>
            <a:endParaRPr lang="en-US" sz="1600" b="0" dirty="0">
              <a:solidFill>
                <a:srgbClr val="000000"/>
              </a:solidFill>
              <a:effectLst/>
              <a:latin typeface="Consolas" panose="020B0609020204030204" pitchFamily="49" charset="0"/>
            </a:endParaRPr>
          </a:p>
          <a:p>
            <a:pPr>
              <a:buNone/>
            </a:pP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sz="1600" b="0" dirty="0" err="1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strcat</a:t>
            </a: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(s1, s2);  </a:t>
            </a:r>
            <a:r>
              <a:rPr lang="en-US" sz="1600" b="0" dirty="0">
                <a:solidFill>
                  <a:srgbClr val="008000"/>
                </a:solidFill>
                <a:effectLst/>
                <a:latin typeface="Consolas" panose="020B0609020204030204" pitchFamily="49" charset="0"/>
              </a:rPr>
              <a:t>// "Hello " + "World"</a:t>
            </a:r>
            <a:endParaRPr lang="en-US" sz="1600" b="0" dirty="0">
              <a:solidFill>
                <a:srgbClr val="000000"/>
              </a:solidFill>
              <a:effectLst/>
              <a:latin typeface="Consolas" panose="020B0609020204030204" pitchFamily="49" charset="0"/>
            </a:endParaRPr>
          </a:p>
          <a:p>
            <a:pPr>
              <a:buNone/>
            </a:pPr>
            <a:endParaRPr lang="en-US" sz="1600" b="0" dirty="0">
              <a:solidFill>
                <a:srgbClr val="000000"/>
              </a:solidFill>
              <a:effectLst/>
              <a:latin typeface="Consolas" panose="020B0609020204030204" pitchFamily="49" charset="0"/>
            </a:endParaRPr>
          </a:p>
          <a:p>
            <a:pPr>
              <a:buNone/>
            </a:pP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sz="1600" b="0" dirty="0" err="1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printf</a:t>
            </a: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sz="1600" b="0" dirty="0">
                <a:solidFill>
                  <a:srgbClr val="A31515"/>
                </a:solidFill>
                <a:effectLst/>
                <a:latin typeface="Consolas" panose="020B0609020204030204" pitchFamily="49" charset="0"/>
              </a:rPr>
              <a:t>"After </a:t>
            </a:r>
            <a:r>
              <a:rPr lang="en-US" sz="1600" b="0" dirty="0" err="1">
                <a:solidFill>
                  <a:srgbClr val="A31515"/>
                </a:solidFill>
                <a:effectLst/>
                <a:latin typeface="Consolas" panose="020B0609020204030204" pitchFamily="49" charset="0"/>
              </a:rPr>
              <a:t>strcat</a:t>
            </a:r>
            <a:r>
              <a:rPr lang="en-US" sz="1600" b="0" dirty="0">
                <a:solidFill>
                  <a:srgbClr val="A31515"/>
                </a:solidFill>
                <a:effectLst/>
                <a:latin typeface="Consolas" panose="020B0609020204030204" pitchFamily="49" charset="0"/>
              </a:rPr>
              <a:t> : %s\n"</a:t>
            </a: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, s1);</a:t>
            </a:r>
          </a:p>
          <a:p>
            <a:pPr>
              <a:buNone/>
            </a:pPr>
            <a:endParaRPr lang="en-US" sz="1600" b="0" dirty="0">
              <a:solidFill>
                <a:srgbClr val="000000"/>
              </a:solidFill>
              <a:effectLst/>
              <a:latin typeface="Consolas" panose="020B0609020204030204" pitchFamily="49" charset="0"/>
            </a:endParaRPr>
          </a:p>
          <a:p>
            <a:pPr>
              <a:buNone/>
            </a:pP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sz="1600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char</a:t>
            </a: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s3[</a:t>
            </a:r>
            <a:r>
              <a:rPr lang="en-US" sz="1600" b="0" dirty="0">
                <a:solidFill>
                  <a:srgbClr val="098658"/>
                </a:solidFill>
                <a:effectLst/>
                <a:latin typeface="Consolas" panose="020B0609020204030204" pitchFamily="49" charset="0"/>
              </a:rPr>
              <a:t>20</a:t>
            </a: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] = </a:t>
            </a:r>
            <a:r>
              <a:rPr lang="en-US" sz="1600" b="0" dirty="0">
                <a:solidFill>
                  <a:srgbClr val="A31515"/>
                </a:solidFill>
                <a:effectLst/>
                <a:latin typeface="Consolas" panose="020B0609020204030204" pitchFamily="49" charset="0"/>
              </a:rPr>
              <a:t>"Number: "</a:t>
            </a: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;</a:t>
            </a:r>
          </a:p>
          <a:p>
            <a:pPr>
              <a:buNone/>
            </a:pP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sz="1600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char</a:t>
            </a: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s4[] = </a:t>
            </a:r>
            <a:r>
              <a:rPr lang="en-US" sz="1600" b="0" dirty="0">
                <a:solidFill>
                  <a:srgbClr val="A31515"/>
                </a:solidFill>
                <a:effectLst/>
                <a:latin typeface="Consolas" panose="020B0609020204030204" pitchFamily="49" charset="0"/>
              </a:rPr>
              <a:t>"12345"</a:t>
            </a: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;</a:t>
            </a:r>
          </a:p>
          <a:p>
            <a:pPr>
              <a:buNone/>
            </a:pPr>
            <a:endParaRPr lang="en-US" sz="1600" b="0" dirty="0">
              <a:solidFill>
                <a:srgbClr val="000000"/>
              </a:solidFill>
              <a:effectLst/>
              <a:latin typeface="Consolas" panose="020B0609020204030204" pitchFamily="49" charset="0"/>
            </a:endParaRPr>
          </a:p>
          <a:p>
            <a:pPr>
              <a:buNone/>
            </a:pP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sz="1600" b="0" dirty="0" err="1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strncat</a:t>
            </a: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(s3, s4, </a:t>
            </a:r>
            <a:r>
              <a:rPr lang="en-US" sz="1600" b="0" dirty="0">
                <a:solidFill>
                  <a:srgbClr val="098658"/>
                </a:solidFill>
                <a:effectLst/>
                <a:latin typeface="Consolas" panose="020B0609020204030204" pitchFamily="49" charset="0"/>
              </a:rPr>
              <a:t>3</a:t>
            </a: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);</a:t>
            </a:r>
          </a:p>
          <a:p>
            <a:pPr>
              <a:buNone/>
            </a:pPr>
            <a:endParaRPr lang="en-US" sz="1600" b="0" dirty="0">
              <a:solidFill>
                <a:srgbClr val="000000"/>
              </a:solidFill>
              <a:effectLst/>
              <a:latin typeface="Consolas" panose="020B0609020204030204" pitchFamily="49" charset="0"/>
            </a:endParaRPr>
          </a:p>
          <a:p>
            <a:pPr>
              <a:buNone/>
            </a:pP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sz="1600" b="0" dirty="0" err="1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printf</a:t>
            </a: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sz="1600" b="0" dirty="0">
                <a:solidFill>
                  <a:srgbClr val="A31515"/>
                </a:solidFill>
                <a:effectLst/>
                <a:latin typeface="Consolas" panose="020B0609020204030204" pitchFamily="49" charset="0"/>
              </a:rPr>
              <a:t>"After </a:t>
            </a:r>
            <a:r>
              <a:rPr lang="en-US" sz="1600" b="0" dirty="0" err="1">
                <a:solidFill>
                  <a:srgbClr val="A31515"/>
                </a:solidFill>
                <a:effectLst/>
                <a:latin typeface="Consolas" panose="020B0609020204030204" pitchFamily="49" charset="0"/>
              </a:rPr>
              <a:t>strncat</a:t>
            </a:r>
            <a:r>
              <a:rPr lang="en-US" sz="1600" b="0" dirty="0">
                <a:solidFill>
                  <a:srgbClr val="A31515"/>
                </a:solidFill>
                <a:effectLst/>
                <a:latin typeface="Consolas" panose="020B0609020204030204" pitchFamily="49" charset="0"/>
              </a:rPr>
              <a:t>: %s\n"</a:t>
            </a: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, s3);</a:t>
            </a:r>
          </a:p>
          <a:p>
            <a:pPr>
              <a:buNone/>
            </a:pP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}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00C9EA1C-3FAF-ED39-05ED-FC1FB10B4D6F}"/>
              </a:ext>
            </a:extLst>
          </p:cNvPr>
          <p:cNvSpPr txBox="1"/>
          <p:nvPr/>
        </p:nvSpPr>
        <p:spPr>
          <a:xfrm>
            <a:off x="6255328" y="6488668"/>
            <a:ext cx="3919450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dirty="0">
                <a:hlinkClick r:id="rId3"/>
              </a:rPr>
              <a:t>https://godbolt.org/z/jEx7YMTTf</a:t>
            </a:r>
            <a:endParaRPr lang="en-US" dirty="0"/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832DDCF9-7917-9B7F-A9B0-C425C2B36F9C}"/>
              </a:ext>
            </a:extLst>
          </p:cNvPr>
          <p:cNvSpPr txBox="1"/>
          <p:nvPr/>
        </p:nvSpPr>
        <p:spPr>
          <a:xfrm>
            <a:off x="838200" y="6165275"/>
            <a:ext cx="3524596" cy="584775"/>
          </a:xfrm>
          <a:prstGeom prst="rect">
            <a:avLst/>
          </a:prstGeom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wrap="square">
            <a:spAutoFit/>
          </a:bodyPr>
          <a:lstStyle/>
          <a:p>
            <a:pPr algn="l">
              <a:buNone/>
            </a:pPr>
            <a:r>
              <a:rPr lang="en-US" sz="1600" b="0" i="0" dirty="0">
                <a:solidFill>
                  <a:schemeClr val="bg1"/>
                </a:solidFill>
                <a:effectLst/>
                <a:latin typeface="Consolas" panose="020B0609020204030204" pitchFamily="49" charset="0"/>
              </a:rPr>
              <a:t>After </a:t>
            </a:r>
            <a:r>
              <a:rPr lang="en-US" sz="1600" b="0" i="0" dirty="0" err="1">
                <a:solidFill>
                  <a:schemeClr val="bg1"/>
                </a:solidFill>
                <a:effectLst/>
                <a:latin typeface="Consolas" panose="020B0609020204030204" pitchFamily="49" charset="0"/>
              </a:rPr>
              <a:t>strcat</a:t>
            </a:r>
            <a:r>
              <a:rPr lang="en-US" sz="1600" b="0" i="0" dirty="0">
                <a:solidFill>
                  <a:schemeClr val="bg1"/>
                </a:solidFill>
                <a:effectLst/>
                <a:latin typeface="Consolas" panose="020B0609020204030204" pitchFamily="49" charset="0"/>
              </a:rPr>
              <a:t> : Hello World</a:t>
            </a:r>
          </a:p>
          <a:p>
            <a:pPr algn="l">
              <a:buNone/>
            </a:pPr>
            <a:r>
              <a:rPr lang="en-US" sz="1600" b="0" i="0" dirty="0">
                <a:solidFill>
                  <a:schemeClr val="bg1"/>
                </a:solidFill>
                <a:effectLst/>
                <a:latin typeface="Consolas" panose="020B0609020204030204" pitchFamily="49" charset="0"/>
              </a:rPr>
              <a:t>After </a:t>
            </a:r>
            <a:r>
              <a:rPr lang="en-US" sz="1600" b="0" i="0" dirty="0" err="1">
                <a:solidFill>
                  <a:schemeClr val="bg1"/>
                </a:solidFill>
                <a:effectLst/>
                <a:latin typeface="Consolas" panose="020B0609020204030204" pitchFamily="49" charset="0"/>
              </a:rPr>
              <a:t>strncat</a:t>
            </a:r>
            <a:r>
              <a:rPr lang="en-US" sz="1600" b="0" i="0" dirty="0">
                <a:solidFill>
                  <a:schemeClr val="bg1"/>
                </a:solidFill>
                <a:effectLst/>
                <a:latin typeface="Consolas" panose="020B0609020204030204" pitchFamily="49" charset="0"/>
              </a:rPr>
              <a:t>: Number: 123</a:t>
            </a:r>
          </a:p>
        </p:txBody>
      </p:sp>
    </p:spTree>
    <p:extLst>
      <p:ext uri="{BB962C8B-B14F-4D97-AF65-F5344CB8AC3E}">
        <p14:creationId xmlns:p14="http://schemas.microsoft.com/office/powerpoint/2010/main" val="3906841751"/>
      </p:ext>
    </p:extLst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9BEC0AF-11B6-43BD-A45B-3970E68198D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dirty="0"/>
              <a:t>Проблема строк произвольной длины</a:t>
            </a: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7228BA8F-5259-C741-DE9B-2ADE2836A3A7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fontScale="77500" lnSpcReduction="20000"/>
          </a:bodyPr>
          <a:lstStyle/>
          <a:p>
            <a:r>
              <a:rPr lang="ru-RU" b="1" dirty="0"/>
              <a:t>Ограничение статических массивов</a:t>
            </a:r>
          </a:p>
          <a:p>
            <a:pPr lvl="1"/>
            <a:r>
              <a:rPr lang="ru-RU" dirty="0" err="1"/>
              <a:t>char</a:t>
            </a:r>
            <a:r>
              <a:rPr lang="ru-RU" dirty="0"/>
              <a:t> s[100];</a:t>
            </a:r>
          </a:p>
          <a:p>
            <a:pPr lvl="1"/>
            <a:r>
              <a:rPr lang="ru-RU" dirty="0"/>
              <a:t>Размер фиксирован на этапе компиляции.</a:t>
            </a:r>
          </a:p>
          <a:p>
            <a:pPr lvl="1"/>
            <a:r>
              <a:rPr lang="ru-RU" dirty="0"/>
              <a:t>Возможны два риска:</a:t>
            </a:r>
          </a:p>
          <a:p>
            <a:pPr lvl="2"/>
            <a:r>
              <a:rPr lang="ru-RU" dirty="0"/>
              <a:t>Переполнение буфера.</a:t>
            </a:r>
          </a:p>
          <a:p>
            <a:pPr lvl="2"/>
            <a:r>
              <a:rPr lang="ru-RU" dirty="0"/>
              <a:t>Неэффективное использование памяти.</a:t>
            </a:r>
          </a:p>
          <a:p>
            <a:r>
              <a:rPr lang="ru-RU" b="1" dirty="0"/>
              <a:t>Если длина неизвестна заранее, нужно:</a:t>
            </a:r>
          </a:p>
          <a:p>
            <a:pPr lvl="1"/>
            <a:r>
              <a:rPr lang="ru-RU" dirty="0"/>
              <a:t>Выделять память во время выполнения программы.</a:t>
            </a:r>
          </a:p>
          <a:p>
            <a:pPr lvl="1"/>
            <a:r>
              <a:rPr lang="ru-RU" dirty="0"/>
              <a:t>Увеличивать буфер при необходимости.</a:t>
            </a:r>
          </a:p>
          <a:p>
            <a:r>
              <a:rPr lang="ru-RU" b="1" dirty="0"/>
              <a:t>Решение: </a:t>
            </a:r>
            <a:r>
              <a:rPr lang="ru-RU" dirty="0"/>
              <a:t>динамическое выделение памяти:</a:t>
            </a:r>
          </a:p>
          <a:p>
            <a:pPr lvl="1"/>
            <a:r>
              <a:rPr lang="ru-RU" dirty="0" err="1"/>
              <a:t>malloc</a:t>
            </a:r>
            <a:endParaRPr lang="ru-RU" dirty="0"/>
          </a:p>
          <a:p>
            <a:pPr lvl="1"/>
            <a:r>
              <a:rPr lang="ru-RU" dirty="0" err="1"/>
              <a:t>realloc</a:t>
            </a:r>
            <a:endParaRPr lang="ru-RU" dirty="0"/>
          </a:p>
          <a:p>
            <a:pPr lvl="1"/>
            <a:r>
              <a:rPr lang="en-US" dirty="0"/>
              <a:t>f</a:t>
            </a:r>
            <a:r>
              <a:rPr lang="ru-RU" dirty="0" err="1"/>
              <a:t>ree</a:t>
            </a:r>
            <a:endParaRPr lang="ru-RU" b="1" dirty="0"/>
          </a:p>
          <a:p>
            <a:r>
              <a:rPr lang="ru-RU" dirty="0"/>
              <a:t>Строка остаётся массивом </a:t>
            </a:r>
            <a:r>
              <a:rPr lang="ru-RU" dirty="0" err="1"/>
              <a:t>char</a:t>
            </a:r>
            <a:r>
              <a:rPr lang="ru-RU" dirty="0"/>
              <a:t>,</a:t>
            </a:r>
            <a:r>
              <a:rPr lang="en-US" dirty="0"/>
              <a:t> </a:t>
            </a:r>
            <a:r>
              <a:rPr lang="ru-RU" dirty="0"/>
              <a:t>но память управляется программой вручную.</a:t>
            </a:r>
          </a:p>
          <a:p>
            <a:endParaRPr lang="ru-RU" dirty="0"/>
          </a:p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4F588A6F-F4B9-9FCE-3BBD-E2C93768FA2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35E9561-002A-41EF-B5BA-43A01A72A4F8}" type="slidenum">
              <a:rPr lang="en-US" smtClean="0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07576353"/>
      </p:ext>
    </p:extLst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itle 4">
            <a:extLst>
              <a:ext uri="{FF2B5EF4-FFF2-40B4-BE49-F238E27FC236}">
                <a16:creationId xmlns:a16="http://schemas.microsoft.com/office/drawing/2014/main" id="{4D7086ED-B359-A4CE-2611-8489455DED1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dirty="0"/>
              <a:t>Динамическое выделение памяти</a:t>
            </a:r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AF62D632-E2D6-47A0-9DBB-6351DE020E0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35E9561-002A-41EF-B5BA-43A01A72A4F8}" type="slidenum">
              <a:rPr lang="en-US" smtClean="0"/>
              <a:t>24</a:t>
            </a:fld>
            <a:endParaRPr lang="en-US"/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95506491-7786-042C-9F1A-D8B2D08D63AE}"/>
              </a:ext>
            </a:extLst>
          </p:cNvPr>
          <p:cNvSpPr/>
          <p:nvPr/>
        </p:nvSpPr>
        <p:spPr>
          <a:xfrm>
            <a:off x="6450841" y="2095274"/>
            <a:ext cx="3305032" cy="4397601"/>
          </a:xfrm>
          <a:prstGeom prst="rect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t"/>
          <a:lstStyle/>
          <a:p>
            <a:pPr algn="ctr"/>
            <a:r>
              <a:rPr lang="ru-RU" dirty="0"/>
              <a:t>ОЗУ</a:t>
            </a:r>
            <a:endParaRPr lang="en-US" dirty="0"/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C928CA20-DBAC-D5C3-BEEE-B0F58EF0A7F7}"/>
              </a:ext>
            </a:extLst>
          </p:cNvPr>
          <p:cNvSpPr/>
          <p:nvPr/>
        </p:nvSpPr>
        <p:spPr>
          <a:xfrm>
            <a:off x="6761327" y="2689793"/>
            <a:ext cx="2743200" cy="1868559"/>
          </a:xfrm>
          <a:prstGeom prst="rect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t"/>
          <a:lstStyle/>
          <a:p>
            <a:pPr algn="ctr"/>
            <a:r>
              <a:rPr lang="ru-RU" dirty="0"/>
              <a:t>Куча</a:t>
            </a:r>
            <a:endParaRPr lang="en-US" dirty="0"/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1402E35C-0685-C3B8-37CA-E3C9D0E6671E}"/>
              </a:ext>
            </a:extLst>
          </p:cNvPr>
          <p:cNvSpPr/>
          <p:nvPr/>
        </p:nvSpPr>
        <p:spPr>
          <a:xfrm>
            <a:off x="7076930" y="3033192"/>
            <a:ext cx="1869744" cy="432321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BC04C34E-7C36-0180-C1CE-7AA83EC3E4E9}"/>
              </a:ext>
            </a:extLst>
          </p:cNvPr>
          <p:cNvSpPr/>
          <p:nvPr/>
        </p:nvSpPr>
        <p:spPr>
          <a:xfrm>
            <a:off x="6731757" y="4684108"/>
            <a:ext cx="2743200" cy="1129837"/>
          </a:xfrm>
          <a:prstGeom prst="rect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t"/>
          <a:lstStyle/>
          <a:p>
            <a:pPr algn="ctr"/>
            <a:r>
              <a:rPr lang="ru-RU" dirty="0"/>
              <a:t>стек</a:t>
            </a:r>
            <a:endParaRPr lang="en-US" dirty="0"/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8893219B-8463-3B2A-CA27-DA46B4BFECCA}"/>
              </a:ext>
            </a:extLst>
          </p:cNvPr>
          <p:cNvSpPr/>
          <p:nvPr/>
        </p:nvSpPr>
        <p:spPr>
          <a:xfrm>
            <a:off x="7076930" y="5104861"/>
            <a:ext cx="743237" cy="420752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 err="1"/>
              <a:t>ptr</a:t>
            </a:r>
            <a:endParaRPr lang="en-US" dirty="0"/>
          </a:p>
        </p:txBody>
      </p:sp>
      <p:cxnSp>
        <p:nvCxnSpPr>
          <p:cNvPr id="12" name="Straight Arrow Connector 11">
            <a:extLst>
              <a:ext uri="{FF2B5EF4-FFF2-40B4-BE49-F238E27FC236}">
                <a16:creationId xmlns:a16="http://schemas.microsoft.com/office/drawing/2014/main" id="{BFA9B0F1-A003-8013-6F94-6F600EAE74B6}"/>
              </a:ext>
            </a:extLst>
          </p:cNvPr>
          <p:cNvCxnSpPr>
            <a:endCxn id="7" idx="2"/>
          </p:cNvCxnSpPr>
          <p:nvPr/>
        </p:nvCxnSpPr>
        <p:spPr>
          <a:xfrm flipV="1">
            <a:off x="7410734" y="3465513"/>
            <a:ext cx="601068" cy="1639348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4" name="TextBox 13">
            <a:extLst>
              <a:ext uri="{FF2B5EF4-FFF2-40B4-BE49-F238E27FC236}">
                <a16:creationId xmlns:a16="http://schemas.microsoft.com/office/drawing/2014/main" id="{959FAC07-B1C2-E65F-FB0B-30A6A6E24292}"/>
              </a:ext>
            </a:extLst>
          </p:cNvPr>
          <p:cNvSpPr txBox="1"/>
          <p:nvPr/>
        </p:nvSpPr>
        <p:spPr>
          <a:xfrm>
            <a:off x="691199" y="2034352"/>
            <a:ext cx="5279696" cy="286232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buNone/>
            </a:pPr>
            <a:r>
              <a:rPr lang="en-US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#include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&lt;</a:t>
            </a:r>
            <a:r>
              <a:rPr lang="en-US" b="0" dirty="0" err="1">
                <a:solidFill>
                  <a:srgbClr val="A31515"/>
                </a:solidFill>
                <a:effectLst/>
                <a:latin typeface="Consolas" panose="020B0609020204030204" pitchFamily="49" charset="0"/>
              </a:rPr>
              <a:t>stdio.h</a:t>
            </a:r>
            <a:r>
              <a:rPr lang="en-US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&gt;</a:t>
            </a:r>
            <a:endParaRPr lang="en-US" b="0" dirty="0">
              <a:solidFill>
                <a:srgbClr val="000000"/>
              </a:solidFill>
              <a:effectLst/>
              <a:latin typeface="Consolas" panose="020B0609020204030204" pitchFamily="49" charset="0"/>
            </a:endParaRPr>
          </a:p>
          <a:p>
            <a:pPr>
              <a:buNone/>
            </a:pPr>
            <a:r>
              <a:rPr lang="en-US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#include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&lt;</a:t>
            </a:r>
            <a:r>
              <a:rPr lang="en-US" b="0" dirty="0" err="1">
                <a:solidFill>
                  <a:srgbClr val="A31515"/>
                </a:solidFill>
                <a:effectLst/>
                <a:latin typeface="Consolas" panose="020B0609020204030204" pitchFamily="49" charset="0"/>
              </a:rPr>
              <a:t>stdlib.h</a:t>
            </a:r>
            <a:r>
              <a:rPr lang="en-US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&gt;</a:t>
            </a:r>
            <a:endParaRPr lang="en-US" b="0" dirty="0">
              <a:solidFill>
                <a:srgbClr val="000000"/>
              </a:solidFill>
              <a:effectLst/>
              <a:latin typeface="Consolas" panose="020B0609020204030204" pitchFamily="49" charset="0"/>
            </a:endParaRPr>
          </a:p>
          <a:p>
            <a:pPr>
              <a:buNone/>
            </a:pPr>
            <a:b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</a:br>
            <a:endParaRPr lang="en-US" b="0" dirty="0">
              <a:solidFill>
                <a:srgbClr val="000000"/>
              </a:solidFill>
              <a:effectLst/>
              <a:latin typeface="Consolas" panose="020B0609020204030204" pitchFamily="49" charset="0"/>
            </a:endParaRPr>
          </a:p>
          <a:p>
            <a:pPr>
              <a:buNone/>
            </a:pPr>
            <a:r>
              <a:rPr lang="en-US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int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main(</a:t>
            </a:r>
            <a:r>
              <a:rPr lang="en-US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void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) {</a:t>
            </a:r>
          </a:p>
          <a:p>
            <a:pPr>
              <a:buNone/>
            </a:pP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char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*</a:t>
            </a:r>
            <a:r>
              <a:rPr lang="en-US" b="0" dirty="0" err="1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ptr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= malloc(</a:t>
            </a:r>
            <a:r>
              <a:rPr lang="en-US" b="0" dirty="0">
                <a:solidFill>
                  <a:srgbClr val="098658"/>
                </a:solidFill>
                <a:effectLst/>
                <a:latin typeface="Consolas" panose="020B0609020204030204" pitchFamily="49" charset="0"/>
              </a:rPr>
              <a:t>1000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);</a:t>
            </a:r>
          </a:p>
          <a:p>
            <a:pPr>
              <a:buNone/>
            </a:pP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b="0" dirty="0" err="1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ptr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[</a:t>
            </a:r>
            <a:r>
              <a:rPr lang="en-US" b="0" dirty="0">
                <a:solidFill>
                  <a:srgbClr val="098658"/>
                </a:solidFill>
                <a:effectLst/>
                <a:latin typeface="Consolas" panose="020B0609020204030204" pitchFamily="49" charset="0"/>
              </a:rPr>
              <a:t>0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] = </a:t>
            </a:r>
            <a:r>
              <a:rPr lang="en-US" b="0" dirty="0">
                <a:solidFill>
                  <a:srgbClr val="098658"/>
                </a:solidFill>
                <a:effectLst/>
                <a:latin typeface="Consolas" panose="020B0609020204030204" pitchFamily="49" charset="0"/>
              </a:rPr>
              <a:t>42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;</a:t>
            </a:r>
          </a:p>
          <a:p>
            <a:pPr>
              <a:buNone/>
            </a:pP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b="0" dirty="0" err="1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ptr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[</a:t>
            </a:r>
            <a:r>
              <a:rPr lang="en-US" b="0" dirty="0">
                <a:solidFill>
                  <a:srgbClr val="098658"/>
                </a:solidFill>
                <a:effectLst/>
                <a:latin typeface="Consolas" panose="020B0609020204030204" pitchFamily="49" charset="0"/>
              </a:rPr>
              <a:t>1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] = </a:t>
            </a:r>
            <a:r>
              <a:rPr lang="en-US" b="0" dirty="0">
                <a:solidFill>
                  <a:srgbClr val="098658"/>
                </a:solidFill>
                <a:effectLst/>
                <a:latin typeface="Consolas" panose="020B0609020204030204" pitchFamily="49" charset="0"/>
              </a:rPr>
              <a:t>123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;</a:t>
            </a:r>
          </a:p>
          <a:p>
            <a:pPr>
              <a:buNone/>
            </a:pP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free(</a:t>
            </a:r>
            <a:r>
              <a:rPr lang="en-US" b="0" dirty="0" err="1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ptr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);</a:t>
            </a:r>
          </a:p>
          <a:p>
            <a:pPr>
              <a:buNone/>
            </a:pP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}</a:t>
            </a:r>
          </a:p>
        </p:txBody>
      </p:sp>
    </p:spTree>
    <p:extLst>
      <p:ext uri="{BB962C8B-B14F-4D97-AF65-F5344CB8AC3E}">
        <p14:creationId xmlns:p14="http://schemas.microsoft.com/office/powerpoint/2010/main" val="2337795652"/>
      </p:ext>
    </p:extLst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F8E9B99-9FA1-391C-5745-6094342BB3D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dirty="0"/>
              <a:t>Динамическое копирование строки</a:t>
            </a: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D95FF560-3EC7-9570-4D39-A267F2B93A86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5"/>
            <a:ext cx="5257800" cy="4351338"/>
          </a:xfrm>
        </p:spPr>
        <p:txBody>
          <a:bodyPr/>
          <a:lstStyle/>
          <a:p>
            <a:r>
              <a:rPr lang="ru-RU" dirty="0"/>
              <a:t>Длина определяется с помощью </a:t>
            </a:r>
            <a:r>
              <a:rPr lang="ru-RU" b="1" dirty="0" err="1"/>
              <a:t>strlen</a:t>
            </a:r>
            <a:r>
              <a:rPr lang="ru-RU" dirty="0"/>
              <a:t>.</a:t>
            </a:r>
          </a:p>
          <a:p>
            <a:r>
              <a:rPr lang="ru-RU" dirty="0"/>
              <a:t>Память выделяется под </a:t>
            </a:r>
            <a:r>
              <a:rPr lang="ru-RU" dirty="0" err="1"/>
              <a:t>len</a:t>
            </a:r>
            <a:r>
              <a:rPr lang="ru-RU" dirty="0"/>
              <a:t> + 1 байтов функцией </a:t>
            </a:r>
            <a:r>
              <a:rPr lang="en-US" b="1" dirty="0"/>
              <a:t>malloc</a:t>
            </a:r>
            <a:endParaRPr lang="ru-RU" b="1" dirty="0"/>
          </a:p>
          <a:p>
            <a:r>
              <a:rPr lang="ru-RU" dirty="0"/>
              <a:t>Копируется строка вместе с '\0'.</a:t>
            </a:r>
          </a:p>
          <a:p>
            <a:r>
              <a:rPr lang="ru-RU" dirty="0"/>
              <a:t>После использования память освобождается функцией </a:t>
            </a:r>
            <a:r>
              <a:rPr lang="en-US" b="1" dirty="0"/>
              <a:t>free</a:t>
            </a:r>
            <a:endParaRPr lang="ru-RU" b="1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A4540500-D378-C8DC-FA12-72E1548EA67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35E9561-002A-41EF-B5BA-43A01A72A4F8}" type="slidenum">
              <a:rPr lang="en-US" smtClean="0"/>
              <a:t>25</a:t>
            </a:fld>
            <a:endParaRPr lang="en-US"/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AAA790F4-24B1-7E6A-3DB5-C7A2ADC85984}"/>
              </a:ext>
            </a:extLst>
          </p:cNvPr>
          <p:cNvSpPr txBox="1"/>
          <p:nvPr/>
        </p:nvSpPr>
        <p:spPr>
          <a:xfrm>
            <a:off x="6384174" y="1690688"/>
            <a:ext cx="5807825" cy="477053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buNone/>
            </a:pPr>
            <a:r>
              <a:rPr lang="en-US" sz="1600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#include</a:t>
            </a: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600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&lt;</a:t>
            </a:r>
            <a:r>
              <a:rPr lang="en-US" sz="1600" b="0" dirty="0" err="1">
                <a:solidFill>
                  <a:srgbClr val="A31515"/>
                </a:solidFill>
                <a:effectLst/>
                <a:latin typeface="Consolas" panose="020B0609020204030204" pitchFamily="49" charset="0"/>
              </a:rPr>
              <a:t>stdio.h</a:t>
            </a:r>
            <a:r>
              <a:rPr lang="en-US" sz="1600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&gt;</a:t>
            </a:r>
            <a:endParaRPr lang="en-US" sz="1600" b="0" dirty="0">
              <a:solidFill>
                <a:srgbClr val="000000"/>
              </a:solidFill>
              <a:effectLst/>
              <a:latin typeface="Consolas" panose="020B0609020204030204" pitchFamily="49" charset="0"/>
            </a:endParaRPr>
          </a:p>
          <a:p>
            <a:pPr>
              <a:buNone/>
            </a:pPr>
            <a:r>
              <a:rPr lang="en-US" sz="1600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#include</a:t>
            </a: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600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&lt;</a:t>
            </a:r>
            <a:r>
              <a:rPr lang="en-US" sz="1600" b="0" dirty="0" err="1">
                <a:solidFill>
                  <a:srgbClr val="A31515"/>
                </a:solidFill>
                <a:effectLst/>
                <a:latin typeface="Consolas" panose="020B0609020204030204" pitchFamily="49" charset="0"/>
              </a:rPr>
              <a:t>stdlib.h</a:t>
            </a:r>
            <a:r>
              <a:rPr lang="en-US" sz="1600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&gt;</a:t>
            </a:r>
            <a:endParaRPr lang="en-US" sz="1600" b="0" dirty="0">
              <a:solidFill>
                <a:srgbClr val="000000"/>
              </a:solidFill>
              <a:effectLst/>
              <a:latin typeface="Consolas" panose="020B0609020204030204" pitchFamily="49" charset="0"/>
            </a:endParaRPr>
          </a:p>
          <a:p>
            <a:pPr>
              <a:buNone/>
            </a:pPr>
            <a:r>
              <a:rPr lang="en-US" sz="1600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#include</a:t>
            </a: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600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&lt;</a:t>
            </a:r>
            <a:r>
              <a:rPr lang="en-US" sz="1600" b="0" dirty="0" err="1">
                <a:solidFill>
                  <a:srgbClr val="A31515"/>
                </a:solidFill>
                <a:effectLst/>
                <a:latin typeface="Consolas" panose="020B0609020204030204" pitchFamily="49" charset="0"/>
              </a:rPr>
              <a:t>string.h</a:t>
            </a:r>
            <a:r>
              <a:rPr lang="en-US" sz="1600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&gt;</a:t>
            </a:r>
            <a:endParaRPr lang="en-US" sz="1600" b="0" dirty="0">
              <a:solidFill>
                <a:srgbClr val="000000"/>
              </a:solidFill>
              <a:effectLst/>
              <a:latin typeface="Consolas" panose="020B0609020204030204" pitchFamily="49" charset="0"/>
            </a:endParaRPr>
          </a:p>
          <a:p>
            <a:pPr>
              <a:buNone/>
            </a:pPr>
            <a:endParaRPr lang="en-US" sz="1600" b="0" dirty="0">
              <a:solidFill>
                <a:srgbClr val="000000"/>
              </a:solidFill>
              <a:effectLst/>
              <a:latin typeface="Consolas" panose="020B0609020204030204" pitchFamily="49" charset="0"/>
            </a:endParaRPr>
          </a:p>
          <a:p>
            <a:pPr>
              <a:buNone/>
            </a:pPr>
            <a:r>
              <a:rPr lang="en-US" sz="1600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int</a:t>
            </a: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main(</a:t>
            </a:r>
            <a:r>
              <a:rPr lang="en-US" sz="1600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void</a:t>
            </a: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)</a:t>
            </a:r>
            <a:r>
              <a:rPr lang="ru-RU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{</a:t>
            </a:r>
          </a:p>
          <a:p>
            <a:pPr>
              <a:buNone/>
            </a:pP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sz="1600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char</a:t>
            </a: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source[] = </a:t>
            </a:r>
            <a:r>
              <a:rPr lang="en-US" sz="1600" b="0" dirty="0">
                <a:solidFill>
                  <a:srgbClr val="A31515"/>
                </a:solidFill>
                <a:effectLst/>
                <a:latin typeface="Consolas" panose="020B0609020204030204" pitchFamily="49" charset="0"/>
              </a:rPr>
              <a:t>"Hello, dynamic world!"</a:t>
            </a: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;</a:t>
            </a:r>
          </a:p>
          <a:p>
            <a:pPr>
              <a:buNone/>
            </a:pPr>
            <a:endParaRPr lang="en-US" sz="1600" b="0" dirty="0">
              <a:solidFill>
                <a:srgbClr val="000000"/>
              </a:solidFill>
              <a:effectLst/>
              <a:latin typeface="Consolas" panose="020B0609020204030204" pitchFamily="49" charset="0"/>
            </a:endParaRPr>
          </a:p>
          <a:p>
            <a:pPr>
              <a:buNone/>
            </a:pP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sz="1600" b="0" dirty="0" err="1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size_t</a:t>
            </a: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600" b="0" dirty="0" err="1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len</a:t>
            </a: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= </a:t>
            </a:r>
            <a:r>
              <a:rPr lang="en-US" sz="1600" b="0" dirty="0" err="1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strlen</a:t>
            </a: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(source);</a:t>
            </a:r>
          </a:p>
          <a:p>
            <a:pPr>
              <a:buNone/>
            </a:pPr>
            <a:endParaRPr lang="en-US" sz="1600" b="0" dirty="0">
              <a:solidFill>
                <a:srgbClr val="000000"/>
              </a:solidFill>
              <a:effectLst/>
              <a:latin typeface="Consolas" panose="020B0609020204030204" pitchFamily="49" charset="0"/>
            </a:endParaRPr>
          </a:p>
          <a:p>
            <a:pPr>
              <a:buNone/>
            </a:pP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sz="1600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char</a:t>
            </a: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*copy = malloc(</a:t>
            </a:r>
            <a:r>
              <a:rPr lang="en-US" sz="1600" b="0" dirty="0" err="1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len</a:t>
            </a: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+ </a:t>
            </a:r>
            <a:r>
              <a:rPr lang="en-US" sz="1600" b="0" dirty="0">
                <a:solidFill>
                  <a:srgbClr val="098658"/>
                </a:solidFill>
                <a:effectLst/>
                <a:latin typeface="Consolas" panose="020B0609020204030204" pitchFamily="49" charset="0"/>
              </a:rPr>
              <a:t>1</a:t>
            </a: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);</a:t>
            </a:r>
          </a:p>
          <a:p>
            <a:pPr>
              <a:buNone/>
            </a:pP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sz="1600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if</a:t>
            </a: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(copy == NULL) { </a:t>
            </a:r>
            <a:r>
              <a:rPr lang="en-US" sz="1600" b="0" dirty="0">
                <a:solidFill>
                  <a:srgbClr val="008000"/>
                </a:solidFill>
                <a:effectLst/>
                <a:latin typeface="Consolas" panose="020B0609020204030204" pitchFamily="49" charset="0"/>
              </a:rPr>
              <a:t>// </a:t>
            </a:r>
            <a:r>
              <a:rPr lang="ru-RU" sz="1600" b="0" dirty="0">
                <a:solidFill>
                  <a:srgbClr val="008000"/>
                </a:solidFill>
                <a:effectLst/>
                <a:latin typeface="Consolas" panose="020B0609020204030204" pitchFamily="49" charset="0"/>
              </a:rPr>
              <a:t>если не хватило памяти</a:t>
            </a:r>
            <a:endParaRPr lang="ru-RU" sz="1600" b="0" dirty="0">
              <a:solidFill>
                <a:srgbClr val="000000"/>
              </a:solidFill>
              <a:effectLst/>
              <a:latin typeface="Consolas" panose="020B0609020204030204" pitchFamily="49" charset="0"/>
            </a:endParaRPr>
          </a:p>
          <a:p>
            <a:pPr>
              <a:buNone/>
            </a:pPr>
            <a:r>
              <a:rPr lang="ru-RU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    </a:t>
            </a:r>
            <a:r>
              <a:rPr lang="en-US" sz="1600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return</a:t>
            </a: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600" b="0" dirty="0">
                <a:solidFill>
                  <a:srgbClr val="098658"/>
                </a:solidFill>
                <a:effectLst/>
                <a:latin typeface="Consolas" panose="020B0609020204030204" pitchFamily="49" charset="0"/>
              </a:rPr>
              <a:t>1</a:t>
            </a: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;</a:t>
            </a:r>
          </a:p>
          <a:p>
            <a:pPr>
              <a:buNone/>
            </a:pP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}</a:t>
            </a:r>
          </a:p>
          <a:p>
            <a:pPr>
              <a:buNone/>
            </a:pPr>
            <a:endParaRPr lang="en-US" sz="1600" b="0" dirty="0">
              <a:solidFill>
                <a:srgbClr val="000000"/>
              </a:solidFill>
              <a:effectLst/>
              <a:latin typeface="Consolas" panose="020B0609020204030204" pitchFamily="49" charset="0"/>
            </a:endParaRPr>
          </a:p>
          <a:p>
            <a:pPr>
              <a:buNone/>
            </a:pP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sz="1600" b="0" dirty="0" err="1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strcpy</a:t>
            </a: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(copy, source);</a:t>
            </a:r>
          </a:p>
          <a:p>
            <a:pPr>
              <a:buNone/>
            </a:pPr>
            <a:endParaRPr lang="en-US" sz="1600" b="0" dirty="0">
              <a:solidFill>
                <a:srgbClr val="000000"/>
              </a:solidFill>
              <a:effectLst/>
              <a:latin typeface="Consolas" panose="020B0609020204030204" pitchFamily="49" charset="0"/>
            </a:endParaRPr>
          </a:p>
          <a:p>
            <a:pPr>
              <a:buNone/>
            </a:pP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puts(copy);</a:t>
            </a:r>
          </a:p>
          <a:p>
            <a:pPr>
              <a:buNone/>
            </a:pP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free(copy); </a:t>
            </a:r>
            <a:r>
              <a:rPr lang="en-US" sz="1600" b="0" dirty="0">
                <a:solidFill>
                  <a:srgbClr val="008000"/>
                </a:solidFill>
                <a:effectLst/>
                <a:latin typeface="Consolas" panose="020B0609020204030204" pitchFamily="49" charset="0"/>
              </a:rPr>
              <a:t>// </a:t>
            </a:r>
            <a:r>
              <a:rPr lang="ru-RU" sz="1600" b="0" dirty="0">
                <a:solidFill>
                  <a:srgbClr val="008000"/>
                </a:solidFill>
                <a:effectLst/>
                <a:latin typeface="Consolas" panose="020B0609020204030204" pitchFamily="49" charset="0"/>
              </a:rPr>
              <a:t>Освобождаем память</a:t>
            </a:r>
            <a:endParaRPr lang="ru-RU" sz="1600" b="0" dirty="0">
              <a:solidFill>
                <a:srgbClr val="000000"/>
              </a:solidFill>
              <a:effectLst/>
              <a:latin typeface="Consolas" panose="020B0609020204030204" pitchFamily="49" charset="0"/>
            </a:endParaRPr>
          </a:p>
          <a:p>
            <a:pPr>
              <a:buNone/>
            </a:pPr>
            <a:r>
              <a:rPr lang="ru-RU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}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7D2D19FF-08DC-8A05-4075-D634AC8E279B}"/>
              </a:ext>
            </a:extLst>
          </p:cNvPr>
          <p:cNvSpPr txBox="1"/>
          <p:nvPr/>
        </p:nvSpPr>
        <p:spPr>
          <a:xfrm>
            <a:off x="6384174" y="6406684"/>
            <a:ext cx="3620193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dirty="0">
                <a:hlinkClick r:id="rId3"/>
              </a:rPr>
              <a:t>https://godbolt.org/z/n1xev9Ys5</a:t>
            </a:r>
            <a:endParaRPr lang="en-US" dirty="0"/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D04DA73E-9552-37CD-12B2-57FF9193A306}"/>
              </a:ext>
            </a:extLst>
          </p:cNvPr>
          <p:cNvSpPr txBox="1"/>
          <p:nvPr/>
        </p:nvSpPr>
        <p:spPr>
          <a:xfrm>
            <a:off x="1167939" y="6176963"/>
            <a:ext cx="3985952" cy="369332"/>
          </a:xfrm>
          <a:prstGeom prst="rect">
            <a:avLst/>
          </a:prstGeom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wrap="square">
            <a:spAutoFit/>
          </a:bodyPr>
          <a:lstStyle/>
          <a:p>
            <a:pPr algn="l">
              <a:buNone/>
            </a:pPr>
            <a:r>
              <a:rPr lang="en-US" b="0" i="0" dirty="0">
                <a:solidFill>
                  <a:schemeClr val="bg1"/>
                </a:solidFill>
                <a:effectLst/>
                <a:latin typeface="Courier New" panose="02070309020205020404" pitchFamily="49" charset="0"/>
              </a:rPr>
              <a:t>Hello, dynamic world!</a:t>
            </a:r>
          </a:p>
        </p:txBody>
      </p:sp>
    </p:spTree>
    <p:extLst>
      <p:ext uri="{BB962C8B-B14F-4D97-AF65-F5344CB8AC3E}">
        <p14:creationId xmlns:p14="http://schemas.microsoft.com/office/powerpoint/2010/main" val="4042133174"/>
      </p:ext>
    </p:extLst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2F6B4233-15FC-0218-C5B6-4A581519E2C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35E9561-002A-41EF-B5BA-43A01A72A4F8}" type="slidenum">
              <a:rPr lang="en-US" smtClean="0"/>
              <a:t>26</a:t>
            </a:fld>
            <a:endParaRPr lang="en-US"/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19E3F367-B81C-9FAA-EEC8-8C17224D007C}"/>
              </a:ext>
            </a:extLst>
          </p:cNvPr>
          <p:cNvSpPr txBox="1"/>
          <p:nvPr/>
        </p:nvSpPr>
        <p:spPr>
          <a:xfrm>
            <a:off x="1" y="0"/>
            <a:ext cx="6095999" cy="6986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buNone/>
            </a:pPr>
            <a:r>
              <a:rPr lang="en-US" sz="1600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#include</a:t>
            </a: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600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&lt;</a:t>
            </a:r>
            <a:r>
              <a:rPr lang="en-US" sz="1600" b="0" dirty="0" err="1">
                <a:solidFill>
                  <a:srgbClr val="A31515"/>
                </a:solidFill>
                <a:effectLst/>
                <a:latin typeface="Consolas" panose="020B0609020204030204" pitchFamily="49" charset="0"/>
              </a:rPr>
              <a:t>stdlib.h</a:t>
            </a:r>
            <a:r>
              <a:rPr lang="en-US" sz="1600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&gt;</a:t>
            </a:r>
            <a:endParaRPr lang="en-US" sz="1600" b="0" dirty="0">
              <a:solidFill>
                <a:srgbClr val="000000"/>
              </a:solidFill>
              <a:effectLst/>
              <a:latin typeface="Consolas" panose="020B0609020204030204" pitchFamily="49" charset="0"/>
            </a:endParaRPr>
          </a:p>
          <a:p>
            <a:pPr>
              <a:buNone/>
            </a:pPr>
            <a:endParaRPr lang="en-US" sz="1600" b="0" dirty="0">
              <a:solidFill>
                <a:srgbClr val="000000"/>
              </a:solidFill>
              <a:effectLst/>
              <a:latin typeface="Consolas" panose="020B0609020204030204" pitchFamily="49" charset="0"/>
            </a:endParaRPr>
          </a:p>
          <a:p>
            <a:pPr>
              <a:buNone/>
            </a:pPr>
            <a:r>
              <a:rPr lang="en-US" sz="1600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char</a:t>
            </a: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*</a:t>
            </a:r>
            <a:r>
              <a:rPr lang="en-US" sz="1600" b="0" dirty="0" err="1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ReadString</a:t>
            </a: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sz="1600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void</a:t>
            </a: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) {</a:t>
            </a:r>
          </a:p>
          <a:p>
            <a:pPr>
              <a:buNone/>
            </a:pP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sz="1600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char</a:t>
            </a: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*s = NULL;</a:t>
            </a:r>
          </a:p>
          <a:p>
            <a:pPr>
              <a:buNone/>
            </a:pP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sz="1600" b="0" dirty="0" err="1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size_t</a:t>
            </a: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600" b="0" dirty="0" err="1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len</a:t>
            </a: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= </a:t>
            </a:r>
            <a:r>
              <a:rPr lang="en-US" sz="1600" b="0" dirty="0">
                <a:solidFill>
                  <a:srgbClr val="098658"/>
                </a:solidFill>
                <a:effectLst/>
                <a:latin typeface="Consolas" panose="020B0609020204030204" pitchFamily="49" charset="0"/>
              </a:rPr>
              <a:t>0</a:t>
            </a: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;</a:t>
            </a:r>
          </a:p>
          <a:p>
            <a:pPr>
              <a:buNone/>
            </a:pP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sz="1600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int</a:t>
            </a: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600" b="0" dirty="0" err="1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ch</a:t>
            </a: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;</a:t>
            </a:r>
            <a:b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</a:br>
            <a:endParaRPr lang="en-US" sz="1600" b="0" dirty="0">
              <a:solidFill>
                <a:srgbClr val="000000"/>
              </a:solidFill>
              <a:effectLst/>
              <a:latin typeface="Consolas" panose="020B0609020204030204" pitchFamily="49" charset="0"/>
            </a:endParaRPr>
          </a:p>
          <a:p>
            <a:pPr>
              <a:buNone/>
            </a:pP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sz="1600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while</a:t>
            </a: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((</a:t>
            </a:r>
            <a:r>
              <a:rPr lang="en-US" sz="1600" b="0" dirty="0" err="1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ch</a:t>
            </a: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= </a:t>
            </a:r>
            <a:r>
              <a:rPr lang="en-US" sz="1600" b="0" dirty="0" err="1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getchar</a:t>
            </a: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()) != </a:t>
            </a:r>
            <a:r>
              <a:rPr lang="en-US" sz="1600" b="0" dirty="0">
                <a:solidFill>
                  <a:srgbClr val="A31515"/>
                </a:solidFill>
                <a:effectLst/>
                <a:latin typeface="Consolas" panose="020B0609020204030204" pitchFamily="49" charset="0"/>
              </a:rPr>
              <a:t>'\n'</a:t>
            </a: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&amp;&amp; </a:t>
            </a:r>
            <a:r>
              <a:rPr lang="en-US" sz="1600" b="0" dirty="0" err="1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ch</a:t>
            </a: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!= EOF) {</a:t>
            </a:r>
          </a:p>
          <a:p>
            <a:pPr>
              <a:buNone/>
            </a:pP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    </a:t>
            </a:r>
            <a:r>
              <a:rPr lang="en-US" sz="1600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char</a:t>
            </a: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*</a:t>
            </a:r>
            <a:r>
              <a:rPr lang="en-US" sz="1600" b="0" dirty="0" err="1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tmp</a:t>
            </a: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= </a:t>
            </a:r>
            <a:r>
              <a:rPr lang="en-US" sz="1600" b="0" dirty="0" err="1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realloc</a:t>
            </a: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(s, </a:t>
            </a:r>
            <a:r>
              <a:rPr lang="en-US" sz="1600" b="0" dirty="0" err="1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len</a:t>
            </a: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+ </a:t>
            </a:r>
            <a:r>
              <a:rPr lang="en-US" sz="1600" b="0" dirty="0">
                <a:solidFill>
                  <a:srgbClr val="098658"/>
                </a:solidFill>
                <a:effectLst/>
                <a:latin typeface="Consolas" panose="020B0609020204030204" pitchFamily="49" charset="0"/>
              </a:rPr>
              <a:t>1</a:t>
            </a: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);</a:t>
            </a:r>
          </a:p>
          <a:p>
            <a:pPr>
              <a:buNone/>
            </a:pP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    </a:t>
            </a:r>
            <a:r>
              <a:rPr lang="en-US" sz="1600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if</a:t>
            </a: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(</a:t>
            </a:r>
            <a:r>
              <a:rPr lang="en-US" sz="1600" b="0" dirty="0" err="1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tmp</a:t>
            </a: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== NULL) {</a:t>
            </a:r>
          </a:p>
          <a:p>
            <a:pPr>
              <a:buNone/>
            </a:pP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        free(s);</a:t>
            </a:r>
          </a:p>
          <a:p>
            <a:pPr>
              <a:buNone/>
            </a:pP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        </a:t>
            </a:r>
            <a:r>
              <a:rPr lang="en-US" sz="1600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return</a:t>
            </a: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NULL;</a:t>
            </a:r>
          </a:p>
          <a:p>
            <a:pPr>
              <a:buNone/>
            </a:pP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    }</a:t>
            </a:r>
          </a:p>
          <a:p>
            <a:pPr>
              <a:buNone/>
            </a:pP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    s = </a:t>
            </a:r>
            <a:r>
              <a:rPr lang="en-US" sz="1600" b="0" dirty="0" err="1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tmp</a:t>
            </a: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;</a:t>
            </a:r>
          </a:p>
          <a:p>
            <a:pPr>
              <a:buNone/>
            </a:pP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    s[</a:t>
            </a:r>
            <a:r>
              <a:rPr lang="en-US" sz="1600" b="0" dirty="0" err="1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len</a:t>
            </a: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++] = (</a:t>
            </a:r>
            <a:r>
              <a:rPr lang="en-US" sz="1600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char</a:t>
            </a: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)</a:t>
            </a:r>
            <a:r>
              <a:rPr lang="en-US" sz="1600" b="0" dirty="0" err="1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ch</a:t>
            </a: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;</a:t>
            </a:r>
          </a:p>
          <a:p>
            <a:pPr>
              <a:buNone/>
            </a:pP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}</a:t>
            </a:r>
          </a:p>
          <a:p>
            <a:pPr>
              <a:buNone/>
            </a:pPr>
            <a:endParaRPr lang="en-US" sz="1600" b="0" dirty="0">
              <a:solidFill>
                <a:srgbClr val="000000"/>
              </a:solidFill>
              <a:effectLst/>
              <a:latin typeface="Consolas" panose="020B0609020204030204" pitchFamily="49" charset="0"/>
            </a:endParaRPr>
          </a:p>
          <a:p>
            <a:pPr>
              <a:buNone/>
            </a:pP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sz="1600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char</a:t>
            </a: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*</a:t>
            </a:r>
            <a:r>
              <a:rPr lang="en-US" sz="1600" b="0" dirty="0" err="1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tmp</a:t>
            </a: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= </a:t>
            </a:r>
            <a:r>
              <a:rPr lang="en-US" sz="1600" b="0" dirty="0" err="1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realloc</a:t>
            </a: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(s, </a:t>
            </a:r>
            <a:r>
              <a:rPr lang="en-US" sz="1600" b="0" dirty="0" err="1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len</a:t>
            </a: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+ </a:t>
            </a:r>
            <a:r>
              <a:rPr lang="en-US" sz="1600" b="0" dirty="0">
                <a:solidFill>
                  <a:srgbClr val="098658"/>
                </a:solidFill>
                <a:effectLst/>
                <a:latin typeface="Consolas" panose="020B0609020204030204" pitchFamily="49" charset="0"/>
              </a:rPr>
              <a:t>1</a:t>
            </a: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);</a:t>
            </a:r>
          </a:p>
          <a:p>
            <a:pPr>
              <a:buNone/>
            </a:pP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sz="1600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if</a:t>
            </a: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(</a:t>
            </a:r>
            <a:r>
              <a:rPr lang="en-US" sz="1600" b="0" dirty="0" err="1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tmp</a:t>
            </a: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== NULL) {</a:t>
            </a:r>
          </a:p>
          <a:p>
            <a:pPr>
              <a:buNone/>
            </a:pP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    free(s);</a:t>
            </a:r>
          </a:p>
          <a:p>
            <a:pPr>
              <a:buNone/>
            </a:pP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    </a:t>
            </a:r>
            <a:r>
              <a:rPr lang="en-US" sz="1600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return</a:t>
            </a: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NULL;</a:t>
            </a:r>
          </a:p>
          <a:p>
            <a:pPr>
              <a:buNone/>
            </a:pP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}</a:t>
            </a:r>
          </a:p>
          <a:p>
            <a:pPr>
              <a:buNone/>
            </a:pPr>
            <a:endParaRPr lang="en-US" sz="1600" b="0" dirty="0">
              <a:solidFill>
                <a:srgbClr val="000000"/>
              </a:solidFill>
              <a:effectLst/>
              <a:latin typeface="Consolas" panose="020B0609020204030204" pitchFamily="49" charset="0"/>
            </a:endParaRPr>
          </a:p>
          <a:p>
            <a:pPr>
              <a:buNone/>
            </a:pP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s = </a:t>
            </a:r>
            <a:r>
              <a:rPr lang="en-US" sz="1600" b="0" dirty="0" err="1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tmp</a:t>
            </a: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;</a:t>
            </a:r>
          </a:p>
          <a:p>
            <a:pPr>
              <a:buNone/>
            </a:pP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s[</a:t>
            </a:r>
            <a:r>
              <a:rPr lang="en-US" sz="1600" b="0" dirty="0" err="1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len</a:t>
            </a: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] = </a:t>
            </a:r>
            <a:r>
              <a:rPr lang="en-US" sz="1600" b="0" dirty="0">
                <a:solidFill>
                  <a:srgbClr val="A31515"/>
                </a:solidFill>
                <a:effectLst/>
                <a:latin typeface="Consolas" panose="020B0609020204030204" pitchFamily="49" charset="0"/>
              </a:rPr>
              <a:t>'\0'</a:t>
            </a: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;</a:t>
            </a:r>
          </a:p>
          <a:p>
            <a:pPr>
              <a:buNone/>
            </a:pP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sz="1600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return</a:t>
            </a: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s;</a:t>
            </a:r>
          </a:p>
          <a:p>
            <a:pPr>
              <a:buNone/>
            </a:pP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}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633C13C2-7615-B6BC-71A9-C1C83D01FF20}"/>
              </a:ext>
            </a:extLst>
          </p:cNvPr>
          <p:cNvSpPr txBox="1"/>
          <p:nvPr/>
        </p:nvSpPr>
        <p:spPr>
          <a:xfrm>
            <a:off x="6096000" y="3493264"/>
            <a:ext cx="4326775" cy="233910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buNone/>
            </a:pPr>
            <a:r>
              <a:rPr lang="en-US" sz="1600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int</a:t>
            </a: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main(</a:t>
            </a:r>
            <a:r>
              <a:rPr lang="en-US" sz="1600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void</a:t>
            </a: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) {</a:t>
            </a:r>
          </a:p>
          <a:p>
            <a:pPr>
              <a:buNone/>
            </a:pP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sz="1600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char</a:t>
            </a: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*line = </a:t>
            </a:r>
            <a:r>
              <a:rPr lang="en-US" sz="1600" b="0" dirty="0" err="1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ReadString</a:t>
            </a: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();</a:t>
            </a:r>
          </a:p>
          <a:p>
            <a:pPr>
              <a:buNone/>
            </a:pP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sz="1600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if</a:t>
            </a: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(line == NULL) {</a:t>
            </a:r>
          </a:p>
          <a:p>
            <a:pPr>
              <a:buNone/>
            </a:pP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    </a:t>
            </a:r>
            <a:r>
              <a:rPr lang="en-US" sz="1600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return</a:t>
            </a: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600" b="0" dirty="0">
                <a:solidFill>
                  <a:srgbClr val="098658"/>
                </a:solidFill>
                <a:effectLst/>
                <a:latin typeface="Consolas" panose="020B0609020204030204" pitchFamily="49" charset="0"/>
              </a:rPr>
              <a:t>1</a:t>
            </a: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;</a:t>
            </a:r>
          </a:p>
          <a:p>
            <a:pPr>
              <a:buNone/>
            </a:pP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}</a:t>
            </a:r>
          </a:p>
          <a:p>
            <a:pPr>
              <a:buNone/>
            </a:pPr>
            <a:endParaRPr lang="en-US" sz="1600" b="0" dirty="0">
              <a:solidFill>
                <a:srgbClr val="000000"/>
              </a:solidFill>
              <a:effectLst/>
              <a:latin typeface="Consolas" panose="020B0609020204030204" pitchFamily="49" charset="0"/>
            </a:endParaRPr>
          </a:p>
          <a:p>
            <a:pPr>
              <a:buNone/>
            </a:pP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puts(line);</a:t>
            </a:r>
          </a:p>
          <a:p>
            <a:pPr>
              <a:buNone/>
            </a:pP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free(line);</a:t>
            </a:r>
          </a:p>
          <a:p>
            <a:pPr>
              <a:buNone/>
            </a:pP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}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C6E8A29D-EBDA-D7E8-8A85-AB37360DDB8B}"/>
              </a:ext>
            </a:extLst>
          </p:cNvPr>
          <p:cNvSpPr txBox="1"/>
          <p:nvPr/>
        </p:nvSpPr>
        <p:spPr>
          <a:xfrm>
            <a:off x="6082145" y="5909692"/>
            <a:ext cx="3793375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dirty="0">
                <a:hlinkClick r:id="rId3"/>
              </a:rPr>
              <a:t>https://godbolt.org/z/7EqW6hhP7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790806840"/>
      </p:ext>
    </p:extLst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69CB72B-B58C-C81F-C8FA-61500E3B92B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C6109C30-1EDD-FBB1-A3C2-B8F4667A763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35E9561-002A-41EF-B5BA-43A01A72A4F8}" type="slidenum">
              <a:rPr lang="en-US" smtClean="0"/>
              <a:t>27</a:t>
            </a:fld>
            <a:endParaRPr lang="en-US"/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E46BC56D-3823-BD7F-BC00-CC2E64D3E14A}"/>
              </a:ext>
            </a:extLst>
          </p:cNvPr>
          <p:cNvSpPr txBox="1"/>
          <p:nvPr/>
        </p:nvSpPr>
        <p:spPr>
          <a:xfrm>
            <a:off x="1" y="0"/>
            <a:ext cx="6095999" cy="6986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buNone/>
            </a:pPr>
            <a:r>
              <a:rPr lang="en-US" sz="1600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#include</a:t>
            </a: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600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&lt;</a:t>
            </a:r>
            <a:r>
              <a:rPr lang="en-US" sz="1600" b="0" dirty="0" err="1">
                <a:solidFill>
                  <a:srgbClr val="A31515"/>
                </a:solidFill>
                <a:effectLst/>
                <a:latin typeface="Consolas" panose="020B0609020204030204" pitchFamily="49" charset="0"/>
              </a:rPr>
              <a:t>stdlib.h</a:t>
            </a:r>
            <a:r>
              <a:rPr lang="en-US" sz="1600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&gt;</a:t>
            </a:r>
            <a:endParaRPr lang="en-US" sz="1600" b="0" dirty="0">
              <a:solidFill>
                <a:srgbClr val="000000"/>
              </a:solidFill>
              <a:effectLst/>
              <a:latin typeface="Consolas" panose="020B0609020204030204" pitchFamily="49" charset="0"/>
            </a:endParaRPr>
          </a:p>
          <a:p>
            <a:pPr>
              <a:buNone/>
            </a:pPr>
            <a:endParaRPr lang="en-US" sz="1600" b="0" dirty="0">
              <a:solidFill>
                <a:srgbClr val="000000"/>
              </a:solidFill>
              <a:effectLst/>
              <a:latin typeface="Consolas" panose="020B0609020204030204" pitchFamily="49" charset="0"/>
            </a:endParaRPr>
          </a:p>
          <a:p>
            <a:pPr>
              <a:buNone/>
            </a:pPr>
            <a:r>
              <a:rPr lang="en-US" sz="1600" dirty="0">
                <a:solidFill>
                  <a:srgbClr val="0000FF"/>
                </a:solidFill>
                <a:latin typeface="Consolas" panose="020B0609020204030204" pitchFamily="49" charset="0"/>
              </a:rPr>
              <a:t>char</a:t>
            </a:r>
            <a:r>
              <a:rPr lang="en-US" sz="1600" dirty="0">
                <a:solidFill>
                  <a:srgbClr val="000000"/>
                </a:solidFill>
                <a:latin typeface="Consolas" panose="020B0609020204030204" pitchFamily="49" charset="0"/>
              </a:rPr>
              <a:t> *</a:t>
            </a:r>
            <a:r>
              <a:rPr lang="en-US" sz="1600" dirty="0" err="1">
                <a:solidFill>
                  <a:srgbClr val="000000"/>
                </a:solidFill>
                <a:latin typeface="Consolas" panose="020B0609020204030204" pitchFamily="49" charset="0"/>
              </a:rPr>
              <a:t>ReadString</a:t>
            </a:r>
            <a:r>
              <a:rPr lang="en-US" sz="160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US" sz="1600" dirty="0">
                <a:solidFill>
                  <a:srgbClr val="0000FF"/>
                </a:solidFill>
                <a:latin typeface="Consolas" panose="020B0609020204030204" pitchFamily="49" charset="0"/>
              </a:rPr>
              <a:t>void</a:t>
            </a:r>
            <a:r>
              <a:rPr lang="en-US" sz="1600" dirty="0">
                <a:solidFill>
                  <a:srgbClr val="000000"/>
                </a:solidFill>
                <a:latin typeface="Consolas" panose="020B0609020204030204" pitchFamily="49" charset="0"/>
              </a:rPr>
              <a:t>) {</a:t>
            </a:r>
          </a:p>
          <a:p>
            <a:pPr>
              <a:buNone/>
            </a:pPr>
            <a:r>
              <a:rPr lang="en-US" sz="1600" dirty="0">
                <a:solidFill>
                  <a:srgbClr val="000000"/>
                </a:solidFill>
                <a:latin typeface="Consolas" panose="020B0609020204030204" pitchFamily="49" charset="0"/>
              </a:rPr>
              <a:t>    </a:t>
            </a:r>
            <a:r>
              <a:rPr lang="en-US" sz="1600" dirty="0">
                <a:solidFill>
                  <a:srgbClr val="0000FF"/>
                </a:solidFill>
                <a:latin typeface="Consolas" panose="020B0609020204030204" pitchFamily="49" charset="0"/>
              </a:rPr>
              <a:t>char</a:t>
            </a:r>
            <a:r>
              <a:rPr lang="en-US" sz="1600" dirty="0">
                <a:solidFill>
                  <a:srgbClr val="000000"/>
                </a:solidFill>
                <a:latin typeface="Consolas" panose="020B0609020204030204" pitchFamily="49" charset="0"/>
              </a:rPr>
              <a:t> *s = NULL;</a:t>
            </a:r>
          </a:p>
          <a:p>
            <a:pPr>
              <a:buNone/>
            </a:pPr>
            <a:r>
              <a:rPr lang="en-US" sz="1600" dirty="0">
                <a:solidFill>
                  <a:srgbClr val="000000"/>
                </a:solidFill>
                <a:latin typeface="Consolas" panose="020B0609020204030204" pitchFamily="49" charset="0"/>
              </a:rPr>
              <a:t>    </a:t>
            </a:r>
            <a:r>
              <a:rPr lang="en-US" sz="1600" dirty="0" err="1">
                <a:solidFill>
                  <a:srgbClr val="000000"/>
                </a:solidFill>
                <a:latin typeface="Consolas" panose="020B0609020204030204" pitchFamily="49" charset="0"/>
              </a:rPr>
              <a:t>size_t</a:t>
            </a:r>
            <a:r>
              <a:rPr lang="en-US" sz="160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US" sz="1600" dirty="0" err="1">
                <a:solidFill>
                  <a:srgbClr val="000000"/>
                </a:solidFill>
                <a:latin typeface="Consolas" panose="020B0609020204030204" pitchFamily="49" charset="0"/>
              </a:rPr>
              <a:t>len</a:t>
            </a:r>
            <a:r>
              <a:rPr lang="en-US" sz="1600" dirty="0">
                <a:solidFill>
                  <a:srgbClr val="000000"/>
                </a:solidFill>
                <a:latin typeface="Consolas" panose="020B0609020204030204" pitchFamily="49" charset="0"/>
              </a:rPr>
              <a:t> = </a:t>
            </a:r>
            <a:r>
              <a:rPr lang="en-US" sz="1600" dirty="0">
                <a:solidFill>
                  <a:srgbClr val="098658"/>
                </a:solidFill>
                <a:latin typeface="Consolas" panose="020B0609020204030204" pitchFamily="49" charset="0"/>
              </a:rPr>
              <a:t>0</a:t>
            </a:r>
            <a:r>
              <a:rPr lang="en-US" sz="1600" dirty="0">
                <a:solidFill>
                  <a:srgbClr val="000000"/>
                </a:solidFill>
                <a:latin typeface="Consolas" panose="020B0609020204030204" pitchFamily="49" charset="0"/>
              </a:rPr>
              <a:t>;</a:t>
            </a:r>
          </a:p>
          <a:p>
            <a:pPr>
              <a:buNone/>
            </a:pPr>
            <a:r>
              <a:rPr lang="en-US" sz="1600" dirty="0">
                <a:solidFill>
                  <a:srgbClr val="000000"/>
                </a:solidFill>
                <a:latin typeface="Consolas" panose="020B0609020204030204" pitchFamily="49" charset="0"/>
              </a:rPr>
              <a:t>    </a:t>
            </a:r>
            <a:r>
              <a:rPr lang="en-US" sz="1600" dirty="0">
                <a:solidFill>
                  <a:srgbClr val="0000FF"/>
                </a:solidFill>
                <a:latin typeface="Consolas" panose="020B0609020204030204" pitchFamily="49" charset="0"/>
              </a:rPr>
              <a:t>int</a:t>
            </a:r>
            <a:r>
              <a:rPr lang="en-US" sz="160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US" sz="1600" dirty="0" err="1">
                <a:solidFill>
                  <a:srgbClr val="000000"/>
                </a:solidFill>
                <a:latin typeface="Consolas" panose="020B0609020204030204" pitchFamily="49" charset="0"/>
              </a:rPr>
              <a:t>ch</a:t>
            </a:r>
            <a:r>
              <a:rPr lang="en-US" sz="1600" dirty="0">
                <a:solidFill>
                  <a:srgbClr val="000000"/>
                </a:solidFill>
                <a:latin typeface="Consolas" panose="020B0609020204030204" pitchFamily="49" charset="0"/>
              </a:rPr>
              <a:t>;</a:t>
            </a:r>
          </a:p>
          <a:p>
            <a:pPr>
              <a:buNone/>
            </a:pPr>
            <a:endParaRPr lang="en-US" sz="160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>
              <a:buNone/>
            </a:pPr>
            <a:r>
              <a:rPr lang="en-US" sz="1600" dirty="0">
                <a:solidFill>
                  <a:srgbClr val="000000"/>
                </a:solidFill>
                <a:latin typeface="Consolas" panose="020B0609020204030204" pitchFamily="49" charset="0"/>
              </a:rPr>
              <a:t>    </a:t>
            </a:r>
            <a:r>
              <a:rPr lang="en-US" sz="1600" dirty="0">
                <a:solidFill>
                  <a:srgbClr val="0000FF"/>
                </a:solidFill>
                <a:latin typeface="Consolas" panose="020B0609020204030204" pitchFamily="49" charset="0"/>
              </a:rPr>
              <a:t>while</a:t>
            </a:r>
            <a:r>
              <a:rPr lang="en-US" sz="1600" dirty="0">
                <a:solidFill>
                  <a:srgbClr val="000000"/>
                </a:solidFill>
                <a:latin typeface="Consolas" panose="020B0609020204030204" pitchFamily="49" charset="0"/>
              </a:rPr>
              <a:t> ((</a:t>
            </a:r>
            <a:r>
              <a:rPr lang="en-US" sz="1600" dirty="0" err="1">
                <a:solidFill>
                  <a:srgbClr val="000000"/>
                </a:solidFill>
                <a:latin typeface="Consolas" panose="020B0609020204030204" pitchFamily="49" charset="0"/>
              </a:rPr>
              <a:t>ch</a:t>
            </a:r>
            <a:r>
              <a:rPr lang="en-US" sz="1600" dirty="0">
                <a:solidFill>
                  <a:srgbClr val="000000"/>
                </a:solidFill>
                <a:latin typeface="Consolas" panose="020B0609020204030204" pitchFamily="49" charset="0"/>
              </a:rPr>
              <a:t> = </a:t>
            </a:r>
            <a:r>
              <a:rPr lang="en-US" sz="1600" dirty="0" err="1">
                <a:solidFill>
                  <a:srgbClr val="000000"/>
                </a:solidFill>
                <a:latin typeface="Consolas" panose="020B0609020204030204" pitchFamily="49" charset="0"/>
              </a:rPr>
              <a:t>getchar</a:t>
            </a:r>
            <a:r>
              <a:rPr lang="en-US" sz="1600" dirty="0">
                <a:solidFill>
                  <a:srgbClr val="000000"/>
                </a:solidFill>
                <a:latin typeface="Consolas" panose="020B0609020204030204" pitchFamily="49" charset="0"/>
              </a:rPr>
              <a:t>()) != </a:t>
            </a:r>
            <a:r>
              <a:rPr lang="en-US" sz="1600" dirty="0">
                <a:solidFill>
                  <a:srgbClr val="A31515"/>
                </a:solidFill>
                <a:latin typeface="Consolas" panose="020B0609020204030204" pitchFamily="49" charset="0"/>
              </a:rPr>
              <a:t>'\n'</a:t>
            </a:r>
            <a:r>
              <a:rPr lang="en-US" sz="1600" dirty="0">
                <a:solidFill>
                  <a:srgbClr val="000000"/>
                </a:solidFill>
                <a:latin typeface="Consolas" panose="020B0609020204030204" pitchFamily="49" charset="0"/>
              </a:rPr>
              <a:t> &amp;&amp; </a:t>
            </a:r>
            <a:r>
              <a:rPr lang="en-US" sz="1600" dirty="0" err="1">
                <a:solidFill>
                  <a:srgbClr val="000000"/>
                </a:solidFill>
                <a:latin typeface="Consolas" panose="020B0609020204030204" pitchFamily="49" charset="0"/>
              </a:rPr>
              <a:t>ch</a:t>
            </a:r>
            <a:r>
              <a:rPr lang="en-US" sz="1600" dirty="0">
                <a:solidFill>
                  <a:srgbClr val="000000"/>
                </a:solidFill>
                <a:latin typeface="Consolas" panose="020B0609020204030204" pitchFamily="49" charset="0"/>
              </a:rPr>
              <a:t> != EOF) {</a:t>
            </a:r>
          </a:p>
          <a:p>
            <a:pPr>
              <a:buNone/>
            </a:pPr>
            <a:r>
              <a:rPr lang="en-US" sz="1600" dirty="0">
                <a:solidFill>
                  <a:srgbClr val="000000"/>
                </a:solidFill>
                <a:latin typeface="Consolas" panose="020B0609020204030204" pitchFamily="49" charset="0"/>
              </a:rPr>
              <a:t>        </a:t>
            </a:r>
            <a:r>
              <a:rPr lang="en-US" sz="1600" dirty="0">
                <a:solidFill>
                  <a:srgbClr val="0000FF"/>
                </a:solidFill>
                <a:latin typeface="Consolas" panose="020B0609020204030204" pitchFamily="49" charset="0"/>
              </a:rPr>
              <a:t>char</a:t>
            </a:r>
            <a:r>
              <a:rPr lang="en-US" sz="1600" dirty="0">
                <a:solidFill>
                  <a:srgbClr val="000000"/>
                </a:solidFill>
                <a:latin typeface="Consolas" panose="020B0609020204030204" pitchFamily="49" charset="0"/>
              </a:rPr>
              <a:t> *</a:t>
            </a:r>
            <a:r>
              <a:rPr lang="en-US" sz="1600" dirty="0" err="1">
                <a:solidFill>
                  <a:srgbClr val="000000"/>
                </a:solidFill>
                <a:latin typeface="Consolas" panose="020B0609020204030204" pitchFamily="49" charset="0"/>
              </a:rPr>
              <a:t>tmp</a:t>
            </a:r>
            <a:r>
              <a:rPr lang="en-US" sz="1600" dirty="0">
                <a:solidFill>
                  <a:srgbClr val="000000"/>
                </a:solidFill>
                <a:latin typeface="Consolas" panose="020B0609020204030204" pitchFamily="49" charset="0"/>
              </a:rPr>
              <a:t> = </a:t>
            </a:r>
            <a:r>
              <a:rPr lang="en-US" sz="1600" dirty="0" err="1">
                <a:solidFill>
                  <a:srgbClr val="000000"/>
                </a:solidFill>
                <a:latin typeface="Consolas" panose="020B0609020204030204" pitchFamily="49" charset="0"/>
              </a:rPr>
              <a:t>realloc</a:t>
            </a:r>
            <a:r>
              <a:rPr lang="en-US" sz="1600" dirty="0">
                <a:solidFill>
                  <a:srgbClr val="000000"/>
                </a:solidFill>
                <a:latin typeface="Consolas" panose="020B0609020204030204" pitchFamily="49" charset="0"/>
              </a:rPr>
              <a:t>(s, </a:t>
            </a:r>
            <a:r>
              <a:rPr lang="en-US" sz="1600" dirty="0" err="1">
                <a:solidFill>
                  <a:srgbClr val="000000"/>
                </a:solidFill>
                <a:latin typeface="Consolas" panose="020B0609020204030204" pitchFamily="49" charset="0"/>
              </a:rPr>
              <a:t>len</a:t>
            </a:r>
            <a:r>
              <a:rPr lang="en-US" sz="1600" dirty="0">
                <a:solidFill>
                  <a:srgbClr val="000000"/>
                </a:solidFill>
                <a:latin typeface="Consolas" panose="020B0609020204030204" pitchFamily="49" charset="0"/>
              </a:rPr>
              <a:t> + </a:t>
            </a:r>
            <a:r>
              <a:rPr lang="en-US" sz="1600" dirty="0">
                <a:solidFill>
                  <a:srgbClr val="098658"/>
                </a:solidFill>
                <a:latin typeface="Consolas" panose="020B0609020204030204" pitchFamily="49" charset="0"/>
              </a:rPr>
              <a:t>1</a:t>
            </a:r>
            <a:r>
              <a:rPr lang="en-US" sz="1600" dirty="0">
                <a:solidFill>
                  <a:srgbClr val="000000"/>
                </a:solidFill>
                <a:latin typeface="Consolas" panose="020B0609020204030204" pitchFamily="49" charset="0"/>
              </a:rPr>
              <a:t>);</a:t>
            </a:r>
          </a:p>
          <a:p>
            <a:pPr>
              <a:buNone/>
            </a:pPr>
            <a:r>
              <a:rPr lang="en-US" sz="1600" dirty="0">
                <a:solidFill>
                  <a:srgbClr val="000000"/>
                </a:solidFill>
                <a:latin typeface="Consolas" panose="020B0609020204030204" pitchFamily="49" charset="0"/>
              </a:rPr>
              <a:t>        </a:t>
            </a:r>
            <a:r>
              <a:rPr lang="en-US" sz="1600" dirty="0">
                <a:solidFill>
                  <a:srgbClr val="0000FF"/>
                </a:solidFill>
                <a:latin typeface="Consolas" panose="020B0609020204030204" pitchFamily="49" charset="0"/>
              </a:rPr>
              <a:t>if</a:t>
            </a:r>
            <a:r>
              <a:rPr lang="en-US" sz="1600" dirty="0">
                <a:solidFill>
                  <a:srgbClr val="000000"/>
                </a:solidFill>
                <a:latin typeface="Consolas" panose="020B0609020204030204" pitchFamily="49" charset="0"/>
              </a:rPr>
              <a:t> (</a:t>
            </a:r>
            <a:r>
              <a:rPr lang="en-US" sz="1600" dirty="0" err="1">
                <a:solidFill>
                  <a:srgbClr val="000000"/>
                </a:solidFill>
                <a:latin typeface="Consolas" panose="020B0609020204030204" pitchFamily="49" charset="0"/>
              </a:rPr>
              <a:t>tmp</a:t>
            </a:r>
            <a:r>
              <a:rPr lang="en-US" sz="1600" dirty="0">
                <a:solidFill>
                  <a:srgbClr val="000000"/>
                </a:solidFill>
                <a:latin typeface="Consolas" panose="020B0609020204030204" pitchFamily="49" charset="0"/>
              </a:rPr>
              <a:t> == NULL)</a:t>
            </a:r>
          </a:p>
          <a:p>
            <a:pPr>
              <a:buNone/>
            </a:pPr>
            <a:r>
              <a:rPr lang="en-US" sz="1600" dirty="0">
                <a:solidFill>
                  <a:srgbClr val="000000"/>
                </a:solidFill>
                <a:latin typeface="Consolas" panose="020B0609020204030204" pitchFamily="49" charset="0"/>
              </a:rPr>
              <a:t>            </a:t>
            </a:r>
            <a:r>
              <a:rPr lang="en-US" sz="1600" dirty="0" err="1">
                <a:solidFill>
                  <a:srgbClr val="0000FF"/>
                </a:solidFill>
                <a:latin typeface="Consolas" panose="020B0609020204030204" pitchFamily="49" charset="0"/>
              </a:rPr>
              <a:t>goto</a:t>
            </a:r>
            <a:r>
              <a:rPr lang="en-US" sz="1600" dirty="0">
                <a:solidFill>
                  <a:srgbClr val="000000"/>
                </a:solidFill>
                <a:latin typeface="Consolas" panose="020B0609020204030204" pitchFamily="49" charset="0"/>
              </a:rPr>
              <a:t> error;</a:t>
            </a:r>
          </a:p>
          <a:p>
            <a:pPr>
              <a:buNone/>
            </a:pPr>
            <a:r>
              <a:rPr lang="en-US" sz="1600" dirty="0">
                <a:solidFill>
                  <a:srgbClr val="000000"/>
                </a:solidFill>
                <a:latin typeface="Consolas" panose="020B0609020204030204" pitchFamily="49" charset="0"/>
              </a:rPr>
              <a:t>        s = </a:t>
            </a:r>
            <a:r>
              <a:rPr lang="en-US" sz="1600" dirty="0" err="1">
                <a:solidFill>
                  <a:srgbClr val="000000"/>
                </a:solidFill>
                <a:latin typeface="Consolas" panose="020B0609020204030204" pitchFamily="49" charset="0"/>
              </a:rPr>
              <a:t>tmp</a:t>
            </a:r>
            <a:r>
              <a:rPr lang="en-US" sz="1600" dirty="0">
                <a:solidFill>
                  <a:srgbClr val="000000"/>
                </a:solidFill>
                <a:latin typeface="Consolas" panose="020B0609020204030204" pitchFamily="49" charset="0"/>
              </a:rPr>
              <a:t>;</a:t>
            </a:r>
          </a:p>
          <a:p>
            <a:pPr>
              <a:buNone/>
            </a:pPr>
            <a:r>
              <a:rPr lang="en-US" sz="1600" dirty="0">
                <a:solidFill>
                  <a:srgbClr val="000000"/>
                </a:solidFill>
                <a:latin typeface="Consolas" panose="020B0609020204030204" pitchFamily="49" charset="0"/>
              </a:rPr>
              <a:t>        s[</a:t>
            </a:r>
            <a:r>
              <a:rPr lang="en-US" sz="1600" dirty="0" err="1">
                <a:solidFill>
                  <a:srgbClr val="000000"/>
                </a:solidFill>
                <a:latin typeface="Consolas" panose="020B0609020204030204" pitchFamily="49" charset="0"/>
              </a:rPr>
              <a:t>len</a:t>
            </a:r>
            <a:r>
              <a:rPr lang="en-US" sz="1600" dirty="0">
                <a:solidFill>
                  <a:srgbClr val="000000"/>
                </a:solidFill>
                <a:latin typeface="Consolas" panose="020B0609020204030204" pitchFamily="49" charset="0"/>
              </a:rPr>
              <a:t>++] = (</a:t>
            </a:r>
            <a:r>
              <a:rPr lang="en-US" sz="1600" dirty="0">
                <a:solidFill>
                  <a:srgbClr val="0000FF"/>
                </a:solidFill>
                <a:latin typeface="Consolas" panose="020B0609020204030204" pitchFamily="49" charset="0"/>
              </a:rPr>
              <a:t>char</a:t>
            </a:r>
            <a:r>
              <a:rPr lang="en-US" sz="1600" dirty="0">
                <a:solidFill>
                  <a:srgbClr val="000000"/>
                </a:solidFill>
                <a:latin typeface="Consolas" panose="020B0609020204030204" pitchFamily="49" charset="0"/>
              </a:rPr>
              <a:t>)</a:t>
            </a:r>
            <a:r>
              <a:rPr lang="en-US" sz="1600" dirty="0" err="1">
                <a:solidFill>
                  <a:srgbClr val="000000"/>
                </a:solidFill>
                <a:latin typeface="Consolas" panose="020B0609020204030204" pitchFamily="49" charset="0"/>
              </a:rPr>
              <a:t>ch</a:t>
            </a:r>
            <a:r>
              <a:rPr lang="en-US" sz="1600" dirty="0">
                <a:solidFill>
                  <a:srgbClr val="000000"/>
                </a:solidFill>
                <a:latin typeface="Consolas" panose="020B0609020204030204" pitchFamily="49" charset="0"/>
              </a:rPr>
              <a:t>;</a:t>
            </a:r>
          </a:p>
          <a:p>
            <a:pPr>
              <a:buNone/>
            </a:pPr>
            <a:r>
              <a:rPr lang="en-US" sz="1600" dirty="0">
                <a:solidFill>
                  <a:srgbClr val="000000"/>
                </a:solidFill>
                <a:latin typeface="Consolas" panose="020B0609020204030204" pitchFamily="49" charset="0"/>
              </a:rPr>
              <a:t>    }</a:t>
            </a:r>
          </a:p>
          <a:p>
            <a:pPr>
              <a:buNone/>
            </a:pPr>
            <a:endParaRPr lang="en-US" sz="160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>
              <a:buNone/>
            </a:pPr>
            <a:r>
              <a:rPr lang="en-US" sz="1600" dirty="0">
                <a:solidFill>
                  <a:srgbClr val="000000"/>
                </a:solidFill>
                <a:latin typeface="Consolas" panose="020B0609020204030204" pitchFamily="49" charset="0"/>
              </a:rPr>
              <a:t>    </a:t>
            </a:r>
            <a:r>
              <a:rPr lang="en-US" sz="1600" dirty="0">
                <a:solidFill>
                  <a:srgbClr val="0000FF"/>
                </a:solidFill>
                <a:latin typeface="Consolas" panose="020B0609020204030204" pitchFamily="49" charset="0"/>
              </a:rPr>
              <a:t>char</a:t>
            </a:r>
            <a:r>
              <a:rPr lang="en-US" sz="1600" dirty="0">
                <a:solidFill>
                  <a:srgbClr val="000000"/>
                </a:solidFill>
                <a:latin typeface="Consolas" panose="020B0609020204030204" pitchFamily="49" charset="0"/>
              </a:rPr>
              <a:t> *</a:t>
            </a:r>
            <a:r>
              <a:rPr lang="en-US" sz="1600" dirty="0" err="1">
                <a:solidFill>
                  <a:srgbClr val="000000"/>
                </a:solidFill>
                <a:latin typeface="Consolas" panose="020B0609020204030204" pitchFamily="49" charset="0"/>
              </a:rPr>
              <a:t>tmp</a:t>
            </a:r>
            <a:r>
              <a:rPr lang="en-US" sz="1600" dirty="0">
                <a:solidFill>
                  <a:srgbClr val="000000"/>
                </a:solidFill>
                <a:latin typeface="Consolas" panose="020B0609020204030204" pitchFamily="49" charset="0"/>
              </a:rPr>
              <a:t> = </a:t>
            </a:r>
            <a:r>
              <a:rPr lang="en-US" sz="1600" dirty="0" err="1">
                <a:solidFill>
                  <a:srgbClr val="000000"/>
                </a:solidFill>
                <a:latin typeface="Consolas" panose="020B0609020204030204" pitchFamily="49" charset="0"/>
              </a:rPr>
              <a:t>realloc</a:t>
            </a:r>
            <a:r>
              <a:rPr lang="en-US" sz="1600" dirty="0">
                <a:solidFill>
                  <a:srgbClr val="000000"/>
                </a:solidFill>
                <a:latin typeface="Consolas" panose="020B0609020204030204" pitchFamily="49" charset="0"/>
              </a:rPr>
              <a:t>(s, </a:t>
            </a:r>
            <a:r>
              <a:rPr lang="en-US" sz="1600" dirty="0" err="1">
                <a:solidFill>
                  <a:srgbClr val="000000"/>
                </a:solidFill>
                <a:latin typeface="Consolas" panose="020B0609020204030204" pitchFamily="49" charset="0"/>
              </a:rPr>
              <a:t>len</a:t>
            </a:r>
            <a:r>
              <a:rPr lang="en-US" sz="1600" dirty="0">
                <a:solidFill>
                  <a:srgbClr val="000000"/>
                </a:solidFill>
                <a:latin typeface="Consolas" panose="020B0609020204030204" pitchFamily="49" charset="0"/>
              </a:rPr>
              <a:t> + </a:t>
            </a:r>
            <a:r>
              <a:rPr lang="en-US" sz="1600" dirty="0">
                <a:solidFill>
                  <a:srgbClr val="098658"/>
                </a:solidFill>
                <a:latin typeface="Consolas" panose="020B0609020204030204" pitchFamily="49" charset="0"/>
              </a:rPr>
              <a:t>1</a:t>
            </a:r>
            <a:r>
              <a:rPr lang="en-US" sz="1600" dirty="0">
                <a:solidFill>
                  <a:srgbClr val="000000"/>
                </a:solidFill>
                <a:latin typeface="Consolas" panose="020B0609020204030204" pitchFamily="49" charset="0"/>
              </a:rPr>
              <a:t>);</a:t>
            </a:r>
          </a:p>
          <a:p>
            <a:pPr>
              <a:buNone/>
            </a:pPr>
            <a:r>
              <a:rPr lang="en-US" sz="1600" dirty="0">
                <a:solidFill>
                  <a:srgbClr val="000000"/>
                </a:solidFill>
                <a:latin typeface="Consolas" panose="020B0609020204030204" pitchFamily="49" charset="0"/>
              </a:rPr>
              <a:t>    </a:t>
            </a:r>
            <a:r>
              <a:rPr lang="en-US" sz="1600" dirty="0">
                <a:solidFill>
                  <a:srgbClr val="0000FF"/>
                </a:solidFill>
                <a:latin typeface="Consolas" panose="020B0609020204030204" pitchFamily="49" charset="0"/>
              </a:rPr>
              <a:t>if</a:t>
            </a:r>
            <a:r>
              <a:rPr lang="en-US" sz="1600" dirty="0">
                <a:solidFill>
                  <a:srgbClr val="000000"/>
                </a:solidFill>
                <a:latin typeface="Consolas" panose="020B0609020204030204" pitchFamily="49" charset="0"/>
              </a:rPr>
              <a:t> (</a:t>
            </a:r>
            <a:r>
              <a:rPr lang="en-US" sz="1600" dirty="0" err="1">
                <a:solidFill>
                  <a:srgbClr val="000000"/>
                </a:solidFill>
                <a:latin typeface="Consolas" panose="020B0609020204030204" pitchFamily="49" charset="0"/>
              </a:rPr>
              <a:t>tmp</a:t>
            </a:r>
            <a:r>
              <a:rPr lang="en-US" sz="1600" dirty="0">
                <a:solidFill>
                  <a:srgbClr val="000000"/>
                </a:solidFill>
                <a:latin typeface="Consolas" panose="020B0609020204030204" pitchFamily="49" charset="0"/>
              </a:rPr>
              <a:t> == NULL)</a:t>
            </a:r>
          </a:p>
          <a:p>
            <a:pPr>
              <a:buNone/>
            </a:pPr>
            <a:r>
              <a:rPr lang="en-US" sz="1600" dirty="0">
                <a:solidFill>
                  <a:srgbClr val="000000"/>
                </a:solidFill>
                <a:latin typeface="Consolas" panose="020B0609020204030204" pitchFamily="49" charset="0"/>
              </a:rPr>
              <a:t>        </a:t>
            </a:r>
            <a:r>
              <a:rPr lang="en-US" sz="1600" dirty="0" err="1">
                <a:solidFill>
                  <a:srgbClr val="0000FF"/>
                </a:solidFill>
                <a:latin typeface="Consolas" panose="020B0609020204030204" pitchFamily="49" charset="0"/>
              </a:rPr>
              <a:t>goto</a:t>
            </a:r>
            <a:r>
              <a:rPr lang="en-US" sz="1600" dirty="0">
                <a:solidFill>
                  <a:srgbClr val="000000"/>
                </a:solidFill>
                <a:latin typeface="Consolas" panose="020B0609020204030204" pitchFamily="49" charset="0"/>
              </a:rPr>
              <a:t> error;</a:t>
            </a:r>
          </a:p>
          <a:p>
            <a:pPr>
              <a:buNone/>
            </a:pPr>
            <a:endParaRPr lang="en-US" sz="160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>
              <a:buNone/>
            </a:pPr>
            <a:r>
              <a:rPr lang="en-US" sz="1600" dirty="0">
                <a:solidFill>
                  <a:srgbClr val="000000"/>
                </a:solidFill>
                <a:latin typeface="Consolas" panose="020B0609020204030204" pitchFamily="49" charset="0"/>
              </a:rPr>
              <a:t>    s = </a:t>
            </a:r>
            <a:r>
              <a:rPr lang="en-US" sz="1600" dirty="0" err="1">
                <a:solidFill>
                  <a:srgbClr val="000000"/>
                </a:solidFill>
                <a:latin typeface="Consolas" panose="020B0609020204030204" pitchFamily="49" charset="0"/>
              </a:rPr>
              <a:t>tmp</a:t>
            </a:r>
            <a:r>
              <a:rPr lang="en-US" sz="1600" dirty="0">
                <a:solidFill>
                  <a:srgbClr val="000000"/>
                </a:solidFill>
                <a:latin typeface="Consolas" panose="020B0609020204030204" pitchFamily="49" charset="0"/>
              </a:rPr>
              <a:t>;</a:t>
            </a:r>
          </a:p>
          <a:p>
            <a:pPr>
              <a:buNone/>
            </a:pPr>
            <a:r>
              <a:rPr lang="en-US" sz="1600" dirty="0">
                <a:solidFill>
                  <a:srgbClr val="000000"/>
                </a:solidFill>
                <a:latin typeface="Consolas" panose="020B0609020204030204" pitchFamily="49" charset="0"/>
              </a:rPr>
              <a:t>    s[</a:t>
            </a:r>
            <a:r>
              <a:rPr lang="en-US" sz="1600" dirty="0" err="1">
                <a:solidFill>
                  <a:srgbClr val="000000"/>
                </a:solidFill>
                <a:latin typeface="Consolas" panose="020B0609020204030204" pitchFamily="49" charset="0"/>
              </a:rPr>
              <a:t>len</a:t>
            </a:r>
            <a:r>
              <a:rPr lang="en-US" sz="1600" dirty="0">
                <a:solidFill>
                  <a:srgbClr val="000000"/>
                </a:solidFill>
                <a:latin typeface="Consolas" panose="020B0609020204030204" pitchFamily="49" charset="0"/>
              </a:rPr>
              <a:t>] = </a:t>
            </a:r>
            <a:r>
              <a:rPr lang="en-US" sz="1600" dirty="0">
                <a:solidFill>
                  <a:srgbClr val="A31515"/>
                </a:solidFill>
                <a:latin typeface="Consolas" panose="020B0609020204030204" pitchFamily="49" charset="0"/>
              </a:rPr>
              <a:t>'\0'</a:t>
            </a:r>
            <a:r>
              <a:rPr lang="en-US" sz="1600" dirty="0">
                <a:solidFill>
                  <a:srgbClr val="000000"/>
                </a:solidFill>
                <a:latin typeface="Consolas" panose="020B0609020204030204" pitchFamily="49" charset="0"/>
              </a:rPr>
              <a:t>;</a:t>
            </a:r>
          </a:p>
          <a:p>
            <a:pPr>
              <a:buNone/>
            </a:pPr>
            <a:r>
              <a:rPr lang="en-US" sz="1600" dirty="0">
                <a:solidFill>
                  <a:srgbClr val="000000"/>
                </a:solidFill>
                <a:latin typeface="Consolas" panose="020B0609020204030204" pitchFamily="49" charset="0"/>
              </a:rPr>
              <a:t>    </a:t>
            </a:r>
            <a:r>
              <a:rPr lang="en-US" sz="1600" dirty="0">
                <a:solidFill>
                  <a:srgbClr val="0000FF"/>
                </a:solidFill>
                <a:latin typeface="Consolas" panose="020B0609020204030204" pitchFamily="49" charset="0"/>
              </a:rPr>
              <a:t>return</a:t>
            </a:r>
            <a:r>
              <a:rPr lang="en-US" sz="1600" dirty="0">
                <a:solidFill>
                  <a:srgbClr val="000000"/>
                </a:solidFill>
                <a:latin typeface="Consolas" panose="020B0609020204030204" pitchFamily="49" charset="0"/>
              </a:rPr>
              <a:t> s;</a:t>
            </a:r>
          </a:p>
          <a:p>
            <a:pPr>
              <a:buNone/>
            </a:pPr>
            <a:endParaRPr lang="en-US" sz="160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>
              <a:buNone/>
            </a:pPr>
            <a:r>
              <a:rPr lang="en-US" sz="1600" dirty="0">
                <a:solidFill>
                  <a:srgbClr val="000000"/>
                </a:solidFill>
                <a:latin typeface="Consolas" panose="020B0609020204030204" pitchFamily="49" charset="0"/>
              </a:rPr>
              <a:t>error:</a:t>
            </a:r>
          </a:p>
          <a:p>
            <a:pPr>
              <a:buNone/>
            </a:pPr>
            <a:r>
              <a:rPr lang="en-US" sz="1600" dirty="0">
                <a:solidFill>
                  <a:srgbClr val="000000"/>
                </a:solidFill>
                <a:latin typeface="Consolas" panose="020B0609020204030204" pitchFamily="49" charset="0"/>
              </a:rPr>
              <a:t>    free(s);</a:t>
            </a:r>
          </a:p>
          <a:p>
            <a:pPr>
              <a:buNone/>
            </a:pPr>
            <a:r>
              <a:rPr lang="en-US" sz="1600" dirty="0">
                <a:solidFill>
                  <a:srgbClr val="000000"/>
                </a:solidFill>
                <a:latin typeface="Consolas" panose="020B0609020204030204" pitchFamily="49" charset="0"/>
              </a:rPr>
              <a:t>    </a:t>
            </a:r>
            <a:r>
              <a:rPr lang="en-US" sz="1600" dirty="0">
                <a:solidFill>
                  <a:srgbClr val="0000FF"/>
                </a:solidFill>
                <a:latin typeface="Consolas" panose="020B0609020204030204" pitchFamily="49" charset="0"/>
              </a:rPr>
              <a:t>return</a:t>
            </a:r>
            <a:r>
              <a:rPr lang="en-US" sz="1600" dirty="0">
                <a:solidFill>
                  <a:srgbClr val="000000"/>
                </a:solidFill>
                <a:latin typeface="Consolas" panose="020B0609020204030204" pitchFamily="49" charset="0"/>
              </a:rPr>
              <a:t> NULL;</a:t>
            </a:r>
          </a:p>
          <a:p>
            <a:pPr>
              <a:buNone/>
            </a:pPr>
            <a:r>
              <a:rPr lang="en-US" sz="1600" dirty="0">
                <a:solidFill>
                  <a:srgbClr val="000000"/>
                </a:solidFill>
                <a:latin typeface="Consolas" panose="020B0609020204030204" pitchFamily="49" charset="0"/>
              </a:rPr>
              <a:t>}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B1ABD993-1044-2F25-2F95-D1D5A1AFED84}"/>
              </a:ext>
            </a:extLst>
          </p:cNvPr>
          <p:cNvSpPr txBox="1"/>
          <p:nvPr/>
        </p:nvSpPr>
        <p:spPr>
          <a:xfrm>
            <a:off x="6096000" y="3493264"/>
            <a:ext cx="4326775" cy="233910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buNone/>
            </a:pPr>
            <a:r>
              <a:rPr lang="en-US" sz="1600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int</a:t>
            </a: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main(</a:t>
            </a:r>
            <a:r>
              <a:rPr lang="en-US" sz="1600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void</a:t>
            </a: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) {</a:t>
            </a:r>
          </a:p>
          <a:p>
            <a:pPr>
              <a:buNone/>
            </a:pP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sz="1600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char</a:t>
            </a: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*line = </a:t>
            </a:r>
            <a:r>
              <a:rPr lang="en-US" sz="1600" b="0" dirty="0" err="1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ReadString</a:t>
            </a: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();</a:t>
            </a:r>
          </a:p>
          <a:p>
            <a:pPr>
              <a:buNone/>
            </a:pP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sz="1600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if</a:t>
            </a: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(line == NULL) {</a:t>
            </a:r>
          </a:p>
          <a:p>
            <a:pPr>
              <a:buNone/>
            </a:pP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    </a:t>
            </a:r>
            <a:r>
              <a:rPr lang="en-US" sz="1600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return</a:t>
            </a: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600" b="0" dirty="0">
                <a:solidFill>
                  <a:srgbClr val="098658"/>
                </a:solidFill>
                <a:effectLst/>
                <a:latin typeface="Consolas" panose="020B0609020204030204" pitchFamily="49" charset="0"/>
              </a:rPr>
              <a:t>1</a:t>
            </a: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;</a:t>
            </a:r>
          </a:p>
          <a:p>
            <a:pPr>
              <a:buNone/>
            </a:pP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}</a:t>
            </a:r>
          </a:p>
          <a:p>
            <a:pPr>
              <a:buNone/>
            </a:pPr>
            <a:endParaRPr lang="en-US" sz="1600" b="0" dirty="0">
              <a:solidFill>
                <a:srgbClr val="000000"/>
              </a:solidFill>
              <a:effectLst/>
              <a:latin typeface="Consolas" panose="020B0609020204030204" pitchFamily="49" charset="0"/>
            </a:endParaRPr>
          </a:p>
          <a:p>
            <a:pPr>
              <a:buNone/>
            </a:pP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puts(line);</a:t>
            </a:r>
          </a:p>
          <a:p>
            <a:pPr>
              <a:buNone/>
            </a:pP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free(line);</a:t>
            </a:r>
          </a:p>
          <a:p>
            <a:pPr>
              <a:buNone/>
            </a:pP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}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5AB5477D-C33B-3CD0-DB14-8BEED9D9905C}"/>
              </a:ext>
            </a:extLst>
          </p:cNvPr>
          <p:cNvSpPr txBox="1"/>
          <p:nvPr/>
        </p:nvSpPr>
        <p:spPr>
          <a:xfrm>
            <a:off x="6082145" y="5909692"/>
            <a:ext cx="3793375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dirty="0">
                <a:hlinkClick r:id="rId3"/>
              </a:rPr>
              <a:t>https://godbolt.org/z/5G3G3aeqx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39829987"/>
      </p:ext>
    </p:extLst>
  </p:cSld>
  <p:clrMapOvr>
    <a:masterClrMapping/>
  </p:clrMapOvr>
  <mc:AlternateContent xmlns:mc="http://schemas.openxmlformats.org/markup-compatibility/2006">
    <mc:Choice xmlns:p159="http://schemas.microsoft.com/office/powerpoint/2015/09/main" Requires="p159">
      <p:transition xmlns:p14="http://schemas.microsoft.com/office/powerpoint/2010/main" spd="slow" p14:dur="2000">
        <p159:morph option="byWord"/>
      </p:transition>
    </mc:Choice>
    <mc:Fallback>
      <p:transition spd="slow">
        <p:fade/>
      </p:transition>
    </mc:Fallback>
  </mc:AlternateContent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 2">
            <a:extLst>
              <a:ext uri="{FF2B5EF4-FFF2-40B4-BE49-F238E27FC236}">
                <a16:creationId xmlns:a16="http://schemas.microsoft.com/office/drawing/2014/main" id="{3B80BF18-970D-6FAD-AE3D-18636B6B84F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dirty="0"/>
              <a:t>Динамическое выделение массивов</a:t>
            </a:r>
            <a:endParaRPr lang="en-US" dirty="0"/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3FDDE49E-F963-CC6D-6B31-C33C89C0D48A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fontScale="77500" lnSpcReduction="20000"/>
          </a:bodyPr>
          <a:lstStyle/>
          <a:p>
            <a:r>
              <a:rPr lang="ru-RU" b="1" dirty="0"/>
              <a:t>Память можно выделять не только под строки</a:t>
            </a:r>
          </a:p>
          <a:p>
            <a:r>
              <a:rPr lang="ru-RU" dirty="0"/>
              <a:t>Любой массив можно создать динамически:</a:t>
            </a:r>
          </a:p>
          <a:p>
            <a:pPr lvl="1"/>
            <a:r>
              <a:rPr lang="en-US" dirty="0">
                <a:latin typeface="Consolas" panose="020B0609020204030204" pitchFamily="49" charset="0"/>
              </a:rPr>
              <a:t>type *p = malloc(N * </a:t>
            </a:r>
            <a:r>
              <a:rPr lang="en-US" dirty="0" err="1">
                <a:latin typeface="Consolas" panose="020B0609020204030204" pitchFamily="49" charset="0"/>
              </a:rPr>
              <a:t>sizeof</a:t>
            </a:r>
            <a:r>
              <a:rPr lang="en-US" dirty="0">
                <a:latin typeface="Consolas" panose="020B0609020204030204" pitchFamily="49" charset="0"/>
              </a:rPr>
              <a:t>(type));</a:t>
            </a:r>
          </a:p>
          <a:p>
            <a:r>
              <a:rPr lang="ru-RU" b="1" dirty="0"/>
              <a:t>Пример: массив </a:t>
            </a:r>
            <a:r>
              <a:rPr lang="en-US" b="1" dirty="0"/>
              <a:t>int</a:t>
            </a:r>
          </a:p>
          <a:p>
            <a:pPr marL="457200" lvl="1" indent="0">
              <a:buNone/>
            </a:pPr>
            <a:r>
              <a:rPr lang="en-US" dirty="0">
                <a:latin typeface="Consolas" panose="020B0609020204030204" pitchFamily="49" charset="0"/>
              </a:rPr>
              <a:t>int *a = malloc(100 * </a:t>
            </a:r>
            <a:r>
              <a:rPr lang="en-US" dirty="0" err="1">
                <a:latin typeface="Consolas" panose="020B0609020204030204" pitchFamily="49" charset="0"/>
              </a:rPr>
              <a:t>sizeof</a:t>
            </a:r>
            <a:r>
              <a:rPr lang="en-US" dirty="0">
                <a:latin typeface="Consolas" panose="020B0609020204030204" pitchFamily="49" charset="0"/>
              </a:rPr>
              <a:t>(int));</a:t>
            </a:r>
            <a:br>
              <a:rPr lang="ru-RU" dirty="0">
                <a:latin typeface="Consolas" panose="020B0609020204030204" pitchFamily="49" charset="0"/>
              </a:rPr>
            </a:br>
            <a:r>
              <a:rPr lang="en-US" dirty="0">
                <a:latin typeface="Consolas" panose="020B0609020204030204" pitchFamily="49" charset="0"/>
              </a:rPr>
              <a:t>if (a == NULL) {</a:t>
            </a:r>
            <a:br>
              <a:rPr lang="ru-RU" dirty="0">
                <a:latin typeface="Consolas" panose="020B0609020204030204" pitchFamily="49" charset="0"/>
              </a:rPr>
            </a:br>
            <a:r>
              <a:rPr lang="en-US" dirty="0">
                <a:latin typeface="Consolas" panose="020B0609020204030204" pitchFamily="49" charset="0"/>
              </a:rPr>
              <a:t>    /* </a:t>
            </a:r>
            <a:r>
              <a:rPr lang="ru-RU" dirty="0">
                <a:latin typeface="Consolas" panose="020B0609020204030204" pitchFamily="49" charset="0"/>
              </a:rPr>
              <a:t>обработка ошибки */</a:t>
            </a:r>
            <a:br>
              <a:rPr lang="ru-RU" dirty="0">
                <a:latin typeface="Consolas" panose="020B0609020204030204" pitchFamily="49" charset="0"/>
              </a:rPr>
            </a:br>
            <a:r>
              <a:rPr lang="ru-RU" dirty="0">
                <a:latin typeface="Consolas" panose="020B0609020204030204" pitchFamily="49" charset="0"/>
              </a:rPr>
              <a:t>}</a:t>
            </a:r>
          </a:p>
          <a:p>
            <a:pPr lvl="1"/>
            <a:r>
              <a:rPr lang="ru-RU" dirty="0"/>
              <a:t>Создаётся массив из 100 элементов типа </a:t>
            </a:r>
            <a:r>
              <a:rPr lang="en-US" dirty="0"/>
              <a:t>int.</a:t>
            </a:r>
          </a:p>
          <a:p>
            <a:r>
              <a:rPr lang="ru-RU" b="1" dirty="0"/>
              <a:t>Общее правило</a:t>
            </a:r>
          </a:p>
          <a:p>
            <a:pPr lvl="1"/>
            <a:r>
              <a:rPr lang="ru-RU" dirty="0" err="1"/>
              <a:t>malloc</a:t>
            </a:r>
            <a:r>
              <a:rPr lang="ru-RU" dirty="0"/>
              <a:t>(</a:t>
            </a:r>
            <a:r>
              <a:rPr lang="ru-RU" dirty="0" err="1"/>
              <a:t>количество_элементов</a:t>
            </a:r>
            <a:r>
              <a:rPr lang="ru-RU" dirty="0"/>
              <a:t> * </a:t>
            </a:r>
            <a:r>
              <a:rPr lang="ru-RU" dirty="0" err="1"/>
              <a:t>sizeof</a:t>
            </a:r>
            <a:r>
              <a:rPr lang="ru-RU" dirty="0"/>
              <a:t>(тип))</a:t>
            </a:r>
          </a:p>
          <a:p>
            <a:r>
              <a:rPr lang="ru-RU" b="1" dirty="0"/>
              <a:t>Важно</a:t>
            </a:r>
          </a:p>
          <a:p>
            <a:pPr lvl="1"/>
            <a:r>
              <a:rPr lang="ru-RU" dirty="0" err="1"/>
              <a:t>sizeof</a:t>
            </a:r>
            <a:r>
              <a:rPr lang="ru-RU" dirty="0"/>
              <a:t>(</a:t>
            </a:r>
            <a:r>
              <a:rPr lang="ru-RU" dirty="0" err="1"/>
              <a:t>type</a:t>
            </a:r>
            <a:r>
              <a:rPr lang="ru-RU" dirty="0"/>
              <a:t>) возвращает размер одного элемента в байтах.</a:t>
            </a:r>
          </a:p>
          <a:p>
            <a:pPr lvl="1"/>
            <a:r>
              <a:rPr lang="ru-RU" dirty="0"/>
              <a:t>Память необходимо освобождать через </a:t>
            </a:r>
            <a:r>
              <a:rPr lang="ru-RU" dirty="0" err="1"/>
              <a:t>free</a:t>
            </a:r>
            <a:r>
              <a:rPr lang="ru-RU" dirty="0"/>
              <a:t>.</a:t>
            </a:r>
          </a:p>
          <a:p>
            <a:pPr lvl="1"/>
            <a:r>
              <a:rPr lang="ru-RU" dirty="0"/>
              <a:t>Проверка на NULL обязательна.</a:t>
            </a:r>
          </a:p>
          <a:p>
            <a:pPr marL="0" indent="0">
              <a:buNone/>
            </a:pPr>
            <a:endParaRPr lang="ru-RU" dirty="0"/>
          </a:p>
        </p:txBody>
      </p:sp>
      <p:sp>
        <p:nvSpPr>
          <p:cNvPr id="2" name="Slide Number Placeholder 1">
            <a:extLst>
              <a:ext uri="{FF2B5EF4-FFF2-40B4-BE49-F238E27FC236}">
                <a16:creationId xmlns:a16="http://schemas.microsoft.com/office/drawing/2014/main" id="{C3300392-9D38-D32B-D314-ECDDFCFEAFD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35E9561-002A-41EF-B5BA-43A01A72A4F8}" type="slidenum">
              <a:rPr lang="en-US" smtClean="0"/>
              <a:t>28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897243425"/>
      </p:ext>
    </p:extLst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6A341A56-0819-5668-DCEA-E8B3CB104BD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35E9561-002A-41EF-B5BA-43A01A72A4F8}" type="slidenum">
              <a:rPr lang="en-US" smtClean="0"/>
              <a:t>29</a:t>
            </a:fld>
            <a:endParaRPr lang="en-US"/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FEF9FE2E-CA40-68DA-E089-16440794D440}"/>
              </a:ext>
            </a:extLst>
          </p:cNvPr>
          <p:cNvSpPr txBox="1"/>
          <p:nvPr/>
        </p:nvSpPr>
        <p:spPr>
          <a:xfrm>
            <a:off x="177421" y="136525"/>
            <a:ext cx="8963166" cy="678647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buNone/>
            </a:pPr>
            <a:r>
              <a:rPr lang="en-US" sz="1500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#include</a:t>
            </a:r>
            <a:r>
              <a:rPr lang="en-US" sz="15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500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&lt;</a:t>
            </a:r>
            <a:r>
              <a:rPr lang="en-US" sz="1500" b="0" dirty="0" err="1">
                <a:solidFill>
                  <a:srgbClr val="A31515"/>
                </a:solidFill>
                <a:effectLst/>
                <a:latin typeface="Consolas" panose="020B0609020204030204" pitchFamily="49" charset="0"/>
              </a:rPr>
              <a:t>stdio.h</a:t>
            </a:r>
            <a:r>
              <a:rPr lang="en-US" sz="1500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&gt;</a:t>
            </a:r>
            <a:endParaRPr lang="en-US" sz="1500" b="0" dirty="0">
              <a:solidFill>
                <a:srgbClr val="000000"/>
              </a:solidFill>
              <a:effectLst/>
              <a:latin typeface="Consolas" panose="020B0609020204030204" pitchFamily="49" charset="0"/>
            </a:endParaRPr>
          </a:p>
          <a:p>
            <a:pPr>
              <a:buNone/>
            </a:pPr>
            <a:r>
              <a:rPr lang="en-US" sz="1500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#include</a:t>
            </a:r>
            <a:r>
              <a:rPr lang="en-US" sz="15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500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&lt;</a:t>
            </a:r>
            <a:r>
              <a:rPr lang="en-US" sz="1500" b="0" dirty="0" err="1">
                <a:solidFill>
                  <a:srgbClr val="A31515"/>
                </a:solidFill>
                <a:effectLst/>
                <a:latin typeface="Consolas" panose="020B0609020204030204" pitchFamily="49" charset="0"/>
              </a:rPr>
              <a:t>stdlib.h</a:t>
            </a:r>
            <a:r>
              <a:rPr lang="en-US" sz="1500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&gt;</a:t>
            </a:r>
            <a:br>
              <a:rPr lang="en-US" sz="15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</a:br>
            <a:endParaRPr lang="en-US" sz="1500" b="0" dirty="0">
              <a:solidFill>
                <a:srgbClr val="000000"/>
              </a:solidFill>
              <a:effectLst/>
              <a:latin typeface="Consolas" panose="020B0609020204030204" pitchFamily="49" charset="0"/>
            </a:endParaRPr>
          </a:p>
          <a:p>
            <a:pPr>
              <a:buNone/>
            </a:pPr>
            <a:r>
              <a:rPr lang="en-US" sz="1500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int</a:t>
            </a:r>
            <a:r>
              <a:rPr lang="en-US" sz="15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main(</a:t>
            </a:r>
            <a:r>
              <a:rPr lang="en-US" sz="1500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void</a:t>
            </a:r>
            <a:r>
              <a:rPr lang="en-US" sz="15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) {</a:t>
            </a:r>
          </a:p>
          <a:p>
            <a:pPr>
              <a:buNone/>
            </a:pPr>
            <a:r>
              <a:rPr lang="en-US" sz="15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sz="1500" b="0" dirty="0" err="1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size_t</a:t>
            </a:r>
            <a:r>
              <a:rPr lang="en-US" sz="15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N;</a:t>
            </a:r>
          </a:p>
          <a:p>
            <a:pPr>
              <a:buNone/>
            </a:pPr>
            <a:endParaRPr lang="en-US" sz="1500" b="0" dirty="0">
              <a:solidFill>
                <a:srgbClr val="000000"/>
              </a:solidFill>
              <a:effectLst/>
              <a:latin typeface="Consolas" panose="020B0609020204030204" pitchFamily="49" charset="0"/>
            </a:endParaRPr>
          </a:p>
          <a:p>
            <a:pPr>
              <a:buNone/>
            </a:pPr>
            <a:r>
              <a:rPr lang="en-US" sz="15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sz="1500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if</a:t>
            </a:r>
            <a:r>
              <a:rPr lang="en-US" sz="15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(</a:t>
            </a:r>
            <a:r>
              <a:rPr lang="en-US" sz="1500" b="0" dirty="0" err="1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scanf</a:t>
            </a:r>
            <a:r>
              <a:rPr lang="en-US" sz="15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sz="1500" b="0" dirty="0">
                <a:solidFill>
                  <a:srgbClr val="A31515"/>
                </a:solidFill>
                <a:effectLst/>
                <a:latin typeface="Consolas" panose="020B0609020204030204" pitchFamily="49" charset="0"/>
              </a:rPr>
              <a:t>"%</a:t>
            </a:r>
            <a:r>
              <a:rPr lang="en-US" sz="1500" b="0" dirty="0" err="1">
                <a:solidFill>
                  <a:srgbClr val="A31515"/>
                </a:solidFill>
                <a:effectLst/>
                <a:latin typeface="Consolas" panose="020B0609020204030204" pitchFamily="49" charset="0"/>
              </a:rPr>
              <a:t>zu</a:t>
            </a:r>
            <a:r>
              <a:rPr lang="en-US" sz="1500" b="0" dirty="0">
                <a:solidFill>
                  <a:srgbClr val="A31515"/>
                </a:solidFill>
                <a:effectLst/>
                <a:latin typeface="Consolas" panose="020B0609020204030204" pitchFamily="49" charset="0"/>
              </a:rPr>
              <a:t>"</a:t>
            </a:r>
            <a:r>
              <a:rPr lang="en-US" sz="15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, &amp;N) != </a:t>
            </a:r>
            <a:r>
              <a:rPr lang="en-US" sz="1500" b="0" dirty="0">
                <a:solidFill>
                  <a:srgbClr val="098658"/>
                </a:solidFill>
                <a:effectLst/>
                <a:latin typeface="Consolas" panose="020B0609020204030204" pitchFamily="49" charset="0"/>
              </a:rPr>
              <a:t>1</a:t>
            </a:r>
            <a:r>
              <a:rPr lang="en-US" sz="15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) {</a:t>
            </a:r>
          </a:p>
          <a:p>
            <a:pPr>
              <a:buNone/>
            </a:pPr>
            <a:r>
              <a:rPr lang="en-US" sz="15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    </a:t>
            </a:r>
            <a:r>
              <a:rPr lang="en-US" sz="1500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return</a:t>
            </a:r>
            <a:r>
              <a:rPr lang="en-US" sz="15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500" b="0" dirty="0">
                <a:solidFill>
                  <a:srgbClr val="098658"/>
                </a:solidFill>
                <a:effectLst/>
                <a:latin typeface="Consolas" panose="020B0609020204030204" pitchFamily="49" charset="0"/>
              </a:rPr>
              <a:t>1</a:t>
            </a:r>
            <a:r>
              <a:rPr lang="en-US" sz="15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;</a:t>
            </a:r>
          </a:p>
          <a:p>
            <a:pPr>
              <a:buNone/>
            </a:pPr>
            <a:r>
              <a:rPr lang="en-US" sz="15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}</a:t>
            </a:r>
          </a:p>
          <a:p>
            <a:pPr>
              <a:buNone/>
            </a:pPr>
            <a:endParaRPr lang="en-US" sz="1500" b="0" dirty="0">
              <a:solidFill>
                <a:srgbClr val="000000"/>
              </a:solidFill>
              <a:effectLst/>
              <a:latin typeface="Consolas" panose="020B0609020204030204" pitchFamily="49" charset="0"/>
            </a:endParaRPr>
          </a:p>
          <a:p>
            <a:pPr>
              <a:buNone/>
            </a:pPr>
            <a:r>
              <a:rPr lang="en-US" sz="15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sz="1500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int</a:t>
            </a:r>
            <a:r>
              <a:rPr lang="en-US" sz="15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*a = malloc(N * </a:t>
            </a:r>
            <a:r>
              <a:rPr lang="en-US" sz="1500" b="0" dirty="0" err="1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sizeof</a:t>
            </a:r>
            <a:r>
              <a:rPr lang="en-US" sz="15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sz="1500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int</a:t>
            </a:r>
            <a:r>
              <a:rPr lang="en-US" sz="15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));</a:t>
            </a:r>
          </a:p>
          <a:p>
            <a:pPr>
              <a:buNone/>
            </a:pPr>
            <a:r>
              <a:rPr lang="en-US" sz="15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sz="1500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if</a:t>
            </a:r>
            <a:r>
              <a:rPr lang="en-US" sz="15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(a == NULL) {</a:t>
            </a:r>
          </a:p>
          <a:p>
            <a:pPr>
              <a:buNone/>
            </a:pPr>
            <a:r>
              <a:rPr lang="en-US" sz="15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    </a:t>
            </a:r>
            <a:r>
              <a:rPr lang="en-US" sz="1500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return</a:t>
            </a:r>
            <a:r>
              <a:rPr lang="en-US" sz="15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500" b="0" dirty="0">
                <a:solidFill>
                  <a:srgbClr val="098658"/>
                </a:solidFill>
                <a:effectLst/>
                <a:latin typeface="Consolas" panose="020B0609020204030204" pitchFamily="49" charset="0"/>
              </a:rPr>
              <a:t>1</a:t>
            </a:r>
            <a:r>
              <a:rPr lang="en-US" sz="15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;</a:t>
            </a:r>
          </a:p>
          <a:p>
            <a:pPr>
              <a:buNone/>
            </a:pPr>
            <a:r>
              <a:rPr lang="en-US" sz="15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}</a:t>
            </a:r>
          </a:p>
          <a:p>
            <a:pPr>
              <a:buNone/>
            </a:pPr>
            <a:endParaRPr lang="en-US" sz="1500" b="0" dirty="0">
              <a:solidFill>
                <a:srgbClr val="000000"/>
              </a:solidFill>
              <a:effectLst/>
              <a:latin typeface="Consolas" panose="020B0609020204030204" pitchFamily="49" charset="0"/>
            </a:endParaRPr>
          </a:p>
          <a:p>
            <a:pPr>
              <a:buNone/>
            </a:pPr>
            <a:r>
              <a:rPr lang="en-US" sz="15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sz="1500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for</a:t>
            </a:r>
            <a:r>
              <a:rPr lang="en-US" sz="15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(</a:t>
            </a:r>
            <a:r>
              <a:rPr lang="en-US" sz="1500" b="0" dirty="0" err="1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size_t</a:t>
            </a:r>
            <a:r>
              <a:rPr lang="en-US" sz="15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500" b="0" dirty="0" err="1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i</a:t>
            </a:r>
            <a:r>
              <a:rPr lang="en-US" sz="15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= </a:t>
            </a:r>
            <a:r>
              <a:rPr lang="en-US" sz="1500" b="0" dirty="0">
                <a:solidFill>
                  <a:srgbClr val="098658"/>
                </a:solidFill>
                <a:effectLst/>
                <a:latin typeface="Consolas" panose="020B0609020204030204" pitchFamily="49" charset="0"/>
              </a:rPr>
              <a:t>0</a:t>
            </a:r>
            <a:r>
              <a:rPr lang="en-US" sz="15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; </a:t>
            </a:r>
            <a:r>
              <a:rPr lang="en-US" sz="1500" b="0" dirty="0" err="1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i</a:t>
            </a:r>
            <a:r>
              <a:rPr lang="en-US" sz="15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&lt; N; </a:t>
            </a:r>
            <a:r>
              <a:rPr lang="en-US" sz="1500" b="0" dirty="0" err="1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i</a:t>
            </a:r>
            <a:r>
              <a:rPr lang="en-US" sz="15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++) {</a:t>
            </a:r>
          </a:p>
          <a:p>
            <a:pPr>
              <a:buNone/>
            </a:pPr>
            <a:r>
              <a:rPr lang="en-US" sz="15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    </a:t>
            </a:r>
            <a:r>
              <a:rPr lang="en-US" sz="1500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if</a:t>
            </a:r>
            <a:r>
              <a:rPr lang="en-US" sz="15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(</a:t>
            </a:r>
            <a:r>
              <a:rPr lang="en-US" sz="1500" b="0" dirty="0" err="1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scanf</a:t>
            </a:r>
            <a:r>
              <a:rPr lang="en-US" sz="15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sz="1500" b="0" dirty="0">
                <a:solidFill>
                  <a:srgbClr val="A31515"/>
                </a:solidFill>
                <a:effectLst/>
                <a:latin typeface="Consolas" panose="020B0609020204030204" pitchFamily="49" charset="0"/>
              </a:rPr>
              <a:t>"%d"</a:t>
            </a:r>
            <a:r>
              <a:rPr lang="en-US" sz="15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, &amp;a[</a:t>
            </a:r>
            <a:r>
              <a:rPr lang="en-US" sz="1500" b="0" dirty="0" err="1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i</a:t>
            </a:r>
            <a:r>
              <a:rPr lang="en-US" sz="15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]) != </a:t>
            </a:r>
            <a:r>
              <a:rPr lang="en-US" sz="1500" b="0" dirty="0">
                <a:solidFill>
                  <a:srgbClr val="098658"/>
                </a:solidFill>
                <a:effectLst/>
                <a:latin typeface="Consolas" panose="020B0609020204030204" pitchFamily="49" charset="0"/>
              </a:rPr>
              <a:t>1</a:t>
            </a:r>
            <a:r>
              <a:rPr lang="en-US" sz="15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) {</a:t>
            </a:r>
          </a:p>
          <a:p>
            <a:pPr>
              <a:buNone/>
            </a:pPr>
            <a:r>
              <a:rPr lang="en-US" sz="15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        free(a);</a:t>
            </a:r>
          </a:p>
          <a:p>
            <a:pPr>
              <a:buNone/>
            </a:pPr>
            <a:r>
              <a:rPr lang="en-US" sz="15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        </a:t>
            </a:r>
            <a:r>
              <a:rPr lang="en-US" sz="1500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return</a:t>
            </a:r>
            <a:r>
              <a:rPr lang="en-US" sz="15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500" b="0" dirty="0">
                <a:solidFill>
                  <a:srgbClr val="098658"/>
                </a:solidFill>
                <a:effectLst/>
                <a:latin typeface="Consolas" panose="020B0609020204030204" pitchFamily="49" charset="0"/>
              </a:rPr>
              <a:t>1</a:t>
            </a:r>
            <a:r>
              <a:rPr lang="en-US" sz="15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;</a:t>
            </a:r>
          </a:p>
          <a:p>
            <a:pPr>
              <a:buNone/>
            </a:pPr>
            <a:r>
              <a:rPr lang="en-US" sz="15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    }</a:t>
            </a:r>
          </a:p>
          <a:p>
            <a:pPr>
              <a:buNone/>
            </a:pPr>
            <a:r>
              <a:rPr lang="en-US" sz="15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}</a:t>
            </a:r>
            <a:br>
              <a:rPr lang="en-US" sz="15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</a:br>
            <a:endParaRPr lang="en-US" sz="1500" b="0" dirty="0">
              <a:solidFill>
                <a:srgbClr val="000000"/>
              </a:solidFill>
              <a:effectLst/>
              <a:latin typeface="Consolas" panose="020B0609020204030204" pitchFamily="49" charset="0"/>
            </a:endParaRPr>
          </a:p>
          <a:p>
            <a:pPr>
              <a:buNone/>
            </a:pPr>
            <a:r>
              <a:rPr lang="en-US" sz="15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sz="1500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for</a:t>
            </a:r>
            <a:r>
              <a:rPr lang="en-US" sz="15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(</a:t>
            </a:r>
            <a:r>
              <a:rPr lang="en-US" sz="1500" b="0" dirty="0" err="1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size_t</a:t>
            </a:r>
            <a:r>
              <a:rPr lang="en-US" sz="15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500" b="0" dirty="0" err="1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i</a:t>
            </a:r>
            <a:r>
              <a:rPr lang="en-US" sz="15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= </a:t>
            </a:r>
            <a:r>
              <a:rPr lang="en-US" sz="1500" b="0" dirty="0">
                <a:solidFill>
                  <a:srgbClr val="098658"/>
                </a:solidFill>
                <a:effectLst/>
                <a:latin typeface="Consolas" panose="020B0609020204030204" pitchFamily="49" charset="0"/>
              </a:rPr>
              <a:t>0</a:t>
            </a:r>
            <a:r>
              <a:rPr lang="en-US" sz="15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; </a:t>
            </a:r>
            <a:r>
              <a:rPr lang="en-US" sz="1500" b="0" dirty="0" err="1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i</a:t>
            </a:r>
            <a:r>
              <a:rPr lang="en-US" sz="15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&lt; N; </a:t>
            </a:r>
            <a:r>
              <a:rPr lang="en-US" sz="1500" b="0" dirty="0" err="1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i</a:t>
            </a:r>
            <a:r>
              <a:rPr lang="en-US" sz="15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++) {</a:t>
            </a:r>
          </a:p>
          <a:p>
            <a:pPr>
              <a:buNone/>
            </a:pPr>
            <a:r>
              <a:rPr lang="en-US" sz="15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    </a:t>
            </a:r>
            <a:r>
              <a:rPr lang="en-US" sz="1500" b="0" dirty="0" err="1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printf</a:t>
            </a:r>
            <a:r>
              <a:rPr lang="en-US" sz="15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sz="1500" b="0" dirty="0">
                <a:solidFill>
                  <a:srgbClr val="A31515"/>
                </a:solidFill>
                <a:effectLst/>
                <a:latin typeface="Consolas" panose="020B0609020204030204" pitchFamily="49" charset="0"/>
              </a:rPr>
              <a:t>"%d "</a:t>
            </a:r>
            <a:r>
              <a:rPr lang="en-US" sz="15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, a[</a:t>
            </a:r>
            <a:r>
              <a:rPr lang="en-US" sz="1500" b="0" dirty="0" err="1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i</a:t>
            </a:r>
            <a:r>
              <a:rPr lang="en-US" sz="15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]);</a:t>
            </a:r>
          </a:p>
          <a:p>
            <a:pPr>
              <a:buNone/>
            </a:pPr>
            <a:r>
              <a:rPr lang="en-US" sz="15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}</a:t>
            </a:r>
          </a:p>
          <a:p>
            <a:pPr>
              <a:buNone/>
            </a:pPr>
            <a:r>
              <a:rPr lang="en-US" sz="15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sz="1500" b="0" dirty="0" err="1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printf</a:t>
            </a:r>
            <a:r>
              <a:rPr lang="en-US" sz="15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sz="1500" b="0" dirty="0">
                <a:solidFill>
                  <a:srgbClr val="A31515"/>
                </a:solidFill>
                <a:effectLst/>
                <a:latin typeface="Consolas" panose="020B0609020204030204" pitchFamily="49" charset="0"/>
              </a:rPr>
              <a:t>"\n"</a:t>
            </a:r>
            <a:r>
              <a:rPr lang="en-US" sz="15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);</a:t>
            </a:r>
            <a:br>
              <a:rPr lang="en-US" sz="15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</a:br>
            <a:endParaRPr lang="en-US" sz="1500" b="0" dirty="0">
              <a:solidFill>
                <a:srgbClr val="000000"/>
              </a:solidFill>
              <a:effectLst/>
              <a:latin typeface="Consolas" panose="020B0609020204030204" pitchFamily="49" charset="0"/>
            </a:endParaRPr>
          </a:p>
          <a:p>
            <a:pPr>
              <a:buNone/>
            </a:pPr>
            <a:r>
              <a:rPr lang="en-US" sz="15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free(a);</a:t>
            </a:r>
          </a:p>
          <a:p>
            <a:pPr>
              <a:buNone/>
            </a:pPr>
            <a:r>
              <a:rPr lang="en-US" sz="15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}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66D2A062-5374-CEDE-3DCB-E6B89A86647A}"/>
              </a:ext>
            </a:extLst>
          </p:cNvPr>
          <p:cNvSpPr txBox="1"/>
          <p:nvPr/>
        </p:nvSpPr>
        <p:spPr>
          <a:xfrm>
            <a:off x="6098276" y="542404"/>
            <a:ext cx="6093724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dirty="0">
                <a:hlinkClick r:id="rId3"/>
              </a:rPr>
              <a:t>https://godbolt.org/z/aWEoPMfs9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552280835"/>
      </p:ext>
    </p:extLst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 2">
            <a:extLst>
              <a:ext uri="{FF2B5EF4-FFF2-40B4-BE49-F238E27FC236}">
                <a16:creationId xmlns:a16="http://schemas.microsoft.com/office/drawing/2014/main" id="{3207B41C-302F-8117-577A-34921FCA6CE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dirty="0"/>
              <a:t>Заключение</a:t>
            </a:r>
            <a:endParaRPr lang="en-US" dirty="0"/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DBDA4E27-F125-1976-A7DF-79FA037E927A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fontScale="92500" lnSpcReduction="10000"/>
          </a:bodyPr>
          <a:lstStyle/>
          <a:p>
            <a:r>
              <a:rPr lang="ru-RU" b="1" dirty="0"/>
              <a:t>Что было рассмотрено</a:t>
            </a:r>
          </a:p>
          <a:p>
            <a:pPr lvl="1"/>
            <a:r>
              <a:rPr lang="ru-RU" dirty="0"/>
              <a:t>Одномерные массивы как непрерывные области памяти.</a:t>
            </a:r>
          </a:p>
          <a:p>
            <a:pPr lvl="1"/>
            <a:r>
              <a:rPr lang="ru-RU" dirty="0"/>
              <a:t>Тип </a:t>
            </a:r>
            <a:r>
              <a:rPr lang="ru-RU" dirty="0" err="1"/>
              <a:t>char</a:t>
            </a:r>
            <a:r>
              <a:rPr lang="ru-RU" dirty="0"/>
              <a:t> как единица измерения памяти (</a:t>
            </a:r>
            <a:r>
              <a:rPr lang="ru-RU" dirty="0" err="1"/>
              <a:t>sizeof</a:t>
            </a:r>
            <a:r>
              <a:rPr lang="ru-RU" dirty="0"/>
              <a:t>(</a:t>
            </a:r>
            <a:r>
              <a:rPr lang="ru-RU" dirty="0" err="1"/>
              <a:t>char</a:t>
            </a:r>
            <a:r>
              <a:rPr lang="ru-RU" dirty="0"/>
              <a:t>) == 1).</a:t>
            </a:r>
          </a:p>
          <a:p>
            <a:pPr lvl="1"/>
            <a:r>
              <a:rPr lang="ru-RU" dirty="0"/>
              <a:t>Строка — массив </a:t>
            </a:r>
            <a:r>
              <a:rPr lang="ru-RU" dirty="0" err="1"/>
              <a:t>char</a:t>
            </a:r>
            <a:r>
              <a:rPr lang="ru-RU" dirty="0"/>
              <a:t>, завершающийся '\0'.</a:t>
            </a:r>
          </a:p>
          <a:p>
            <a:pPr lvl="1"/>
            <a:r>
              <a:rPr lang="ru-RU" dirty="0"/>
              <a:t>Указатели и связь массивов с адресами.</a:t>
            </a:r>
          </a:p>
          <a:p>
            <a:pPr lvl="1"/>
            <a:r>
              <a:rPr lang="ru-RU" dirty="0"/>
              <a:t>Основные функции &lt;</a:t>
            </a:r>
            <a:r>
              <a:rPr lang="ru-RU" dirty="0" err="1"/>
              <a:t>string.h</a:t>
            </a:r>
            <a:r>
              <a:rPr lang="ru-RU" dirty="0"/>
              <a:t>&gt;.</a:t>
            </a:r>
          </a:p>
          <a:p>
            <a:pPr lvl="1"/>
            <a:r>
              <a:rPr lang="ru-RU" dirty="0"/>
              <a:t>Динамическое выделение памяти для массивов и строк.</a:t>
            </a:r>
          </a:p>
          <a:p>
            <a:r>
              <a:rPr lang="ru-RU" b="1" dirty="0"/>
              <a:t>Ключевые идеи</a:t>
            </a:r>
          </a:p>
          <a:p>
            <a:pPr lvl="1"/>
            <a:r>
              <a:rPr lang="ru-RU" dirty="0"/>
              <a:t>Массив — это непрерывный участок памяти.</a:t>
            </a:r>
          </a:p>
          <a:p>
            <a:pPr lvl="1"/>
            <a:r>
              <a:rPr lang="ru-RU" dirty="0"/>
              <a:t>Строка — это соглашение поверх массива.</a:t>
            </a:r>
          </a:p>
          <a:p>
            <a:pPr lvl="1"/>
            <a:r>
              <a:rPr lang="ru-RU" dirty="0"/>
              <a:t>Длина строки не хранится явно.</a:t>
            </a:r>
          </a:p>
          <a:p>
            <a:pPr lvl="1"/>
            <a:r>
              <a:rPr lang="ru-RU" dirty="0"/>
              <a:t>Все операции сводятся к работе с байтами и адресами.</a:t>
            </a:r>
          </a:p>
        </p:txBody>
      </p:sp>
      <p:sp>
        <p:nvSpPr>
          <p:cNvPr id="2" name="Slide Number Placeholder 1">
            <a:extLst>
              <a:ext uri="{FF2B5EF4-FFF2-40B4-BE49-F238E27FC236}">
                <a16:creationId xmlns:a16="http://schemas.microsoft.com/office/drawing/2014/main" id="{F962A532-5619-D1A9-45C9-447A80894D4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35E9561-002A-41EF-B5BA-43A01A72A4F8}" type="slidenum">
              <a:rPr lang="en-US" smtClean="0"/>
              <a:t>30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466080729"/>
      </p:ext>
    </p:extLst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RTICULATE_SLIDE_GUID" val="1468b760-d21f-4b9a-b4bb-b94542368000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425</TotalTime>
  <Words>8277</Words>
  <Application>Microsoft Office PowerPoint</Application>
  <PresentationFormat>Widescreen</PresentationFormat>
  <Paragraphs>846</Paragraphs>
  <Slides>30</Slides>
  <Notes>30</Notes>
  <HiddenSlides>0</HiddenSlides>
  <MMClips>0</MMClips>
  <ScaleCrop>false</ScaleCrop>
  <HeadingPairs>
    <vt:vector size="6" baseType="variant">
      <vt:variant>
        <vt:lpstr>Fonts Used</vt:lpstr>
      </vt:variant>
      <vt:variant>
        <vt:i4>5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30</vt:i4>
      </vt:variant>
    </vt:vector>
  </HeadingPairs>
  <TitlesOfParts>
    <vt:vector size="36" baseType="lpstr">
      <vt:lpstr>Aptos</vt:lpstr>
      <vt:lpstr>Aptos Display</vt:lpstr>
      <vt:lpstr>Arial</vt:lpstr>
      <vt:lpstr>Consolas</vt:lpstr>
      <vt:lpstr>Courier New</vt:lpstr>
      <vt:lpstr>Office Theme</vt:lpstr>
      <vt:lpstr>Работа со строками</vt:lpstr>
      <vt:lpstr>Как хранится текст в памяти компьютера</vt:lpstr>
      <vt:lpstr>Тип char и память</vt:lpstr>
      <vt:lpstr>Символьные константы</vt:lpstr>
      <vt:lpstr>Строка как массив char</vt:lpstr>
      <vt:lpstr>Почему нужен '\0'?</vt:lpstr>
      <vt:lpstr>Упрощённая реализация puts через putchar</vt:lpstr>
      <vt:lpstr>Функция my_strlen</vt:lpstr>
      <vt:lpstr>Почему строки в C завершаются '\0'?</vt:lpstr>
      <vt:lpstr>Ошибки с размером массива</vt:lpstr>
      <vt:lpstr>Вывод строк</vt:lpstr>
      <vt:lpstr>Ввод строк: scanf</vt:lpstr>
      <vt:lpstr>Ввод строк: fgets</vt:lpstr>
      <vt:lpstr>Копирование строк</vt:lpstr>
      <vt:lpstr>Сравнение строк</vt:lpstr>
      <vt:lpstr>Указатели на char</vt:lpstr>
      <vt:lpstr>Массивы и указатели</vt:lpstr>
      <vt:lpstr>Константность указателя и данных</vt:lpstr>
      <vt:lpstr>Стандартная библиотека работы со строками string.h</vt:lpstr>
      <vt:lpstr>Копирование строки с учётом длины</vt:lpstr>
      <vt:lpstr>Сравнение строк</vt:lpstr>
      <vt:lpstr>Конкатенация строк</vt:lpstr>
      <vt:lpstr>Проблема строк произвольной длины</vt:lpstr>
      <vt:lpstr>Динамическое выделение памяти</vt:lpstr>
      <vt:lpstr>Динамическое копирование строки</vt:lpstr>
      <vt:lpstr>PowerPoint Presentation</vt:lpstr>
      <vt:lpstr>PowerPoint Presentation</vt:lpstr>
      <vt:lpstr>Динамическое выделение массивов</vt:lpstr>
      <vt:lpstr>PowerPoint Presentation</vt:lpstr>
      <vt:lpstr>Заключение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Алексей Малов</dc:creator>
  <cp:lastModifiedBy>Алексей Малов</cp:lastModifiedBy>
  <cp:revision>63</cp:revision>
  <dcterms:created xsi:type="dcterms:W3CDTF">2026-02-16T20:40:07Z</dcterms:created>
  <dcterms:modified xsi:type="dcterms:W3CDTF">2026-02-17T18:27:59Z</dcterms:modified>
</cp:coreProperties>
</file>