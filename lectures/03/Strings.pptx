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63" r:id="rId5"/>
    <p:sldId id="259" r:id="rId6"/>
    <p:sldId id="264" r:id="rId7"/>
    <p:sldId id="265" r:id="rId8"/>
    <p:sldId id="266" r:id="rId9"/>
    <p:sldId id="267" r:id="rId10"/>
    <p:sldId id="268" r:id="rId11"/>
    <p:sldId id="269" r:id="rId12"/>
    <p:sldId id="270" r:id="rId13"/>
    <p:sldId id="271" r:id="rId14"/>
    <p:sldId id="272" r:id="rId15"/>
    <p:sldId id="27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4150" autoAdjust="0"/>
  </p:normalViewPr>
  <p:slideViewPr>
    <p:cSldViewPr snapToGrid="0" showGuides="1">
      <p:cViewPr>
        <p:scale>
          <a:sx n="50" d="100"/>
          <a:sy n="50" d="100"/>
        </p:scale>
        <p:origin x="378" y="67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-45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890D5-55D3-4584-BC51-03E5E36A84C4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A46E3-A062-4F85-8E8F-D4EACE1D22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1839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До этого момента мы работали с числами и массивами.</a:t>
            </a:r>
            <a:br>
              <a:rPr lang="ru-RU" dirty="0"/>
            </a:br>
            <a:r>
              <a:rPr lang="ru-RU" dirty="0"/>
              <a:t>Теперь возникает естественный вопрос — а как хранится текст?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("Hello");</a:t>
            </a:r>
          </a:p>
          <a:p>
            <a:r>
              <a:rPr lang="ru-RU" dirty="0"/>
              <a:t>кажется, что существует какой-то специальный тип данных “строка”.</a:t>
            </a:r>
            <a:br>
              <a:rPr lang="ru-RU" dirty="0"/>
            </a:br>
            <a:r>
              <a:rPr lang="ru-RU" dirty="0"/>
              <a:t>Но на уровне процессора никакого текста не существует.</a:t>
            </a:r>
          </a:p>
          <a:p>
            <a:r>
              <a:rPr lang="ru-RU" dirty="0"/>
              <a:t>Процессор знает только:</a:t>
            </a:r>
          </a:p>
          <a:p>
            <a:r>
              <a:rPr lang="ru-RU" dirty="0"/>
              <a:t>байты,</a:t>
            </a:r>
          </a:p>
          <a:p>
            <a:r>
              <a:rPr lang="ru-RU" dirty="0"/>
              <a:t>числа,</a:t>
            </a:r>
          </a:p>
          <a:p>
            <a:r>
              <a:rPr lang="ru-RU" dirty="0"/>
              <a:t>адреса,</a:t>
            </a:r>
          </a:p>
          <a:p>
            <a:r>
              <a:rPr lang="ru-RU" dirty="0"/>
              <a:t>и инструкции.</a:t>
            </a:r>
          </a:p>
          <a:p>
            <a:r>
              <a:rPr lang="ru-RU" dirty="0"/>
              <a:t>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— это не буква. Это просто число 65.</a:t>
            </a:r>
            <a:br>
              <a:rPr lang="ru-RU" dirty="0"/>
            </a:br>
            <a:r>
              <a:rPr lang="ru-RU" dirty="0"/>
              <a:t>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'i'</a:t>
            </a:r>
            <a:r>
              <a:rPr lang="ru-RU" dirty="0"/>
              <a:t> — это число 105.</a:t>
            </a:r>
          </a:p>
          <a:p>
            <a:r>
              <a:rPr lang="ru-RU" dirty="0"/>
              <a:t>Когда мы записываем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"Hi"</a:t>
            </a:r>
            <a:r>
              <a:rPr lang="ru-RU" dirty="0"/>
              <a:t>, в памяти лежат просто три байта:</a:t>
            </a:r>
          </a:p>
          <a:p>
            <a:r>
              <a:rPr lang="ru-RU" dirty="0"/>
              <a:t>72</a:t>
            </a:r>
          </a:p>
          <a:p>
            <a:r>
              <a:rPr lang="ru-RU" dirty="0"/>
              <a:t>105</a:t>
            </a:r>
          </a:p>
          <a:p>
            <a:r>
              <a:rPr lang="ru-RU" dirty="0"/>
              <a:t>0</a:t>
            </a:r>
          </a:p>
          <a:p>
            <a:r>
              <a:rPr lang="ru-RU" dirty="0"/>
              <a:t>Последний ноль — это очень важно.</a:t>
            </a:r>
            <a:br>
              <a:rPr lang="ru-RU" dirty="0"/>
            </a:br>
            <a:r>
              <a:rPr lang="ru-RU" dirty="0"/>
              <a:t>Это специальный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который говорит программе:</a:t>
            </a:r>
            <a:br>
              <a:rPr lang="ru-RU" dirty="0"/>
            </a:br>
            <a:r>
              <a:rPr lang="ru-RU" dirty="0"/>
              <a:t>“строка закончилась”.</a:t>
            </a:r>
          </a:p>
          <a:p>
            <a:r>
              <a:rPr lang="ru-RU" dirty="0"/>
              <a:t>Процессор не хранит длину строки отдельно.</a:t>
            </a:r>
            <a:br>
              <a:rPr lang="ru-RU" dirty="0"/>
            </a:br>
            <a:r>
              <a:rPr lang="ru-RU" dirty="0"/>
              <a:t>Он просто идёт по памяти, пока не встретит нулевой байт.</a:t>
            </a:r>
          </a:p>
          <a:p>
            <a:r>
              <a:rPr lang="ru-RU" dirty="0"/>
              <a:t>И вот здесь происходит очень важный момент нашего курса:</a:t>
            </a:r>
          </a:p>
          <a:p>
            <a:r>
              <a:rPr lang="ru-RU" dirty="0"/>
              <a:t>Строка — это не магия.</a:t>
            </a:r>
            <a:br>
              <a:rPr lang="ru-RU" dirty="0"/>
            </a:br>
            <a:r>
              <a:rPr lang="ru-RU" dirty="0"/>
              <a:t>Это обычный массив байтов.</a:t>
            </a:r>
          </a:p>
          <a:p>
            <a:r>
              <a:rPr lang="ru-RU" dirty="0"/>
              <a:t>А значит, всё, что мы изучали:</a:t>
            </a:r>
          </a:p>
          <a:p>
            <a:r>
              <a:rPr lang="ru-RU" dirty="0"/>
              <a:t>индексы,</a:t>
            </a:r>
          </a:p>
          <a:p>
            <a:r>
              <a:rPr lang="ru-RU" dirty="0"/>
              <a:t>циклы,</a:t>
            </a:r>
          </a:p>
          <a:p>
            <a:r>
              <a:rPr lang="ru-RU" dirty="0"/>
              <a:t>сравнения,</a:t>
            </a:r>
          </a:p>
          <a:p>
            <a:r>
              <a:rPr lang="ru-RU" dirty="0"/>
              <a:t>переходы,</a:t>
            </a:r>
          </a:p>
          <a:p>
            <a:r>
              <a:rPr lang="ru-RU" dirty="0"/>
              <a:t>— полностью применимо к строкам.</a:t>
            </a:r>
          </a:p>
          <a:p>
            <a:r>
              <a:rPr lang="ru-RU" dirty="0"/>
              <a:t>Сегодня мы будем разбирать, как именно это работает.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721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Чтобы понять строки, нужно сначала понять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— это самый маленький тип данных в C.</a:t>
            </a:r>
            <a:br>
              <a:rPr lang="ru-RU" dirty="0"/>
            </a:br>
            <a:r>
              <a:rPr lang="ru-RU" dirty="0"/>
              <a:t>Он занимает ровно один байт.</a:t>
            </a:r>
          </a:p>
          <a:p>
            <a:r>
              <a:rPr lang="ru-RU" dirty="0"/>
              <a:t>Один байт — это 8 бит.</a:t>
            </a:r>
            <a:br>
              <a:rPr lang="ru-RU" dirty="0"/>
            </a:br>
            <a:r>
              <a:rPr lang="ru-RU" dirty="0"/>
              <a:t>И этот байт хранит просто число.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 = 'A';</a:t>
            </a:r>
          </a:p>
          <a:p>
            <a:r>
              <a:rPr lang="ru-RU" dirty="0"/>
              <a:t>кажется, что мы сохраняем букву.</a:t>
            </a:r>
            <a:br>
              <a:rPr lang="ru-RU" dirty="0"/>
            </a:br>
            <a:r>
              <a:rPr lang="ru-RU" dirty="0"/>
              <a:t>Но на самом деле в памяти лежит число 65 — код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.</a:t>
            </a:r>
          </a:p>
          <a:p>
            <a:r>
              <a:rPr lang="ru-RU" dirty="0"/>
              <a:t>Это очень важно: в компьютере нет букв — есть только числа.</a:t>
            </a:r>
          </a:p>
          <a:p>
            <a:r>
              <a:rPr lang="ru-RU" dirty="0"/>
              <a:t>Теперь ключевой момент про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dirty="0"/>
              <a:t> возвращает размер </a:t>
            </a:r>
            <a:r>
              <a:rPr lang="ru-RU" b="1" dirty="0"/>
              <a:t>в байтах</a:t>
            </a:r>
            <a:r>
              <a:rPr lang="ru-RU" dirty="0"/>
              <a:t>.</a:t>
            </a:r>
          </a:p>
          <a:p>
            <a:r>
              <a:rPr lang="ru-RU" dirty="0"/>
              <a:t>А что такое байт в языке C?</a:t>
            </a:r>
          </a:p>
          <a:p>
            <a:r>
              <a:rPr lang="ru-RU" dirty="0"/>
              <a:t>По стандарту C: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 == 1</a:t>
            </a:r>
          </a:p>
          <a:p>
            <a:r>
              <a:rPr lang="ru-RU" dirty="0"/>
              <a:t>Это определение.</a:t>
            </a:r>
          </a:p>
          <a:p>
            <a:r>
              <a:rPr lang="ru-RU" dirty="0"/>
              <a:t>То есть один байт — это размер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Когда мы пишем: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</a:p>
          <a:p>
            <a:r>
              <a:rPr lang="ru-RU" dirty="0"/>
              <a:t>и получаем, например, 4 —</a:t>
            </a:r>
            <a:br>
              <a:rPr lang="ru-RU" dirty="0"/>
            </a:br>
            <a:r>
              <a:rPr lang="ru-RU" dirty="0"/>
              <a:t>это означает,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 занимает 4 байта,</a:t>
            </a:r>
            <a:br>
              <a:rPr lang="ru-RU" dirty="0"/>
            </a:br>
            <a:r>
              <a:rPr lang="ru-RU" dirty="0"/>
              <a:t>то есть 4 объекта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r>
              <a:rPr lang="ru-RU" dirty="0"/>
              <a:t>Таким образом,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— это фундамент измерения памяти.</a:t>
            </a:r>
          </a:p>
          <a:p>
            <a:r>
              <a:rPr lang="ru-RU" dirty="0"/>
              <a:t>Вся память в C измеряется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И строки — это просто последовательности таких байтов.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23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69C8F7C-2BA4-427E-8D0C-7F24C2D019E5}" type="slidenum">
              <a:rPr lang="ru-RU" smtClean="0"/>
              <a:pPr/>
              <a:t>4</a:t>
            </a:fld>
            <a:endParaRPr lang="ru-RU"/>
          </a:p>
        </p:txBody>
      </p:sp>
      <p:sp>
        <p:nvSpPr>
          <p:cNvPr id="1167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16740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88913" y="4343400"/>
            <a:ext cx="6553200" cy="4405313"/>
          </a:xfrm>
          <a:noFill/>
          <a:ln/>
        </p:spPr>
        <p:txBody>
          <a:bodyPr/>
          <a:lstStyle/>
          <a:p>
            <a:r>
              <a:rPr lang="ru-RU" sz="800" dirty="0"/>
              <a:t>Символьная константа — это запись числа в виде символа в одиночных кавычках. Когда мы пишем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, в программе это не «буква», а целое число, равное коду этой буквы в кодировке. Чаще всего это ASCII, где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sz="800" dirty="0"/>
              <a:t> имеет код 65,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'0'</a:t>
            </a:r>
            <a:r>
              <a:rPr lang="ru-RU" sz="800" dirty="0"/>
              <a:t> имеет код 48.</a:t>
            </a:r>
          </a:p>
          <a:p>
            <a:endParaRPr lang="ru-RU" sz="800" dirty="0"/>
          </a:p>
          <a:p>
            <a:r>
              <a:rPr lang="ru-RU" sz="800" dirty="0"/>
              <a:t>Важно понимать, что символьная константа имеет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sz="800" dirty="0"/>
              <a:t>, а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800" dirty="0"/>
              <a:t>. Это историческая особенность языка C. Когда мы присваиваем её переменной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800" dirty="0"/>
              <a:t>, происходит обычное приведение типа.</a:t>
            </a:r>
          </a:p>
          <a:p>
            <a:endParaRPr lang="ru-RU" sz="800" dirty="0"/>
          </a:p>
          <a:p>
            <a:r>
              <a:rPr lang="ru-RU" sz="800" dirty="0"/>
              <a:t>Escape-последовательности выглядят как два символа,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\</a:t>
            </a:r>
            <a:r>
              <a:rPr lang="ru-RU" sz="800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sz="800" dirty="0"/>
              <a:t>, но обозначают один символ.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sz="800" dirty="0"/>
              <a:t> — это один байт с кодом перевода строки. Аналогично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 — это один байт со значением 0. Мы часто используем именно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sz="800" dirty="0"/>
              <a:t>, чтобы подчеркнуть, что речь идёт о символе, а не просто о числе 0.</a:t>
            </a:r>
          </a:p>
          <a:p>
            <a:endParaRPr lang="ru-RU" sz="800" dirty="0"/>
          </a:p>
          <a:p>
            <a:r>
              <a:rPr lang="ru-RU" sz="800" dirty="0"/>
              <a:t>Также код символа можно задать явно через восьмеричную или шестнадцатеричную запись. 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'\177'</a:t>
            </a:r>
            <a:r>
              <a:rPr lang="ru-RU" sz="800" dirty="0"/>
              <a:t> — это символ с кодом 127, 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xff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</a:t>
            </a:r>
            <a:r>
              <a:rPr lang="ru-RU" sz="800" dirty="0"/>
              <a:t> — с кодом 255. Это полезно, когда нужно работать с конкретными байтовыми значениями.</a:t>
            </a:r>
          </a:p>
          <a:p>
            <a:endParaRPr lang="ru-RU" sz="800" dirty="0"/>
          </a:p>
          <a:p>
            <a:r>
              <a:rPr lang="ru-RU" sz="800" dirty="0"/>
              <a:t>Ключевая идея: символьная константа — это обычное число. Именно поэтому мы можем сравнивать символы, вычитать их и использовать в арифметических выражениях. Для процессора это всегда просто числа в памяти.</a:t>
            </a:r>
          </a:p>
          <a:p>
            <a:endParaRPr lang="ru-RU" sz="800" dirty="0"/>
          </a:p>
        </p:txBody>
      </p:sp>
    </p:spTree>
    <p:extLst>
      <p:ext uri="{BB962C8B-B14F-4D97-AF65-F5344CB8AC3E}">
        <p14:creationId xmlns:p14="http://schemas.microsoft.com/office/powerpoint/2010/main" val="15526435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нет встроенного типа данных «строка». Это принципиальный момент. Когда мы пишем строку, мы на самом деле создаём массив элементов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s[6] = {'H', 'e', 'l', 'l', 'o', '\0'};</a:t>
            </a:r>
            <a:r>
              <a:rPr lang="ru-RU" dirty="0"/>
              <a:t> создаёт массив из шести байтов. Последний элемент — это специальный нулевой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Его код равен нулю, и он используется для обозначения конца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Очень важно понимать, что длина массива и длина строки — это разные вещи. Массив может быть больше, чем фактическая строка. Конец строки определяется не размером массива, а появлением нулевого байта.</a:t>
            </a:r>
          </a:p>
          <a:p>
            <a:r>
              <a:rPr lang="ru-RU" dirty="0"/>
              <a:t>Когда мы используем сокращённую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 = "Hello";</a:t>
            </a:r>
            <a:r>
              <a:rPr lang="ru-RU" dirty="0"/>
              <a:t>, компилятор автоматически добавляет завершающий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В памяти фактически хранится шесть байтов, а не пять.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посмотреть на память, мы увидим последовательные байты с кодами символов, а затем ноль. Никакой дополнительной информации о длине строки не хранится. Программа узнаёт, что строка закончилась, только когда встречает байт со значением 0.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образом, строка в C — это просто непрерывный участок памяти, заполненный байтами, где конец определяется специальным соглашением. Именно это соглашение мы будем использовать во всех дальнейших примерах работы со строками.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3833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Мы уже знаем, что строка — это массив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Но возникает вопрос: как программа понимает, где строка заканчивается?</a:t>
            </a:r>
          </a:p>
          <a:p>
            <a:endParaRPr lang="ru-RU" dirty="0"/>
          </a:p>
          <a:p>
            <a:r>
              <a:rPr lang="ru-RU" dirty="0"/>
              <a:t>В массиве не хранится длина строки. Там просто лежат байты подряд. Никакой дополнительной информации о количестве символов нет.</a:t>
            </a:r>
          </a:p>
          <a:p>
            <a:endParaRPr lang="ru-RU" dirty="0"/>
          </a:p>
          <a:p>
            <a:r>
              <a:rPr lang="ru-RU" dirty="0"/>
              <a:t>Поэтому в языке C используется специальное соглашение: строка заканчивается нулевым байтом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Его числовое значение равно нулю.</a:t>
            </a:r>
          </a:p>
          <a:p>
            <a:endParaRPr lang="ru-RU" dirty="0"/>
          </a:p>
          <a:p>
            <a:r>
              <a:rPr lang="ru-RU" dirty="0"/>
              <a:t>Рассмотрим пример с функцией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Когда мы передаём ей строку, она получает адрес первого символа и начинает читать память байт за байтом. Она выводит символы до тех пор, пока не встретит байт со значением 0. Именно этот нулевой байт сигнализирует о завершении строки.</a:t>
            </a:r>
          </a:p>
          <a:p>
            <a:endParaRPr lang="ru-RU" dirty="0"/>
          </a:p>
          <a:p>
            <a:r>
              <a:rPr lang="ru-RU" dirty="0"/>
              <a:t>Важно понимать,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 не знает размер массива. Она просто двигается по памяти вперёд. Если по какой-то причине в массиве не окажется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функция продолжит читать память за его пределами, пока случайно не встретит нулевой байт. Это и есть неопределённое поведение.</a:t>
            </a:r>
          </a:p>
          <a:p>
            <a:endParaRPr lang="ru-RU" dirty="0"/>
          </a:p>
          <a:p>
            <a:r>
              <a:rPr lang="ru-RU" dirty="0"/>
              <a:t>Таким образом,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 — это не «ещё один символ текста», а механизм, который делает массив байтов строкой. Без этого соглашения никакой строки в языке C не существует.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222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реализацию </a:t>
            </a:r>
            <a:r>
              <a:rPr lang="ru-RU" dirty="0" err="1"/>
              <a:t>функц</a:t>
            </a:r>
            <a:endParaRPr lang="ru-RU" dirty="0"/>
          </a:p>
          <a:p>
            <a:r>
              <a:rPr lang="ru-RU" dirty="0" err="1"/>
              <a:t>ии</a:t>
            </a:r>
            <a:r>
              <a:rPr lang="ru-RU" dirty="0"/>
              <a:t>, выполняющей вывод строки по принципу стандартной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, используя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putchar</a:t>
            </a:r>
            <a:r>
              <a:rPr lang="ru-RU" dirty="0"/>
              <a:t>.</a:t>
            </a:r>
          </a:p>
          <a:p>
            <a:r>
              <a:rPr lang="ru-RU" dirty="0"/>
              <a:t>Функция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</a:t>
            </a:r>
            <a:r>
              <a:rPr lang="ru-RU" dirty="0"/>
              <a:t>. Фактически это адрес первого элемента массива символов. Внутри функции используется индекс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ru-RU" dirty="0"/>
              <a:t>, который последовательно увеличивается.</a:t>
            </a:r>
          </a:p>
          <a:p>
            <a:endParaRPr lang="ru-RU" dirty="0"/>
          </a:p>
          <a:p>
            <a:r>
              <a:rPr lang="ru-RU" dirty="0"/>
              <a:t>На каждой итерации цикла проверяется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s[i] != '\0'</a:t>
            </a:r>
            <a:r>
              <a:rPr lang="ru-RU" dirty="0"/>
              <a:t>. Пока текущий символ не равен нулю, он передаётся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putchar</a:t>
            </a:r>
            <a:r>
              <a:rPr lang="ru-RU" dirty="0"/>
              <a:t>, после чего индекс увеличивается. Таким образом, осуществляется последовательный проход по памяти.</a:t>
            </a:r>
          </a:p>
          <a:p>
            <a:endParaRPr lang="ru-RU" dirty="0"/>
          </a:p>
          <a:p>
            <a:r>
              <a:rPr lang="ru-RU" dirty="0"/>
              <a:t>Когда встречается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цикл завершается. После этого дополнительно выводится символ перевода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'\n'</a:t>
            </a:r>
            <a:r>
              <a:rPr lang="ru-RU" dirty="0"/>
              <a:t>, что соответствует поведению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Следует подчеркнуть, что функция не получает информации о размере массива. Она опирается исключительно на соглашение о нулевом завершающем символе. Если строка не содержит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поведение функции будет неопределённым, поскольку чтение выйдет за пределы массива.</a:t>
            </a:r>
          </a:p>
          <a:p>
            <a:endParaRPr lang="ru-RU" dirty="0"/>
          </a:p>
          <a:p>
            <a:r>
              <a:rPr lang="ru-RU" dirty="0"/>
              <a:t>Данный пример демонстрирует, что строковые операции в языке C реализуются посредством последовательного чтения байтов из памяти и проверки их значения.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9307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my_strlen</a:t>
            </a:r>
            <a:r>
              <a:rPr lang="ru-RU" dirty="0"/>
              <a:t> предназначена для определения длины строки. Под длиной понимается количество символов до нулевого завершающего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Функция принимает параметр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</a:t>
            </a:r>
            <a:r>
              <a:rPr lang="ru-RU" dirty="0"/>
              <a:t>, что означает, что строка не изменяется в процессе работы. Внутри используется переменная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</a:t>
            </a:r>
            <a:r>
              <a:rPr lang="ru-RU" dirty="0"/>
              <a:t>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.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size_t</a:t>
            </a:r>
            <a:r>
              <a:rPr lang="ru-RU" dirty="0"/>
              <a:t> применяется для представления размеров объектов в памяти и возвращается стандартной функцией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strlen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работы прост: начиная с нулевого индекса, выполняется последовательная проверка элементов массива. Пока текущий символ не равен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счётчик увеличивается. Как только встречается нулевой символ, цикл завершается, и функция возвращает накопленное значение.</a:t>
            </a:r>
          </a:p>
          <a:p>
            <a:endParaRPr lang="ru-RU" dirty="0"/>
          </a:p>
          <a:p>
            <a:r>
              <a:rPr lang="ru-RU" dirty="0"/>
              <a:t>Следует подчеркнуть, что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 не включается в длину строки. Он служит только маркером завершения.</a:t>
            </a:r>
          </a:p>
          <a:p>
            <a:r>
              <a:rPr lang="ru-RU" dirty="0"/>
              <a:t>Данная реализация демонстрирует фундаментальный принцип работы со строками в языке C: длина не хранится явно, а определяется путём последовательного анализа содержимого памяти. Корректность работы функции зависит от наличия завершающего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60258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Выбор нулевого завершающего символа как механизма хранения строк имеет исторические причины. Язык C разрабатывался в начале 1970-х годов для системного программирования на компьютерах с крайне ограниченными ресурсами. В таких условиях приоритет отдавался простоте реализации компилятора и минимальным накладным расходам.</a:t>
            </a:r>
          </a:p>
          <a:p>
            <a:r>
              <a:rPr lang="ru-RU" dirty="0"/>
              <a:t>Модель строки как массива байтов, заканчивающегося нулём, естественным образом соответствует архитектуре памяти. Процессор легко выполняет последовательное чтение байтов и сравнение их с нулём. Такая схема не требует хранения дополнительной информации о длине строки.</a:t>
            </a:r>
          </a:p>
          <a:p>
            <a:r>
              <a:rPr lang="ru-RU" dirty="0"/>
              <a:t>Однако этот способ хранения нельзя назвать оптимальным. Для определения длины строки требуется пройти по всем символам до встречи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Таким образом, операция вычисления длины имеет линейную сложность O(n). Если длина запрашивается многократно, возникают дополнительные временные затраты.</a:t>
            </a:r>
          </a:p>
          <a:p>
            <a:r>
              <a:rPr lang="ru-RU" dirty="0"/>
              <a:t>Кроме того, внутри строки невозможно хранить байт со значением 0, поскольку он интерпретируется как признак завершения. Ошибка в размещении завершающего символа приводит к чтению за пределами массива и неопределённому поведению программы.</a:t>
            </a:r>
          </a:p>
          <a:p>
            <a:r>
              <a:rPr lang="ru-RU" dirty="0"/>
              <a:t>Существуют более эффективные способы хранения строк, например представление в виде структуры, содержащей длину и массив символов. В этом случае длина доступна немедленно, а строка может содержать произвольные байты. Многие современные языки используют именно такую модель.</a:t>
            </a:r>
          </a:p>
          <a:p>
            <a:r>
              <a:rPr lang="ru-RU" dirty="0"/>
              <a:t>Тем не менее, подход с завершающим нулевым символом исторически закрепился в языке C и остаётся фундаментом стандартной библиотеки и значительной части программного обеспечения, написанного на этом языке.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94912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работе со строками одной из наиболее распространённых ошибок является неверное указание размера массива.</a:t>
            </a:r>
          </a:p>
          <a:p>
            <a:endParaRPr lang="ru-RU" dirty="0"/>
          </a:p>
          <a:p>
            <a:r>
              <a:rPr lang="ru-RU" dirty="0"/>
              <a:t>Рассмотрим 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s[5] = "Hello";</a:t>
            </a:r>
            <a:r>
              <a:rPr lang="ru-RU" dirty="0"/>
              <a:t>. На первый взгляд может показаться, что для слова из пяти букв достаточно пяти элементов. Однако строка в языке C всегда включает завершающий нулевой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Следовательно,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 занимает шесть байтов: пять символов и один нулевой байт. Поэтому массив из пяти элементов недостаточен.</a:t>
            </a:r>
          </a:p>
          <a:p>
            <a:endParaRPr lang="ru-RU" dirty="0"/>
          </a:p>
          <a:p>
            <a:r>
              <a:rPr lang="ru-RU" dirty="0"/>
              <a:t>Корректная запись должна предусматривать дополнительный элемент: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s[6] = "Hello";</a:t>
            </a:r>
            <a:r>
              <a:rPr lang="ru-RU" dirty="0"/>
              <a:t>. Более безопасным вариантом является запись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s[] = "Hello";</a:t>
            </a:r>
            <a:r>
              <a:rPr lang="ru-RU" dirty="0"/>
              <a:t>, при которой компилятор автоматически определяет необходимый размер.</a:t>
            </a:r>
          </a:p>
          <a:p>
            <a:endParaRPr lang="ru-RU" dirty="0"/>
          </a:p>
          <a:p>
            <a:r>
              <a:rPr lang="ru-RU" dirty="0"/>
              <a:t>Другая распространённая ошибка возникает при ручном заполнении массива символами без добавления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Если нулевой символ отсутствует, массив не является корректной строкой. Любая функция, работающая со строками, будет продолжать чтение памяти за пределами массива до случайной встречи нулевого байта.</a:t>
            </a:r>
          </a:p>
          <a:p>
            <a:r>
              <a:rPr lang="ru-RU" dirty="0"/>
              <a:t>Следует подчеркнуть, что язык C не выполняет автоматическую проверку выхода за границы массива. Ошибки такого рода приводят к неопределённому поведению, которое может проявляться непредсказуемым образом. Поэтому при работе со строками необходимо строго контролировать размер массива и наличие завершающего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8724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Рассмотрим ввод и вывод строк в языке C. Все функции работают с адресом первого символа строки и предполагают наличие завершающего нулевого символа.</a:t>
            </a:r>
          </a:p>
          <a:p>
            <a:endParaRPr lang="ru-RU" dirty="0"/>
          </a:p>
          <a:p>
            <a:r>
              <a:rPr lang="ru-RU" dirty="0"/>
              <a:t>Для вывода строки часто используется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puts</a:t>
            </a:r>
            <a:r>
              <a:rPr lang="ru-RU" dirty="0"/>
              <a:t>. Она получает указатель на строку и выводит символы до встречи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после чего автоматически добавляет перевод строки. Если требуется более гибкое форматирование, применяется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printf</a:t>
            </a:r>
            <a:r>
              <a:rPr lang="ru-RU" dirty="0"/>
              <a:t> со спецификатором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%s</a:t>
            </a:r>
            <a:r>
              <a:rPr lang="ru-RU" dirty="0"/>
              <a:t>. В обоих случаях корректность работы зависит от наличия завершающего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75705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Для ввода строк возможны разные подходы.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scanf</a:t>
            </a:r>
            <a:r>
              <a:rPr lang="ru-RU" dirty="0"/>
              <a:t> со спецификатором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%s</a:t>
            </a:r>
            <a:r>
              <a:rPr lang="ru-RU" dirty="0"/>
              <a:t> считывает последовательность </a:t>
            </a:r>
            <a:r>
              <a:rPr lang="ru-RU" dirty="0" err="1"/>
              <a:t>непробельных</a:t>
            </a:r>
            <a:r>
              <a:rPr lang="ru-RU" dirty="0"/>
              <a:t> символов и автоматически добавляет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Однако она прекращает чтение при первом пробеле, поэтому не подходит для строк, содержащих пробелы. Кроме того, необходимо явно ограничивать максимальное количество символов, чтобы избежать переполнения массива.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4152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Более безопасным и универсальным способом является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fgets</a:t>
            </a:r>
            <a:r>
              <a:rPr lang="ru-RU" dirty="0"/>
              <a:t>. Она считывает строку целиком, включая пробелы, но не более чем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sizeof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(массив) - 1</a:t>
            </a:r>
            <a:r>
              <a:rPr lang="ru-RU" dirty="0"/>
              <a:t> символов, оставляя место для завершающего нуля. Функция гарантированно добавляет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Следует учитывать,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fgets</a:t>
            </a:r>
            <a:r>
              <a:rPr lang="ru-RU" dirty="0"/>
              <a:t> сохраняет символ перевода строки, если он был считан. Поэтому часто требуется дополнительная обработка для его удаления.</a:t>
            </a:r>
            <a:endParaRPr lang="en-US" dirty="0"/>
          </a:p>
          <a:p>
            <a:r>
              <a:rPr lang="ru-RU" dirty="0"/>
              <a:t>Таким образом, корректный ввод и вывод строк требует понимания размера массива, наличия завершающего нулевого символа и особенностей поведения стандартных функций.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15433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языке C массивы не поддерживают операцию присваивания. Это означает, что запись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 b;</a:t>
            </a:r>
            <a:r>
              <a:rPr lang="ru-RU" dirty="0"/>
              <a:t>, где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 являются массивами, приводит к ошибке компиляции. Массив представляет собой непрерывную область памяти, и его содержимое не может быть скопировано одной операцией присваивания.</a:t>
            </a:r>
          </a:p>
          <a:p>
            <a:endParaRPr lang="ru-RU" dirty="0"/>
          </a:p>
          <a:p>
            <a:r>
              <a:rPr lang="ru-RU" dirty="0"/>
              <a:t>Поэтому копирование строк выполняется посимвольно. Рассмотренная 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my_strcpy</a:t>
            </a:r>
            <a:r>
              <a:rPr lang="ru-RU" dirty="0"/>
              <a:t> реализует этот механизм. Она принимает массив назначения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dirty="0"/>
              <a:t> и исходную 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dirty="0"/>
              <a:t>. В цикле выполняется присваивание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[i]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src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[i]</a:t>
            </a:r>
            <a:r>
              <a:rPr lang="ru-RU" dirty="0"/>
              <a:t>, а результат этого выражения сравнивается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. Цикл продолжается до тех пор, пока не будет скопирован нулевой завершающий символ.</a:t>
            </a:r>
          </a:p>
          <a:p>
            <a:endParaRPr lang="ru-RU" dirty="0"/>
          </a:p>
          <a:p>
            <a:r>
              <a:rPr lang="ru-RU" dirty="0"/>
              <a:t>Следует обратить внимание, что нулевой символ также копируется. Это обеспечивает корректное завершение строки в массиве назначения.</a:t>
            </a:r>
          </a:p>
          <a:p>
            <a:endParaRPr lang="ru-RU" dirty="0"/>
          </a:p>
          <a:p>
            <a:r>
              <a:rPr lang="ru-RU" dirty="0"/>
              <a:t>Важно понимать, что функция не проверяет размер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dest</a:t>
            </a:r>
            <a:r>
              <a:rPr lang="ru-RU" dirty="0"/>
              <a:t>. Ответственность за то, чтобы массив назначения был достаточно велик для размещения копируемой строки вместе 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полностью лежит на программисте. Нарушение этого условия приводит к выходу за границы массива и неопределённому поведению программы.</a:t>
            </a:r>
          </a:p>
          <a:p>
            <a:endParaRPr lang="ru-RU" dirty="0"/>
          </a:p>
          <a:p>
            <a:r>
              <a:rPr lang="ru-RU" dirty="0"/>
              <a:t>Таким образом, копирование строк в языке C сводится к последовательному переносу байтов до встречи нулевого символа.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31322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 сравнении строк в языке C распространённой ошибкой является использование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. В случае массивов этот оператор сравнивает адреса, а не содержимое. Следовательно, даже если две строки содержат одинаковые символы, выражение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 == b</a:t>
            </a:r>
            <a:r>
              <a:rPr lang="ru-RU" dirty="0"/>
              <a:t> будет истинным только в том случае, если оба указателя указывают на одну и ту же область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Корректное сравнение строк выполняется посимвольно. В функции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MyStrCmp</a:t>
            </a:r>
            <a:r>
              <a:rPr lang="ru-RU" dirty="0"/>
              <a:t> сравниваются соответствующие элементы массивов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b</a:t>
            </a:r>
            <a:r>
              <a:rPr lang="ru-RU" dirty="0"/>
              <a:t>. Цикл продолжается до тех пор, пока символы совпадают. Если одновременно встречается нулевой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это означает, что строки полностью совпадают, и функция возвращает 0.</a:t>
            </a:r>
          </a:p>
          <a:p>
            <a:r>
              <a:rPr lang="ru-RU" dirty="0"/>
              <a:t>Если обнаружено различие, функция возвращает разность кодов символов. Здесь используется приведение к типу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 Это необходимо потому, что тип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может быть знаковым, и значения с установленным старшим битом могут интерпретироваться как отрицательные. Приведение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гарантирует, что сравнение выполняется по числовым значениям байтов от 0 до 255.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 приведения к типу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 выполняется стандартное целочисленное продвижение типов. Согласно правилам языка C, операнды арифметических операций меньших целых типов автоматически расширяются до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 Таким образом, в выражении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)a[i] -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)b[i]</a:t>
            </a:r>
            <a:r>
              <a:rPr lang="ru-RU" dirty="0"/>
              <a:t> оба операнда сначала приводятся 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unsigned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, затем расширяются до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, и только после этого выполняется вычитание. В результате функция возвращает значение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Возвращаемое значение интерпретируется следующим образом: ноль означает равенство строк, отрицательное значение означает, что первая строка лексикографически меньше второй, положительное — что больше.</a:t>
            </a:r>
          </a:p>
          <a:p>
            <a:r>
              <a:rPr lang="ru-RU" dirty="0"/>
              <a:t>Таким образом, сравнение строк в языке C представляет собой последовательное сравнение байтов до первого различия или до завершения строки, с учётом правил преобразования целых типов языка.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A46E3-A062-4F85-8E8F-D4EACE1D224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2058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E703A-F223-A0F1-3A04-8FC9D50CA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46726F-A95E-A275-86B4-1673BC59A2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9F5FE-6D79-C5D9-A0E1-00D4A3F0C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58126-11F0-42F1-B2AD-BCB361797751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4FDFC3-CDE2-0BB1-9315-2D7D06651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D6785-833E-96BA-B4FA-DE02C4DB45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040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5F68-BD4B-8417-138E-4A98A622F9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A15F2F-A837-E94F-46CC-62AA29F904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F83A6D-7099-2073-B84D-D91CE48E0D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562E5-A477-4720-A5B6-861E705CA596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C8543-4CD9-C492-C0A5-953825FC2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BF5DE2-1512-F1B2-6970-5EA6A099B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41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9C208-4D96-1E4B-37A7-96DDD08E8B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CBD677-F63E-7605-C0E8-8DAC265BE3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19A3E7-0866-CA99-6FE6-ED8313BCD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46B681-9E76-4503-92B2-6085A3FBB20C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9734AC-18A9-A8C5-A688-BDA2E6F58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4C377-0CE6-3FB1-F007-010E2D4AF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2301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4A9DF-F1BB-960D-420C-0A82BEEDB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E0CBC-A99F-CFDC-4DA1-E7C0FA0B5E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562E9E-BF42-06F3-B1EA-E26014D362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413B4A-42EB-95A9-0C06-B631F048C5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EE56F-41EF-4004-8A84-CA0988261543}" type="datetime1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7CE116-42B6-F134-6AE4-9749F8A45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26C86E-A41B-3703-EF39-C2D05BC0F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97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1D751-3255-6759-FB91-AF97FAC9E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B6663C-808D-1471-3D25-0AB7119E5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E22ECB-27AB-7DA6-9E3E-5D7F5668E3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460-9AC8-01E9-1EF6-24403D4B14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F37A21D-BEBE-7CEA-3BA5-04535D5C53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1D8364D-A010-BE56-C84B-4166CD6AE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2138C8-72C1-4656-A61F-6B1A26C52FFD}" type="datetime1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F4C3F0-3876-D191-0C31-1C9B30906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5E7FF4-6C09-14A5-B3D1-C5C448EF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1682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40213-E1DA-0F24-E6BA-A5022738A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5AF84B-6164-978E-3BC6-6D81467D0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0441C-BE82-4239-8A52-C467F35B73F0}" type="datetime1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723E2E-9950-8EC0-BE26-7E1D36F52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1F9DEAD-295F-9999-1937-11665ADF4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62062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0CD6B0-5D30-F555-94E3-9056BFF41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B4077B-694A-4126-B19F-30B1D6B48D50}" type="datetime1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6C6DD3-FB6C-2310-5B42-BDEB5A671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325CE1-B706-90B3-792D-9750ADB1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5836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94010E-E4C8-C396-DFD3-422E2E40D4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D9DEF-5FA5-7EB2-A444-F452D25CE7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9F22EC-C78A-8455-886A-9A5363FAD3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D44809-F989-133B-8139-3877153622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8933B-7571-4724-81C2-BE48EF44F308}" type="datetime1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B27EEF-07F9-EB5A-9F68-2F0120DA4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57C28-EC99-695A-934F-DC353F754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192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E6E74-1B67-13E6-0D6C-47A7E399BF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5EE396-226D-80D1-D685-9BC38647A68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CEA8EB-605D-CCA6-3DE4-B3BBF4E25C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6882C2-CFA1-1F74-CF6F-00515880CB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46E61E-3E6C-41B0-A0F1-BD3B6E590911}" type="datetime1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AFA199-D961-F0B4-742A-335DCF906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D08A98-AA0F-11E1-9347-FEBC4D4A8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4338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352DC-C8DA-37F8-BD33-14361F0BB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49B28B-DEDE-776B-6DAE-CD3563914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A7F54-C63E-7CE0-897E-B982DDA7E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2E9E6-9212-4001-A285-634ECC620462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620A34-B2E5-91E3-B37A-574B2302D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1509AC-32F7-4F35-E978-447409C8F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4555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315E080-BE83-6FA7-3F67-15CA86A2A6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0A3BD61-DDF6-53C1-6741-BAB4239D5B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9192B0-6965-C0A1-5F97-FDF0C2252B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A14F9-3CEA-491F-9D5C-49079BB88ACA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11421E-A412-D4C1-6446-BF1F35C6AD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205A68-E292-3629-3329-18D42B797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103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F59B9C-406A-5EF9-26DF-19866BE93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F2AD91-1D23-2F23-D517-4404A815A7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8F3E13-836E-2170-5022-68D6ED9AE0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FF7731-4D22-42BA-97A8-9A0FFDBD9EC8}" type="datetime1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00A05-7ECE-7326-6F61-3BBA94559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7099CE-24B4-2F70-8165-BABEBA7DDD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5E9561-002A-41EF-B5BA-43A01A72A4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537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n7oKWTxn6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godbolt.org/z/qxnzTz4Kd" TargetMode="External"/><Relationship Id="rId4" Type="http://schemas.openxmlformats.org/officeDocument/2006/relationships/hyperlink" Target="https://godbolt.org/z/66T8baMPE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/io/fget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8xsPP79c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6nr9r7ad7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FAE8D-B0BA-B9A4-C6EE-F400494F41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Работа со строками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633C09-104F-1E8D-8377-FA7D014E15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1186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10976-5D01-3D3E-E62D-E30C746F7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хранится текст в памяти компьютера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9C90B-00DA-F6AF-CC20-FE18C51757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92636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Компьютер не знает «текста». Процессор понимает только:</a:t>
            </a:r>
          </a:p>
          <a:p>
            <a:pPr lvl="1"/>
            <a:r>
              <a:rPr lang="ru-RU" dirty="0"/>
              <a:t>числа</a:t>
            </a:r>
          </a:p>
          <a:p>
            <a:pPr lvl="1"/>
            <a:r>
              <a:rPr lang="ru-RU" dirty="0"/>
              <a:t>байты</a:t>
            </a:r>
          </a:p>
          <a:p>
            <a:pPr lvl="1"/>
            <a:r>
              <a:rPr lang="ru-RU" dirty="0"/>
              <a:t>адреса памяти</a:t>
            </a:r>
          </a:p>
          <a:p>
            <a:pPr lvl="1"/>
            <a:r>
              <a:rPr lang="ru-RU" dirty="0"/>
              <a:t>инструкции</a:t>
            </a:r>
          </a:p>
          <a:p>
            <a:r>
              <a:rPr lang="ru-RU" dirty="0"/>
              <a:t>Текст – это последовательность числовых кодов символов, размещённых в памяти подряд</a:t>
            </a:r>
          </a:p>
          <a:p>
            <a:r>
              <a:rPr lang="ru-RU" dirty="0"/>
              <a:t>В </a:t>
            </a:r>
            <a:r>
              <a:rPr lang="en-US" dirty="0"/>
              <a:t>C </a:t>
            </a:r>
            <a:r>
              <a:rPr lang="ru-RU" dirty="0"/>
              <a:t>строка – это массив элементов</a:t>
            </a:r>
            <a:r>
              <a:rPr lang="en-US" dirty="0"/>
              <a:t>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ru-RU" dirty="0"/>
              <a:t>, который заканчивается специальным символом </a:t>
            </a:r>
            <a:r>
              <a:rPr lang="en-US" dirty="0">
                <a:latin typeface="Consolas" panose="020B0609020204030204" pitchFamily="49" charset="0"/>
              </a:rPr>
              <a:t>\0</a:t>
            </a:r>
            <a:r>
              <a:rPr lang="en-US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437A43-7123-20FA-AF14-2FB2F0D21FA3}"/>
              </a:ext>
            </a:extLst>
          </p:cNvPr>
          <p:cNvSpPr txBox="1"/>
          <p:nvPr/>
        </p:nvSpPr>
        <p:spPr>
          <a:xfrm>
            <a:off x="8379229" y="1825625"/>
            <a:ext cx="2522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1B7BF2C-0257-97B1-ADFC-7B36E8D59D1A}"/>
              </a:ext>
            </a:extLst>
          </p:cNvPr>
          <p:cNvSpPr/>
          <p:nvPr/>
        </p:nvSpPr>
        <p:spPr>
          <a:xfrm>
            <a:off x="8379229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AA1FE5-CCBB-5C21-EFCD-A261C659D36D}"/>
              </a:ext>
            </a:extLst>
          </p:cNvPr>
          <p:cNvSpPr/>
          <p:nvPr/>
        </p:nvSpPr>
        <p:spPr>
          <a:xfrm>
            <a:off x="8861367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F564E6-7F8B-4242-AFCA-83FD397FF5DD}"/>
              </a:ext>
            </a:extLst>
          </p:cNvPr>
          <p:cNvSpPr/>
          <p:nvPr/>
        </p:nvSpPr>
        <p:spPr>
          <a:xfrm>
            <a:off x="9343505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CEE0A7-F016-3BB9-AE4F-26CD44BF6E50}"/>
              </a:ext>
            </a:extLst>
          </p:cNvPr>
          <p:cNvSpPr/>
          <p:nvPr/>
        </p:nvSpPr>
        <p:spPr>
          <a:xfrm>
            <a:off x="9825643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367A853-DFA5-6EFC-6892-B8A317311338}"/>
              </a:ext>
            </a:extLst>
          </p:cNvPr>
          <p:cNvSpPr/>
          <p:nvPr/>
        </p:nvSpPr>
        <p:spPr>
          <a:xfrm>
            <a:off x="10307781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A7CDC6-3B83-91CA-A226-94CE9F856B6B}"/>
              </a:ext>
            </a:extLst>
          </p:cNvPr>
          <p:cNvSpPr/>
          <p:nvPr/>
        </p:nvSpPr>
        <p:spPr>
          <a:xfrm>
            <a:off x="10789919" y="3724102"/>
            <a:ext cx="482138" cy="5652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\0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EAF4DF-25EE-0567-CC4D-E1CB153A81DC}"/>
              </a:ext>
            </a:extLst>
          </p:cNvPr>
          <p:cNvSpPr txBox="1"/>
          <p:nvPr/>
        </p:nvSpPr>
        <p:spPr>
          <a:xfrm>
            <a:off x="8379229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72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67927-64BB-75F9-DAE6-A9AA2E439228}"/>
              </a:ext>
            </a:extLst>
          </p:cNvPr>
          <p:cNvSpPr txBox="1"/>
          <p:nvPr/>
        </p:nvSpPr>
        <p:spPr>
          <a:xfrm>
            <a:off x="8861367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101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B8DBAF-E72F-FE3A-0D27-BA309BD02EC0}"/>
              </a:ext>
            </a:extLst>
          </p:cNvPr>
          <p:cNvSpPr txBox="1"/>
          <p:nvPr/>
        </p:nvSpPr>
        <p:spPr>
          <a:xfrm>
            <a:off x="9343505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108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C75AE7-4C8E-325B-A7FB-08546153443A}"/>
              </a:ext>
            </a:extLst>
          </p:cNvPr>
          <p:cNvSpPr txBox="1"/>
          <p:nvPr/>
        </p:nvSpPr>
        <p:spPr>
          <a:xfrm>
            <a:off x="9825643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108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D42130-DBB7-9DE0-7773-6CC2DCA7B546}"/>
              </a:ext>
            </a:extLst>
          </p:cNvPr>
          <p:cNvSpPr txBox="1"/>
          <p:nvPr/>
        </p:nvSpPr>
        <p:spPr>
          <a:xfrm>
            <a:off x="10307781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111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D3CCE2-9857-508D-DA60-8C1565483B23}"/>
              </a:ext>
            </a:extLst>
          </p:cNvPr>
          <p:cNvSpPr txBox="1"/>
          <p:nvPr/>
        </p:nvSpPr>
        <p:spPr>
          <a:xfrm>
            <a:off x="10789919" y="4289367"/>
            <a:ext cx="4821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0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35E59F0-C840-CF34-5AE4-1F67AF01D39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flipH="1">
            <a:off x="8620298" y="2194957"/>
            <a:ext cx="1020387" cy="15291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CD6CA0C8-BBB2-8BEE-D4F4-19E5D49AD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56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1DA9B-A3CD-63F4-250F-B19E8021D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/>
              <a:t>char </a:t>
            </a:r>
            <a:r>
              <a:rPr lang="ru-RU" dirty="0"/>
              <a:t>и память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D58FD-0F7B-E911-2DF0-49E9671E1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char – </a:t>
            </a:r>
            <a:r>
              <a:rPr lang="ru-RU" dirty="0"/>
              <a:t>минимальная адресуемая единица памяти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char c = 'A';</a:t>
            </a:r>
          </a:p>
          <a:p>
            <a:pPr lvl="1"/>
            <a:r>
              <a:rPr lang="en-US" dirty="0"/>
              <a:t>char </a:t>
            </a:r>
            <a:r>
              <a:rPr lang="ru-RU" dirty="0"/>
              <a:t>занимает 1 байт</a:t>
            </a:r>
          </a:p>
          <a:p>
            <a:pPr lvl="1"/>
            <a:r>
              <a:rPr lang="ru-RU" dirty="0"/>
              <a:t>1 байт = 8 бит</a:t>
            </a:r>
          </a:p>
          <a:p>
            <a:pPr lvl="1"/>
            <a:r>
              <a:rPr lang="ru-RU" dirty="0"/>
              <a:t>хранит число, а не символ</a:t>
            </a:r>
          </a:p>
          <a:p>
            <a:r>
              <a:rPr lang="ru-RU" dirty="0"/>
              <a:t>Символ – это числовой код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printf</a:t>
            </a:r>
            <a:r>
              <a:rPr lang="en-US" dirty="0">
                <a:latin typeface="Consolas" panose="020B0609020204030204" pitchFamily="49" charset="0"/>
              </a:rPr>
              <a:t>("%d\n", 'A');</a:t>
            </a:r>
            <a:r>
              <a:rPr lang="en-US" dirty="0"/>
              <a:t> // 65</a:t>
            </a:r>
          </a:p>
          <a:p>
            <a:r>
              <a:rPr lang="en-US" dirty="0" err="1"/>
              <a:t>sizeof</a:t>
            </a:r>
            <a:r>
              <a:rPr lang="en-US" dirty="0"/>
              <a:t>(char) == 1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/>
              <a:t> </a:t>
            </a:r>
            <a:r>
              <a:rPr lang="ru-RU" dirty="0"/>
              <a:t>возвращает размер в байтах. 1 байт по определению равен </a:t>
            </a:r>
            <a:r>
              <a:rPr lang="en-US" dirty="0" err="1">
                <a:latin typeface="Consolas" panose="020B0609020204030204" pitchFamily="49" charset="0"/>
              </a:rPr>
              <a:t>sizeof</a:t>
            </a:r>
            <a:r>
              <a:rPr lang="en-US" dirty="0">
                <a:latin typeface="Consolas" panose="020B0609020204030204" pitchFamily="49" charset="0"/>
              </a:rPr>
              <a:t>(char)</a:t>
            </a:r>
          </a:p>
          <a:p>
            <a:pPr lvl="1"/>
            <a:r>
              <a:rPr lang="ru-RU" dirty="0"/>
              <a:t>Размер любого типа измеряется в </a:t>
            </a:r>
            <a:r>
              <a:rPr lang="en-US" dirty="0">
                <a:latin typeface="Consolas" panose="020B0609020204030204" pitchFamily="49" charset="0"/>
              </a:rPr>
              <a:t>char</a:t>
            </a:r>
          </a:p>
          <a:p>
            <a:r>
              <a:rPr lang="ru-RU" dirty="0"/>
              <a:t>Вся память компьютера измеряется в байтах, а </a:t>
            </a:r>
            <a:r>
              <a:rPr lang="en-US" dirty="0">
                <a:latin typeface="Consolas" panose="020B0609020204030204" pitchFamily="49" charset="0"/>
              </a:rPr>
              <a:t>char</a:t>
            </a:r>
            <a:r>
              <a:rPr lang="en-US" dirty="0"/>
              <a:t> – </a:t>
            </a:r>
            <a:r>
              <a:rPr lang="ru-RU" dirty="0"/>
              <a:t>это тип, соответствующий одному байту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7E42D3-B130-FB9F-8099-F9EDFDC35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716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Символьные константы</a:t>
            </a:r>
          </a:p>
        </p:txBody>
      </p:sp>
      <p:sp>
        <p:nvSpPr>
          <p:cNvPr id="112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Символьная константа — символ в одиночных кавычках</a:t>
            </a:r>
            <a:r>
              <a:rPr lang="en-US" dirty="0"/>
              <a:t>: </a:t>
            </a:r>
            <a:r>
              <a:rPr lang="ru-RU" dirty="0"/>
              <a:t>'A', '1', </a:t>
            </a:r>
            <a:r>
              <a:rPr lang="en-US" dirty="0"/>
              <a:t>'</a:t>
            </a:r>
            <a:r>
              <a:rPr lang="ru-RU" dirty="0"/>
              <a:t>+</a:t>
            </a:r>
            <a:r>
              <a:rPr lang="en-US" dirty="0"/>
              <a:t>', '\0’</a:t>
            </a:r>
            <a:endParaRPr lang="ru-RU" dirty="0"/>
          </a:p>
          <a:p>
            <a:pPr lvl="1"/>
            <a:r>
              <a:rPr lang="ru-RU" dirty="0"/>
              <a:t>Она представляет </a:t>
            </a:r>
            <a:r>
              <a:rPr lang="ru-RU" b="1" dirty="0"/>
              <a:t>целое число</a:t>
            </a:r>
            <a:r>
              <a:rPr lang="ru-RU" dirty="0"/>
              <a:t> — код символа в используемой кодировке</a:t>
            </a:r>
            <a:br>
              <a:rPr lang="ru-RU" dirty="0"/>
            </a:br>
            <a:r>
              <a:rPr lang="ru-RU" dirty="0"/>
              <a:t>(например, ASCII)</a:t>
            </a:r>
          </a:p>
          <a:p>
            <a:r>
              <a:rPr lang="ru-RU" dirty="0"/>
              <a:t>Это именно число:</a:t>
            </a:r>
            <a:endParaRPr lang="en-US" dirty="0"/>
          </a:p>
          <a:p>
            <a:pPr lvl="1"/>
            <a:r>
              <a:rPr lang="en-US" dirty="0"/>
              <a:t>'A' == 65</a:t>
            </a:r>
          </a:p>
          <a:p>
            <a:pPr lvl="1"/>
            <a:r>
              <a:rPr lang="en-US" dirty="0"/>
              <a:t>'0' == 48</a:t>
            </a:r>
            <a:endParaRPr lang="ru-RU" dirty="0"/>
          </a:p>
          <a:p>
            <a:r>
              <a:rPr lang="ru-RU" b="1" dirty="0"/>
              <a:t>Escape-последовательности</a:t>
            </a:r>
            <a:r>
              <a:rPr lang="en-US" dirty="0"/>
              <a:t> </a:t>
            </a:r>
            <a:r>
              <a:rPr lang="ru-RU" dirty="0"/>
              <a:t>записываются с \, но обозначают </a:t>
            </a:r>
            <a:r>
              <a:rPr lang="ru-RU" b="1" dirty="0"/>
              <a:t>один символ</a:t>
            </a:r>
            <a:endParaRPr lang="ru-RU" dirty="0"/>
          </a:p>
          <a:p>
            <a:pPr lvl="2"/>
            <a:r>
              <a:rPr lang="ru-RU" dirty="0"/>
              <a:t>'\n' — перевод строки</a:t>
            </a:r>
          </a:p>
          <a:p>
            <a:pPr lvl="2"/>
            <a:r>
              <a:rPr lang="ru-RU" dirty="0"/>
              <a:t>'\0' — нулевой символ (код 0)</a:t>
            </a:r>
          </a:p>
          <a:p>
            <a:pPr lvl="2"/>
            <a:r>
              <a:rPr lang="ru-RU" dirty="0"/>
              <a:t>'\'' — одиночная кавычка</a:t>
            </a:r>
          </a:p>
          <a:p>
            <a:pPr lvl="2"/>
            <a:r>
              <a:rPr lang="ru-RU" dirty="0"/>
              <a:t>'\\' — обратный слеш</a:t>
            </a:r>
          </a:p>
          <a:p>
            <a:r>
              <a:rPr lang="ru-RU" b="1" dirty="0"/>
              <a:t>Явное задание кода символа</a:t>
            </a:r>
            <a:endParaRPr lang="ru-RU" dirty="0"/>
          </a:p>
          <a:p>
            <a:pPr lvl="1"/>
            <a:r>
              <a:rPr lang="ru-RU" dirty="0"/>
              <a:t>Восьмеричный код: '\</a:t>
            </a:r>
            <a:r>
              <a:rPr lang="ru-RU" dirty="0" err="1"/>
              <a:t>ooo</a:t>
            </a:r>
            <a:r>
              <a:rPr lang="ru-RU" dirty="0"/>
              <a:t>' (0…7)</a:t>
            </a:r>
          </a:p>
          <a:p>
            <a:pPr lvl="1"/>
            <a:r>
              <a:rPr lang="ru-RU" dirty="0"/>
              <a:t>Шестнадцатеричный код: '\</a:t>
            </a:r>
            <a:r>
              <a:rPr lang="ru-RU" dirty="0" err="1"/>
              <a:t>xhh</a:t>
            </a:r>
            <a:r>
              <a:rPr lang="ru-RU" dirty="0"/>
              <a:t>'</a:t>
            </a:r>
          </a:p>
          <a:p>
            <a:pPr lvl="1"/>
            <a:r>
              <a:rPr lang="ru-RU" dirty="0"/>
              <a:t>Примеры:</a:t>
            </a:r>
          </a:p>
          <a:p>
            <a:pPr lvl="2"/>
            <a:r>
              <a:rPr lang="ru-RU" dirty="0"/>
              <a:t>'\177' — код 127</a:t>
            </a:r>
          </a:p>
          <a:p>
            <a:pPr lvl="2"/>
            <a:r>
              <a:rPr lang="ru-RU" dirty="0"/>
              <a:t>'\</a:t>
            </a:r>
            <a:r>
              <a:rPr lang="ru-RU" dirty="0" err="1"/>
              <a:t>xff</a:t>
            </a:r>
            <a:r>
              <a:rPr lang="ru-RU" dirty="0"/>
              <a:t>' — код 255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8E82B29-DBDF-40E6-247B-5C594C13B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54236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2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2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2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2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2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2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26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12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126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26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12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112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12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1126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1126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1126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267" grpId="0" build="p" bldLvl="2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DB778-16C7-ABE5-F804-B27AFD908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Строка как массив </a:t>
            </a:r>
            <a:r>
              <a:rPr lang="en-US" dirty="0">
                <a:latin typeface="Consolas" panose="020B0609020204030204" pitchFamily="49" charset="0"/>
              </a:rPr>
              <a:t>char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E7658B-FE40-C260-26E7-415741C281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языке </a:t>
            </a:r>
            <a:r>
              <a:rPr lang="en-US" dirty="0"/>
              <a:t>C </a:t>
            </a:r>
            <a:r>
              <a:rPr lang="ru-RU" dirty="0"/>
              <a:t>нет отдельного типа «строка». Строка – это массив символов:</a:t>
            </a:r>
          </a:p>
          <a:p>
            <a:pPr lvl="1"/>
            <a:r>
              <a:rPr lang="it-IT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it-IT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{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it-IT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it-IT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endParaRPr lang="en-US" dirty="0"/>
          </a:p>
          <a:p>
            <a:r>
              <a:rPr lang="ru-RU" dirty="0"/>
              <a:t>Специальный завершающий символ</a:t>
            </a:r>
          </a:p>
          <a:p>
            <a:pPr lvl="1"/>
            <a:r>
              <a:rPr lang="ru-RU" dirty="0"/>
              <a:t>Строка обязательно заканчивается нулевым символом: </a:t>
            </a:r>
            <a:r>
              <a:rPr lang="en-US" dirty="0">
                <a:latin typeface="Consolas" panose="020B0609020204030204" pitchFamily="49" charset="0"/>
              </a:rPr>
              <a:t>\0</a:t>
            </a:r>
          </a:p>
          <a:p>
            <a:r>
              <a:rPr lang="ru-RU" dirty="0"/>
              <a:t>Сокращённая запись:</a:t>
            </a:r>
            <a:endParaRPr lang="en-US" dirty="0"/>
          </a:p>
          <a:p>
            <a:pPr lvl="1"/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lvl="1"/>
            <a:r>
              <a:rPr lang="ru-RU" dirty="0"/>
              <a:t>Компилятор автоматически добавляет '\0'.</a:t>
            </a:r>
          </a:p>
          <a:p>
            <a:pPr lvl="1"/>
            <a:r>
              <a:rPr lang="ru-RU" dirty="0"/>
              <a:t>Фактически создаётся массив из 6 элементов:</a:t>
            </a:r>
          </a:p>
          <a:p>
            <a:r>
              <a:rPr lang="ru-RU" dirty="0"/>
              <a:t>Строка — это последовательность байтов в памяти,</a:t>
            </a:r>
            <a:br>
              <a:rPr lang="ru-RU" dirty="0"/>
            </a:br>
            <a:r>
              <a:rPr lang="ru-RU" dirty="0"/>
              <a:t>а конец определяется значением 0, а не размером массива.</a:t>
            </a:r>
          </a:p>
          <a:p>
            <a:pPr lvl="1"/>
            <a:endParaRPr lang="ru-R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A35EBD9-1945-001A-E286-A958D3292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2216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A83AB-9E71-EA66-0B6D-16D96BB7D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нужен </a:t>
            </a:r>
            <a:r>
              <a:rPr lang="en-US" dirty="0">
                <a:latin typeface="Consolas" panose="020B0609020204030204" pitchFamily="49" charset="0"/>
              </a:rPr>
              <a:t>'\0'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C6A96-3C46-6114-FD4B-895892573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У строки нет встроенной длины</a:t>
            </a:r>
          </a:p>
          <a:p>
            <a:pPr lvl="1"/>
            <a:r>
              <a:rPr lang="ru-RU" dirty="0"/>
              <a:t>В массиве </a:t>
            </a:r>
            <a:r>
              <a:rPr lang="en-US" dirty="0"/>
              <a:t>char</a:t>
            </a:r>
            <a:r>
              <a:rPr lang="ru-RU" dirty="0"/>
              <a:t> хранится только последовательность байтов. Информация о длине строки отдельно не сохраняется</a:t>
            </a:r>
          </a:p>
          <a:p>
            <a:r>
              <a:rPr lang="ru-RU" dirty="0"/>
              <a:t>Функции работы со строками понимают, где конец, по специальному символу.</a:t>
            </a:r>
          </a:p>
          <a:p>
            <a:r>
              <a:rPr lang="ru-RU" dirty="0"/>
              <a:t>Если </a:t>
            </a:r>
            <a:r>
              <a:rPr lang="en-US" dirty="0">
                <a:latin typeface="Consolas" panose="020B0609020204030204" pitchFamily="49" charset="0"/>
              </a:rPr>
              <a:t>'\0'</a:t>
            </a:r>
            <a:r>
              <a:rPr lang="en-US" dirty="0"/>
              <a:t> </a:t>
            </a:r>
            <a:r>
              <a:rPr lang="ru-RU" dirty="0"/>
              <a:t>нет, функция продолжит читать память дальше, пока случайно не встретит 0.</a:t>
            </a:r>
          </a:p>
          <a:p>
            <a:pPr lvl="1"/>
            <a:r>
              <a:rPr lang="ru-RU" dirty="0"/>
              <a:t>Это неопределённое поведение</a:t>
            </a:r>
          </a:p>
          <a:p>
            <a:r>
              <a:rPr lang="ru-RU" b="1" dirty="0"/>
              <a:t>Ключевая идея</a:t>
            </a:r>
          </a:p>
          <a:p>
            <a:pPr lvl="1"/>
            <a:r>
              <a:rPr lang="ru-RU" dirty="0"/>
              <a:t>'\0' — это соглашение о конце строки. Без него строка не существует как строка.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F682A9-C310-8A1C-310B-E5E35D0DC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9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0BE6C-D4BF-DBB9-0A33-2C7DCE7034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Упрощённая реализация</a:t>
            </a:r>
            <a:r>
              <a:rPr lang="en-US" dirty="0"/>
              <a:t> puts</a:t>
            </a:r>
            <a:r>
              <a:rPr lang="ru-RU" dirty="0"/>
              <a:t> через </a:t>
            </a:r>
            <a:r>
              <a:rPr lang="en-US" dirty="0" err="1"/>
              <a:t>putchar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6F0FD8-FCCD-D316-6121-4EBB12280B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Принцип работы</a:t>
            </a:r>
          </a:p>
          <a:p>
            <a:pPr lvl="1"/>
            <a:r>
              <a:rPr lang="ru-RU" dirty="0"/>
              <a:t>В функцию передаётся адрес первого символа строки.</a:t>
            </a:r>
          </a:p>
          <a:p>
            <a:pPr lvl="1"/>
            <a:r>
              <a:rPr lang="ru-RU" dirty="0"/>
              <a:t>Последовательно считываются элементы массива </a:t>
            </a:r>
            <a:r>
              <a:rPr lang="ru-RU" dirty="0" err="1"/>
              <a:t>char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Вывод продолжается до встречи символа '\0'.</a:t>
            </a:r>
          </a:p>
          <a:p>
            <a:pPr lvl="1"/>
            <a:r>
              <a:rPr lang="ru-RU" dirty="0"/>
              <a:t>После завершения добавляется перевод строки.</a:t>
            </a:r>
          </a:p>
          <a:p>
            <a:r>
              <a:rPr lang="ru-RU" b="1" dirty="0"/>
              <a:t>Существенное замечание</a:t>
            </a:r>
          </a:p>
          <a:p>
            <a:pPr lvl="1"/>
            <a:r>
              <a:rPr lang="ru-RU" dirty="0"/>
              <a:t>Функция не знает размер массива. Окончание вывода определяется исключительно символом '\0'.</a:t>
            </a:r>
          </a:p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48743D-B60C-BF03-1079-89D0F26055FA}"/>
              </a:ext>
            </a:extLst>
          </p:cNvPr>
          <p:cNvSpPr txBox="1"/>
          <p:nvPr/>
        </p:nvSpPr>
        <p:spPr>
          <a:xfrm>
            <a:off x="6338455" y="1805825"/>
            <a:ext cx="609322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MyPuts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!=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19637C-17DC-6D73-A64B-32D589101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4170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1C93C-FA27-0D26-5C82-245D352AF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Функция </a:t>
            </a:r>
            <a:r>
              <a:rPr lang="en-US" dirty="0" err="1"/>
              <a:t>my_strlen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E349-F85D-2B0D-F7BE-40D2D4AF22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92500" lnSpcReduction="10000"/>
          </a:bodyPr>
          <a:lstStyle/>
          <a:p>
            <a:r>
              <a:rPr lang="ru-RU" b="1" dirty="0"/>
              <a:t>Принцип работы</a:t>
            </a:r>
          </a:p>
          <a:p>
            <a:pPr lvl="1"/>
            <a:r>
              <a:rPr lang="ru-RU" dirty="0"/>
              <a:t>Счётчик </a:t>
            </a:r>
            <a:r>
              <a:rPr lang="ru-RU" dirty="0" err="1">
                <a:latin typeface="Consolas" panose="020B0609020204030204" pitchFamily="49" charset="0"/>
              </a:rPr>
              <a:t>len</a:t>
            </a:r>
            <a:r>
              <a:rPr lang="ru-RU" dirty="0"/>
              <a:t> увеличивается, пока не встретится '\0'.</a:t>
            </a:r>
          </a:p>
          <a:p>
            <a:pPr lvl="1"/>
            <a:r>
              <a:rPr lang="ru-RU" dirty="0"/>
              <a:t>Нулевой символ в длину строки не включается.</a:t>
            </a:r>
          </a:p>
          <a:p>
            <a:pPr lvl="1"/>
            <a:r>
              <a:rPr lang="ru-RU" dirty="0"/>
              <a:t>Возвращаемое значение — количество символов до конца строки.</a:t>
            </a:r>
            <a:endParaRPr lang="en-US" dirty="0"/>
          </a:p>
          <a:p>
            <a:r>
              <a:rPr lang="ru-RU" b="1" dirty="0"/>
              <a:t>Замечание</a:t>
            </a:r>
          </a:p>
          <a:p>
            <a:pPr lvl="1"/>
            <a:r>
              <a:rPr lang="ru-RU" dirty="0"/>
              <a:t>Функция предполагает корректно сформированную строку, содержащую завершающий символ '\0'.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E5A67B-8031-43A4-0653-B46FEA047F65}"/>
              </a:ext>
            </a:extLst>
          </p:cNvPr>
          <p:cNvSpPr txBox="1"/>
          <p:nvPr/>
        </p:nvSpPr>
        <p:spPr>
          <a:xfrm>
            <a:off x="6096000" y="1757353"/>
            <a:ext cx="52578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stddef.h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my_strlen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!=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\0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1E953-2E44-F2AC-F24D-68A431972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070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E9E4-CCE4-57A2-F571-E2680E6F8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Почему строки в </a:t>
            </a:r>
            <a:r>
              <a:rPr lang="en-US" dirty="0"/>
              <a:t>C</a:t>
            </a:r>
            <a:r>
              <a:rPr lang="ru-RU" dirty="0"/>
              <a:t> завершаются </a:t>
            </a:r>
            <a:r>
              <a:rPr lang="en-US" dirty="0"/>
              <a:t>'\0'?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5BBB2-25F9-6DDC-B3EA-5995BCE11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Исторические причины</a:t>
            </a:r>
          </a:p>
          <a:p>
            <a:pPr lvl="1"/>
            <a:r>
              <a:rPr lang="ru-RU" dirty="0"/>
              <a:t>Язык C (1970-е годы), ограниченные ресурсы.</a:t>
            </a:r>
          </a:p>
          <a:p>
            <a:pPr lvl="1"/>
            <a:r>
              <a:rPr lang="ru-RU" dirty="0"/>
              <a:t>Простота реализации на уровне машинных инструкций.</a:t>
            </a:r>
          </a:p>
          <a:p>
            <a:pPr lvl="1"/>
            <a:r>
              <a:rPr lang="ru-RU" dirty="0"/>
              <a:t>Строка как последовательность байтов + признак конца.</a:t>
            </a:r>
          </a:p>
          <a:p>
            <a:r>
              <a:rPr lang="ru-RU" b="1" dirty="0"/>
              <a:t>Недостатки</a:t>
            </a:r>
          </a:p>
          <a:p>
            <a:pPr lvl="1"/>
            <a:r>
              <a:rPr lang="ru-RU" dirty="0"/>
              <a:t>Длина вычисляется за O(n).</a:t>
            </a:r>
          </a:p>
          <a:p>
            <a:pPr lvl="1"/>
            <a:r>
              <a:rPr lang="ru-RU" dirty="0"/>
              <a:t>Нельзя хранить байт со значением 0 внутри строки.</a:t>
            </a:r>
          </a:p>
          <a:p>
            <a:pPr lvl="1"/>
            <a:r>
              <a:rPr lang="ru-RU" dirty="0"/>
              <a:t>Ошибка с '\0' приводит к неопределённому поведению.</a:t>
            </a:r>
          </a:p>
          <a:p>
            <a:r>
              <a:rPr lang="ru-RU" b="1" dirty="0"/>
              <a:t>Альтернатива</a:t>
            </a:r>
          </a:p>
          <a:p>
            <a:pPr lvl="1"/>
            <a:r>
              <a:rPr lang="ru-RU" dirty="0"/>
              <a:t>Структура вида:</a:t>
            </a:r>
            <a:r>
              <a:rPr lang="en-US" dirty="0"/>
              <a:t> </a:t>
            </a:r>
            <a:r>
              <a:rPr lang="ru-RU" dirty="0"/>
              <a:t>[длина][массив байтов]</a:t>
            </a:r>
          </a:p>
          <a:p>
            <a:pPr lvl="1"/>
            <a:r>
              <a:rPr lang="ru-RU" dirty="0"/>
              <a:t>Длина доступна за O(1).</a:t>
            </a:r>
          </a:p>
          <a:p>
            <a:pPr lvl="1"/>
            <a:r>
              <a:rPr lang="ru-RU" dirty="0"/>
              <a:t>Возможны любые значения байтов.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254DBA-197B-FCB4-C0B0-F918A9DE7B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02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75D22-8428-ABCF-E2D4-8B95DE96B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Ошибки с размером массива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02E9D2-D74A-C6BE-E98D-17C045D082DB}"/>
              </a:ext>
            </a:extLst>
          </p:cNvPr>
          <p:cNvSpPr txBox="1"/>
          <p:nvPr/>
        </p:nvSpPr>
        <p:spPr>
          <a:xfrm>
            <a:off x="838200" y="1690688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https://godbolt.org/z/n7oKWTxn6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9C38D5-8D0D-6336-1E67-9E9298EF481C}"/>
              </a:ext>
            </a:extLst>
          </p:cNvPr>
          <p:cNvSpPr txBox="1"/>
          <p:nvPr/>
        </p:nvSpPr>
        <p:spPr>
          <a:xfrm>
            <a:off x="838200" y="2114618"/>
            <a:ext cx="7374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Неверно задан размер строки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3CBC48-1FFE-E0E6-EB3A-1342CBB83943}"/>
              </a:ext>
            </a:extLst>
          </p:cNvPr>
          <p:cNvSpPr txBox="1"/>
          <p:nvPr/>
        </p:nvSpPr>
        <p:spPr>
          <a:xfrm>
            <a:off x="6096000" y="4385207"/>
            <a:ext cx="574409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ok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либо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chars[] = "Hello"; 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24D86E-E7FC-A5E9-E2DA-C77ED7E9159D}"/>
              </a:ext>
            </a:extLst>
          </p:cNvPr>
          <p:cNvSpPr txBox="1"/>
          <p:nvPr/>
        </p:nvSpPr>
        <p:spPr>
          <a:xfrm>
            <a:off x="6096000" y="4015875"/>
            <a:ext cx="364651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https://godbolt.org/z/66T8baMPE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3AB16E32-8F0C-8EA0-A1D4-45BA6C303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10</a:t>
            </a:fld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3DB28C-9908-788E-E123-46DADE03CFD8}"/>
              </a:ext>
            </a:extLst>
          </p:cNvPr>
          <p:cNvSpPr txBox="1"/>
          <p:nvPr/>
        </p:nvSpPr>
        <p:spPr>
          <a:xfrm>
            <a:off x="951809" y="4015875"/>
            <a:ext cx="44015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https://godbolt.org/z/qxnzTz4Kd</a:t>
            </a:r>
            <a:r>
              <a:rPr lang="en-US" dirty="0"/>
              <a:t>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09E2A4A-F00A-FB37-F1A5-D5BF38A61571}"/>
              </a:ext>
            </a:extLst>
          </p:cNvPr>
          <p:cNvSpPr txBox="1"/>
          <p:nvPr/>
        </p:nvSpPr>
        <p:spPr>
          <a:xfrm>
            <a:off x="951809" y="4413151"/>
            <a:ext cx="297179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'H'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puts(s);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679381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07E8D-A1F3-74BC-F907-EC414085D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 строк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B188F-2E71-0760-D36C-0DE665E612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b="1" dirty="0"/>
              <a:t>Функция </a:t>
            </a:r>
            <a:r>
              <a:rPr lang="ru-RU" b="1" dirty="0" err="1"/>
              <a:t>puts</a:t>
            </a:r>
            <a:endParaRPr lang="ru-RU" b="1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s[] = "Hello";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puts</a:t>
            </a:r>
            <a:r>
              <a:rPr lang="ru-RU" dirty="0">
                <a:latin typeface="Consolas" panose="020B0609020204030204" pitchFamily="49" charset="0"/>
              </a:rPr>
              <a:t>(s);</a:t>
            </a:r>
          </a:p>
          <a:p>
            <a:pPr lvl="1"/>
            <a:r>
              <a:rPr lang="ru-RU" dirty="0"/>
              <a:t>Выводит строку до '\0'</a:t>
            </a:r>
          </a:p>
          <a:p>
            <a:pPr lvl="1"/>
            <a:r>
              <a:rPr lang="ru-RU" dirty="0"/>
              <a:t>Автоматически добавляет '\n'</a:t>
            </a:r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9F0D201-E4AB-BFCF-3453-78C398D9DFC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ru-RU" b="1" dirty="0"/>
              <a:t>Функция </a:t>
            </a:r>
            <a:r>
              <a:rPr lang="ru-RU" b="1" dirty="0" err="1"/>
              <a:t>printf</a:t>
            </a:r>
            <a:endParaRPr lang="ru-RU" b="1" dirty="0"/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printf</a:t>
            </a:r>
            <a:r>
              <a:rPr lang="ru-RU" dirty="0">
                <a:latin typeface="Consolas" panose="020B0609020204030204" pitchFamily="49" charset="0"/>
              </a:rPr>
              <a:t>("%s\n", s);</a:t>
            </a:r>
          </a:p>
          <a:p>
            <a:r>
              <a:rPr lang="ru-RU" dirty="0"/>
              <a:t>Форматированный вывод</a:t>
            </a:r>
          </a:p>
          <a:p>
            <a:r>
              <a:rPr lang="ru-RU" dirty="0">
                <a:latin typeface="Consolas" panose="020B0609020204030204" pitchFamily="49" charset="0"/>
              </a:rPr>
              <a:t>%s</a:t>
            </a:r>
            <a:r>
              <a:rPr lang="ru-RU" dirty="0"/>
              <a:t> ожидает корректную строку (с </a:t>
            </a:r>
            <a:r>
              <a:rPr lang="ru-RU" dirty="0">
                <a:latin typeface="Consolas" panose="020B0609020204030204" pitchFamily="49" charset="0"/>
              </a:rPr>
              <a:t>'\0'</a:t>
            </a:r>
            <a:r>
              <a:rPr lang="ru-RU" dirty="0"/>
              <a:t>)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3E1C2F-EBCF-78F0-AB06-738ED301E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1973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22E67-3A40-EE37-36D3-127BEE25D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строк: </a:t>
            </a:r>
            <a:r>
              <a:rPr lang="en-US" dirty="0" err="1"/>
              <a:t>scanf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203EF7-7A7B-815A-99B3-3D00A6928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b="1" dirty="0"/>
              <a:t>Чтение без пробелов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s[100];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scanf</a:t>
            </a:r>
            <a:r>
              <a:rPr lang="ru-RU" dirty="0">
                <a:latin typeface="Consolas" panose="020B0609020204030204" pitchFamily="49" charset="0"/>
              </a:rPr>
              <a:t>("%99s", s);</a:t>
            </a:r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Чтение прекращается при пробеле или переводе строки.</a:t>
            </a:r>
          </a:p>
          <a:p>
            <a:pPr lvl="1"/>
            <a:r>
              <a:rPr lang="ru-RU" dirty="0"/>
              <a:t>Необходимо ограничивать длину (%99s).</a:t>
            </a:r>
          </a:p>
          <a:p>
            <a:pPr lvl="1"/>
            <a:r>
              <a:rPr lang="ru-RU" dirty="0"/>
              <a:t>Завершающий '\0' добавляется автоматически.</a:t>
            </a:r>
          </a:p>
          <a:p>
            <a:r>
              <a:rPr lang="ru-RU" b="1" dirty="0"/>
              <a:t>Ограничение</a:t>
            </a:r>
          </a:p>
          <a:p>
            <a:pPr lvl="1"/>
            <a:r>
              <a:rPr lang="ru-RU" dirty="0"/>
              <a:t>Невозможно считать строку с пробелами.</a:t>
            </a:r>
          </a:p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4B3C10-5D66-6D1F-BA66-E18C690B5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901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5DE22-DB1B-F9C9-B62B-FB3AB4CF3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 строк: </a:t>
            </a:r>
            <a:r>
              <a:rPr lang="en-US" dirty="0" err="1">
                <a:hlinkClick r:id="rId3"/>
              </a:rPr>
              <a:t>fgets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9CE71-8714-802C-2CC8-842B8296D9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b="1" dirty="0"/>
              <a:t>Предпочтительный способ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s[100];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fgets</a:t>
            </a:r>
            <a:r>
              <a:rPr lang="ru-RU" dirty="0">
                <a:latin typeface="Consolas" panose="020B0609020204030204" pitchFamily="49" charset="0"/>
              </a:rPr>
              <a:t>(s, </a:t>
            </a:r>
            <a:r>
              <a:rPr lang="ru-RU" dirty="0" err="1">
                <a:latin typeface="Consolas" panose="020B0609020204030204" pitchFamily="49" charset="0"/>
              </a:rPr>
              <a:t>sizeof</a:t>
            </a:r>
            <a:r>
              <a:rPr lang="ru-RU" dirty="0">
                <a:latin typeface="Consolas" panose="020B0609020204030204" pitchFamily="49" charset="0"/>
              </a:rPr>
              <a:t>(s), </a:t>
            </a:r>
            <a:r>
              <a:rPr lang="ru-RU" dirty="0" err="1">
                <a:latin typeface="Consolas" panose="020B0609020204030204" pitchFamily="49" charset="0"/>
              </a:rPr>
              <a:t>stdin</a:t>
            </a:r>
            <a:r>
              <a:rPr lang="ru-RU" dirty="0">
                <a:latin typeface="Consolas" panose="020B0609020204030204" pitchFamily="49" charset="0"/>
              </a:rPr>
              <a:t>);</a:t>
            </a:r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Считывает строку целиком, включая пробелы.</a:t>
            </a:r>
          </a:p>
          <a:p>
            <a:pPr lvl="1"/>
            <a:r>
              <a:rPr lang="ru-RU" dirty="0"/>
              <a:t>Читает не более </a:t>
            </a:r>
            <a:r>
              <a:rPr lang="ru-RU" dirty="0" err="1"/>
              <a:t>sizeof</a:t>
            </a:r>
            <a:r>
              <a:rPr lang="ru-RU" dirty="0"/>
              <a:t>(s) - 1 символов.</a:t>
            </a:r>
          </a:p>
          <a:p>
            <a:pPr lvl="1"/>
            <a:r>
              <a:rPr lang="ru-RU" dirty="0"/>
              <a:t>Всегда добавляет '\0'.</a:t>
            </a:r>
          </a:p>
          <a:p>
            <a:pPr lvl="1"/>
            <a:r>
              <a:rPr lang="ru-RU" dirty="0"/>
              <a:t>Сохраняет символ '\n', если он помещается.</a:t>
            </a:r>
            <a:endParaRPr lang="en-US" dirty="0"/>
          </a:p>
          <a:p>
            <a:r>
              <a:rPr lang="ru-RU" b="1" dirty="0"/>
              <a:t>Удаление </a:t>
            </a:r>
            <a:r>
              <a:rPr lang="en-US" b="1" dirty="0"/>
              <a:t>'\n'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size_t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my_strlen</a:t>
            </a:r>
            <a:r>
              <a:rPr lang="en-US" dirty="0">
                <a:latin typeface="Consolas" panose="020B0609020204030204" pitchFamily="49" charset="0"/>
              </a:rPr>
              <a:t>(s);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if (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&gt; 0 &amp;&amp; s[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- 1] == '\n’)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s[</a:t>
            </a:r>
            <a:r>
              <a:rPr lang="en-US" dirty="0" err="1">
                <a:latin typeface="Consolas" panose="020B0609020204030204" pitchFamily="49" charset="0"/>
              </a:rPr>
              <a:t>len</a:t>
            </a:r>
            <a:r>
              <a:rPr lang="en-US" dirty="0">
                <a:latin typeface="Consolas" panose="020B0609020204030204" pitchFamily="49" charset="0"/>
              </a:rPr>
              <a:t> - 1] = '\0';</a:t>
            </a:r>
            <a:endParaRPr lang="ru-RU" dirty="0"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5B1419-5867-F040-DB00-E9FF76067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184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B1AC4-0170-52D0-1718-CF079681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строк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F27A98-FD3E-8FDE-4A39-0B25F74191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13713" cy="4351338"/>
          </a:xfrm>
        </p:spPr>
        <p:txBody>
          <a:bodyPr>
            <a:normAutofit fontScale="92500" lnSpcReduction="20000"/>
          </a:bodyPr>
          <a:lstStyle/>
          <a:p>
            <a:r>
              <a:rPr lang="ru-RU" b="1" dirty="0"/>
              <a:t>Массивы нельзя присваивать</a:t>
            </a:r>
          </a:p>
          <a:p>
            <a:pPr lvl="1"/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a[10];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 err="1">
                <a:latin typeface="Consolas" panose="020B0609020204030204" pitchFamily="49" charset="0"/>
              </a:rPr>
              <a:t>char</a:t>
            </a:r>
            <a:r>
              <a:rPr lang="ru-RU" dirty="0">
                <a:latin typeface="Consolas" panose="020B0609020204030204" pitchFamily="49" charset="0"/>
              </a:rPr>
              <a:t> b[10] = "Hello";</a:t>
            </a:r>
            <a:br>
              <a:rPr lang="ru-RU" dirty="0">
                <a:latin typeface="Consolas" panose="020B0609020204030204" pitchFamily="49" charset="0"/>
              </a:rPr>
            </a:br>
            <a:r>
              <a:rPr lang="ru-RU" dirty="0">
                <a:latin typeface="Consolas" panose="020B0609020204030204" pitchFamily="49" charset="0"/>
              </a:rPr>
              <a:t>a = b;    // ошибка</a:t>
            </a:r>
          </a:p>
          <a:p>
            <a:pPr lvl="1"/>
            <a:r>
              <a:rPr lang="ru-RU" dirty="0"/>
              <a:t>Массивы в языке C не поддерживают операцию присваивания.</a:t>
            </a:r>
            <a:endParaRPr lang="en-US" dirty="0"/>
          </a:p>
          <a:p>
            <a:r>
              <a:rPr lang="ru-RU" dirty="0"/>
              <a:t>Требуется посимвольное копирование</a:t>
            </a:r>
          </a:p>
          <a:p>
            <a:r>
              <a:rPr lang="ru-RU" b="1" dirty="0"/>
              <a:t>Важно</a:t>
            </a:r>
          </a:p>
          <a:p>
            <a:pPr lvl="1"/>
            <a:r>
              <a:rPr lang="ru-RU" dirty="0"/>
              <a:t>Массив </a:t>
            </a:r>
            <a:r>
              <a:rPr lang="ru-RU" dirty="0" err="1"/>
              <a:t>dest</a:t>
            </a:r>
            <a:r>
              <a:rPr lang="ru-RU" dirty="0"/>
              <a:t> должен иметь достаточный размер.</a:t>
            </a:r>
          </a:p>
          <a:p>
            <a:pPr lvl="1"/>
            <a:r>
              <a:rPr lang="ru-RU" dirty="0"/>
              <a:t>Проверка границ не выполняется автоматически.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78F9F9-2926-B7B4-D72C-B2515C9E39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B6F5FFE-31B8-9C0D-D2ED-30C1481B3A37}"/>
              </a:ext>
            </a:extLst>
          </p:cNvPr>
          <p:cNvSpPr txBox="1"/>
          <p:nvPr/>
        </p:nvSpPr>
        <p:spPr>
          <a:xfrm>
            <a:off x="6140334" y="1825625"/>
            <a:ext cx="605166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dest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!=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src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puts(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1E011-43F2-C640-02C9-2BB0C5EF7F17}"/>
              </a:ext>
            </a:extLst>
          </p:cNvPr>
          <p:cNvSpPr txBox="1"/>
          <p:nvPr/>
        </p:nvSpPr>
        <p:spPr>
          <a:xfrm>
            <a:off x="6140334" y="6373290"/>
            <a:ext cx="4001193" cy="3731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https://godbolt.org/z/68xsPP79c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32976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A4652D-C0CC-4B3C-F6B0-60DCE696AF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ADE1D-6E51-2376-9F2C-BEE178D27A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b="1" dirty="0"/>
              <a:t>Неправильный способ</a:t>
            </a:r>
          </a:p>
          <a:p>
            <a:pPr lvl="1"/>
            <a:r>
              <a:rPr lang="ru-RU" dirty="0" err="1"/>
              <a:t>if</a:t>
            </a:r>
            <a:r>
              <a:rPr lang="ru-RU" dirty="0"/>
              <a:t> (a == b)   // сравниваются адреса</a:t>
            </a:r>
          </a:p>
          <a:p>
            <a:pPr lvl="1"/>
            <a:r>
              <a:rPr lang="ru-RU" dirty="0"/>
              <a:t>Оператор == для массивов сравнивает указатели, а не содержимое.</a:t>
            </a:r>
          </a:p>
          <a:p>
            <a:r>
              <a:rPr lang="ru-RU" b="1" dirty="0"/>
              <a:t>Правильный способ</a:t>
            </a:r>
            <a:r>
              <a:rPr lang="ru-RU" dirty="0"/>
              <a:t> – посимвольное сравнение</a:t>
            </a:r>
          </a:p>
          <a:p>
            <a:pPr lvl="1"/>
            <a:r>
              <a:rPr lang="ru-RU" dirty="0"/>
              <a:t>Результат:</a:t>
            </a:r>
          </a:p>
          <a:p>
            <a:pPr lvl="1"/>
            <a:r>
              <a:rPr lang="ru-RU" dirty="0">
                <a:latin typeface="Consolas" panose="020B0609020204030204" pitchFamily="49" charset="0"/>
              </a:rPr>
              <a:t>0</a:t>
            </a:r>
            <a:r>
              <a:rPr lang="ru-RU" dirty="0"/>
              <a:t> – строки равны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&lt; 0</a:t>
            </a:r>
            <a:r>
              <a:rPr lang="en-US" dirty="0"/>
              <a:t> – </a:t>
            </a:r>
            <a:r>
              <a:rPr lang="ru-RU" dirty="0"/>
              <a:t>строка </a:t>
            </a:r>
            <a:r>
              <a:rPr lang="en-US" dirty="0"/>
              <a:t>a </a:t>
            </a:r>
            <a:r>
              <a:rPr lang="ru-RU" dirty="0"/>
              <a:t>лексикографически предшествует </a:t>
            </a:r>
            <a:r>
              <a:rPr lang="en-US" dirty="0"/>
              <a:t>b</a:t>
            </a:r>
            <a:endParaRPr lang="ru-RU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&gt; 0</a:t>
            </a:r>
            <a:r>
              <a:rPr lang="en-US" dirty="0"/>
              <a:t> – </a:t>
            </a:r>
            <a:r>
              <a:rPr lang="ru-RU" dirty="0"/>
              <a:t>строка </a:t>
            </a:r>
            <a:r>
              <a:rPr lang="en-US" dirty="0"/>
              <a:t>a </a:t>
            </a:r>
            <a:r>
              <a:rPr lang="ru-RU" dirty="0"/>
              <a:t>следует за </a:t>
            </a:r>
            <a:r>
              <a:rPr lang="en-US" dirty="0"/>
              <a:t>b</a:t>
            </a:r>
          </a:p>
          <a:p>
            <a:r>
              <a:rPr lang="ru-RU" dirty="0"/>
              <a:t>Принцип работы: сравнение до первого различия или до встречи </a:t>
            </a:r>
            <a:r>
              <a:rPr lang="en-US" dirty="0">
                <a:latin typeface="Consolas" panose="020B0609020204030204" pitchFamily="49" charset="0"/>
              </a:rPr>
              <a:t>'\0'</a:t>
            </a:r>
            <a:r>
              <a:rPr lang="en-US" dirty="0"/>
              <a:t>.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902563-8861-79CB-6578-4C0F6BFA9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5E9561-002A-41EF-B5BA-43A01A72A4F8}" type="slidenum">
              <a:rPr lang="en-US" smtClean="0"/>
              <a:t>15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DE3C26-B23A-A580-E625-33FEE9D23A5F}"/>
              </a:ext>
            </a:extLst>
          </p:cNvPr>
          <p:cNvSpPr txBox="1"/>
          <p:nvPr/>
        </p:nvSpPr>
        <p:spPr>
          <a:xfrm>
            <a:off x="6096001" y="1822916"/>
            <a:ext cx="6095999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stdio.h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MyStrCmp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a[],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b[])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== b[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(a[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==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'\0'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Строки закончились -&gt; равны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++;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)a[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- (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)b[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s1[] =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s2[] = 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"Hello1"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MyStrCmp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(s1, s2));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1048E0-D867-C0C2-494E-992A3A37A7E7}"/>
              </a:ext>
            </a:extLst>
          </p:cNvPr>
          <p:cNvSpPr txBox="1"/>
          <p:nvPr/>
        </p:nvSpPr>
        <p:spPr>
          <a:xfrm>
            <a:off x="6096000" y="6356349"/>
            <a:ext cx="35135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https://godbolt.org/z/6nr9r7ad7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04396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468b760-d21f-4b9a-b4bb-b94542368000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3954</Words>
  <Application>Microsoft Office PowerPoint</Application>
  <PresentationFormat>Widescreen</PresentationFormat>
  <Paragraphs>387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Aptos Display</vt:lpstr>
      <vt:lpstr>Arial</vt:lpstr>
      <vt:lpstr>Consolas</vt:lpstr>
      <vt:lpstr>Office Theme</vt:lpstr>
      <vt:lpstr>Работа со строками</vt:lpstr>
      <vt:lpstr>Как хранится текст в памяти компьютера</vt:lpstr>
      <vt:lpstr>Тип char и память</vt:lpstr>
      <vt:lpstr>Символьные константы</vt:lpstr>
      <vt:lpstr>Строка как массив char</vt:lpstr>
      <vt:lpstr>Почему нужен '\0'?</vt:lpstr>
      <vt:lpstr>Упрощённая реализация puts через putchar</vt:lpstr>
      <vt:lpstr>Функция my_strlen</vt:lpstr>
      <vt:lpstr>Почему строки в C завершаются '\0'?</vt:lpstr>
      <vt:lpstr>Ошибки с размером массива</vt:lpstr>
      <vt:lpstr>Вывод строк</vt:lpstr>
      <vt:lpstr>Ввод строк: scanf</vt:lpstr>
      <vt:lpstr>Ввод строк: fgets</vt:lpstr>
      <vt:lpstr>Копирование строк</vt:lpstr>
      <vt:lpstr>Сравнение строк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Алексей Малов</cp:lastModifiedBy>
  <cp:revision>59</cp:revision>
  <dcterms:created xsi:type="dcterms:W3CDTF">2026-02-16T20:40:07Z</dcterms:created>
  <dcterms:modified xsi:type="dcterms:W3CDTF">2026-02-16T22:47:31Z</dcterms:modified>
</cp:coreProperties>
</file>