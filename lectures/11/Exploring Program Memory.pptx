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539" r:id="rId6"/>
    <p:sldId id="538" r:id="rId7"/>
    <p:sldId id="540" r:id="rId8"/>
    <p:sldId id="541" r:id="rId9"/>
    <p:sldId id="542" r:id="rId10"/>
    <p:sldId id="543" r:id="rId11"/>
    <p:sldId id="545" r:id="rId12"/>
    <p:sldId id="260" r:id="rId13"/>
    <p:sldId id="546" r:id="rId14"/>
    <p:sldId id="547" r:id="rId15"/>
    <p:sldId id="548" r:id="rId16"/>
    <p:sldId id="549" r:id="rId17"/>
    <p:sldId id="550" r:id="rId18"/>
    <p:sldId id="551" r:id="rId19"/>
    <p:sldId id="552" r:id="rId20"/>
    <p:sldId id="553" r:id="rId21"/>
    <p:sldId id="554" r:id="rId22"/>
    <p:sldId id="556" r:id="rId23"/>
    <p:sldId id="309" r:id="rId24"/>
    <p:sldId id="310" r:id="rId25"/>
    <p:sldId id="313" r:id="rId26"/>
    <p:sldId id="560" r:id="rId27"/>
    <p:sldId id="315" r:id="rId28"/>
    <p:sldId id="314" r:id="rId29"/>
    <p:sldId id="316" r:id="rId30"/>
    <p:sldId id="558" r:id="rId31"/>
    <p:sldId id="557" r:id="rId32"/>
    <p:sldId id="555" r:id="rId33"/>
    <p:sldId id="55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639" autoAdjust="0"/>
  </p:normalViewPr>
  <p:slideViewPr>
    <p:cSldViewPr snapToGrid="0" showGuides="1">
      <p:cViewPr varScale="1">
        <p:scale>
          <a:sx n="77" d="100"/>
          <a:sy n="77" d="100"/>
        </p:scale>
        <p:origin x="1830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-158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2D613-641A-4514-B661-772688D3904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59E61-CD8F-4EDB-89B2-A2524EC5B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74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Процессор представляет собой устройство, которое непрерывно взаимодействует с памятью. Он извлекает из памяти инструкции программы и обрабатывает данные, которые в этой памяти находятся.</a:t>
            </a:r>
          </a:p>
          <a:p>
            <a:endParaRPr lang="ru-RU" dirty="0"/>
          </a:p>
          <a:p>
            <a:r>
              <a:rPr lang="ru-RU" dirty="0"/>
              <a:t>Таким образом, память является не просто хранилищем, а ключевым элементом выполнения программы. В ней одновременно располагаются как код программы, так и данные, с которыми этот код работает.</a:t>
            </a:r>
          </a:p>
          <a:p>
            <a:endParaRPr lang="ru-RU" dirty="0"/>
          </a:p>
          <a:p>
            <a:r>
              <a:rPr lang="ru-RU" dirty="0"/>
              <a:t>При этом память не является хаотичным набором байтов. Она организована определённым образом. Различные области памяти используются для разных целей, и каждая из них играет свою роль в процессе выполнения программы.</a:t>
            </a:r>
          </a:p>
          <a:p>
            <a:r>
              <a:rPr lang="ru-RU" dirty="0"/>
              <a:t>Способ организации памяти определяется как архитектурой процессора, так и операционной системой. Именно они задают правила размещения кода, данных, стека и динамической памяти.</a:t>
            </a:r>
          </a:p>
          <a:p>
            <a:endParaRPr lang="ru-RU" dirty="0"/>
          </a:p>
          <a:p>
            <a:r>
              <a:rPr lang="ru-RU" dirty="0"/>
              <a:t>В рамках этой лекции мы подробно рассмотрим, как устроена память программы и как в ней размещаются различные объекты.</a:t>
            </a:r>
          </a:p>
          <a:p>
            <a:endParaRPr lang="ru-RU" dirty="0"/>
          </a:p>
          <a:p>
            <a:r>
              <a:rPr lang="ru-RU" dirty="0"/>
              <a:t>Кроме того, важно понимать, что память неоднородна с точки зрения производительности. Разные уровни памяти имеют различную скорость доступа, и это напрямую влияет на время выполнения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Понимание этих принципов позволяет глубже осознать, как именно работает программа на уровне выполнения и взаимодействия с аппаратным обеспечением.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48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уже сталкивались с адресами в памяти. Мы выводили адреса переменных, работали с указателями и даже смотрели дампы памяти.</a:t>
            </a:r>
          </a:p>
          <a:p>
            <a:endParaRPr lang="ru-RU" dirty="0"/>
          </a:p>
          <a:p>
            <a:r>
              <a:rPr lang="ru-RU" dirty="0"/>
              <a:t>Однако, как правило, мы воспринимали адрес просто как некоторое число, не придавая ему особого смысла. Адреса казались абстрактными значениями, которые используются для доступа к данным, но не несут дополнительной информации.</a:t>
            </a:r>
          </a:p>
          <a:p>
            <a:endParaRPr lang="ru-RU" dirty="0"/>
          </a:p>
          <a:p>
            <a:r>
              <a:rPr lang="ru-RU" dirty="0"/>
              <a:t>На самом деле это не так. В современных операционных системах память программы организована строго определённым образом.</a:t>
            </a:r>
            <a:r>
              <a:rPr lang="en-US" dirty="0"/>
              <a:t>  </a:t>
            </a:r>
            <a:r>
              <a:rPr lang="ru-RU" dirty="0"/>
              <a:t>Адрес в памяти указывает не просто на произвольный байт, а на конкретную область памяти с определённым назначением.</a:t>
            </a:r>
          </a:p>
          <a:p>
            <a:endParaRPr lang="ru-RU" dirty="0"/>
          </a:p>
          <a:p>
            <a:r>
              <a:rPr lang="ru-RU" dirty="0"/>
              <a:t>Чтобы понимать, как выполняется программа, необходимо понимать, как устроено адресное пространство процесса.</a:t>
            </a:r>
          </a:p>
          <a:p>
            <a:endParaRPr lang="ru-RU" dirty="0"/>
          </a:p>
          <a:p>
            <a:r>
              <a:rPr lang="ru-RU" dirty="0"/>
              <a:t>В современных операционных системах процесс получает собственное адресное пространство, которое разбито на несколько областей.</a:t>
            </a:r>
          </a:p>
          <a:p>
            <a:endParaRPr lang="ru-RU" dirty="0"/>
          </a:p>
          <a:p>
            <a:r>
              <a:rPr lang="ru-RU" dirty="0"/>
              <a:t>В нижней части располагается сегмент кода, или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segment</a:t>
            </a:r>
            <a:r>
              <a:rPr lang="ru-RU" dirty="0"/>
              <a:t>. Здесь хранится исполняемый код программы.</a:t>
            </a:r>
          </a:p>
          <a:p>
            <a:r>
              <a:rPr lang="ru-RU" dirty="0"/>
              <a:t>Выше находятся сегменты данных. В сегменте </a:t>
            </a:r>
            <a:r>
              <a:rPr lang="ru-RU" dirty="0" err="1"/>
              <a:t>data</a:t>
            </a:r>
            <a:r>
              <a:rPr lang="ru-RU" dirty="0"/>
              <a:t> размещаются инициализированные глобальные и статические переменные. В сегменте BSS — неинициализированные.</a:t>
            </a:r>
          </a:p>
          <a:p>
            <a:endParaRPr lang="ru-RU" dirty="0"/>
          </a:p>
          <a:p>
            <a:r>
              <a:rPr lang="ru-RU" dirty="0"/>
              <a:t>Такое расположение не случайно. В исполняемом файле программы уже содержатся машинный код и инициализированные глобальные переменные, поэтому при загрузке программы в память операционной системе удобно размещать их рядом.</a:t>
            </a:r>
          </a:p>
          <a:p>
            <a:endParaRPr lang="ru-RU" dirty="0"/>
          </a:p>
          <a:p>
            <a:r>
              <a:rPr lang="ru-RU" dirty="0"/>
              <a:t>На практике область данных часто дополнительно разделяется на части с разными правами доступа. В </a:t>
            </a:r>
            <a:r>
              <a:rPr lang="ru-RU" dirty="0" err="1"/>
              <a:t>read-only</a:t>
            </a:r>
            <a:r>
              <a:rPr lang="ru-RU" dirty="0"/>
              <a:t> области располагаются константы, а в </a:t>
            </a:r>
            <a:r>
              <a:rPr lang="ru-RU" dirty="0" err="1"/>
              <a:t>read</a:t>
            </a:r>
            <a:r>
              <a:rPr lang="ru-RU" dirty="0"/>
              <a:t>/</a:t>
            </a:r>
            <a:r>
              <a:rPr lang="ru-RU" dirty="0" err="1"/>
              <a:t>write</a:t>
            </a:r>
            <a:r>
              <a:rPr lang="ru-RU" dirty="0"/>
              <a:t> — обычные глобальные переменные, которые могут изменяться во время выполнения программы.</a:t>
            </a:r>
          </a:p>
          <a:p>
            <a:endParaRPr lang="ru-RU" dirty="0"/>
          </a:p>
          <a:p>
            <a:r>
              <a:rPr lang="ru-RU" dirty="0"/>
              <a:t>Кроме того, операционная система обычно защищает область кода и область неизменяемых данных от модификации. Это означает, что программа не может случайно или намеренно изменить собственный код или константы, что обеспечивает дополнительный уровень безопасности.</a:t>
            </a:r>
          </a:p>
          <a:p>
            <a:endParaRPr lang="ru-RU" dirty="0"/>
          </a:p>
          <a:p>
            <a:r>
              <a:rPr lang="ru-RU" dirty="0"/>
              <a:t>Далее располагается куча, или </a:t>
            </a:r>
            <a:r>
              <a:rPr lang="ru-RU" dirty="0" err="1"/>
              <a:t>heap</a:t>
            </a:r>
            <a:r>
              <a:rPr lang="ru-RU" dirty="0"/>
              <a:t>. Эта область используется для динамического выделения памяти во время выполнения программы.</a:t>
            </a:r>
          </a:p>
          <a:p>
            <a:endParaRPr lang="ru-RU" dirty="0"/>
          </a:p>
          <a:p>
            <a:r>
              <a:rPr lang="ru-RU" dirty="0"/>
              <a:t>В верхней части находится стек, или </a:t>
            </a:r>
            <a:r>
              <a:rPr lang="ru-RU" dirty="0" err="1"/>
              <a:t>stack</a:t>
            </a:r>
            <a:r>
              <a:rPr lang="ru-RU" dirty="0"/>
              <a:t>. Он используется для хранения информации о вызовах функций, локальных переменных и параметров.</a:t>
            </a:r>
          </a:p>
          <a:p>
            <a:endParaRPr lang="ru-RU" dirty="0"/>
          </a:p>
          <a:p>
            <a:r>
              <a:rPr lang="ru-RU" dirty="0"/>
              <a:t>Важно понимать, что это не просто абстрактная схема. Именно так программа существует в памяти во время выполнения.</a:t>
            </a:r>
          </a:p>
          <a:p>
            <a:endParaRPr lang="ru-RU" dirty="0"/>
          </a:p>
          <a:p>
            <a:r>
              <a:rPr lang="ru-RU" dirty="0"/>
              <a:t>Дальнейшее изучение стека, кучи и вызовов функций будет опираться на это представление.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10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Стек представляет собой область памяти, которая используется для организации вызовов функций.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 работает по принципу LIFO, то есть последний добавленный элемент извлекается первым. Это соответствует вложенной природе вызовов функций.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каждом вызове функции в стеке создаётся новый кадр, который часто называют 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frame</a:t>
            </a:r>
            <a:r>
              <a:rPr lang="ru-RU" dirty="0"/>
              <a:t>. В этом кадре размещаются параметры функции, её локальные переменные, а также служебная информация.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функция завершает выполнение, соответствующий кадр удаляется из стека, и управление возвращается в вызывающую функцию.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стек в каждый момент времени отражает текущую цепочку вызовов функций и играет ключевую роль в управлении выполнением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88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параметров и локальных переменных, в стеке хранится адрес возврата. Это адрес той инструкции, на которую необходимо передать управление после завершения функции.</a:t>
            </a:r>
          </a:p>
          <a:p>
            <a:endParaRPr lang="ru-RU" dirty="0"/>
          </a:p>
          <a:p>
            <a:r>
              <a:rPr lang="ru-RU" dirty="0"/>
              <a:t>Именно благодаря сохранению адреса возврата становится возможным корректное продолжение выполнения программы после вложенных вызовов.</a:t>
            </a:r>
          </a:p>
          <a:p>
            <a:endParaRPr lang="ru-RU" dirty="0"/>
          </a:p>
          <a:p>
            <a:r>
              <a:rPr lang="ru-RU" dirty="0"/>
              <a:t>В большинстве распространённых архитектур, таких как x86, данные и адреса возврата хранятся в одной и той же области памяти, то есть в одном стеке.</a:t>
            </a:r>
          </a:p>
          <a:p>
            <a:endParaRPr lang="ru-RU" dirty="0"/>
          </a:p>
          <a:p>
            <a:r>
              <a:rPr lang="ru-RU" dirty="0"/>
              <a:t>Однако существуют архитектуры, в которых для адресов возврата используется отдельный стек. Такой подход позволяет изолировать адреса возврата от пользовательских данных и тем самым повысить безопасность выполнения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Примерами могут служить архитектуры с аппаратной поддержкой защищённого стека возвратов, такие как ARM с механизмами защиты потока управления, а также некоторые микроконтроллеры, например семейство PIC, где используется отдельный аппаратный стек для адресов возврата.</a:t>
            </a:r>
          </a:p>
          <a:p>
            <a:endParaRPr lang="ru-RU" dirty="0"/>
          </a:p>
          <a:p>
            <a:r>
              <a:rPr lang="ru-RU" dirty="0"/>
              <a:t>Разделение данных и адресов возврата затрудняет эксплуатацию уязвимостей, связанных с переполнением стека, и является одним из способов повышения надёжности программ.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13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как стек формируется в процессе вложенных вызовов функций.</a:t>
            </a:r>
          </a:p>
          <a:p>
            <a:endParaRPr lang="ru-RU" dirty="0"/>
          </a:p>
          <a:p>
            <a:r>
              <a:rPr lang="ru-RU" dirty="0"/>
              <a:t>Рассмотрим простой пример. В функции </a:t>
            </a:r>
            <a:r>
              <a:rPr lang="ru-RU" dirty="0" err="1"/>
              <a:t>main</a:t>
            </a:r>
            <a:r>
              <a:rPr lang="ru-RU" dirty="0"/>
              <a:t> вызывается функция Func1, а внутри неё вызывается функция Func2. Таким образом, выполнение программы переходит от </a:t>
            </a:r>
            <a:r>
              <a:rPr lang="ru-RU" dirty="0" err="1"/>
              <a:t>main</a:t>
            </a:r>
            <a:r>
              <a:rPr lang="ru-RU" dirty="0"/>
              <a:t> к Func1, а затем к Func2.</a:t>
            </a:r>
          </a:p>
          <a:p>
            <a:endParaRPr lang="ru-RU" dirty="0"/>
          </a:p>
          <a:p>
            <a:r>
              <a:rPr lang="ru-RU" dirty="0"/>
              <a:t>Каждый вызов функции приводит к созданию нового кадра стека. Вначале в стеке находится кадр функции </a:t>
            </a:r>
            <a:r>
              <a:rPr lang="ru-RU" dirty="0" err="1"/>
              <a:t>main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80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8DB3-D139-56C0-6B66-EE016977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4EE89-C82E-ED63-CE2E-3EE5D18A3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A69BE-C52E-F997-F830-8D8152024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вызывается Func1, поверх него добавляется новый кадр.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3937D-4C44-3B88-EEB5-AA65BCFB2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2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887E4-4897-EE39-7580-B3367E9A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24DD1-15B0-701E-8A99-65976027D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43B3E-8C8D-B93E-8C47-FDB21F885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Затем при вызове Func2 создаётся ещё один кадр, который становится текущим.</a:t>
            </a:r>
          </a:p>
          <a:p>
            <a:endParaRPr lang="ru-RU" dirty="0"/>
          </a:p>
          <a:p>
            <a:r>
              <a:rPr lang="ru-RU" dirty="0"/>
              <a:t>Важно понимать, что в каждый момент времени выполняется именно та функция, чей кадр находится на вершине стека. На иллюстрации это показано как текущая позиция стека.</a:t>
            </a:r>
          </a:p>
          <a:p>
            <a:endParaRPr lang="ru-RU" dirty="0"/>
          </a:p>
          <a:p>
            <a:r>
              <a:rPr lang="ru-RU"/>
              <a:t>После завершения функции Func2 её кадр удаляется из стека, и управление возвращается в Func1. Затем аналогичным образом происходит возврат в main.</a:t>
            </a:r>
          </a:p>
          <a:p>
            <a:r>
              <a:rPr lang="ru-RU"/>
              <a:t>Обратите внимание, что память под кадры стека не очищается явно. После удаления кадра его содержимое может оставаться в памяти и рассматривается как неиспользуемые данные, которые могут быть перезаписаны при последующих вызовах функций.</a:t>
            </a:r>
          </a:p>
          <a:p>
            <a:r>
              <a:rPr lang="ru-RU"/>
              <a:t>Таким образом, стек отражает не только структуру вызовов, но и текущее состояние выполнения программы.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7520A-754E-A08D-1E8F-4EBC6DCAC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96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200B-3AB0-C8F0-30A6-DEB990B1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7197E-7E4F-CEA6-24F1-326B2F7ED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6539A-BC40-C6FE-6A72-5157CA77C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завершения функции Func2 её кадр удаляется из стека, и управление возвращается в Func1.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6A77D-114B-DF78-3742-6B817632E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55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D1150-353F-E84F-4F8F-3107302D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06648-0916-1DC2-E2BD-13E557C63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77747-FD29-CA1F-FCE6-C94C9B285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Затем аналогичным образом происходит возврат в </a:t>
            </a:r>
            <a:r>
              <a:rPr lang="ru-RU" dirty="0" err="1"/>
              <a:t>main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внимание, что память под кадры стека не очищается явно. После удаления кадра его содержимое может оставаться в памяти и рассматривается как неиспользуемые данные, которые могут быть перезаписаны при последующих вызовах функций.</a:t>
            </a:r>
          </a:p>
          <a:p>
            <a:endParaRPr lang="ru-RU" dirty="0"/>
          </a:p>
          <a:p>
            <a:r>
              <a:rPr lang="ru-RU" dirty="0"/>
              <a:t>Таким образом, стек отражает не только структуру вызовов, но и текущее состояние выполнения программы.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F0EF6-64B7-2B8F-B086-D999C739D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17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E7654-A1FD-1D09-B2BF-93B674A9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CF60D-C4AF-157E-2FA3-B34E64994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5E5B7-7A2E-A302-17CF-D9CE5579B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выходе из</a:t>
            </a:r>
            <a:r>
              <a:rPr lang="en-US" dirty="0"/>
              <a:t> main</a:t>
            </a:r>
            <a:r>
              <a:rPr lang="ru-RU" dirty="0"/>
              <a:t> происходит завершение процесса и освобождение все занимаемой им памяти.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50AE8-5856-91D9-D579-E118173F7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8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приведён пример программы, который позволяет увидеть, как стек влияет на размещение локальных переменных в памяти.</a:t>
            </a:r>
          </a:p>
          <a:p>
            <a:endParaRPr lang="ru-RU" dirty="0"/>
          </a:p>
          <a:p>
            <a:r>
              <a:rPr lang="ru-RU" dirty="0"/>
              <a:t>Сначала в функции </a:t>
            </a:r>
            <a:r>
              <a:rPr lang="ru-RU" dirty="0" err="1"/>
              <a:t>main</a:t>
            </a:r>
            <a:r>
              <a:rPr lang="ru-RU" dirty="0"/>
              <a:t> вызывается функция B. В этот момент создаётся кадр стека для B, и локальная переменная y размещается в некоторой области памяти. Мы видим её адрес в выводе.</a:t>
            </a:r>
          </a:p>
          <a:p>
            <a:endParaRPr lang="ru-RU" dirty="0"/>
          </a:p>
          <a:p>
            <a:r>
              <a:rPr lang="ru-RU" dirty="0"/>
              <a:t>Далее вызывается функция A. Для неё создаётся новый кадр стека, в котором размещается переменная x. Обратите внимание, что адрес переменной x совпадает с адресом, по которому ранее находилась переменная y из первого вызова функции B.</a:t>
            </a:r>
          </a:p>
          <a:p>
            <a:endParaRPr lang="ru-RU" dirty="0"/>
          </a:p>
          <a:p>
            <a:r>
              <a:rPr lang="ru-RU" dirty="0"/>
              <a:t>Это происходит потому, что после завершения первого вызова B её кадр стека был удалён, и память, которую он занимал, стала доступной для повторного использования.</a:t>
            </a:r>
          </a:p>
          <a:p>
            <a:endParaRPr lang="ru-RU" dirty="0"/>
          </a:p>
          <a:p>
            <a:r>
              <a:rPr lang="ru-RU" dirty="0"/>
              <a:t>Затем внутри функции A вызывается функция B. В этот момент стек уже содержит кадр функции A, поэтому новый кадр функции B размещается поверх него. Соответственно, переменная y получает другой адрес, отличный от предыдущего случая.</a:t>
            </a:r>
          </a:p>
          <a:p>
            <a:endParaRPr lang="ru-RU" dirty="0"/>
          </a:p>
          <a:p>
            <a:r>
              <a:rPr lang="ru-RU" dirty="0"/>
              <a:t>После завершения функции A стек снова возвращается в состояние, соответствующее функции </a:t>
            </a:r>
            <a:r>
              <a:rPr lang="ru-RU" dirty="0" err="1"/>
              <a:t>main</a:t>
            </a:r>
            <a:r>
              <a:rPr lang="ru-RU" dirty="0"/>
              <a:t>. Когда мы повторно вызываем B, её кадр снова размещается в той же области памяти, что и при первом вызове, и адрес переменной y совпадает с первоначальным.</a:t>
            </a:r>
          </a:p>
          <a:p>
            <a:endParaRPr lang="ru-RU" dirty="0"/>
          </a:p>
          <a:p>
            <a:r>
              <a:rPr lang="ru-RU" dirty="0"/>
              <a:t>Таким образом, мы видим, что адрес локальной переменной определяется не только самой функцией, но и текущим состоянием стека, то есть тем, какие функции вызваны в данный момент времени.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91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как работает эта программа на уровне ассемблера, начиная с функции </a:t>
            </a:r>
            <a:r>
              <a:rPr lang="ru-RU" dirty="0" err="1"/>
              <a:t>main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начале функции </a:t>
            </a:r>
            <a:r>
              <a:rPr lang="ru-RU" dirty="0" err="1"/>
              <a:t>main</a:t>
            </a:r>
            <a:r>
              <a:rPr lang="ru-RU" dirty="0"/>
              <a:t> выполняется инструкция </a:t>
            </a:r>
            <a:r>
              <a:rPr lang="ru-RU" dirty="0" err="1"/>
              <a:t>push</a:t>
            </a:r>
            <a:r>
              <a:rPr lang="ru-RU" dirty="0"/>
              <a:t> </a:t>
            </a:r>
            <a:r>
              <a:rPr lang="ru-RU" dirty="0" err="1"/>
              <a:t>rax</a:t>
            </a:r>
            <a:r>
              <a:rPr lang="ru-RU" dirty="0"/>
              <a:t>. На первый взгляд может показаться, что она не имеет смысла, так как значение регистра </a:t>
            </a:r>
            <a:r>
              <a:rPr lang="ru-RU" dirty="0" err="1"/>
              <a:t>rax</a:t>
            </a:r>
            <a:r>
              <a:rPr lang="ru-RU" dirty="0"/>
              <a:t> далее не используется. Однако её основная цель — не сохранить значение, а скорректировать выравнивание стека.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Согласно соглашению о вызовах System V, перед выполнением инструкции </a:t>
            </a:r>
            <a:r>
              <a:rPr lang="ru-RU" dirty="0" err="1"/>
              <a:t>call</a:t>
            </a:r>
            <a:r>
              <a:rPr lang="ru-RU" dirty="0"/>
              <a:t> указатель стека должен быть выровнен по границе 16 байт. Это требование связано, в частности, с корректной работой инструкций SSE.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функция </a:t>
            </a:r>
            <a:r>
              <a:rPr lang="ru-RU" dirty="0" err="1"/>
              <a:t>main</a:t>
            </a:r>
            <a:r>
              <a:rPr lang="ru-RU" dirty="0"/>
              <a:t> сама была вызвана до этого, и при её вызове в стек уже был помещён адрес возврата. Это автоматически сместило указатель стека на 8 байт, нарушив выравнивание по 16 байтам.</a:t>
            </a:r>
          </a:p>
          <a:p>
            <a:r>
              <a:rPr lang="ru-RU" dirty="0"/>
              <a:t>Инструкция </a:t>
            </a:r>
            <a:r>
              <a:rPr lang="ru-RU" dirty="0" err="1"/>
              <a:t>push</a:t>
            </a:r>
            <a:r>
              <a:rPr lang="ru-RU" dirty="0"/>
              <a:t> </a:t>
            </a:r>
            <a:r>
              <a:rPr lang="ru-RU" dirty="0" err="1"/>
              <a:t>rax</a:t>
            </a:r>
            <a:r>
              <a:rPr lang="ru-RU" dirty="0"/>
              <a:t> уменьшает указатель стека ещё на 8 байт, тем самым восстанавливая выравнивание. После этого стек снова становится выровненным по 16 байтам, и можно безопасно вызывать другие функции.</a:t>
            </a:r>
          </a:p>
          <a:p>
            <a:endParaRPr lang="ru-RU" dirty="0"/>
          </a:p>
          <a:p>
            <a:r>
              <a:rPr lang="ru-RU" dirty="0"/>
              <a:t>Далее значение 42 помещается в регистр </a:t>
            </a:r>
            <a:r>
              <a:rPr lang="ru-RU" dirty="0" err="1"/>
              <a:t>edi</a:t>
            </a:r>
            <a:r>
              <a:rPr lang="ru-RU" dirty="0"/>
              <a:t>. В используемом соглашении о вызовах первый целочисленный аргумент функции передаётся именно через этот регистр.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этого выполняется инструкция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Fn</a:t>
            </a:r>
            <a:r>
              <a:rPr lang="ru-RU" dirty="0"/>
              <a:t>. Эта инструкция делает две вещи: сохраняет адрес возврата в стеке и передаёт управление функции </a:t>
            </a:r>
            <a:r>
              <a:rPr lang="ru-RU" dirty="0" err="1"/>
              <a:t>Fn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Переходим к функции </a:t>
            </a:r>
            <a:r>
              <a:rPr lang="ru-RU" dirty="0" err="1"/>
              <a:t>Fn</a:t>
            </a:r>
            <a:r>
              <a:rPr lang="ru-RU" dirty="0"/>
              <a:t>. На входе значение параметра x уже находится в регистре </a:t>
            </a:r>
            <a:r>
              <a:rPr lang="ru-RU" dirty="0" err="1"/>
              <a:t>edi</a:t>
            </a:r>
            <a:r>
              <a:rPr lang="ru-RU" dirty="0"/>
              <a:t>, согласно соглашению о вызовах.</a:t>
            </a:r>
          </a:p>
          <a:p>
            <a:r>
              <a:rPr lang="ru-RU" dirty="0"/>
              <a:t>Первая инструкция </a:t>
            </a:r>
            <a:r>
              <a:rPr lang="ru-RU" dirty="0" err="1"/>
              <a:t>sub</a:t>
            </a:r>
            <a:r>
              <a:rPr lang="ru-RU" dirty="0"/>
              <a:t> </a:t>
            </a:r>
            <a:r>
              <a:rPr lang="ru-RU" dirty="0" err="1"/>
              <a:t>rsp</a:t>
            </a:r>
            <a:r>
              <a:rPr lang="ru-RU" dirty="0"/>
              <a:t>, 24 уменьшает указатель стека на 24 байта. Это делается по двум причинам.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после выполнения инструкции </a:t>
            </a:r>
            <a:r>
              <a:rPr lang="ru-RU" dirty="0" err="1"/>
              <a:t>call</a:t>
            </a:r>
            <a:r>
              <a:rPr lang="ru-RU" dirty="0"/>
              <a:t> указатель стека уже был смещён на 8 байт из-за сохранённого адреса возврата. Это нарушает выравнивание по 16 байтам.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функции необходимо выделить место под локальные данные. В данном случае требуется как минимум 4 байта для хранения переменной x, однако с учётом требований выравнивания стек обычно резервируется с запасом, кратным 16 байтам.</a:t>
            </a:r>
          </a:p>
          <a:p>
            <a:r>
              <a:rPr lang="ru-RU" dirty="0"/>
              <a:t>Таким образом, выделение 24 байт позволяет одновременно и разместить локальные данные, и обеспечить корректное выравнивание стека перед вызовом функции </a:t>
            </a:r>
            <a:r>
              <a:rPr lang="ru-RU" dirty="0" err="1"/>
              <a:t>printf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en-US" dirty="0" err="1"/>
              <a:t>Xor</a:t>
            </a:r>
            <a:r>
              <a:rPr lang="en-US" dirty="0"/>
              <a:t> </a:t>
            </a:r>
            <a:r>
              <a:rPr lang="en-US" dirty="0" err="1"/>
              <a:t>eax</a:t>
            </a:r>
            <a:r>
              <a:rPr lang="en-US" dirty="0"/>
              <a:t>, </a:t>
            </a:r>
            <a:r>
              <a:rPr lang="en-US" dirty="0" err="1"/>
              <a:t>eax</a:t>
            </a:r>
            <a:r>
              <a:rPr lang="en-US" dirty="0"/>
              <a:t> </a:t>
            </a:r>
            <a:r>
              <a:rPr lang="ru-RU" dirty="0"/>
              <a:t>обнуляет регистр </a:t>
            </a:r>
            <a:r>
              <a:rPr lang="en-US" dirty="0"/>
              <a:t>EAX</a:t>
            </a:r>
            <a:r>
              <a:rPr lang="ru-RU" dirty="0"/>
              <a:t> – это быстрый и компактный способ на платформе </a:t>
            </a:r>
            <a:r>
              <a:rPr lang="en-US" dirty="0"/>
              <a:t>x86-64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Функции с переменным числом аргументов вроде </a:t>
            </a:r>
            <a:r>
              <a:rPr lang="en-US" dirty="0" err="1"/>
              <a:t>printf</a:t>
            </a:r>
            <a:r>
              <a:rPr lang="ru-RU" dirty="0"/>
              <a:t> принимают в </a:t>
            </a:r>
            <a:r>
              <a:rPr lang="en-US" dirty="0"/>
              <a:t>RAX</a:t>
            </a:r>
            <a:r>
              <a:rPr lang="ru-RU" dirty="0"/>
              <a:t> количество параметров, переданных в </a:t>
            </a:r>
            <a:r>
              <a:rPr lang="en-US" dirty="0"/>
              <a:t>SSE-</a:t>
            </a:r>
            <a:r>
              <a:rPr lang="ru-RU" dirty="0"/>
              <a:t>регистрах (например, так передаются аргументы с плавающей запятой).</a:t>
            </a:r>
          </a:p>
          <a:p>
            <a:r>
              <a:rPr lang="ru-RU" dirty="0"/>
              <a:t>В нашем случае – это 0.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значение регистра </a:t>
            </a:r>
            <a:r>
              <a:rPr lang="ru-RU" dirty="0" err="1"/>
              <a:t>edi</a:t>
            </a:r>
            <a:r>
              <a:rPr lang="ru-RU" dirty="0"/>
              <a:t> сохраняется в память по адресу [rsp+12]. Это создаёт копию переменной x в стеке.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необходимо потому, что функция </a:t>
            </a:r>
            <a:r>
              <a:rPr lang="ru-RU" dirty="0" err="1"/>
              <a:t>printf</a:t>
            </a:r>
            <a:r>
              <a:rPr lang="ru-RU" dirty="0"/>
              <a:t> ожидает получить адрес переменной, а не просто её значение. Поскольку исходно x находится только в регистре, его приходится явно сохранить в память, чтобы затем можно было взять его адрес.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Инструкция </a:t>
            </a:r>
            <a:r>
              <a:rPr lang="ru-RU" dirty="0" err="1"/>
              <a:t>lea</a:t>
            </a:r>
            <a:r>
              <a:rPr lang="ru-RU" dirty="0"/>
              <a:t> </a:t>
            </a:r>
            <a:r>
              <a:rPr lang="ru-RU" dirty="0" err="1"/>
              <a:t>rsi</a:t>
            </a:r>
            <a:r>
              <a:rPr lang="ru-RU" dirty="0"/>
              <a:t>, [rsp+12] вычисляет адрес этой переменной и передаёт его в качестве второго аргумента функции </a:t>
            </a:r>
            <a:r>
              <a:rPr lang="ru-RU" dirty="0" err="1"/>
              <a:t>printf</a:t>
            </a:r>
            <a:r>
              <a:rPr lang="ru-RU" dirty="0"/>
              <a:t>.</a:t>
            </a:r>
          </a:p>
          <a:p>
            <a:r>
              <a:rPr lang="ru-RU" dirty="0"/>
              <a:t>В регистр </a:t>
            </a:r>
            <a:r>
              <a:rPr lang="ru-RU" dirty="0" err="1"/>
              <a:t>edi</a:t>
            </a:r>
            <a:r>
              <a:rPr lang="ru-RU" dirty="0"/>
              <a:t> загружается адрес строки формата, после чего выполняется вызов </a:t>
            </a:r>
            <a:r>
              <a:rPr lang="ru-RU" dirty="0" err="1"/>
              <a:t>printf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возврата из </a:t>
            </a:r>
            <a:r>
              <a:rPr lang="ru-RU" dirty="0" err="1"/>
              <a:t>printf</a:t>
            </a:r>
            <a:r>
              <a:rPr lang="ru-RU" dirty="0"/>
              <a:t> выполняется инструкция </a:t>
            </a: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rsp</a:t>
            </a:r>
            <a:r>
              <a:rPr lang="ru-RU" dirty="0"/>
              <a:t>, 24, которая освобождает ранее выделенное место в стеке и восстанавливает указатель стека.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мы видим, что даже для такой простой операции, как передача адреса переменной, компилятор вынужден явно управлять стеком, размещать данные в памяти и следить за соблюдением требований соглашения о вызовах.</a:t>
            </a:r>
          </a:p>
          <a:p>
            <a:endParaRPr lang="ru-RU" dirty="0"/>
          </a:p>
          <a:p>
            <a:r>
              <a:rPr lang="ru-RU" dirty="0"/>
              <a:t>Затем выполняется </a:t>
            </a:r>
            <a:r>
              <a:rPr lang="ru-RU" dirty="0" err="1"/>
              <a:t>ret</a:t>
            </a:r>
            <a:r>
              <a:rPr lang="ru-RU" dirty="0"/>
              <a:t>. Эта инструкция извлекает из стека адрес возврата и передаёт управление обратно в функцию </a:t>
            </a:r>
            <a:r>
              <a:rPr lang="ru-RU" dirty="0" err="1"/>
              <a:t>main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Возвращаясь в </a:t>
            </a:r>
            <a:r>
              <a:rPr lang="ru-RU" dirty="0" err="1"/>
              <a:t>main</a:t>
            </a:r>
            <a:r>
              <a:rPr lang="ru-RU" dirty="0"/>
              <a:t>, выполняется инструкция </a:t>
            </a:r>
            <a:r>
              <a:rPr lang="ru-RU" dirty="0" err="1"/>
              <a:t>xor</a:t>
            </a:r>
            <a:r>
              <a:rPr lang="ru-RU" dirty="0"/>
              <a:t> </a:t>
            </a:r>
            <a:r>
              <a:rPr lang="ru-RU" dirty="0" err="1"/>
              <a:t>eax</a:t>
            </a:r>
            <a:r>
              <a:rPr lang="ru-RU" dirty="0"/>
              <a:t>, </a:t>
            </a:r>
            <a:r>
              <a:rPr lang="ru-RU" dirty="0" err="1"/>
              <a:t>eax</a:t>
            </a:r>
            <a:r>
              <a:rPr lang="ru-RU" dirty="0"/>
              <a:t>, которая подготавливает возвращаемое значение 0.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Затем выполняется инструкция </a:t>
            </a:r>
            <a:r>
              <a:rPr lang="ru-RU" dirty="0" err="1"/>
              <a:t>pop</a:t>
            </a:r>
            <a:r>
              <a:rPr lang="ru-RU" dirty="0"/>
              <a:t> </a:t>
            </a:r>
            <a:r>
              <a:rPr lang="ru-RU" dirty="0" err="1"/>
              <a:t>rdx</a:t>
            </a:r>
            <a:r>
              <a:rPr lang="ru-RU" dirty="0"/>
              <a:t>. Она симметрична ранее выполненному </a:t>
            </a:r>
            <a:r>
              <a:rPr lang="ru-RU" dirty="0" err="1"/>
              <a:t>push</a:t>
            </a:r>
            <a:r>
              <a:rPr lang="ru-RU" dirty="0"/>
              <a:t> и используется для восстановления указателя стека в исходное состояние. При этом конкретный регистр, в который извлекается значение, не имеет значения, так как само значение нам не нужно — важно лишь корректно сдвинуть указатель стека обратно.</a:t>
            </a:r>
          </a:p>
          <a:p>
            <a:r>
              <a:rPr lang="ru-RU" dirty="0"/>
              <a:t>Таким образом, инструкции </a:t>
            </a:r>
            <a:r>
              <a:rPr lang="ru-RU" dirty="0" err="1"/>
              <a:t>push</a:t>
            </a:r>
            <a:r>
              <a:rPr lang="ru-RU" dirty="0"/>
              <a:t> и </a:t>
            </a:r>
            <a:r>
              <a:rPr lang="ru-RU" dirty="0" err="1"/>
              <a:t>pop</a:t>
            </a:r>
            <a:r>
              <a:rPr lang="ru-RU" dirty="0"/>
              <a:t> в данном случае используются не для сохранения данных, а для соблюдения требований соглашения о вызовах и корректного выравнивания стека.</a:t>
            </a:r>
          </a:p>
          <a:p>
            <a:endParaRPr lang="ru-RU" dirty="0"/>
          </a:p>
          <a:p>
            <a:r>
              <a:rPr lang="ru-RU" dirty="0"/>
              <a:t>И, наконец, инструкция </a:t>
            </a:r>
            <a:r>
              <a:rPr lang="ru-RU" dirty="0" err="1"/>
              <a:t>ret</a:t>
            </a:r>
            <a:r>
              <a:rPr lang="ru-RU" dirty="0"/>
              <a:t> завершает выполнение программы и возвращает управление операционной системе.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мы видим, что вызов функции на уровне ассемблера — это последовательность операций по передаче аргументов через регистры, работе со стеком и переходу по адресу, сохранённому в стеке.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16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обсуждали, где находятся данные в памяти. Теперь важно понять, как долго они там находятся.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Любой объект в программе имеет время жизни. Это период, в течение которого объект существует и может быть корректно использован.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Объект создаётся, затем используется в программе, а после этого его время жизни заканчивается, и память может быть использована повторно.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Ключевой момент заключается в том, что после завершения времени жизни объекта доступ к нему становится некорректным, даже если физически данные ещё остаются в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одна из наиболее распространённых причин ошибок в программах на языке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50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 жизни объекта напрямую связано с тем, в какой области памяти он размещён.</a:t>
            </a:r>
          </a:p>
          <a:p>
            <a:endParaRPr lang="ru-RU" dirty="0"/>
          </a:p>
          <a:p>
            <a:r>
              <a:rPr lang="ru-RU" dirty="0"/>
              <a:t>Локальные переменные логически относятся к стеку, так как их время жизни ограничено выполнением функции. Однако важно понимать, что физически они не всегда располагаются именно в памяти стека.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Современные компиляторы могут размещать локальные переменные в регистрах процессора, если это возможно. Это делается для повышения производительности. Тем не менее, их время жизни по-прежнему определяется временем выполнения функции.</a:t>
            </a:r>
          </a:p>
          <a:p>
            <a:endParaRPr lang="ru-RU" dirty="0"/>
          </a:p>
          <a:p>
            <a:r>
              <a:rPr lang="ru-RU" dirty="0"/>
              <a:t>Динамическая память размещается в куче. В этом случае время жизни объекта определяется программистом. Объект существует до тех пор, пока не будет явно освобождён с помощью функции </a:t>
            </a:r>
            <a:r>
              <a:rPr lang="ru-RU" dirty="0" err="1"/>
              <a:t>free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Глобальные и статические переменные размещаются в сегментах </a:t>
            </a:r>
            <a:r>
              <a:rPr lang="ru-RU" dirty="0" err="1"/>
              <a:t>data</a:t>
            </a:r>
            <a:r>
              <a:rPr lang="ru-RU" dirty="0"/>
              <a:t> и BSS. Их время жизни совпадает со временем работы всей программы.</a:t>
            </a:r>
          </a:p>
          <a:p>
            <a:endParaRPr lang="ru-RU" dirty="0"/>
          </a:p>
          <a:p>
            <a:r>
              <a:rPr lang="ru-RU" dirty="0"/>
              <a:t>Очень важно понимать, что наличие адреса не означает, что объект всё ещё существует. Указатель может указывать на область памяти, в которой объект уже уничтожен.</a:t>
            </a:r>
          </a:p>
          <a:p>
            <a:endParaRPr lang="ru-RU" dirty="0"/>
          </a:p>
          <a:p>
            <a:r>
              <a:rPr lang="ru-RU" dirty="0"/>
              <a:t>Именно это различие между адресом и временем жизни лежит в основе многих ошибок, таких как использование освобождённой памяти или возврат указателя на локальную переменную.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18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пример, который демонстрирует одну из классических ошибок, связанных с временем жизни объектов.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dirty="0" err="1"/>
              <a:t>get_ptr</a:t>
            </a:r>
            <a:r>
              <a:rPr lang="ru-RU" dirty="0"/>
              <a:t> создаёт локальную переменную x и возвращает указатель на неё. На первый взгляд это может выглядеть корректно, так как мы действительно возвращаем адрес переменной.</a:t>
            </a:r>
          </a:p>
          <a:p>
            <a:r>
              <a:rPr lang="ru-RU" dirty="0"/>
              <a:t>Однако переменная x размещена в стеке и её время жизни ограничено выполнением функции </a:t>
            </a:r>
            <a:r>
              <a:rPr lang="ru-RU" dirty="0" err="1"/>
              <a:t>get_ptr</a:t>
            </a:r>
            <a:r>
              <a:rPr lang="ru-RU" dirty="0"/>
              <a:t>. Как только функция завершает работу, её стековый кадр удаляется, и переменная перестаёт существовать.</a:t>
            </a:r>
          </a:p>
          <a:p>
            <a:endParaRPr lang="ru-RU" dirty="0"/>
          </a:p>
          <a:p>
            <a:r>
              <a:rPr lang="ru-RU" dirty="0"/>
              <a:t>Тем не менее, возвращаемый указатель продолжает указывать на ту же область памяти. Такой указатель называется висячим, или </a:t>
            </a:r>
            <a:r>
              <a:rPr lang="ru-RU" dirty="0" err="1"/>
              <a:t>dangling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.</a:t>
            </a:r>
          </a:p>
          <a:p>
            <a:r>
              <a:rPr lang="ru-RU" dirty="0"/>
              <a:t>В функции </a:t>
            </a:r>
            <a:r>
              <a:rPr lang="ru-RU" dirty="0" err="1"/>
              <a:t>main</a:t>
            </a:r>
            <a:r>
              <a:rPr lang="ru-RU" dirty="0"/>
              <a:t> мы пытаемся </a:t>
            </a:r>
            <a:r>
              <a:rPr lang="ru-RU" dirty="0" err="1"/>
              <a:t>разыменовать</a:t>
            </a:r>
            <a:r>
              <a:rPr lang="ru-RU" dirty="0"/>
              <a:t> этот указатель. С точки зрения языка C это является неопределённым поведением.</a:t>
            </a:r>
          </a:p>
          <a:p>
            <a:r>
              <a:rPr lang="ru-RU" dirty="0"/>
              <a:t>Это означает, что программа может вывести какое-то значение, может вывести мусор, может </a:t>
            </a:r>
            <a:r>
              <a:rPr lang="ru-RU" dirty="0" err="1"/>
              <a:t>аварийно</a:t>
            </a:r>
            <a:r>
              <a:rPr lang="ru-RU" dirty="0"/>
              <a:t> завершиться, а может, на первый взгляд, «работать правильно». Никаких гарантий стандарт языка не даёт.</a:t>
            </a:r>
          </a:p>
          <a:p>
            <a:endParaRPr lang="ru-RU" dirty="0"/>
          </a:p>
          <a:p>
            <a:r>
              <a:rPr lang="ru-RU" dirty="0"/>
              <a:t>Причина в том, что мы обращаемся к объекту, время жизни которого уже завершилось. Несмотря на то, что данные физически могут оставаться в памяти, с точки зрения модели языка этот объект больше не существует.</a:t>
            </a:r>
          </a:p>
          <a:p>
            <a:endParaRPr lang="ru-RU" dirty="0"/>
          </a:p>
          <a:p>
            <a:r>
              <a:rPr lang="ru-RU" dirty="0"/>
              <a:t>Это один из фундаментальных примеров, показывающих, почему необходимо учитывать время жизни объектов при работе с указателями.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44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в основном объекты, время жизни которых ограничено выполнением функции или всей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в реальных программах часто требуется создавать объекты, которые должны существовать дольше, чем текущий вызов функции. Для этого используется динамическая память, или куча.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Куча представляет собой область памяти, управление которой осуществляется вручную. Программист явно запрашивает память с помощью функций </a:t>
            </a:r>
            <a:r>
              <a:rPr lang="ru-RU" dirty="0" err="1"/>
              <a:t>malloc</a:t>
            </a:r>
            <a:r>
              <a:rPr lang="ru-RU" dirty="0"/>
              <a:t> или </a:t>
            </a:r>
            <a:r>
              <a:rPr lang="ru-RU" dirty="0" err="1"/>
              <a:t>calloc</a:t>
            </a:r>
            <a:r>
              <a:rPr lang="ru-RU" dirty="0"/>
              <a:t> и так же явно освобождает её с помощью функции </a:t>
            </a:r>
            <a:r>
              <a:rPr lang="ru-RU" dirty="0" err="1"/>
              <a:t>free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стека, время жизни объектов в куче не привязано к области видимости или времени выполнения функции. Объект существует до тех пор, пока программист не освободит память.</a:t>
            </a:r>
          </a:p>
          <a:p>
            <a:r>
              <a:rPr lang="ru-RU" dirty="0"/>
              <a:t>Это даёт гибкость, но одновременно накладывает ответственность за корректное управление памятью.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47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с динамической памятью связана с рядом типичных ошибок.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программист выделяет память, но забывает её освободить, возникает утечка памяти. Со временем такие утечки могут привести к исчерпанию доступной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память освобождена, но указатель на неё продолжает использоваться, возникает ошибка </a:t>
            </a:r>
            <a:r>
              <a:rPr lang="ru-RU" dirty="0" err="1"/>
              <a:t>use-after-free</a:t>
            </a:r>
            <a:r>
              <a:rPr lang="ru-RU" dirty="0"/>
              <a:t>. Это приводит к неопределённому поведению и может быть причиной серьёзных уязвимостей.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Освобождение одной и той же области памяти более одного раза также является ошибкой и может привести к повреждению внутреннего состояния менеджера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память, выделяемая с помощью </a:t>
            </a:r>
            <a:r>
              <a:rPr lang="ru-RU" dirty="0" err="1"/>
              <a:t>malloc</a:t>
            </a:r>
            <a:r>
              <a:rPr lang="ru-RU" dirty="0"/>
              <a:t>, не инициализируется, и её содержимое является неопределённым.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операции с кучей обычно медленнее, чем работа со стеком, так как требуют участия системы управления памятью.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использование динамической памяти требует аккуратности и дисциплины, но является необходимым инструментом при разработке сложных программ.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78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локальные переменные, которые создаются при входе в функцию и уничтожаются при выходе из неё.</a:t>
            </a:r>
          </a:p>
          <a:p>
            <a:endParaRPr lang="ru-RU" dirty="0"/>
          </a:p>
          <a:p>
            <a:r>
              <a:rPr lang="ru-RU" dirty="0"/>
              <a:t>Теперь рассмотрим особый вид переменных — статические переменные функций.</a:t>
            </a:r>
          </a:p>
          <a:p>
            <a:endParaRPr lang="ru-RU" dirty="0"/>
          </a:p>
          <a:p>
            <a:r>
              <a:rPr lang="ru-RU" dirty="0"/>
              <a:t>Такие переменные объявляются с использованием ключевого слова </a:t>
            </a:r>
            <a:r>
              <a:rPr lang="ru-RU" dirty="0" err="1"/>
              <a:t>static</a:t>
            </a:r>
            <a:r>
              <a:rPr lang="ru-RU" dirty="0"/>
              <a:t> внутри функции. Несмотря на то, что они находятся внутри функции, они не размещаются в стеке.</a:t>
            </a:r>
          </a:p>
          <a:p>
            <a:r>
              <a:rPr lang="ru-RU" dirty="0"/>
              <a:t>Вместо этого они располагаются в сегменте данных программы, аналогично глобальным переменным.</a:t>
            </a:r>
          </a:p>
          <a:p>
            <a:endParaRPr lang="ru-RU" dirty="0"/>
          </a:p>
          <a:p>
            <a:r>
              <a:rPr lang="ru-RU" dirty="0"/>
              <a:t>Статическая переменная создаётся один раз за всё время работы программы и не уничтожается при выходе из функции. Это означает, что она сохраняет своё значение между вызовами.</a:t>
            </a:r>
          </a:p>
          <a:p>
            <a:endParaRPr lang="ru-RU" dirty="0"/>
          </a:p>
          <a:p>
            <a:r>
              <a:rPr lang="ru-RU" dirty="0"/>
              <a:t>Кроме того, поскольку существует только один экземпляр такой переменной, её адрес остаётся постоянным независимо от того, сколько раз и откуда вызывается функция.</a:t>
            </a:r>
          </a:p>
          <a:p>
            <a:endParaRPr lang="ru-RU" dirty="0"/>
          </a:p>
          <a:p>
            <a:r>
              <a:rPr lang="ru-RU" dirty="0"/>
              <a:t>Таким образом, статические переменные позволяют хранить состояние между вызовами функции, при этом ограничивая область видимости этой переменной рамками самой функции.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08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пример, демонстрирующий поведение статической переменной внутри функции.</a:t>
            </a:r>
          </a:p>
          <a:p>
            <a:endParaRPr lang="ru-RU" dirty="0"/>
          </a:p>
          <a:p>
            <a:r>
              <a:rPr lang="ru-RU" dirty="0"/>
              <a:t>В функции B объявлена переменная x с модификатором </a:t>
            </a:r>
            <a:r>
              <a:rPr lang="ru-RU" dirty="0" err="1"/>
              <a:t>static</a:t>
            </a:r>
            <a:r>
              <a:rPr lang="ru-RU" dirty="0"/>
              <a:t> и начальным значением 0. При каждом вызове функции значение x увеличивается на единицу.</a:t>
            </a:r>
          </a:p>
          <a:p>
            <a:endParaRPr lang="ru-RU" dirty="0"/>
          </a:p>
          <a:p>
            <a:r>
              <a:rPr lang="ru-RU" dirty="0"/>
              <a:t>Важно обратить внимание на результат работы программы. При первом вызове функции B из </a:t>
            </a:r>
            <a:r>
              <a:rPr lang="ru-RU" dirty="0" err="1"/>
              <a:t>main</a:t>
            </a:r>
            <a:r>
              <a:rPr lang="ru-RU" dirty="0"/>
              <a:t> переменная x принимает значение 1.</a:t>
            </a:r>
          </a:p>
          <a:p>
            <a:r>
              <a:rPr lang="ru-RU" dirty="0"/>
              <a:t>При следующем вызове, уже из функции A, значение становится равным 2. При третьем вызове — 3.</a:t>
            </a:r>
          </a:p>
          <a:p>
            <a:endParaRPr lang="ru-RU" dirty="0"/>
          </a:p>
          <a:p>
            <a:r>
              <a:rPr lang="ru-RU" dirty="0"/>
              <a:t>Это означает, что переменная x не создаётся заново при каждом вызове функции. Вместо этого используется один и тот же экземпляр переменной, который сохраняет своё значение между вызовами.</a:t>
            </a:r>
          </a:p>
          <a:p>
            <a:endParaRPr lang="ru-RU" dirty="0"/>
          </a:p>
          <a:p>
            <a:r>
              <a:rPr lang="ru-RU" dirty="0"/>
              <a:t>Также обратите внимание на адрес переменной x. Во всех трёх вызовах он совпадает. Это подтверждает, что переменная размещена в фиксированной области памяти и не зависит от текущего состояния стека.</a:t>
            </a:r>
          </a:p>
          <a:p>
            <a:endParaRPr lang="ru-RU" dirty="0"/>
          </a:p>
          <a:p>
            <a:r>
              <a:rPr lang="ru-RU" dirty="0"/>
              <a:t>Таким образом, статическая переменная ведёт себя иначе, чем обычная локальная переменная. Она имеет область видимости внутри функции, но время жизни — на протяжении всей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хорошо иллюстрирует различие между временем жизни объекта и его областью видимости.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6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результат работы этой программы и попробуем его проанализировать.</a:t>
            </a:r>
          </a:p>
          <a:p>
            <a:endParaRPr lang="ru-RU" dirty="0"/>
          </a:p>
          <a:p>
            <a:r>
              <a:rPr lang="ru-RU" dirty="0"/>
              <a:t>На первый взгляд может показаться, что переменные, объявленные рядом в исходном коде, должны располагаться в памяти также рядом. Однако на практике это не так.</a:t>
            </a:r>
          </a:p>
          <a:p>
            <a:endParaRPr lang="ru-RU" dirty="0"/>
          </a:p>
          <a:p>
            <a:r>
              <a:rPr lang="ru-RU" dirty="0"/>
              <a:t>Глобальные переменные могут находиться на значительном расстоянии друг от друга. Это связано с тем, что они размещаются не просто «в порядке объявления», а в разных сегментах памяти. Например, неинициализированные переменные попадают в сегмент BSS, инициализированные — в сегмент </a:t>
            </a:r>
            <a:r>
              <a:rPr lang="ru-RU" dirty="0" err="1"/>
              <a:t>data</a:t>
            </a:r>
            <a:r>
              <a:rPr lang="ru-RU" dirty="0"/>
              <a:t>, а константы — в область только для чтения.</a:t>
            </a:r>
          </a:p>
          <a:p>
            <a:endParaRPr lang="ru-RU" dirty="0"/>
          </a:p>
          <a:p>
            <a:r>
              <a:rPr lang="ru-RU" dirty="0"/>
              <a:t>Эти сегменты могут быть разнесены в адресном пространстве процесса, выровнены по границам страниц памяти и организованы в соответствии с требованиями загрузчика и операционной системы. Поэтому даже переменные, стоящие рядом в коде, могут оказаться далеко друг от друга в памяти.</a:t>
            </a:r>
          </a:p>
          <a:p>
            <a:endParaRPr lang="ru-RU" dirty="0"/>
          </a:p>
          <a:p>
            <a:r>
              <a:rPr lang="ru-RU" dirty="0"/>
              <a:t>Теперь обратим внимание на адреса локальных переменных и объектов в куче. Если запустить программу несколько раз, можно заметить, что эти адреса меняются.</a:t>
            </a:r>
          </a:p>
          <a:p>
            <a:r>
              <a:rPr lang="ru-RU" dirty="0"/>
              <a:t>Для стека это связано с механизмом ASLR — Address Space </a:t>
            </a:r>
            <a:r>
              <a:rPr lang="ru-RU" dirty="0" err="1"/>
              <a:t>Layout</a:t>
            </a:r>
            <a:r>
              <a:rPr lang="ru-RU" dirty="0"/>
              <a:t> </a:t>
            </a:r>
            <a:r>
              <a:rPr lang="ru-RU" dirty="0" err="1"/>
              <a:t>Randomization</a:t>
            </a:r>
            <a:r>
              <a:rPr lang="ru-RU" dirty="0"/>
              <a:t>. Это технология, используемая операционной системой для повышения безопасности. При каждом запуске программы расположение основных областей памяти, таких как стек, куча и сегменты данных, случайным образом смещается.</a:t>
            </a:r>
          </a:p>
          <a:p>
            <a:r>
              <a:rPr lang="ru-RU" dirty="0"/>
              <a:t>Это делает более сложной эксплуатацию уязвимостей, поскольку злоумышленник не может заранее знать точные адреса в памяти.</a:t>
            </a:r>
          </a:p>
          <a:p>
            <a:endParaRPr lang="ru-RU" dirty="0"/>
          </a:p>
          <a:p>
            <a:r>
              <a:rPr lang="ru-RU" dirty="0"/>
              <a:t>Куча также подвержена влиянию ASLR, однако на её расположение влияет не только это. Во время запуска программы и её инициализации могут выполняться различные действия, включая вызовы функций стандартной библиотеки и других подключённых библиотек.</a:t>
            </a:r>
          </a:p>
          <a:p>
            <a:r>
              <a:rPr lang="ru-RU" dirty="0"/>
              <a:t>Эти компоненты могут выделять память ещё до входа в функцию </a:t>
            </a:r>
            <a:r>
              <a:rPr lang="ru-RU" dirty="0" err="1"/>
              <a:t>main</a:t>
            </a:r>
            <a:r>
              <a:rPr lang="ru-RU" dirty="0"/>
              <a:t>. Кроме того, менеджер памяти внутри </a:t>
            </a:r>
            <a:r>
              <a:rPr lang="ru-RU" dirty="0" err="1"/>
              <a:t>runtime</a:t>
            </a:r>
            <a:r>
              <a:rPr lang="ru-RU" dirty="0"/>
              <a:t>-библиотеки может принимать разные решения о размещении блоков памяти в зависимости от текущего состояния кучи.</a:t>
            </a:r>
          </a:p>
          <a:p>
            <a:r>
              <a:rPr lang="ru-RU" dirty="0"/>
              <a:t>В результате адреса, возвращаемые </a:t>
            </a:r>
            <a:r>
              <a:rPr lang="ru-RU" dirty="0" err="1"/>
              <a:t>malloc</a:t>
            </a:r>
            <a:r>
              <a:rPr lang="ru-RU" dirty="0"/>
              <a:t>, могут отличаться от запуска к запуску даже для одной и той же программы.</a:t>
            </a:r>
          </a:p>
          <a:p>
            <a:endParaRPr lang="ru-RU" dirty="0"/>
          </a:p>
          <a:p>
            <a:r>
              <a:rPr lang="ru-RU" dirty="0"/>
              <a:t>Таким образом, расположение объектов в памяти определяется не только исходным кодом, но и механизмами операционной системы, загрузчика и библиотек времени выполнения.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272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408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процессоры работают значительно быстрее, чем оперативная память. Разница в скорости может составлять десятки и даже сотни раз.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означает, что если бы процессор при каждом обращении к данным ждал ответ от оперативной памяти, большая часть времени уходила бы на ожидание, а не на выполнение инструкций.</a:t>
            </a:r>
          </a:p>
          <a:p>
            <a:endParaRPr lang="ru-RU" dirty="0"/>
          </a:p>
          <a:p>
            <a:r>
              <a:rPr lang="ru-RU" dirty="0"/>
              <a:t>Чтобы уменьшить эту разницу, используется иерархия памяти.</a:t>
            </a:r>
          </a:p>
          <a:p>
            <a:endParaRPr lang="ru-RU" dirty="0"/>
          </a:p>
          <a:p>
            <a:r>
              <a:rPr lang="ru-RU" dirty="0"/>
              <a:t>Суть этой идеи заключается в том, что между процессором и оперативной памятью добавляются промежуточные уровни памяти, которые работают быстрее, но имеют меньший объём.</a:t>
            </a:r>
          </a:p>
          <a:p>
            <a:r>
              <a:rPr lang="ru-RU" dirty="0"/>
              <a:t>Самый быстрый уровень — это регистры процессора. Они находятся непосредственно внутри процессора и используются для хранения текущих данных и промежуточных результатов.</a:t>
            </a:r>
          </a:p>
          <a:p>
            <a:r>
              <a:rPr lang="ru-RU" dirty="0"/>
              <a:t>Далее идут уровни кеш-памяти: L1, L2 и L3. Кеши расположены ближе к процессору, чем оперативная память, и обеспечивают значительно более быстрый доступ к данным.</a:t>
            </a:r>
          </a:p>
          <a:p>
            <a:endParaRPr lang="ru-RU" dirty="0"/>
          </a:p>
          <a:p>
            <a:r>
              <a:rPr lang="ru-RU" dirty="0"/>
              <a:t>Однако за эту скорость приходится платить размером. Чем быстрее память, тем она меньше. Например, объём регистров измеряется десятками или сотнями байт, кеш L1 — десятками килобайт, тогда как оперативная память — гигабайтами.</a:t>
            </a:r>
          </a:p>
          <a:p>
            <a:endParaRPr lang="ru-RU" dirty="0"/>
          </a:p>
          <a:p>
            <a:r>
              <a:rPr lang="ru-RU" dirty="0"/>
              <a:t>Ключевая идея заключается в следующем: если нужные данные уже находятся в кеше, процессор может получить к ним доступ очень быстро, практически без задержек.</a:t>
            </a:r>
          </a:p>
          <a:p>
            <a:r>
              <a:rPr lang="ru-RU" dirty="0"/>
              <a:t>Если же данных в кеше нет, происходит так называемый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, и процессор вынужден обращаться к более медленной памяти, вплоть до оперативной. В этом случае задержка доступа может увеличиться в десятки или сотни раз.</a:t>
            </a:r>
          </a:p>
          <a:p>
            <a:endParaRPr lang="ru-RU" dirty="0"/>
          </a:p>
          <a:p>
            <a:r>
              <a:rPr lang="ru-RU" dirty="0"/>
              <a:t>Важно понимать, что вся эта иерархия полностью прозрачна для программиста на уровне языка </a:t>
            </a:r>
            <a:r>
              <a:rPr lang="en-US" dirty="0"/>
              <a:t>C</a:t>
            </a:r>
            <a:r>
              <a:rPr lang="ru-RU" dirty="0"/>
              <a:t>. Мы не управляем кешами напрямую, но структура наших данных и характер доступа к ним напрямую влияют на то, насколько эффективно используется кеш.</a:t>
            </a:r>
          </a:p>
          <a:p>
            <a:endParaRPr lang="ru-RU" dirty="0"/>
          </a:p>
          <a:p>
            <a:r>
              <a:rPr lang="ru-RU" dirty="0"/>
              <a:t>Таким образом, производительность программы во многом определяется не только алгоритмами, но и тем, насколько эффективно программа взаимодействует с иерархией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267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процессор обращается к данным в памяти, он не сразу идёт в оперативную память. Сначала проверяется, находятся ли нужные данные в кеше.</a:t>
            </a:r>
          </a:p>
          <a:p>
            <a:endParaRPr lang="ru-RU" dirty="0"/>
          </a:p>
          <a:p>
            <a:r>
              <a:rPr lang="ru-RU" dirty="0"/>
              <a:t>Если данные уже есть в кеше, происходит так называемый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hit</a:t>
            </a:r>
            <a:r>
              <a:rPr lang="ru-RU" dirty="0"/>
              <a:t>. В этом случае доступ выполняется очень быстро, так как кеш находится близко к процессору и имеет малую задержку.</a:t>
            </a:r>
          </a:p>
          <a:p>
            <a:r>
              <a:rPr lang="ru-RU" dirty="0"/>
              <a:t>Если же данных в кеше нет, происходит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. Это означает, что процессору необходимо загрузить данные из следующего уровня памяти, например из L2, L3 кеша или даже из оперативной памяти.</a:t>
            </a:r>
          </a:p>
          <a:p>
            <a:endParaRPr lang="ru-RU" dirty="0"/>
          </a:p>
          <a:p>
            <a:r>
              <a:rPr lang="ru-RU" dirty="0"/>
              <a:t>Такая загрузка занимает значительно больше времени. Процессору приходится ждать, пока данные будут доставлены, и в этот момент выполнение может замедляться.</a:t>
            </a:r>
          </a:p>
          <a:p>
            <a:endParaRPr lang="ru-RU" dirty="0"/>
          </a:p>
          <a:p>
            <a:r>
              <a:rPr lang="ru-RU" dirty="0"/>
              <a:t>Важно понимать, что при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загружается не только один конкретный байт или переменная, а целый блок памяти, который называется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. Это делается для повышения вероятности того, что последующие обращения к памяти окажутся успешными.</a:t>
            </a:r>
          </a:p>
          <a:p>
            <a:endParaRPr lang="ru-RU" dirty="0"/>
          </a:p>
          <a:p>
            <a:r>
              <a:rPr lang="ru-RU" dirty="0"/>
              <a:t>Стоимость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может составлять десятки, а в случае обращения к оперативной памяти — даже сотни тактов процессора. В то время как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hit</a:t>
            </a:r>
            <a:r>
              <a:rPr lang="ru-RU" dirty="0"/>
              <a:t> может занимать всего несколько тактов.</a:t>
            </a:r>
          </a:p>
          <a:p>
            <a:r>
              <a:rPr lang="ru-RU" dirty="0"/>
              <a:t>Таким образом, разница между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hit</a:t>
            </a:r>
            <a:r>
              <a:rPr lang="ru-RU" dirty="0"/>
              <a:t> и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может быть на порядок и более.</a:t>
            </a:r>
          </a:p>
          <a:p>
            <a:endParaRPr lang="ru-RU" dirty="0"/>
          </a:p>
          <a:p>
            <a:r>
              <a:rPr lang="ru-RU" dirty="0"/>
              <a:t>Именно поэтому количество промахов кеша является одним из ключевых факторов, влияющих на производительность программы. Даже при хорошем алгоритме неэффективный доступ к памяти может существенно замедлить выполнение.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534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Производительность программ во многом зависит не только от того, какие операции выполняются, но и от того, как именно происходит доступ к данным в памяти.</a:t>
            </a:r>
          </a:p>
          <a:p>
            <a:endParaRPr lang="ru-RU" dirty="0"/>
          </a:p>
          <a:p>
            <a:r>
              <a:rPr lang="ru-RU" dirty="0"/>
              <a:t>Кеш-память работает эффективно только в том случае, если программа обладает так называемой локальностью доступа к данным.</a:t>
            </a:r>
          </a:p>
          <a:p>
            <a:endParaRPr lang="ru-RU" dirty="0"/>
          </a:p>
          <a:p>
            <a:r>
              <a:rPr lang="ru-RU" dirty="0"/>
              <a:t>Существует два основных типа локальности: пространственная и временная.</a:t>
            </a:r>
          </a:p>
          <a:p>
            <a:endParaRPr lang="ru-RU" dirty="0"/>
          </a:p>
          <a:p>
            <a:r>
              <a:rPr lang="ru-RU" dirty="0"/>
              <a:t>Пространственная локальность означает, что если программа обратилась к некоторому элементу памяти, то с высокой вероятностью в ближайшее время ей понадобятся соседние элементы. Это связано с тем, что данные часто располагаются последовательно, например, элементы массива.</a:t>
            </a:r>
          </a:p>
          <a:p>
            <a:endParaRPr lang="ru-RU" dirty="0"/>
          </a:p>
          <a:p>
            <a:r>
              <a:rPr lang="ru-RU" dirty="0"/>
              <a:t>Именно поэтому последовательный обход массива работает эффективно. Когда процессор загружает один элемент, он фактически загружает в кеш целую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, содержащую соседние элементы. Следующие обращения к этим данным будут происходить уже из кеша, то есть значительно быстрее.</a:t>
            </a:r>
          </a:p>
          <a:p>
            <a:endParaRPr lang="ru-RU" dirty="0"/>
          </a:p>
          <a:p>
            <a:r>
              <a:rPr lang="ru-RU" dirty="0"/>
              <a:t>Временная локальность означает, что если данные были использованы недавно, то, скорее всего, они будут использованы снова. Это характерно для переменных, которые участвуют в вычислениях внутри циклов или часто используемых структур данных.</a:t>
            </a:r>
          </a:p>
          <a:p>
            <a:endParaRPr lang="ru-RU" dirty="0"/>
          </a:p>
          <a:p>
            <a:r>
              <a:rPr lang="ru-RU" dirty="0"/>
              <a:t>Кеш старается удерживать недавно использованные данные, предполагая, что к ним скоро снова обратятся.</a:t>
            </a:r>
          </a:p>
          <a:p>
            <a:endParaRPr lang="ru-RU" dirty="0"/>
          </a:p>
          <a:p>
            <a:r>
              <a:rPr lang="ru-RU" dirty="0"/>
              <a:t>Если программа обладает хорошей пространственной и временной локальностью, то большинство обращений к памяти будет приводить к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hit</a:t>
            </a:r>
            <a:r>
              <a:rPr lang="ru-RU" dirty="0"/>
              <a:t>, и программа будет выполняться быстро.</a:t>
            </a:r>
          </a:p>
          <a:p>
            <a:endParaRPr lang="ru-RU" dirty="0"/>
          </a:p>
          <a:p>
            <a:r>
              <a:rPr lang="ru-RU" dirty="0"/>
              <a:t>Если же доступ к данным происходит хаотично, без локальности, кеш становится менее эффективным, увеличивается количество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, и производительность резко падает.</a:t>
            </a:r>
          </a:p>
          <a:p>
            <a:endParaRPr lang="ru-RU" dirty="0"/>
          </a:p>
          <a:p>
            <a:r>
              <a:rPr lang="ru-RU" dirty="0"/>
              <a:t>Таким образом, организация доступа к данным может быть не менее важной, чем выбор самого алгоритма.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0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универсальный подход к измерению времени выполнения функций.</a:t>
            </a:r>
          </a:p>
          <a:p>
            <a:endParaRPr lang="ru-RU" dirty="0"/>
          </a:p>
          <a:p>
            <a:r>
              <a:rPr lang="ru-RU" dirty="0"/>
              <a:t>Здесь мы используем уже знакомую нам идею — указатели на функции и передачу контекста через </a:t>
            </a:r>
            <a:r>
              <a:rPr lang="ru-RU" dirty="0" err="1"/>
              <a:t>void</a:t>
            </a:r>
            <a:r>
              <a:rPr lang="ru-RU" dirty="0"/>
              <a:t>*. На основе этого можно построить универсальный инструмент, который позволяет измерять время выполнения практически любых функций.</a:t>
            </a:r>
          </a:p>
          <a:p>
            <a:endParaRPr lang="ru-RU" dirty="0"/>
          </a:p>
          <a:p>
            <a:r>
              <a:rPr lang="ru-RU" dirty="0"/>
              <a:t>Сначала обратим внимание на функцию </a:t>
            </a:r>
            <a:r>
              <a:rPr lang="ru-RU" dirty="0" err="1"/>
              <a:t>Now</a:t>
            </a:r>
            <a:r>
              <a:rPr lang="ru-RU" dirty="0"/>
              <a:t>. Она возвращает текущее время с высокой точностью. В зависимости от платформы используются разные механизмы: на Windows — высокоточный счётчик производительности, а на Unix-подобных системах — монотонные часы.</a:t>
            </a:r>
          </a:p>
          <a:p>
            <a:endParaRPr lang="ru-RU" dirty="0"/>
          </a:p>
          <a:p>
            <a:r>
              <a:rPr lang="ru-RU" dirty="0"/>
              <a:t>Далее вводится тип </a:t>
            </a:r>
            <a:r>
              <a:rPr lang="ru-RU" dirty="0" err="1"/>
              <a:t>MeasuredFunc</a:t>
            </a:r>
            <a:r>
              <a:rPr lang="ru-RU" dirty="0"/>
              <a:t> — это указатель на функцию, которая принимает указатель на некоторый контекст типа </a:t>
            </a:r>
            <a:r>
              <a:rPr lang="ru-RU" dirty="0" err="1"/>
              <a:t>void</a:t>
            </a:r>
            <a:r>
              <a:rPr lang="ru-RU" dirty="0"/>
              <a:t>* и ничего не возвращает.</a:t>
            </a:r>
          </a:p>
          <a:p>
            <a:r>
              <a:rPr lang="ru-RU" dirty="0"/>
              <a:t>Использование </a:t>
            </a:r>
            <a:r>
              <a:rPr lang="ru-RU" dirty="0" err="1"/>
              <a:t>void</a:t>
            </a:r>
            <a:r>
              <a:rPr lang="ru-RU" dirty="0"/>
              <a:t>* позволяет передавать в такую функцию произвольные данные. Это делает интерфейс универсальным, поскольку он не зависит от конкретного типа параметров.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dirty="0" err="1"/>
              <a:t>Measure</a:t>
            </a:r>
            <a:r>
              <a:rPr lang="ru-RU" dirty="0"/>
              <a:t> принимает имя измеряемого алгоритма, указатель на функцию и указатель на контекст. Она измеряет время до и после вызова функции и выводит разницу.</a:t>
            </a:r>
          </a:p>
          <a:p>
            <a:r>
              <a:rPr lang="ru-RU" dirty="0"/>
              <a:t>Таким образом, мы получаем универсальную функцию для измерения времени работы любых алгоритмов.</a:t>
            </a:r>
          </a:p>
          <a:p>
            <a:endParaRPr lang="ru-RU" dirty="0"/>
          </a:p>
          <a:p>
            <a:r>
              <a:rPr lang="ru-RU" dirty="0"/>
              <a:t>Далее мы будем использовать этот механизм на следующих слайдах, чтобы сравнивать различные способы работы с памятью и наблюдать, как они влияют на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45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очень показательный пример влияния локальности доступа к данным на производительность программы.</a:t>
            </a:r>
          </a:p>
          <a:p>
            <a:endParaRPr lang="ru-RU" dirty="0"/>
          </a:p>
          <a:p>
            <a:r>
              <a:rPr lang="ru-RU" dirty="0"/>
              <a:t>Мы работаем с матрицей, которая хранится в памяти как один непрерывный массив. В языке C элементы матрицы располагаются построчно, то есть сначала идут элементы первой строки, затем второй и так далее.</a:t>
            </a:r>
          </a:p>
          <a:p>
            <a:endParaRPr lang="ru-RU" dirty="0"/>
          </a:p>
          <a:p>
            <a:r>
              <a:rPr lang="ru-RU" dirty="0"/>
              <a:t>Перед тем как обсуждать результаты, обратим внимание на организацию измерения времени. Наша функция </a:t>
            </a:r>
            <a:r>
              <a:rPr lang="ru-RU" dirty="0" err="1"/>
              <a:t>Measure</a:t>
            </a:r>
            <a:r>
              <a:rPr lang="ru-RU" dirty="0"/>
              <a:t> ожидает указатель на функцию с сигнатурой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(*)(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*)</a:t>
            </a:r>
            <a:r>
              <a:rPr lang="ru-RU" dirty="0"/>
              <a:t>. Однако функции </a:t>
            </a:r>
            <a:r>
              <a:rPr lang="ru-RU" dirty="0" err="1"/>
              <a:t>RowMajor</a:t>
            </a:r>
            <a:r>
              <a:rPr lang="ru-RU" dirty="0"/>
              <a:t> и </a:t>
            </a:r>
            <a:r>
              <a:rPr lang="ru-RU" dirty="0" err="1"/>
              <a:t>ColumnMajor</a:t>
            </a:r>
            <a:r>
              <a:rPr lang="ru-RU" dirty="0"/>
              <a:t> имеют другую сигнатуру — они принимают указатель на массив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</a:t>
            </a:r>
          </a:p>
          <a:p>
            <a:r>
              <a:rPr lang="ru-RU" dirty="0"/>
              <a:t>Чтобы согласовать эти интерфейсы, мы вводим структуру </a:t>
            </a:r>
            <a:r>
              <a:rPr lang="ru-RU" dirty="0" err="1"/>
              <a:t>MatrixContext</a:t>
            </a:r>
            <a:r>
              <a:rPr lang="ru-RU" dirty="0"/>
              <a:t>. В ней мы храним два элемента: указатель на функцию, которую нужно вызвать, и указатель на данные, с которыми эта функция должна работать.</a:t>
            </a:r>
          </a:p>
          <a:p>
            <a:r>
              <a:rPr lang="ru-RU" dirty="0"/>
              <a:t>Далее вводится функция </a:t>
            </a:r>
            <a:r>
              <a:rPr lang="ru-RU" dirty="0" err="1"/>
              <a:t>MatrixMeasured</a:t>
            </a:r>
            <a:r>
              <a:rPr lang="ru-RU" dirty="0"/>
              <a:t>. Она принимает универсальный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приводит его к типу </a:t>
            </a:r>
            <a:r>
              <a:rPr lang="ru-RU" dirty="0" err="1"/>
              <a:t>MatrixContext</a:t>
            </a:r>
            <a:r>
              <a:rPr lang="ru-RU" dirty="0"/>
              <a:t> и затем вызывает нужную функцию, передавая ей данные.</a:t>
            </a:r>
          </a:p>
          <a:p>
            <a:r>
              <a:rPr lang="ru-RU" dirty="0"/>
              <a:t>Таким образом, мы применяем уже знакомый нам паттерн: функция плюс контекст. Это позволяет использовать универсальную функцию </a:t>
            </a:r>
            <a:r>
              <a:rPr lang="ru-RU" dirty="0" err="1"/>
              <a:t>Measure</a:t>
            </a:r>
            <a:r>
              <a:rPr lang="ru-RU" dirty="0"/>
              <a:t> для вызова алгоритмов с произвольными параметрами.</a:t>
            </a:r>
          </a:p>
          <a:p>
            <a:endParaRPr lang="ru-RU" dirty="0"/>
          </a:p>
          <a:p>
            <a:r>
              <a:rPr lang="ru-RU" dirty="0"/>
              <a:t>Теперь вернёмся к сути примера.</a:t>
            </a:r>
          </a:p>
          <a:p>
            <a:r>
              <a:rPr lang="ru-RU" dirty="0"/>
              <a:t>В функции </a:t>
            </a:r>
            <a:r>
              <a:rPr lang="ru-RU" dirty="0" err="1"/>
              <a:t>RowMajor</a:t>
            </a:r>
            <a:r>
              <a:rPr lang="ru-RU" dirty="0"/>
              <a:t> мы обходим матрицу построчно. Это означает, что доступ к памяти происходит последовательно, по соседним адресам.</a:t>
            </a:r>
          </a:p>
          <a:p>
            <a:r>
              <a:rPr lang="ru-RU" dirty="0"/>
              <a:t>В функции </a:t>
            </a:r>
            <a:r>
              <a:rPr lang="ru-RU" dirty="0" err="1"/>
              <a:t>ColumnMajor</a:t>
            </a:r>
            <a:r>
              <a:rPr lang="ru-RU" dirty="0"/>
              <a:t> порядок обхода меняется. Мы фиксируем столбец и проходим по строкам. В результате обращения к памяти происходят с большим шагом, равным размеру строки.</a:t>
            </a:r>
          </a:p>
          <a:p>
            <a:endParaRPr lang="ru-RU" dirty="0"/>
          </a:p>
          <a:p>
            <a:r>
              <a:rPr lang="ru-RU" dirty="0"/>
              <a:t>С точки зрения логики программы обе функции делают одно и то же. Однако время выполнения отличается на порядок.</a:t>
            </a:r>
          </a:p>
          <a:p>
            <a:endParaRPr lang="ru-RU" dirty="0"/>
          </a:p>
          <a:p>
            <a:r>
              <a:rPr lang="ru-RU" dirty="0"/>
              <a:t>Причина заключается в работе кеш-памяти. В случае </a:t>
            </a:r>
            <a:r>
              <a:rPr lang="ru-RU" dirty="0" err="1"/>
              <a:t>RowMajor</a:t>
            </a:r>
            <a:r>
              <a:rPr lang="ru-RU" dirty="0"/>
              <a:t> доступ обладает хорошей пространственной локальностью. Когда процессор загружает данные в кеш, он подгружает сразу целый блок памяти, и последующие обращения попадают в кеш.</a:t>
            </a:r>
          </a:p>
          <a:p>
            <a:r>
              <a:rPr lang="ru-RU" dirty="0"/>
              <a:t>В случае </a:t>
            </a:r>
            <a:r>
              <a:rPr lang="ru-RU" dirty="0" err="1"/>
              <a:t>ColumnMajor</a:t>
            </a:r>
            <a:r>
              <a:rPr lang="ru-RU" dirty="0"/>
              <a:t> пространственная локальность нарушается. Мы обращаемся к элементам, которые находятся далеко друг от друга в памяти. Почти каждое обращение приводит к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, и процессор вынужден снова и снова обращаться к более медленным уровням памяти.</a:t>
            </a:r>
          </a:p>
          <a:p>
            <a:r>
              <a:rPr lang="ru-RU" dirty="0"/>
              <a:t>В результате программа тратит большую часть времени не на вычисления, а на ожидание данных из памяти.</a:t>
            </a:r>
          </a:p>
          <a:p>
            <a:endParaRPr lang="ru-RU" dirty="0"/>
          </a:p>
          <a:p>
            <a:r>
              <a:rPr lang="ru-RU" dirty="0"/>
              <a:t>Этот пример показывает, что даже при одинаковом количестве операций и одинаковом алгоритме порядок доступа к данным может кардинально изменить производительность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480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процессор работает с памятью не на уровне отдельных байтов или переменных, а на уровне блоков.</a:t>
            </a:r>
          </a:p>
          <a:p>
            <a:r>
              <a:rPr lang="ru-RU" dirty="0"/>
              <a:t>Когда происходит обращение к памяти, в кеш загружается не один конкретный элемент, а целый блок данных, который называется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(кеш-линия).</a:t>
            </a:r>
          </a:p>
          <a:p>
            <a:endParaRPr lang="ru-RU" dirty="0"/>
          </a:p>
          <a:p>
            <a:r>
              <a:rPr lang="ru-RU" dirty="0"/>
              <a:t>Типичный размер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составляет 64 байт, хотя он может отличаться в зависимости от архитектуры процессора. Это означает, что при обращении, например, к одному элементу массива, процессор фактически загружает в кеш сразу несколько соседних элементов.</a:t>
            </a:r>
          </a:p>
          <a:p>
            <a:endParaRPr lang="ru-RU" dirty="0"/>
          </a:p>
          <a:p>
            <a:r>
              <a:rPr lang="ru-RU" dirty="0"/>
              <a:t>На иллюстрации это показано следующим образом. Справа изображена оперативная память, а слева — кеш. Цветные полосы соответствуют отдельным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, которые были загружены из памяти в кеш.</a:t>
            </a:r>
          </a:p>
          <a:p>
            <a:r>
              <a:rPr lang="ru-RU" dirty="0"/>
              <a:t>Обратите внимание, что при загрузке одного блока из оперативной памяти в кеш переносится целая непрерывная область адресов. Это делается не случайно, а исходя из предположения о пространственной локальности.</a:t>
            </a:r>
          </a:p>
          <a:p>
            <a:endParaRPr lang="ru-RU" dirty="0"/>
          </a:p>
          <a:p>
            <a:r>
              <a:rPr lang="ru-RU" dirty="0"/>
              <a:t>Процессор предполагает, что если программа обратилась к некоторому адресу, то с высокой вероятностью она скоро обратится к соседним адресам. Поэтому выгоднее сразу загрузить их все.</a:t>
            </a:r>
          </a:p>
          <a:p>
            <a:endParaRPr lang="ru-RU" dirty="0"/>
          </a:p>
          <a:p>
            <a:r>
              <a:rPr lang="ru-RU" dirty="0"/>
              <a:t>Именно поэтому последовательный обход массива работает очень эффективно. Когда мы читаем первый элемент, в кеш загружается вся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, содержащая и следующие элементы. Последующие обращения к этим данным происходят уже без дополнительных обращений к оперативной памяти.</a:t>
            </a:r>
          </a:p>
          <a:p>
            <a:endParaRPr lang="ru-RU" dirty="0"/>
          </a:p>
          <a:p>
            <a:r>
              <a:rPr lang="ru-RU" dirty="0"/>
              <a:t>Если же доступ к данным происходит с большим шагом, например при обходе матрицы по столбцам, то каждый раз загружается новая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, а данные из предыдущих линий могут не использоваться. Это приводит к большому количеству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и снижению производительности.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является ключевым элементом, объясняющим, почему последовательный доступ к памяти работает значительно быстрее, чем случайный или разреженный доступ.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477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более тонкий эксперимент, чем пример с матрицей.</a:t>
            </a:r>
          </a:p>
          <a:p>
            <a:endParaRPr lang="ru-RU" dirty="0"/>
          </a:p>
          <a:p>
            <a:r>
              <a:rPr lang="ru-RU" dirty="0"/>
              <a:t>Здесь мы работаем с массивом размером ровно 64 байта, то есть он целиком помещается в одну кеш-линию. Кроме того, массив явно выровнен по границе кеш-линии.</a:t>
            </a:r>
          </a:p>
          <a:p>
            <a:endParaRPr lang="ru-RU" dirty="0"/>
          </a:p>
          <a:p>
            <a:r>
              <a:rPr lang="ru-RU" dirty="0"/>
              <a:t>Это означает, что после первого обращения весь массив оказывается в кеше, и дальнейшие обращения не вызывают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. Таким образом, мы исключаем влияние медленной оперативной памяти и рассматриваем только доступ внутри кеша.</a:t>
            </a:r>
          </a:p>
          <a:p>
            <a:endParaRPr lang="ru-RU" dirty="0"/>
          </a:p>
          <a:p>
            <a:r>
              <a:rPr lang="ru-RU" dirty="0"/>
              <a:t>С точки зрения организации кода, здесь используется тот же универсальный механизм измерения. В качестве контекста передаётся структура </a:t>
            </a:r>
            <a:r>
              <a:rPr lang="ru-RU" dirty="0" err="1"/>
              <a:t>SumContext</a:t>
            </a:r>
            <a:r>
              <a:rPr lang="ru-RU" dirty="0"/>
              <a:t>, которая содержит параметры x и y, определяющие способ перехода между элементами массива.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dirty="0" err="1"/>
              <a:t>SumCacheLine</a:t>
            </a:r>
            <a:r>
              <a:rPr lang="ru-RU" dirty="0"/>
              <a:t> многократно обращается к элементам массива. Индекс следующего элемента вычисляется по формуле </a:t>
            </a:r>
            <a:r>
              <a:rPr lang="ru-RU" dirty="0" err="1"/>
              <a:t>pos</a:t>
            </a:r>
            <a:r>
              <a:rPr lang="ru-RU" dirty="0"/>
              <a:t> = (</a:t>
            </a:r>
            <a:r>
              <a:rPr lang="ru-RU" dirty="0" err="1"/>
              <a:t>pos</a:t>
            </a:r>
            <a:r>
              <a:rPr lang="ru-RU" dirty="0"/>
              <a:t> * x + y) </a:t>
            </a:r>
            <a:r>
              <a:rPr lang="ru-RU" dirty="0" err="1"/>
              <a:t>mod</a:t>
            </a:r>
            <a:r>
              <a:rPr lang="ru-RU" dirty="0"/>
              <a:t> </a:t>
            </a:r>
            <a:r>
              <a:rPr lang="ru-RU" dirty="0" err="1"/>
              <a:t>sizeof</a:t>
            </a:r>
            <a:r>
              <a:rPr lang="ru-RU" dirty="0"/>
              <a:t>(</a:t>
            </a:r>
            <a:r>
              <a:rPr lang="ru-RU" dirty="0" err="1"/>
              <a:t>gData</a:t>
            </a:r>
            <a:r>
              <a:rPr lang="ru-RU" dirty="0"/>
              <a:t>). В данном случае размер </a:t>
            </a:r>
            <a:r>
              <a:rPr lang="ru-RU" dirty="0" err="1"/>
              <a:t>gData</a:t>
            </a:r>
            <a:r>
              <a:rPr lang="ru-RU" dirty="0"/>
              <a:t> равен размеру одной кеш-линии.</a:t>
            </a:r>
          </a:p>
          <a:p>
            <a:r>
              <a:rPr lang="ru-RU" dirty="0"/>
              <a:t>В случае </a:t>
            </a:r>
            <a:r>
              <a:rPr lang="ru-RU" dirty="0" err="1"/>
              <a:t>sequential</a:t>
            </a:r>
            <a:r>
              <a:rPr lang="ru-RU" dirty="0"/>
              <a:t> доступ происходит последовательно, а в случае </a:t>
            </a:r>
            <a:r>
              <a:rPr lang="ru-RU" dirty="0" err="1"/>
              <a:t>pseudo-random</a:t>
            </a:r>
            <a:r>
              <a:rPr lang="ru-RU" dirty="0"/>
              <a:t> — в псевдослучайном порядке, но всё ещё в пределах одной кеш-линии.</a:t>
            </a:r>
          </a:p>
          <a:p>
            <a:endParaRPr lang="ru-RU" dirty="0"/>
          </a:p>
          <a:p>
            <a:r>
              <a:rPr lang="ru-RU" dirty="0"/>
              <a:t>Обратите внимание на результаты. В отличие от предыдущего примера, здесь разница во времени небольшая и может даже меняться от запуска к запуску.</a:t>
            </a:r>
          </a:p>
          <a:p>
            <a:r>
              <a:rPr lang="ru-RU" dirty="0"/>
              <a:t>Это важный момент. Такие различия находятся на уровне шумов измерения. На результат влияют множество факторов: активность операционной системы, другие процессы, особенности планировщика, а также динамическое изменение частоты процессора.</a:t>
            </a:r>
          </a:p>
          <a:p>
            <a:r>
              <a:rPr lang="ru-RU" dirty="0"/>
              <a:t>Поэтому в данном эксперименте не стоит делать сильных выводов о том, что один способ доступа принципиально быстрее другого.</a:t>
            </a:r>
          </a:p>
          <a:p>
            <a:endParaRPr lang="ru-RU" dirty="0"/>
          </a:p>
          <a:p>
            <a:r>
              <a:rPr lang="ru-RU" dirty="0"/>
              <a:t>Основная идея этого примера в другом. Он показывает, что если данные уже находятся в одной кеш-линии, то порядок доступа к ним оказывает гораздо меньшее влияние на производительность, чем в случае обращения к разным кеш-линиям или к оперативной памяти.</a:t>
            </a:r>
          </a:p>
          <a:p>
            <a:endParaRPr lang="ru-RU" dirty="0"/>
          </a:p>
          <a:p>
            <a:r>
              <a:rPr lang="ru-RU" dirty="0"/>
              <a:t>Иными словами, основной выигрыш даёт попадание в кеш, а не тонкие различия в порядке обхода внутри него.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893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34F6F-18E6-6C94-2758-164F84DD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FEA34-A672-9ED8-A549-CB4F989D6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7031C-E1C2-3BFA-938D-BB041EBA4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тот же самый эксперимент, но теперь мы работаем с гораздо большим массивом.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Размер массива составляет примерно 64 мегабайта, что существенно превышает размер кешей процессора. Это означает, что данные не могут полностью поместиться в кеш, и программе приходится постоянно загружать новые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из более медленных уровней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точки зрения организации кода здесь используется тот же подход, что и на предыдущем слайде. Параметры доступа к массиву задаются через структуру </a:t>
            </a:r>
            <a:r>
              <a:rPr lang="ru-RU" dirty="0" err="1"/>
              <a:t>SumContext</a:t>
            </a:r>
            <a:r>
              <a:rPr lang="ru-RU" dirty="0"/>
              <a:t>, которая хранит коэффициенты x и y. Функция </a:t>
            </a:r>
            <a:r>
              <a:rPr lang="ru-RU" dirty="0" err="1"/>
              <a:t>SumCacheLineWithContext</a:t>
            </a:r>
            <a:r>
              <a:rPr lang="ru-RU" dirty="0"/>
              <a:t> принимает этот контекст и вызывает основную функцию </a:t>
            </a:r>
            <a:r>
              <a:rPr lang="ru-RU" dirty="0" err="1"/>
              <a:t>SumCacheLine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обратим внимание на результаты.</a:t>
            </a:r>
          </a:p>
          <a:p>
            <a:r>
              <a:rPr lang="ru-RU" dirty="0"/>
              <a:t>Время последовательного доступа практически не изменилось по сравнению с предыдущим примером, где мы работали всего с одной кеш-линией. Это очень важное наблюдение. Несмотря на то, что объём данных увеличился на порядки, время выполнения осталось примерно тем же.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Причина заключается в том, что при последовательном доступе процессор может эффективно использовать аппаратную предвыборку данных, так называемый </a:t>
            </a:r>
            <a:r>
              <a:rPr lang="ru-RU" dirty="0" err="1"/>
              <a:t>hardware</a:t>
            </a:r>
            <a:r>
              <a:rPr lang="ru-RU" dirty="0"/>
              <a:t> </a:t>
            </a:r>
            <a:r>
              <a:rPr lang="ru-RU" dirty="0" err="1"/>
              <a:t>prefetcher</a:t>
            </a:r>
            <a:r>
              <a:rPr lang="ru-RU" dirty="0"/>
              <a:t>. Он анализирует паттерн доступа и заранее подгружает следующие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в кеш, ещё до того, как программа явно к ним обратится.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результате процессор практически не ждёт данные из памяти, и выполнение идёт почти с той же скоростью, как если бы данные уже находились в кеше.</a:t>
            </a:r>
          </a:p>
          <a:p>
            <a:r>
              <a:rPr lang="ru-RU" dirty="0"/>
              <a:t>Во втором случае используется псевдослучайный порядок доступа. Здесь ситуация принципиально меняется.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Процессор не может предсказать, какие данные понадобятся дальше, поэтому механизм предвыборки становится неэффективным. Каждое обращение может приводить к загрузке новой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из оперативной памяти.</a:t>
            </a:r>
          </a:p>
          <a:p>
            <a:r>
              <a:rPr lang="ru-RU" dirty="0"/>
              <a:t>В результате время выполнения резко увеличивается.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хотя обе версии программы выполняют одинаковое количество операций, их производительность отличается в разы из-за различий в характере доступа к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наглядно показывает, что для современных процессоров важна не только вычислительная сложность алгоритма, но и то, насколько предсказуемо и локально происходит доступ к данным.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F034E-39B4-398D-17FE-D43AA0A30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656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несколько практических рекомендаций, которые позволяют писать более производительные программы с точки зрения работы с памятью.</a:t>
            </a:r>
          </a:p>
          <a:p>
            <a:endParaRPr lang="ru-RU" dirty="0"/>
          </a:p>
          <a:p>
            <a:r>
              <a:rPr lang="ru-RU" dirty="0"/>
              <a:t>Во-первых, регистры — это самый быстрый тип памяти. Однако важно понимать, что при программировании на языке C мы не управляем регистрами напрямую. Решение о размещении данных в регистрах принимает компилятор.</a:t>
            </a:r>
          </a:p>
          <a:p>
            <a:r>
              <a:rPr lang="ru-RU" dirty="0"/>
              <a:t>Мы можем лишь косвенно влиять на это, упрощая код и делая его более предсказуемым. Если требуется более точный контроль, можно анализировать сгенерированный ассемблерный код, а в критических местах — использовать ассемблер.</a:t>
            </a:r>
          </a:p>
          <a:p>
            <a:endParaRPr lang="ru-RU" dirty="0"/>
          </a:p>
          <a:p>
            <a:r>
              <a:rPr lang="ru-RU" dirty="0"/>
              <a:t>Во-вторых, важно держать данные компактными. Чем меньше памяти занимает один элемент, тем больше элементов помещается в кеш. Например, если точности типа </a:t>
            </a:r>
            <a:r>
              <a:rPr lang="ru-RU" dirty="0" err="1"/>
              <a:t>float</a:t>
            </a:r>
            <a:r>
              <a:rPr lang="ru-RU" dirty="0"/>
              <a:t> достаточно, его использование может быть предпочтительнее </a:t>
            </a:r>
            <a:r>
              <a:rPr lang="ru-RU" dirty="0" err="1"/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Также важно стремиться к последовательному размещению данных в памяти. Массивы в этом смысле предпочтительнее, чем связные структуры, такие как списки, где элементы могут быть разбросаны по памяти.</a:t>
            </a:r>
          </a:p>
          <a:p>
            <a:endParaRPr lang="ru-RU" dirty="0"/>
          </a:p>
          <a:p>
            <a:r>
              <a:rPr lang="ru-RU" dirty="0"/>
              <a:t>Отдельно стоит отметить различие между стеком и кучей. Выделение и освобождение памяти на стеке происходит значительно быстрее, чем в куче, так как стек управляется простым изменением указателя.</a:t>
            </a:r>
          </a:p>
          <a:p>
            <a:endParaRPr lang="ru-RU" dirty="0"/>
          </a:p>
          <a:p>
            <a:r>
              <a:rPr lang="ru-RU" dirty="0"/>
              <a:t>Поэтому, если объём данных небольшой и их время жизни ограничено текущей функцией, имеет смысл размещать их на стеке. Например, небольшие массивы или буферы часто лучше хранить на стеке.</a:t>
            </a:r>
          </a:p>
          <a:p>
            <a:endParaRPr lang="ru-RU" dirty="0"/>
          </a:p>
          <a:p>
            <a:r>
              <a:rPr lang="ru-RU" dirty="0"/>
              <a:t>Особенно важно избегать выделения памяти в куче внутри циклов, так как это может существенно замедлить выполнение программы.</a:t>
            </a:r>
          </a:p>
          <a:p>
            <a:endParaRPr lang="ru-RU" dirty="0"/>
          </a:p>
          <a:p>
            <a:r>
              <a:rPr lang="ru-RU" dirty="0"/>
              <a:t>Таким образом, эффективная работа с памятью требует понимания как архитектуры, так и поведения компилятора.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65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современные процессоры работают значительно быстрее памяти.</a:t>
            </a:r>
          </a:p>
          <a:p>
            <a:endParaRPr lang="ru-RU" dirty="0"/>
          </a:p>
          <a:p>
            <a:r>
              <a:rPr lang="ru-RU" dirty="0"/>
              <a:t>Это означает, что во многих случаях дешевле выполнить вычисление, чем загрузить данные из памяти.</a:t>
            </a:r>
          </a:p>
          <a:p>
            <a:endParaRPr lang="ru-RU" dirty="0"/>
          </a:p>
          <a:p>
            <a:r>
              <a:rPr lang="ru-RU" dirty="0"/>
              <a:t>Исторически программисты часто использовали приёмы вроде таблиц предвычисленных значений, чтобы ускорить вычисления.</a:t>
            </a:r>
          </a:p>
          <a:p>
            <a:endParaRPr lang="ru-RU" dirty="0"/>
          </a:p>
          <a:p>
            <a:r>
              <a:rPr lang="ru-RU" dirty="0"/>
              <a:t>Однако на современных архитектурах такие подходы могут быть неэффективны, поскольку обращение к памяти может стоить дороже, чем само вычисление.</a:t>
            </a:r>
          </a:p>
          <a:p>
            <a:endParaRPr lang="ru-RU" dirty="0"/>
          </a:p>
          <a:p>
            <a:r>
              <a:rPr lang="ru-RU" dirty="0"/>
              <a:t>Поэтому важно не полагаться на интуицию или устаревшие практики. Даже логично выглядящая оптимизация может не дать ожидаемого эффекта или даже ухудшить производительность.</a:t>
            </a:r>
          </a:p>
          <a:p>
            <a:endParaRPr lang="ru-RU" dirty="0"/>
          </a:p>
          <a:p>
            <a:r>
              <a:rPr lang="ru-RU" dirty="0"/>
              <a:t>Ключевой принцип — проверять свои предположения с помощью бенчмарков. Только измерения позволяют объективно оценить влияние тех или иных изменений.</a:t>
            </a:r>
          </a:p>
          <a:p>
            <a:endParaRPr lang="ru-RU" dirty="0"/>
          </a:p>
          <a:p>
            <a:r>
              <a:rPr lang="ru-RU" dirty="0"/>
              <a:t>Таким образом, эффективная работа с памятью требует не только понимания архитектуры, но и аккуратного экспериментального подхода.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225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блоке мы рассмотрели, как программа существует и выполняется в памяти.</a:t>
            </a:r>
          </a:p>
          <a:p>
            <a:endParaRPr lang="ru-RU" dirty="0"/>
          </a:p>
          <a:p>
            <a:r>
              <a:rPr lang="ru-RU" dirty="0"/>
              <a:t>Мы увидели, что память имеет чёткую структуру: стек, куча, сегменты данных и код. Разные объекты размещаются в разных областях, и это определяет их поведение.</a:t>
            </a:r>
          </a:p>
          <a:p>
            <a:r>
              <a:rPr lang="ru-RU" dirty="0"/>
              <a:t>Мы также обсудили время жизни объектов и то, что наличие адреса не означает, что объект всё ещё существует.</a:t>
            </a:r>
          </a:p>
          <a:p>
            <a:endParaRPr lang="ru-RU" dirty="0"/>
          </a:p>
          <a:p>
            <a:r>
              <a:rPr lang="ru-RU" dirty="0"/>
              <a:t>Далее мы перешли к более низкому уровню и рассмотрели иерархию памяти. Оказалось, что память неоднородна по скорости, и доступ к данным может стоить очень по-разному.</a:t>
            </a:r>
          </a:p>
          <a:p>
            <a:endParaRPr lang="ru-RU" dirty="0"/>
          </a:p>
          <a:p>
            <a:r>
              <a:rPr lang="ru-RU" dirty="0"/>
              <a:t>Кеш-память играет ключевую роль в производительности. Если данные находятся в кеше, доступ к ним быстрый. Если нет — процессор тратит значительное время на ожидание.</a:t>
            </a:r>
          </a:p>
          <a:p>
            <a:endParaRPr lang="ru-RU" dirty="0"/>
          </a:p>
          <a:p>
            <a:r>
              <a:rPr lang="ru-RU" dirty="0"/>
              <a:t>Мы увидели, что характер доступа к данным, то есть локальность, может кардинально влиять на время выполнения программы. Даже при одинаковом количестве операций производительность может отличаться в разы.</a:t>
            </a:r>
          </a:p>
          <a:p>
            <a:endParaRPr lang="ru-RU" dirty="0"/>
          </a:p>
          <a:p>
            <a:r>
              <a:rPr lang="ru-RU" dirty="0"/>
              <a:t>Таким образом, важно понимать, что программа — это не только алгоритм в абстрактном смысле, но и конкретный способ взаимодействия с памятью.</a:t>
            </a:r>
          </a:p>
          <a:p>
            <a:endParaRPr lang="ru-RU" dirty="0"/>
          </a:p>
          <a:p>
            <a:r>
              <a:rPr lang="ru-RU" dirty="0"/>
              <a:t>Именно сочетание вычислений и доступа к памяти определяет реальную производительность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9E61-CD8F-4EDB-89B2-A2524EC5B40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4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3592-255A-77B6-EB09-10EDD744F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70085-E2FA-BE4C-8A48-1ED1337F4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B9D4A-4E59-5301-1C5E-E207D1E5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D64A3-3C79-1AD1-4EC7-90E5F99F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6FB7C-3011-89AD-45A0-DC42AD90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2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F195-E374-92C4-F150-52E63A6E9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91FDA-00BA-9A27-B2D1-88A862B3C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BB346-0EB9-AA31-C18F-9CC94857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6411-703A-5275-DB5A-7C8C6532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497FF-BCFC-547A-9C88-F7B08C14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2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27B0-A9B1-8343-0CFE-44A1C671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3402D-43E9-0FBE-AA95-3D36BF58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8BF4B-760B-420E-FF9E-CD02356B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324C9-1C9C-4E6E-0D56-EFB2C1C6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FA3F1-6755-3F9D-DB34-BA501957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26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88B9-8CD3-601F-474F-2FB95658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8C923-22FE-45C7-53B1-4EC27A6C9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CF519-C5CB-16A1-66DB-EB69843B8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B6058-050A-2F75-84F3-B67CD545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9C212-77E1-7CD1-7BB6-A4978583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82AEF-DB79-C765-BEE7-D1EE1D82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7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E543-EBB9-DCDB-34BE-65E5270A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940E4-3D93-91A1-868A-B559DE6E1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6CCC1-5ADA-5870-9806-133E891B9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6CF02-998A-8648-C242-2BCF75AEC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98CE89-92FE-3AB0-0E2F-79F612A8B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4AB58-4E5C-E1A6-8FE9-600C7AD6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306F7-0813-DB19-97CB-2F4620BF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BBFDD-BE11-2007-2169-C356163F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8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A535-2621-CB8C-E054-871B3B27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0A426-2137-3EC4-15EB-8C469EC9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A186E-77BB-9D78-0AE7-100604B4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BDC46-E287-7471-96A8-FD8BD2A9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4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2EC18-CA2A-FADE-C63E-C1C140CC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E3477-9E40-51FA-B42C-6F71C323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42463-A577-2AA0-6598-200EF5F9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6958-8E1B-A7E1-EADE-7075BBF6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4ECFF-686E-129F-55F0-307428421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2D859-3896-E63B-8477-98D20BDF1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E84D8-2745-38F6-7679-C71299A4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67E36-F25F-C6CD-BB72-4CABFA437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793F7-0BA0-6395-B645-1BEDFC56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5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77C47-9CA2-1FFB-4D73-DDD0ED7A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6B400-7C48-0DC3-DA6E-DAC106785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653C2-AD40-0A75-99EA-D9CD33981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6B2C5-BEC4-2ED6-8A10-3D4A8D40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0F8EF-8976-7E40-206A-7DA332B4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135D1-143E-14D2-50CB-A67EB1F1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8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61AD-56FB-E652-746A-5BD64A20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24F38-A788-24D7-C443-4A5FC0F9F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F627C-3ADC-FFEF-D0E5-A4B4402F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7B8F-EA29-EE2E-FADF-79428BF5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55236-73E2-F5B4-58F1-EB790A09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1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49676-DB8B-A6E1-CD3B-2F153BE23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E2C3A-18BB-245F-6C0C-0A1A92A62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F0C8C-3BC4-498A-EEF5-D0222A755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C87CD-540C-D2A6-5282-7CC1B726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48B7E-44B5-23D3-FA07-1859DC23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0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5A8502-3492-77C8-BC49-DA4B424E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33C9F-611A-DF78-19BC-9CC4C6E29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2A733-5653-5AEA-A976-FD5189ED6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EB594-0548-4CA8-B9FA-0C1389152C0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1373B-C785-8264-7B72-3136D9D33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E7195-2CB9-9669-FF3C-645B813FB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5AD6D-3CD3-4580-8D23-F3A10C2AA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0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4681-1568-684B-ADD8-BC7885DEE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83631"/>
          </a:xfrm>
        </p:spPr>
        <p:txBody>
          <a:bodyPr/>
          <a:lstStyle/>
          <a:p>
            <a:r>
              <a:rPr lang="ru-RU" dirty="0"/>
              <a:t>Память программы под микроскопом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8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792F-B69C-0DE1-B149-95AD890F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89737-9636-73DB-6044-FBAD00CEF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Процессор выполняет программу и обрабатывает данные в памяти </a:t>
            </a:r>
          </a:p>
          <a:p>
            <a:r>
              <a:rPr lang="ru-RU" dirty="0"/>
              <a:t>Области памяти имеют разное назначение </a:t>
            </a:r>
          </a:p>
          <a:p>
            <a:pPr lvl="1"/>
            <a:r>
              <a:rPr lang="ru-RU" dirty="0"/>
              <a:t>определяется архитектурой процессора и ОС </a:t>
            </a:r>
          </a:p>
          <a:p>
            <a:r>
              <a:rPr lang="ru-RU" dirty="0"/>
              <a:t>Память неоднородна по скорости доступа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7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C742-29CA-CC19-6232-49C700DB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памяти процесса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C2243-027A-9CF8-5E40-FBFE67F14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Память процесса разбита на области</a:t>
            </a:r>
          </a:p>
          <a:p>
            <a:r>
              <a:rPr lang="ru-RU" dirty="0"/>
              <a:t>Каждая имеет своё назначение</a:t>
            </a:r>
          </a:p>
          <a:p>
            <a:r>
              <a:rPr lang="ru-RU" dirty="0"/>
              <a:t>Код и данные разделены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2A42D-B57B-5B13-8C97-BA5F95863F0C}"/>
              </a:ext>
            </a:extLst>
          </p:cNvPr>
          <p:cNvSpPr/>
          <p:nvPr/>
        </p:nvSpPr>
        <p:spPr>
          <a:xfrm>
            <a:off x="6982691" y="1690688"/>
            <a:ext cx="2310938" cy="786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CB6D84-ECD6-6FCF-F5B2-805F2EB761F1}"/>
              </a:ext>
            </a:extLst>
          </p:cNvPr>
          <p:cNvSpPr/>
          <p:nvPr/>
        </p:nvSpPr>
        <p:spPr>
          <a:xfrm>
            <a:off x="6982691" y="2477193"/>
            <a:ext cx="2310938" cy="13255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61C521-3468-1B11-F14D-E0578849912F}"/>
              </a:ext>
            </a:extLst>
          </p:cNvPr>
          <p:cNvSpPr/>
          <p:nvPr/>
        </p:nvSpPr>
        <p:spPr>
          <a:xfrm>
            <a:off x="6982691" y="3802756"/>
            <a:ext cx="2310938" cy="78650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1CA755-0EBD-EA41-1BE1-064D2C3D2EF3}"/>
              </a:ext>
            </a:extLst>
          </p:cNvPr>
          <p:cNvSpPr/>
          <p:nvPr/>
        </p:nvSpPr>
        <p:spPr>
          <a:xfrm>
            <a:off x="6982691" y="4589261"/>
            <a:ext cx="2310938" cy="7865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99EF6F-E8DD-6636-C727-0EC011B43D85}"/>
              </a:ext>
            </a:extLst>
          </p:cNvPr>
          <p:cNvSpPr/>
          <p:nvPr/>
        </p:nvSpPr>
        <p:spPr>
          <a:xfrm>
            <a:off x="6982691" y="5375766"/>
            <a:ext cx="2310938" cy="78650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24BCEE-51F3-9E6B-6CB3-A44E6E27F25F}"/>
              </a:ext>
            </a:extLst>
          </p:cNvPr>
          <p:cNvSpPr txBox="1"/>
          <p:nvPr/>
        </p:nvSpPr>
        <p:spPr>
          <a:xfrm>
            <a:off x="9376757" y="5584352"/>
            <a:ext cx="280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Код программы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C375B9-DA45-FF53-B286-F606EAEA9C39}"/>
              </a:ext>
            </a:extLst>
          </p:cNvPr>
          <p:cNvSpPr txBox="1"/>
          <p:nvPr/>
        </p:nvSpPr>
        <p:spPr>
          <a:xfrm>
            <a:off x="9293629" y="4659348"/>
            <a:ext cx="280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Инициализированные переменные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2FF8E2-855F-7A7C-F937-5E0FBBB62868}"/>
              </a:ext>
            </a:extLst>
          </p:cNvPr>
          <p:cNvSpPr txBox="1"/>
          <p:nvPr/>
        </p:nvSpPr>
        <p:spPr>
          <a:xfrm>
            <a:off x="9293629" y="3862611"/>
            <a:ext cx="280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Неинициализированные переменные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8559A-8B05-BEA9-6260-47628226DC0E}"/>
              </a:ext>
            </a:extLst>
          </p:cNvPr>
          <p:cNvSpPr txBox="1"/>
          <p:nvPr/>
        </p:nvSpPr>
        <p:spPr>
          <a:xfrm>
            <a:off x="9376757" y="2846737"/>
            <a:ext cx="280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Динамически выделенные объекты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88995F-2F29-B76D-7F1B-6383D6BE71C2}"/>
              </a:ext>
            </a:extLst>
          </p:cNvPr>
          <p:cNvSpPr txBox="1"/>
          <p:nvPr/>
        </p:nvSpPr>
        <p:spPr>
          <a:xfrm>
            <a:off x="9376757" y="1766833"/>
            <a:ext cx="280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Локальные переменные и адреса возврата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0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3228-FEE5-0D2B-0FC8-699747D3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78FF-9C72-9BDB-0B2E-5C832CBEB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Стек — область памяти для вызовов функций </a:t>
            </a:r>
          </a:p>
          <a:p>
            <a:r>
              <a:rPr lang="ru-RU" dirty="0"/>
              <a:t>Работает по принципу LIFO (</a:t>
            </a:r>
            <a:r>
              <a:rPr lang="ru-RU" dirty="0" err="1"/>
              <a:t>Last</a:t>
            </a:r>
            <a:r>
              <a:rPr lang="ru-RU" dirty="0"/>
              <a:t> In — First Out) </a:t>
            </a:r>
          </a:p>
          <a:p>
            <a:r>
              <a:rPr lang="ru-RU" dirty="0"/>
              <a:t>При вызове функции создаётся новый кадр </a:t>
            </a:r>
          </a:p>
          <a:p>
            <a:r>
              <a:rPr lang="ru-RU" dirty="0"/>
              <a:t>Кадр содержит параметры и локальные переменные </a:t>
            </a:r>
          </a:p>
          <a:p>
            <a:r>
              <a:rPr lang="ru-RU" dirty="0"/>
              <a:t>При выходе из функции кадр удаляется </a:t>
            </a:r>
          </a:p>
          <a:p>
            <a:r>
              <a:rPr lang="ru-RU" dirty="0"/>
              <a:t>Стек отражает текущую цепочку вызовов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6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D31C-5F21-13E1-8FD9-DAE074C62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и возврат из 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B556E-3612-FD02-F6C1-6D9444AB3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хранится в стеке</a:t>
            </a:r>
          </a:p>
          <a:p>
            <a:pPr lvl="1"/>
            <a:r>
              <a:rPr lang="ru-RU" dirty="0"/>
              <a:t>Параметры функции </a:t>
            </a:r>
          </a:p>
          <a:p>
            <a:pPr lvl="1"/>
            <a:r>
              <a:rPr lang="ru-RU" dirty="0"/>
              <a:t>Локальные переменные </a:t>
            </a:r>
          </a:p>
          <a:p>
            <a:pPr lvl="1"/>
            <a:r>
              <a:rPr lang="ru-RU" dirty="0"/>
              <a:t>Адрес возврата </a:t>
            </a:r>
          </a:p>
          <a:p>
            <a:pPr lvl="1"/>
            <a:r>
              <a:rPr lang="ru-RU" dirty="0"/>
              <a:t>Служебные данные (регистры, выравнивание) </a:t>
            </a:r>
          </a:p>
          <a:p>
            <a:r>
              <a:rPr lang="ru-RU" dirty="0"/>
              <a:t>Обычно стек единый для данных и адресов </a:t>
            </a:r>
          </a:p>
          <a:p>
            <a:pPr lvl="1"/>
            <a:r>
              <a:rPr lang="ru-RU" dirty="0"/>
              <a:t>В некоторых архитектурах есть отдельный стек возвратов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7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Title">
            <a:extLst>
              <a:ext uri="{FF2B5EF4-FFF2-40B4-BE49-F238E27FC236}">
                <a16:creationId xmlns:a16="http://schemas.microsoft.com/office/drawing/2014/main" id="{4E366739-AFB8-81BF-00B0-F41E38B3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работают вызовы функций</a:t>
            </a:r>
          </a:p>
        </p:txBody>
      </p:sp>
      <p:sp>
        <p:nvSpPr>
          <p:cNvPr id="8" name="!!main">
            <a:extLst>
              <a:ext uri="{FF2B5EF4-FFF2-40B4-BE49-F238E27FC236}">
                <a16:creationId xmlns:a16="http://schemas.microsoft.com/office/drawing/2014/main" id="{2E1BFF91-B260-3CCE-A1E9-9732275A427D}"/>
              </a:ext>
            </a:extLst>
          </p:cNvPr>
          <p:cNvSpPr/>
          <p:nvPr/>
        </p:nvSpPr>
        <p:spPr>
          <a:xfrm>
            <a:off x="7790020" y="2038315"/>
            <a:ext cx="2314118" cy="927114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</a:t>
            </a:r>
            <a:r>
              <a:rPr lang="en-US" sz="1600" dirty="0">
                <a:solidFill>
                  <a:schemeClr val="tx1"/>
                </a:solidFill>
              </a:rPr>
              <a:t> main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12" name="!!memory-axis">
            <a:extLst>
              <a:ext uri="{FF2B5EF4-FFF2-40B4-BE49-F238E27FC236}">
                <a16:creationId xmlns:a16="http://schemas.microsoft.com/office/drawing/2014/main" id="{72EA4C75-D2A1-011F-D62E-8E5C9A629D37}"/>
              </a:ext>
            </a:extLst>
          </p:cNvPr>
          <p:cNvCxnSpPr>
            <a:cxnSpLocks/>
          </p:cNvCxnSpPr>
          <p:nvPr/>
        </p:nvCxnSpPr>
        <p:spPr>
          <a:xfrm flipV="1">
            <a:off x="7718012" y="1596345"/>
            <a:ext cx="0" cy="5079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ack-top">
            <a:extLst>
              <a:ext uri="{FF2B5EF4-FFF2-40B4-BE49-F238E27FC236}">
                <a16:creationId xmlns:a16="http://schemas.microsoft.com/office/drawing/2014/main" id="{D98174D6-2915-2EF8-EA00-76AB6066914E}"/>
              </a:ext>
            </a:extLst>
          </p:cNvPr>
          <p:cNvCxnSpPr>
            <a:cxnSpLocks/>
          </p:cNvCxnSpPr>
          <p:nvPr/>
        </p:nvCxnSpPr>
        <p:spPr>
          <a:xfrm>
            <a:off x="7357972" y="1884375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!!main-boundary">
            <a:extLst>
              <a:ext uri="{FF2B5EF4-FFF2-40B4-BE49-F238E27FC236}">
                <a16:creationId xmlns:a16="http://schemas.microsoft.com/office/drawing/2014/main" id="{6F526E52-5E61-6BCA-BB78-D0972E51823F}"/>
              </a:ext>
            </a:extLst>
          </p:cNvPr>
          <p:cNvCxnSpPr>
            <a:cxnSpLocks/>
          </p:cNvCxnSpPr>
          <p:nvPr/>
        </p:nvCxnSpPr>
        <p:spPr>
          <a:xfrm>
            <a:off x="7357972" y="3036503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!!main">
            <a:extLst>
              <a:ext uri="{FF2B5EF4-FFF2-40B4-BE49-F238E27FC236}">
                <a16:creationId xmlns:a16="http://schemas.microsoft.com/office/drawing/2014/main" id="{21E468EC-7AF0-35F5-91FF-0E2931B5E7A6}"/>
              </a:ext>
            </a:extLst>
          </p:cNvPr>
          <p:cNvSpPr txBox="1"/>
          <p:nvPr/>
        </p:nvSpPr>
        <p:spPr>
          <a:xfrm>
            <a:off x="10146619" y="2105162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main()</a:t>
            </a:r>
            <a:endParaRPr lang="ru-RU" dirty="0"/>
          </a:p>
        </p:txBody>
      </p:sp>
      <p:grpSp>
        <p:nvGrpSpPr>
          <p:cNvPr id="37" name="!!Stack Pointer">
            <a:extLst>
              <a:ext uri="{FF2B5EF4-FFF2-40B4-BE49-F238E27FC236}">
                <a16:creationId xmlns:a16="http://schemas.microsoft.com/office/drawing/2014/main" id="{52357FE7-3041-5FB8-945A-1DAA14987D83}"/>
              </a:ext>
            </a:extLst>
          </p:cNvPr>
          <p:cNvGrpSpPr/>
          <p:nvPr/>
        </p:nvGrpSpPr>
        <p:grpSpPr>
          <a:xfrm>
            <a:off x="4675726" y="2854758"/>
            <a:ext cx="2862266" cy="369332"/>
            <a:chOff x="3894083" y="4652038"/>
            <a:chExt cx="2862266" cy="369332"/>
          </a:xfrm>
        </p:grpSpPr>
        <p:sp>
          <p:nvSpPr>
            <p:cNvPr id="19" name="Стрелка: влево 18">
              <a:extLst>
                <a:ext uri="{FF2B5EF4-FFF2-40B4-BE49-F238E27FC236}">
                  <a16:creationId xmlns:a16="http://schemas.microsoft.com/office/drawing/2014/main" id="{3BAB8C14-5ED3-4723-2897-18D7C0679FB5}"/>
                </a:ext>
              </a:extLst>
            </p:cNvPr>
            <p:cNvSpPr/>
            <p:nvPr/>
          </p:nvSpPr>
          <p:spPr>
            <a:xfrm flipH="1">
              <a:off x="6222621" y="4652038"/>
              <a:ext cx="533728" cy="3693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E588522-D6E5-C1A9-FD17-4DB638DBCA86}"/>
                </a:ext>
              </a:extLst>
            </p:cNvPr>
            <p:cNvSpPr txBox="1"/>
            <p:nvPr/>
          </p:nvSpPr>
          <p:spPr>
            <a:xfrm>
              <a:off x="3894083" y="4652038"/>
              <a:ext cx="232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Текущий кадр стека</a:t>
              </a:r>
            </a:p>
          </p:txBody>
        </p:sp>
      </p:grpSp>
      <p:sp>
        <p:nvSpPr>
          <p:cNvPr id="22" name="!!Program">
            <a:extLst>
              <a:ext uri="{FF2B5EF4-FFF2-40B4-BE49-F238E27FC236}">
                <a16:creationId xmlns:a16="http://schemas.microsoft.com/office/drawing/2014/main" id="{FB238C65-A63C-40C1-B33A-26EC6513008F}"/>
              </a:ext>
            </a:extLst>
          </p:cNvPr>
          <p:cNvSpPr txBox="1"/>
          <p:nvPr/>
        </p:nvSpPr>
        <p:spPr>
          <a:xfrm>
            <a:off x="838200" y="1690688"/>
            <a:ext cx="36369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Func2(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Func1(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Func2(a + b);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Func1();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!!Instruction Pointer">
            <a:extLst>
              <a:ext uri="{FF2B5EF4-FFF2-40B4-BE49-F238E27FC236}">
                <a16:creationId xmlns:a16="http://schemas.microsoft.com/office/drawing/2014/main" id="{53A224DF-3F27-812B-9D57-F81C78B9E3DF}"/>
              </a:ext>
            </a:extLst>
          </p:cNvPr>
          <p:cNvSpPr/>
          <p:nvPr/>
        </p:nvSpPr>
        <p:spPr>
          <a:xfrm flipH="1">
            <a:off x="103903" y="3927019"/>
            <a:ext cx="533728" cy="369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36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8D14-0F81-B69B-5F41-1CF309CA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Title">
            <a:extLst>
              <a:ext uri="{FF2B5EF4-FFF2-40B4-BE49-F238E27FC236}">
                <a16:creationId xmlns:a16="http://schemas.microsoft.com/office/drawing/2014/main" id="{A17F5948-7380-35A3-D5EE-8D2122D2B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работают вызовы функций</a:t>
            </a:r>
          </a:p>
        </p:txBody>
      </p:sp>
      <p:sp>
        <p:nvSpPr>
          <p:cNvPr id="6" name="!!func1-frame">
            <a:extLst>
              <a:ext uri="{FF2B5EF4-FFF2-40B4-BE49-F238E27FC236}">
                <a16:creationId xmlns:a16="http://schemas.microsoft.com/office/drawing/2014/main" id="{C06664E2-C081-1AFD-C247-3FE9A312769C}"/>
              </a:ext>
            </a:extLst>
          </p:cNvPr>
          <p:cNvSpPr/>
          <p:nvPr/>
        </p:nvSpPr>
        <p:spPr>
          <a:xfrm>
            <a:off x="7790020" y="3086064"/>
            <a:ext cx="2314119" cy="648072"/>
          </a:xfrm>
          <a:prstGeom prst="rect">
            <a:avLst/>
          </a:prstGeom>
          <a:solidFill>
            <a:srgbClr val="B8FD73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 </a:t>
            </a:r>
            <a:r>
              <a:rPr lang="en-US" sz="1600" dirty="0">
                <a:solidFill>
                  <a:schemeClr val="tx1"/>
                </a:solidFill>
              </a:rPr>
              <a:t>Func1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8" name="!!main">
            <a:extLst>
              <a:ext uri="{FF2B5EF4-FFF2-40B4-BE49-F238E27FC236}">
                <a16:creationId xmlns:a16="http://schemas.microsoft.com/office/drawing/2014/main" id="{2E3E5594-1D41-7A68-BA51-09F48BFEDD72}"/>
              </a:ext>
            </a:extLst>
          </p:cNvPr>
          <p:cNvSpPr/>
          <p:nvPr/>
        </p:nvSpPr>
        <p:spPr>
          <a:xfrm>
            <a:off x="7790020" y="2038315"/>
            <a:ext cx="2314118" cy="927114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</a:t>
            </a:r>
            <a:r>
              <a:rPr lang="en-US" sz="1600" dirty="0">
                <a:solidFill>
                  <a:schemeClr val="tx1"/>
                </a:solidFill>
              </a:rPr>
              <a:t> main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12" name="!!memory-axis">
            <a:extLst>
              <a:ext uri="{FF2B5EF4-FFF2-40B4-BE49-F238E27FC236}">
                <a16:creationId xmlns:a16="http://schemas.microsoft.com/office/drawing/2014/main" id="{8FD933E2-6E78-D352-B2E0-32F4E4EA0981}"/>
              </a:ext>
            </a:extLst>
          </p:cNvPr>
          <p:cNvCxnSpPr>
            <a:cxnSpLocks/>
          </p:cNvCxnSpPr>
          <p:nvPr/>
        </p:nvCxnSpPr>
        <p:spPr>
          <a:xfrm flipV="1">
            <a:off x="7718012" y="1596345"/>
            <a:ext cx="0" cy="5079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ack-top">
            <a:extLst>
              <a:ext uri="{FF2B5EF4-FFF2-40B4-BE49-F238E27FC236}">
                <a16:creationId xmlns:a16="http://schemas.microsoft.com/office/drawing/2014/main" id="{9AA5D3C5-7D66-D9B9-E98D-3F625CAB44ED}"/>
              </a:ext>
            </a:extLst>
          </p:cNvPr>
          <p:cNvCxnSpPr>
            <a:cxnSpLocks/>
          </p:cNvCxnSpPr>
          <p:nvPr/>
        </p:nvCxnSpPr>
        <p:spPr>
          <a:xfrm>
            <a:off x="7357972" y="1884375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!!main-boundary">
            <a:extLst>
              <a:ext uri="{FF2B5EF4-FFF2-40B4-BE49-F238E27FC236}">
                <a16:creationId xmlns:a16="http://schemas.microsoft.com/office/drawing/2014/main" id="{AB9A08D0-E4D7-ED9D-EACC-6CA67394C4AD}"/>
              </a:ext>
            </a:extLst>
          </p:cNvPr>
          <p:cNvCxnSpPr>
            <a:cxnSpLocks/>
          </p:cNvCxnSpPr>
          <p:nvPr/>
        </p:nvCxnSpPr>
        <p:spPr>
          <a:xfrm>
            <a:off x="7357972" y="3036503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!!Func1-boundary">
            <a:extLst>
              <a:ext uri="{FF2B5EF4-FFF2-40B4-BE49-F238E27FC236}">
                <a16:creationId xmlns:a16="http://schemas.microsoft.com/office/drawing/2014/main" id="{E3CC7AEB-8D14-D1FB-46FC-9EDCC4426AF2}"/>
              </a:ext>
            </a:extLst>
          </p:cNvPr>
          <p:cNvCxnSpPr>
            <a:cxnSpLocks/>
          </p:cNvCxnSpPr>
          <p:nvPr/>
        </p:nvCxnSpPr>
        <p:spPr>
          <a:xfrm>
            <a:off x="7357972" y="3800973"/>
            <a:ext cx="447959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!!main">
            <a:extLst>
              <a:ext uri="{FF2B5EF4-FFF2-40B4-BE49-F238E27FC236}">
                <a16:creationId xmlns:a16="http://schemas.microsoft.com/office/drawing/2014/main" id="{49D802CA-150D-E2C9-7678-E9F05296C0F6}"/>
              </a:ext>
            </a:extLst>
          </p:cNvPr>
          <p:cNvSpPr txBox="1"/>
          <p:nvPr/>
        </p:nvSpPr>
        <p:spPr>
          <a:xfrm>
            <a:off x="10146619" y="2105162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main()</a:t>
            </a:r>
            <a:endParaRPr lang="ru-RU" dirty="0"/>
          </a:p>
        </p:txBody>
      </p:sp>
      <p:sp>
        <p:nvSpPr>
          <p:cNvPr id="17" name="!!Call Func1">
            <a:extLst>
              <a:ext uri="{FF2B5EF4-FFF2-40B4-BE49-F238E27FC236}">
                <a16:creationId xmlns:a16="http://schemas.microsoft.com/office/drawing/2014/main" id="{A6AB9AD3-D48F-5BDD-1164-12B5D0D16CFA}"/>
              </a:ext>
            </a:extLst>
          </p:cNvPr>
          <p:cNvSpPr/>
          <p:nvPr/>
        </p:nvSpPr>
        <p:spPr>
          <a:xfrm>
            <a:off x="10896230" y="2335913"/>
            <a:ext cx="478714" cy="887767"/>
          </a:xfrm>
          <a:custGeom>
            <a:avLst/>
            <a:gdLst>
              <a:gd name="connsiteX0" fmla="*/ 0 w 478714"/>
              <a:gd name="connsiteY0" fmla="*/ 0 h 887767"/>
              <a:gd name="connsiteX1" fmla="*/ 470517 w 478714"/>
              <a:gd name="connsiteY1" fmla="*/ 301841 h 887767"/>
              <a:gd name="connsiteX2" fmla="*/ 301841 w 478714"/>
              <a:gd name="connsiteY2" fmla="*/ 887767 h 88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714" h="887767">
                <a:moveTo>
                  <a:pt x="0" y="0"/>
                </a:moveTo>
                <a:cubicBezTo>
                  <a:pt x="210105" y="76940"/>
                  <a:pt x="420210" y="153880"/>
                  <a:pt x="470517" y="301841"/>
                </a:cubicBezTo>
                <a:cubicBezTo>
                  <a:pt x="520824" y="449802"/>
                  <a:pt x="324035" y="756082"/>
                  <a:pt x="301841" y="887767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!!Func1">
            <a:extLst>
              <a:ext uri="{FF2B5EF4-FFF2-40B4-BE49-F238E27FC236}">
                <a16:creationId xmlns:a16="http://schemas.microsoft.com/office/drawing/2014/main" id="{5268CB1E-0108-EA0D-56C4-5BCEE1E8A280}"/>
              </a:ext>
            </a:extLst>
          </p:cNvPr>
          <p:cNvSpPr txBox="1"/>
          <p:nvPr/>
        </p:nvSpPr>
        <p:spPr>
          <a:xfrm>
            <a:off x="10146619" y="311712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Func1()</a:t>
            </a:r>
            <a:endParaRPr lang="ru-RU" dirty="0"/>
          </a:p>
        </p:txBody>
      </p:sp>
      <p:grpSp>
        <p:nvGrpSpPr>
          <p:cNvPr id="37" name="!!Stack Pointer">
            <a:extLst>
              <a:ext uri="{FF2B5EF4-FFF2-40B4-BE49-F238E27FC236}">
                <a16:creationId xmlns:a16="http://schemas.microsoft.com/office/drawing/2014/main" id="{108E8F4F-49BE-B82A-BC89-328B5E95CB23}"/>
              </a:ext>
            </a:extLst>
          </p:cNvPr>
          <p:cNvGrpSpPr/>
          <p:nvPr/>
        </p:nvGrpSpPr>
        <p:grpSpPr>
          <a:xfrm>
            <a:off x="4675726" y="3611504"/>
            <a:ext cx="2862266" cy="369332"/>
            <a:chOff x="3894083" y="4652038"/>
            <a:chExt cx="2862266" cy="369332"/>
          </a:xfrm>
        </p:grpSpPr>
        <p:sp>
          <p:nvSpPr>
            <p:cNvPr id="19" name="Стрелка: влево 18">
              <a:extLst>
                <a:ext uri="{FF2B5EF4-FFF2-40B4-BE49-F238E27FC236}">
                  <a16:creationId xmlns:a16="http://schemas.microsoft.com/office/drawing/2014/main" id="{B3C51AAB-FC2A-92F1-FB33-7A9552748B35}"/>
                </a:ext>
              </a:extLst>
            </p:cNvPr>
            <p:cNvSpPr/>
            <p:nvPr/>
          </p:nvSpPr>
          <p:spPr>
            <a:xfrm flipH="1">
              <a:off x="6222621" y="4652038"/>
              <a:ext cx="533728" cy="3693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80AB2B-CE73-3C81-56E4-CAC3AF3F99FD}"/>
                </a:ext>
              </a:extLst>
            </p:cNvPr>
            <p:cNvSpPr txBox="1"/>
            <p:nvPr/>
          </p:nvSpPr>
          <p:spPr>
            <a:xfrm>
              <a:off x="3894083" y="4652038"/>
              <a:ext cx="232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Текущий кадр стека</a:t>
              </a:r>
            </a:p>
          </p:txBody>
        </p:sp>
      </p:grpSp>
      <p:sp>
        <p:nvSpPr>
          <p:cNvPr id="22" name="!!Program">
            <a:extLst>
              <a:ext uri="{FF2B5EF4-FFF2-40B4-BE49-F238E27FC236}">
                <a16:creationId xmlns:a16="http://schemas.microsoft.com/office/drawing/2014/main" id="{A2134CCA-2A64-FE2A-D4FD-FA8A6384CE9E}"/>
              </a:ext>
            </a:extLst>
          </p:cNvPr>
          <p:cNvSpPr txBox="1"/>
          <p:nvPr/>
        </p:nvSpPr>
        <p:spPr>
          <a:xfrm>
            <a:off x="838200" y="1690688"/>
            <a:ext cx="36369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Func2(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Func1(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Func2(a + b);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Func1();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!!Instruction Pointer">
            <a:extLst>
              <a:ext uri="{FF2B5EF4-FFF2-40B4-BE49-F238E27FC236}">
                <a16:creationId xmlns:a16="http://schemas.microsoft.com/office/drawing/2014/main" id="{E1172418-7431-F9B5-0B06-A6765D51B734}"/>
              </a:ext>
            </a:extLst>
          </p:cNvPr>
          <p:cNvSpPr/>
          <p:nvPr/>
        </p:nvSpPr>
        <p:spPr>
          <a:xfrm flipH="1">
            <a:off x="103903" y="2823426"/>
            <a:ext cx="533728" cy="369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573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E565-878C-F977-8E37-F33CB62B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Title">
            <a:extLst>
              <a:ext uri="{FF2B5EF4-FFF2-40B4-BE49-F238E27FC236}">
                <a16:creationId xmlns:a16="http://schemas.microsoft.com/office/drawing/2014/main" id="{202F8C7E-7BA2-2602-E3E8-B83631B5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работают вызовы функций</a:t>
            </a:r>
          </a:p>
        </p:txBody>
      </p:sp>
      <p:sp>
        <p:nvSpPr>
          <p:cNvPr id="6" name="!!func1-frame">
            <a:extLst>
              <a:ext uri="{FF2B5EF4-FFF2-40B4-BE49-F238E27FC236}">
                <a16:creationId xmlns:a16="http://schemas.microsoft.com/office/drawing/2014/main" id="{03998AB6-4E09-9531-40D8-45BDAE02BEA0}"/>
              </a:ext>
            </a:extLst>
          </p:cNvPr>
          <p:cNvSpPr/>
          <p:nvPr/>
        </p:nvSpPr>
        <p:spPr>
          <a:xfrm>
            <a:off x="7790020" y="3086064"/>
            <a:ext cx="2314119" cy="648072"/>
          </a:xfrm>
          <a:prstGeom prst="rect">
            <a:avLst/>
          </a:prstGeom>
          <a:solidFill>
            <a:srgbClr val="B8FD73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 </a:t>
            </a:r>
            <a:r>
              <a:rPr lang="en-US" sz="1600" dirty="0">
                <a:solidFill>
                  <a:schemeClr val="tx1"/>
                </a:solidFill>
              </a:rPr>
              <a:t>Func1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!!Func2 frame">
            <a:extLst>
              <a:ext uri="{FF2B5EF4-FFF2-40B4-BE49-F238E27FC236}">
                <a16:creationId xmlns:a16="http://schemas.microsoft.com/office/drawing/2014/main" id="{38BB8154-4751-061E-24D3-4E04CB53CAF4}"/>
              </a:ext>
            </a:extLst>
          </p:cNvPr>
          <p:cNvSpPr/>
          <p:nvPr/>
        </p:nvSpPr>
        <p:spPr>
          <a:xfrm>
            <a:off x="7790020" y="3843359"/>
            <a:ext cx="2314118" cy="905985"/>
          </a:xfrm>
          <a:prstGeom prst="rect">
            <a:avLst/>
          </a:prstGeom>
          <a:solidFill>
            <a:srgbClr val="00B0F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Кадр стека функции </a:t>
            </a:r>
            <a:r>
              <a:rPr lang="en-US" sz="1600" dirty="0"/>
              <a:t>Func2</a:t>
            </a:r>
            <a:endParaRPr lang="ru-RU" sz="1600" dirty="0"/>
          </a:p>
        </p:txBody>
      </p:sp>
      <p:sp>
        <p:nvSpPr>
          <p:cNvPr id="8" name="!!main">
            <a:extLst>
              <a:ext uri="{FF2B5EF4-FFF2-40B4-BE49-F238E27FC236}">
                <a16:creationId xmlns:a16="http://schemas.microsoft.com/office/drawing/2014/main" id="{576604B2-B934-A06D-5858-6497BF98B8D6}"/>
              </a:ext>
            </a:extLst>
          </p:cNvPr>
          <p:cNvSpPr/>
          <p:nvPr/>
        </p:nvSpPr>
        <p:spPr>
          <a:xfrm>
            <a:off x="7790020" y="2038315"/>
            <a:ext cx="2314118" cy="927114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</a:t>
            </a:r>
            <a:r>
              <a:rPr lang="en-US" sz="1600" dirty="0">
                <a:solidFill>
                  <a:schemeClr val="tx1"/>
                </a:solidFill>
              </a:rPr>
              <a:t> main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1" name="!!Func2">
            <a:extLst>
              <a:ext uri="{FF2B5EF4-FFF2-40B4-BE49-F238E27FC236}">
                <a16:creationId xmlns:a16="http://schemas.microsoft.com/office/drawing/2014/main" id="{F13EA4CD-A9D1-0255-A018-025B85D71124}"/>
              </a:ext>
            </a:extLst>
          </p:cNvPr>
          <p:cNvSpPr txBox="1"/>
          <p:nvPr/>
        </p:nvSpPr>
        <p:spPr>
          <a:xfrm>
            <a:off x="10146619" y="383750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Func2()</a:t>
            </a:r>
            <a:endParaRPr lang="ru-RU" dirty="0"/>
          </a:p>
        </p:txBody>
      </p:sp>
      <p:cxnSp>
        <p:nvCxnSpPr>
          <p:cNvPr id="12" name="!!memory-axis">
            <a:extLst>
              <a:ext uri="{FF2B5EF4-FFF2-40B4-BE49-F238E27FC236}">
                <a16:creationId xmlns:a16="http://schemas.microsoft.com/office/drawing/2014/main" id="{20AAA7C4-9DB7-280D-2AA0-66BE86207E22}"/>
              </a:ext>
            </a:extLst>
          </p:cNvPr>
          <p:cNvCxnSpPr>
            <a:cxnSpLocks/>
          </p:cNvCxnSpPr>
          <p:nvPr/>
        </p:nvCxnSpPr>
        <p:spPr>
          <a:xfrm flipV="1">
            <a:off x="7718012" y="1596345"/>
            <a:ext cx="0" cy="5079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ack-top">
            <a:extLst>
              <a:ext uri="{FF2B5EF4-FFF2-40B4-BE49-F238E27FC236}">
                <a16:creationId xmlns:a16="http://schemas.microsoft.com/office/drawing/2014/main" id="{473D5130-2D6D-429F-D19D-BA611BFDA4E0}"/>
              </a:ext>
            </a:extLst>
          </p:cNvPr>
          <p:cNvCxnSpPr>
            <a:cxnSpLocks/>
          </p:cNvCxnSpPr>
          <p:nvPr/>
        </p:nvCxnSpPr>
        <p:spPr>
          <a:xfrm>
            <a:off x="7357972" y="1884375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!!main-boundary">
            <a:extLst>
              <a:ext uri="{FF2B5EF4-FFF2-40B4-BE49-F238E27FC236}">
                <a16:creationId xmlns:a16="http://schemas.microsoft.com/office/drawing/2014/main" id="{DBF8FAA3-F29D-2F4A-0F23-CDD758337D06}"/>
              </a:ext>
            </a:extLst>
          </p:cNvPr>
          <p:cNvCxnSpPr>
            <a:cxnSpLocks/>
          </p:cNvCxnSpPr>
          <p:nvPr/>
        </p:nvCxnSpPr>
        <p:spPr>
          <a:xfrm>
            <a:off x="7357972" y="3036503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!!Func1-boundary">
            <a:extLst>
              <a:ext uri="{FF2B5EF4-FFF2-40B4-BE49-F238E27FC236}">
                <a16:creationId xmlns:a16="http://schemas.microsoft.com/office/drawing/2014/main" id="{2198FB8C-4717-CBB0-38E7-E7EB30582021}"/>
              </a:ext>
            </a:extLst>
          </p:cNvPr>
          <p:cNvCxnSpPr>
            <a:cxnSpLocks/>
          </p:cNvCxnSpPr>
          <p:nvPr/>
        </p:nvCxnSpPr>
        <p:spPr>
          <a:xfrm>
            <a:off x="7357972" y="3800973"/>
            <a:ext cx="447959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!!Func2-boundary">
            <a:extLst>
              <a:ext uri="{FF2B5EF4-FFF2-40B4-BE49-F238E27FC236}">
                <a16:creationId xmlns:a16="http://schemas.microsoft.com/office/drawing/2014/main" id="{54C7753B-F403-FB42-2BF1-4FC514880659}"/>
              </a:ext>
            </a:extLst>
          </p:cNvPr>
          <p:cNvCxnSpPr>
            <a:cxnSpLocks/>
          </p:cNvCxnSpPr>
          <p:nvPr/>
        </p:nvCxnSpPr>
        <p:spPr>
          <a:xfrm>
            <a:off x="7357972" y="4836703"/>
            <a:ext cx="447959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!!main">
            <a:extLst>
              <a:ext uri="{FF2B5EF4-FFF2-40B4-BE49-F238E27FC236}">
                <a16:creationId xmlns:a16="http://schemas.microsoft.com/office/drawing/2014/main" id="{ACB2F505-496B-9A99-2A2D-90999289634F}"/>
              </a:ext>
            </a:extLst>
          </p:cNvPr>
          <p:cNvSpPr txBox="1"/>
          <p:nvPr/>
        </p:nvSpPr>
        <p:spPr>
          <a:xfrm>
            <a:off x="10146619" y="2105162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main()</a:t>
            </a:r>
            <a:endParaRPr lang="ru-RU" dirty="0"/>
          </a:p>
        </p:txBody>
      </p:sp>
      <p:sp>
        <p:nvSpPr>
          <p:cNvPr id="17" name="!!Call Func1">
            <a:extLst>
              <a:ext uri="{FF2B5EF4-FFF2-40B4-BE49-F238E27FC236}">
                <a16:creationId xmlns:a16="http://schemas.microsoft.com/office/drawing/2014/main" id="{0FA41658-CFD8-8806-228D-6DB76E8B0987}"/>
              </a:ext>
            </a:extLst>
          </p:cNvPr>
          <p:cNvSpPr/>
          <p:nvPr/>
        </p:nvSpPr>
        <p:spPr>
          <a:xfrm>
            <a:off x="10896230" y="2335913"/>
            <a:ext cx="478714" cy="887767"/>
          </a:xfrm>
          <a:custGeom>
            <a:avLst/>
            <a:gdLst>
              <a:gd name="connsiteX0" fmla="*/ 0 w 478714"/>
              <a:gd name="connsiteY0" fmla="*/ 0 h 887767"/>
              <a:gd name="connsiteX1" fmla="*/ 470517 w 478714"/>
              <a:gd name="connsiteY1" fmla="*/ 301841 h 887767"/>
              <a:gd name="connsiteX2" fmla="*/ 301841 w 478714"/>
              <a:gd name="connsiteY2" fmla="*/ 887767 h 88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714" h="887767">
                <a:moveTo>
                  <a:pt x="0" y="0"/>
                </a:moveTo>
                <a:cubicBezTo>
                  <a:pt x="210105" y="76940"/>
                  <a:pt x="420210" y="153880"/>
                  <a:pt x="470517" y="301841"/>
                </a:cubicBezTo>
                <a:cubicBezTo>
                  <a:pt x="520824" y="449802"/>
                  <a:pt x="324035" y="756082"/>
                  <a:pt x="301841" y="887767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!!Func1">
            <a:extLst>
              <a:ext uri="{FF2B5EF4-FFF2-40B4-BE49-F238E27FC236}">
                <a16:creationId xmlns:a16="http://schemas.microsoft.com/office/drawing/2014/main" id="{4905B34C-7F9A-CC49-091A-542CACFA063B}"/>
              </a:ext>
            </a:extLst>
          </p:cNvPr>
          <p:cNvSpPr txBox="1"/>
          <p:nvPr/>
        </p:nvSpPr>
        <p:spPr>
          <a:xfrm>
            <a:off x="10146619" y="311712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Func1()</a:t>
            </a:r>
            <a:endParaRPr lang="ru-RU" dirty="0"/>
          </a:p>
        </p:txBody>
      </p:sp>
      <p:sp>
        <p:nvSpPr>
          <p:cNvPr id="18" name="!!Call Func2">
            <a:extLst>
              <a:ext uri="{FF2B5EF4-FFF2-40B4-BE49-F238E27FC236}">
                <a16:creationId xmlns:a16="http://schemas.microsoft.com/office/drawing/2014/main" id="{3DA04745-4DBF-A5E4-EF84-FD614CA571C5}"/>
              </a:ext>
            </a:extLst>
          </p:cNvPr>
          <p:cNvSpPr/>
          <p:nvPr/>
        </p:nvSpPr>
        <p:spPr>
          <a:xfrm>
            <a:off x="11030380" y="3324536"/>
            <a:ext cx="311006" cy="665825"/>
          </a:xfrm>
          <a:custGeom>
            <a:avLst/>
            <a:gdLst>
              <a:gd name="connsiteX0" fmla="*/ 44389 w 311006"/>
              <a:gd name="connsiteY0" fmla="*/ 0 h 665825"/>
              <a:gd name="connsiteX1" fmla="*/ 310719 w 311006"/>
              <a:gd name="connsiteY1" fmla="*/ 266330 h 665825"/>
              <a:gd name="connsiteX2" fmla="*/ 0 w 311006"/>
              <a:gd name="connsiteY2" fmla="*/ 665825 h 665825"/>
              <a:gd name="connsiteX3" fmla="*/ 0 w 311006"/>
              <a:gd name="connsiteY3" fmla="*/ 665825 h 66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006" h="665825">
                <a:moveTo>
                  <a:pt x="44389" y="0"/>
                </a:moveTo>
                <a:cubicBezTo>
                  <a:pt x="181253" y="77679"/>
                  <a:pt x="318117" y="155359"/>
                  <a:pt x="310719" y="266330"/>
                </a:cubicBezTo>
                <a:cubicBezTo>
                  <a:pt x="303321" y="377301"/>
                  <a:pt x="0" y="665825"/>
                  <a:pt x="0" y="665825"/>
                </a:cubicBezTo>
                <a:lnTo>
                  <a:pt x="0" y="665825"/>
                </a:ln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7" name="!!Stack Pointer">
            <a:extLst>
              <a:ext uri="{FF2B5EF4-FFF2-40B4-BE49-F238E27FC236}">
                <a16:creationId xmlns:a16="http://schemas.microsoft.com/office/drawing/2014/main" id="{4F7009BE-F95C-8069-F13B-191014171276}"/>
              </a:ext>
            </a:extLst>
          </p:cNvPr>
          <p:cNvGrpSpPr/>
          <p:nvPr/>
        </p:nvGrpSpPr>
        <p:grpSpPr>
          <a:xfrm>
            <a:off x="4675726" y="4652038"/>
            <a:ext cx="2862266" cy="369332"/>
            <a:chOff x="3894083" y="4652038"/>
            <a:chExt cx="2862266" cy="369332"/>
          </a:xfrm>
        </p:grpSpPr>
        <p:sp>
          <p:nvSpPr>
            <p:cNvPr id="19" name="Стрелка: влево 18">
              <a:extLst>
                <a:ext uri="{FF2B5EF4-FFF2-40B4-BE49-F238E27FC236}">
                  <a16:creationId xmlns:a16="http://schemas.microsoft.com/office/drawing/2014/main" id="{E84C8FCD-97AC-820C-FB53-47467D1ABA4A}"/>
                </a:ext>
              </a:extLst>
            </p:cNvPr>
            <p:cNvSpPr/>
            <p:nvPr/>
          </p:nvSpPr>
          <p:spPr>
            <a:xfrm flipH="1">
              <a:off x="6222621" y="4652038"/>
              <a:ext cx="533728" cy="3693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3307B40-3FD2-EAE8-4CBB-A97614B926FD}"/>
                </a:ext>
              </a:extLst>
            </p:cNvPr>
            <p:cNvSpPr txBox="1"/>
            <p:nvPr/>
          </p:nvSpPr>
          <p:spPr>
            <a:xfrm>
              <a:off x="3894083" y="4652038"/>
              <a:ext cx="232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Текущий кадр стека</a:t>
              </a:r>
            </a:p>
          </p:txBody>
        </p:sp>
      </p:grpSp>
      <p:sp>
        <p:nvSpPr>
          <p:cNvPr id="22" name="!!Program">
            <a:extLst>
              <a:ext uri="{FF2B5EF4-FFF2-40B4-BE49-F238E27FC236}">
                <a16:creationId xmlns:a16="http://schemas.microsoft.com/office/drawing/2014/main" id="{3A5EE131-E96B-55CA-7ABC-52DBE0A63311}"/>
              </a:ext>
            </a:extLst>
          </p:cNvPr>
          <p:cNvSpPr txBox="1"/>
          <p:nvPr/>
        </p:nvSpPr>
        <p:spPr>
          <a:xfrm>
            <a:off x="838200" y="1690688"/>
            <a:ext cx="36369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Func2(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Func1(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Func2(a + b);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Func1();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!!Instruction Pointer">
            <a:extLst>
              <a:ext uri="{FF2B5EF4-FFF2-40B4-BE49-F238E27FC236}">
                <a16:creationId xmlns:a16="http://schemas.microsoft.com/office/drawing/2014/main" id="{D737E264-AAB8-0F7E-EF2A-2DFA9D3F03A8}"/>
              </a:ext>
            </a:extLst>
          </p:cNvPr>
          <p:cNvSpPr/>
          <p:nvPr/>
        </p:nvSpPr>
        <p:spPr>
          <a:xfrm flipH="1">
            <a:off x="103903" y="1830192"/>
            <a:ext cx="533728" cy="369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160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FCC7-933C-24D6-D7EF-16E8111E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Title">
            <a:extLst>
              <a:ext uri="{FF2B5EF4-FFF2-40B4-BE49-F238E27FC236}">
                <a16:creationId xmlns:a16="http://schemas.microsoft.com/office/drawing/2014/main" id="{43C4922C-DEF7-0866-8B88-65E7FB0C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работают вызовы функций</a:t>
            </a:r>
          </a:p>
        </p:txBody>
      </p:sp>
      <p:sp>
        <p:nvSpPr>
          <p:cNvPr id="6" name="!!func1-frame">
            <a:extLst>
              <a:ext uri="{FF2B5EF4-FFF2-40B4-BE49-F238E27FC236}">
                <a16:creationId xmlns:a16="http://schemas.microsoft.com/office/drawing/2014/main" id="{9C178CD9-9A91-0A14-1D08-2B6BB1E0703E}"/>
              </a:ext>
            </a:extLst>
          </p:cNvPr>
          <p:cNvSpPr/>
          <p:nvPr/>
        </p:nvSpPr>
        <p:spPr>
          <a:xfrm>
            <a:off x="7790020" y="3086064"/>
            <a:ext cx="2314119" cy="648072"/>
          </a:xfrm>
          <a:prstGeom prst="rect">
            <a:avLst/>
          </a:prstGeom>
          <a:solidFill>
            <a:srgbClr val="B8FD73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 </a:t>
            </a:r>
            <a:r>
              <a:rPr lang="en-US" sz="1600" dirty="0">
                <a:solidFill>
                  <a:schemeClr val="tx1"/>
                </a:solidFill>
              </a:rPr>
              <a:t>Func1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8" name="!!main">
            <a:extLst>
              <a:ext uri="{FF2B5EF4-FFF2-40B4-BE49-F238E27FC236}">
                <a16:creationId xmlns:a16="http://schemas.microsoft.com/office/drawing/2014/main" id="{C2FAE17D-C1D6-7118-2E72-8A2B63BAA036}"/>
              </a:ext>
            </a:extLst>
          </p:cNvPr>
          <p:cNvSpPr/>
          <p:nvPr/>
        </p:nvSpPr>
        <p:spPr>
          <a:xfrm>
            <a:off x="7790020" y="2038315"/>
            <a:ext cx="2314118" cy="927114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</a:t>
            </a:r>
            <a:r>
              <a:rPr lang="en-US" sz="1600" dirty="0">
                <a:solidFill>
                  <a:schemeClr val="tx1"/>
                </a:solidFill>
              </a:rPr>
              <a:t> main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12" name="!!memory-axis">
            <a:extLst>
              <a:ext uri="{FF2B5EF4-FFF2-40B4-BE49-F238E27FC236}">
                <a16:creationId xmlns:a16="http://schemas.microsoft.com/office/drawing/2014/main" id="{F9658CE4-E04A-C427-A346-FD1C7DEFBC69}"/>
              </a:ext>
            </a:extLst>
          </p:cNvPr>
          <p:cNvCxnSpPr>
            <a:cxnSpLocks/>
          </p:cNvCxnSpPr>
          <p:nvPr/>
        </p:nvCxnSpPr>
        <p:spPr>
          <a:xfrm flipV="1">
            <a:off x="7718012" y="1596345"/>
            <a:ext cx="0" cy="5079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ack-top">
            <a:extLst>
              <a:ext uri="{FF2B5EF4-FFF2-40B4-BE49-F238E27FC236}">
                <a16:creationId xmlns:a16="http://schemas.microsoft.com/office/drawing/2014/main" id="{906D540A-5805-FEF9-4897-853F23CEF825}"/>
              </a:ext>
            </a:extLst>
          </p:cNvPr>
          <p:cNvCxnSpPr>
            <a:cxnSpLocks/>
          </p:cNvCxnSpPr>
          <p:nvPr/>
        </p:nvCxnSpPr>
        <p:spPr>
          <a:xfrm>
            <a:off x="7357972" y="1884375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!!main-boundary">
            <a:extLst>
              <a:ext uri="{FF2B5EF4-FFF2-40B4-BE49-F238E27FC236}">
                <a16:creationId xmlns:a16="http://schemas.microsoft.com/office/drawing/2014/main" id="{4C3A4444-2C51-2C4B-AF20-17BEC3A1F2DB}"/>
              </a:ext>
            </a:extLst>
          </p:cNvPr>
          <p:cNvCxnSpPr>
            <a:cxnSpLocks/>
          </p:cNvCxnSpPr>
          <p:nvPr/>
        </p:nvCxnSpPr>
        <p:spPr>
          <a:xfrm>
            <a:off x="7357972" y="3036503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!!Func1-boundary">
            <a:extLst>
              <a:ext uri="{FF2B5EF4-FFF2-40B4-BE49-F238E27FC236}">
                <a16:creationId xmlns:a16="http://schemas.microsoft.com/office/drawing/2014/main" id="{77BC2766-F7B7-3FE7-560B-FC3AE6341CDF}"/>
              </a:ext>
            </a:extLst>
          </p:cNvPr>
          <p:cNvCxnSpPr>
            <a:cxnSpLocks/>
          </p:cNvCxnSpPr>
          <p:nvPr/>
        </p:nvCxnSpPr>
        <p:spPr>
          <a:xfrm>
            <a:off x="7357972" y="3800973"/>
            <a:ext cx="447959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!!main">
            <a:extLst>
              <a:ext uri="{FF2B5EF4-FFF2-40B4-BE49-F238E27FC236}">
                <a16:creationId xmlns:a16="http://schemas.microsoft.com/office/drawing/2014/main" id="{AA32E7ED-2F52-4FC9-20C8-51A9A39A470F}"/>
              </a:ext>
            </a:extLst>
          </p:cNvPr>
          <p:cNvSpPr txBox="1"/>
          <p:nvPr/>
        </p:nvSpPr>
        <p:spPr>
          <a:xfrm>
            <a:off x="10146619" y="2105162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main()</a:t>
            </a:r>
            <a:endParaRPr lang="ru-RU" dirty="0"/>
          </a:p>
        </p:txBody>
      </p:sp>
      <p:sp>
        <p:nvSpPr>
          <p:cNvPr id="17" name="!!Call Func1">
            <a:extLst>
              <a:ext uri="{FF2B5EF4-FFF2-40B4-BE49-F238E27FC236}">
                <a16:creationId xmlns:a16="http://schemas.microsoft.com/office/drawing/2014/main" id="{FB68F3C8-BFD3-6587-1A66-2891F7988CA4}"/>
              </a:ext>
            </a:extLst>
          </p:cNvPr>
          <p:cNvSpPr/>
          <p:nvPr/>
        </p:nvSpPr>
        <p:spPr>
          <a:xfrm>
            <a:off x="10896230" y="2335913"/>
            <a:ext cx="478714" cy="887767"/>
          </a:xfrm>
          <a:custGeom>
            <a:avLst/>
            <a:gdLst>
              <a:gd name="connsiteX0" fmla="*/ 0 w 478714"/>
              <a:gd name="connsiteY0" fmla="*/ 0 h 887767"/>
              <a:gd name="connsiteX1" fmla="*/ 470517 w 478714"/>
              <a:gd name="connsiteY1" fmla="*/ 301841 h 887767"/>
              <a:gd name="connsiteX2" fmla="*/ 301841 w 478714"/>
              <a:gd name="connsiteY2" fmla="*/ 887767 h 88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714" h="887767">
                <a:moveTo>
                  <a:pt x="0" y="0"/>
                </a:moveTo>
                <a:cubicBezTo>
                  <a:pt x="210105" y="76940"/>
                  <a:pt x="420210" y="153880"/>
                  <a:pt x="470517" y="301841"/>
                </a:cubicBezTo>
                <a:cubicBezTo>
                  <a:pt x="520824" y="449802"/>
                  <a:pt x="324035" y="756082"/>
                  <a:pt x="301841" y="887767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!!Func1">
            <a:extLst>
              <a:ext uri="{FF2B5EF4-FFF2-40B4-BE49-F238E27FC236}">
                <a16:creationId xmlns:a16="http://schemas.microsoft.com/office/drawing/2014/main" id="{16EDE30C-BF88-8716-792F-1FDDEF4E983C}"/>
              </a:ext>
            </a:extLst>
          </p:cNvPr>
          <p:cNvSpPr txBox="1"/>
          <p:nvPr/>
        </p:nvSpPr>
        <p:spPr>
          <a:xfrm>
            <a:off x="10146619" y="311712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Func1()</a:t>
            </a:r>
            <a:endParaRPr lang="ru-RU" dirty="0"/>
          </a:p>
        </p:txBody>
      </p:sp>
      <p:sp>
        <p:nvSpPr>
          <p:cNvPr id="20" name="!!Garbage">
            <a:extLst>
              <a:ext uri="{FF2B5EF4-FFF2-40B4-BE49-F238E27FC236}">
                <a16:creationId xmlns:a16="http://schemas.microsoft.com/office/drawing/2014/main" id="{F11E5494-DB85-A331-7AE6-F9B4F821EC4D}"/>
              </a:ext>
            </a:extLst>
          </p:cNvPr>
          <p:cNvSpPr/>
          <p:nvPr/>
        </p:nvSpPr>
        <p:spPr>
          <a:xfrm>
            <a:off x="7790020" y="3867811"/>
            <a:ext cx="2314113" cy="26250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Мусор от предыдущих вызовов функции</a:t>
            </a:r>
          </a:p>
        </p:txBody>
      </p:sp>
      <p:grpSp>
        <p:nvGrpSpPr>
          <p:cNvPr id="37" name="!!Stack Pointer">
            <a:extLst>
              <a:ext uri="{FF2B5EF4-FFF2-40B4-BE49-F238E27FC236}">
                <a16:creationId xmlns:a16="http://schemas.microsoft.com/office/drawing/2014/main" id="{1169B2BA-60A9-373E-5CFD-8CF5294D6D2C}"/>
              </a:ext>
            </a:extLst>
          </p:cNvPr>
          <p:cNvGrpSpPr/>
          <p:nvPr/>
        </p:nvGrpSpPr>
        <p:grpSpPr>
          <a:xfrm>
            <a:off x="4675726" y="3611509"/>
            <a:ext cx="2862266" cy="369332"/>
            <a:chOff x="3894083" y="4652038"/>
            <a:chExt cx="2862266" cy="369332"/>
          </a:xfrm>
        </p:grpSpPr>
        <p:sp>
          <p:nvSpPr>
            <p:cNvPr id="19" name="Стрелка: влево 18">
              <a:extLst>
                <a:ext uri="{FF2B5EF4-FFF2-40B4-BE49-F238E27FC236}">
                  <a16:creationId xmlns:a16="http://schemas.microsoft.com/office/drawing/2014/main" id="{920092AF-1CB2-B734-8A8C-54855B18A532}"/>
                </a:ext>
              </a:extLst>
            </p:cNvPr>
            <p:cNvSpPr/>
            <p:nvPr/>
          </p:nvSpPr>
          <p:spPr>
            <a:xfrm flipH="1">
              <a:off x="6222621" y="4652038"/>
              <a:ext cx="533728" cy="3693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B44A17-1B4D-B437-9C3D-89584AFA28C4}"/>
                </a:ext>
              </a:extLst>
            </p:cNvPr>
            <p:cNvSpPr txBox="1"/>
            <p:nvPr/>
          </p:nvSpPr>
          <p:spPr>
            <a:xfrm>
              <a:off x="3894083" y="4652038"/>
              <a:ext cx="232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Текущий кадр стека</a:t>
              </a:r>
            </a:p>
          </p:txBody>
        </p:sp>
      </p:grpSp>
      <p:sp>
        <p:nvSpPr>
          <p:cNvPr id="22" name="!!Program">
            <a:extLst>
              <a:ext uri="{FF2B5EF4-FFF2-40B4-BE49-F238E27FC236}">
                <a16:creationId xmlns:a16="http://schemas.microsoft.com/office/drawing/2014/main" id="{59712F03-6F54-C429-6194-3303367C7207}"/>
              </a:ext>
            </a:extLst>
          </p:cNvPr>
          <p:cNvSpPr txBox="1"/>
          <p:nvPr/>
        </p:nvSpPr>
        <p:spPr>
          <a:xfrm>
            <a:off x="838200" y="1690688"/>
            <a:ext cx="36369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Func2(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Func1(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Func2(a + b);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Func1();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!!Instruction Pointer">
            <a:extLst>
              <a:ext uri="{FF2B5EF4-FFF2-40B4-BE49-F238E27FC236}">
                <a16:creationId xmlns:a16="http://schemas.microsoft.com/office/drawing/2014/main" id="{3A7F6FF0-F744-DDE0-DAFA-9B7CAF3F70AA}"/>
              </a:ext>
            </a:extLst>
          </p:cNvPr>
          <p:cNvSpPr/>
          <p:nvPr/>
        </p:nvSpPr>
        <p:spPr>
          <a:xfrm flipH="1">
            <a:off x="103903" y="3075676"/>
            <a:ext cx="533728" cy="369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340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421C-C3F7-9E3A-B127-63DA54B1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Title">
            <a:extLst>
              <a:ext uri="{FF2B5EF4-FFF2-40B4-BE49-F238E27FC236}">
                <a16:creationId xmlns:a16="http://schemas.microsoft.com/office/drawing/2014/main" id="{F6B74C76-7DB6-794D-0A32-9645DE39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работают вызовы функций</a:t>
            </a:r>
          </a:p>
        </p:txBody>
      </p:sp>
      <p:sp>
        <p:nvSpPr>
          <p:cNvPr id="8" name="!!main">
            <a:extLst>
              <a:ext uri="{FF2B5EF4-FFF2-40B4-BE49-F238E27FC236}">
                <a16:creationId xmlns:a16="http://schemas.microsoft.com/office/drawing/2014/main" id="{E42BA067-BC9C-09C3-0239-134029173E33}"/>
              </a:ext>
            </a:extLst>
          </p:cNvPr>
          <p:cNvSpPr/>
          <p:nvPr/>
        </p:nvSpPr>
        <p:spPr>
          <a:xfrm>
            <a:off x="7790020" y="2038315"/>
            <a:ext cx="2314118" cy="927114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Кадр стека функции</a:t>
            </a:r>
            <a:r>
              <a:rPr lang="en-US" sz="1600" dirty="0">
                <a:solidFill>
                  <a:schemeClr val="tx1"/>
                </a:solidFill>
              </a:rPr>
              <a:t> main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12" name="!!memory-axis">
            <a:extLst>
              <a:ext uri="{FF2B5EF4-FFF2-40B4-BE49-F238E27FC236}">
                <a16:creationId xmlns:a16="http://schemas.microsoft.com/office/drawing/2014/main" id="{8E03B943-47C7-D1C0-DF6A-A0A39B5B8986}"/>
              </a:ext>
            </a:extLst>
          </p:cNvPr>
          <p:cNvCxnSpPr>
            <a:cxnSpLocks/>
          </p:cNvCxnSpPr>
          <p:nvPr/>
        </p:nvCxnSpPr>
        <p:spPr>
          <a:xfrm flipV="1">
            <a:off x="7718012" y="1596345"/>
            <a:ext cx="0" cy="5079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ack-top">
            <a:extLst>
              <a:ext uri="{FF2B5EF4-FFF2-40B4-BE49-F238E27FC236}">
                <a16:creationId xmlns:a16="http://schemas.microsoft.com/office/drawing/2014/main" id="{4480B01A-F4B1-626E-01AE-AC2BFC8B8F8C}"/>
              </a:ext>
            </a:extLst>
          </p:cNvPr>
          <p:cNvCxnSpPr>
            <a:cxnSpLocks/>
          </p:cNvCxnSpPr>
          <p:nvPr/>
        </p:nvCxnSpPr>
        <p:spPr>
          <a:xfrm>
            <a:off x="7357972" y="1884375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!!main-boundary">
            <a:extLst>
              <a:ext uri="{FF2B5EF4-FFF2-40B4-BE49-F238E27FC236}">
                <a16:creationId xmlns:a16="http://schemas.microsoft.com/office/drawing/2014/main" id="{3B9C08F6-9CA3-3B05-FFA6-C7C7F0A5B561}"/>
              </a:ext>
            </a:extLst>
          </p:cNvPr>
          <p:cNvCxnSpPr>
            <a:cxnSpLocks/>
          </p:cNvCxnSpPr>
          <p:nvPr/>
        </p:nvCxnSpPr>
        <p:spPr>
          <a:xfrm>
            <a:off x="7357972" y="3036503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!!main">
            <a:extLst>
              <a:ext uri="{FF2B5EF4-FFF2-40B4-BE49-F238E27FC236}">
                <a16:creationId xmlns:a16="http://schemas.microsoft.com/office/drawing/2014/main" id="{B3118B4D-AB6B-D6A7-6978-94D8A3EA0CEC}"/>
              </a:ext>
            </a:extLst>
          </p:cNvPr>
          <p:cNvSpPr txBox="1"/>
          <p:nvPr/>
        </p:nvSpPr>
        <p:spPr>
          <a:xfrm>
            <a:off x="10146619" y="2105162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main()</a:t>
            </a:r>
            <a:endParaRPr lang="ru-RU" dirty="0"/>
          </a:p>
        </p:txBody>
      </p:sp>
      <p:sp>
        <p:nvSpPr>
          <p:cNvPr id="20" name="!!Garbage">
            <a:extLst>
              <a:ext uri="{FF2B5EF4-FFF2-40B4-BE49-F238E27FC236}">
                <a16:creationId xmlns:a16="http://schemas.microsoft.com/office/drawing/2014/main" id="{3890E556-EBA9-E7A0-43AF-84EFECA28F1D}"/>
              </a:ext>
            </a:extLst>
          </p:cNvPr>
          <p:cNvSpPr/>
          <p:nvPr/>
        </p:nvSpPr>
        <p:spPr>
          <a:xfrm>
            <a:off x="7790020" y="3107578"/>
            <a:ext cx="2314113" cy="33852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Мусор от предыдущих вызовов функции</a:t>
            </a:r>
          </a:p>
        </p:txBody>
      </p:sp>
      <p:grpSp>
        <p:nvGrpSpPr>
          <p:cNvPr id="37" name="!!Stack Pointer">
            <a:extLst>
              <a:ext uri="{FF2B5EF4-FFF2-40B4-BE49-F238E27FC236}">
                <a16:creationId xmlns:a16="http://schemas.microsoft.com/office/drawing/2014/main" id="{2027A3BE-2CC7-AA49-FA06-12D4B4AFBC37}"/>
              </a:ext>
            </a:extLst>
          </p:cNvPr>
          <p:cNvGrpSpPr/>
          <p:nvPr/>
        </p:nvGrpSpPr>
        <p:grpSpPr>
          <a:xfrm>
            <a:off x="4675726" y="2838996"/>
            <a:ext cx="2862266" cy="369332"/>
            <a:chOff x="3894083" y="4652038"/>
            <a:chExt cx="2862266" cy="369332"/>
          </a:xfrm>
        </p:grpSpPr>
        <p:sp>
          <p:nvSpPr>
            <p:cNvPr id="19" name="Стрелка: влево 18">
              <a:extLst>
                <a:ext uri="{FF2B5EF4-FFF2-40B4-BE49-F238E27FC236}">
                  <a16:creationId xmlns:a16="http://schemas.microsoft.com/office/drawing/2014/main" id="{7B7DC57A-5F81-7C41-4F74-BB339AB983EB}"/>
                </a:ext>
              </a:extLst>
            </p:cNvPr>
            <p:cNvSpPr/>
            <p:nvPr/>
          </p:nvSpPr>
          <p:spPr>
            <a:xfrm flipH="1">
              <a:off x="6222621" y="4652038"/>
              <a:ext cx="533728" cy="3693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A65FFA-C769-D281-AE32-A60276DF982F}"/>
                </a:ext>
              </a:extLst>
            </p:cNvPr>
            <p:cNvSpPr txBox="1"/>
            <p:nvPr/>
          </p:nvSpPr>
          <p:spPr>
            <a:xfrm>
              <a:off x="3894083" y="4652038"/>
              <a:ext cx="232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Текущий кадр стека</a:t>
              </a:r>
            </a:p>
          </p:txBody>
        </p:sp>
      </p:grpSp>
      <p:sp>
        <p:nvSpPr>
          <p:cNvPr id="22" name="!!Program">
            <a:extLst>
              <a:ext uri="{FF2B5EF4-FFF2-40B4-BE49-F238E27FC236}">
                <a16:creationId xmlns:a16="http://schemas.microsoft.com/office/drawing/2014/main" id="{6BD6884C-5042-9C97-FE0C-72276F0F6880}"/>
              </a:ext>
            </a:extLst>
          </p:cNvPr>
          <p:cNvSpPr txBox="1"/>
          <p:nvPr/>
        </p:nvSpPr>
        <p:spPr>
          <a:xfrm>
            <a:off x="838200" y="1690688"/>
            <a:ext cx="36369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Func2(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Func1(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Func2(a + b);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Func1();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!!Instruction Pointer">
            <a:extLst>
              <a:ext uri="{FF2B5EF4-FFF2-40B4-BE49-F238E27FC236}">
                <a16:creationId xmlns:a16="http://schemas.microsoft.com/office/drawing/2014/main" id="{A6FD415B-BCA0-276F-9D6B-ACA1D193389D}"/>
              </a:ext>
            </a:extLst>
          </p:cNvPr>
          <p:cNvSpPr/>
          <p:nvPr/>
        </p:nvSpPr>
        <p:spPr>
          <a:xfrm flipH="1">
            <a:off x="103903" y="4163503"/>
            <a:ext cx="533728" cy="369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48E5E-C6C2-D89D-DE52-DD503590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Title">
            <a:extLst>
              <a:ext uri="{FF2B5EF4-FFF2-40B4-BE49-F238E27FC236}">
                <a16:creationId xmlns:a16="http://schemas.microsoft.com/office/drawing/2014/main" id="{ADDDE284-0FA4-EF19-2954-3DE21E5A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работают вызовы функций</a:t>
            </a:r>
          </a:p>
        </p:txBody>
      </p:sp>
      <p:cxnSp>
        <p:nvCxnSpPr>
          <p:cNvPr id="12" name="!!memory-axis">
            <a:extLst>
              <a:ext uri="{FF2B5EF4-FFF2-40B4-BE49-F238E27FC236}">
                <a16:creationId xmlns:a16="http://schemas.microsoft.com/office/drawing/2014/main" id="{BAC763B4-0DEF-7FD4-051C-99FB0AC2D629}"/>
              </a:ext>
            </a:extLst>
          </p:cNvPr>
          <p:cNvCxnSpPr>
            <a:cxnSpLocks/>
          </p:cNvCxnSpPr>
          <p:nvPr/>
        </p:nvCxnSpPr>
        <p:spPr>
          <a:xfrm flipV="1">
            <a:off x="7718012" y="1596345"/>
            <a:ext cx="0" cy="5079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!!stack-top">
            <a:extLst>
              <a:ext uri="{FF2B5EF4-FFF2-40B4-BE49-F238E27FC236}">
                <a16:creationId xmlns:a16="http://schemas.microsoft.com/office/drawing/2014/main" id="{A9ED59E2-2FF0-8AD5-B989-2DA392BB42D0}"/>
              </a:ext>
            </a:extLst>
          </p:cNvPr>
          <p:cNvCxnSpPr>
            <a:cxnSpLocks/>
          </p:cNvCxnSpPr>
          <p:nvPr/>
        </p:nvCxnSpPr>
        <p:spPr>
          <a:xfrm>
            <a:off x="7357972" y="1884375"/>
            <a:ext cx="449622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Garbage">
            <a:extLst>
              <a:ext uri="{FF2B5EF4-FFF2-40B4-BE49-F238E27FC236}">
                <a16:creationId xmlns:a16="http://schemas.microsoft.com/office/drawing/2014/main" id="{E1ED82DF-5C71-7D5A-019D-0D05278C9937}"/>
              </a:ext>
            </a:extLst>
          </p:cNvPr>
          <p:cNvSpPr/>
          <p:nvPr/>
        </p:nvSpPr>
        <p:spPr>
          <a:xfrm>
            <a:off x="7790020" y="1954924"/>
            <a:ext cx="2314113" cy="453795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Мусор от предыдущих вызовов функции</a:t>
            </a:r>
          </a:p>
        </p:txBody>
      </p:sp>
      <p:grpSp>
        <p:nvGrpSpPr>
          <p:cNvPr id="37" name="!!Stack Pointer">
            <a:extLst>
              <a:ext uri="{FF2B5EF4-FFF2-40B4-BE49-F238E27FC236}">
                <a16:creationId xmlns:a16="http://schemas.microsoft.com/office/drawing/2014/main" id="{825899AD-7915-CB54-81DB-3419DA0AED02}"/>
              </a:ext>
            </a:extLst>
          </p:cNvPr>
          <p:cNvGrpSpPr/>
          <p:nvPr/>
        </p:nvGrpSpPr>
        <p:grpSpPr>
          <a:xfrm>
            <a:off x="4675726" y="1703871"/>
            <a:ext cx="2862266" cy="369332"/>
            <a:chOff x="3894083" y="4652038"/>
            <a:chExt cx="2862266" cy="369332"/>
          </a:xfrm>
        </p:grpSpPr>
        <p:sp>
          <p:nvSpPr>
            <p:cNvPr id="19" name="Стрелка: влево 18">
              <a:extLst>
                <a:ext uri="{FF2B5EF4-FFF2-40B4-BE49-F238E27FC236}">
                  <a16:creationId xmlns:a16="http://schemas.microsoft.com/office/drawing/2014/main" id="{1BA3089F-6D52-D373-39C1-A489AD250614}"/>
                </a:ext>
              </a:extLst>
            </p:cNvPr>
            <p:cNvSpPr/>
            <p:nvPr/>
          </p:nvSpPr>
          <p:spPr>
            <a:xfrm flipH="1">
              <a:off x="6222621" y="4652038"/>
              <a:ext cx="533728" cy="3693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8392A6-BA02-6EA7-2BF0-57293C31DBF0}"/>
                </a:ext>
              </a:extLst>
            </p:cNvPr>
            <p:cNvSpPr txBox="1"/>
            <p:nvPr/>
          </p:nvSpPr>
          <p:spPr>
            <a:xfrm>
              <a:off x="3894083" y="4652038"/>
              <a:ext cx="232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Текущий кадр стека</a:t>
              </a:r>
            </a:p>
          </p:txBody>
        </p:sp>
      </p:grpSp>
      <p:sp>
        <p:nvSpPr>
          <p:cNvPr id="22" name="!!Program">
            <a:extLst>
              <a:ext uri="{FF2B5EF4-FFF2-40B4-BE49-F238E27FC236}">
                <a16:creationId xmlns:a16="http://schemas.microsoft.com/office/drawing/2014/main" id="{7C7530E4-B184-C644-A276-8BF24E153A42}"/>
              </a:ext>
            </a:extLst>
          </p:cNvPr>
          <p:cNvSpPr txBox="1"/>
          <p:nvPr/>
        </p:nvSpPr>
        <p:spPr>
          <a:xfrm>
            <a:off x="838200" y="1690688"/>
            <a:ext cx="36369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Func2(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Func1(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Func2(a + b);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Func1();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!!Instruction Pointer">
            <a:extLst>
              <a:ext uri="{FF2B5EF4-FFF2-40B4-BE49-F238E27FC236}">
                <a16:creationId xmlns:a16="http://schemas.microsoft.com/office/drawing/2014/main" id="{753A20FD-478E-28FB-74A4-9D15CD581F7B}"/>
              </a:ext>
            </a:extLst>
          </p:cNvPr>
          <p:cNvSpPr/>
          <p:nvPr/>
        </p:nvSpPr>
        <p:spPr>
          <a:xfrm flipH="1">
            <a:off x="-605546" y="4163503"/>
            <a:ext cx="533728" cy="3693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367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126578-76AE-6793-B8C8-B59E2F7F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вызовов и адреса переменных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438BD-52DB-F781-0981-782EA12FC2BA}"/>
              </a:ext>
            </a:extLst>
          </p:cNvPr>
          <p:cNvSpPr txBox="1"/>
          <p:nvPr/>
        </p:nvSpPr>
        <p:spPr>
          <a:xfrm>
            <a:off x="838200" y="1779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 called from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y=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&amp;y=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A: x=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&amp;x=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before A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after A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66925-2C09-3653-DCFE-01D088A1DD8A}"/>
              </a:ext>
            </a:extLst>
          </p:cNvPr>
          <p:cNvSpPr txBox="1"/>
          <p:nvPr/>
        </p:nvSpPr>
        <p:spPr>
          <a:xfrm>
            <a:off x="4887310" y="5465967"/>
            <a:ext cx="7097110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 called from main before A: y=2, &amp;y=0000001894EFFC04</a:t>
            </a:r>
          </a:p>
          <a:p>
            <a:r>
              <a:rPr lang="en-US" dirty="0">
                <a:latin typeface="Consolas" panose="020B0609020204030204" pitchFamily="49" charset="0"/>
              </a:rPr>
              <a:t>A: x=1, &amp;x=0000001894EFFC04</a:t>
            </a:r>
          </a:p>
          <a:p>
            <a:r>
              <a:rPr lang="en-US" dirty="0">
                <a:latin typeface="Consolas" panose="020B0609020204030204" pitchFamily="49" charset="0"/>
              </a:rPr>
              <a:t>B called from A: y=2, &amp;y=0000001894EFFAE4</a:t>
            </a:r>
          </a:p>
          <a:p>
            <a:r>
              <a:rPr lang="en-US" dirty="0">
                <a:latin typeface="Consolas" panose="020B0609020204030204" pitchFamily="49" charset="0"/>
              </a:rPr>
              <a:t>B called from main after A: y=2, &amp;y=0000001894EFFC04</a:t>
            </a:r>
          </a:p>
        </p:txBody>
      </p:sp>
    </p:spTree>
    <p:extLst>
      <p:ext uri="{BB962C8B-B14F-4D97-AF65-F5344CB8AC3E}">
        <p14:creationId xmlns:p14="http://schemas.microsoft.com/office/powerpoint/2010/main" val="281217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0006-F981-521E-BEEA-CEF22881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функции под микроскопом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257D6-E884-0C29-436C-A753B9BC5079}"/>
              </a:ext>
            </a:extLst>
          </p:cNvPr>
          <p:cNvSpPr txBox="1"/>
          <p:nvPr/>
        </p:nvSpPr>
        <p:spPr>
          <a:xfrm>
            <a:off x="0" y="1690688"/>
            <a:ext cx="44117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"&amp;x=%p\n"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*)&amp;x);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1E3E6-9A03-8BF7-88E7-86B29E92247E}"/>
              </a:ext>
            </a:extLst>
          </p:cNvPr>
          <p:cNvSpPr txBox="1"/>
          <p:nvPr/>
        </p:nvSpPr>
        <p:spPr>
          <a:xfrm>
            <a:off x="4697260" y="1690688"/>
            <a:ext cx="74947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.LC0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"&amp;x=%p\n"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Регистр </a:t>
            </a:r>
            <a:r>
              <a:rPr lang="en-US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ru-RU" sz="1600" dirty="0">
                <a:solidFill>
                  <a:srgbClr val="00B050"/>
                </a:solidFill>
                <a:latin typeface="Consolas" panose="020B0609020204030204" pitchFamily="49" charset="0"/>
              </a:rPr>
              <a:t> хранит параметр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8 (выравнивание) + 16 (фрейм)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ru-RU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ru-RU" sz="16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ru-RU" sz="16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of </a:t>
            </a:r>
            <a:r>
              <a:rPr lang="en-US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 in SSE registers (0)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tmp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 &lt;- 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адрес </a:t>
            </a:r>
            <a:r>
              <a:rPr lang="en-US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tmp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.LC0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ru-RU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rsp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Восстанавливаем указатель стека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ru-RU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Нужно для выравнивания стека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ru-RU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Вызов функции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rdx</a:t>
            </a:r>
            <a:r>
              <a:rPr lang="ru-RU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sz="16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Корректируем стек перед выходом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t from main">
            <a:extLst>
              <a:ext uri="{FF2B5EF4-FFF2-40B4-BE49-F238E27FC236}">
                <a16:creationId xmlns:a16="http://schemas.microsoft.com/office/drawing/2014/main" id="{3CECA62D-7865-E013-E996-5F3904BCD8D9}"/>
              </a:ext>
            </a:extLst>
          </p:cNvPr>
          <p:cNvSpPr/>
          <p:nvPr/>
        </p:nvSpPr>
        <p:spPr>
          <a:xfrm>
            <a:off x="1668517" y="3940941"/>
            <a:ext cx="2743200" cy="37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 из </a:t>
            </a:r>
            <a:r>
              <a:rPr lang="en-US" dirty="0"/>
              <a:t>main</a:t>
            </a:r>
          </a:p>
        </p:txBody>
      </p:sp>
      <p:sp>
        <p:nvSpPr>
          <p:cNvPr id="12" name="RAX">
            <a:extLst>
              <a:ext uri="{FF2B5EF4-FFF2-40B4-BE49-F238E27FC236}">
                <a16:creationId xmlns:a16="http://schemas.microsoft.com/office/drawing/2014/main" id="{350E686F-4D7A-86AC-69AA-DFD7B6CFB130}"/>
              </a:ext>
            </a:extLst>
          </p:cNvPr>
          <p:cNvSpPr/>
          <p:nvPr/>
        </p:nvSpPr>
        <p:spPr>
          <a:xfrm>
            <a:off x="1668517" y="4327684"/>
            <a:ext cx="2743200" cy="37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RAX</a:t>
            </a:r>
          </a:p>
        </p:txBody>
      </p:sp>
      <p:sp>
        <p:nvSpPr>
          <p:cNvPr id="13" name="Ret from Fn">
            <a:extLst>
              <a:ext uri="{FF2B5EF4-FFF2-40B4-BE49-F238E27FC236}">
                <a16:creationId xmlns:a16="http://schemas.microsoft.com/office/drawing/2014/main" id="{00546ADA-0588-75AC-642A-ED73F33285E1}"/>
              </a:ext>
            </a:extLst>
          </p:cNvPr>
          <p:cNvSpPr/>
          <p:nvPr/>
        </p:nvSpPr>
        <p:spPr>
          <a:xfrm>
            <a:off x="1668517" y="4702501"/>
            <a:ext cx="2743200" cy="378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 из </a:t>
            </a:r>
            <a:r>
              <a:rPr lang="en-US" dirty="0" err="1"/>
              <a:t>Fn</a:t>
            </a:r>
            <a:endParaRPr lang="en-US" dirty="0"/>
          </a:p>
        </p:txBody>
      </p:sp>
      <p:sp>
        <p:nvSpPr>
          <p:cNvPr id="14" name="empty1">
            <a:extLst>
              <a:ext uri="{FF2B5EF4-FFF2-40B4-BE49-F238E27FC236}">
                <a16:creationId xmlns:a16="http://schemas.microsoft.com/office/drawing/2014/main" id="{E1A24AA8-151B-4FF0-6EB8-F94D49D793D1}"/>
              </a:ext>
            </a:extLst>
          </p:cNvPr>
          <p:cNvSpPr/>
          <p:nvPr/>
        </p:nvSpPr>
        <p:spPr>
          <a:xfrm>
            <a:off x="1668517" y="5077318"/>
            <a:ext cx="2743200" cy="3783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empty2">
            <a:extLst>
              <a:ext uri="{FF2B5EF4-FFF2-40B4-BE49-F238E27FC236}">
                <a16:creationId xmlns:a16="http://schemas.microsoft.com/office/drawing/2014/main" id="{E8424FD7-A5D2-24C9-B1DE-95FC754558C3}"/>
              </a:ext>
            </a:extLst>
          </p:cNvPr>
          <p:cNvSpPr/>
          <p:nvPr/>
        </p:nvSpPr>
        <p:spPr>
          <a:xfrm>
            <a:off x="1668517" y="5452135"/>
            <a:ext cx="2743200" cy="3783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empty3">
            <a:extLst>
              <a:ext uri="{FF2B5EF4-FFF2-40B4-BE49-F238E27FC236}">
                <a16:creationId xmlns:a16="http://schemas.microsoft.com/office/drawing/2014/main" id="{4FAEB0BC-8CB8-83E1-FB21-2ACAB3EBC3B9}"/>
              </a:ext>
            </a:extLst>
          </p:cNvPr>
          <p:cNvSpPr/>
          <p:nvPr/>
        </p:nvSpPr>
        <p:spPr>
          <a:xfrm>
            <a:off x="1668517" y="5826952"/>
            <a:ext cx="2743200" cy="3783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sp-ret-from-main">
            <a:extLst>
              <a:ext uri="{FF2B5EF4-FFF2-40B4-BE49-F238E27FC236}">
                <a16:creationId xmlns:a16="http://schemas.microsoft.com/office/drawing/2014/main" id="{588D71B8-34F6-747D-1C5D-80669CDD6A01}"/>
              </a:ext>
            </a:extLst>
          </p:cNvPr>
          <p:cNvSpPr txBox="1"/>
          <p:nvPr/>
        </p:nvSpPr>
        <p:spPr>
          <a:xfrm>
            <a:off x="838201" y="3928241"/>
            <a:ext cx="745880" cy="34051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RSP:</a:t>
            </a:r>
          </a:p>
        </p:txBody>
      </p:sp>
      <p:sp>
        <p:nvSpPr>
          <p:cNvPr id="18" name="rsp-rax">
            <a:extLst>
              <a:ext uri="{FF2B5EF4-FFF2-40B4-BE49-F238E27FC236}">
                <a16:creationId xmlns:a16="http://schemas.microsoft.com/office/drawing/2014/main" id="{4E608F81-C641-E1A0-8CE3-1E5E4BAD8A7D}"/>
              </a:ext>
            </a:extLst>
          </p:cNvPr>
          <p:cNvSpPr txBox="1"/>
          <p:nvPr/>
        </p:nvSpPr>
        <p:spPr>
          <a:xfrm>
            <a:off x="838200" y="4314983"/>
            <a:ext cx="745880" cy="34051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RSP:</a:t>
            </a:r>
          </a:p>
        </p:txBody>
      </p:sp>
      <p:sp>
        <p:nvSpPr>
          <p:cNvPr id="19" name="rsp-ret-from-fn">
            <a:extLst>
              <a:ext uri="{FF2B5EF4-FFF2-40B4-BE49-F238E27FC236}">
                <a16:creationId xmlns:a16="http://schemas.microsoft.com/office/drawing/2014/main" id="{A773B4FA-5625-071D-D12E-B851251680FF}"/>
              </a:ext>
            </a:extLst>
          </p:cNvPr>
          <p:cNvSpPr txBox="1"/>
          <p:nvPr/>
        </p:nvSpPr>
        <p:spPr>
          <a:xfrm>
            <a:off x="838199" y="4701725"/>
            <a:ext cx="745880" cy="34051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RSP:</a:t>
            </a:r>
          </a:p>
        </p:txBody>
      </p:sp>
      <p:sp>
        <p:nvSpPr>
          <p:cNvPr id="20" name="rs[-in-Fn">
            <a:extLst>
              <a:ext uri="{FF2B5EF4-FFF2-40B4-BE49-F238E27FC236}">
                <a16:creationId xmlns:a16="http://schemas.microsoft.com/office/drawing/2014/main" id="{EA722D8C-9FCC-F30B-7C88-27B8926FC5F9}"/>
              </a:ext>
            </a:extLst>
          </p:cNvPr>
          <p:cNvSpPr txBox="1"/>
          <p:nvPr/>
        </p:nvSpPr>
        <p:spPr>
          <a:xfrm>
            <a:off x="838198" y="5814251"/>
            <a:ext cx="745880" cy="34051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RSP:</a:t>
            </a:r>
          </a:p>
        </p:txBody>
      </p:sp>
      <p:sp>
        <p:nvSpPr>
          <p:cNvPr id="21" name="42">
            <a:extLst>
              <a:ext uri="{FF2B5EF4-FFF2-40B4-BE49-F238E27FC236}">
                <a16:creationId xmlns:a16="http://schemas.microsoft.com/office/drawing/2014/main" id="{EE70176F-F6AB-0BBF-1E91-B9FC82FEB8DD}"/>
              </a:ext>
            </a:extLst>
          </p:cNvPr>
          <p:cNvSpPr/>
          <p:nvPr/>
        </p:nvSpPr>
        <p:spPr>
          <a:xfrm>
            <a:off x="2895600" y="5452135"/>
            <a:ext cx="1516117" cy="386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42</a:t>
            </a:r>
          </a:p>
        </p:txBody>
      </p:sp>
      <p:sp>
        <p:nvSpPr>
          <p:cNvPr id="23" name="rs[-in-Fn">
            <a:extLst>
              <a:ext uri="{FF2B5EF4-FFF2-40B4-BE49-F238E27FC236}">
                <a16:creationId xmlns:a16="http://schemas.microsoft.com/office/drawing/2014/main" id="{82D2D48B-4600-3774-DD4B-982CAF2396FA}"/>
              </a:ext>
            </a:extLst>
          </p:cNvPr>
          <p:cNvSpPr txBox="1"/>
          <p:nvPr/>
        </p:nvSpPr>
        <p:spPr>
          <a:xfrm>
            <a:off x="2288536" y="5478215"/>
            <a:ext cx="522625" cy="34051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RSI:</a:t>
            </a:r>
          </a:p>
        </p:txBody>
      </p:sp>
      <p:sp>
        <p:nvSpPr>
          <p:cNvPr id="24" name="rs[-in-Fn">
            <a:extLst>
              <a:ext uri="{FF2B5EF4-FFF2-40B4-BE49-F238E27FC236}">
                <a16:creationId xmlns:a16="http://schemas.microsoft.com/office/drawing/2014/main" id="{F163D32E-763B-D0CE-E5DB-B0C41CFC8F93}"/>
              </a:ext>
            </a:extLst>
          </p:cNvPr>
          <p:cNvSpPr txBox="1"/>
          <p:nvPr/>
        </p:nvSpPr>
        <p:spPr>
          <a:xfrm>
            <a:off x="4697260" y="1953938"/>
            <a:ext cx="673099" cy="30646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RDI:</a:t>
            </a:r>
          </a:p>
        </p:txBody>
      </p:sp>
      <p:sp>
        <p:nvSpPr>
          <p:cNvPr id="25" name="ret from main">
            <a:extLst>
              <a:ext uri="{FF2B5EF4-FFF2-40B4-BE49-F238E27FC236}">
                <a16:creationId xmlns:a16="http://schemas.microsoft.com/office/drawing/2014/main" id="{FFD65BAF-8A10-597B-2616-DC22BB3B203D}"/>
              </a:ext>
            </a:extLst>
          </p:cNvPr>
          <p:cNvSpPr/>
          <p:nvPr/>
        </p:nvSpPr>
        <p:spPr>
          <a:xfrm>
            <a:off x="1668517" y="6201769"/>
            <a:ext cx="2743200" cy="378373"/>
          </a:xfrm>
          <a:prstGeom prst="rect">
            <a:avLst/>
          </a:prstGeom>
          <a:solidFill>
            <a:srgbClr val="156082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trike="sngStrike" dirty="0"/>
              <a:t>Адрес возврата из </a:t>
            </a:r>
            <a:r>
              <a:rPr lang="en-US" strike="sngStrike" dirty="0" err="1"/>
              <a:t>printf</a:t>
            </a: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55444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 tmFilter="0, 0; .2, .5; .8, .5; 1, 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250" autoRev="1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8" grpId="3" animBg="1"/>
      <p:bldP spid="19" grpId="0" animBg="1"/>
      <p:bldP spid="19" grpId="1" animBg="1"/>
      <p:bldP spid="19" grpId="2" animBg="1"/>
      <p:bldP spid="19" grpId="3" animBg="1"/>
      <p:bldP spid="20" grpId="0" animBg="1"/>
      <p:bldP spid="20" grpId="1" animBg="1"/>
      <p:bldP spid="21" grpId="0" animBg="1"/>
      <p:bldP spid="21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82EC-D27D-8A78-20CE-FF44EF80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Время жизни данных (</a:t>
            </a:r>
            <a:r>
              <a:rPr lang="en-US" dirty="0"/>
              <a:t>Lifetime)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BEED-DAB6-1FF0-EB92-EA816EEF5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lifetime</a:t>
            </a:r>
            <a:endParaRPr lang="ru-RU" dirty="0"/>
          </a:p>
          <a:p>
            <a:pPr lvl="1"/>
            <a:r>
              <a:rPr lang="ru-RU" dirty="0"/>
              <a:t>У каждого объекта есть время жизни </a:t>
            </a:r>
          </a:p>
          <a:p>
            <a:pPr lvl="1"/>
            <a:r>
              <a:rPr lang="ru-RU" dirty="0"/>
              <a:t>Объект существует не всегда </a:t>
            </a:r>
          </a:p>
          <a:p>
            <a:pPr lvl="1"/>
            <a:r>
              <a:rPr lang="ru-RU" dirty="0" err="1"/>
              <a:t>Lifetime</a:t>
            </a:r>
            <a:r>
              <a:rPr lang="ru-RU" dirty="0"/>
              <a:t> — период существования объекта в памяти </a:t>
            </a:r>
          </a:p>
          <a:p>
            <a:r>
              <a:rPr lang="ru-RU" dirty="0"/>
              <a:t>Объект создаётся → используется → уничтожается </a:t>
            </a:r>
          </a:p>
          <a:p>
            <a:r>
              <a:rPr lang="ru-RU" dirty="0"/>
              <a:t>После завершения </a:t>
            </a:r>
            <a:r>
              <a:rPr lang="ru-RU" dirty="0" err="1"/>
              <a:t>lifetime</a:t>
            </a:r>
            <a:r>
              <a:rPr lang="ru-RU" dirty="0"/>
              <a:t> память может переиспользоваться </a:t>
            </a:r>
          </a:p>
          <a:p>
            <a:r>
              <a:rPr lang="ru-RU" dirty="0"/>
              <a:t>Доступ к объекту вне </a:t>
            </a:r>
            <a:r>
              <a:rPr lang="ru-RU" dirty="0" err="1"/>
              <a:t>lifetime</a:t>
            </a:r>
            <a:r>
              <a:rPr lang="ru-RU" dirty="0"/>
              <a:t> — ошибка</a:t>
            </a:r>
          </a:p>
        </p:txBody>
      </p:sp>
    </p:spTree>
    <p:extLst>
      <p:ext uri="{BB962C8B-B14F-4D97-AF65-F5344CB8AC3E}">
        <p14:creationId xmlns:p14="http://schemas.microsoft.com/office/powerpoint/2010/main" val="203055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6D79-93D9-B56B-5CD1-222F30B0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Lifetime </a:t>
            </a:r>
            <a:r>
              <a:rPr lang="ru-RU" dirty="0"/>
              <a:t>и области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69AB-3ACA-82F7-36C8-2CC85C64E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Где живут объекты</a:t>
            </a:r>
          </a:p>
          <a:p>
            <a:pPr lvl="1"/>
            <a:r>
              <a:rPr lang="en-US" dirty="0"/>
              <a:t>Stack/</a:t>
            </a:r>
            <a:r>
              <a:rPr lang="ru-RU" dirty="0"/>
              <a:t>регистры</a:t>
            </a:r>
            <a:r>
              <a:rPr lang="en-US" dirty="0"/>
              <a:t> → </a:t>
            </a:r>
            <a:r>
              <a:rPr lang="ru-RU" dirty="0"/>
              <a:t>локальные переменные </a:t>
            </a:r>
          </a:p>
          <a:p>
            <a:pPr lvl="2"/>
            <a:r>
              <a:rPr lang="en-US" dirty="0"/>
              <a:t>lifetime = </a:t>
            </a:r>
            <a:r>
              <a:rPr lang="ru-RU" dirty="0"/>
              <a:t>время выполнения функции </a:t>
            </a:r>
          </a:p>
          <a:p>
            <a:pPr lvl="1"/>
            <a:r>
              <a:rPr lang="en-US" dirty="0"/>
              <a:t>Heap → </a:t>
            </a:r>
            <a:r>
              <a:rPr lang="ru-RU" dirty="0"/>
              <a:t>динамическая память </a:t>
            </a:r>
          </a:p>
          <a:p>
            <a:pPr lvl="2"/>
            <a:r>
              <a:rPr lang="en-US" dirty="0"/>
              <a:t>lifetime </a:t>
            </a:r>
            <a:r>
              <a:rPr lang="ru-RU" dirty="0"/>
              <a:t>управляется программистом </a:t>
            </a:r>
          </a:p>
          <a:p>
            <a:pPr lvl="1"/>
            <a:r>
              <a:rPr lang="en-US" dirty="0"/>
              <a:t>Data / BSS → </a:t>
            </a:r>
            <a:r>
              <a:rPr lang="ru-RU" dirty="0"/>
              <a:t>глобальные переменные </a:t>
            </a:r>
          </a:p>
          <a:p>
            <a:pPr lvl="2"/>
            <a:r>
              <a:rPr lang="en-US" dirty="0"/>
              <a:t>lifetime = </a:t>
            </a:r>
            <a:r>
              <a:rPr lang="ru-RU" dirty="0"/>
              <a:t>всё время работы программы </a:t>
            </a:r>
          </a:p>
          <a:p>
            <a:r>
              <a:rPr lang="ru-RU" dirty="0"/>
              <a:t>Важно: адрес ≠ время жизни</a:t>
            </a:r>
          </a:p>
        </p:txBody>
      </p:sp>
    </p:spTree>
    <p:extLst>
      <p:ext uri="{BB962C8B-B14F-4D97-AF65-F5344CB8AC3E}">
        <p14:creationId xmlns:p14="http://schemas.microsoft.com/office/powerpoint/2010/main" val="830953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423C-8F48-11BD-5F42-8FDE0DA7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Ошибка – возврат адреса локальной переменной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C41DE-30B5-2E5D-2513-C7714EEB4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3230" cy="4351338"/>
          </a:xfrm>
        </p:spPr>
        <p:txBody>
          <a:bodyPr>
            <a:normAutofit/>
          </a:bodyPr>
          <a:lstStyle/>
          <a:p>
            <a:r>
              <a:rPr lang="ru-RU" dirty="0"/>
              <a:t>Локальная переменная живёт только внутри функции </a:t>
            </a:r>
          </a:p>
          <a:p>
            <a:r>
              <a:rPr lang="ru-RU" dirty="0"/>
              <a:t>После выхода из функции её </a:t>
            </a:r>
            <a:r>
              <a:rPr lang="ru-RU" dirty="0" err="1"/>
              <a:t>lifetime</a:t>
            </a:r>
            <a:r>
              <a:rPr lang="ru-RU" dirty="0"/>
              <a:t> заканчивается </a:t>
            </a:r>
          </a:p>
          <a:p>
            <a:r>
              <a:rPr lang="ru-RU" dirty="0"/>
              <a:t>Указатель становится «висячим» (</a:t>
            </a:r>
            <a:r>
              <a:rPr lang="ru-RU" dirty="0" err="1"/>
              <a:t>dangling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Разыменование — неопределённое поведение (UB)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1E073-6B70-E150-E340-C1B2E2F3116B}"/>
              </a:ext>
            </a:extLst>
          </p:cNvPr>
          <p:cNvSpPr txBox="1"/>
          <p:nvPr/>
        </p:nvSpPr>
        <p:spPr>
          <a:xfrm>
            <a:off x="7155543" y="1859339"/>
            <a:ext cx="50364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&amp;x;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"*p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*p);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7088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7FB1-DEE0-0042-01EB-97D3FDF1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Динамическая память (</a:t>
            </a:r>
            <a:r>
              <a:rPr lang="en-US" dirty="0"/>
              <a:t>Heap)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9AD0-1473-8A5F-E673-52EEB65A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heap</a:t>
            </a:r>
            <a:endParaRPr lang="ru-RU" dirty="0"/>
          </a:p>
          <a:p>
            <a:pPr lvl="1"/>
            <a:r>
              <a:rPr lang="ru-RU" dirty="0" err="1"/>
              <a:t>Heap</a:t>
            </a:r>
            <a:r>
              <a:rPr lang="ru-RU" dirty="0"/>
              <a:t> — область динамической памяти </a:t>
            </a:r>
          </a:p>
          <a:p>
            <a:pPr lvl="1"/>
            <a:r>
              <a:rPr lang="ru-RU" dirty="0"/>
              <a:t>Управляется программистом </a:t>
            </a:r>
          </a:p>
          <a:p>
            <a:r>
              <a:rPr lang="ru-RU" dirty="0"/>
              <a:t>Выделение: </a:t>
            </a:r>
            <a:r>
              <a:rPr lang="ru-RU" dirty="0" err="1"/>
              <a:t>malloc</a:t>
            </a:r>
            <a:r>
              <a:rPr lang="ru-RU" dirty="0"/>
              <a:t>, </a:t>
            </a:r>
            <a:r>
              <a:rPr lang="ru-RU" dirty="0" err="1"/>
              <a:t>calloc</a:t>
            </a:r>
            <a:r>
              <a:rPr lang="ru-RU" dirty="0"/>
              <a:t> </a:t>
            </a:r>
          </a:p>
          <a:p>
            <a:r>
              <a:rPr lang="ru-RU" dirty="0"/>
              <a:t>Освобождение: </a:t>
            </a:r>
            <a:r>
              <a:rPr lang="ru-RU" dirty="0" err="1"/>
              <a:t>free</a:t>
            </a:r>
            <a:r>
              <a:rPr lang="ru-RU" dirty="0"/>
              <a:t> </a:t>
            </a:r>
          </a:p>
          <a:p>
            <a:r>
              <a:rPr lang="ru-RU" dirty="0"/>
              <a:t>Объекты живут дольше функции </a:t>
            </a:r>
          </a:p>
          <a:p>
            <a:r>
              <a:rPr lang="ru-RU" dirty="0" err="1"/>
              <a:t>Lifetime</a:t>
            </a:r>
            <a:r>
              <a:rPr lang="ru-RU" dirty="0"/>
              <a:t> не привязан к стеку</a:t>
            </a:r>
          </a:p>
        </p:txBody>
      </p:sp>
    </p:spTree>
    <p:extLst>
      <p:ext uri="{BB962C8B-B14F-4D97-AF65-F5344CB8AC3E}">
        <p14:creationId xmlns:p14="http://schemas.microsoft.com/office/powerpoint/2010/main" val="3189684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3075-E737-3BFE-7649-D091492D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Ошибки и особенности при работе с кучей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ADF92-EA50-39D5-101B-07FDF2C61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Типичные ошибки</a:t>
            </a:r>
          </a:p>
          <a:p>
            <a:pPr lvl="1"/>
            <a:r>
              <a:rPr lang="ru-RU" dirty="0"/>
              <a:t>Утечки памяти (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leak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Выделили память, но не освободили </a:t>
            </a:r>
          </a:p>
          <a:p>
            <a:pPr lvl="1"/>
            <a:r>
              <a:rPr lang="ru-RU" dirty="0"/>
              <a:t>Использование после </a:t>
            </a:r>
            <a:r>
              <a:rPr lang="ru-RU" dirty="0" err="1"/>
              <a:t>free</a:t>
            </a:r>
            <a:r>
              <a:rPr lang="ru-RU" dirty="0"/>
              <a:t> (</a:t>
            </a:r>
            <a:r>
              <a:rPr lang="ru-RU" dirty="0" err="1"/>
              <a:t>use-after-free</a:t>
            </a:r>
            <a:r>
              <a:rPr lang="ru-RU" dirty="0"/>
              <a:t>) </a:t>
            </a:r>
            <a:r>
              <a:rPr lang="en-US" dirty="0"/>
              <a:t>– UB</a:t>
            </a:r>
            <a:endParaRPr lang="ru-RU" dirty="0"/>
          </a:p>
          <a:p>
            <a:pPr lvl="1"/>
            <a:r>
              <a:rPr lang="ru-RU" dirty="0"/>
              <a:t>Двойное освобождение (</a:t>
            </a:r>
            <a:r>
              <a:rPr lang="ru-RU" dirty="0" err="1"/>
              <a:t>double</a:t>
            </a:r>
            <a:r>
              <a:rPr lang="ru-RU" dirty="0"/>
              <a:t> </a:t>
            </a:r>
            <a:r>
              <a:rPr lang="ru-RU" dirty="0" err="1"/>
              <a:t>free</a:t>
            </a:r>
            <a:r>
              <a:rPr lang="ru-RU" dirty="0"/>
              <a:t>) </a:t>
            </a:r>
            <a:r>
              <a:rPr lang="en-US" dirty="0"/>
              <a:t>– UB</a:t>
            </a:r>
            <a:endParaRPr lang="ru-RU" dirty="0"/>
          </a:p>
          <a:p>
            <a:r>
              <a:rPr lang="ru-RU" dirty="0"/>
              <a:t>После выделения функцией </a:t>
            </a:r>
            <a:r>
              <a:rPr lang="en-US" dirty="0"/>
              <a:t>malloc </a:t>
            </a:r>
            <a:r>
              <a:rPr lang="ru-RU" dirty="0"/>
              <a:t>содержимое не инициализировано</a:t>
            </a:r>
          </a:p>
          <a:p>
            <a:pPr lvl="1"/>
            <a:r>
              <a:rPr lang="en-US" dirty="0" err="1"/>
              <a:t>calloc</a:t>
            </a:r>
            <a:r>
              <a:rPr lang="ru-RU" dirty="0"/>
              <a:t> заполняет нулями</a:t>
            </a:r>
          </a:p>
          <a:p>
            <a:r>
              <a:rPr lang="ru-RU" dirty="0" err="1"/>
              <a:t>Heap</a:t>
            </a:r>
            <a:r>
              <a:rPr lang="ru-RU" dirty="0"/>
              <a:t> медленнее стека </a:t>
            </a:r>
          </a:p>
          <a:p>
            <a:r>
              <a:rPr lang="ru-RU" dirty="0"/>
              <a:t>Требует дисциплины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443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E02B-2F86-C399-EC23-432D1170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переменные 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AE3C8-3530-56A2-6AC7-ADCF011EC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Объявляются внутри функции с ключевым словом </a:t>
            </a:r>
            <a:r>
              <a:rPr lang="ru-RU" dirty="0" err="1"/>
              <a:t>static</a:t>
            </a:r>
            <a:r>
              <a:rPr lang="ru-RU" dirty="0"/>
              <a:t> </a:t>
            </a:r>
          </a:p>
          <a:p>
            <a:r>
              <a:rPr lang="ru-RU" dirty="0"/>
              <a:t>Размещаются в области данных </a:t>
            </a:r>
          </a:p>
          <a:p>
            <a:r>
              <a:rPr lang="ru-RU" dirty="0"/>
              <a:t>Хранятся в сегменте данных </a:t>
            </a:r>
          </a:p>
          <a:p>
            <a:r>
              <a:rPr lang="ru-RU" dirty="0"/>
              <a:t>Создаются один раз </a:t>
            </a:r>
          </a:p>
          <a:p>
            <a:r>
              <a:rPr lang="ru-RU" dirty="0"/>
              <a:t>Сохраняют значение между вызовами </a:t>
            </a:r>
          </a:p>
          <a:p>
            <a:r>
              <a:rPr lang="ru-RU" dirty="0"/>
              <a:t>Имеют фиксированный адрес </a:t>
            </a:r>
          </a:p>
          <a:p>
            <a:r>
              <a:rPr lang="ru-RU" dirty="0" err="1"/>
              <a:t>Lifetime</a:t>
            </a:r>
            <a:r>
              <a:rPr lang="ru-RU" dirty="0"/>
              <a:t> = всё время работы программы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56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8970-1FAA-81CB-532B-FBBD99B8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переменная сохраняет значение между вызовами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593683-61AC-F4AF-F51A-92F26B32B025}"/>
              </a:ext>
            </a:extLst>
          </p:cNvPr>
          <p:cNvSpPr txBox="1"/>
          <p:nvPr/>
        </p:nvSpPr>
        <p:spPr>
          <a:xfrm>
            <a:off x="972457" y="1886857"/>
            <a:ext cx="103813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 called from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x=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&amp;x=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again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8B112-AF8E-9AE1-E196-038471DE35FD}"/>
              </a:ext>
            </a:extLst>
          </p:cNvPr>
          <p:cNvSpPr txBox="1"/>
          <p:nvPr/>
        </p:nvSpPr>
        <p:spPr>
          <a:xfrm>
            <a:off x="5355772" y="5569545"/>
            <a:ext cx="6662057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 called from main: x=1, &amp;x=00007FF75B4BD1D0</a:t>
            </a:r>
          </a:p>
          <a:p>
            <a:r>
              <a:rPr lang="en-US" dirty="0">
                <a:latin typeface="Consolas" panose="020B0609020204030204" pitchFamily="49" charset="0"/>
              </a:rPr>
              <a:t>B called from A: x=2, &amp;x=00007FF75B4BD1D0</a:t>
            </a:r>
          </a:p>
          <a:p>
            <a:r>
              <a:rPr lang="en-US" dirty="0">
                <a:latin typeface="Consolas" panose="020B0609020204030204" pitchFamily="49" charset="0"/>
              </a:rPr>
              <a:t>B called from main again: x=3, &amp;x=00007FF75B4BD1D0</a:t>
            </a:r>
          </a:p>
        </p:txBody>
      </p:sp>
    </p:spTree>
    <p:extLst>
      <p:ext uri="{BB962C8B-B14F-4D97-AF65-F5344CB8AC3E}">
        <p14:creationId xmlns:p14="http://schemas.microsoft.com/office/powerpoint/2010/main" val="2280441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3746B9-0506-0D40-9617-2E1C54140417}"/>
              </a:ext>
            </a:extLst>
          </p:cNvPr>
          <p:cNvSpPr txBox="1"/>
          <p:nvPr/>
        </p:nvSpPr>
        <p:spPr>
          <a:xfrm>
            <a:off x="133350" y="218471"/>
            <a:ext cx="866775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g_uninitialized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BSS */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g_initialized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Data */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Read-only data */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789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static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внутри функции */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локальная переменная */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Heap */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malloc failed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Address of function Demo    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Address of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g_uninitialized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g_uninitialized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Address of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g_initialized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g_initialized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Address of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g_const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    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Address of static variable s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Address of local variable    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Address returned by malloc  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C8041-E68B-8230-24AE-49B7E8FA6E88}"/>
              </a:ext>
            </a:extLst>
          </p:cNvPr>
          <p:cNvSpPr txBox="1"/>
          <p:nvPr/>
        </p:nvSpPr>
        <p:spPr>
          <a:xfrm>
            <a:off x="6953250" y="218471"/>
            <a:ext cx="4972050" cy="18158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400" dirty="0">
                <a:latin typeface="Consolas" panose="020B0609020204030204" pitchFamily="49" charset="0"/>
              </a:rPr>
              <a:t>Запуск №1</a:t>
            </a:r>
            <a:r>
              <a:rPr lang="en-US" sz="1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function Demo     : 00007FF79C3113DE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</a:t>
            </a:r>
            <a:r>
              <a:rPr lang="en-US" sz="1400" dirty="0" err="1">
                <a:latin typeface="Consolas" panose="020B0609020204030204" pitchFamily="49" charset="0"/>
              </a:rPr>
              <a:t>g_uninitialized</a:t>
            </a:r>
            <a:r>
              <a:rPr lang="en-US" sz="1400" dirty="0">
                <a:latin typeface="Consolas" panose="020B0609020204030204" pitchFamily="49" charset="0"/>
              </a:rPr>
              <a:t>   : 00007FF79C31D1D4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</a:t>
            </a:r>
            <a:r>
              <a:rPr lang="en-US" sz="1400" dirty="0" err="1">
                <a:latin typeface="Consolas" panose="020B0609020204030204" pitchFamily="49" charset="0"/>
              </a:rPr>
              <a:t>g_initialized</a:t>
            </a:r>
            <a:r>
              <a:rPr lang="en-US" sz="1400" dirty="0">
                <a:latin typeface="Consolas" panose="020B0609020204030204" pitchFamily="49" charset="0"/>
              </a:rPr>
              <a:t>     : 00007FF79C31D020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</a:t>
            </a:r>
            <a:r>
              <a:rPr lang="en-US" sz="1400" dirty="0" err="1">
                <a:latin typeface="Consolas" panose="020B0609020204030204" pitchFamily="49" charset="0"/>
              </a:rPr>
              <a:t>g_const</a:t>
            </a:r>
            <a:r>
              <a:rPr lang="en-US" sz="1400" dirty="0">
                <a:latin typeface="Consolas" panose="020B0609020204030204" pitchFamily="49" charset="0"/>
              </a:rPr>
              <a:t>           : 00007FF79C31AC10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static variable s : 00007FF79C31D024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local variable    :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000000B6377CFB14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returned by malloc   : 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</a:rPr>
              <a:t>0000022A8EC27C60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78B84-079F-1E8C-F3C7-BF0892FC27BC}"/>
              </a:ext>
            </a:extLst>
          </p:cNvPr>
          <p:cNvSpPr txBox="1"/>
          <p:nvPr/>
        </p:nvSpPr>
        <p:spPr>
          <a:xfrm>
            <a:off x="6953250" y="2186753"/>
            <a:ext cx="4972050" cy="18158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400" dirty="0">
                <a:latin typeface="Consolas" panose="020B0609020204030204" pitchFamily="49" charset="0"/>
              </a:rPr>
              <a:t>Запуск №</a:t>
            </a:r>
            <a:r>
              <a:rPr lang="en-US" sz="1400" dirty="0">
                <a:latin typeface="Consolas" panose="020B0609020204030204" pitchFamily="49" charset="0"/>
              </a:rPr>
              <a:t>2: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function Demo     : 00007FF79C3113DE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</a:t>
            </a:r>
            <a:r>
              <a:rPr lang="en-US" sz="1400" dirty="0" err="1">
                <a:latin typeface="Consolas" panose="020B0609020204030204" pitchFamily="49" charset="0"/>
              </a:rPr>
              <a:t>g_uninitialized</a:t>
            </a:r>
            <a:r>
              <a:rPr lang="en-US" sz="1400" dirty="0">
                <a:latin typeface="Consolas" panose="020B0609020204030204" pitchFamily="49" charset="0"/>
              </a:rPr>
              <a:t>   : 00007FF79C31D1D4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</a:t>
            </a:r>
            <a:r>
              <a:rPr lang="en-US" sz="1400" dirty="0" err="1">
                <a:latin typeface="Consolas" panose="020B0609020204030204" pitchFamily="49" charset="0"/>
              </a:rPr>
              <a:t>g_initialized</a:t>
            </a:r>
            <a:r>
              <a:rPr lang="en-US" sz="1400" dirty="0">
                <a:latin typeface="Consolas" panose="020B0609020204030204" pitchFamily="49" charset="0"/>
              </a:rPr>
              <a:t>     : 00007FF79C31D020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</a:t>
            </a:r>
            <a:r>
              <a:rPr lang="en-US" sz="1400" dirty="0" err="1">
                <a:latin typeface="Consolas" panose="020B0609020204030204" pitchFamily="49" charset="0"/>
              </a:rPr>
              <a:t>g_const</a:t>
            </a:r>
            <a:r>
              <a:rPr lang="en-US" sz="1400" dirty="0">
                <a:latin typeface="Consolas" panose="020B0609020204030204" pitchFamily="49" charset="0"/>
              </a:rPr>
              <a:t>           : 00007FF79C31AC10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static variable s : 00007FF79C31D024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of local variable    :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000000B05A4FF994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Address returned by malloc   : 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</a:rPr>
              <a:t>000001CC0BB28860</a:t>
            </a:r>
          </a:p>
        </p:txBody>
      </p:sp>
    </p:spTree>
    <p:extLst>
      <p:ext uri="{BB962C8B-B14F-4D97-AF65-F5344CB8AC3E}">
        <p14:creationId xmlns:p14="http://schemas.microsoft.com/office/powerpoint/2010/main" val="2397649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A08F-AAD8-F517-A3BB-B6FD0D37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памяти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B68C1-5C85-B66A-0F3E-5F80128F3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67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80715F-28AB-B3FD-2842-A664E1D7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памяти компьютера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C854813-F148-79B4-6548-5B9E4D8EAF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921566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1350267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5604473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Уровень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Примерный размер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Скорость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15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Регистры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десятки–сотни байт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~0.2–0.5 </a:t>
                      </a:r>
                      <a:r>
                        <a:rPr lang="ru-RU" dirty="0" err="1"/>
                        <a:t>нс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42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~32–64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~0.5–1 </a:t>
                      </a:r>
                      <a:r>
                        <a:rPr lang="ru-RU" dirty="0" err="1"/>
                        <a:t>нс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07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L2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~256 KB – 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~2–5 </a:t>
                      </a:r>
                      <a:r>
                        <a:rPr lang="ru-RU" dirty="0" err="1"/>
                        <a:t>нс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5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L3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Несколько </a:t>
                      </a:r>
                      <a:r>
                        <a:rPr lang="en-US" dirty="0"/>
                        <a:t>MB – </a:t>
                      </a:r>
                      <a:r>
                        <a:rPr lang="ru-RU" dirty="0"/>
                        <a:t>десятки </a:t>
                      </a:r>
                      <a:r>
                        <a:rPr lang="en-US" dirty="0"/>
                        <a:t>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~10–20 </a:t>
                      </a:r>
                      <a:r>
                        <a:rPr lang="ru-RU" dirty="0" err="1"/>
                        <a:t>нс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37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Гигабайты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~50–100 </a:t>
                      </a:r>
                      <a:r>
                        <a:rPr lang="ru-RU" dirty="0" err="1"/>
                        <a:t>нс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8035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3CAA252-404F-B812-4589-5F2B0AD35BAF}"/>
              </a:ext>
            </a:extLst>
          </p:cNvPr>
          <p:cNvSpPr txBox="1"/>
          <p:nvPr/>
        </p:nvSpPr>
        <p:spPr>
          <a:xfrm>
            <a:off x="838200" y="4401235"/>
            <a:ext cx="10515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Чем дальше уровень памяти от CPU, тем </a:t>
            </a:r>
            <a:r>
              <a:rPr lang="ru-RU" b="1" dirty="0"/>
              <a:t>больше задержка доступа</a:t>
            </a:r>
          </a:p>
          <a:p>
            <a:r>
              <a:rPr lang="ru-RU" dirty="0"/>
              <a:t>Доступ к RAM может быть </a:t>
            </a:r>
            <a:r>
              <a:rPr lang="ru-RU" b="1" dirty="0"/>
              <a:t>в 100–200 раз медленнее</a:t>
            </a:r>
            <a:r>
              <a:rPr lang="ru-RU" dirty="0"/>
              <a:t>, чем доступ к данным в L1 кеше.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443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89FD-1AE5-9D68-5146-33B3B238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hit и cache miss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4864D-7C42-682A-FE39-29BB77FEE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обращении к памяти возможны два случая:</a:t>
            </a:r>
          </a:p>
          <a:p>
            <a:r>
              <a:rPr lang="ru-RU" b="1" dirty="0" err="1"/>
              <a:t>Cache</a:t>
            </a:r>
            <a:r>
              <a:rPr lang="ru-RU" b="1" dirty="0"/>
              <a:t> </a:t>
            </a:r>
            <a:r>
              <a:rPr lang="ru-RU" b="1" dirty="0" err="1"/>
              <a:t>hit</a:t>
            </a:r>
            <a:r>
              <a:rPr lang="ru-RU" b="1" dirty="0"/>
              <a:t> (попадание в кеш)</a:t>
            </a:r>
            <a:endParaRPr lang="ru-RU" dirty="0"/>
          </a:p>
          <a:p>
            <a:pPr lvl="1"/>
            <a:r>
              <a:rPr lang="ru-RU" dirty="0"/>
              <a:t>данные уже находятся в кеше</a:t>
            </a:r>
          </a:p>
          <a:p>
            <a:pPr lvl="1"/>
            <a:r>
              <a:rPr lang="ru-RU" dirty="0"/>
              <a:t>доступ выполняется очень быстро</a:t>
            </a:r>
          </a:p>
          <a:p>
            <a:r>
              <a:rPr lang="ru-RU" b="1" dirty="0" err="1"/>
              <a:t>Cache</a:t>
            </a:r>
            <a:r>
              <a:rPr lang="ru-RU" b="1" dirty="0"/>
              <a:t> </a:t>
            </a:r>
            <a:r>
              <a:rPr lang="ru-RU" b="1" dirty="0" err="1"/>
              <a:t>miss</a:t>
            </a:r>
            <a:r>
              <a:rPr lang="ru-RU" b="1" dirty="0"/>
              <a:t> (кеш-промах)</a:t>
            </a:r>
            <a:endParaRPr lang="ru-RU" dirty="0"/>
          </a:p>
          <a:p>
            <a:pPr lvl="1"/>
            <a:r>
              <a:rPr lang="ru-RU" dirty="0"/>
              <a:t>данных в кеше нет</a:t>
            </a:r>
          </a:p>
          <a:p>
            <a:pPr lvl="1"/>
            <a:r>
              <a:rPr lang="ru-RU" dirty="0"/>
              <a:t>требуется загрузка из следующего уровня памяти</a:t>
            </a:r>
          </a:p>
          <a:p>
            <a:pPr lvl="1"/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может стоить </a:t>
            </a:r>
            <a:r>
              <a:rPr lang="ru-RU" b="1" dirty="0"/>
              <a:t>в десятки раз дороже</a:t>
            </a:r>
            <a:r>
              <a:rPr lang="ru-RU" dirty="0"/>
              <a:t>, чем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hit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094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CF88-BA90-E3E3-3BB6-8C70E970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Пространственная и временная локальность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C0ED-154C-DFE9-9D71-7F9DC2325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Производительность программ сильно зависит</a:t>
            </a:r>
            <a:br>
              <a:rPr lang="ru-RU" dirty="0"/>
            </a:br>
            <a:r>
              <a:rPr lang="ru-RU" dirty="0"/>
              <a:t>от </a:t>
            </a:r>
            <a:r>
              <a:rPr lang="ru-RU" b="1" dirty="0"/>
              <a:t>локальности доступа к данным</a:t>
            </a:r>
            <a:endParaRPr lang="ru-RU" dirty="0"/>
          </a:p>
          <a:p>
            <a:r>
              <a:rPr lang="ru-RU" b="1" dirty="0" err="1"/>
              <a:t>Spatial</a:t>
            </a:r>
            <a:r>
              <a:rPr lang="ru-RU" b="1" dirty="0"/>
              <a:t> </a:t>
            </a:r>
            <a:r>
              <a:rPr lang="ru-RU" b="1" dirty="0" err="1"/>
              <a:t>locality</a:t>
            </a:r>
            <a:endParaRPr lang="ru-RU" dirty="0"/>
          </a:p>
          <a:p>
            <a:pPr lvl="1"/>
            <a:r>
              <a:rPr lang="ru-RU" dirty="0"/>
              <a:t>Обращение к соседним элементам памяти</a:t>
            </a:r>
            <a:endParaRPr lang="en-US" dirty="0"/>
          </a:p>
          <a:p>
            <a:pPr lvl="1"/>
            <a:r>
              <a:rPr lang="ru-RU" dirty="0"/>
              <a:t>Пример: последовательный обход по массиву</a:t>
            </a:r>
          </a:p>
          <a:p>
            <a:r>
              <a:rPr lang="ru-RU" b="1" dirty="0" err="1"/>
              <a:t>Temporal</a:t>
            </a:r>
            <a:r>
              <a:rPr lang="ru-RU" b="1" dirty="0"/>
              <a:t> </a:t>
            </a:r>
            <a:r>
              <a:rPr lang="ru-RU" b="1" dirty="0" err="1"/>
              <a:t>locality</a:t>
            </a:r>
            <a:endParaRPr lang="ru-RU" dirty="0"/>
          </a:p>
          <a:p>
            <a:pPr lvl="1"/>
            <a:r>
              <a:rPr lang="ru-RU" dirty="0"/>
              <a:t>Повторное использование недавно прочитанных данных</a:t>
            </a:r>
          </a:p>
          <a:p>
            <a:pPr lvl="1"/>
            <a:r>
              <a:rPr lang="ru-RU" dirty="0"/>
              <a:t>Частое обращение к нескольким переменным</a:t>
            </a:r>
          </a:p>
        </p:txBody>
      </p:sp>
    </p:spTree>
    <p:extLst>
      <p:ext uri="{BB962C8B-B14F-4D97-AF65-F5344CB8AC3E}">
        <p14:creationId xmlns:p14="http://schemas.microsoft.com/office/powerpoint/2010/main" val="1692615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D053-5731-9648-19A6-A3DACC9B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Универсальная функция для измерения времени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2346D-DF94-166F-88AE-E9036A9E1BEF}"/>
              </a:ext>
            </a:extLst>
          </p:cNvPr>
          <p:cNvSpPr txBox="1"/>
          <p:nvPr/>
        </p:nvSpPr>
        <p:spPr>
          <a:xfrm>
            <a:off x="1" y="2087463"/>
            <a:ext cx="689956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_WIN32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windows.h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LARGE_INTEGER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QueryPerformanceFrequency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QueryPerformanceCounter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.QuadPart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.QuadPart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#else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timespec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clock_gettime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(CLOCK_MONOTONIC, &amp;t);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tv_sec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tv_nsec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1e-9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C091E-029C-B724-7FE1-0682570A0C12}"/>
              </a:ext>
            </a:extLst>
          </p:cNvPr>
          <p:cNvSpPr txBox="1"/>
          <p:nvPr/>
        </p:nvSpPr>
        <p:spPr>
          <a:xfrm>
            <a:off x="6611389" y="4184551"/>
            <a:ext cx="55806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Указатель на измеряемую функцию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MeasuredFunc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Measure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MeasuredFunc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%.6f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sec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0211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E6B6B-2698-E8FB-2649-C1875226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матрицы по строкам и столбцам</a:t>
            </a:r>
            <a:endParaRPr lang="en-US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CD9A75C-4D3F-C82C-6735-335626F6E383}"/>
              </a:ext>
            </a:extLst>
          </p:cNvPr>
          <p:cNvGrpSpPr/>
          <p:nvPr/>
        </p:nvGrpSpPr>
        <p:grpSpPr>
          <a:xfrm>
            <a:off x="3894789" y="1616597"/>
            <a:ext cx="1276350" cy="1374827"/>
            <a:chOff x="6375400" y="1690688"/>
            <a:chExt cx="1576070" cy="169767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11E5D0-2D82-AE79-0A15-F052AF5C3E25}"/>
                </a:ext>
              </a:extLst>
            </p:cNvPr>
            <p:cNvSpPr/>
            <p:nvPr/>
          </p:nvSpPr>
          <p:spPr>
            <a:xfrm>
              <a:off x="6375400" y="169068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01767E-42DF-C6F3-8CEA-2BA012CCD256}"/>
                </a:ext>
              </a:extLst>
            </p:cNvPr>
            <p:cNvSpPr/>
            <p:nvPr/>
          </p:nvSpPr>
          <p:spPr>
            <a:xfrm>
              <a:off x="6800850" y="169068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2FDBD73-11C1-14A7-78DE-13BB86B9ED34}"/>
                </a:ext>
              </a:extLst>
            </p:cNvPr>
            <p:cNvSpPr/>
            <p:nvPr/>
          </p:nvSpPr>
          <p:spPr>
            <a:xfrm>
              <a:off x="7226300" y="169068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345E09-9B58-5B25-91F8-21D488B4E5C6}"/>
                </a:ext>
              </a:extLst>
            </p:cNvPr>
            <p:cNvSpPr/>
            <p:nvPr/>
          </p:nvSpPr>
          <p:spPr>
            <a:xfrm>
              <a:off x="7651750" y="169068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55285A5-A7E5-2316-E2FE-C3173A1A728D}"/>
                </a:ext>
              </a:extLst>
            </p:cNvPr>
            <p:cNvSpPr/>
            <p:nvPr/>
          </p:nvSpPr>
          <p:spPr>
            <a:xfrm>
              <a:off x="6375400" y="215550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BE009D-8525-B14D-9843-650163F50C91}"/>
                </a:ext>
              </a:extLst>
            </p:cNvPr>
            <p:cNvSpPr/>
            <p:nvPr/>
          </p:nvSpPr>
          <p:spPr>
            <a:xfrm>
              <a:off x="6800850" y="215550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71C879-2575-CAFC-8AEE-CD12CDB8DA81}"/>
                </a:ext>
              </a:extLst>
            </p:cNvPr>
            <p:cNvSpPr/>
            <p:nvPr/>
          </p:nvSpPr>
          <p:spPr>
            <a:xfrm>
              <a:off x="7226300" y="215550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89CF58-88B3-93D7-F65C-657C37F204DA}"/>
                </a:ext>
              </a:extLst>
            </p:cNvPr>
            <p:cNvSpPr/>
            <p:nvPr/>
          </p:nvSpPr>
          <p:spPr>
            <a:xfrm>
              <a:off x="7651750" y="215550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FB026DD-836B-CBD5-6120-A0555E4742F0}"/>
                </a:ext>
              </a:extLst>
            </p:cNvPr>
            <p:cNvSpPr/>
            <p:nvPr/>
          </p:nvSpPr>
          <p:spPr>
            <a:xfrm>
              <a:off x="6385560" y="262032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FDDD53A-93E5-F3F8-9913-000054228E84}"/>
                </a:ext>
              </a:extLst>
            </p:cNvPr>
            <p:cNvSpPr/>
            <p:nvPr/>
          </p:nvSpPr>
          <p:spPr>
            <a:xfrm>
              <a:off x="6811010" y="262032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1835E36-F219-F00B-7D7F-5400C7FC2862}"/>
                </a:ext>
              </a:extLst>
            </p:cNvPr>
            <p:cNvSpPr/>
            <p:nvPr/>
          </p:nvSpPr>
          <p:spPr>
            <a:xfrm>
              <a:off x="7236460" y="262032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90705B6-50D6-BB18-61B3-C2D9C3224656}"/>
                </a:ext>
              </a:extLst>
            </p:cNvPr>
            <p:cNvSpPr/>
            <p:nvPr/>
          </p:nvSpPr>
          <p:spPr>
            <a:xfrm>
              <a:off x="7661910" y="262032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1CD9107-CC2C-CA10-AD73-1A374AE1071E}"/>
                </a:ext>
              </a:extLst>
            </p:cNvPr>
            <p:cNvSpPr/>
            <p:nvPr/>
          </p:nvSpPr>
          <p:spPr>
            <a:xfrm>
              <a:off x="6395720" y="308514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815680F-626C-595B-E618-21BE4C1D15FC}"/>
                </a:ext>
              </a:extLst>
            </p:cNvPr>
            <p:cNvSpPr/>
            <p:nvPr/>
          </p:nvSpPr>
          <p:spPr>
            <a:xfrm>
              <a:off x="6821170" y="308514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F44624E-93FC-C4A0-4E58-39F6FDDA9EF8}"/>
                </a:ext>
              </a:extLst>
            </p:cNvPr>
            <p:cNvSpPr/>
            <p:nvPr/>
          </p:nvSpPr>
          <p:spPr>
            <a:xfrm>
              <a:off x="7246620" y="308514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D1D5E4-FAA5-7B24-96B3-F848EC3B7DC1}"/>
                </a:ext>
              </a:extLst>
            </p:cNvPr>
            <p:cNvSpPr/>
            <p:nvPr/>
          </p:nvSpPr>
          <p:spPr>
            <a:xfrm>
              <a:off x="7672070" y="3085148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4A5148B-AE1C-15AE-128D-869A931E30EA}"/>
                </a:ext>
              </a:extLst>
            </p:cNvPr>
            <p:cNvCxnSpPr/>
            <p:nvPr/>
          </p:nvCxnSpPr>
          <p:spPr>
            <a:xfrm>
              <a:off x="6507480" y="1845945"/>
              <a:ext cx="1303020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C5815D1-930C-ADDE-8654-B9AA638AC625}"/>
                </a:ext>
              </a:extLst>
            </p:cNvPr>
            <p:cNvCxnSpPr/>
            <p:nvPr/>
          </p:nvCxnSpPr>
          <p:spPr>
            <a:xfrm>
              <a:off x="6507480" y="2324099"/>
              <a:ext cx="1303020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76F3558-B2E4-8F3E-AB25-CF8A4055FA16}"/>
                </a:ext>
              </a:extLst>
            </p:cNvPr>
            <p:cNvCxnSpPr/>
            <p:nvPr/>
          </p:nvCxnSpPr>
          <p:spPr>
            <a:xfrm>
              <a:off x="6507480" y="2778440"/>
              <a:ext cx="1303020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9652570-24AA-A773-FA7C-F67D2EAA2955}"/>
                </a:ext>
              </a:extLst>
            </p:cNvPr>
            <p:cNvCxnSpPr/>
            <p:nvPr/>
          </p:nvCxnSpPr>
          <p:spPr>
            <a:xfrm>
              <a:off x="6507480" y="3232781"/>
              <a:ext cx="1303020" cy="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659C50A-F67D-4CEA-A4BA-E9A79307E4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7480" y="1852296"/>
              <a:ext cx="1287145" cy="471803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A4E72C6-EF2A-C2AF-0EB8-30BB8D82FC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5260" y="2315368"/>
              <a:ext cx="1266190" cy="448709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716C24C-F6AB-5D2C-3BA1-AFF5F38C1E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5420" y="2771735"/>
              <a:ext cx="1266190" cy="465019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E99B3B0-77CC-D5B7-FCE5-52822F37284C}"/>
              </a:ext>
            </a:extLst>
          </p:cNvPr>
          <p:cNvGrpSpPr/>
          <p:nvPr/>
        </p:nvGrpSpPr>
        <p:grpSpPr>
          <a:xfrm>
            <a:off x="3911245" y="3479902"/>
            <a:ext cx="1268928" cy="1366832"/>
            <a:chOff x="6375400" y="3718559"/>
            <a:chExt cx="1576070" cy="169767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156A8C3-F929-7E98-8A87-C9E1007EC0CA}"/>
                </a:ext>
              </a:extLst>
            </p:cNvPr>
            <p:cNvSpPr/>
            <p:nvPr/>
          </p:nvSpPr>
          <p:spPr>
            <a:xfrm>
              <a:off x="6375400" y="371855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EC39609-1C69-47D1-CB97-ADCED66C657E}"/>
                </a:ext>
              </a:extLst>
            </p:cNvPr>
            <p:cNvSpPr/>
            <p:nvPr/>
          </p:nvSpPr>
          <p:spPr>
            <a:xfrm>
              <a:off x="6800850" y="371855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5E91004-E562-3395-DADC-25D3FF0D1713}"/>
                </a:ext>
              </a:extLst>
            </p:cNvPr>
            <p:cNvSpPr/>
            <p:nvPr/>
          </p:nvSpPr>
          <p:spPr>
            <a:xfrm>
              <a:off x="7226300" y="371855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7AAE017-8A66-43D7-29F9-A8DD55A8DDAF}"/>
                </a:ext>
              </a:extLst>
            </p:cNvPr>
            <p:cNvSpPr/>
            <p:nvPr/>
          </p:nvSpPr>
          <p:spPr>
            <a:xfrm>
              <a:off x="7651750" y="371855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67B98B0-5DE9-2CE4-0EBD-E972EF73F439}"/>
                </a:ext>
              </a:extLst>
            </p:cNvPr>
            <p:cNvSpPr/>
            <p:nvPr/>
          </p:nvSpPr>
          <p:spPr>
            <a:xfrm>
              <a:off x="6375400" y="418337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A248E10-E97F-0B6C-0B37-2129F7B2BE68}"/>
                </a:ext>
              </a:extLst>
            </p:cNvPr>
            <p:cNvSpPr/>
            <p:nvPr/>
          </p:nvSpPr>
          <p:spPr>
            <a:xfrm>
              <a:off x="6800850" y="418337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BBDDE38-4781-ABFF-2A3C-8BF7AA734580}"/>
                </a:ext>
              </a:extLst>
            </p:cNvPr>
            <p:cNvSpPr/>
            <p:nvPr/>
          </p:nvSpPr>
          <p:spPr>
            <a:xfrm>
              <a:off x="7226300" y="418337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9610172-7482-B6F9-A499-68A42819F94D}"/>
                </a:ext>
              </a:extLst>
            </p:cNvPr>
            <p:cNvSpPr/>
            <p:nvPr/>
          </p:nvSpPr>
          <p:spPr>
            <a:xfrm>
              <a:off x="7651750" y="418337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C055B76-3746-0F37-C8B7-7CC0A967BB51}"/>
                </a:ext>
              </a:extLst>
            </p:cNvPr>
            <p:cNvSpPr/>
            <p:nvPr/>
          </p:nvSpPr>
          <p:spPr>
            <a:xfrm>
              <a:off x="6385560" y="464819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224B706-2A23-424B-0ADF-EF0142B23865}"/>
                </a:ext>
              </a:extLst>
            </p:cNvPr>
            <p:cNvSpPr/>
            <p:nvPr/>
          </p:nvSpPr>
          <p:spPr>
            <a:xfrm>
              <a:off x="6811010" y="464819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A958801-B774-2A11-328B-C11422C81E00}"/>
                </a:ext>
              </a:extLst>
            </p:cNvPr>
            <p:cNvSpPr/>
            <p:nvPr/>
          </p:nvSpPr>
          <p:spPr>
            <a:xfrm>
              <a:off x="7236460" y="464819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BDB0DFC-B7F9-59A1-7C7E-70CB98368A84}"/>
                </a:ext>
              </a:extLst>
            </p:cNvPr>
            <p:cNvSpPr/>
            <p:nvPr/>
          </p:nvSpPr>
          <p:spPr>
            <a:xfrm>
              <a:off x="7661910" y="464819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C4A156-D691-7B22-A2F7-4894980FCFA4}"/>
                </a:ext>
              </a:extLst>
            </p:cNvPr>
            <p:cNvSpPr/>
            <p:nvPr/>
          </p:nvSpPr>
          <p:spPr>
            <a:xfrm>
              <a:off x="6395720" y="511301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47415C4-9C31-223E-C297-209AF7176F23}"/>
                </a:ext>
              </a:extLst>
            </p:cNvPr>
            <p:cNvSpPr/>
            <p:nvPr/>
          </p:nvSpPr>
          <p:spPr>
            <a:xfrm>
              <a:off x="6821170" y="511301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C6A9225-1158-97A4-400C-2733F6470DB7}"/>
                </a:ext>
              </a:extLst>
            </p:cNvPr>
            <p:cNvSpPr/>
            <p:nvPr/>
          </p:nvSpPr>
          <p:spPr>
            <a:xfrm>
              <a:off x="7246620" y="511301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8239961-B3F9-C597-00E2-2D459EE1E1EC}"/>
                </a:ext>
              </a:extLst>
            </p:cNvPr>
            <p:cNvSpPr/>
            <p:nvPr/>
          </p:nvSpPr>
          <p:spPr>
            <a:xfrm>
              <a:off x="7672070" y="5113019"/>
              <a:ext cx="279400" cy="303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642A637-E3D3-B295-EBDF-2DFC9D8E7C35}"/>
                </a:ext>
              </a:extLst>
            </p:cNvPr>
            <p:cNvCxnSpPr>
              <a:cxnSpLocks/>
            </p:cNvCxnSpPr>
            <p:nvPr/>
          </p:nvCxnSpPr>
          <p:spPr>
            <a:xfrm>
              <a:off x="6512560" y="3870165"/>
              <a:ext cx="20320" cy="139446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3CC7E51E-335D-8FC7-62C8-C60267E2C3FA}"/>
                </a:ext>
              </a:extLst>
            </p:cNvPr>
            <p:cNvCxnSpPr>
              <a:cxnSpLocks/>
            </p:cNvCxnSpPr>
            <p:nvPr/>
          </p:nvCxnSpPr>
          <p:spPr>
            <a:xfrm>
              <a:off x="6941185" y="3870165"/>
              <a:ext cx="20320" cy="139446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5D5953C-31B9-3B6F-C212-7E2A2F46E41E}"/>
                </a:ext>
              </a:extLst>
            </p:cNvPr>
            <p:cNvCxnSpPr>
              <a:cxnSpLocks/>
            </p:cNvCxnSpPr>
            <p:nvPr/>
          </p:nvCxnSpPr>
          <p:spPr>
            <a:xfrm>
              <a:off x="7356475" y="3870165"/>
              <a:ext cx="20320" cy="139446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DCDFC4FD-C680-8237-A39E-D8ECA2C7EA8D}"/>
                </a:ext>
              </a:extLst>
            </p:cNvPr>
            <p:cNvCxnSpPr>
              <a:cxnSpLocks/>
            </p:cNvCxnSpPr>
            <p:nvPr/>
          </p:nvCxnSpPr>
          <p:spPr>
            <a:xfrm>
              <a:off x="7790180" y="3870165"/>
              <a:ext cx="20320" cy="139446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DA2209B-03D3-789B-85E7-533AED9DE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9550" y="3870165"/>
              <a:ext cx="359410" cy="139446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D8347E7-75CC-1EC9-8294-3321C02053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8650" y="3870165"/>
              <a:ext cx="359410" cy="139446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6C1D9E61-9AE1-A8FB-7911-F582C017A9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7750" y="3870165"/>
              <a:ext cx="359410" cy="1394460"/>
            </a:xfrm>
            <a:prstGeom prst="straightConnector1">
              <a:avLst/>
            </a:prstGeom>
            <a:ln w="12700"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E1DC86-1C87-E4BB-C30D-AF9E3CD8183F}"/>
              </a:ext>
            </a:extLst>
          </p:cNvPr>
          <p:cNvSpPr txBox="1"/>
          <p:nvPr/>
        </p:nvSpPr>
        <p:spPr>
          <a:xfrm>
            <a:off x="0" y="1655512"/>
            <a:ext cx="504024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8192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RowMajor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3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3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3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ColumnMajor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3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3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3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3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3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FE104-22F3-F198-8561-51081EF1ABB8}"/>
              </a:ext>
            </a:extLst>
          </p:cNvPr>
          <p:cNvSpPr txBox="1"/>
          <p:nvPr/>
        </p:nvSpPr>
        <p:spPr>
          <a:xfrm>
            <a:off x="5887611" y="1602971"/>
            <a:ext cx="630438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data;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MatrixContext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MatrixMeasured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MatrixContext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1600" dirty="0">
                <a:solidFill>
                  <a:srgbClr val="8A1BFF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8A1BFF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MatrixContext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rowCtx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RowMajor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MatrixContext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colCtx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ColumnMajor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Measure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row-major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MatrixMeasured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rowCtx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Measure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column-major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MatrixMeasured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colCtx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free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E07CF-5897-855F-56D2-91634AFBE11D}"/>
              </a:ext>
            </a:extLst>
          </p:cNvPr>
          <p:cNvSpPr txBox="1"/>
          <p:nvPr/>
        </p:nvSpPr>
        <p:spPr>
          <a:xfrm>
            <a:off x="208218" y="6147845"/>
            <a:ext cx="3912838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row-major: 0.020562 sec</a:t>
            </a:r>
          </a:p>
          <a:p>
            <a:r>
              <a:rPr lang="en-US" dirty="0">
                <a:latin typeface="Consolas" panose="020B0609020204030204" pitchFamily="49" charset="0"/>
              </a:rPr>
              <a:t>column-major: 1.082925 sec</a:t>
            </a:r>
          </a:p>
        </p:txBody>
      </p:sp>
    </p:spTree>
    <p:extLst>
      <p:ext uri="{BB962C8B-B14F-4D97-AF65-F5344CB8AC3E}">
        <p14:creationId xmlns:p14="http://schemas.microsoft.com/office/powerpoint/2010/main" val="273288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69B874-028C-1709-D5E1-220228D7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Кеш-линии (</a:t>
            </a:r>
            <a:r>
              <a:rPr lang="en-US" dirty="0"/>
              <a:t>Cache Lines)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51656-76C3-ACB8-CD53-6D005C8C2F9E}"/>
              </a:ext>
            </a:extLst>
          </p:cNvPr>
          <p:cNvSpPr txBox="1"/>
          <p:nvPr/>
        </p:nvSpPr>
        <p:spPr>
          <a:xfrm>
            <a:off x="6096000" y="2019300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48BACE-462E-7AA5-CE9A-C554D7E0AC83}"/>
              </a:ext>
            </a:extLst>
          </p:cNvPr>
          <p:cNvSpPr/>
          <p:nvPr/>
        </p:nvSpPr>
        <p:spPr>
          <a:xfrm>
            <a:off x="7610474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7BBF7F-A11C-B2C1-E70D-63768BC31FBF}"/>
              </a:ext>
            </a:extLst>
          </p:cNvPr>
          <p:cNvSpPr/>
          <p:nvPr/>
        </p:nvSpPr>
        <p:spPr>
          <a:xfrm>
            <a:off x="7877175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2C8C54-4520-D184-F264-9A1967A25C7D}"/>
              </a:ext>
            </a:extLst>
          </p:cNvPr>
          <p:cNvSpPr/>
          <p:nvPr/>
        </p:nvSpPr>
        <p:spPr>
          <a:xfrm>
            <a:off x="8143876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2E679-A905-45AE-08B3-7C081C5E8585}"/>
              </a:ext>
            </a:extLst>
          </p:cNvPr>
          <p:cNvSpPr/>
          <p:nvPr/>
        </p:nvSpPr>
        <p:spPr>
          <a:xfrm>
            <a:off x="8410577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50091A-61F7-6643-39CF-93635BEAFFA6}"/>
              </a:ext>
            </a:extLst>
          </p:cNvPr>
          <p:cNvSpPr/>
          <p:nvPr/>
        </p:nvSpPr>
        <p:spPr>
          <a:xfrm>
            <a:off x="8677278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344182-A400-65B9-569C-BB3E97CE7302}"/>
              </a:ext>
            </a:extLst>
          </p:cNvPr>
          <p:cNvSpPr/>
          <p:nvPr/>
        </p:nvSpPr>
        <p:spPr>
          <a:xfrm>
            <a:off x="8943979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1DE75B-2ED9-BF97-2974-10A2ADD5CF3F}"/>
              </a:ext>
            </a:extLst>
          </p:cNvPr>
          <p:cNvSpPr/>
          <p:nvPr/>
        </p:nvSpPr>
        <p:spPr>
          <a:xfrm>
            <a:off x="9210680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941F8-715D-2013-91A6-CB066EDED872}"/>
              </a:ext>
            </a:extLst>
          </p:cNvPr>
          <p:cNvSpPr/>
          <p:nvPr/>
        </p:nvSpPr>
        <p:spPr>
          <a:xfrm>
            <a:off x="9477381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702525-52C7-CFA4-5896-2B58C65756B3}"/>
              </a:ext>
            </a:extLst>
          </p:cNvPr>
          <p:cNvSpPr/>
          <p:nvPr/>
        </p:nvSpPr>
        <p:spPr>
          <a:xfrm>
            <a:off x="9744082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BE696-66A2-3D95-3CE9-F986BB447701}"/>
              </a:ext>
            </a:extLst>
          </p:cNvPr>
          <p:cNvSpPr/>
          <p:nvPr/>
        </p:nvSpPr>
        <p:spPr>
          <a:xfrm>
            <a:off x="10010783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60EF95-0647-902F-CA4C-2228A725F9F9}"/>
              </a:ext>
            </a:extLst>
          </p:cNvPr>
          <p:cNvSpPr/>
          <p:nvPr/>
        </p:nvSpPr>
        <p:spPr>
          <a:xfrm>
            <a:off x="10277484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0A0BBB-529A-C590-F850-5CD58A595B6D}"/>
              </a:ext>
            </a:extLst>
          </p:cNvPr>
          <p:cNvSpPr/>
          <p:nvPr/>
        </p:nvSpPr>
        <p:spPr>
          <a:xfrm>
            <a:off x="10544185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E5BD94-89D7-D63E-9093-EA2A72552C35}"/>
              </a:ext>
            </a:extLst>
          </p:cNvPr>
          <p:cNvSpPr/>
          <p:nvPr/>
        </p:nvSpPr>
        <p:spPr>
          <a:xfrm>
            <a:off x="10810886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62BF85-B0F3-63EB-A8A0-1EBDF45F4BDF}"/>
              </a:ext>
            </a:extLst>
          </p:cNvPr>
          <p:cNvSpPr/>
          <p:nvPr/>
        </p:nvSpPr>
        <p:spPr>
          <a:xfrm>
            <a:off x="11077587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877643-37CE-099A-5A2B-DF84E1E765E0}"/>
              </a:ext>
            </a:extLst>
          </p:cNvPr>
          <p:cNvSpPr/>
          <p:nvPr/>
        </p:nvSpPr>
        <p:spPr>
          <a:xfrm>
            <a:off x="11344288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BD1DA-F407-2CCA-AE3B-86C242FD7894}"/>
              </a:ext>
            </a:extLst>
          </p:cNvPr>
          <p:cNvSpPr/>
          <p:nvPr/>
        </p:nvSpPr>
        <p:spPr>
          <a:xfrm>
            <a:off x="11610989" y="2028825"/>
            <a:ext cx="266701" cy="35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4F879BD-6D64-C188-5B8E-FDA51ACE0F59}"/>
              </a:ext>
            </a:extLst>
          </p:cNvPr>
          <p:cNvSpPr txBox="1"/>
          <p:nvPr/>
        </p:nvSpPr>
        <p:spPr>
          <a:xfrm>
            <a:off x="6096000" y="2357437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0x00000040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4D142D95-0005-DA27-7BAD-CEF0CCBCB73B}"/>
              </a:ext>
            </a:extLst>
          </p:cNvPr>
          <p:cNvSpPr/>
          <p:nvPr/>
        </p:nvSpPr>
        <p:spPr>
          <a:xfrm>
            <a:off x="7610474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CFCA8B4-DFE1-1291-23B4-1AA2ACF94916}"/>
              </a:ext>
            </a:extLst>
          </p:cNvPr>
          <p:cNvSpPr/>
          <p:nvPr/>
        </p:nvSpPr>
        <p:spPr>
          <a:xfrm>
            <a:off x="7877175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A4982F10-6E56-4D72-AB20-151D306CC2A4}"/>
              </a:ext>
            </a:extLst>
          </p:cNvPr>
          <p:cNvSpPr/>
          <p:nvPr/>
        </p:nvSpPr>
        <p:spPr>
          <a:xfrm>
            <a:off x="8143876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9A70B418-BB19-75DB-8CF2-4922DADBD9E8}"/>
              </a:ext>
            </a:extLst>
          </p:cNvPr>
          <p:cNvSpPr/>
          <p:nvPr/>
        </p:nvSpPr>
        <p:spPr>
          <a:xfrm>
            <a:off x="8410577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A88C761-2C14-D786-6C3E-70015E6AB4C4}"/>
              </a:ext>
            </a:extLst>
          </p:cNvPr>
          <p:cNvSpPr/>
          <p:nvPr/>
        </p:nvSpPr>
        <p:spPr>
          <a:xfrm>
            <a:off x="8677278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F318769-2488-6DF0-0389-FEE31B615004}"/>
              </a:ext>
            </a:extLst>
          </p:cNvPr>
          <p:cNvSpPr/>
          <p:nvPr/>
        </p:nvSpPr>
        <p:spPr>
          <a:xfrm>
            <a:off x="8943979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8B7F8E9-DBA1-1029-4053-B857CF7EDA2E}"/>
              </a:ext>
            </a:extLst>
          </p:cNvPr>
          <p:cNvSpPr/>
          <p:nvPr/>
        </p:nvSpPr>
        <p:spPr>
          <a:xfrm>
            <a:off x="9210680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63F346D6-DA66-C8EB-D58D-839F917147C8}"/>
              </a:ext>
            </a:extLst>
          </p:cNvPr>
          <p:cNvSpPr/>
          <p:nvPr/>
        </p:nvSpPr>
        <p:spPr>
          <a:xfrm>
            <a:off x="9477381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7095BA97-D2CF-D823-80C0-593EA80DBBD5}"/>
              </a:ext>
            </a:extLst>
          </p:cNvPr>
          <p:cNvSpPr/>
          <p:nvPr/>
        </p:nvSpPr>
        <p:spPr>
          <a:xfrm>
            <a:off x="9744082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384662B-831C-58C7-F479-B579CBBF8B20}"/>
              </a:ext>
            </a:extLst>
          </p:cNvPr>
          <p:cNvSpPr/>
          <p:nvPr/>
        </p:nvSpPr>
        <p:spPr>
          <a:xfrm>
            <a:off x="10010783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069CC463-B2EF-3B04-412F-AE21135E3C94}"/>
              </a:ext>
            </a:extLst>
          </p:cNvPr>
          <p:cNvSpPr/>
          <p:nvPr/>
        </p:nvSpPr>
        <p:spPr>
          <a:xfrm>
            <a:off x="10277484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1D606E2A-5DB9-A1C4-9BA3-A4EB07F01C07}"/>
              </a:ext>
            </a:extLst>
          </p:cNvPr>
          <p:cNvSpPr/>
          <p:nvPr/>
        </p:nvSpPr>
        <p:spPr>
          <a:xfrm>
            <a:off x="10544185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1A8F821-486F-84AC-84B2-4F101E357D19}"/>
              </a:ext>
            </a:extLst>
          </p:cNvPr>
          <p:cNvSpPr/>
          <p:nvPr/>
        </p:nvSpPr>
        <p:spPr>
          <a:xfrm>
            <a:off x="10810886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0EC2471F-49F7-5B09-87E5-C5462403F66D}"/>
              </a:ext>
            </a:extLst>
          </p:cNvPr>
          <p:cNvSpPr/>
          <p:nvPr/>
        </p:nvSpPr>
        <p:spPr>
          <a:xfrm>
            <a:off x="11077587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F974D83F-788B-85DE-3C57-6D9D5EE96DD2}"/>
              </a:ext>
            </a:extLst>
          </p:cNvPr>
          <p:cNvSpPr/>
          <p:nvPr/>
        </p:nvSpPr>
        <p:spPr>
          <a:xfrm>
            <a:off x="11344288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51ED5502-A89F-67AF-8407-94B465B286C0}"/>
              </a:ext>
            </a:extLst>
          </p:cNvPr>
          <p:cNvSpPr/>
          <p:nvPr/>
        </p:nvSpPr>
        <p:spPr>
          <a:xfrm>
            <a:off x="11610989" y="2366962"/>
            <a:ext cx="266701" cy="3524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4F196A0E-4940-2134-5971-D486FEEED210}"/>
              </a:ext>
            </a:extLst>
          </p:cNvPr>
          <p:cNvSpPr txBox="1"/>
          <p:nvPr/>
        </p:nvSpPr>
        <p:spPr>
          <a:xfrm>
            <a:off x="6096000" y="2695574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0x00000080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7CD1C87D-CA81-23EF-9255-334C60342CE4}"/>
              </a:ext>
            </a:extLst>
          </p:cNvPr>
          <p:cNvSpPr/>
          <p:nvPr/>
        </p:nvSpPr>
        <p:spPr>
          <a:xfrm>
            <a:off x="7610474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103BE469-EF26-689D-D5F3-5BB879DE9D3C}"/>
              </a:ext>
            </a:extLst>
          </p:cNvPr>
          <p:cNvSpPr/>
          <p:nvPr/>
        </p:nvSpPr>
        <p:spPr>
          <a:xfrm>
            <a:off x="7877175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E8A104D0-9C6B-0BB5-0A46-ACF062A37756}"/>
              </a:ext>
            </a:extLst>
          </p:cNvPr>
          <p:cNvSpPr/>
          <p:nvPr/>
        </p:nvSpPr>
        <p:spPr>
          <a:xfrm>
            <a:off x="8143876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993C5F0E-258B-7B2F-D94A-FCCD3BB4CF5F}"/>
              </a:ext>
            </a:extLst>
          </p:cNvPr>
          <p:cNvSpPr/>
          <p:nvPr/>
        </p:nvSpPr>
        <p:spPr>
          <a:xfrm>
            <a:off x="8410577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A65C90F-DA06-E520-D6EE-F66BFD275246}"/>
              </a:ext>
            </a:extLst>
          </p:cNvPr>
          <p:cNvSpPr/>
          <p:nvPr/>
        </p:nvSpPr>
        <p:spPr>
          <a:xfrm>
            <a:off x="8677278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733E81-A2DF-D2FA-A2A7-1853E50E263D}"/>
              </a:ext>
            </a:extLst>
          </p:cNvPr>
          <p:cNvSpPr/>
          <p:nvPr/>
        </p:nvSpPr>
        <p:spPr>
          <a:xfrm>
            <a:off x="8943979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7244CCCF-ACBA-6D06-8D96-D15D4E62B5C2}"/>
              </a:ext>
            </a:extLst>
          </p:cNvPr>
          <p:cNvSpPr/>
          <p:nvPr/>
        </p:nvSpPr>
        <p:spPr>
          <a:xfrm>
            <a:off x="9210680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B709A4A4-C3C2-A0B4-0AEE-9FB54E587684}"/>
              </a:ext>
            </a:extLst>
          </p:cNvPr>
          <p:cNvSpPr/>
          <p:nvPr/>
        </p:nvSpPr>
        <p:spPr>
          <a:xfrm>
            <a:off x="9477381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3B0ED8AE-A673-83F1-8693-2A680C8F6E24}"/>
              </a:ext>
            </a:extLst>
          </p:cNvPr>
          <p:cNvSpPr/>
          <p:nvPr/>
        </p:nvSpPr>
        <p:spPr>
          <a:xfrm>
            <a:off x="9744082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885F317-6B2B-C924-500B-2BFEF08B230C}"/>
              </a:ext>
            </a:extLst>
          </p:cNvPr>
          <p:cNvSpPr/>
          <p:nvPr/>
        </p:nvSpPr>
        <p:spPr>
          <a:xfrm>
            <a:off x="10010783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61DADEFF-1A8C-6402-CB00-52689652B7FB}"/>
              </a:ext>
            </a:extLst>
          </p:cNvPr>
          <p:cNvSpPr/>
          <p:nvPr/>
        </p:nvSpPr>
        <p:spPr>
          <a:xfrm>
            <a:off x="10277484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E4ECBB6F-F8E4-D5FD-1124-A1D4EAF54E6D}"/>
              </a:ext>
            </a:extLst>
          </p:cNvPr>
          <p:cNvSpPr/>
          <p:nvPr/>
        </p:nvSpPr>
        <p:spPr>
          <a:xfrm>
            <a:off x="10544185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168C1DA3-E85C-8088-0118-185DD3683F2A}"/>
              </a:ext>
            </a:extLst>
          </p:cNvPr>
          <p:cNvSpPr/>
          <p:nvPr/>
        </p:nvSpPr>
        <p:spPr>
          <a:xfrm>
            <a:off x="10810886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24F86FB9-37BD-222F-511B-298B782107A3}"/>
              </a:ext>
            </a:extLst>
          </p:cNvPr>
          <p:cNvSpPr/>
          <p:nvPr/>
        </p:nvSpPr>
        <p:spPr>
          <a:xfrm>
            <a:off x="11077587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775EE4F-B96A-E00D-A984-90AFFA2E1BB7}"/>
              </a:ext>
            </a:extLst>
          </p:cNvPr>
          <p:cNvSpPr/>
          <p:nvPr/>
        </p:nvSpPr>
        <p:spPr>
          <a:xfrm>
            <a:off x="11344288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490AC82A-132C-730F-D7D7-308B704F29C4}"/>
              </a:ext>
            </a:extLst>
          </p:cNvPr>
          <p:cNvSpPr/>
          <p:nvPr/>
        </p:nvSpPr>
        <p:spPr>
          <a:xfrm>
            <a:off x="11610989" y="270509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13AA300F-1291-1E56-9C73-822CD8875686}"/>
              </a:ext>
            </a:extLst>
          </p:cNvPr>
          <p:cNvSpPr txBox="1"/>
          <p:nvPr/>
        </p:nvSpPr>
        <p:spPr>
          <a:xfrm>
            <a:off x="6096000" y="3033711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0x000000C0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94B86761-31FF-513E-2D0A-03E7772860C5}"/>
              </a:ext>
            </a:extLst>
          </p:cNvPr>
          <p:cNvSpPr/>
          <p:nvPr/>
        </p:nvSpPr>
        <p:spPr>
          <a:xfrm>
            <a:off x="7610474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6832DAAD-58F2-E62A-36B2-7EECB77817E6}"/>
              </a:ext>
            </a:extLst>
          </p:cNvPr>
          <p:cNvSpPr/>
          <p:nvPr/>
        </p:nvSpPr>
        <p:spPr>
          <a:xfrm>
            <a:off x="7877175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F7D012D-6C3B-8B3D-0AF1-67959E4361A7}"/>
              </a:ext>
            </a:extLst>
          </p:cNvPr>
          <p:cNvSpPr/>
          <p:nvPr/>
        </p:nvSpPr>
        <p:spPr>
          <a:xfrm>
            <a:off x="8143876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3AD01B82-52BD-02E4-2F21-D2E5FB542A3B}"/>
              </a:ext>
            </a:extLst>
          </p:cNvPr>
          <p:cNvSpPr/>
          <p:nvPr/>
        </p:nvSpPr>
        <p:spPr>
          <a:xfrm>
            <a:off x="8410577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0555FF3-3707-7FAB-90AF-2723BE05150B}"/>
              </a:ext>
            </a:extLst>
          </p:cNvPr>
          <p:cNvSpPr/>
          <p:nvPr/>
        </p:nvSpPr>
        <p:spPr>
          <a:xfrm>
            <a:off x="8677278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10646DB-72E9-8B71-DB8B-28961D04C2C9}"/>
              </a:ext>
            </a:extLst>
          </p:cNvPr>
          <p:cNvSpPr/>
          <p:nvPr/>
        </p:nvSpPr>
        <p:spPr>
          <a:xfrm>
            <a:off x="8943979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077E863-F744-F9B9-7104-48FC5BD9E4FD}"/>
              </a:ext>
            </a:extLst>
          </p:cNvPr>
          <p:cNvSpPr/>
          <p:nvPr/>
        </p:nvSpPr>
        <p:spPr>
          <a:xfrm>
            <a:off x="9210680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E84FFC5E-BCE6-D9C9-8B90-73A27E4936CB}"/>
              </a:ext>
            </a:extLst>
          </p:cNvPr>
          <p:cNvSpPr/>
          <p:nvPr/>
        </p:nvSpPr>
        <p:spPr>
          <a:xfrm>
            <a:off x="9477381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3331B065-7803-D32A-277F-FBE1BE5ADEFE}"/>
              </a:ext>
            </a:extLst>
          </p:cNvPr>
          <p:cNvSpPr/>
          <p:nvPr/>
        </p:nvSpPr>
        <p:spPr>
          <a:xfrm>
            <a:off x="9744082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E14A287-9E58-D1DB-3D79-227141C131BB}"/>
              </a:ext>
            </a:extLst>
          </p:cNvPr>
          <p:cNvSpPr/>
          <p:nvPr/>
        </p:nvSpPr>
        <p:spPr>
          <a:xfrm>
            <a:off x="10010783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A6C43D2A-F436-AF1D-8FED-B9802FF04420}"/>
              </a:ext>
            </a:extLst>
          </p:cNvPr>
          <p:cNvSpPr/>
          <p:nvPr/>
        </p:nvSpPr>
        <p:spPr>
          <a:xfrm>
            <a:off x="10277484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050A3E4-76A6-BC33-496A-C6597A685AEE}"/>
              </a:ext>
            </a:extLst>
          </p:cNvPr>
          <p:cNvSpPr/>
          <p:nvPr/>
        </p:nvSpPr>
        <p:spPr>
          <a:xfrm>
            <a:off x="10544185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B6262571-1875-BADC-0D0F-4B4095CDB762}"/>
              </a:ext>
            </a:extLst>
          </p:cNvPr>
          <p:cNvSpPr/>
          <p:nvPr/>
        </p:nvSpPr>
        <p:spPr>
          <a:xfrm>
            <a:off x="10810886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A8D3B4B9-819D-0B74-EFED-41CDC3F55DE1}"/>
              </a:ext>
            </a:extLst>
          </p:cNvPr>
          <p:cNvSpPr/>
          <p:nvPr/>
        </p:nvSpPr>
        <p:spPr>
          <a:xfrm>
            <a:off x="11077587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A0C503F3-55DC-53F3-4C12-12F8E3AE8E95}"/>
              </a:ext>
            </a:extLst>
          </p:cNvPr>
          <p:cNvSpPr/>
          <p:nvPr/>
        </p:nvSpPr>
        <p:spPr>
          <a:xfrm>
            <a:off x="11344288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44E2C573-1F4F-3BFE-65AD-694288F3626A}"/>
              </a:ext>
            </a:extLst>
          </p:cNvPr>
          <p:cNvSpPr/>
          <p:nvPr/>
        </p:nvSpPr>
        <p:spPr>
          <a:xfrm>
            <a:off x="11610989" y="304323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27D9520-5BC5-60B6-2E20-0AA000F09665}"/>
              </a:ext>
            </a:extLst>
          </p:cNvPr>
          <p:cNvSpPr txBox="1"/>
          <p:nvPr/>
        </p:nvSpPr>
        <p:spPr>
          <a:xfrm>
            <a:off x="6096000" y="3371848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0x00000100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8EB96474-E828-E35C-9418-2DAB9AA7EC6F}"/>
              </a:ext>
            </a:extLst>
          </p:cNvPr>
          <p:cNvSpPr/>
          <p:nvPr/>
        </p:nvSpPr>
        <p:spPr>
          <a:xfrm>
            <a:off x="7610474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1A54A65C-44C7-E7FA-AE05-45095D625784}"/>
              </a:ext>
            </a:extLst>
          </p:cNvPr>
          <p:cNvSpPr/>
          <p:nvPr/>
        </p:nvSpPr>
        <p:spPr>
          <a:xfrm>
            <a:off x="7877175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6C84E16E-9611-4686-4DB7-F6A1037D3072}"/>
              </a:ext>
            </a:extLst>
          </p:cNvPr>
          <p:cNvSpPr/>
          <p:nvPr/>
        </p:nvSpPr>
        <p:spPr>
          <a:xfrm>
            <a:off x="8143876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61344D7-435F-42A8-1666-964542D1E8DE}"/>
              </a:ext>
            </a:extLst>
          </p:cNvPr>
          <p:cNvSpPr/>
          <p:nvPr/>
        </p:nvSpPr>
        <p:spPr>
          <a:xfrm>
            <a:off x="8410577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2DBDD95-E70D-9B70-06CA-644B5C507E40}"/>
              </a:ext>
            </a:extLst>
          </p:cNvPr>
          <p:cNvSpPr/>
          <p:nvPr/>
        </p:nvSpPr>
        <p:spPr>
          <a:xfrm>
            <a:off x="8677278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F47AF695-877C-1DE6-917E-92F53D9AD104}"/>
              </a:ext>
            </a:extLst>
          </p:cNvPr>
          <p:cNvSpPr/>
          <p:nvPr/>
        </p:nvSpPr>
        <p:spPr>
          <a:xfrm>
            <a:off x="8943979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63058515-C47D-110C-F0E0-07A75D913647}"/>
              </a:ext>
            </a:extLst>
          </p:cNvPr>
          <p:cNvSpPr/>
          <p:nvPr/>
        </p:nvSpPr>
        <p:spPr>
          <a:xfrm>
            <a:off x="9210680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A20F6E41-7214-C525-692A-5255B20323DB}"/>
              </a:ext>
            </a:extLst>
          </p:cNvPr>
          <p:cNvSpPr/>
          <p:nvPr/>
        </p:nvSpPr>
        <p:spPr>
          <a:xfrm>
            <a:off x="9477381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A77D448F-C980-B412-0378-E7498F57E909}"/>
              </a:ext>
            </a:extLst>
          </p:cNvPr>
          <p:cNvSpPr/>
          <p:nvPr/>
        </p:nvSpPr>
        <p:spPr>
          <a:xfrm>
            <a:off x="9744082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390C3326-C21F-DD0E-4D9C-6DBC773687B3}"/>
              </a:ext>
            </a:extLst>
          </p:cNvPr>
          <p:cNvSpPr/>
          <p:nvPr/>
        </p:nvSpPr>
        <p:spPr>
          <a:xfrm>
            <a:off x="10010783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A28C3DF1-08BB-F5A6-9613-9E0DD3F56315}"/>
              </a:ext>
            </a:extLst>
          </p:cNvPr>
          <p:cNvSpPr/>
          <p:nvPr/>
        </p:nvSpPr>
        <p:spPr>
          <a:xfrm>
            <a:off x="10277484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5AAD73C9-F4E2-8970-EBD4-F6FF1FA869DD}"/>
              </a:ext>
            </a:extLst>
          </p:cNvPr>
          <p:cNvSpPr/>
          <p:nvPr/>
        </p:nvSpPr>
        <p:spPr>
          <a:xfrm>
            <a:off x="10544185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FE79B177-19BB-0513-1702-9B1AAB3316A1}"/>
              </a:ext>
            </a:extLst>
          </p:cNvPr>
          <p:cNvSpPr/>
          <p:nvPr/>
        </p:nvSpPr>
        <p:spPr>
          <a:xfrm>
            <a:off x="10810886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0E4CB510-DACD-08A8-2CFC-493C5089BED4}"/>
              </a:ext>
            </a:extLst>
          </p:cNvPr>
          <p:cNvSpPr/>
          <p:nvPr/>
        </p:nvSpPr>
        <p:spPr>
          <a:xfrm>
            <a:off x="11077587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FB6430D-3871-0138-6604-340C8FE9D00A}"/>
              </a:ext>
            </a:extLst>
          </p:cNvPr>
          <p:cNvSpPr/>
          <p:nvPr/>
        </p:nvSpPr>
        <p:spPr>
          <a:xfrm>
            <a:off x="11344288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B75A829-22CF-A19B-8FA6-E628F8A9E2A9}"/>
              </a:ext>
            </a:extLst>
          </p:cNvPr>
          <p:cNvSpPr/>
          <p:nvPr/>
        </p:nvSpPr>
        <p:spPr>
          <a:xfrm>
            <a:off x="11610989" y="3381373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E98BB7B8-0111-BF65-F082-B79B13821ABB}"/>
              </a:ext>
            </a:extLst>
          </p:cNvPr>
          <p:cNvSpPr txBox="1"/>
          <p:nvPr/>
        </p:nvSpPr>
        <p:spPr>
          <a:xfrm>
            <a:off x="6096000" y="3709985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0x00000140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F31C5E0B-F45A-99F1-335C-21CE8A6EBAA0}"/>
              </a:ext>
            </a:extLst>
          </p:cNvPr>
          <p:cNvSpPr/>
          <p:nvPr/>
        </p:nvSpPr>
        <p:spPr>
          <a:xfrm>
            <a:off x="7610474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32CE6FD5-FADA-3163-2F25-4679F7B93786}"/>
              </a:ext>
            </a:extLst>
          </p:cNvPr>
          <p:cNvSpPr/>
          <p:nvPr/>
        </p:nvSpPr>
        <p:spPr>
          <a:xfrm>
            <a:off x="7877175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5B86A0FF-6970-36A7-6204-AB69FEE95FEB}"/>
              </a:ext>
            </a:extLst>
          </p:cNvPr>
          <p:cNvSpPr/>
          <p:nvPr/>
        </p:nvSpPr>
        <p:spPr>
          <a:xfrm>
            <a:off x="8143876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D72C4D5C-4A6C-E356-B944-F7F625B55056}"/>
              </a:ext>
            </a:extLst>
          </p:cNvPr>
          <p:cNvSpPr/>
          <p:nvPr/>
        </p:nvSpPr>
        <p:spPr>
          <a:xfrm>
            <a:off x="8410577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282A221-ECCA-6C1C-2792-4EADB5D3C054}"/>
              </a:ext>
            </a:extLst>
          </p:cNvPr>
          <p:cNvSpPr/>
          <p:nvPr/>
        </p:nvSpPr>
        <p:spPr>
          <a:xfrm>
            <a:off x="8677278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130492F1-EF96-ABAA-A045-5B4F27CEDE16}"/>
              </a:ext>
            </a:extLst>
          </p:cNvPr>
          <p:cNvSpPr/>
          <p:nvPr/>
        </p:nvSpPr>
        <p:spPr>
          <a:xfrm>
            <a:off x="8943979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AABD05E1-C0BD-C57B-3A5E-571D4EBC2269}"/>
              </a:ext>
            </a:extLst>
          </p:cNvPr>
          <p:cNvSpPr/>
          <p:nvPr/>
        </p:nvSpPr>
        <p:spPr>
          <a:xfrm>
            <a:off x="9210680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1FB5D4C7-6C5E-9FFF-3B9B-B746A1BF4962}"/>
              </a:ext>
            </a:extLst>
          </p:cNvPr>
          <p:cNvSpPr/>
          <p:nvPr/>
        </p:nvSpPr>
        <p:spPr>
          <a:xfrm>
            <a:off x="9477381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28F6C64C-EBAE-F8C2-E50B-A0B518F91C07}"/>
              </a:ext>
            </a:extLst>
          </p:cNvPr>
          <p:cNvSpPr/>
          <p:nvPr/>
        </p:nvSpPr>
        <p:spPr>
          <a:xfrm>
            <a:off x="9744082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682BF673-7645-77E9-4AE1-CA46271DD76A}"/>
              </a:ext>
            </a:extLst>
          </p:cNvPr>
          <p:cNvSpPr/>
          <p:nvPr/>
        </p:nvSpPr>
        <p:spPr>
          <a:xfrm>
            <a:off x="10010783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9B7F1BF-8E40-AF2E-A6AA-6DC11B47DA8A}"/>
              </a:ext>
            </a:extLst>
          </p:cNvPr>
          <p:cNvSpPr/>
          <p:nvPr/>
        </p:nvSpPr>
        <p:spPr>
          <a:xfrm>
            <a:off x="10277484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0EEF7D1E-6A31-D9ED-7C04-C1FF84A721AC}"/>
              </a:ext>
            </a:extLst>
          </p:cNvPr>
          <p:cNvSpPr/>
          <p:nvPr/>
        </p:nvSpPr>
        <p:spPr>
          <a:xfrm>
            <a:off x="10544185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1BF4AD82-C007-B852-6F8A-48CCEF603875}"/>
              </a:ext>
            </a:extLst>
          </p:cNvPr>
          <p:cNvSpPr/>
          <p:nvPr/>
        </p:nvSpPr>
        <p:spPr>
          <a:xfrm>
            <a:off x="10810886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9451E414-E09B-BF43-469A-AC60C6D90161}"/>
              </a:ext>
            </a:extLst>
          </p:cNvPr>
          <p:cNvSpPr/>
          <p:nvPr/>
        </p:nvSpPr>
        <p:spPr>
          <a:xfrm>
            <a:off x="11077587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41355DF0-0A34-4966-6FC1-596460EEF0C8}"/>
              </a:ext>
            </a:extLst>
          </p:cNvPr>
          <p:cNvSpPr/>
          <p:nvPr/>
        </p:nvSpPr>
        <p:spPr>
          <a:xfrm>
            <a:off x="11344288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D6020FE3-9367-24EF-EA63-530442240DD7}"/>
              </a:ext>
            </a:extLst>
          </p:cNvPr>
          <p:cNvSpPr/>
          <p:nvPr/>
        </p:nvSpPr>
        <p:spPr>
          <a:xfrm>
            <a:off x="11610989" y="3719510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23EDF261-DDDF-E455-F7C0-1D2D67021E9F}"/>
              </a:ext>
            </a:extLst>
          </p:cNvPr>
          <p:cNvSpPr txBox="1"/>
          <p:nvPr/>
        </p:nvSpPr>
        <p:spPr>
          <a:xfrm>
            <a:off x="6096000" y="4048122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0x00000180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FC17B50-22DE-C81C-2CB2-3FC6846D015C}"/>
              </a:ext>
            </a:extLst>
          </p:cNvPr>
          <p:cNvSpPr/>
          <p:nvPr/>
        </p:nvSpPr>
        <p:spPr>
          <a:xfrm>
            <a:off x="7610474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8C38A8F9-BA68-7591-09C3-69A533A90B3A}"/>
              </a:ext>
            </a:extLst>
          </p:cNvPr>
          <p:cNvSpPr/>
          <p:nvPr/>
        </p:nvSpPr>
        <p:spPr>
          <a:xfrm>
            <a:off x="7877175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2A25EA2A-7548-AC43-7527-EAE3076FDCD2}"/>
              </a:ext>
            </a:extLst>
          </p:cNvPr>
          <p:cNvSpPr/>
          <p:nvPr/>
        </p:nvSpPr>
        <p:spPr>
          <a:xfrm>
            <a:off x="8143876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DA26366A-93FB-018D-F558-59488F78C745}"/>
              </a:ext>
            </a:extLst>
          </p:cNvPr>
          <p:cNvSpPr/>
          <p:nvPr/>
        </p:nvSpPr>
        <p:spPr>
          <a:xfrm>
            <a:off x="8410577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45503EC4-DBB3-2497-370F-E4052C7799F1}"/>
              </a:ext>
            </a:extLst>
          </p:cNvPr>
          <p:cNvSpPr/>
          <p:nvPr/>
        </p:nvSpPr>
        <p:spPr>
          <a:xfrm>
            <a:off x="8677278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0A6D8D92-1517-9323-C054-1E318DC30777}"/>
              </a:ext>
            </a:extLst>
          </p:cNvPr>
          <p:cNvSpPr/>
          <p:nvPr/>
        </p:nvSpPr>
        <p:spPr>
          <a:xfrm>
            <a:off x="8943979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27F6DD1D-677C-0414-2F64-7DC3C6014A1C}"/>
              </a:ext>
            </a:extLst>
          </p:cNvPr>
          <p:cNvSpPr/>
          <p:nvPr/>
        </p:nvSpPr>
        <p:spPr>
          <a:xfrm>
            <a:off x="9210680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D27E91FA-8107-68A1-8E1B-C9D5D41BE625}"/>
              </a:ext>
            </a:extLst>
          </p:cNvPr>
          <p:cNvSpPr/>
          <p:nvPr/>
        </p:nvSpPr>
        <p:spPr>
          <a:xfrm>
            <a:off x="9477381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BDD371-3AB5-5D99-CF5C-EF84F6EE4FEA}"/>
              </a:ext>
            </a:extLst>
          </p:cNvPr>
          <p:cNvSpPr/>
          <p:nvPr/>
        </p:nvSpPr>
        <p:spPr>
          <a:xfrm>
            <a:off x="9744082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5DE888D0-E9B9-1326-5D0D-7F671E57F5A3}"/>
              </a:ext>
            </a:extLst>
          </p:cNvPr>
          <p:cNvSpPr/>
          <p:nvPr/>
        </p:nvSpPr>
        <p:spPr>
          <a:xfrm>
            <a:off x="10010783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41AAFF57-959F-0404-D95D-3228BEDA6175}"/>
              </a:ext>
            </a:extLst>
          </p:cNvPr>
          <p:cNvSpPr/>
          <p:nvPr/>
        </p:nvSpPr>
        <p:spPr>
          <a:xfrm>
            <a:off x="10277484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331776D6-ADF0-1227-8823-D996B2E8980B}"/>
              </a:ext>
            </a:extLst>
          </p:cNvPr>
          <p:cNvSpPr/>
          <p:nvPr/>
        </p:nvSpPr>
        <p:spPr>
          <a:xfrm>
            <a:off x="10544185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07D8C67-3752-4CCE-4B38-2EBD6D0C901D}"/>
              </a:ext>
            </a:extLst>
          </p:cNvPr>
          <p:cNvSpPr/>
          <p:nvPr/>
        </p:nvSpPr>
        <p:spPr>
          <a:xfrm>
            <a:off x="10810886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F1ED14A0-CCCC-D1F3-2FA4-7B5052CE5865}"/>
              </a:ext>
            </a:extLst>
          </p:cNvPr>
          <p:cNvSpPr/>
          <p:nvPr/>
        </p:nvSpPr>
        <p:spPr>
          <a:xfrm>
            <a:off x="11077587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5B387CA0-79DB-355F-311D-2D154DA3B604}"/>
              </a:ext>
            </a:extLst>
          </p:cNvPr>
          <p:cNvSpPr/>
          <p:nvPr/>
        </p:nvSpPr>
        <p:spPr>
          <a:xfrm>
            <a:off x="11344288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879DF0BB-ECBA-B562-CEFA-9F46325F81A5}"/>
              </a:ext>
            </a:extLst>
          </p:cNvPr>
          <p:cNvSpPr/>
          <p:nvPr/>
        </p:nvSpPr>
        <p:spPr>
          <a:xfrm>
            <a:off x="11610989" y="4057647"/>
            <a:ext cx="266701" cy="35242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8E816610-64E2-7D07-1D3C-0841F5AAE810}"/>
              </a:ext>
            </a:extLst>
          </p:cNvPr>
          <p:cNvSpPr txBox="1"/>
          <p:nvPr/>
        </p:nvSpPr>
        <p:spPr>
          <a:xfrm>
            <a:off x="6096000" y="4386259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0x000001C0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ACBC7EA-0822-5283-6CF1-0E2EC2F6E2E9}"/>
              </a:ext>
            </a:extLst>
          </p:cNvPr>
          <p:cNvSpPr/>
          <p:nvPr/>
        </p:nvSpPr>
        <p:spPr>
          <a:xfrm>
            <a:off x="7610474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289F3050-A2C1-717E-146A-C19204287020}"/>
              </a:ext>
            </a:extLst>
          </p:cNvPr>
          <p:cNvSpPr/>
          <p:nvPr/>
        </p:nvSpPr>
        <p:spPr>
          <a:xfrm>
            <a:off x="7877175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4E3B9D5-96DE-115A-6BE1-469F6BE4EC98}"/>
              </a:ext>
            </a:extLst>
          </p:cNvPr>
          <p:cNvSpPr/>
          <p:nvPr/>
        </p:nvSpPr>
        <p:spPr>
          <a:xfrm>
            <a:off x="8143876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ED72EF79-D78F-7B58-6C4D-AAB28D4A02B1}"/>
              </a:ext>
            </a:extLst>
          </p:cNvPr>
          <p:cNvSpPr/>
          <p:nvPr/>
        </p:nvSpPr>
        <p:spPr>
          <a:xfrm>
            <a:off x="8410577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317274C3-6A1D-581A-BE5F-44D8A9D27C5D}"/>
              </a:ext>
            </a:extLst>
          </p:cNvPr>
          <p:cNvSpPr/>
          <p:nvPr/>
        </p:nvSpPr>
        <p:spPr>
          <a:xfrm>
            <a:off x="8677278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EB6DF74-94CD-5EA4-D343-577A95A4F9F1}"/>
              </a:ext>
            </a:extLst>
          </p:cNvPr>
          <p:cNvSpPr/>
          <p:nvPr/>
        </p:nvSpPr>
        <p:spPr>
          <a:xfrm>
            <a:off x="8943979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F5CB0A18-A042-BDCD-41B5-CF243B8FF414}"/>
              </a:ext>
            </a:extLst>
          </p:cNvPr>
          <p:cNvSpPr/>
          <p:nvPr/>
        </p:nvSpPr>
        <p:spPr>
          <a:xfrm>
            <a:off x="9210680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DC5D31E8-36C7-E793-2728-B4E8B32D3B81}"/>
              </a:ext>
            </a:extLst>
          </p:cNvPr>
          <p:cNvSpPr/>
          <p:nvPr/>
        </p:nvSpPr>
        <p:spPr>
          <a:xfrm>
            <a:off x="9477381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7DC22111-70A1-E412-05CC-88F899B88437}"/>
              </a:ext>
            </a:extLst>
          </p:cNvPr>
          <p:cNvSpPr/>
          <p:nvPr/>
        </p:nvSpPr>
        <p:spPr>
          <a:xfrm>
            <a:off x="9744082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29F78F11-5B0B-BCE2-A668-90279768F788}"/>
              </a:ext>
            </a:extLst>
          </p:cNvPr>
          <p:cNvSpPr/>
          <p:nvPr/>
        </p:nvSpPr>
        <p:spPr>
          <a:xfrm>
            <a:off x="10010783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E91D243-803C-66DA-9ACA-CDF290C045B5}"/>
              </a:ext>
            </a:extLst>
          </p:cNvPr>
          <p:cNvSpPr/>
          <p:nvPr/>
        </p:nvSpPr>
        <p:spPr>
          <a:xfrm>
            <a:off x="10277484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4C202B8C-8FA9-989B-02F9-1A8EAD4D9D52}"/>
              </a:ext>
            </a:extLst>
          </p:cNvPr>
          <p:cNvSpPr/>
          <p:nvPr/>
        </p:nvSpPr>
        <p:spPr>
          <a:xfrm>
            <a:off x="10544185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49007A13-9843-5CA0-60CE-C93C9B616398}"/>
              </a:ext>
            </a:extLst>
          </p:cNvPr>
          <p:cNvSpPr/>
          <p:nvPr/>
        </p:nvSpPr>
        <p:spPr>
          <a:xfrm>
            <a:off x="10810886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A31D9DC2-5BB6-6A04-D5A1-9E68A11B3D4B}"/>
              </a:ext>
            </a:extLst>
          </p:cNvPr>
          <p:cNvSpPr/>
          <p:nvPr/>
        </p:nvSpPr>
        <p:spPr>
          <a:xfrm>
            <a:off x="11077587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BE9264D4-2786-893B-1175-56108604A18B}"/>
              </a:ext>
            </a:extLst>
          </p:cNvPr>
          <p:cNvSpPr/>
          <p:nvPr/>
        </p:nvSpPr>
        <p:spPr>
          <a:xfrm>
            <a:off x="11344288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5EBAB1FC-F931-A901-6AB6-45A0950C0A23}"/>
              </a:ext>
            </a:extLst>
          </p:cNvPr>
          <p:cNvSpPr/>
          <p:nvPr/>
        </p:nvSpPr>
        <p:spPr>
          <a:xfrm>
            <a:off x="11610989" y="4395784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3D712362-8FFB-1D06-B966-83F98067843A}"/>
              </a:ext>
            </a:extLst>
          </p:cNvPr>
          <p:cNvSpPr txBox="1"/>
          <p:nvPr/>
        </p:nvSpPr>
        <p:spPr>
          <a:xfrm>
            <a:off x="6096000" y="4724396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0x00000200</a:t>
            </a: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E3562E7-0730-0EB7-B655-4AEE8336FF0B}"/>
              </a:ext>
            </a:extLst>
          </p:cNvPr>
          <p:cNvSpPr/>
          <p:nvPr/>
        </p:nvSpPr>
        <p:spPr>
          <a:xfrm>
            <a:off x="7610474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2D806E51-8149-B55E-4941-3682D8C2A842}"/>
              </a:ext>
            </a:extLst>
          </p:cNvPr>
          <p:cNvSpPr/>
          <p:nvPr/>
        </p:nvSpPr>
        <p:spPr>
          <a:xfrm>
            <a:off x="7877175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BF7D7696-1E4A-DD41-45A0-9B1D6FCA28F4}"/>
              </a:ext>
            </a:extLst>
          </p:cNvPr>
          <p:cNvSpPr/>
          <p:nvPr/>
        </p:nvSpPr>
        <p:spPr>
          <a:xfrm>
            <a:off x="8143876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84AD4796-06F9-ED90-66FF-0DCDB4CB2483}"/>
              </a:ext>
            </a:extLst>
          </p:cNvPr>
          <p:cNvSpPr/>
          <p:nvPr/>
        </p:nvSpPr>
        <p:spPr>
          <a:xfrm>
            <a:off x="8410577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AFEFACD-D587-D489-F1EA-17BDA73C9907}"/>
              </a:ext>
            </a:extLst>
          </p:cNvPr>
          <p:cNvSpPr/>
          <p:nvPr/>
        </p:nvSpPr>
        <p:spPr>
          <a:xfrm>
            <a:off x="8677278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25607249-F0E9-ED55-920B-74A7ECB54D76}"/>
              </a:ext>
            </a:extLst>
          </p:cNvPr>
          <p:cNvSpPr/>
          <p:nvPr/>
        </p:nvSpPr>
        <p:spPr>
          <a:xfrm>
            <a:off x="8943979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67608648-4448-9446-4CC5-8AE711D6A334}"/>
              </a:ext>
            </a:extLst>
          </p:cNvPr>
          <p:cNvSpPr/>
          <p:nvPr/>
        </p:nvSpPr>
        <p:spPr>
          <a:xfrm>
            <a:off x="9210680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3159C98C-90A0-2A4F-01FF-54B74486EAF5}"/>
              </a:ext>
            </a:extLst>
          </p:cNvPr>
          <p:cNvSpPr/>
          <p:nvPr/>
        </p:nvSpPr>
        <p:spPr>
          <a:xfrm>
            <a:off x="9477381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2FA15040-18DB-335A-55D6-353E61CE3B77}"/>
              </a:ext>
            </a:extLst>
          </p:cNvPr>
          <p:cNvSpPr/>
          <p:nvPr/>
        </p:nvSpPr>
        <p:spPr>
          <a:xfrm>
            <a:off x="9744082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103571AA-4331-C533-049F-B9206CBA013C}"/>
              </a:ext>
            </a:extLst>
          </p:cNvPr>
          <p:cNvSpPr/>
          <p:nvPr/>
        </p:nvSpPr>
        <p:spPr>
          <a:xfrm>
            <a:off x="10010783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8824BEC1-931F-BC6E-5794-9CEAA366EDC2}"/>
              </a:ext>
            </a:extLst>
          </p:cNvPr>
          <p:cNvSpPr/>
          <p:nvPr/>
        </p:nvSpPr>
        <p:spPr>
          <a:xfrm>
            <a:off x="10277484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F22CDF76-B465-01D7-8519-B35C891AACCE}"/>
              </a:ext>
            </a:extLst>
          </p:cNvPr>
          <p:cNvSpPr/>
          <p:nvPr/>
        </p:nvSpPr>
        <p:spPr>
          <a:xfrm>
            <a:off x="10544185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CC6999C9-FA1B-AA97-FF52-ABF626EFE7E4}"/>
              </a:ext>
            </a:extLst>
          </p:cNvPr>
          <p:cNvSpPr/>
          <p:nvPr/>
        </p:nvSpPr>
        <p:spPr>
          <a:xfrm>
            <a:off x="10810886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50BA8C50-9B15-2CA2-80BA-55C90C9AC645}"/>
              </a:ext>
            </a:extLst>
          </p:cNvPr>
          <p:cNvSpPr/>
          <p:nvPr/>
        </p:nvSpPr>
        <p:spPr>
          <a:xfrm>
            <a:off x="11077587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8D5E0F0C-A4A1-49D8-8F34-F7783AD3E597}"/>
              </a:ext>
            </a:extLst>
          </p:cNvPr>
          <p:cNvSpPr/>
          <p:nvPr/>
        </p:nvSpPr>
        <p:spPr>
          <a:xfrm>
            <a:off x="11344288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B0FA5EE5-73DA-E134-847A-C86F645A4419}"/>
              </a:ext>
            </a:extLst>
          </p:cNvPr>
          <p:cNvSpPr/>
          <p:nvPr/>
        </p:nvSpPr>
        <p:spPr>
          <a:xfrm>
            <a:off x="11610989" y="4733921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2B6C86E8-A2AD-670B-F9D4-65AF9BA30E93}"/>
              </a:ext>
            </a:extLst>
          </p:cNvPr>
          <p:cNvSpPr txBox="1"/>
          <p:nvPr/>
        </p:nvSpPr>
        <p:spPr>
          <a:xfrm>
            <a:off x="6096000" y="5062533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0x00000240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9637CC25-1235-E1D6-52AA-0AF452201BAE}"/>
              </a:ext>
            </a:extLst>
          </p:cNvPr>
          <p:cNvSpPr/>
          <p:nvPr/>
        </p:nvSpPr>
        <p:spPr>
          <a:xfrm>
            <a:off x="7610474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D569108A-E22F-E9C1-9D16-D9138F4C1E7A}"/>
              </a:ext>
            </a:extLst>
          </p:cNvPr>
          <p:cNvSpPr/>
          <p:nvPr/>
        </p:nvSpPr>
        <p:spPr>
          <a:xfrm>
            <a:off x="7877175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883E852B-E22E-4CC0-B770-5E66ADE59E21}"/>
              </a:ext>
            </a:extLst>
          </p:cNvPr>
          <p:cNvSpPr/>
          <p:nvPr/>
        </p:nvSpPr>
        <p:spPr>
          <a:xfrm>
            <a:off x="8143876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0DAD8FE-0DBF-2BA1-26FD-638D6A3E1CA6}"/>
              </a:ext>
            </a:extLst>
          </p:cNvPr>
          <p:cNvSpPr/>
          <p:nvPr/>
        </p:nvSpPr>
        <p:spPr>
          <a:xfrm>
            <a:off x="8410577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0B320C6-2E47-0BB9-4BA0-919DF5D67ECC}"/>
              </a:ext>
            </a:extLst>
          </p:cNvPr>
          <p:cNvSpPr/>
          <p:nvPr/>
        </p:nvSpPr>
        <p:spPr>
          <a:xfrm>
            <a:off x="8677278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68D87852-76FE-1EE0-30CA-CF33493AC30F}"/>
              </a:ext>
            </a:extLst>
          </p:cNvPr>
          <p:cNvSpPr/>
          <p:nvPr/>
        </p:nvSpPr>
        <p:spPr>
          <a:xfrm>
            <a:off x="8943979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C9AD49C3-6A14-A397-9E81-B03DCDF9FD4C}"/>
              </a:ext>
            </a:extLst>
          </p:cNvPr>
          <p:cNvSpPr/>
          <p:nvPr/>
        </p:nvSpPr>
        <p:spPr>
          <a:xfrm>
            <a:off x="9210680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FE5DCA61-A6D8-1B01-2804-F46E30B53A92}"/>
              </a:ext>
            </a:extLst>
          </p:cNvPr>
          <p:cNvSpPr/>
          <p:nvPr/>
        </p:nvSpPr>
        <p:spPr>
          <a:xfrm>
            <a:off x="9477381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56C10F6D-2D8E-B0C2-1DF0-A467F21E1836}"/>
              </a:ext>
            </a:extLst>
          </p:cNvPr>
          <p:cNvSpPr/>
          <p:nvPr/>
        </p:nvSpPr>
        <p:spPr>
          <a:xfrm>
            <a:off x="9744082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6E025593-97F5-645B-B210-BD9EF3FDE9D3}"/>
              </a:ext>
            </a:extLst>
          </p:cNvPr>
          <p:cNvSpPr/>
          <p:nvPr/>
        </p:nvSpPr>
        <p:spPr>
          <a:xfrm>
            <a:off x="10010783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95643EEB-7780-1336-5750-D18FC2D20EF6}"/>
              </a:ext>
            </a:extLst>
          </p:cNvPr>
          <p:cNvSpPr/>
          <p:nvPr/>
        </p:nvSpPr>
        <p:spPr>
          <a:xfrm>
            <a:off x="10277484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28A0E95-93F4-7C49-F59A-D019D1F3B6C6}"/>
              </a:ext>
            </a:extLst>
          </p:cNvPr>
          <p:cNvSpPr/>
          <p:nvPr/>
        </p:nvSpPr>
        <p:spPr>
          <a:xfrm>
            <a:off x="10544185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5E724AE3-C345-4337-E988-566E201FFBB3}"/>
              </a:ext>
            </a:extLst>
          </p:cNvPr>
          <p:cNvSpPr/>
          <p:nvPr/>
        </p:nvSpPr>
        <p:spPr>
          <a:xfrm>
            <a:off x="10810886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71163788-85E1-BCDF-CB2D-BDFF72D8A4DF}"/>
              </a:ext>
            </a:extLst>
          </p:cNvPr>
          <p:cNvSpPr/>
          <p:nvPr/>
        </p:nvSpPr>
        <p:spPr>
          <a:xfrm>
            <a:off x="11077587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6EF2C585-AC58-6EC0-5F2F-58F5A737B613}"/>
              </a:ext>
            </a:extLst>
          </p:cNvPr>
          <p:cNvSpPr/>
          <p:nvPr/>
        </p:nvSpPr>
        <p:spPr>
          <a:xfrm>
            <a:off x="11344288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C7654F75-7026-D0BF-F73E-EDB6C57BD7BA}"/>
              </a:ext>
            </a:extLst>
          </p:cNvPr>
          <p:cNvSpPr/>
          <p:nvPr/>
        </p:nvSpPr>
        <p:spPr>
          <a:xfrm>
            <a:off x="11610989" y="5072058"/>
            <a:ext cx="266701" cy="3524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38D35F5C-191D-3B3B-3E06-68C8A457B107}"/>
              </a:ext>
            </a:extLst>
          </p:cNvPr>
          <p:cNvSpPr txBox="1"/>
          <p:nvPr/>
        </p:nvSpPr>
        <p:spPr>
          <a:xfrm>
            <a:off x="6096000" y="5400670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0x00000280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31BFB3D3-3463-D9A7-2098-D1424CB3DFE4}"/>
              </a:ext>
            </a:extLst>
          </p:cNvPr>
          <p:cNvSpPr/>
          <p:nvPr/>
        </p:nvSpPr>
        <p:spPr>
          <a:xfrm>
            <a:off x="7610474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DAAE12F6-3AE4-B433-9ACE-25022685445A}"/>
              </a:ext>
            </a:extLst>
          </p:cNvPr>
          <p:cNvSpPr/>
          <p:nvPr/>
        </p:nvSpPr>
        <p:spPr>
          <a:xfrm>
            <a:off x="7877175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4862E3C1-BAAF-9472-FDFD-C28DA25A78B4}"/>
              </a:ext>
            </a:extLst>
          </p:cNvPr>
          <p:cNvSpPr/>
          <p:nvPr/>
        </p:nvSpPr>
        <p:spPr>
          <a:xfrm>
            <a:off x="8143876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5DAC2886-1810-52E1-F0AA-594FAD62F4BE}"/>
              </a:ext>
            </a:extLst>
          </p:cNvPr>
          <p:cNvSpPr/>
          <p:nvPr/>
        </p:nvSpPr>
        <p:spPr>
          <a:xfrm>
            <a:off x="8410577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1ED8D99C-72B6-B7F0-EBFC-38584F236B38}"/>
              </a:ext>
            </a:extLst>
          </p:cNvPr>
          <p:cNvSpPr/>
          <p:nvPr/>
        </p:nvSpPr>
        <p:spPr>
          <a:xfrm>
            <a:off x="8677278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9FA87DF-829E-10E0-76DD-750E483A538F}"/>
              </a:ext>
            </a:extLst>
          </p:cNvPr>
          <p:cNvSpPr/>
          <p:nvPr/>
        </p:nvSpPr>
        <p:spPr>
          <a:xfrm>
            <a:off x="8943979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760A385F-8376-65AA-C5D1-D9E41497AD2A}"/>
              </a:ext>
            </a:extLst>
          </p:cNvPr>
          <p:cNvSpPr/>
          <p:nvPr/>
        </p:nvSpPr>
        <p:spPr>
          <a:xfrm>
            <a:off x="9210680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5B3DC37-058A-9F71-A1A1-05B59BB3EE6F}"/>
              </a:ext>
            </a:extLst>
          </p:cNvPr>
          <p:cNvSpPr/>
          <p:nvPr/>
        </p:nvSpPr>
        <p:spPr>
          <a:xfrm>
            <a:off x="9477381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B4B06E2D-9255-D5BA-3D1F-091DECD715E5}"/>
              </a:ext>
            </a:extLst>
          </p:cNvPr>
          <p:cNvSpPr/>
          <p:nvPr/>
        </p:nvSpPr>
        <p:spPr>
          <a:xfrm>
            <a:off x="9744082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A4C4764C-DCBE-8FB7-1F19-48BF4813B55D}"/>
              </a:ext>
            </a:extLst>
          </p:cNvPr>
          <p:cNvSpPr/>
          <p:nvPr/>
        </p:nvSpPr>
        <p:spPr>
          <a:xfrm>
            <a:off x="10010783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B950E51-1195-BA44-41E0-990B6064746D}"/>
              </a:ext>
            </a:extLst>
          </p:cNvPr>
          <p:cNvSpPr/>
          <p:nvPr/>
        </p:nvSpPr>
        <p:spPr>
          <a:xfrm>
            <a:off x="10277484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FC9E39F3-2708-7697-19E7-EBB77BDBFA25}"/>
              </a:ext>
            </a:extLst>
          </p:cNvPr>
          <p:cNvSpPr/>
          <p:nvPr/>
        </p:nvSpPr>
        <p:spPr>
          <a:xfrm>
            <a:off x="10544185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62E4C78-2DD7-9D06-C7B4-D9B89B9902DC}"/>
              </a:ext>
            </a:extLst>
          </p:cNvPr>
          <p:cNvSpPr/>
          <p:nvPr/>
        </p:nvSpPr>
        <p:spPr>
          <a:xfrm>
            <a:off x="10810886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433DE51-2DE7-DA91-6258-7FD3740515DA}"/>
              </a:ext>
            </a:extLst>
          </p:cNvPr>
          <p:cNvSpPr/>
          <p:nvPr/>
        </p:nvSpPr>
        <p:spPr>
          <a:xfrm>
            <a:off x="11077587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EF12CE65-5CBD-34D3-EF70-BDDD6CCC7DD0}"/>
              </a:ext>
            </a:extLst>
          </p:cNvPr>
          <p:cNvSpPr/>
          <p:nvPr/>
        </p:nvSpPr>
        <p:spPr>
          <a:xfrm>
            <a:off x="11344288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9233D2C4-C860-B031-F8F0-03DAA91B24AF}"/>
              </a:ext>
            </a:extLst>
          </p:cNvPr>
          <p:cNvSpPr/>
          <p:nvPr/>
        </p:nvSpPr>
        <p:spPr>
          <a:xfrm>
            <a:off x="11610989" y="5410195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59EE54F3-A73D-549E-520F-808CF3788F00}"/>
              </a:ext>
            </a:extLst>
          </p:cNvPr>
          <p:cNvSpPr txBox="1"/>
          <p:nvPr/>
        </p:nvSpPr>
        <p:spPr>
          <a:xfrm>
            <a:off x="6096000" y="5738807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0x000002C0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EC811BEB-5C2A-EAC1-B31A-9E75AB9A95FF}"/>
              </a:ext>
            </a:extLst>
          </p:cNvPr>
          <p:cNvSpPr/>
          <p:nvPr/>
        </p:nvSpPr>
        <p:spPr>
          <a:xfrm>
            <a:off x="7610474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A2E9F508-7422-C0FF-19D6-847C74E2CB99}"/>
              </a:ext>
            </a:extLst>
          </p:cNvPr>
          <p:cNvSpPr/>
          <p:nvPr/>
        </p:nvSpPr>
        <p:spPr>
          <a:xfrm>
            <a:off x="7877175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419C7863-A07F-BC88-9417-B4610A8AC848}"/>
              </a:ext>
            </a:extLst>
          </p:cNvPr>
          <p:cNvSpPr/>
          <p:nvPr/>
        </p:nvSpPr>
        <p:spPr>
          <a:xfrm>
            <a:off x="8143876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19956EA5-535A-B074-F2FF-39349EDFFB41}"/>
              </a:ext>
            </a:extLst>
          </p:cNvPr>
          <p:cNvSpPr/>
          <p:nvPr/>
        </p:nvSpPr>
        <p:spPr>
          <a:xfrm>
            <a:off x="8410577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77454227-2B02-93F7-88DC-D7E13399D2E5}"/>
              </a:ext>
            </a:extLst>
          </p:cNvPr>
          <p:cNvSpPr/>
          <p:nvPr/>
        </p:nvSpPr>
        <p:spPr>
          <a:xfrm>
            <a:off x="8677278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B4CF6651-9A56-0ECA-A69A-60A6AB52ECEC}"/>
              </a:ext>
            </a:extLst>
          </p:cNvPr>
          <p:cNvSpPr/>
          <p:nvPr/>
        </p:nvSpPr>
        <p:spPr>
          <a:xfrm>
            <a:off x="8943979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9B085305-69C1-DDF2-4BB9-5443EE0CCE1D}"/>
              </a:ext>
            </a:extLst>
          </p:cNvPr>
          <p:cNvSpPr/>
          <p:nvPr/>
        </p:nvSpPr>
        <p:spPr>
          <a:xfrm>
            <a:off x="9210680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146433BC-6BF3-B741-56DA-D14EAC2F9930}"/>
              </a:ext>
            </a:extLst>
          </p:cNvPr>
          <p:cNvSpPr/>
          <p:nvPr/>
        </p:nvSpPr>
        <p:spPr>
          <a:xfrm>
            <a:off x="9477381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C857985C-654C-0006-350B-F9C3ED3BEA50}"/>
              </a:ext>
            </a:extLst>
          </p:cNvPr>
          <p:cNvSpPr/>
          <p:nvPr/>
        </p:nvSpPr>
        <p:spPr>
          <a:xfrm>
            <a:off x="9744082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D47CF634-DD11-96D1-B9BA-FD9741C5CB8D}"/>
              </a:ext>
            </a:extLst>
          </p:cNvPr>
          <p:cNvSpPr/>
          <p:nvPr/>
        </p:nvSpPr>
        <p:spPr>
          <a:xfrm>
            <a:off x="10010783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84AA8C42-D074-641F-E7AF-5F2E43ED4C80}"/>
              </a:ext>
            </a:extLst>
          </p:cNvPr>
          <p:cNvSpPr/>
          <p:nvPr/>
        </p:nvSpPr>
        <p:spPr>
          <a:xfrm>
            <a:off x="10277484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2EF4392D-7680-9606-CD3D-B525FF6867E3}"/>
              </a:ext>
            </a:extLst>
          </p:cNvPr>
          <p:cNvSpPr/>
          <p:nvPr/>
        </p:nvSpPr>
        <p:spPr>
          <a:xfrm>
            <a:off x="10544185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BA85275B-2C4C-F6C3-297F-98BD025B44EC}"/>
              </a:ext>
            </a:extLst>
          </p:cNvPr>
          <p:cNvSpPr/>
          <p:nvPr/>
        </p:nvSpPr>
        <p:spPr>
          <a:xfrm>
            <a:off x="10810886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23C2B18B-CF7B-8560-9E24-86659A3C644D}"/>
              </a:ext>
            </a:extLst>
          </p:cNvPr>
          <p:cNvSpPr/>
          <p:nvPr/>
        </p:nvSpPr>
        <p:spPr>
          <a:xfrm>
            <a:off x="11077587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2FE97D14-FB9C-FCAA-94F0-68CB33EEA10A}"/>
              </a:ext>
            </a:extLst>
          </p:cNvPr>
          <p:cNvSpPr/>
          <p:nvPr/>
        </p:nvSpPr>
        <p:spPr>
          <a:xfrm>
            <a:off x="11344288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DA733A4A-0ECF-847B-9339-6796CAC51DF1}"/>
              </a:ext>
            </a:extLst>
          </p:cNvPr>
          <p:cNvSpPr/>
          <p:nvPr/>
        </p:nvSpPr>
        <p:spPr>
          <a:xfrm>
            <a:off x="11610989" y="5748332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513A6E3B-6FFB-53D6-A4C7-C0FE0C97D1A3}"/>
              </a:ext>
            </a:extLst>
          </p:cNvPr>
          <p:cNvSpPr txBox="1"/>
          <p:nvPr/>
        </p:nvSpPr>
        <p:spPr>
          <a:xfrm>
            <a:off x="6096000" y="6076944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0x00000300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3CE6E31A-211F-95EA-2879-6D535D1FE383}"/>
              </a:ext>
            </a:extLst>
          </p:cNvPr>
          <p:cNvSpPr/>
          <p:nvPr/>
        </p:nvSpPr>
        <p:spPr>
          <a:xfrm>
            <a:off x="7610474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7983D9D4-A331-652F-EB2D-34782AA00C56}"/>
              </a:ext>
            </a:extLst>
          </p:cNvPr>
          <p:cNvSpPr/>
          <p:nvPr/>
        </p:nvSpPr>
        <p:spPr>
          <a:xfrm>
            <a:off x="7877175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B45659A-647E-3B9B-76D5-BB2BC8268C25}"/>
              </a:ext>
            </a:extLst>
          </p:cNvPr>
          <p:cNvSpPr/>
          <p:nvPr/>
        </p:nvSpPr>
        <p:spPr>
          <a:xfrm>
            <a:off x="8143876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96A4E469-2B94-DDBB-03A1-544F501B8919}"/>
              </a:ext>
            </a:extLst>
          </p:cNvPr>
          <p:cNvSpPr/>
          <p:nvPr/>
        </p:nvSpPr>
        <p:spPr>
          <a:xfrm>
            <a:off x="8410577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C5014B10-FBFD-4293-BE70-A2B453413605}"/>
              </a:ext>
            </a:extLst>
          </p:cNvPr>
          <p:cNvSpPr/>
          <p:nvPr/>
        </p:nvSpPr>
        <p:spPr>
          <a:xfrm>
            <a:off x="8677278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25FC1FB7-5C88-4ED0-48AA-5C993D0DE8E1}"/>
              </a:ext>
            </a:extLst>
          </p:cNvPr>
          <p:cNvSpPr/>
          <p:nvPr/>
        </p:nvSpPr>
        <p:spPr>
          <a:xfrm>
            <a:off x="8943979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F1786A3A-5486-6780-1FE5-ADB99A8C68D3}"/>
              </a:ext>
            </a:extLst>
          </p:cNvPr>
          <p:cNvSpPr/>
          <p:nvPr/>
        </p:nvSpPr>
        <p:spPr>
          <a:xfrm>
            <a:off x="9210680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E39A556A-79DB-178B-CCA4-78A979EC8559}"/>
              </a:ext>
            </a:extLst>
          </p:cNvPr>
          <p:cNvSpPr/>
          <p:nvPr/>
        </p:nvSpPr>
        <p:spPr>
          <a:xfrm>
            <a:off x="9477381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9310239-C406-7169-74FD-446F28347DC2}"/>
              </a:ext>
            </a:extLst>
          </p:cNvPr>
          <p:cNvSpPr/>
          <p:nvPr/>
        </p:nvSpPr>
        <p:spPr>
          <a:xfrm>
            <a:off x="9744082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26A2722-05C8-A598-D060-6FB819A1F3A5}"/>
              </a:ext>
            </a:extLst>
          </p:cNvPr>
          <p:cNvSpPr/>
          <p:nvPr/>
        </p:nvSpPr>
        <p:spPr>
          <a:xfrm>
            <a:off x="10010783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9A21177-D5D7-E15B-6BD8-A2C602DAFF32}"/>
              </a:ext>
            </a:extLst>
          </p:cNvPr>
          <p:cNvSpPr/>
          <p:nvPr/>
        </p:nvSpPr>
        <p:spPr>
          <a:xfrm>
            <a:off x="10277484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222E88BE-BBC6-6A33-5F5D-09D51379CCE2}"/>
              </a:ext>
            </a:extLst>
          </p:cNvPr>
          <p:cNvSpPr/>
          <p:nvPr/>
        </p:nvSpPr>
        <p:spPr>
          <a:xfrm>
            <a:off x="10544185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BC01E3C-45AE-04B7-FCCF-F17E21045133}"/>
              </a:ext>
            </a:extLst>
          </p:cNvPr>
          <p:cNvSpPr/>
          <p:nvPr/>
        </p:nvSpPr>
        <p:spPr>
          <a:xfrm>
            <a:off x="10810886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EF43E884-6D97-F89B-36A2-03FE34A3FE39}"/>
              </a:ext>
            </a:extLst>
          </p:cNvPr>
          <p:cNvSpPr/>
          <p:nvPr/>
        </p:nvSpPr>
        <p:spPr>
          <a:xfrm>
            <a:off x="11077587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2996709B-B17F-173F-CE13-F858D155CB89}"/>
              </a:ext>
            </a:extLst>
          </p:cNvPr>
          <p:cNvSpPr/>
          <p:nvPr/>
        </p:nvSpPr>
        <p:spPr>
          <a:xfrm>
            <a:off x="11344288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1EEE6026-F533-C595-540A-4F56BDF21767}"/>
              </a:ext>
            </a:extLst>
          </p:cNvPr>
          <p:cNvSpPr/>
          <p:nvPr/>
        </p:nvSpPr>
        <p:spPr>
          <a:xfrm>
            <a:off x="11610989" y="6086469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4F7FD8A0-CFD9-4FD4-70E2-8DDCD7EBC8D3}"/>
              </a:ext>
            </a:extLst>
          </p:cNvPr>
          <p:cNvSpPr txBox="1"/>
          <p:nvPr/>
        </p:nvSpPr>
        <p:spPr>
          <a:xfrm>
            <a:off x="6096000" y="6415081"/>
            <a:ext cx="151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0x00000340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111F88DB-888F-8AE6-23EF-D482C39EECBF}"/>
              </a:ext>
            </a:extLst>
          </p:cNvPr>
          <p:cNvSpPr/>
          <p:nvPr/>
        </p:nvSpPr>
        <p:spPr>
          <a:xfrm>
            <a:off x="7610474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07185B32-6BA6-B6EE-8F85-3A51D4D82894}"/>
              </a:ext>
            </a:extLst>
          </p:cNvPr>
          <p:cNvSpPr/>
          <p:nvPr/>
        </p:nvSpPr>
        <p:spPr>
          <a:xfrm>
            <a:off x="7877175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81466002-E0C2-267E-5405-AA8CA1F17B52}"/>
              </a:ext>
            </a:extLst>
          </p:cNvPr>
          <p:cNvSpPr/>
          <p:nvPr/>
        </p:nvSpPr>
        <p:spPr>
          <a:xfrm>
            <a:off x="8143876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A24F66F3-83A4-4378-8F0E-65A7A57ACCCA}"/>
              </a:ext>
            </a:extLst>
          </p:cNvPr>
          <p:cNvSpPr/>
          <p:nvPr/>
        </p:nvSpPr>
        <p:spPr>
          <a:xfrm>
            <a:off x="8410577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2EFE9EB4-BEEF-5774-9CC8-4772C64A439A}"/>
              </a:ext>
            </a:extLst>
          </p:cNvPr>
          <p:cNvSpPr/>
          <p:nvPr/>
        </p:nvSpPr>
        <p:spPr>
          <a:xfrm>
            <a:off x="8677278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E212193-21A6-CF45-7E92-60C1541DB62D}"/>
              </a:ext>
            </a:extLst>
          </p:cNvPr>
          <p:cNvSpPr/>
          <p:nvPr/>
        </p:nvSpPr>
        <p:spPr>
          <a:xfrm>
            <a:off x="8943979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304C167A-CCFD-DC4C-1F0E-4928CA0A9ED1}"/>
              </a:ext>
            </a:extLst>
          </p:cNvPr>
          <p:cNvSpPr/>
          <p:nvPr/>
        </p:nvSpPr>
        <p:spPr>
          <a:xfrm>
            <a:off x="9210680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7D1B99E3-8EA1-BD45-DCBD-3FFFE6AA69D8}"/>
              </a:ext>
            </a:extLst>
          </p:cNvPr>
          <p:cNvSpPr/>
          <p:nvPr/>
        </p:nvSpPr>
        <p:spPr>
          <a:xfrm>
            <a:off x="9477381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27F179BA-95DF-AE47-FD9A-5F5132D4B43E}"/>
              </a:ext>
            </a:extLst>
          </p:cNvPr>
          <p:cNvSpPr/>
          <p:nvPr/>
        </p:nvSpPr>
        <p:spPr>
          <a:xfrm>
            <a:off x="9744082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12816DBC-0591-1DCF-340B-590A9E019363}"/>
              </a:ext>
            </a:extLst>
          </p:cNvPr>
          <p:cNvSpPr/>
          <p:nvPr/>
        </p:nvSpPr>
        <p:spPr>
          <a:xfrm>
            <a:off x="10010783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D312A81B-7839-9F09-1CE0-EB14BF4411EA}"/>
              </a:ext>
            </a:extLst>
          </p:cNvPr>
          <p:cNvSpPr/>
          <p:nvPr/>
        </p:nvSpPr>
        <p:spPr>
          <a:xfrm>
            <a:off x="10277484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AACF6E5E-F37A-A74C-D0C9-7669F092AD56}"/>
              </a:ext>
            </a:extLst>
          </p:cNvPr>
          <p:cNvSpPr/>
          <p:nvPr/>
        </p:nvSpPr>
        <p:spPr>
          <a:xfrm>
            <a:off x="10544185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A6C78A36-3B66-B2E8-520F-2AE7EDF8DF1D}"/>
              </a:ext>
            </a:extLst>
          </p:cNvPr>
          <p:cNvSpPr/>
          <p:nvPr/>
        </p:nvSpPr>
        <p:spPr>
          <a:xfrm>
            <a:off x="10810886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7A566454-B782-9483-DDE0-440D80962DAF}"/>
              </a:ext>
            </a:extLst>
          </p:cNvPr>
          <p:cNvSpPr/>
          <p:nvPr/>
        </p:nvSpPr>
        <p:spPr>
          <a:xfrm>
            <a:off x="11077587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41714D86-A2F0-3DBB-0302-3AA796D1E7C9}"/>
              </a:ext>
            </a:extLst>
          </p:cNvPr>
          <p:cNvSpPr/>
          <p:nvPr/>
        </p:nvSpPr>
        <p:spPr>
          <a:xfrm>
            <a:off x="11344288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8EEDBB25-911E-64EE-517D-7A89BD27583D}"/>
              </a:ext>
            </a:extLst>
          </p:cNvPr>
          <p:cNvSpPr/>
          <p:nvPr/>
        </p:nvSpPr>
        <p:spPr>
          <a:xfrm>
            <a:off x="11610989" y="6424606"/>
            <a:ext cx="266701" cy="35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C41BBAAF-E371-2B9C-C589-55BA564B744E}"/>
              </a:ext>
            </a:extLst>
          </p:cNvPr>
          <p:cNvGrpSpPr/>
          <p:nvPr/>
        </p:nvGrpSpPr>
        <p:grpSpPr>
          <a:xfrm>
            <a:off x="4743" y="2202894"/>
            <a:ext cx="5781690" cy="369332"/>
            <a:chOff x="-10" y="2202894"/>
            <a:chExt cx="5781690" cy="369332"/>
          </a:xfrm>
        </p:grpSpPr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FF6F5818-E6CD-0A40-CDF5-33051BD29FD6}"/>
                </a:ext>
              </a:extLst>
            </p:cNvPr>
            <p:cNvSpPr txBox="1"/>
            <p:nvPr/>
          </p:nvSpPr>
          <p:spPr>
            <a:xfrm>
              <a:off x="-10" y="2202894"/>
              <a:ext cx="15144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0x00000000</a:t>
              </a: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B8C0C4F6-614F-50C5-E953-0B9218AD8CBB}"/>
                </a:ext>
              </a:extLst>
            </p:cNvPr>
            <p:cNvSpPr/>
            <p:nvPr/>
          </p:nvSpPr>
          <p:spPr>
            <a:xfrm>
              <a:off x="1514464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BE1EFF07-2DD4-A657-07CF-B703B27467E4}"/>
                </a:ext>
              </a:extLst>
            </p:cNvPr>
            <p:cNvSpPr/>
            <p:nvPr/>
          </p:nvSpPr>
          <p:spPr>
            <a:xfrm>
              <a:off x="1781165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BFD109A2-C71A-0E0C-8B86-CB5A812530ED}"/>
                </a:ext>
              </a:extLst>
            </p:cNvPr>
            <p:cNvSpPr/>
            <p:nvPr/>
          </p:nvSpPr>
          <p:spPr>
            <a:xfrm>
              <a:off x="2047866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78EB8EB0-ED0A-7152-0572-BF24709835F4}"/>
                </a:ext>
              </a:extLst>
            </p:cNvPr>
            <p:cNvSpPr/>
            <p:nvPr/>
          </p:nvSpPr>
          <p:spPr>
            <a:xfrm>
              <a:off x="2314567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70DBB6F3-A6C2-8E9B-6D24-4A2A9F326354}"/>
                </a:ext>
              </a:extLst>
            </p:cNvPr>
            <p:cNvSpPr/>
            <p:nvPr/>
          </p:nvSpPr>
          <p:spPr>
            <a:xfrm>
              <a:off x="2581268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FCF5C891-088F-921C-6453-EDB618CAEF65}"/>
                </a:ext>
              </a:extLst>
            </p:cNvPr>
            <p:cNvSpPr/>
            <p:nvPr/>
          </p:nvSpPr>
          <p:spPr>
            <a:xfrm>
              <a:off x="2847969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0491403B-2788-A4AA-B5B5-28F129F50611}"/>
                </a:ext>
              </a:extLst>
            </p:cNvPr>
            <p:cNvSpPr/>
            <p:nvPr/>
          </p:nvSpPr>
          <p:spPr>
            <a:xfrm>
              <a:off x="3114670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754FD715-9DD0-DB67-3759-F6734D6393C2}"/>
                </a:ext>
              </a:extLst>
            </p:cNvPr>
            <p:cNvSpPr/>
            <p:nvPr/>
          </p:nvSpPr>
          <p:spPr>
            <a:xfrm>
              <a:off x="3381371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A9A44643-DFBF-5F84-2558-7B5A2128CB61}"/>
                </a:ext>
              </a:extLst>
            </p:cNvPr>
            <p:cNvSpPr/>
            <p:nvPr/>
          </p:nvSpPr>
          <p:spPr>
            <a:xfrm>
              <a:off x="3648072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13504902-2C71-8074-83D0-7B704C53C390}"/>
                </a:ext>
              </a:extLst>
            </p:cNvPr>
            <p:cNvSpPr/>
            <p:nvPr/>
          </p:nvSpPr>
          <p:spPr>
            <a:xfrm>
              <a:off x="3914773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561FA980-2A51-0834-3DCA-1240209941DE}"/>
                </a:ext>
              </a:extLst>
            </p:cNvPr>
            <p:cNvSpPr/>
            <p:nvPr/>
          </p:nvSpPr>
          <p:spPr>
            <a:xfrm>
              <a:off x="4181474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9EC4D942-F792-FD37-E883-55AD577D8B60}"/>
                </a:ext>
              </a:extLst>
            </p:cNvPr>
            <p:cNvSpPr/>
            <p:nvPr/>
          </p:nvSpPr>
          <p:spPr>
            <a:xfrm>
              <a:off x="4448175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0FA52497-CEFB-6AD0-F659-4119507B2A0A}"/>
                </a:ext>
              </a:extLst>
            </p:cNvPr>
            <p:cNvSpPr/>
            <p:nvPr/>
          </p:nvSpPr>
          <p:spPr>
            <a:xfrm>
              <a:off x="4714876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231DBBE1-4010-D15E-6D9C-F3BC6E4E373E}"/>
                </a:ext>
              </a:extLst>
            </p:cNvPr>
            <p:cNvSpPr/>
            <p:nvPr/>
          </p:nvSpPr>
          <p:spPr>
            <a:xfrm>
              <a:off x="4981577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6B5156B6-FBD2-081B-A75B-A83C9647EBFF}"/>
                </a:ext>
              </a:extLst>
            </p:cNvPr>
            <p:cNvSpPr/>
            <p:nvPr/>
          </p:nvSpPr>
          <p:spPr>
            <a:xfrm>
              <a:off x="5248278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FD2FD670-73E0-4A5E-6FF9-B4294ABAE9DD}"/>
                </a:ext>
              </a:extLst>
            </p:cNvPr>
            <p:cNvSpPr/>
            <p:nvPr/>
          </p:nvSpPr>
          <p:spPr>
            <a:xfrm>
              <a:off x="5514979" y="2212419"/>
              <a:ext cx="266701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F98A5889-CB46-6921-B0DE-9D33CC31BC57}"/>
              </a:ext>
            </a:extLst>
          </p:cNvPr>
          <p:cNvGrpSpPr/>
          <p:nvPr/>
        </p:nvGrpSpPr>
        <p:grpSpPr>
          <a:xfrm>
            <a:off x="4743" y="2541031"/>
            <a:ext cx="5781690" cy="369332"/>
            <a:chOff x="-10" y="2541031"/>
            <a:chExt cx="5781690" cy="369332"/>
          </a:xfrm>
        </p:grpSpPr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1E9234E0-77C7-6A23-A22A-4422CD01F4C6}"/>
                </a:ext>
              </a:extLst>
            </p:cNvPr>
            <p:cNvSpPr txBox="1"/>
            <p:nvPr/>
          </p:nvSpPr>
          <p:spPr>
            <a:xfrm>
              <a:off x="-10" y="2541031"/>
              <a:ext cx="15144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0x00000040</a:t>
              </a: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B5F632A2-CADD-4525-AAA2-2B2FD6B7F9B8}"/>
                </a:ext>
              </a:extLst>
            </p:cNvPr>
            <p:cNvSpPr/>
            <p:nvPr/>
          </p:nvSpPr>
          <p:spPr>
            <a:xfrm>
              <a:off x="1514464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C7399D81-F6C1-805F-7D75-89B7968C4538}"/>
                </a:ext>
              </a:extLst>
            </p:cNvPr>
            <p:cNvSpPr/>
            <p:nvPr/>
          </p:nvSpPr>
          <p:spPr>
            <a:xfrm>
              <a:off x="1781165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89F2630D-969B-F1BA-E134-599805AC70A8}"/>
                </a:ext>
              </a:extLst>
            </p:cNvPr>
            <p:cNvSpPr/>
            <p:nvPr/>
          </p:nvSpPr>
          <p:spPr>
            <a:xfrm>
              <a:off x="2047866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7936BE7A-45FD-66FE-17F8-C3C23ED4F332}"/>
                </a:ext>
              </a:extLst>
            </p:cNvPr>
            <p:cNvSpPr/>
            <p:nvPr/>
          </p:nvSpPr>
          <p:spPr>
            <a:xfrm>
              <a:off x="2314567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609E17AE-AAC7-2FA0-27AC-C54D5D96E0C2}"/>
                </a:ext>
              </a:extLst>
            </p:cNvPr>
            <p:cNvSpPr/>
            <p:nvPr/>
          </p:nvSpPr>
          <p:spPr>
            <a:xfrm>
              <a:off x="2581268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549855B6-0544-7CAE-58E1-78D87A85A077}"/>
                </a:ext>
              </a:extLst>
            </p:cNvPr>
            <p:cNvSpPr/>
            <p:nvPr/>
          </p:nvSpPr>
          <p:spPr>
            <a:xfrm>
              <a:off x="2847969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E1412F2C-FD28-7417-2E0D-0DAB695AB861}"/>
                </a:ext>
              </a:extLst>
            </p:cNvPr>
            <p:cNvSpPr/>
            <p:nvPr/>
          </p:nvSpPr>
          <p:spPr>
            <a:xfrm>
              <a:off x="3114670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1E5FE9B0-4FA2-9E5A-B825-028500580C20}"/>
                </a:ext>
              </a:extLst>
            </p:cNvPr>
            <p:cNvSpPr/>
            <p:nvPr/>
          </p:nvSpPr>
          <p:spPr>
            <a:xfrm>
              <a:off x="3381371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DDAEA709-E0D0-5D72-CE7F-80B087802481}"/>
                </a:ext>
              </a:extLst>
            </p:cNvPr>
            <p:cNvSpPr/>
            <p:nvPr/>
          </p:nvSpPr>
          <p:spPr>
            <a:xfrm>
              <a:off x="3648072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2647FCD6-B152-B027-4AB8-3F02311985C0}"/>
                </a:ext>
              </a:extLst>
            </p:cNvPr>
            <p:cNvSpPr/>
            <p:nvPr/>
          </p:nvSpPr>
          <p:spPr>
            <a:xfrm>
              <a:off x="3914773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832EACEF-E413-0C82-3A51-A73897D6631D}"/>
                </a:ext>
              </a:extLst>
            </p:cNvPr>
            <p:cNvSpPr/>
            <p:nvPr/>
          </p:nvSpPr>
          <p:spPr>
            <a:xfrm>
              <a:off x="4181474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052AE57E-1B8C-CF4C-E33E-9225738114DD}"/>
                </a:ext>
              </a:extLst>
            </p:cNvPr>
            <p:cNvSpPr/>
            <p:nvPr/>
          </p:nvSpPr>
          <p:spPr>
            <a:xfrm>
              <a:off x="4448175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DC1CD1EE-951C-786A-3003-7FF6B9665669}"/>
                </a:ext>
              </a:extLst>
            </p:cNvPr>
            <p:cNvSpPr/>
            <p:nvPr/>
          </p:nvSpPr>
          <p:spPr>
            <a:xfrm>
              <a:off x="4714876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3801F2E7-72AD-68AB-6129-D0C71679CEAC}"/>
                </a:ext>
              </a:extLst>
            </p:cNvPr>
            <p:cNvSpPr/>
            <p:nvPr/>
          </p:nvSpPr>
          <p:spPr>
            <a:xfrm>
              <a:off x="4981577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5604E976-C443-F544-5731-9788DCA15B1E}"/>
                </a:ext>
              </a:extLst>
            </p:cNvPr>
            <p:cNvSpPr/>
            <p:nvPr/>
          </p:nvSpPr>
          <p:spPr>
            <a:xfrm>
              <a:off x="5248278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11BCC6DE-8B1C-57C9-5EF4-3409430139F2}"/>
                </a:ext>
              </a:extLst>
            </p:cNvPr>
            <p:cNvSpPr/>
            <p:nvPr/>
          </p:nvSpPr>
          <p:spPr>
            <a:xfrm>
              <a:off x="5514979" y="2550556"/>
              <a:ext cx="266701" cy="35242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F7A25FD1-316C-D83B-FD8A-2DE74814A2E3}"/>
              </a:ext>
            </a:extLst>
          </p:cNvPr>
          <p:cNvGrpSpPr/>
          <p:nvPr/>
        </p:nvGrpSpPr>
        <p:grpSpPr>
          <a:xfrm>
            <a:off x="4743" y="2879168"/>
            <a:ext cx="5781690" cy="369332"/>
            <a:chOff x="4743" y="2879168"/>
            <a:chExt cx="5781690" cy="369332"/>
          </a:xfrm>
        </p:grpSpPr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2BD7D193-8C4F-238C-4306-51BAE40C073C}"/>
                </a:ext>
              </a:extLst>
            </p:cNvPr>
            <p:cNvSpPr txBox="1"/>
            <p:nvPr/>
          </p:nvSpPr>
          <p:spPr>
            <a:xfrm>
              <a:off x="4743" y="2879168"/>
              <a:ext cx="15144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0x00000180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7D2F2935-2C31-05F9-EE8C-ECEC6BE6E09B}"/>
                </a:ext>
              </a:extLst>
            </p:cNvPr>
            <p:cNvSpPr/>
            <p:nvPr/>
          </p:nvSpPr>
          <p:spPr>
            <a:xfrm>
              <a:off x="1519217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942E209F-D906-F9C7-14C6-FBBFFA4A8C20}"/>
                </a:ext>
              </a:extLst>
            </p:cNvPr>
            <p:cNvSpPr/>
            <p:nvPr/>
          </p:nvSpPr>
          <p:spPr>
            <a:xfrm>
              <a:off x="1785918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06CB98D7-DF43-53F0-431D-44E1BA0EAACB}"/>
                </a:ext>
              </a:extLst>
            </p:cNvPr>
            <p:cNvSpPr/>
            <p:nvPr/>
          </p:nvSpPr>
          <p:spPr>
            <a:xfrm>
              <a:off x="2052619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F037953D-F2AF-4914-90CF-C64B9C54DEBC}"/>
                </a:ext>
              </a:extLst>
            </p:cNvPr>
            <p:cNvSpPr/>
            <p:nvPr/>
          </p:nvSpPr>
          <p:spPr>
            <a:xfrm>
              <a:off x="2319320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0F9DB7F7-5E84-610A-AEBE-18CCE3CDDF32}"/>
                </a:ext>
              </a:extLst>
            </p:cNvPr>
            <p:cNvSpPr/>
            <p:nvPr/>
          </p:nvSpPr>
          <p:spPr>
            <a:xfrm>
              <a:off x="2586021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0164FC3F-A1E0-3545-A484-1092C3303432}"/>
                </a:ext>
              </a:extLst>
            </p:cNvPr>
            <p:cNvSpPr/>
            <p:nvPr/>
          </p:nvSpPr>
          <p:spPr>
            <a:xfrm>
              <a:off x="2852722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46FCDF16-431F-316E-C75D-0234A107FC24}"/>
                </a:ext>
              </a:extLst>
            </p:cNvPr>
            <p:cNvSpPr/>
            <p:nvPr/>
          </p:nvSpPr>
          <p:spPr>
            <a:xfrm>
              <a:off x="3119423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5EBAA29B-F659-033A-0AAB-66386B7A9886}"/>
                </a:ext>
              </a:extLst>
            </p:cNvPr>
            <p:cNvSpPr/>
            <p:nvPr/>
          </p:nvSpPr>
          <p:spPr>
            <a:xfrm>
              <a:off x="3386124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047367D3-4E08-26F2-B191-61E85BA9F008}"/>
                </a:ext>
              </a:extLst>
            </p:cNvPr>
            <p:cNvSpPr/>
            <p:nvPr/>
          </p:nvSpPr>
          <p:spPr>
            <a:xfrm>
              <a:off x="3652825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59DFB985-C6E0-B72C-0478-96A021D5B17E}"/>
                </a:ext>
              </a:extLst>
            </p:cNvPr>
            <p:cNvSpPr/>
            <p:nvPr/>
          </p:nvSpPr>
          <p:spPr>
            <a:xfrm>
              <a:off x="3919526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824F48BC-D586-3ACA-E6C8-0B229B1B1237}"/>
                </a:ext>
              </a:extLst>
            </p:cNvPr>
            <p:cNvSpPr/>
            <p:nvPr/>
          </p:nvSpPr>
          <p:spPr>
            <a:xfrm>
              <a:off x="4186227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E1325E94-6ADC-1635-17A2-4713E6339D1C}"/>
                </a:ext>
              </a:extLst>
            </p:cNvPr>
            <p:cNvSpPr/>
            <p:nvPr/>
          </p:nvSpPr>
          <p:spPr>
            <a:xfrm>
              <a:off x="4452928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289CACF2-EA0A-D771-3D5E-FB42AE6421FF}"/>
                </a:ext>
              </a:extLst>
            </p:cNvPr>
            <p:cNvSpPr/>
            <p:nvPr/>
          </p:nvSpPr>
          <p:spPr>
            <a:xfrm>
              <a:off x="4719629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0BD8E7AE-732C-A4D5-3193-B2B4E88C61F7}"/>
                </a:ext>
              </a:extLst>
            </p:cNvPr>
            <p:cNvSpPr/>
            <p:nvPr/>
          </p:nvSpPr>
          <p:spPr>
            <a:xfrm>
              <a:off x="4986330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D2EF831-49C8-E3E9-BA58-46E8C8BD6BB1}"/>
                </a:ext>
              </a:extLst>
            </p:cNvPr>
            <p:cNvSpPr/>
            <p:nvPr/>
          </p:nvSpPr>
          <p:spPr>
            <a:xfrm>
              <a:off x="5253031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0D697698-C35B-1941-5935-A6EC216E4F1F}"/>
                </a:ext>
              </a:extLst>
            </p:cNvPr>
            <p:cNvSpPr/>
            <p:nvPr/>
          </p:nvSpPr>
          <p:spPr>
            <a:xfrm>
              <a:off x="5519732" y="2888693"/>
              <a:ext cx="266701" cy="352425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AC648D94-CEB0-1FA6-12D7-7ADDDCB1C020}"/>
              </a:ext>
            </a:extLst>
          </p:cNvPr>
          <p:cNvGrpSpPr/>
          <p:nvPr/>
        </p:nvGrpSpPr>
        <p:grpSpPr>
          <a:xfrm>
            <a:off x="4743" y="3243262"/>
            <a:ext cx="5781690" cy="369332"/>
            <a:chOff x="-10" y="3243262"/>
            <a:chExt cx="5781690" cy="369332"/>
          </a:xfrm>
        </p:grpSpPr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325A3D61-5592-3B02-FA34-8D5BF82F985D}"/>
                </a:ext>
              </a:extLst>
            </p:cNvPr>
            <p:cNvSpPr txBox="1"/>
            <p:nvPr/>
          </p:nvSpPr>
          <p:spPr>
            <a:xfrm>
              <a:off x="-10" y="3243262"/>
              <a:ext cx="15144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0x00000240</a:t>
              </a:r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D5A4E208-F66F-E20B-5BB1-D1D530F95A54}"/>
                </a:ext>
              </a:extLst>
            </p:cNvPr>
            <p:cNvSpPr/>
            <p:nvPr/>
          </p:nvSpPr>
          <p:spPr>
            <a:xfrm>
              <a:off x="1514464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F2508356-E712-7D65-A2BB-A42726FCBA00}"/>
                </a:ext>
              </a:extLst>
            </p:cNvPr>
            <p:cNvSpPr/>
            <p:nvPr/>
          </p:nvSpPr>
          <p:spPr>
            <a:xfrm>
              <a:off x="1781165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8CF65B1D-6E32-DD5C-C8FE-4E0BA7091B12}"/>
                </a:ext>
              </a:extLst>
            </p:cNvPr>
            <p:cNvSpPr/>
            <p:nvPr/>
          </p:nvSpPr>
          <p:spPr>
            <a:xfrm>
              <a:off x="2047866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02D7FDF9-C91F-F8D0-161A-68A1689EF558}"/>
                </a:ext>
              </a:extLst>
            </p:cNvPr>
            <p:cNvSpPr/>
            <p:nvPr/>
          </p:nvSpPr>
          <p:spPr>
            <a:xfrm>
              <a:off x="2314567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A789CD0B-4531-4CF3-823A-7D82EFCD81A1}"/>
                </a:ext>
              </a:extLst>
            </p:cNvPr>
            <p:cNvSpPr/>
            <p:nvPr/>
          </p:nvSpPr>
          <p:spPr>
            <a:xfrm>
              <a:off x="2581268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0B0F985F-D93D-0644-BEC5-0F76321C4ECB}"/>
                </a:ext>
              </a:extLst>
            </p:cNvPr>
            <p:cNvSpPr/>
            <p:nvPr/>
          </p:nvSpPr>
          <p:spPr>
            <a:xfrm>
              <a:off x="2847969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E26C982E-ED2E-C1D0-6E9C-103BE9135EB5}"/>
                </a:ext>
              </a:extLst>
            </p:cNvPr>
            <p:cNvSpPr/>
            <p:nvPr/>
          </p:nvSpPr>
          <p:spPr>
            <a:xfrm>
              <a:off x="3114670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1235AB7E-95F5-A2A8-9D36-9EECC4E33060}"/>
                </a:ext>
              </a:extLst>
            </p:cNvPr>
            <p:cNvSpPr/>
            <p:nvPr/>
          </p:nvSpPr>
          <p:spPr>
            <a:xfrm>
              <a:off x="3381371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C96A264A-E42F-0A14-7D4F-DA7E7799E020}"/>
                </a:ext>
              </a:extLst>
            </p:cNvPr>
            <p:cNvSpPr/>
            <p:nvPr/>
          </p:nvSpPr>
          <p:spPr>
            <a:xfrm>
              <a:off x="3648072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77480594-09A9-801E-2BED-A1D89416A1C2}"/>
                </a:ext>
              </a:extLst>
            </p:cNvPr>
            <p:cNvSpPr/>
            <p:nvPr/>
          </p:nvSpPr>
          <p:spPr>
            <a:xfrm>
              <a:off x="3914773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A5136E63-DD51-BECC-680F-DFF0E8C7B811}"/>
                </a:ext>
              </a:extLst>
            </p:cNvPr>
            <p:cNvSpPr/>
            <p:nvPr/>
          </p:nvSpPr>
          <p:spPr>
            <a:xfrm>
              <a:off x="4181474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025660AD-22E1-E73D-536D-23F2CF287EBF}"/>
                </a:ext>
              </a:extLst>
            </p:cNvPr>
            <p:cNvSpPr/>
            <p:nvPr/>
          </p:nvSpPr>
          <p:spPr>
            <a:xfrm>
              <a:off x="4448175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363AFF0D-248A-29FE-F0FE-F08FEA799BEB}"/>
                </a:ext>
              </a:extLst>
            </p:cNvPr>
            <p:cNvSpPr/>
            <p:nvPr/>
          </p:nvSpPr>
          <p:spPr>
            <a:xfrm>
              <a:off x="4714876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492ECC9F-CDAB-487D-9F18-91DAF3837CE9}"/>
                </a:ext>
              </a:extLst>
            </p:cNvPr>
            <p:cNvSpPr/>
            <p:nvPr/>
          </p:nvSpPr>
          <p:spPr>
            <a:xfrm>
              <a:off x="4981577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F70DBD62-42F4-21F0-9E0D-85C38EDB59BC}"/>
                </a:ext>
              </a:extLst>
            </p:cNvPr>
            <p:cNvSpPr/>
            <p:nvPr/>
          </p:nvSpPr>
          <p:spPr>
            <a:xfrm>
              <a:off x="5248278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7C4CF848-17C9-8A21-B39E-713A63F191FC}"/>
                </a:ext>
              </a:extLst>
            </p:cNvPr>
            <p:cNvSpPr/>
            <p:nvPr/>
          </p:nvSpPr>
          <p:spPr>
            <a:xfrm>
              <a:off x="5514979" y="3252787"/>
              <a:ext cx="266701" cy="35242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0" name="TextBox 539">
            <a:extLst>
              <a:ext uri="{FF2B5EF4-FFF2-40B4-BE49-F238E27FC236}">
                <a16:creationId xmlns:a16="http://schemas.microsoft.com/office/drawing/2014/main" id="{7898F677-AED9-0249-3D29-742DAFCFBD3E}"/>
              </a:ext>
            </a:extLst>
          </p:cNvPr>
          <p:cNvSpPr txBox="1"/>
          <p:nvPr/>
        </p:nvSpPr>
        <p:spPr>
          <a:xfrm>
            <a:off x="816106" y="1844159"/>
            <a:ext cx="166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Кеш-линии</a:t>
            </a:r>
            <a:endParaRPr lang="en-US" dirty="0"/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52C3C81A-842D-E435-54EE-9F2C18E9436A}"/>
              </a:ext>
            </a:extLst>
          </p:cNvPr>
          <p:cNvSpPr txBox="1"/>
          <p:nvPr/>
        </p:nvSpPr>
        <p:spPr>
          <a:xfrm>
            <a:off x="4572267" y="5288001"/>
            <a:ext cx="105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ОЗУ</a:t>
            </a:r>
            <a:endParaRPr lang="en-US" dirty="0"/>
          </a:p>
        </p:txBody>
      </p:sp>
      <p:sp>
        <p:nvSpPr>
          <p:cNvPr id="542" name="Arrow: Right 541">
            <a:extLst>
              <a:ext uri="{FF2B5EF4-FFF2-40B4-BE49-F238E27FC236}">
                <a16:creationId xmlns:a16="http://schemas.microsoft.com/office/drawing/2014/main" id="{4B92B3C9-9571-D1CC-A0CE-853F218505F2}"/>
              </a:ext>
            </a:extLst>
          </p:cNvPr>
          <p:cNvSpPr/>
          <p:nvPr/>
        </p:nvSpPr>
        <p:spPr>
          <a:xfrm>
            <a:off x="5537200" y="5295900"/>
            <a:ext cx="558800" cy="482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33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82E3-5DEA-D190-A982-1DFE3A2E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Последовательный и случайный доступ к внутри одной кеш-линии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F8573-FB16-38DD-FA0E-3BAC70AAC0A5}"/>
              </a:ext>
            </a:extLst>
          </p:cNvPr>
          <p:cNvSpPr txBox="1"/>
          <p:nvPr/>
        </p:nvSpPr>
        <p:spPr>
          <a:xfrm>
            <a:off x="0" y="1810464"/>
            <a:ext cx="118001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CACHE_LINE_SIZE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ITERATIONS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2000000000ull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400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alignas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(CACHE_LINE_SIZE)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[CACHE_LINE_SIZE];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SumCacheLine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ITERATIONS;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gData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C20FD5-CD8F-880C-D778-0CE202E60910}"/>
              </a:ext>
            </a:extLst>
          </p:cNvPr>
          <p:cNvSpPr txBox="1"/>
          <p:nvPr/>
        </p:nvSpPr>
        <p:spPr>
          <a:xfrm>
            <a:off x="5652654" y="2718404"/>
            <a:ext cx="653934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struct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SumCacheLineWithContext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volatile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uint64_t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unused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-&gt;x,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-&gt;y);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 ++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uint8_t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seqCtx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Measure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sequential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SumCacheLineWithContext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seqCtx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randCtx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Measure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pseudo-random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SumCacheLineWithContext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randCtx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35C85-0767-EC98-F333-1365C40921FB}"/>
              </a:ext>
            </a:extLst>
          </p:cNvPr>
          <p:cNvSpPr txBox="1"/>
          <p:nvPr/>
        </p:nvSpPr>
        <p:spPr>
          <a:xfrm>
            <a:off x="112882" y="5288560"/>
            <a:ext cx="5426892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600" dirty="0">
                <a:latin typeface="Consolas" panose="020B0609020204030204" pitchFamily="49" charset="0"/>
              </a:rPr>
              <a:t>sequential: 2.284217 sec, sum = 1999999999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pseudo-random: 2.309902 sec, sum = 63000000000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99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D743-9273-952D-1E47-73EA4D95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132A-E86A-FADF-0582-1C9A4901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Последовательный и случайный доступ в большом массиве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6ED2E-4812-33F6-8681-1A09CE615336}"/>
              </a:ext>
            </a:extLst>
          </p:cNvPr>
          <p:cNvSpPr txBox="1"/>
          <p:nvPr/>
        </p:nvSpPr>
        <p:spPr>
          <a:xfrm>
            <a:off x="0" y="1810464"/>
            <a:ext cx="80633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CACHE_LINE_SIZE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ITERATIONS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2000000000ull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400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alignas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(CACHE_LINE_SIZE)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[CACHE_LINE_SIZE *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SumCacheLine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ITERATIONS;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gData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81DA1-C064-ABD1-D2E5-10650A5DDB31}"/>
              </a:ext>
            </a:extLst>
          </p:cNvPr>
          <p:cNvSpPr txBox="1"/>
          <p:nvPr/>
        </p:nvSpPr>
        <p:spPr>
          <a:xfrm>
            <a:off x="5652655" y="2557572"/>
            <a:ext cx="653934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struct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SumCacheLineWithContext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volatile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uint64_t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unused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-&gt;x,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-&gt;y);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 ++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uint8_t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seqCtx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Measure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sequential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SumCacheLineWithContext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seqCtx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SumContext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randCtx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Measure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pseudo-random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SumCacheLineWithContext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randCtx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D0529-6D40-64A3-6199-3CFC0A916D6F}"/>
              </a:ext>
            </a:extLst>
          </p:cNvPr>
          <p:cNvSpPr txBox="1"/>
          <p:nvPr/>
        </p:nvSpPr>
        <p:spPr>
          <a:xfrm>
            <a:off x="142406" y="5730319"/>
            <a:ext cx="4994859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400" dirty="0">
                <a:latin typeface="Consolas" panose="020B0609020204030204" pitchFamily="49" charset="0"/>
              </a:rPr>
              <a:t>sequential: 2.429859 sec, sum = 1999999999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pseudo-random: 13.361305 sec, sum = 255000000000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04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4BEA95-1CF6-95F7-BCCF-1CF9E191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писать быстрые программы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5F32B9-B490-025E-423E-F29D68009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Регистрaми</a:t>
            </a:r>
            <a:r>
              <a:rPr lang="ru-RU" dirty="0"/>
              <a:t> управляет компилятор </a:t>
            </a:r>
          </a:p>
          <a:p>
            <a:pPr lvl="1"/>
            <a:r>
              <a:rPr lang="ru-RU" dirty="0"/>
              <a:t>анализируйте ассемблер при необходимости </a:t>
            </a:r>
          </a:p>
          <a:p>
            <a:r>
              <a:rPr lang="ru-RU" dirty="0"/>
              <a:t>Держите данные компактными </a:t>
            </a:r>
          </a:p>
          <a:p>
            <a:pPr lvl="1"/>
            <a:r>
              <a:rPr lang="ru-RU" dirty="0"/>
              <a:t>выбирайте подходящий тип</a:t>
            </a:r>
          </a:p>
          <a:p>
            <a:r>
              <a:rPr lang="ru-RU" dirty="0"/>
              <a:t>Используйте последовательное размещение данных </a:t>
            </a:r>
          </a:p>
          <a:p>
            <a:pPr lvl="1"/>
            <a:r>
              <a:rPr lang="ru-RU" dirty="0"/>
              <a:t>массивы лучше связных структур </a:t>
            </a:r>
          </a:p>
          <a:p>
            <a:r>
              <a:rPr lang="ru-RU" dirty="0"/>
              <a:t>Используйте стек для небольших объектов </a:t>
            </a:r>
          </a:p>
          <a:p>
            <a:pPr lvl="1"/>
            <a:r>
              <a:rPr lang="ru-RU" dirty="0"/>
              <a:t>избегайте </a:t>
            </a:r>
            <a:r>
              <a:rPr lang="ru-RU" dirty="0" err="1"/>
              <a:t>malloc</a:t>
            </a:r>
            <a:r>
              <a:rPr lang="ru-RU" dirty="0"/>
              <a:t>/</a:t>
            </a:r>
            <a:r>
              <a:rPr lang="ru-RU" dirty="0" err="1"/>
              <a:t>free</a:t>
            </a:r>
            <a:r>
              <a:rPr lang="ru-RU" dirty="0"/>
              <a:t> в циклах</a:t>
            </a:r>
          </a:p>
        </p:txBody>
      </p:sp>
    </p:spTree>
    <p:extLst>
      <p:ext uri="{BB962C8B-B14F-4D97-AF65-F5344CB8AC3E}">
        <p14:creationId xmlns:p14="http://schemas.microsoft.com/office/powerpoint/2010/main" val="30700194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D076-B2B4-EF83-EC0E-BB86FC70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 и здравый смысл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092BA-B85D-82A8-E1EC-3D5E04C3F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оптимизируйте «вслепую» </a:t>
            </a:r>
          </a:p>
          <a:p>
            <a:r>
              <a:rPr lang="ru-RU" dirty="0"/>
              <a:t>Современные процессоры быстрее памяти </a:t>
            </a:r>
          </a:p>
          <a:p>
            <a:r>
              <a:rPr lang="ru-RU" dirty="0"/>
              <a:t>Вычислить часто дешевле, чем загрузить из памяти </a:t>
            </a:r>
          </a:p>
          <a:p>
            <a:r>
              <a:rPr lang="ru-RU" dirty="0"/>
              <a:t>Старые приёмы могут быть неэффективны </a:t>
            </a:r>
          </a:p>
          <a:p>
            <a:r>
              <a:rPr lang="ru-RU" dirty="0"/>
              <a:t>Всегда проверяйте гипотезы бенчмарками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850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3F2F-ADA9-4D6E-5556-9787A51D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34A5-D883-9B39-0165-F3954D730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 выполняется в памяти </a:t>
            </a:r>
          </a:p>
          <a:p>
            <a:pPr lvl="1"/>
            <a:r>
              <a:rPr lang="ru-RU" dirty="0"/>
              <a:t>Память имеет структуру (</a:t>
            </a:r>
            <a:r>
              <a:rPr lang="ru-RU" dirty="0" err="1"/>
              <a:t>stack</a:t>
            </a:r>
            <a:r>
              <a:rPr lang="ru-RU" dirty="0"/>
              <a:t>, </a:t>
            </a:r>
            <a:r>
              <a:rPr lang="ru-RU" dirty="0" err="1"/>
              <a:t>heap</a:t>
            </a:r>
            <a:r>
              <a:rPr lang="ru-RU" dirty="0"/>
              <a:t>, </a:t>
            </a:r>
            <a:r>
              <a:rPr lang="ru-RU" dirty="0" err="1"/>
              <a:t>data</a:t>
            </a:r>
            <a:r>
              <a:rPr lang="ru-RU" dirty="0"/>
              <a:t>, </a:t>
            </a:r>
            <a:r>
              <a:rPr lang="ru-RU" dirty="0" err="1"/>
              <a:t>text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У объектов есть адрес и время жизни </a:t>
            </a:r>
          </a:p>
          <a:p>
            <a:r>
              <a:rPr lang="ru-RU" dirty="0"/>
              <a:t>Память неоднородна по скорости </a:t>
            </a:r>
          </a:p>
          <a:p>
            <a:pPr lvl="1"/>
            <a:r>
              <a:rPr lang="ru-RU" dirty="0"/>
              <a:t>Кеш критически влияет на производительность </a:t>
            </a:r>
          </a:p>
          <a:p>
            <a:pPr lvl="1"/>
            <a:r>
              <a:rPr lang="ru-RU" dirty="0"/>
              <a:t>Локальность доступа определяет эффективность </a:t>
            </a:r>
          </a:p>
          <a:p>
            <a:r>
              <a:rPr lang="ru-RU" dirty="0"/>
              <a:t>Алгоритм = вычисления + доступ к памяти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545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9347</Words>
  <Application>Microsoft Office PowerPoint</Application>
  <PresentationFormat>Widescreen</PresentationFormat>
  <Paragraphs>968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Consolas</vt:lpstr>
      <vt:lpstr>Office Theme</vt:lpstr>
      <vt:lpstr>Память программы под микроскопом</vt:lpstr>
      <vt:lpstr>Введение</vt:lpstr>
      <vt:lpstr>Организация памяти процесса</vt:lpstr>
      <vt:lpstr>Стек программы</vt:lpstr>
      <vt:lpstr>Стек и возврат из функций</vt:lpstr>
      <vt:lpstr>Как работают вызовы функций</vt:lpstr>
      <vt:lpstr>Как работают вызовы функций</vt:lpstr>
      <vt:lpstr>Как работают вызовы функций</vt:lpstr>
      <vt:lpstr>Как работают вызовы функций</vt:lpstr>
      <vt:lpstr>Как работают вызовы функций</vt:lpstr>
      <vt:lpstr>Как работают вызовы функций</vt:lpstr>
      <vt:lpstr>Стек вызовов и адреса переменных</vt:lpstr>
      <vt:lpstr>Вызов функции под микроскопом</vt:lpstr>
      <vt:lpstr>Время жизни данных (Lifetime)</vt:lpstr>
      <vt:lpstr>Lifetime и области памяти</vt:lpstr>
      <vt:lpstr>Ошибка – возврат адреса локальной переменной</vt:lpstr>
      <vt:lpstr>Динамическая память (Heap)</vt:lpstr>
      <vt:lpstr>Ошибки и особенности при работе с кучей</vt:lpstr>
      <vt:lpstr>Статические переменные функций</vt:lpstr>
      <vt:lpstr>Статическая переменная сохраняет значение между вызовами</vt:lpstr>
      <vt:lpstr>PowerPoint Presentation</vt:lpstr>
      <vt:lpstr>Иерархия памяти</vt:lpstr>
      <vt:lpstr>Иерархия памяти компьютера</vt:lpstr>
      <vt:lpstr>Cache hit и cache miss</vt:lpstr>
      <vt:lpstr>Пространственная и временная локальность</vt:lpstr>
      <vt:lpstr>Универсальная функция для измерения времени</vt:lpstr>
      <vt:lpstr>Обработка матрицы по строкам и столбцам</vt:lpstr>
      <vt:lpstr>Кеш-линии (Cache Lines)</vt:lpstr>
      <vt:lpstr>Последовательный и случайный доступ к внутри одной кеш-линии</vt:lpstr>
      <vt:lpstr>Последовательный и случайный доступ в большом массиве</vt:lpstr>
      <vt:lpstr>Как писать быстрые программы</vt:lpstr>
      <vt:lpstr>Практика и здравый смысл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142</cp:revision>
  <dcterms:created xsi:type="dcterms:W3CDTF">2026-04-10T20:55:01Z</dcterms:created>
  <dcterms:modified xsi:type="dcterms:W3CDTF">2026-06-30T22:41:38Z</dcterms:modified>
</cp:coreProperties>
</file>