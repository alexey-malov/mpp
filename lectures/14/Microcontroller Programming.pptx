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0" r:id="rId14"/>
    <p:sldId id="272" r:id="rId15"/>
    <p:sldId id="271" r:id="rId16"/>
    <p:sldId id="273" r:id="rId17"/>
    <p:sldId id="268" r:id="rId18"/>
    <p:sldId id="276" r:id="rId19"/>
    <p:sldId id="277" r:id="rId20"/>
    <p:sldId id="278" r:id="rId21"/>
    <p:sldId id="280" r:id="rId22"/>
    <p:sldId id="279" r:id="rId23"/>
    <p:sldId id="274" r:id="rId24"/>
    <p:sldId id="281" r:id="rId25"/>
    <p:sldId id="282" r:id="rId26"/>
    <p:sldId id="275" r:id="rId27"/>
    <p:sldId id="283" r:id="rId28"/>
    <p:sldId id="284" r:id="rId29"/>
    <p:sldId id="285" r:id="rId30"/>
    <p:sldId id="287" r:id="rId31"/>
    <p:sldId id="288" r:id="rId32"/>
    <p:sldId id="289" r:id="rId33"/>
    <p:sldId id="290" r:id="rId34"/>
    <p:sldId id="292" r:id="rId35"/>
    <p:sldId id="293" r:id="rId36"/>
    <p:sldId id="294" r:id="rId37"/>
    <p:sldId id="291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65637" autoAdjust="0"/>
  </p:normalViewPr>
  <p:slideViewPr>
    <p:cSldViewPr snapToGrid="0" showGuides="1">
      <p:cViewPr varScale="1">
        <p:scale>
          <a:sx n="67" d="100"/>
          <a:sy n="67" d="100"/>
        </p:scale>
        <p:origin x="1266" y="7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940DF67-43DD-4C69-A81D-1BCF90B7192E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F377F0E-5212-47C6-B88A-D2005084B0E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9503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До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момента</a:t>
            </a:r>
            <a:r>
              <a:rPr lang="en-US" dirty="0"/>
              <a:t> в </a:t>
            </a:r>
            <a:r>
              <a:rPr lang="en-US" dirty="0" err="1"/>
              <a:t>курсе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в </a:t>
            </a:r>
            <a:r>
              <a:rPr lang="en-US" dirty="0" err="1"/>
              <a:t>основном</a:t>
            </a:r>
            <a:r>
              <a:rPr lang="en-US" dirty="0"/>
              <a:t> </a:t>
            </a:r>
            <a:r>
              <a:rPr lang="en-US" dirty="0" err="1"/>
              <a:t>говорили</a:t>
            </a:r>
            <a:r>
              <a:rPr lang="en-US" dirty="0"/>
              <a:t> о </a:t>
            </a:r>
            <a:r>
              <a:rPr lang="en-US" dirty="0" err="1"/>
              <a:t>процессорах</a:t>
            </a:r>
            <a:r>
              <a:rPr lang="en-US" dirty="0"/>
              <a:t> </a:t>
            </a:r>
            <a:r>
              <a:rPr lang="en-US" dirty="0" err="1"/>
              <a:t>общего</a:t>
            </a:r>
            <a:r>
              <a:rPr lang="en-US" dirty="0"/>
              <a:t> </a:t>
            </a:r>
            <a:r>
              <a:rPr lang="en-US" dirty="0" err="1"/>
              <a:t>назначения</a:t>
            </a:r>
            <a:r>
              <a:rPr lang="en-US" dirty="0"/>
              <a:t> — </a:t>
            </a:r>
            <a:r>
              <a:rPr lang="en-US" dirty="0" err="1"/>
              <a:t>таких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x86-64 в </a:t>
            </a:r>
            <a:r>
              <a:rPr lang="en-US" dirty="0" err="1"/>
              <a:t>настольных</a:t>
            </a:r>
            <a:r>
              <a:rPr lang="en-US" dirty="0"/>
              <a:t> </a:t>
            </a:r>
            <a:r>
              <a:rPr lang="en-US" dirty="0" err="1"/>
              <a:t>компьютерах</a:t>
            </a:r>
            <a:r>
              <a:rPr lang="en-US" dirty="0"/>
              <a:t> и </a:t>
            </a:r>
            <a:r>
              <a:rPr lang="en-US" dirty="0" err="1"/>
              <a:t>серверах</a:t>
            </a:r>
            <a:r>
              <a:rPr lang="en-US" dirty="0"/>
              <a:t>. </a:t>
            </a:r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переходим</a:t>
            </a:r>
            <a:r>
              <a:rPr lang="en-US" dirty="0"/>
              <a:t> к </a:t>
            </a:r>
            <a:r>
              <a:rPr lang="en-US" dirty="0" err="1"/>
              <a:t>другому</a:t>
            </a:r>
            <a:r>
              <a:rPr lang="en-US" dirty="0"/>
              <a:t> </a:t>
            </a:r>
            <a:r>
              <a:rPr lang="en-US" dirty="0" err="1"/>
              <a:t>классу</a:t>
            </a:r>
            <a:r>
              <a:rPr lang="en-US" dirty="0"/>
              <a:t> </a:t>
            </a:r>
            <a:r>
              <a:rPr lang="en-US" dirty="0" err="1"/>
              <a:t>вычислительных</a:t>
            </a:r>
            <a:r>
              <a:rPr lang="en-US" dirty="0"/>
              <a:t> </a:t>
            </a:r>
            <a:r>
              <a:rPr lang="en-US" dirty="0" err="1"/>
              <a:t>систем</a:t>
            </a:r>
            <a:r>
              <a:rPr lang="en-US" dirty="0"/>
              <a:t> — embedded systems,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встраиваемым</a:t>
            </a:r>
            <a:r>
              <a:rPr lang="en-US" dirty="0"/>
              <a:t> </a:t>
            </a:r>
            <a:r>
              <a:rPr lang="en-US" dirty="0" err="1"/>
              <a:t>системам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Embedded system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компьютер</a:t>
            </a:r>
            <a:r>
              <a:rPr lang="en-US" dirty="0"/>
              <a:t>, </a:t>
            </a:r>
            <a:r>
              <a:rPr lang="en-US" dirty="0" err="1"/>
              <a:t>встроенный</a:t>
            </a:r>
            <a:r>
              <a:rPr lang="en-US" dirty="0"/>
              <a:t> </a:t>
            </a:r>
            <a:r>
              <a:rPr lang="en-US" dirty="0" err="1"/>
              <a:t>внутрь</a:t>
            </a:r>
            <a:r>
              <a:rPr lang="en-US" dirty="0"/>
              <a:t> </a:t>
            </a:r>
            <a:r>
              <a:rPr lang="en-US" dirty="0" err="1"/>
              <a:t>какого-то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 и </a:t>
            </a:r>
            <a:r>
              <a:rPr lang="en-US" dirty="0" err="1"/>
              <a:t>выполняющий</a:t>
            </a:r>
            <a:r>
              <a:rPr lang="en-US" dirty="0"/>
              <a:t> </a:t>
            </a:r>
            <a:r>
              <a:rPr lang="en-US" dirty="0" err="1"/>
              <a:t>одну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специализированных</a:t>
            </a:r>
            <a:r>
              <a:rPr lang="en-US" dirty="0"/>
              <a:t> </a:t>
            </a:r>
            <a:r>
              <a:rPr lang="en-US" dirty="0" err="1"/>
              <a:t>задач</a:t>
            </a:r>
            <a:r>
              <a:rPr lang="en-US" dirty="0"/>
              <a:t>. 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обычного</a:t>
            </a:r>
            <a:r>
              <a:rPr lang="en-US" dirty="0"/>
              <a:t> ПК, </a:t>
            </a:r>
            <a:r>
              <a:rPr lang="en-US" dirty="0" err="1"/>
              <a:t>такая</a:t>
            </a:r>
            <a:r>
              <a:rPr lang="en-US" dirty="0"/>
              <a:t> </a:t>
            </a:r>
            <a:r>
              <a:rPr lang="en-US" dirty="0" err="1"/>
              <a:t>система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предназначена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запуска</a:t>
            </a:r>
            <a:r>
              <a:rPr lang="en-US" dirty="0"/>
              <a:t> </a:t>
            </a:r>
            <a:r>
              <a:rPr lang="en-US" dirty="0" err="1"/>
              <a:t>произвольных</a:t>
            </a:r>
            <a:r>
              <a:rPr lang="en-US" dirty="0"/>
              <a:t> </a:t>
            </a:r>
            <a:r>
              <a:rPr lang="en-US" dirty="0" err="1"/>
              <a:t>программ</a:t>
            </a:r>
            <a:r>
              <a:rPr lang="en-US" dirty="0"/>
              <a:t> </a:t>
            </a:r>
            <a:r>
              <a:rPr lang="en-US" dirty="0" err="1"/>
              <a:t>пользователем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самом</a:t>
            </a:r>
            <a:r>
              <a:rPr lang="en-US" dirty="0"/>
              <a:t> </a:t>
            </a:r>
            <a:r>
              <a:rPr lang="en-US" dirty="0" err="1"/>
              <a:t>деле</a:t>
            </a:r>
            <a:r>
              <a:rPr lang="en-US" dirty="0"/>
              <a:t> embedded systems </a:t>
            </a:r>
            <a:r>
              <a:rPr lang="en-US" dirty="0" err="1"/>
              <a:t>окружают</a:t>
            </a:r>
            <a:r>
              <a:rPr lang="en-US" dirty="0"/>
              <a:t> </a:t>
            </a:r>
            <a:r>
              <a:rPr lang="en-US" dirty="0" err="1"/>
              <a:t>нас</a:t>
            </a:r>
            <a:r>
              <a:rPr lang="en-US" dirty="0"/>
              <a:t> </a:t>
            </a:r>
            <a:r>
              <a:rPr lang="en-US" dirty="0" err="1"/>
              <a:t>повсюду</a:t>
            </a:r>
            <a:r>
              <a:rPr lang="en-US" dirty="0"/>
              <a:t>. </a:t>
            </a:r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в </a:t>
            </a:r>
            <a:r>
              <a:rPr lang="en-US" dirty="0" err="1"/>
              <a:t>стиральных</a:t>
            </a:r>
            <a:r>
              <a:rPr lang="en-US" dirty="0"/>
              <a:t> </a:t>
            </a:r>
            <a:r>
              <a:rPr lang="en-US" dirty="0" err="1"/>
              <a:t>машинах</a:t>
            </a:r>
            <a:r>
              <a:rPr lang="en-US" dirty="0"/>
              <a:t>, </a:t>
            </a:r>
            <a:r>
              <a:rPr lang="en-US" dirty="0" err="1"/>
              <a:t>микроволновках</a:t>
            </a:r>
            <a:r>
              <a:rPr lang="en-US" dirty="0"/>
              <a:t>, </a:t>
            </a:r>
            <a:r>
              <a:rPr lang="en-US" dirty="0" err="1"/>
              <a:t>автомобилях</a:t>
            </a:r>
            <a:r>
              <a:rPr lang="en-US" dirty="0"/>
              <a:t>, </a:t>
            </a:r>
            <a:r>
              <a:rPr lang="en-US" dirty="0" err="1"/>
              <a:t>роутерах</a:t>
            </a:r>
            <a:r>
              <a:rPr lang="en-US" dirty="0"/>
              <a:t>, </a:t>
            </a:r>
            <a:r>
              <a:rPr lang="en-US" dirty="0" err="1"/>
              <a:t>клавиатурах</a:t>
            </a:r>
            <a:r>
              <a:rPr lang="en-US" dirty="0"/>
              <a:t>, </a:t>
            </a:r>
            <a:r>
              <a:rPr lang="en-US" dirty="0" err="1"/>
              <a:t>принтерах</a:t>
            </a:r>
            <a:r>
              <a:rPr lang="en-US" dirty="0"/>
              <a:t>, </a:t>
            </a:r>
            <a:r>
              <a:rPr lang="en-US" dirty="0" err="1"/>
              <a:t>датчиках</a:t>
            </a:r>
            <a:r>
              <a:rPr lang="en-US" dirty="0"/>
              <a:t>, </a:t>
            </a:r>
            <a:r>
              <a:rPr lang="en-US" dirty="0" err="1"/>
              <a:t>медицинском</a:t>
            </a:r>
            <a:r>
              <a:rPr lang="en-US" dirty="0"/>
              <a:t> </a:t>
            </a:r>
            <a:r>
              <a:rPr lang="en-US" dirty="0" err="1"/>
              <a:t>оборудовании</a:t>
            </a:r>
            <a:r>
              <a:rPr lang="en-US" dirty="0"/>
              <a:t>, </a:t>
            </a:r>
            <a:r>
              <a:rPr lang="en-US" dirty="0" err="1"/>
              <a:t>дронах</a:t>
            </a:r>
            <a:r>
              <a:rPr lang="en-US" dirty="0"/>
              <a:t> и </a:t>
            </a:r>
            <a:r>
              <a:rPr lang="en-US" dirty="0" err="1"/>
              <a:t>огромном</a:t>
            </a:r>
            <a:r>
              <a:rPr lang="en-US" dirty="0"/>
              <a:t> </a:t>
            </a:r>
            <a:r>
              <a:rPr lang="en-US" dirty="0" err="1"/>
              <a:t>количестве</a:t>
            </a:r>
            <a:r>
              <a:rPr lang="en-US" dirty="0"/>
              <a:t> </a:t>
            </a:r>
            <a:r>
              <a:rPr lang="en-US" dirty="0" err="1"/>
              <a:t>других</a:t>
            </a:r>
            <a:r>
              <a:rPr lang="en-US" dirty="0"/>
              <a:t> </a:t>
            </a:r>
            <a:r>
              <a:rPr lang="en-US" dirty="0" err="1"/>
              <a:t>устройств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основой</a:t>
            </a:r>
            <a:r>
              <a:rPr lang="en-US" dirty="0"/>
              <a:t> embedded system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микроконтроллер</a:t>
            </a:r>
            <a:r>
              <a:rPr lang="en-US" dirty="0"/>
              <a:t>.</a:t>
            </a:r>
          </a:p>
          <a:p>
            <a:r>
              <a:rPr lang="en-US" dirty="0" err="1"/>
              <a:t>Микроконтроллер</a:t>
            </a:r>
            <a:r>
              <a:rPr lang="en-US" dirty="0"/>
              <a:t>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устройство</a:t>
            </a:r>
            <a:r>
              <a:rPr lang="en-US" dirty="0"/>
              <a:t>, в </a:t>
            </a:r>
            <a:r>
              <a:rPr lang="en-US" dirty="0" err="1"/>
              <a:t>котором</a:t>
            </a:r>
            <a:r>
              <a:rPr lang="en-US" dirty="0"/>
              <a:t> </a:t>
            </a:r>
            <a:r>
              <a:rPr lang="en-US" dirty="0" err="1"/>
              <a:t>процессор</a:t>
            </a:r>
            <a:r>
              <a:rPr lang="en-US" dirty="0"/>
              <a:t>, </a:t>
            </a:r>
            <a:r>
              <a:rPr lang="en-US" dirty="0" err="1"/>
              <a:t>память</a:t>
            </a:r>
            <a:r>
              <a:rPr lang="en-US" dirty="0"/>
              <a:t> и </a:t>
            </a:r>
            <a:r>
              <a:rPr lang="en-US" dirty="0" err="1"/>
              <a:t>различные</a:t>
            </a:r>
            <a:r>
              <a:rPr lang="en-US" dirty="0"/>
              <a:t> </a:t>
            </a:r>
            <a:r>
              <a:rPr lang="en-US" dirty="0" err="1"/>
              <a:t>аппаратные</a:t>
            </a:r>
            <a:r>
              <a:rPr lang="en-US" dirty="0"/>
              <a:t> </a:t>
            </a:r>
            <a:r>
              <a:rPr lang="en-US" dirty="0" err="1"/>
              <a:t>модули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находятся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чипа</a:t>
            </a:r>
            <a:r>
              <a:rPr lang="en-US" dirty="0"/>
              <a:t>. 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обычного</a:t>
            </a:r>
            <a:r>
              <a:rPr lang="en-US" dirty="0"/>
              <a:t> </a:t>
            </a:r>
            <a:r>
              <a:rPr lang="en-US" dirty="0" err="1"/>
              <a:t>процессора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ПК, </a:t>
            </a:r>
            <a:r>
              <a:rPr lang="en-US" dirty="0" err="1"/>
              <a:t>микроконтроллеру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нужен</a:t>
            </a:r>
            <a:r>
              <a:rPr lang="en-US" dirty="0"/>
              <a:t> </a:t>
            </a:r>
            <a:r>
              <a:rPr lang="en-US" dirty="0" err="1"/>
              <a:t>отдельный</a:t>
            </a:r>
            <a:r>
              <a:rPr lang="en-US" dirty="0"/>
              <a:t> </a:t>
            </a:r>
            <a:r>
              <a:rPr lang="en-US" dirty="0" err="1"/>
              <a:t>чипсет</a:t>
            </a:r>
            <a:r>
              <a:rPr lang="en-US" dirty="0"/>
              <a:t>, </a:t>
            </a:r>
            <a:r>
              <a:rPr lang="en-US" dirty="0" err="1"/>
              <a:t>внешняя</a:t>
            </a:r>
            <a:r>
              <a:rPr lang="en-US" dirty="0"/>
              <a:t> RAM и </a:t>
            </a:r>
            <a:r>
              <a:rPr lang="en-US" dirty="0" err="1"/>
              <a:t>сложная</a:t>
            </a:r>
            <a:r>
              <a:rPr lang="en-US" dirty="0"/>
              <a:t> </a:t>
            </a:r>
            <a:r>
              <a:rPr lang="en-US" dirty="0" err="1"/>
              <a:t>инфраструктура</a:t>
            </a:r>
            <a:r>
              <a:rPr lang="en-US" dirty="0"/>
              <a:t> </a:t>
            </a:r>
            <a:r>
              <a:rPr lang="en-US" dirty="0" err="1"/>
              <a:t>вокруг</a:t>
            </a:r>
            <a:r>
              <a:rPr lang="en-US" dirty="0"/>
              <a:t> </a:t>
            </a:r>
            <a:r>
              <a:rPr lang="en-US" dirty="0" err="1"/>
              <a:t>него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Главная</a:t>
            </a:r>
            <a:r>
              <a:rPr lang="en-US" dirty="0"/>
              <a:t> </a:t>
            </a:r>
            <a:r>
              <a:rPr lang="en-US" dirty="0" err="1"/>
              <a:t>особенность</a:t>
            </a:r>
            <a:r>
              <a:rPr lang="en-US" dirty="0"/>
              <a:t> embedded-</a:t>
            </a:r>
            <a:r>
              <a:rPr lang="en-US" dirty="0" err="1"/>
              <a:t>разработки</a:t>
            </a:r>
            <a:r>
              <a:rPr lang="en-US" dirty="0"/>
              <a:t> </a:t>
            </a:r>
            <a:r>
              <a:rPr lang="en-US" dirty="0" err="1"/>
              <a:t>состоит</a:t>
            </a:r>
            <a:r>
              <a:rPr lang="en-US" dirty="0"/>
              <a:t> в </a:t>
            </a:r>
            <a:r>
              <a:rPr lang="en-US" dirty="0" err="1"/>
              <a:t>том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работать</a:t>
            </a:r>
            <a:r>
              <a:rPr lang="en-US" dirty="0"/>
              <a:t> </a:t>
            </a:r>
            <a:r>
              <a:rPr lang="en-US" dirty="0" err="1"/>
              <a:t>намного</a:t>
            </a:r>
            <a:r>
              <a:rPr lang="en-US" dirty="0"/>
              <a:t> </a:t>
            </a:r>
            <a:r>
              <a:rPr lang="en-US" dirty="0" err="1"/>
              <a:t>ближе</a:t>
            </a:r>
            <a:r>
              <a:rPr lang="en-US" dirty="0"/>
              <a:t> к </a:t>
            </a:r>
            <a:r>
              <a:rPr lang="en-US" dirty="0" err="1"/>
              <a:t>железу</a:t>
            </a:r>
            <a:r>
              <a:rPr lang="en-US" dirty="0"/>
              <a:t>.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нет</a:t>
            </a:r>
            <a:r>
              <a:rPr lang="en-US" dirty="0"/>
              <a:t> </a:t>
            </a:r>
            <a:r>
              <a:rPr lang="en-US" dirty="0" err="1"/>
              <a:t>привычной</a:t>
            </a:r>
            <a:r>
              <a:rPr lang="en-US" dirty="0"/>
              <a:t> </a:t>
            </a:r>
            <a:r>
              <a:rPr lang="en-US" dirty="0" err="1"/>
              <a:t>операционной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en-US" dirty="0"/>
              <a:t>, </a:t>
            </a:r>
            <a:r>
              <a:rPr lang="en-US" dirty="0" err="1"/>
              <a:t>виртуальной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и </a:t>
            </a:r>
            <a:r>
              <a:rPr lang="en-US" dirty="0" err="1"/>
              <a:t>большого</a:t>
            </a:r>
            <a:r>
              <a:rPr lang="en-US" dirty="0"/>
              <a:t> </a:t>
            </a:r>
            <a:r>
              <a:rPr lang="en-US" dirty="0" err="1"/>
              <a:t>количества</a:t>
            </a:r>
            <a:r>
              <a:rPr lang="en-US" dirty="0"/>
              <a:t> </a:t>
            </a:r>
            <a:r>
              <a:rPr lang="en-US" dirty="0" err="1"/>
              <a:t>абстракций</a:t>
            </a:r>
            <a:r>
              <a:rPr lang="en-US" dirty="0"/>
              <a:t>.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напрямую</a:t>
            </a:r>
            <a:r>
              <a:rPr lang="en-US" dirty="0"/>
              <a:t> </a:t>
            </a:r>
            <a:r>
              <a:rPr lang="en-US" dirty="0" err="1"/>
              <a:t>взаимодействует</a:t>
            </a:r>
            <a:r>
              <a:rPr lang="en-US" dirty="0"/>
              <a:t> с </a:t>
            </a:r>
            <a:r>
              <a:rPr lang="en-US" dirty="0" err="1"/>
              <a:t>регистрами</a:t>
            </a:r>
            <a:r>
              <a:rPr lang="en-US" dirty="0"/>
              <a:t> </a:t>
            </a:r>
            <a:r>
              <a:rPr lang="en-US" dirty="0" err="1"/>
              <a:t>устройств</a:t>
            </a:r>
            <a:r>
              <a:rPr lang="en-US" dirty="0"/>
              <a:t>, </a:t>
            </a:r>
            <a:r>
              <a:rPr lang="en-US" dirty="0" err="1"/>
              <a:t>управляет</a:t>
            </a:r>
            <a:r>
              <a:rPr lang="en-US" dirty="0"/>
              <a:t> </a:t>
            </a:r>
            <a:r>
              <a:rPr lang="en-US" dirty="0" err="1"/>
              <a:t>выводами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и </a:t>
            </a:r>
            <a:r>
              <a:rPr lang="en-US" dirty="0" err="1"/>
              <a:t>реагирует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аппаратные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темы</a:t>
            </a:r>
            <a:r>
              <a:rPr lang="en-US" dirty="0"/>
              <a:t>,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изучали</a:t>
            </a:r>
            <a:r>
              <a:rPr lang="en-US" dirty="0"/>
              <a:t> </a:t>
            </a:r>
            <a:r>
              <a:rPr lang="en-US" dirty="0" err="1"/>
              <a:t>раньше</a:t>
            </a:r>
            <a:r>
              <a:rPr lang="en-US" dirty="0"/>
              <a:t> — </a:t>
            </a:r>
            <a:r>
              <a:rPr lang="en-US" dirty="0" err="1"/>
              <a:t>память</a:t>
            </a:r>
            <a:r>
              <a:rPr lang="en-US" dirty="0"/>
              <a:t>, </a:t>
            </a:r>
            <a:r>
              <a:rPr lang="en-US" dirty="0" err="1"/>
              <a:t>указатели</a:t>
            </a:r>
            <a:r>
              <a:rPr lang="en-US" dirty="0"/>
              <a:t>, </a:t>
            </a:r>
            <a:r>
              <a:rPr lang="en-US" dirty="0" err="1"/>
              <a:t>ассемблер</a:t>
            </a:r>
            <a:r>
              <a:rPr lang="en-US" dirty="0"/>
              <a:t>, ABI, </a:t>
            </a:r>
            <a:r>
              <a:rPr lang="en-US" dirty="0" err="1"/>
              <a:t>работа</a:t>
            </a:r>
            <a:r>
              <a:rPr lang="en-US" dirty="0"/>
              <a:t> </a:t>
            </a:r>
            <a:r>
              <a:rPr lang="en-US" dirty="0" err="1"/>
              <a:t>процессора</a:t>
            </a:r>
            <a:r>
              <a:rPr lang="en-US" dirty="0"/>
              <a:t> и </a:t>
            </a:r>
            <a:r>
              <a:rPr lang="en-US" dirty="0" err="1"/>
              <a:t>устройство</a:t>
            </a:r>
            <a:r>
              <a:rPr lang="en-US" dirty="0"/>
              <a:t> </a:t>
            </a:r>
            <a:r>
              <a:rPr lang="en-US" dirty="0" err="1"/>
              <a:t>машинного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 — </a:t>
            </a:r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становятся</a:t>
            </a:r>
            <a:r>
              <a:rPr lang="en-US" dirty="0"/>
              <a:t> </a:t>
            </a:r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важными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7448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представить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маленький</a:t>
            </a:r>
            <a:r>
              <a:rPr lang="en-US" dirty="0"/>
              <a:t> </a:t>
            </a:r>
            <a:r>
              <a:rPr lang="en-US" dirty="0" err="1"/>
              <a:t>компьютер</a:t>
            </a:r>
            <a:r>
              <a:rPr lang="en-US" dirty="0"/>
              <a:t>, </a:t>
            </a:r>
            <a:r>
              <a:rPr lang="en-US" dirty="0" err="1"/>
              <a:t>собранный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чипа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в </a:t>
            </a:r>
            <a:r>
              <a:rPr lang="en-US" dirty="0" err="1"/>
              <a:t>настольном</a:t>
            </a:r>
            <a:r>
              <a:rPr lang="en-US" dirty="0"/>
              <a:t> </a:t>
            </a:r>
            <a:r>
              <a:rPr lang="en-US" dirty="0" err="1"/>
              <a:t>компьютере</a:t>
            </a:r>
            <a:r>
              <a:rPr lang="en-US" dirty="0"/>
              <a:t> </a:t>
            </a:r>
            <a:r>
              <a:rPr lang="en-US" dirty="0" err="1"/>
              <a:t>процессор</a:t>
            </a:r>
            <a:r>
              <a:rPr lang="en-US" dirty="0"/>
              <a:t>, </a:t>
            </a:r>
            <a:r>
              <a:rPr lang="en-US" dirty="0" err="1"/>
              <a:t>оперативная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, </a:t>
            </a:r>
            <a:r>
              <a:rPr lang="en-US" dirty="0" err="1"/>
              <a:t>контроллеры</a:t>
            </a:r>
            <a:r>
              <a:rPr lang="en-US" dirty="0"/>
              <a:t> </a:t>
            </a:r>
            <a:r>
              <a:rPr lang="en-US" dirty="0" err="1"/>
              <a:t>устройств</a:t>
            </a:r>
            <a:r>
              <a:rPr lang="en-US" dirty="0"/>
              <a:t> и </a:t>
            </a:r>
            <a:r>
              <a:rPr lang="en-US" dirty="0" err="1"/>
              <a:t>периферия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являются</a:t>
            </a:r>
            <a:r>
              <a:rPr lang="en-US" dirty="0"/>
              <a:t> </a:t>
            </a:r>
            <a:r>
              <a:rPr lang="en-US" dirty="0" err="1"/>
              <a:t>отдельными</a:t>
            </a:r>
            <a:r>
              <a:rPr lang="en-US" dirty="0"/>
              <a:t> </a:t>
            </a:r>
            <a:r>
              <a:rPr lang="en-US" dirty="0" err="1"/>
              <a:t>компонентами</a:t>
            </a:r>
            <a:r>
              <a:rPr lang="en-US" dirty="0"/>
              <a:t>, </a:t>
            </a:r>
            <a:r>
              <a:rPr lang="en-US" dirty="0" err="1"/>
              <a:t>то</a:t>
            </a:r>
            <a:r>
              <a:rPr lang="en-US" dirty="0"/>
              <a:t> в </a:t>
            </a:r>
            <a:r>
              <a:rPr lang="en-US" dirty="0" err="1"/>
              <a:t>микроконтроллере</a:t>
            </a:r>
            <a:r>
              <a:rPr lang="en-US" dirty="0"/>
              <a:t> </a:t>
            </a:r>
            <a:r>
              <a:rPr lang="en-US" dirty="0" err="1"/>
              <a:t>всё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объединено</a:t>
            </a:r>
            <a:r>
              <a:rPr lang="en-US" dirty="0"/>
              <a:t> </a:t>
            </a:r>
            <a:r>
              <a:rPr lang="en-US" dirty="0" err="1"/>
              <a:t>вместе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</a:t>
            </a:r>
            <a:r>
              <a:rPr lang="en-US" dirty="0" err="1"/>
              <a:t>находится</a:t>
            </a:r>
            <a:r>
              <a:rPr lang="en-US" dirty="0"/>
              <a:t> </a:t>
            </a:r>
            <a:r>
              <a:rPr lang="en-US" dirty="0" err="1"/>
              <a:t>процессорное</a:t>
            </a:r>
            <a:r>
              <a:rPr lang="en-US" dirty="0"/>
              <a:t> </a:t>
            </a:r>
            <a:r>
              <a:rPr lang="en-US" dirty="0" err="1"/>
              <a:t>ядро</a:t>
            </a:r>
            <a:r>
              <a:rPr lang="en-US" dirty="0"/>
              <a:t>, </a:t>
            </a:r>
            <a:r>
              <a:rPr lang="en-US" dirty="0" err="1"/>
              <a:t>оперативная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, </a:t>
            </a:r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хранения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и </a:t>
            </a:r>
            <a:r>
              <a:rPr lang="en-US" dirty="0" err="1"/>
              <a:t>набор</a:t>
            </a:r>
            <a:r>
              <a:rPr lang="en-US" dirty="0"/>
              <a:t> </a:t>
            </a:r>
            <a:r>
              <a:rPr lang="en-US" dirty="0" err="1"/>
              <a:t>аппаратных</a:t>
            </a:r>
            <a:r>
              <a:rPr lang="en-US" dirty="0"/>
              <a:t> </a:t>
            </a:r>
            <a:r>
              <a:rPr lang="en-US" dirty="0" err="1"/>
              <a:t>модулей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 с </a:t>
            </a:r>
            <a:r>
              <a:rPr lang="en-US" dirty="0" err="1"/>
              <a:t>внешним</a:t>
            </a:r>
            <a:r>
              <a:rPr lang="en-US" dirty="0"/>
              <a:t> </a:t>
            </a:r>
            <a:r>
              <a:rPr lang="en-US" dirty="0" err="1"/>
              <a:t>миром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Такие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 </a:t>
            </a:r>
            <a:r>
              <a:rPr lang="en-US" dirty="0" err="1"/>
              <a:t>предназначены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запуска</a:t>
            </a:r>
            <a:r>
              <a:rPr lang="en-US" dirty="0"/>
              <a:t> </a:t>
            </a:r>
            <a:r>
              <a:rPr lang="en-US" dirty="0" err="1"/>
              <a:t>сложных</a:t>
            </a:r>
            <a:r>
              <a:rPr lang="en-US" dirty="0"/>
              <a:t> </a:t>
            </a:r>
            <a:r>
              <a:rPr lang="en-US" dirty="0" err="1"/>
              <a:t>пользовательских</a:t>
            </a:r>
            <a:r>
              <a:rPr lang="en-US" dirty="0"/>
              <a:t> </a:t>
            </a:r>
            <a:r>
              <a:rPr lang="en-US" dirty="0" err="1"/>
              <a:t>приложений</a:t>
            </a:r>
            <a:r>
              <a:rPr lang="en-US" dirty="0"/>
              <a:t>, а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управления</a:t>
            </a:r>
            <a:r>
              <a:rPr lang="en-US" dirty="0"/>
              <a:t> </a:t>
            </a:r>
            <a:r>
              <a:rPr lang="en-US" dirty="0" err="1"/>
              <a:t>оборудованием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считывать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кнопок</a:t>
            </a:r>
            <a:r>
              <a:rPr lang="en-US" dirty="0"/>
              <a:t>, </a:t>
            </a:r>
            <a:r>
              <a:rPr lang="en-US" dirty="0" err="1"/>
              <a:t>управлять</a:t>
            </a:r>
            <a:r>
              <a:rPr lang="en-US" dirty="0"/>
              <a:t> </a:t>
            </a:r>
            <a:r>
              <a:rPr lang="en-US" dirty="0" err="1"/>
              <a:t>мотором</a:t>
            </a:r>
            <a:r>
              <a:rPr lang="en-US" dirty="0"/>
              <a:t>, </a:t>
            </a:r>
            <a:r>
              <a:rPr lang="en-US" dirty="0" err="1"/>
              <a:t>измерять</a:t>
            </a:r>
            <a:r>
              <a:rPr lang="en-US" dirty="0"/>
              <a:t> </a:t>
            </a:r>
            <a:r>
              <a:rPr lang="en-US" dirty="0" err="1"/>
              <a:t>температуру</a:t>
            </a:r>
            <a:r>
              <a:rPr lang="en-US" dirty="0"/>
              <a:t>, </a:t>
            </a:r>
            <a:r>
              <a:rPr lang="en-US" dirty="0" err="1"/>
              <a:t>передавать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UART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управлять</a:t>
            </a:r>
            <a:r>
              <a:rPr lang="en-US" dirty="0"/>
              <a:t> </a:t>
            </a:r>
            <a:r>
              <a:rPr lang="en-US" dirty="0" err="1"/>
              <a:t>светодиодами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Фактически</a:t>
            </a:r>
            <a:r>
              <a:rPr lang="en-US" dirty="0"/>
              <a:t> </a:t>
            </a:r>
            <a:r>
              <a:rPr lang="en-US" dirty="0" err="1"/>
              <a:t>микроконтроллер</a:t>
            </a:r>
            <a:r>
              <a:rPr lang="en-US" dirty="0"/>
              <a:t>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устройство</a:t>
            </a:r>
            <a:r>
              <a:rPr lang="en-US" dirty="0"/>
              <a:t>, </a:t>
            </a:r>
            <a:r>
              <a:rPr lang="en-US" dirty="0" err="1"/>
              <a:t>которое</a:t>
            </a:r>
            <a:r>
              <a:rPr lang="en-US" dirty="0"/>
              <a:t> </a:t>
            </a:r>
            <a:r>
              <a:rPr lang="en-US" dirty="0" err="1"/>
              <a:t>постоянно</a:t>
            </a:r>
            <a:r>
              <a:rPr lang="en-US" dirty="0"/>
              <a:t> </a:t>
            </a:r>
            <a:r>
              <a:rPr lang="en-US" dirty="0" err="1"/>
              <a:t>взаимодействует</a:t>
            </a:r>
            <a:r>
              <a:rPr lang="en-US" dirty="0"/>
              <a:t> с </a:t>
            </a:r>
            <a:r>
              <a:rPr lang="en-US" dirty="0" err="1"/>
              <a:t>физическим</a:t>
            </a:r>
            <a:r>
              <a:rPr lang="en-US" dirty="0"/>
              <a:t> </a:t>
            </a:r>
            <a:r>
              <a:rPr lang="en-US" dirty="0" err="1"/>
              <a:t>миром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различные</a:t>
            </a:r>
            <a:r>
              <a:rPr lang="en-US" dirty="0"/>
              <a:t> </a:t>
            </a:r>
            <a:r>
              <a:rPr lang="en-US" dirty="0" err="1"/>
              <a:t>аппаратные</a:t>
            </a:r>
            <a:r>
              <a:rPr lang="en-US" dirty="0"/>
              <a:t> </a:t>
            </a:r>
            <a:r>
              <a:rPr lang="en-US" dirty="0" err="1"/>
              <a:t>интерфейсы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038926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Теперь</a:t>
            </a:r>
            <a:r>
              <a:rPr lang="en-US" dirty="0"/>
              <a:t> </a:t>
            </a:r>
            <a:r>
              <a:rPr lang="en-US" dirty="0" err="1"/>
              <a:t>подробнее</a:t>
            </a:r>
            <a:r>
              <a:rPr lang="en-US" dirty="0"/>
              <a:t> </a:t>
            </a:r>
            <a:r>
              <a:rPr lang="en-US" dirty="0" err="1"/>
              <a:t>посмотрим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основные</a:t>
            </a:r>
            <a:r>
              <a:rPr lang="en-US" dirty="0"/>
              <a:t> </a:t>
            </a:r>
            <a:r>
              <a:rPr lang="en-US" dirty="0" err="1"/>
              <a:t>части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</a:p>
          <a:p>
            <a:r>
              <a:rPr lang="en-US" dirty="0" err="1"/>
              <a:t>Центральный</a:t>
            </a:r>
            <a:r>
              <a:rPr lang="en-US" dirty="0"/>
              <a:t> </a:t>
            </a:r>
            <a:r>
              <a:rPr lang="en-US" dirty="0" err="1"/>
              <a:t>процессор</a:t>
            </a:r>
            <a:r>
              <a:rPr lang="en-US" dirty="0"/>
              <a:t>, </a:t>
            </a:r>
            <a:r>
              <a:rPr lang="en-US" dirty="0" err="1"/>
              <a:t>или</a:t>
            </a:r>
            <a:r>
              <a:rPr lang="en-US" dirty="0"/>
              <a:t> CPU, </a:t>
            </a:r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— </a:t>
            </a:r>
            <a:r>
              <a:rPr lang="en-US" dirty="0" err="1"/>
              <a:t>точно</a:t>
            </a:r>
            <a:r>
              <a:rPr lang="en-US" dirty="0"/>
              <a:t> </a:t>
            </a:r>
            <a:r>
              <a:rPr lang="en-US" dirty="0" err="1"/>
              <a:t>так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процессор</a:t>
            </a:r>
            <a:r>
              <a:rPr lang="en-US" dirty="0"/>
              <a:t> x86-64,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изучали</a:t>
            </a:r>
            <a:r>
              <a:rPr lang="en-US" dirty="0"/>
              <a:t> </a:t>
            </a:r>
            <a:r>
              <a:rPr lang="en-US" dirty="0" err="1"/>
              <a:t>ранее</a:t>
            </a:r>
            <a:r>
              <a:rPr lang="en-US" dirty="0"/>
              <a:t>.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такие</a:t>
            </a:r>
            <a:r>
              <a:rPr lang="en-US" dirty="0"/>
              <a:t> </a:t>
            </a:r>
            <a:r>
              <a:rPr lang="en-US" dirty="0" err="1"/>
              <a:t>ядра</a:t>
            </a:r>
            <a:r>
              <a:rPr lang="en-US" dirty="0"/>
              <a:t> </a:t>
            </a:r>
            <a:r>
              <a:rPr lang="en-US" dirty="0" err="1"/>
              <a:t>намного</a:t>
            </a:r>
            <a:r>
              <a:rPr lang="en-US" dirty="0"/>
              <a:t> </a:t>
            </a:r>
            <a:r>
              <a:rPr lang="en-US" dirty="0" err="1"/>
              <a:t>проще</a:t>
            </a:r>
            <a:r>
              <a:rPr lang="en-US" dirty="0"/>
              <a:t> и </a:t>
            </a:r>
            <a:r>
              <a:rPr lang="en-US" dirty="0" err="1"/>
              <a:t>менее</a:t>
            </a:r>
            <a:r>
              <a:rPr lang="en-US" dirty="0"/>
              <a:t> </a:t>
            </a:r>
            <a:r>
              <a:rPr lang="en-US" dirty="0" err="1"/>
              <a:t>производительны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Flash memory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энергонезависимая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, в </a:t>
            </a:r>
            <a:r>
              <a:rPr lang="en-US" dirty="0" err="1"/>
              <a:t>которой</a:t>
            </a:r>
            <a:r>
              <a:rPr lang="en-US" dirty="0"/>
              <a:t> </a:t>
            </a:r>
            <a:r>
              <a:rPr lang="en-US" dirty="0" err="1"/>
              <a:t>хранится</a:t>
            </a:r>
            <a:r>
              <a:rPr lang="en-US" dirty="0"/>
              <a:t> </a:t>
            </a:r>
            <a:r>
              <a:rPr lang="en-US" dirty="0" err="1"/>
              <a:t>прошивка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туда</a:t>
            </a:r>
            <a:r>
              <a:rPr lang="en-US" dirty="0"/>
              <a:t> </a:t>
            </a:r>
            <a:r>
              <a:rPr lang="en-US" dirty="0" err="1"/>
              <a:t>записывается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.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выключения</a:t>
            </a:r>
            <a:r>
              <a:rPr lang="en-US" dirty="0"/>
              <a:t> </a:t>
            </a:r>
            <a:r>
              <a:rPr lang="en-US" dirty="0" err="1"/>
              <a:t>питания</a:t>
            </a:r>
            <a:r>
              <a:rPr lang="en-US" dirty="0"/>
              <a:t> </a:t>
            </a:r>
            <a:r>
              <a:rPr lang="en-US" dirty="0" err="1"/>
              <a:t>содержимое</a:t>
            </a:r>
            <a:r>
              <a:rPr lang="en-US" dirty="0"/>
              <a:t> flash </a:t>
            </a:r>
            <a:r>
              <a:rPr lang="en-US" dirty="0" err="1"/>
              <a:t>сохраняется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SRAM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оперативная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 </a:t>
            </a:r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располагаются</a:t>
            </a:r>
            <a:r>
              <a:rPr lang="en-US" dirty="0"/>
              <a:t> </a:t>
            </a:r>
            <a:r>
              <a:rPr lang="en-US" dirty="0" err="1"/>
              <a:t>глобальные</a:t>
            </a:r>
            <a:r>
              <a:rPr lang="en-US" dirty="0"/>
              <a:t> </a:t>
            </a:r>
            <a:r>
              <a:rPr lang="en-US" dirty="0" err="1"/>
              <a:t>переменные</a:t>
            </a:r>
            <a:r>
              <a:rPr lang="en-US" dirty="0"/>
              <a:t>, </a:t>
            </a:r>
            <a:r>
              <a:rPr lang="en-US" dirty="0" err="1"/>
              <a:t>стек</a:t>
            </a:r>
            <a:r>
              <a:rPr lang="en-US" dirty="0"/>
              <a:t>, </a:t>
            </a:r>
            <a:r>
              <a:rPr lang="en-US" dirty="0" err="1"/>
              <a:t>динамически</a:t>
            </a:r>
            <a:r>
              <a:rPr lang="en-US" dirty="0"/>
              <a:t> </a:t>
            </a:r>
            <a:r>
              <a:rPr lang="en-US" dirty="0" err="1"/>
              <a:t>выделенная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 и </a:t>
            </a:r>
            <a:r>
              <a:rPr lang="en-US" dirty="0" err="1"/>
              <a:t>временные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EEPROM —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энергонезависимой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 </a:t>
            </a:r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хранения</a:t>
            </a:r>
            <a:r>
              <a:rPr lang="en-US" dirty="0"/>
              <a:t> </a:t>
            </a:r>
            <a:r>
              <a:rPr lang="en-US" dirty="0" err="1"/>
              <a:t>небольших</a:t>
            </a:r>
            <a:r>
              <a:rPr lang="en-US" dirty="0"/>
              <a:t> </a:t>
            </a:r>
            <a:r>
              <a:rPr lang="en-US" dirty="0" err="1"/>
              <a:t>объёмов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,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должны</a:t>
            </a:r>
            <a:r>
              <a:rPr lang="en-US" dirty="0"/>
              <a:t> </a:t>
            </a:r>
            <a:r>
              <a:rPr lang="en-US" dirty="0" err="1"/>
              <a:t>сохраняться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перезагрузками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настроек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калибровочных</a:t>
            </a:r>
            <a:r>
              <a:rPr lang="en-US" dirty="0"/>
              <a:t> </a:t>
            </a:r>
            <a:r>
              <a:rPr lang="en-US" dirty="0" err="1"/>
              <a:t>коэффициентов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Отдельно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выделить</a:t>
            </a:r>
            <a:r>
              <a:rPr lang="en-US" dirty="0"/>
              <a:t> </a:t>
            </a:r>
            <a:r>
              <a:rPr lang="en-US" dirty="0" err="1"/>
              <a:t>периферию</a:t>
            </a:r>
            <a:r>
              <a:rPr lang="en-US" dirty="0"/>
              <a:t>.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она</a:t>
            </a:r>
            <a:r>
              <a:rPr lang="en-US" dirty="0"/>
              <a:t> </a:t>
            </a:r>
            <a:r>
              <a:rPr lang="en-US" dirty="0" err="1"/>
              <a:t>делает</a:t>
            </a:r>
            <a:r>
              <a:rPr lang="en-US" dirty="0"/>
              <a:t> </a:t>
            </a:r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полезным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embedded systems. </a:t>
            </a:r>
            <a:r>
              <a:rPr lang="en-US" dirty="0" err="1"/>
              <a:t>Периферийные</a:t>
            </a:r>
            <a:r>
              <a:rPr lang="en-US" dirty="0"/>
              <a:t> </a:t>
            </a:r>
            <a:r>
              <a:rPr lang="en-US" dirty="0" err="1"/>
              <a:t>модули</a:t>
            </a:r>
            <a:r>
              <a:rPr lang="en-US" dirty="0"/>
              <a:t>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взаимодействовать</a:t>
            </a:r>
            <a:r>
              <a:rPr lang="en-US" dirty="0"/>
              <a:t> с </a:t>
            </a:r>
            <a:r>
              <a:rPr lang="en-US" dirty="0" err="1"/>
              <a:t>внешним</a:t>
            </a:r>
            <a:r>
              <a:rPr lang="en-US" dirty="0"/>
              <a:t> </a:t>
            </a:r>
            <a:r>
              <a:rPr lang="en-US" dirty="0" err="1"/>
              <a:t>миром</a:t>
            </a:r>
            <a:r>
              <a:rPr lang="en-US" dirty="0"/>
              <a:t> — </a:t>
            </a:r>
            <a:r>
              <a:rPr lang="en-US" dirty="0" err="1"/>
              <a:t>считывать</a:t>
            </a:r>
            <a:r>
              <a:rPr lang="en-US" dirty="0"/>
              <a:t> </a:t>
            </a:r>
            <a:r>
              <a:rPr lang="en-US" dirty="0" err="1"/>
              <a:t>сигналы</a:t>
            </a:r>
            <a:r>
              <a:rPr lang="en-US" dirty="0"/>
              <a:t>, </a:t>
            </a:r>
            <a:r>
              <a:rPr lang="en-US" dirty="0" err="1"/>
              <a:t>передавать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, </a:t>
            </a:r>
            <a:r>
              <a:rPr lang="en-US" dirty="0" err="1"/>
              <a:t>генерировать</a:t>
            </a:r>
            <a:r>
              <a:rPr lang="en-US" dirty="0"/>
              <a:t> </a:t>
            </a:r>
            <a:r>
              <a:rPr lang="en-US" dirty="0" err="1"/>
              <a:t>таймеры</a:t>
            </a:r>
            <a:r>
              <a:rPr lang="en-US" dirty="0"/>
              <a:t>, </a:t>
            </a:r>
            <a:r>
              <a:rPr lang="en-US" dirty="0" err="1"/>
              <a:t>управлять</a:t>
            </a:r>
            <a:r>
              <a:rPr lang="en-US" dirty="0"/>
              <a:t> </a:t>
            </a:r>
            <a:r>
              <a:rPr lang="en-US" dirty="0" err="1"/>
              <a:t>выводами</a:t>
            </a:r>
            <a:r>
              <a:rPr lang="en-US" dirty="0"/>
              <a:t> и </a:t>
            </a:r>
            <a:r>
              <a:rPr lang="en-US" dirty="0" err="1"/>
              <a:t>так</a:t>
            </a:r>
            <a:r>
              <a:rPr lang="en-US" dirty="0"/>
              <a:t> </a:t>
            </a:r>
            <a:r>
              <a:rPr lang="en-US" dirty="0" err="1"/>
              <a:t>далее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865781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Несмотря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различия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микроконтроллерами</a:t>
            </a:r>
            <a:r>
              <a:rPr lang="en-US" dirty="0"/>
              <a:t> и </a:t>
            </a:r>
            <a:r>
              <a:rPr lang="en-US" dirty="0" err="1"/>
              <a:t>современными</a:t>
            </a:r>
            <a:r>
              <a:rPr lang="en-US" dirty="0"/>
              <a:t> </a:t>
            </a:r>
            <a:r>
              <a:rPr lang="en-US" dirty="0" err="1"/>
              <a:t>процессорами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ПК, </a:t>
            </a:r>
            <a:r>
              <a:rPr lang="en-US" dirty="0" err="1"/>
              <a:t>фундаментальные</a:t>
            </a:r>
            <a:r>
              <a:rPr lang="en-US" dirty="0"/>
              <a:t> </a:t>
            </a:r>
            <a:r>
              <a:rPr lang="en-US" dirty="0" err="1"/>
              <a:t>принципы</a:t>
            </a:r>
            <a:r>
              <a:rPr lang="en-US" dirty="0"/>
              <a:t> </a:t>
            </a:r>
            <a:r>
              <a:rPr lang="en-US" dirty="0" err="1"/>
              <a:t>остаются</a:t>
            </a:r>
            <a:r>
              <a:rPr lang="en-US" dirty="0"/>
              <a:t> </a:t>
            </a:r>
            <a:r>
              <a:rPr lang="en-US" dirty="0" err="1"/>
              <a:t>теми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CPU </a:t>
            </a:r>
            <a:r>
              <a:rPr lang="en-US" dirty="0" err="1"/>
              <a:t>микроконтроллера</a:t>
            </a:r>
            <a:r>
              <a:rPr lang="en-US" dirty="0"/>
              <a:t> </a:t>
            </a:r>
            <a:r>
              <a:rPr lang="en-US" dirty="0" err="1"/>
              <a:t>тоже</a:t>
            </a:r>
            <a:r>
              <a:rPr lang="en-US" dirty="0"/>
              <a:t> </a:t>
            </a:r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машинные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, </a:t>
            </a:r>
            <a:r>
              <a:rPr lang="en-US" dirty="0" err="1"/>
              <a:t>использует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, </a:t>
            </a:r>
            <a:r>
              <a:rPr lang="en-US" dirty="0" err="1"/>
              <a:t>стек</a:t>
            </a:r>
            <a:r>
              <a:rPr lang="en-US" dirty="0"/>
              <a:t>, </a:t>
            </a:r>
            <a:r>
              <a:rPr lang="en-US" dirty="0" err="1"/>
              <a:t>вызовы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 и </a:t>
            </a:r>
            <a:r>
              <a:rPr lang="en-US" dirty="0" err="1"/>
              <a:t>работает</a:t>
            </a:r>
            <a:r>
              <a:rPr lang="en-US" dirty="0"/>
              <a:t> с </a:t>
            </a:r>
            <a:r>
              <a:rPr lang="en-US" dirty="0" err="1"/>
              <a:t>памятью</a:t>
            </a:r>
            <a:r>
              <a:rPr lang="en-US" dirty="0"/>
              <a:t>.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концепции</a:t>
            </a:r>
            <a:r>
              <a:rPr lang="en-US" dirty="0"/>
              <a:t>,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изучали</a:t>
            </a:r>
            <a:r>
              <a:rPr lang="en-US" dirty="0"/>
              <a:t> — </a:t>
            </a:r>
            <a:r>
              <a:rPr lang="en-US" dirty="0" err="1"/>
              <a:t>стековые</a:t>
            </a:r>
            <a:r>
              <a:rPr lang="en-US" dirty="0"/>
              <a:t> </a:t>
            </a:r>
            <a:r>
              <a:rPr lang="en-US" dirty="0" err="1"/>
              <a:t>кадры</a:t>
            </a:r>
            <a:r>
              <a:rPr lang="en-US" dirty="0"/>
              <a:t>, </a:t>
            </a:r>
            <a:r>
              <a:rPr lang="en-US" dirty="0" err="1"/>
              <a:t>указатели</a:t>
            </a:r>
            <a:r>
              <a:rPr lang="en-US" dirty="0"/>
              <a:t>, layout </a:t>
            </a:r>
            <a:r>
              <a:rPr lang="en-US" dirty="0" err="1"/>
              <a:t>памяти</a:t>
            </a:r>
            <a:r>
              <a:rPr lang="en-US" dirty="0"/>
              <a:t>, </a:t>
            </a:r>
            <a:r>
              <a:rPr lang="en-US" dirty="0" err="1"/>
              <a:t>ассемблерные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— </a:t>
            </a:r>
            <a:r>
              <a:rPr lang="en-US" dirty="0" err="1"/>
              <a:t>остаются</a:t>
            </a:r>
            <a:r>
              <a:rPr lang="en-US" dirty="0"/>
              <a:t> </a:t>
            </a:r>
            <a:r>
              <a:rPr lang="en-US" dirty="0" err="1"/>
              <a:t>актуальными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есть</a:t>
            </a:r>
            <a:r>
              <a:rPr lang="en-US" dirty="0"/>
              <a:t> </a:t>
            </a:r>
            <a:r>
              <a:rPr lang="en-US" dirty="0" err="1"/>
              <a:t>важное</a:t>
            </a:r>
            <a:r>
              <a:rPr lang="en-US" dirty="0"/>
              <a:t> </a:t>
            </a:r>
            <a:r>
              <a:rPr lang="en-US" dirty="0" err="1"/>
              <a:t>отличие</a:t>
            </a:r>
            <a:r>
              <a:rPr lang="en-US" dirty="0"/>
              <a:t>: </a:t>
            </a:r>
            <a:r>
              <a:rPr lang="en-US" dirty="0" err="1"/>
              <a:t>микроконтроллеры</a:t>
            </a:r>
            <a:r>
              <a:rPr lang="en-US" dirty="0"/>
              <a:t> </a:t>
            </a:r>
            <a:r>
              <a:rPr lang="en-US" dirty="0" err="1"/>
              <a:t>намного</a:t>
            </a:r>
            <a:r>
              <a:rPr lang="en-US" dirty="0"/>
              <a:t> </a:t>
            </a:r>
            <a:r>
              <a:rPr lang="en-US" dirty="0" err="1"/>
              <a:t>проще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ATmega328P,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в Arduino Nano,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частоте</a:t>
            </a:r>
            <a:r>
              <a:rPr lang="en-US" dirty="0"/>
              <a:t> 16 </a:t>
            </a:r>
            <a:r>
              <a:rPr lang="en-US" dirty="0" err="1"/>
              <a:t>MHz.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сравнения</a:t>
            </a:r>
            <a:r>
              <a:rPr lang="en-US" dirty="0"/>
              <a:t>: </a:t>
            </a:r>
            <a:r>
              <a:rPr lang="en-US" dirty="0" err="1"/>
              <a:t>современные</a:t>
            </a:r>
            <a:r>
              <a:rPr lang="en-US" dirty="0"/>
              <a:t> </a:t>
            </a:r>
            <a:r>
              <a:rPr lang="en-US" dirty="0" err="1"/>
              <a:t>процессоры</a:t>
            </a:r>
            <a:r>
              <a:rPr lang="en-US" dirty="0"/>
              <a:t> x86-64 </a:t>
            </a:r>
            <a:r>
              <a:rPr lang="en-US" dirty="0" err="1"/>
              <a:t>работают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частотах</a:t>
            </a:r>
            <a:r>
              <a:rPr lang="en-US" dirty="0"/>
              <a:t> в </a:t>
            </a:r>
            <a:r>
              <a:rPr lang="en-US" dirty="0" err="1"/>
              <a:t>несколько</a:t>
            </a:r>
            <a:r>
              <a:rPr lang="en-US" dirty="0"/>
              <a:t> GHz.</a:t>
            </a:r>
            <a:endParaRPr lang="ru-RU" dirty="0"/>
          </a:p>
          <a:p>
            <a:endParaRPr lang="en-US" dirty="0"/>
          </a:p>
          <a:p>
            <a:r>
              <a:rPr lang="en-US" dirty="0"/>
              <a:t>Объём 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тоже</a:t>
            </a:r>
            <a:r>
              <a:rPr lang="en-US" dirty="0"/>
              <a:t> </a:t>
            </a:r>
            <a:r>
              <a:rPr lang="en-US" dirty="0" err="1"/>
              <a:t>очень</a:t>
            </a:r>
            <a:r>
              <a:rPr lang="en-US" dirty="0"/>
              <a:t> </a:t>
            </a:r>
            <a:r>
              <a:rPr lang="en-US" dirty="0" err="1"/>
              <a:t>маленький</a:t>
            </a:r>
            <a:r>
              <a:rPr lang="en-US" dirty="0"/>
              <a:t>. В ATmega328P </a:t>
            </a:r>
            <a:r>
              <a:rPr lang="en-US" dirty="0" err="1"/>
              <a:t>всего</a:t>
            </a:r>
            <a:r>
              <a:rPr lang="en-US" dirty="0"/>
              <a:t> 2 KB </a:t>
            </a:r>
            <a:r>
              <a:rPr lang="en-US" dirty="0" err="1"/>
              <a:t>оперативной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и 32 KB flash-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Из-за</a:t>
            </a:r>
            <a:r>
              <a:rPr lang="en-US" dirty="0"/>
              <a:t> </a:t>
            </a:r>
            <a:r>
              <a:rPr lang="en-US" dirty="0" err="1"/>
              <a:t>таких</a:t>
            </a:r>
            <a:r>
              <a:rPr lang="en-US" dirty="0"/>
              <a:t> </a:t>
            </a:r>
            <a:r>
              <a:rPr lang="en-US" dirty="0" err="1"/>
              <a:t>ограничений</a:t>
            </a:r>
            <a:r>
              <a:rPr lang="en-US" dirty="0"/>
              <a:t> embedded-</a:t>
            </a:r>
            <a:r>
              <a:rPr lang="en-US" dirty="0" err="1"/>
              <a:t>разработчику</a:t>
            </a:r>
            <a:r>
              <a:rPr lang="en-US" dirty="0"/>
              <a:t> </a:t>
            </a:r>
            <a:r>
              <a:rPr lang="en-US" dirty="0" err="1"/>
              <a:t>приходится</a:t>
            </a:r>
            <a:r>
              <a:rPr lang="en-US" dirty="0"/>
              <a:t> </a:t>
            </a:r>
            <a:r>
              <a:rPr lang="en-US" dirty="0" err="1"/>
              <a:t>гораздо</a:t>
            </a:r>
            <a:r>
              <a:rPr lang="en-US" dirty="0"/>
              <a:t> </a:t>
            </a:r>
            <a:r>
              <a:rPr lang="en-US" dirty="0" err="1"/>
              <a:t>внимательнее</a:t>
            </a:r>
            <a:r>
              <a:rPr lang="en-US" dirty="0"/>
              <a:t> </a:t>
            </a:r>
            <a:r>
              <a:rPr lang="en-US" dirty="0" err="1"/>
              <a:t>относиться</a:t>
            </a:r>
            <a:r>
              <a:rPr lang="en-US" dirty="0"/>
              <a:t> к </a:t>
            </a:r>
            <a:r>
              <a:rPr lang="en-US" dirty="0" err="1"/>
              <a:t>размеру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, </a:t>
            </a:r>
            <a:r>
              <a:rPr lang="en-US" dirty="0" err="1"/>
              <a:t>количеству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и </a:t>
            </a:r>
            <a:r>
              <a:rPr lang="en-US" dirty="0" err="1"/>
              <a:t>эффективности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4767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ключевых</a:t>
            </a:r>
            <a:r>
              <a:rPr lang="en-US" dirty="0"/>
              <a:t> </a:t>
            </a:r>
            <a:r>
              <a:rPr lang="en-US" dirty="0" err="1"/>
              <a:t>особенностей</a:t>
            </a:r>
            <a:r>
              <a:rPr lang="en-US" dirty="0"/>
              <a:t> </a:t>
            </a:r>
            <a:r>
              <a:rPr lang="en-US" dirty="0" err="1"/>
              <a:t>микроконтроллеров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наличие</a:t>
            </a:r>
            <a:r>
              <a:rPr lang="en-US" dirty="0"/>
              <a:t> </a:t>
            </a:r>
            <a:r>
              <a:rPr lang="en-US" dirty="0" err="1"/>
              <a:t>встроенной</a:t>
            </a:r>
            <a:r>
              <a:rPr lang="en-US" dirty="0"/>
              <a:t> </a:t>
            </a:r>
            <a:r>
              <a:rPr lang="en-US" dirty="0" err="1"/>
              <a:t>периферии</a:t>
            </a:r>
            <a:r>
              <a:rPr lang="en-US" dirty="0"/>
              <a:t> — </a:t>
            </a:r>
            <a:r>
              <a:rPr lang="en-US" dirty="0" err="1"/>
              <a:t>специализированных</a:t>
            </a:r>
            <a:r>
              <a:rPr lang="en-US" dirty="0"/>
              <a:t> </a:t>
            </a:r>
            <a:r>
              <a:rPr lang="en-US" dirty="0" err="1"/>
              <a:t>аппаратных</a:t>
            </a:r>
            <a:r>
              <a:rPr lang="en-US" dirty="0"/>
              <a:t> </a:t>
            </a:r>
            <a:r>
              <a:rPr lang="en-US" dirty="0" err="1"/>
              <a:t>модулей</a:t>
            </a:r>
            <a:r>
              <a:rPr lang="en-US" dirty="0"/>
              <a:t>, </a:t>
            </a:r>
            <a:r>
              <a:rPr lang="en-US" dirty="0" err="1"/>
              <a:t>предназначенных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 с </a:t>
            </a:r>
            <a:r>
              <a:rPr lang="en-US" dirty="0" err="1"/>
              <a:t>внешними</a:t>
            </a:r>
            <a:r>
              <a:rPr lang="en-US" dirty="0"/>
              <a:t> </a:t>
            </a:r>
            <a:r>
              <a:rPr lang="en-US" dirty="0" err="1"/>
              <a:t>устройствами</a:t>
            </a:r>
            <a:r>
              <a:rPr lang="en-US" dirty="0"/>
              <a:t> и </a:t>
            </a:r>
            <a:r>
              <a:rPr lang="en-US" dirty="0" err="1"/>
              <a:t>обработки</a:t>
            </a:r>
            <a:r>
              <a:rPr lang="en-US" dirty="0"/>
              <a:t> </a:t>
            </a:r>
            <a:r>
              <a:rPr lang="en-US" dirty="0" err="1"/>
              <a:t>физических</a:t>
            </a:r>
            <a:r>
              <a:rPr lang="en-US" dirty="0"/>
              <a:t> </a:t>
            </a:r>
            <a:r>
              <a:rPr lang="en-US" dirty="0" err="1"/>
              <a:t>сигналов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процессоров</a:t>
            </a:r>
            <a:r>
              <a:rPr lang="en-US" dirty="0"/>
              <a:t> </a:t>
            </a:r>
            <a:r>
              <a:rPr lang="en-US" dirty="0" err="1"/>
              <a:t>общего</a:t>
            </a:r>
            <a:r>
              <a:rPr lang="en-US" dirty="0"/>
              <a:t> </a:t>
            </a:r>
            <a:r>
              <a:rPr lang="en-US" dirty="0" err="1"/>
              <a:t>назначения</a:t>
            </a:r>
            <a:r>
              <a:rPr lang="en-US" dirty="0"/>
              <a:t>, </a:t>
            </a:r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ограничивается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выполнением</a:t>
            </a:r>
            <a:r>
              <a:rPr lang="en-US" dirty="0"/>
              <a:t> </a:t>
            </a:r>
            <a:r>
              <a:rPr lang="en-US" dirty="0" err="1"/>
              <a:t>вычислений</a:t>
            </a:r>
            <a:r>
              <a:rPr lang="en-US" dirty="0"/>
              <a:t>. </a:t>
            </a:r>
            <a:r>
              <a:rPr lang="en-US" dirty="0" err="1"/>
              <a:t>Значительная</a:t>
            </a:r>
            <a:r>
              <a:rPr lang="en-US" dirty="0"/>
              <a:t> </a:t>
            </a:r>
            <a:r>
              <a:rPr lang="en-US" dirty="0" err="1"/>
              <a:t>часть</a:t>
            </a:r>
            <a:r>
              <a:rPr lang="en-US" dirty="0"/>
              <a:t>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функциональности</a:t>
            </a:r>
            <a:r>
              <a:rPr lang="en-US" dirty="0"/>
              <a:t> </a:t>
            </a:r>
            <a:r>
              <a:rPr lang="en-US" dirty="0" err="1"/>
              <a:t>связана</a:t>
            </a:r>
            <a:r>
              <a:rPr lang="en-US" dirty="0"/>
              <a:t> с </a:t>
            </a:r>
            <a:r>
              <a:rPr lang="en-US" dirty="0" err="1"/>
              <a:t>управлением</a:t>
            </a:r>
            <a:r>
              <a:rPr lang="en-US" dirty="0"/>
              <a:t> </a:t>
            </a:r>
            <a:r>
              <a:rPr lang="en-US" dirty="0" err="1"/>
              <a:t>аппаратурой</a:t>
            </a:r>
            <a:r>
              <a:rPr lang="en-US" dirty="0"/>
              <a:t> и </a:t>
            </a:r>
            <a:r>
              <a:rPr lang="en-US" dirty="0" err="1"/>
              <a:t>обменом</a:t>
            </a:r>
            <a:r>
              <a:rPr lang="en-US" dirty="0"/>
              <a:t> </a:t>
            </a:r>
            <a:r>
              <a:rPr lang="en-US" dirty="0" err="1"/>
              <a:t>данными</a:t>
            </a:r>
            <a:r>
              <a:rPr lang="en-US" dirty="0"/>
              <a:t> с </a:t>
            </a:r>
            <a:r>
              <a:rPr lang="en-US" dirty="0" err="1"/>
              <a:t>окружающей</a:t>
            </a:r>
            <a:r>
              <a:rPr lang="en-US" dirty="0"/>
              <a:t> </a:t>
            </a:r>
            <a:r>
              <a:rPr lang="en-US" dirty="0" err="1"/>
              <a:t>средой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базовым</a:t>
            </a:r>
            <a:r>
              <a:rPr lang="en-US" dirty="0"/>
              <a:t> </a:t>
            </a:r>
            <a:r>
              <a:rPr lang="en-US" dirty="0" err="1"/>
              <a:t>видом</a:t>
            </a:r>
            <a:r>
              <a:rPr lang="en-US" dirty="0"/>
              <a:t> </a:t>
            </a:r>
            <a:r>
              <a:rPr lang="en-US" dirty="0" err="1"/>
              <a:t>периферии</a:t>
            </a:r>
            <a:r>
              <a:rPr lang="en-US" dirty="0"/>
              <a:t> </a:t>
            </a:r>
            <a:r>
              <a:rPr lang="en-US" dirty="0" err="1"/>
              <a:t>являются</a:t>
            </a:r>
            <a:r>
              <a:rPr lang="en-US" dirty="0"/>
              <a:t> </a:t>
            </a:r>
            <a:r>
              <a:rPr lang="en-US" dirty="0" err="1"/>
              <a:t>модули</a:t>
            </a:r>
            <a:r>
              <a:rPr lang="en-US" dirty="0"/>
              <a:t> GPIO — General Purpose Input/Output. </a:t>
            </a:r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программно</a:t>
            </a:r>
            <a:r>
              <a:rPr lang="en-US" dirty="0"/>
              <a:t> </a:t>
            </a:r>
            <a:r>
              <a:rPr lang="en-US" dirty="0" err="1"/>
              <a:t>управлять</a:t>
            </a:r>
            <a:r>
              <a:rPr lang="en-US" dirty="0"/>
              <a:t> </a:t>
            </a:r>
            <a:r>
              <a:rPr lang="en-US" dirty="0" err="1"/>
              <a:t>состоянием</a:t>
            </a:r>
            <a:r>
              <a:rPr lang="en-US" dirty="0"/>
              <a:t> </a:t>
            </a:r>
            <a:r>
              <a:rPr lang="en-US" dirty="0" err="1"/>
              <a:t>цифровых</a:t>
            </a:r>
            <a:r>
              <a:rPr lang="en-US" dirty="0"/>
              <a:t> </a:t>
            </a:r>
            <a:r>
              <a:rPr lang="en-US" dirty="0" err="1"/>
              <a:t>выводов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считывать</a:t>
            </a:r>
            <a:r>
              <a:rPr lang="en-US" dirty="0"/>
              <a:t> </a:t>
            </a:r>
            <a:r>
              <a:rPr lang="en-US" dirty="0" err="1"/>
              <a:t>внешние</a:t>
            </a:r>
            <a:r>
              <a:rPr lang="en-US" dirty="0"/>
              <a:t> </a:t>
            </a:r>
            <a:r>
              <a:rPr lang="en-US" dirty="0" err="1"/>
              <a:t>цифровые</a:t>
            </a:r>
            <a:r>
              <a:rPr lang="en-US" dirty="0"/>
              <a:t> </a:t>
            </a:r>
            <a:r>
              <a:rPr lang="en-US" dirty="0" err="1"/>
              <a:t>сигналы</a:t>
            </a:r>
            <a:r>
              <a:rPr lang="en-US" dirty="0"/>
              <a:t>. С </a:t>
            </a:r>
            <a:r>
              <a:rPr lang="en-US" dirty="0" err="1"/>
              <a:t>помощью</a:t>
            </a:r>
            <a:r>
              <a:rPr lang="en-US" dirty="0"/>
              <a:t> GPIO </a:t>
            </a:r>
            <a:r>
              <a:rPr lang="en-US" dirty="0" err="1"/>
              <a:t>можно</a:t>
            </a:r>
            <a:r>
              <a:rPr lang="en-US" dirty="0"/>
              <a:t>,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управлять</a:t>
            </a:r>
            <a:r>
              <a:rPr lang="en-US" dirty="0"/>
              <a:t> </a:t>
            </a:r>
            <a:r>
              <a:rPr lang="en-US" dirty="0" err="1"/>
              <a:t>светодиодами</a:t>
            </a:r>
            <a:r>
              <a:rPr lang="en-US" dirty="0"/>
              <a:t>, </a:t>
            </a:r>
            <a:r>
              <a:rPr lang="en-US" dirty="0" err="1"/>
              <a:t>считывать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кнопок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взаимодействовать</a:t>
            </a:r>
            <a:r>
              <a:rPr lang="en-US" dirty="0"/>
              <a:t> с </a:t>
            </a:r>
            <a:r>
              <a:rPr lang="en-US" dirty="0" err="1"/>
              <a:t>внешними</a:t>
            </a:r>
            <a:r>
              <a:rPr lang="en-US" dirty="0"/>
              <a:t> </a:t>
            </a:r>
            <a:r>
              <a:rPr lang="en-US" dirty="0" err="1"/>
              <a:t>цифровыми</a:t>
            </a:r>
            <a:r>
              <a:rPr lang="en-US" dirty="0"/>
              <a:t> </a:t>
            </a:r>
            <a:r>
              <a:rPr lang="en-US" dirty="0" err="1"/>
              <a:t>устройствами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UART </a:t>
            </a:r>
            <a:r>
              <a:rPr lang="en-US" dirty="0" err="1"/>
              <a:t>представляет</a:t>
            </a:r>
            <a:r>
              <a:rPr lang="en-US" dirty="0"/>
              <a:t> </a:t>
            </a:r>
            <a:r>
              <a:rPr lang="en-US" dirty="0" err="1"/>
              <a:t>собой</a:t>
            </a:r>
            <a:r>
              <a:rPr lang="en-US" dirty="0"/>
              <a:t> </a:t>
            </a:r>
            <a:r>
              <a:rPr lang="en-US" dirty="0" err="1"/>
              <a:t>интерфейс</a:t>
            </a:r>
            <a:r>
              <a:rPr lang="en-US" dirty="0"/>
              <a:t> </a:t>
            </a:r>
            <a:r>
              <a:rPr lang="en-US" dirty="0" err="1"/>
              <a:t>последовательной</a:t>
            </a:r>
            <a:r>
              <a:rPr lang="en-US" dirty="0"/>
              <a:t> </a:t>
            </a:r>
            <a:r>
              <a:rPr lang="en-US" dirty="0" err="1"/>
              <a:t>асинхронной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широко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обмена</a:t>
            </a:r>
            <a:r>
              <a:rPr lang="en-US" dirty="0"/>
              <a:t> </a:t>
            </a:r>
            <a:r>
              <a:rPr lang="en-US" dirty="0" err="1"/>
              <a:t>информацией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микроконтроллером</a:t>
            </a:r>
            <a:r>
              <a:rPr lang="en-US" dirty="0"/>
              <a:t> и </a:t>
            </a:r>
            <a:r>
              <a:rPr lang="en-US" dirty="0" err="1"/>
              <a:t>компьютером</a:t>
            </a:r>
            <a:r>
              <a:rPr lang="en-US" dirty="0"/>
              <a:t>, а </a:t>
            </a:r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различными</a:t>
            </a:r>
            <a:r>
              <a:rPr lang="en-US" dirty="0"/>
              <a:t> </a:t>
            </a:r>
            <a:r>
              <a:rPr lang="en-US" dirty="0" err="1"/>
              <a:t>электронными</a:t>
            </a:r>
            <a:r>
              <a:rPr lang="en-US" dirty="0"/>
              <a:t> </a:t>
            </a:r>
            <a:r>
              <a:rPr lang="en-US" dirty="0" err="1"/>
              <a:t>устройствами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Интерфейсы</a:t>
            </a:r>
            <a:r>
              <a:rPr lang="en-US" dirty="0"/>
              <a:t> SPI и I2C </a:t>
            </a:r>
            <a:r>
              <a:rPr lang="en-US" dirty="0" err="1"/>
              <a:t>предназначены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подключения</a:t>
            </a:r>
            <a:r>
              <a:rPr lang="en-US" dirty="0"/>
              <a:t> </a:t>
            </a:r>
            <a:r>
              <a:rPr lang="en-US" dirty="0" err="1"/>
              <a:t>внешних</a:t>
            </a:r>
            <a:r>
              <a:rPr lang="en-US" dirty="0"/>
              <a:t> </a:t>
            </a:r>
            <a:r>
              <a:rPr lang="en-US" dirty="0" err="1"/>
              <a:t>микросхем</a:t>
            </a:r>
            <a:r>
              <a:rPr lang="en-US" dirty="0"/>
              <a:t> и </a:t>
            </a:r>
            <a:r>
              <a:rPr lang="en-US" dirty="0" err="1"/>
              <a:t>периферийных</a:t>
            </a:r>
            <a:r>
              <a:rPr lang="en-US" dirty="0"/>
              <a:t> </a:t>
            </a:r>
            <a:r>
              <a:rPr lang="en-US" dirty="0" err="1"/>
              <a:t>модулей</a:t>
            </a:r>
            <a:r>
              <a:rPr lang="en-US" dirty="0"/>
              <a:t>, </a:t>
            </a:r>
            <a:r>
              <a:rPr lang="en-US" dirty="0" err="1"/>
              <a:t>таких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датчики</a:t>
            </a:r>
            <a:r>
              <a:rPr lang="en-US" dirty="0"/>
              <a:t>, </a:t>
            </a:r>
            <a:r>
              <a:rPr lang="en-US" dirty="0" err="1"/>
              <a:t>дисплеи</a:t>
            </a:r>
            <a:r>
              <a:rPr lang="en-US" dirty="0"/>
              <a:t>, </a:t>
            </a:r>
            <a:r>
              <a:rPr lang="en-US" dirty="0" err="1"/>
              <a:t>энергонезависимая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 и </a:t>
            </a:r>
            <a:r>
              <a:rPr lang="en-US" dirty="0" err="1"/>
              <a:t>другие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Таймеры</a:t>
            </a:r>
            <a:r>
              <a:rPr lang="en-US" dirty="0"/>
              <a:t> и </a:t>
            </a:r>
            <a:r>
              <a:rPr lang="en-US" dirty="0" err="1"/>
              <a:t>счётчики</a:t>
            </a:r>
            <a:r>
              <a:rPr lang="en-US" dirty="0"/>
              <a:t>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аппаратно</a:t>
            </a:r>
            <a:r>
              <a:rPr lang="en-US" dirty="0"/>
              <a:t> </a:t>
            </a:r>
            <a:r>
              <a:rPr lang="en-US" dirty="0" err="1"/>
              <a:t>измерять</a:t>
            </a:r>
            <a:r>
              <a:rPr lang="en-US" dirty="0"/>
              <a:t> </a:t>
            </a:r>
            <a:r>
              <a:rPr lang="en-US" dirty="0" err="1"/>
              <a:t>временные</a:t>
            </a:r>
            <a:r>
              <a:rPr lang="en-US" dirty="0"/>
              <a:t> </a:t>
            </a:r>
            <a:r>
              <a:rPr lang="en-US" dirty="0" err="1"/>
              <a:t>интервалы</a:t>
            </a:r>
            <a:r>
              <a:rPr lang="en-US" dirty="0"/>
              <a:t>, </a:t>
            </a:r>
            <a:r>
              <a:rPr lang="en-US" dirty="0" err="1"/>
              <a:t>формировать</a:t>
            </a:r>
            <a:r>
              <a:rPr lang="en-US" dirty="0"/>
              <a:t> </a:t>
            </a:r>
            <a:r>
              <a:rPr lang="en-US" dirty="0" err="1"/>
              <a:t>периодические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 и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различные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, </a:t>
            </a:r>
            <a:r>
              <a:rPr lang="en-US" dirty="0" err="1"/>
              <a:t>связанные</a:t>
            </a:r>
            <a:r>
              <a:rPr lang="en-US" dirty="0"/>
              <a:t> </a:t>
            </a:r>
            <a:r>
              <a:rPr lang="en-US" dirty="0" err="1"/>
              <a:t>со</a:t>
            </a:r>
            <a:r>
              <a:rPr lang="en-US" dirty="0"/>
              <a:t> </a:t>
            </a:r>
            <a:r>
              <a:rPr lang="en-US" dirty="0" err="1"/>
              <a:t>временем</a:t>
            </a:r>
            <a:r>
              <a:rPr lang="en-US" dirty="0"/>
              <a:t>,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постоянного</a:t>
            </a:r>
            <a:r>
              <a:rPr lang="en-US" dirty="0"/>
              <a:t> </a:t>
            </a:r>
            <a:r>
              <a:rPr lang="en-US" dirty="0" err="1"/>
              <a:t>участия</a:t>
            </a:r>
            <a:r>
              <a:rPr lang="en-US" dirty="0"/>
              <a:t> </a:t>
            </a:r>
            <a:r>
              <a:rPr lang="en-US" dirty="0" err="1"/>
              <a:t>центрального</a:t>
            </a:r>
            <a:r>
              <a:rPr lang="en-US" dirty="0"/>
              <a:t> </a:t>
            </a:r>
            <a:r>
              <a:rPr lang="en-US" dirty="0" err="1"/>
              <a:t>процессора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ADC — analog-to-digital converter —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преобразования</a:t>
            </a:r>
            <a:r>
              <a:rPr lang="en-US" dirty="0"/>
              <a:t> </a:t>
            </a:r>
            <a:r>
              <a:rPr lang="en-US" dirty="0" err="1"/>
              <a:t>аналоговых</a:t>
            </a:r>
            <a:r>
              <a:rPr lang="en-US" dirty="0"/>
              <a:t> </a:t>
            </a:r>
            <a:r>
              <a:rPr lang="en-US" dirty="0" err="1"/>
              <a:t>электрических</a:t>
            </a:r>
            <a:r>
              <a:rPr lang="en-US" dirty="0"/>
              <a:t> </a:t>
            </a:r>
            <a:r>
              <a:rPr lang="en-US" dirty="0" err="1"/>
              <a:t>сигналов</a:t>
            </a:r>
            <a:r>
              <a:rPr lang="en-US" dirty="0"/>
              <a:t> в </a:t>
            </a:r>
            <a:r>
              <a:rPr lang="en-US" dirty="0" err="1"/>
              <a:t>цифровые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, </a:t>
            </a:r>
            <a:r>
              <a:rPr lang="en-US" dirty="0" err="1"/>
              <a:t>пригодные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обработки</a:t>
            </a:r>
            <a:r>
              <a:rPr lang="en-US" dirty="0"/>
              <a:t> </a:t>
            </a:r>
            <a:r>
              <a:rPr lang="en-US" dirty="0" err="1"/>
              <a:t>программой</a:t>
            </a:r>
            <a:r>
              <a:rPr lang="en-US" dirty="0"/>
              <a:t>.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работе</a:t>
            </a:r>
            <a:r>
              <a:rPr lang="en-US" dirty="0"/>
              <a:t> с </a:t>
            </a:r>
            <a:r>
              <a:rPr lang="en-US" dirty="0" err="1"/>
              <a:t>датчиками</a:t>
            </a:r>
            <a:r>
              <a:rPr lang="en-US" dirty="0"/>
              <a:t> </a:t>
            </a:r>
            <a:r>
              <a:rPr lang="en-US" dirty="0" err="1"/>
              <a:t>температуры</a:t>
            </a:r>
            <a:r>
              <a:rPr lang="en-US" dirty="0"/>
              <a:t>, </a:t>
            </a:r>
            <a:r>
              <a:rPr lang="en-US" dirty="0" err="1"/>
              <a:t>освещённости</a:t>
            </a:r>
            <a:r>
              <a:rPr lang="en-US" dirty="0"/>
              <a:t>, </a:t>
            </a:r>
            <a:r>
              <a:rPr lang="en-US" dirty="0" err="1"/>
              <a:t>напряжения</a:t>
            </a:r>
            <a:r>
              <a:rPr lang="en-US" dirty="0"/>
              <a:t> и </a:t>
            </a:r>
            <a:r>
              <a:rPr lang="en-US" dirty="0" err="1"/>
              <a:t>другими</a:t>
            </a:r>
            <a:r>
              <a:rPr lang="en-US" dirty="0"/>
              <a:t> </a:t>
            </a:r>
            <a:r>
              <a:rPr lang="en-US" dirty="0" err="1"/>
              <a:t>аналоговыми</a:t>
            </a:r>
            <a:r>
              <a:rPr lang="en-US" dirty="0"/>
              <a:t> </a:t>
            </a:r>
            <a:r>
              <a:rPr lang="en-US" dirty="0" err="1"/>
              <a:t>источниками</a:t>
            </a:r>
            <a:r>
              <a:rPr lang="en-US" dirty="0"/>
              <a:t> </a:t>
            </a:r>
            <a:r>
              <a:rPr lang="en-US" dirty="0" err="1"/>
              <a:t>сигналов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PWM — pulse width modulation — </a:t>
            </a:r>
            <a:r>
              <a:rPr lang="en-US" dirty="0" err="1"/>
              <a:t>применяется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управления</a:t>
            </a:r>
            <a:r>
              <a:rPr lang="en-US" dirty="0"/>
              <a:t> </a:t>
            </a:r>
            <a:r>
              <a:rPr lang="en-US" dirty="0" err="1"/>
              <a:t>средней</a:t>
            </a:r>
            <a:r>
              <a:rPr lang="en-US" dirty="0"/>
              <a:t> </a:t>
            </a:r>
            <a:r>
              <a:rPr lang="en-US" dirty="0" err="1"/>
              <a:t>мощностью</a:t>
            </a:r>
            <a:r>
              <a:rPr lang="en-US" dirty="0"/>
              <a:t> </a:t>
            </a:r>
            <a:r>
              <a:rPr lang="en-US" dirty="0" err="1"/>
              <a:t>сигнала</a:t>
            </a:r>
            <a:r>
              <a:rPr lang="en-US" dirty="0"/>
              <a:t>. </a:t>
            </a:r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механизм</a:t>
            </a:r>
            <a:r>
              <a:rPr lang="en-US" dirty="0"/>
              <a:t> </a:t>
            </a:r>
            <a:r>
              <a:rPr lang="en-US" dirty="0" err="1"/>
              <a:t>широко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регулировке</a:t>
            </a:r>
            <a:r>
              <a:rPr lang="en-US" dirty="0"/>
              <a:t> </a:t>
            </a:r>
            <a:r>
              <a:rPr lang="en-US" dirty="0" err="1"/>
              <a:t>яркости</a:t>
            </a:r>
            <a:r>
              <a:rPr lang="en-US" dirty="0"/>
              <a:t> </a:t>
            </a:r>
            <a:r>
              <a:rPr lang="en-US" dirty="0" err="1"/>
              <a:t>светодиодов</a:t>
            </a:r>
            <a:r>
              <a:rPr lang="en-US" dirty="0"/>
              <a:t>, </a:t>
            </a:r>
            <a:r>
              <a:rPr lang="en-US" dirty="0" err="1"/>
              <a:t>управлении</a:t>
            </a:r>
            <a:r>
              <a:rPr lang="en-US" dirty="0"/>
              <a:t> </a:t>
            </a:r>
            <a:r>
              <a:rPr lang="en-US" dirty="0" err="1"/>
              <a:t>скоростью</a:t>
            </a:r>
            <a:r>
              <a:rPr lang="en-US" dirty="0"/>
              <a:t> </a:t>
            </a:r>
            <a:r>
              <a:rPr lang="en-US" dirty="0" err="1"/>
              <a:t>электродвигателей</a:t>
            </a:r>
            <a:r>
              <a:rPr lang="en-US" dirty="0"/>
              <a:t> и </a:t>
            </a:r>
            <a:r>
              <a:rPr lang="en-US" dirty="0" err="1"/>
              <a:t>генерации</a:t>
            </a:r>
            <a:r>
              <a:rPr lang="en-US" dirty="0"/>
              <a:t> </a:t>
            </a:r>
            <a:r>
              <a:rPr lang="en-US" dirty="0" err="1"/>
              <a:t>аналогоподобных</a:t>
            </a:r>
            <a:r>
              <a:rPr lang="en-US" dirty="0"/>
              <a:t> </a:t>
            </a:r>
            <a:r>
              <a:rPr lang="en-US" dirty="0" err="1"/>
              <a:t>сигналов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периферийные</a:t>
            </a:r>
            <a:r>
              <a:rPr lang="en-US" dirty="0"/>
              <a:t> </a:t>
            </a:r>
            <a:r>
              <a:rPr lang="en-US" dirty="0" err="1"/>
              <a:t>модули</a:t>
            </a:r>
            <a:r>
              <a:rPr lang="en-US" dirty="0"/>
              <a:t> </a:t>
            </a:r>
            <a:r>
              <a:rPr lang="en-US" dirty="0" err="1"/>
              <a:t>управляются</a:t>
            </a:r>
            <a:r>
              <a:rPr lang="en-US" dirty="0"/>
              <a:t> </a:t>
            </a:r>
            <a:r>
              <a:rPr lang="en-US" dirty="0" err="1"/>
              <a:t>программой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специальные</a:t>
            </a:r>
            <a:r>
              <a:rPr lang="en-US" dirty="0"/>
              <a:t> </a:t>
            </a:r>
            <a:r>
              <a:rPr lang="en-US" dirty="0" err="1"/>
              <a:t>аппаратные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. С </a:t>
            </a:r>
            <a:r>
              <a:rPr lang="en-US" dirty="0" err="1"/>
              <a:t>точки</a:t>
            </a:r>
            <a:r>
              <a:rPr lang="en-US" dirty="0"/>
              <a:t> </a:t>
            </a:r>
            <a:r>
              <a:rPr lang="en-US" dirty="0" err="1"/>
              <a:t>зрения</a:t>
            </a:r>
            <a:r>
              <a:rPr lang="en-US" dirty="0"/>
              <a:t> </a:t>
            </a:r>
            <a:r>
              <a:rPr lang="en-US" dirty="0" err="1"/>
              <a:t>процессора</a:t>
            </a:r>
            <a:r>
              <a:rPr lang="en-US" dirty="0"/>
              <a:t> </a:t>
            </a:r>
            <a:r>
              <a:rPr lang="en-US" dirty="0" err="1"/>
              <a:t>такие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отображаются</a:t>
            </a:r>
            <a:r>
              <a:rPr lang="en-US" dirty="0"/>
              <a:t> в </a:t>
            </a:r>
            <a:r>
              <a:rPr lang="en-US" dirty="0" err="1"/>
              <a:t>адресное</a:t>
            </a:r>
            <a:r>
              <a:rPr lang="en-US" dirty="0"/>
              <a:t> </a:t>
            </a:r>
            <a:r>
              <a:rPr lang="en-US" dirty="0" err="1"/>
              <a:t>пространство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взаимодействие</a:t>
            </a:r>
            <a:r>
              <a:rPr lang="en-US" dirty="0"/>
              <a:t> с </a:t>
            </a:r>
            <a:r>
              <a:rPr lang="en-US" dirty="0" err="1"/>
              <a:t>периферией</a:t>
            </a:r>
            <a:r>
              <a:rPr lang="en-US" dirty="0"/>
              <a:t> </a:t>
            </a:r>
            <a:r>
              <a:rPr lang="en-US" dirty="0" err="1"/>
              <a:t>тесно</a:t>
            </a:r>
            <a:r>
              <a:rPr lang="en-US" dirty="0"/>
              <a:t> </a:t>
            </a:r>
            <a:r>
              <a:rPr lang="en-US" dirty="0" err="1"/>
              <a:t>связано</a:t>
            </a:r>
            <a:r>
              <a:rPr lang="en-US" dirty="0"/>
              <a:t> с </a:t>
            </a:r>
            <a:r>
              <a:rPr lang="en-US" dirty="0" err="1"/>
              <a:t>концепциями</a:t>
            </a:r>
            <a:r>
              <a:rPr lang="en-US" dirty="0"/>
              <a:t> </a:t>
            </a:r>
            <a:r>
              <a:rPr lang="en-US" dirty="0" err="1"/>
              <a:t>указателей</a:t>
            </a:r>
            <a:r>
              <a:rPr lang="en-US" dirty="0"/>
              <a:t>, </a:t>
            </a:r>
            <a:r>
              <a:rPr lang="en-US" dirty="0" err="1"/>
              <a:t>адресации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и </a:t>
            </a:r>
            <a:r>
              <a:rPr lang="en-US" dirty="0" err="1"/>
              <a:t>низкоуровневого</a:t>
            </a:r>
            <a:r>
              <a:rPr lang="en-US" dirty="0"/>
              <a:t> </a:t>
            </a:r>
            <a:r>
              <a:rPr lang="en-US" dirty="0" err="1"/>
              <a:t>программирования</a:t>
            </a:r>
            <a:r>
              <a:rPr lang="en-US" dirty="0"/>
              <a:t>,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рассматривались</a:t>
            </a:r>
            <a:r>
              <a:rPr lang="en-US" dirty="0"/>
              <a:t> </a:t>
            </a:r>
            <a:r>
              <a:rPr lang="en-US" dirty="0" err="1"/>
              <a:t>ранее</a:t>
            </a:r>
            <a:r>
              <a:rPr lang="en-US" dirty="0"/>
              <a:t> в </a:t>
            </a:r>
            <a:r>
              <a:rPr lang="en-US" dirty="0" err="1"/>
              <a:t>курсе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81030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рассматривать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полноценную</a:t>
            </a:r>
            <a:r>
              <a:rPr lang="en-US" dirty="0"/>
              <a:t> </a:t>
            </a:r>
            <a:r>
              <a:rPr lang="en-US" dirty="0" err="1"/>
              <a:t>вычислительную</a:t>
            </a:r>
            <a:r>
              <a:rPr lang="en-US" dirty="0"/>
              <a:t> </a:t>
            </a:r>
            <a:r>
              <a:rPr lang="en-US" dirty="0" err="1"/>
              <a:t>систему</a:t>
            </a:r>
            <a:r>
              <a:rPr lang="en-US" dirty="0"/>
              <a:t>, </a:t>
            </a:r>
            <a:r>
              <a:rPr lang="en-US" dirty="0" err="1"/>
              <a:t>интегрированную</a:t>
            </a:r>
            <a:r>
              <a:rPr lang="en-US" dirty="0"/>
              <a:t> в </a:t>
            </a:r>
            <a:r>
              <a:rPr lang="en-US" dirty="0" err="1"/>
              <a:t>пределах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полупроводникового</a:t>
            </a:r>
            <a:r>
              <a:rPr lang="en-US" dirty="0"/>
              <a:t> </a:t>
            </a:r>
            <a:r>
              <a:rPr lang="en-US" dirty="0" err="1"/>
              <a:t>кристалла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традиционных</a:t>
            </a:r>
            <a:r>
              <a:rPr lang="en-US" dirty="0"/>
              <a:t> </a:t>
            </a:r>
            <a:r>
              <a:rPr lang="en-US" dirty="0" err="1"/>
              <a:t>компьютерных</a:t>
            </a:r>
            <a:r>
              <a:rPr lang="en-US" dirty="0"/>
              <a:t> </a:t>
            </a:r>
            <a:r>
              <a:rPr lang="en-US" dirty="0" err="1"/>
              <a:t>систем</a:t>
            </a:r>
            <a:r>
              <a:rPr lang="en-US" dirty="0"/>
              <a:t>, </a:t>
            </a:r>
            <a:r>
              <a:rPr lang="en-US" dirty="0" err="1"/>
              <a:t>где</a:t>
            </a:r>
            <a:r>
              <a:rPr lang="en-US" dirty="0"/>
              <a:t> </a:t>
            </a:r>
            <a:r>
              <a:rPr lang="en-US" dirty="0" err="1"/>
              <a:t>процессор</a:t>
            </a:r>
            <a:r>
              <a:rPr lang="en-US" dirty="0"/>
              <a:t>, </a:t>
            </a:r>
            <a:r>
              <a:rPr lang="en-US" dirty="0" err="1"/>
              <a:t>оперативная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 и </a:t>
            </a:r>
            <a:r>
              <a:rPr lang="en-US" dirty="0" err="1"/>
              <a:t>контроллеры</a:t>
            </a:r>
            <a:r>
              <a:rPr lang="en-US" dirty="0"/>
              <a:t> </a:t>
            </a:r>
            <a:r>
              <a:rPr lang="en-US" dirty="0" err="1"/>
              <a:t>периферии</a:t>
            </a:r>
            <a:r>
              <a:rPr lang="en-US" dirty="0"/>
              <a:t> </a:t>
            </a:r>
            <a:r>
              <a:rPr lang="en-US" dirty="0" err="1"/>
              <a:t>представлены</a:t>
            </a:r>
            <a:r>
              <a:rPr lang="en-US" dirty="0"/>
              <a:t> </a:t>
            </a:r>
            <a:r>
              <a:rPr lang="en-US" dirty="0" err="1"/>
              <a:t>отдельными</a:t>
            </a:r>
            <a:r>
              <a:rPr lang="en-US" dirty="0"/>
              <a:t> </a:t>
            </a:r>
            <a:r>
              <a:rPr lang="en-US" dirty="0" err="1"/>
              <a:t>компонентами</a:t>
            </a:r>
            <a:r>
              <a:rPr lang="en-US" dirty="0"/>
              <a:t>, в </a:t>
            </a:r>
            <a:r>
              <a:rPr lang="en-US" dirty="0" err="1"/>
              <a:t>микроконтроллере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основные</a:t>
            </a:r>
            <a:r>
              <a:rPr lang="en-US" dirty="0"/>
              <a:t> </a:t>
            </a:r>
            <a:r>
              <a:rPr lang="en-US" dirty="0" err="1"/>
              <a:t>элементы</a:t>
            </a:r>
            <a:r>
              <a:rPr lang="en-US" dirty="0"/>
              <a:t> </a:t>
            </a:r>
            <a:r>
              <a:rPr lang="en-US" dirty="0" err="1"/>
              <a:t>объединены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Типичный</a:t>
            </a:r>
            <a:r>
              <a:rPr lang="en-US" dirty="0"/>
              <a:t> </a:t>
            </a:r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включает</a:t>
            </a:r>
            <a:r>
              <a:rPr lang="en-US" dirty="0"/>
              <a:t> </a:t>
            </a:r>
            <a:r>
              <a:rPr lang="en-US" dirty="0" err="1"/>
              <a:t>процессорное</a:t>
            </a:r>
            <a:r>
              <a:rPr lang="en-US" dirty="0"/>
              <a:t> </a:t>
            </a:r>
            <a:r>
              <a:rPr lang="en-US" dirty="0" err="1"/>
              <a:t>ядро</a:t>
            </a:r>
            <a:r>
              <a:rPr lang="en-US" dirty="0"/>
              <a:t>, </a:t>
            </a:r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программ</a:t>
            </a:r>
            <a:r>
              <a:rPr lang="en-US" dirty="0"/>
              <a:t>, </a:t>
            </a:r>
            <a:r>
              <a:rPr lang="en-US" dirty="0" err="1"/>
              <a:t>оперативную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, а </a:t>
            </a:r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набор</a:t>
            </a:r>
            <a:r>
              <a:rPr lang="en-US" dirty="0"/>
              <a:t> </a:t>
            </a:r>
            <a:r>
              <a:rPr lang="en-US" dirty="0" err="1"/>
              <a:t>периферийных</a:t>
            </a:r>
            <a:r>
              <a:rPr lang="en-US" dirty="0"/>
              <a:t> </a:t>
            </a:r>
            <a:r>
              <a:rPr lang="en-US" dirty="0" err="1"/>
              <a:t>модулей</a:t>
            </a:r>
            <a:r>
              <a:rPr lang="en-US" dirty="0"/>
              <a:t> и </a:t>
            </a:r>
            <a:r>
              <a:rPr lang="en-US" dirty="0" err="1"/>
              <a:t>внутренних</a:t>
            </a:r>
            <a:r>
              <a:rPr lang="en-US" dirty="0"/>
              <a:t> </a:t>
            </a:r>
            <a:r>
              <a:rPr lang="en-US" dirty="0" err="1"/>
              <a:t>системных</a:t>
            </a:r>
            <a:r>
              <a:rPr lang="en-US" dirty="0"/>
              <a:t> </a:t>
            </a:r>
            <a:r>
              <a:rPr lang="en-US" dirty="0" err="1"/>
              <a:t>контроллеров</a:t>
            </a:r>
            <a:r>
              <a:rPr lang="en-US" dirty="0"/>
              <a:t>. </a:t>
            </a:r>
            <a:r>
              <a:rPr lang="en-US" dirty="0" err="1"/>
              <a:t>Взаимодействие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этими</a:t>
            </a:r>
            <a:r>
              <a:rPr lang="en-US" dirty="0"/>
              <a:t> </a:t>
            </a:r>
            <a:r>
              <a:rPr lang="en-US" dirty="0" err="1"/>
              <a:t>компонентами</a:t>
            </a:r>
            <a:r>
              <a:rPr lang="en-US" dirty="0"/>
              <a:t> </a:t>
            </a:r>
            <a:r>
              <a:rPr lang="en-US" dirty="0" err="1"/>
              <a:t>осуществляется</a:t>
            </a:r>
            <a:r>
              <a:rPr lang="en-US" dirty="0"/>
              <a:t> </a:t>
            </a:r>
            <a:r>
              <a:rPr lang="en-US" dirty="0" err="1"/>
              <a:t>посредством</a:t>
            </a:r>
            <a:r>
              <a:rPr lang="en-US" dirty="0"/>
              <a:t> </a:t>
            </a:r>
            <a:r>
              <a:rPr lang="en-US" dirty="0" err="1"/>
              <a:t>внутренних</a:t>
            </a:r>
            <a:r>
              <a:rPr lang="en-US" dirty="0"/>
              <a:t> </a:t>
            </a:r>
            <a:r>
              <a:rPr lang="en-US" dirty="0" err="1"/>
              <a:t>шин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и </a:t>
            </a:r>
            <a:r>
              <a:rPr lang="en-US" dirty="0" err="1"/>
              <a:t>адресации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Высокая</a:t>
            </a:r>
            <a:r>
              <a:rPr lang="en-US" dirty="0"/>
              <a:t> </a:t>
            </a:r>
            <a:r>
              <a:rPr lang="en-US" dirty="0" err="1"/>
              <a:t>степень</a:t>
            </a:r>
            <a:r>
              <a:rPr lang="en-US" dirty="0"/>
              <a:t> </a:t>
            </a:r>
            <a:r>
              <a:rPr lang="en-US" dirty="0" err="1"/>
              <a:t>интеграции</a:t>
            </a:r>
            <a:r>
              <a:rPr lang="en-US" dirty="0"/>
              <a:t> </a:t>
            </a:r>
            <a:r>
              <a:rPr lang="en-US" dirty="0" err="1"/>
              <a:t>обеспечивает</a:t>
            </a:r>
            <a:r>
              <a:rPr lang="en-US" dirty="0"/>
              <a:t> </a:t>
            </a:r>
            <a:r>
              <a:rPr lang="en-US" dirty="0" err="1"/>
              <a:t>ряд</a:t>
            </a:r>
            <a:r>
              <a:rPr lang="en-US" dirty="0"/>
              <a:t> </a:t>
            </a:r>
            <a:r>
              <a:rPr lang="en-US" dirty="0" err="1"/>
              <a:t>важных</a:t>
            </a:r>
            <a:r>
              <a:rPr lang="en-US" dirty="0"/>
              <a:t> </a:t>
            </a:r>
            <a:r>
              <a:rPr lang="en-US" dirty="0" err="1"/>
              <a:t>преимуществ</a:t>
            </a:r>
            <a:r>
              <a:rPr lang="en-US" dirty="0"/>
              <a:t>. </a:t>
            </a:r>
            <a:r>
              <a:rPr lang="en-US" dirty="0" err="1"/>
              <a:t>Микроконтроллеры</a:t>
            </a:r>
            <a:r>
              <a:rPr lang="en-US" dirty="0"/>
              <a:t> </a:t>
            </a:r>
            <a:r>
              <a:rPr lang="en-US" dirty="0" err="1"/>
              <a:t>обладают</a:t>
            </a:r>
            <a:r>
              <a:rPr lang="en-US" dirty="0"/>
              <a:t> </a:t>
            </a:r>
            <a:r>
              <a:rPr lang="en-US" dirty="0" err="1"/>
              <a:t>малыми</a:t>
            </a:r>
            <a:r>
              <a:rPr lang="en-US" dirty="0"/>
              <a:t> </a:t>
            </a:r>
            <a:r>
              <a:rPr lang="en-US" dirty="0" err="1"/>
              <a:t>размерами</a:t>
            </a:r>
            <a:r>
              <a:rPr lang="en-US" dirty="0"/>
              <a:t>, </a:t>
            </a:r>
            <a:r>
              <a:rPr lang="en-US" dirty="0" err="1"/>
              <a:t>низким</a:t>
            </a:r>
            <a:r>
              <a:rPr lang="en-US" dirty="0"/>
              <a:t> </a:t>
            </a:r>
            <a:r>
              <a:rPr lang="en-US" dirty="0" err="1"/>
              <a:t>энергопотреблением</a:t>
            </a:r>
            <a:r>
              <a:rPr lang="en-US" dirty="0"/>
              <a:t> и </a:t>
            </a:r>
            <a:r>
              <a:rPr lang="en-US" dirty="0" err="1"/>
              <a:t>относительно</a:t>
            </a:r>
            <a:r>
              <a:rPr lang="en-US" dirty="0"/>
              <a:t> </a:t>
            </a:r>
            <a:r>
              <a:rPr lang="en-US" dirty="0" err="1"/>
              <a:t>невысокой</a:t>
            </a:r>
            <a:r>
              <a:rPr lang="en-US" dirty="0"/>
              <a:t> </a:t>
            </a:r>
            <a:r>
              <a:rPr lang="en-US" dirty="0" err="1"/>
              <a:t>стоимостью</a:t>
            </a:r>
            <a:r>
              <a:rPr lang="en-US" dirty="0"/>
              <a:t>. </a:t>
            </a:r>
            <a:r>
              <a:rPr lang="en-US" dirty="0" err="1"/>
              <a:t>Кроме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построения</a:t>
            </a:r>
            <a:r>
              <a:rPr lang="en-US" dirty="0"/>
              <a:t> </a:t>
            </a:r>
            <a:r>
              <a:rPr lang="en-US" dirty="0" err="1"/>
              <a:t>работающего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требуется</a:t>
            </a:r>
            <a:r>
              <a:rPr lang="en-US" dirty="0"/>
              <a:t> </a:t>
            </a:r>
            <a:r>
              <a:rPr lang="en-US" dirty="0" err="1"/>
              <a:t>минимальное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внешних</a:t>
            </a:r>
            <a:r>
              <a:rPr lang="en-US" dirty="0"/>
              <a:t> </a:t>
            </a:r>
            <a:r>
              <a:rPr lang="en-US" dirty="0" err="1"/>
              <a:t>компонентов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микроконтроллеры</a:t>
            </a:r>
            <a:r>
              <a:rPr lang="en-US" dirty="0"/>
              <a:t> </a:t>
            </a:r>
            <a:r>
              <a:rPr lang="en-US" dirty="0" err="1"/>
              <a:t>широко</a:t>
            </a:r>
            <a:r>
              <a:rPr lang="en-US" dirty="0"/>
              <a:t> </a:t>
            </a:r>
            <a:r>
              <a:rPr lang="en-US" dirty="0" err="1"/>
              <a:t>применяются</a:t>
            </a:r>
            <a:r>
              <a:rPr lang="en-US" dirty="0"/>
              <a:t> в </a:t>
            </a:r>
            <a:r>
              <a:rPr lang="en-US" dirty="0" err="1"/>
              <a:t>устройствах</a:t>
            </a:r>
            <a:r>
              <a:rPr lang="en-US" dirty="0"/>
              <a:t>, </a:t>
            </a:r>
            <a:r>
              <a:rPr lang="en-US" dirty="0" err="1"/>
              <a:t>где</a:t>
            </a:r>
            <a:r>
              <a:rPr lang="en-US" dirty="0"/>
              <a:t> </a:t>
            </a:r>
            <a:r>
              <a:rPr lang="en-US" dirty="0" err="1"/>
              <a:t>важны</a:t>
            </a:r>
            <a:r>
              <a:rPr lang="en-US" dirty="0"/>
              <a:t> </a:t>
            </a:r>
            <a:r>
              <a:rPr lang="en-US" dirty="0" err="1"/>
              <a:t>компактность</a:t>
            </a:r>
            <a:r>
              <a:rPr lang="en-US" dirty="0"/>
              <a:t>, </a:t>
            </a:r>
            <a:r>
              <a:rPr lang="en-US" dirty="0" err="1"/>
              <a:t>автономность</a:t>
            </a:r>
            <a:r>
              <a:rPr lang="en-US" dirty="0"/>
              <a:t> и </a:t>
            </a:r>
            <a:r>
              <a:rPr lang="en-US" dirty="0" err="1"/>
              <a:t>возможность</a:t>
            </a:r>
            <a:r>
              <a:rPr lang="en-US" dirty="0"/>
              <a:t> </a:t>
            </a:r>
            <a:r>
              <a:rPr lang="en-US" dirty="0" err="1"/>
              <a:t>непосредственного</a:t>
            </a:r>
            <a:r>
              <a:rPr lang="en-US" dirty="0"/>
              <a:t> </a:t>
            </a:r>
            <a:r>
              <a:rPr lang="en-US" dirty="0" err="1"/>
              <a:t>управления</a:t>
            </a:r>
            <a:r>
              <a:rPr lang="en-US" dirty="0"/>
              <a:t> </a:t>
            </a:r>
            <a:r>
              <a:rPr lang="en-US" dirty="0" err="1"/>
              <a:t>аппаратурой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такая</a:t>
            </a:r>
            <a:r>
              <a:rPr lang="en-US" dirty="0"/>
              <a:t> </a:t>
            </a:r>
            <a:r>
              <a:rPr lang="en-US" dirty="0" err="1"/>
              <a:t>интеграция</a:t>
            </a:r>
            <a:r>
              <a:rPr lang="en-US" dirty="0"/>
              <a:t> </a:t>
            </a:r>
            <a:r>
              <a:rPr lang="en-US" dirty="0" err="1"/>
              <a:t>сопровождается</a:t>
            </a:r>
            <a:r>
              <a:rPr lang="en-US" dirty="0"/>
              <a:t> и </a:t>
            </a:r>
            <a:r>
              <a:rPr lang="en-US" dirty="0" err="1"/>
              <a:t>рядом</a:t>
            </a:r>
            <a:r>
              <a:rPr lang="en-US" dirty="0"/>
              <a:t> </a:t>
            </a:r>
            <a:r>
              <a:rPr lang="en-US" dirty="0" err="1"/>
              <a:t>ограничений</a:t>
            </a:r>
            <a:r>
              <a:rPr lang="en-US" dirty="0"/>
              <a:t>. Объём </a:t>
            </a:r>
            <a:r>
              <a:rPr lang="en-US" dirty="0" err="1"/>
              <a:t>оперативной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и 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программ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невелик</a:t>
            </a:r>
            <a:r>
              <a:rPr lang="en-US" dirty="0"/>
              <a:t>, </a:t>
            </a:r>
            <a:r>
              <a:rPr lang="en-US" dirty="0" err="1"/>
              <a:t>вычислительная</a:t>
            </a:r>
            <a:r>
              <a:rPr lang="en-US" dirty="0"/>
              <a:t> </a:t>
            </a:r>
            <a:r>
              <a:rPr lang="en-US" dirty="0" err="1"/>
              <a:t>производительность</a:t>
            </a:r>
            <a:r>
              <a:rPr lang="en-US" dirty="0"/>
              <a:t> </a:t>
            </a:r>
            <a:r>
              <a:rPr lang="en-US" dirty="0" err="1"/>
              <a:t>существенно</a:t>
            </a:r>
            <a:r>
              <a:rPr lang="en-US" dirty="0"/>
              <a:t> </a:t>
            </a:r>
            <a:r>
              <a:rPr lang="en-US" dirty="0" err="1"/>
              <a:t>ниже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сравнению</a:t>
            </a:r>
            <a:r>
              <a:rPr lang="en-US" dirty="0"/>
              <a:t> с </a:t>
            </a:r>
            <a:r>
              <a:rPr lang="en-US" dirty="0" err="1"/>
              <a:t>процессорами</a:t>
            </a:r>
            <a:r>
              <a:rPr lang="en-US" dirty="0"/>
              <a:t> </a:t>
            </a:r>
            <a:r>
              <a:rPr lang="en-US" dirty="0" err="1"/>
              <a:t>общего</a:t>
            </a:r>
            <a:r>
              <a:rPr lang="en-US" dirty="0"/>
              <a:t> </a:t>
            </a:r>
            <a:r>
              <a:rPr lang="en-US" dirty="0" err="1"/>
              <a:t>назначения</a:t>
            </a:r>
            <a:r>
              <a:rPr lang="en-US" dirty="0"/>
              <a:t>, а </a:t>
            </a:r>
            <a:r>
              <a:rPr lang="en-US" dirty="0" err="1"/>
              <a:t>аппаратные</a:t>
            </a:r>
            <a:r>
              <a:rPr lang="en-US" dirty="0"/>
              <a:t> </a:t>
            </a:r>
            <a:r>
              <a:rPr lang="en-US" dirty="0" err="1"/>
              <a:t>ресурсы</a:t>
            </a:r>
            <a:r>
              <a:rPr lang="en-US" dirty="0"/>
              <a:t> </a:t>
            </a:r>
            <a:r>
              <a:rPr lang="en-US" dirty="0" err="1"/>
              <a:t>строго</a:t>
            </a:r>
            <a:r>
              <a:rPr lang="en-US" dirty="0"/>
              <a:t> </a:t>
            </a:r>
            <a:r>
              <a:rPr lang="en-US" dirty="0" err="1"/>
              <a:t>ограничены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этой</a:t>
            </a:r>
            <a:r>
              <a:rPr lang="en-US" dirty="0"/>
              <a:t> </a:t>
            </a:r>
            <a:r>
              <a:rPr lang="en-US" dirty="0" err="1"/>
              <a:t>причине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разработке</a:t>
            </a:r>
            <a:r>
              <a:rPr lang="en-US" dirty="0"/>
              <a:t> </a:t>
            </a:r>
            <a:r>
              <a:rPr lang="en-US" dirty="0" err="1"/>
              <a:t>программного</a:t>
            </a:r>
            <a:r>
              <a:rPr lang="en-US" dirty="0"/>
              <a:t> </a:t>
            </a:r>
            <a:r>
              <a:rPr lang="en-US" dirty="0" err="1"/>
              <a:t>обеспечения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микроконтроллеров</a:t>
            </a:r>
            <a:r>
              <a:rPr lang="en-US" dirty="0"/>
              <a:t> </a:t>
            </a:r>
            <a:r>
              <a:rPr lang="en-US" dirty="0" err="1"/>
              <a:t>особое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приобретают</a:t>
            </a:r>
            <a:r>
              <a:rPr lang="en-US" dirty="0"/>
              <a:t> </a:t>
            </a:r>
            <a:r>
              <a:rPr lang="en-US" dirty="0" err="1"/>
              <a:t>эффективное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, </a:t>
            </a:r>
            <a:r>
              <a:rPr lang="en-US" dirty="0" err="1"/>
              <a:t>контроль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и </a:t>
            </a:r>
            <a:r>
              <a:rPr lang="en-US" dirty="0" err="1"/>
              <a:t>понимание</a:t>
            </a:r>
            <a:r>
              <a:rPr lang="en-US" dirty="0"/>
              <a:t> </a:t>
            </a:r>
            <a:r>
              <a:rPr lang="en-US" dirty="0" err="1"/>
              <a:t>аппаратной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949633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</a:t>
            </a:r>
            <a:r>
              <a:rPr lang="en-US" dirty="0" err="1"/>
              <a:t>качестве</a:t>
            </a:r>
            <a:r>
              <a:rPr lang="en-US" dirty="0"/>
              <a:t> </a:t>
            </a:r>
            <a:r>
              <a:rPr lang="en-US" dirty="0" err="1"/>
              <a:t>платформы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дальнейшего</a:t>
            </a:r>
            <a:r>
              <a:rPr lang="en-US" dirty="0"/>
              <a:t> </a:t>
            </a:r>
            <a:r>
              <a:rPr lang="en-US" dirty="0" err="1"/>
              <a:t>изучения</a:t>
            </a:r>
            <a:r>
              <a:rPr lang="en-US" dirty="0"/>
              <a:t> </a:t>
            </a:r>
            <a:r>
              <a:rPr lang="en-US" dirty="0" err="1"/>
              <a:t>микроконтроллеров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будем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архитектуру</a:t>
            </a:r>
            <a:r>
              <a:rPr lang="en-US" dirty="0"/>
              <a:t> AVR.</a:t>
            </a:r>
            <a:endParaRPr lang="ru-RU" dirty="0"/>
          </a:p>
          <a:p>
            <a:endParaRPr lang="en-US" dirty="0"/>
          </a:p>
          <a:p>
            <a:r>
              <a:rPr lang="en-US" dirty="0"/>
              <a:t>AVR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семейство</a:t>
            </a:r>
            <a:r>
              <a:rPr lang="en-US" dirty="0"/>
              <a:t> 8-битных </a:t>
            </a:r>
            <a:r>
              <a:rPr lang="en-US" dirty="0" err="1"/>
              <a:t>микроконтроллеров</a:t>
            </a:r>
            <a:r>
              <a:rPr lang="en-US" dirty="0"/>
              <a:t>, </a:t>
            </a:r>
            <a:r>
              <a:rPr lang="en-US" dirty="0" err="1"/>
              <a:t>первоначально</a:t>
            </a:r>
            <a:r>
              <a:rPr lang="en-US" dirty="0"/>
              <a:t> </a:t>
            </a:r>
            <a:r>
              <a:rPr lang="en-US" dirty="0" err="1"/>
              <a:t>разработанное</a:t>
            </a:r>
            <a:r>
              <a:rPr lang="en-US" dirty="0"/>
              <a:t> </a:t>
            </a:r>
            <a:r>
              <a:rPr lang="en-US" dirty="0" err="1"/>
              <a:t>компанией</a:t>
            </a:r>
            <a:r>
              <a:rPr lang="en-US" dirty="0"/>
              <a:t> Atmel, </a:t>
            </a:r>
            <a:r>
              <a:rPr lang="en-US" dirty="0" err="1"/>
              <a:t>которая</a:t>
            </a:r>
            <a:r>
              <a:rPr lang="en-US" dirty="0"/>
              <a:t> </a:t>
            </a:r>
            <a:r>
              <a:rPr lang="en-US" dirty="0" err="1"/>
              <a:t>позднее</a:t>
            </a:r>
            <a:r>
              <a:rPr lang="en-US" dirty="0"/>
              <a:t> </a:t>
            </a:r>
            <a:r>
              <a:rPr lang="en-US" dirty="0" err="1"/>
              <a:t>стала</a:t>
            </a:r>
            <a:r>
              <a:rPr lang="en-US" dirty="0"/>
              <a:t> </a:t>
            </a:r>
            <a:r>
              <a:rPr lang="en-US" dirty="0" err="1"/>
              <a:t>частью</a:t>
            </a:r>
            <a:r>
              <a:rPr lang="en-US" dirty="0"/>
              <a:t> Microchip Technology.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Микроконтроллеры</a:t>
            </a:r>
            <a:r>
              <a:rPr lang="en-US" dirty="0"/>
              <a:t> AVR </a:t>
            </a:r>
            <a:r>
              <a:rPr lang="en-US" dirty="0" err="1"/>
              <a:t>получили</a:t>
            </a:r>
            <a:r>
              <a:rPr lang="en-US" dirty="0"/>
              <a:t> </a:t>
            </a:r>
            <a:r>
              <a:rPr lang="en-US" dirty="0" err="1"/>
              <a:t>широкое</a:t>
            </a:r>
            <a:r>
              <a:rPr lang="en-US" dirty="0"/>
              <a:t> </a:t>
            </a:r>
            <a:r>
              <a:rPr lang="en-US" dirty="0" err="1"/>
              <a:t>распространение</a:t>
            </a:r>
            <a:r>
              <a:rPr lang="en-US" dirty="0"/>
              <a:t> </a:t>
            </a:r>
            <a:r>
              <a:rPr lang="en-US" dirty="0" err="1"/>
              <a:t>благодаря</a:t>
            </a:r>
            <a:r>
              <a:rPr lang="en-US" dirty="0"/>
              <a:t> </a:t>
            </a:r>
            <a:r>
              <a:rPr lang="en-US" dirty="0" err="1"/>
              <a:t>относительно</a:t>
            </a:r>
            <a:r>
              <a:rPr lang="en-US" dirty="0"/>
              <a:t> </a:t>
            </a:r>
            <a:r>
              <a:rPr lang="en-US" dirty="0" err="1"/>
              <a:t>простой</a:t>
            </a:r>
            <a:r>
              <a:rPr lang="en-US" dirty="0"/>
              <a:t> </a:t>
            </a:r>
            <a:r>
              <a:rPr lang="en-US" dirty="0" err="1"/>
              <a:t>архитектуре</a:t>
            </a:r>
            <a:r>
              <a:rPr lang="en-US" dirty="0"/>
              <a:t>, </a:t>
            </a:r>
            <a:r>
              <a:rPr lang="en-US" dirty="0" err="1"/>
              <a:t>доступности</a:t>
            </a:r>
            <a:r>
              <a:rPr lang="en-US" dirty="0"/>
              <a:t> и </a:t>
            </a:r>
            <a:r>
              <a:rPr lang="en-US" dirty="0" err="1"/>
              <a:t>большому</a:t>
            </a:r>
            <a:r>
              <a:rPr lang="en-US" dirty="0"/>
              <a:t> </a:t>
            </a:r>
            <a:r>
              <a:rPr lang="en-US" dirty="0" err="1"/>
              <a:t>количеству</a:t>
            </a:r>
            <a:r>
              <a:rPr lang="en-US" dirty="0"/>
              <a:t> </a:t>
            </a:r>
            <a:r>
              <a:rPr lang="en-US" dirty="0" err="1"/>
              <a:t>учебных</a:t>
            </a:r>
            <a:r>
              <a:rPr lang="en-US" dirty="0"/>
              <a:t> </a:t>
            </a:r>
            <a:r>
              <a:rPr lang="en-US" dirty="0" err="1"/>
              <a:t>платформ</a:t>
            </a:r>
            <a:r>
              <a:rPr lang="en-US" dirty="0"/>
              <a:t>, </a:t>
            </a:r>
            <a:r>
              <a:rPr lang="en-US" dirty="0" err="1"/>
              <a:t>включая</a:t>
            </a:r>
            <a:r>
              <a:rPr lang="en-US" dirty="0"/>
              <a:t> Arduino.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Архитектура</a:t>
            </a:r>
            <a:r>
              <a:rPr lang="en-US" dirty="0"/>
              <a:t> AVR </a:t>
            </a:r>
            <a:r>
              <a:rPr lang="en-US" dirty="0" err="1"/>
              <a:t>относится</a:t>
            </a:r>
            <a:r>
              <a:rPr lang="en-US" dirty="0"/>
              <a:t> к </a:t>
            </a:r>
            <a:r>
              <a:rPr lang="en-US" dirty="0" err="1"/>
              <a:t>классу</a:t>
            </a:r>
            <a:r>
              <a:rPr lang="en-US" dirty="0"/>
              <a:t> RISC — Reduced Instruction Set Computer.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означает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набор</a:t>
            </a:r>
            <a:r>
              <a:rPr lang="en-US" dirty="0"/>
              <a:t> </a:t>
            </a:r>
            <a:r>
              <a:rPr lang="en-US" dirty="0" err="1"/>
              <a:t>инструкций</a:t>
            </a:r>
            <a:r>
              <a:rPr lang="en-US" dirty="0"/>
              <a:t> </a:t>
            </a:r>
            <a:r>
              <a:rPr lang="en-US" dirty="0" err="1"/>
              <a:t>сравнительно</a:t>
            </a:r>
            <a:r>
              <a:rPr lang="en-US" dirty="0"/>
              <a:t> </a:t>
            </a:r>
            <a:r>
              <a:rPr lang="en-US" dirty="0" err="1"/>
              <a:t>невелик</a:t>
            </a:r>
            <a:r>
              <a:rPr lang="en-US" dirty="0"/>
              <a:t> и </a:t>
            </a:r>
            <a:r>
              <a:rPr lang="en-US" dirty="0" err="1"/>
              <a:t>ориентирован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быстрое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 </a:t>
            </a:r>
            <a:r>
              <a:rPr lang="en-US" dirty="0" err="1"/>
              <a:t>простых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характерных</a:t>
            </a:r>
            <a:r>
              <a:rPr lang="en-US" dirty="0"/>
              <a:t> </a:t>
            </a:r>
            <a:r>
              <a:rPr lang="en-US" dirty="0" err="1"/>
              <a:t>особенностей</a:t>
            </a:r>
            <a:r>
              <a:rPr lang="en-US" dirty="0"/>
              <a:t> AVR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наличие</a:t>
            </a:r>
            <a:r>
              <a:rPr lang="en-US" dirty="0"/>
              <a:t> </a:t>
            </a:r>
            <a:r>
              <a:rPr lang="en-US" dirty="0" err="1"/>
              <a:t>большого</a:t>
            </a:r>
            <a:r>
              <a:rPr lang="en-US" dirty="0"/>
              <a:t> </a:t>
            </a:r>
            <a:r>
              <a:rPr lang="en-US" dirty="0" err="1"/>
              <a:t>количества</a:t>
            </a:r>
            <a:r>
              <a:rPr lang="en-US" dirty="0"/>
              <a:t> </a:t>
            </a:r>
            <a:r>
              <a:rPr lang="en-US" dirty="0" err="1"/>
              <a:t>регистров</a:t>
            </a:r>
            <a:r>
              <a:rPr lang="en-US" dirty="0"/>
              <a:t> </a:t>
            </a:r>
            <a:r>
              <a:rPr lang="en-US" dirty="0" err="1"/>
              <a:t>общего</a:t>
            </a:r>
            <a:r>
              <a:rPr lang="en-US" dirty="0"/>
              <a:t> </a:t>
            </a:r>
            <a:r>
              <a:rPr lang="en-US" dirty="0" err="1"/>
              <a:t>назначения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эффективно</a:t>
            </a:r>
            <a:r>
              <a:rPr lang="en-US" dirty="0"/>
              <a:t>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постоянного</a:t>
            </a:r>
            <a:r>
              <a:rPr lang="en-US" dirty="0"/>
              <a:t> </a:t>
            </a:r>
            <a:r>
              <a:rPr lang="en-US" dirty="0" err="1"/>
              <a:t>обращения</a:t>
            </a:r>
            <a:r>
              <a:rPr lang="en-US" dirty="0"/>
              <a:t> к </a:t>
            </a:r>
            <a:r>
              <a:rPr lang="en-US" dirty="0" err="1"/>
              <a:t>памяти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AVR </a:t>
            </a:r>
            <a:r>
              <a:rPr lang="en-US" dirty="0" err="1"/>
              <a:t>широко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в embedded systems, </a:t>
            </a:r>
            <a:r>
              <a:rPr lang="en-US" dirty="0" err="1"/>
              <a:t>где</a:t>
            </a:r>
            <a:r>
              <a:rPr lang="en-US" dirty="0"/>
              <a:t> </a:t>
            </a:r>
            <a:r>
              <a:rPr lang="en-US" dirty="0" err="1"/>
              <a:t>важны</a:t>
            </a:r>
            <a:r>
              <a:rPr lang="en-US" dirty="0"/>
              <a:t> </a:t>
            </a:r>
            <a:r>
              <a:rPr lang="en-US" dirty="0" err="1"/>
              <a:t>низкое</a:t>
            </a:r>
            <a:r>
              <a:rPr lang="en-US" dirty="0"/>
              <a:t> </a:t>
            </a:r>
            <a:r>
              <a:rPr lang="en-US" dirty="0" err="1"/>
              <a:t>энергопотребление</a:t>
            </a:r>
            <a:r>
              <a:rPr lang="en-US" dirty="0"/>
              <a:t>, </a:t>
            </a:r>
            <a:r>
              <a:rPr lang="en-US" dirty="0" err="1"/>
              <a:t>предсказуемость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и </a:t>
            </a:r>
            <a:r>
              <a:rPr lang="en-US" dirty="0" err="1"/>
              <a:t>простота</a:t>
            </a:r>
            <a:r>
              <a:rPr lang="en-US" dirty="0"/>
              <a:t> </a:t>
            </a:r>
            <a:r>
              <a:rPr lang="en-US" dirty="0" err="1"/>
              <a:t>аппаратной</a:t>
            </a:r>
            <a:r>
              <a:rPr lang="en-US" dirty="0"/>
              <a:t> </a:t>
            </a:r>
            <a:r>
              <a:rPr lang="en-US" dirty="0" err="1"/>
              <a:t>интеграции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326396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ключевых</a:t>
            </a:r>
            <a:r>
              <a:rPr lang="en-US" dirty="0"/>
              <a:t> </a:t>
            </a:r>
            <a:r>
              <a:rPr lang="en-US" dirty="0" err="1"/>
              <a:t>особенностей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AVR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 Harvard architecture.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архитектуре</a:t>
            </a:r>
            <a:r>
              <a:rPr lang="en-US" dirty="0"/>
              <a:t> </a:t>
            </a:r>
            <a:r>
              <a:rPr lang="en-US" dirty="0" err="1"/>
              <a:t>фон</a:t>
            </a:r>
            <a:r>
              <a:rPr lang="en-US" dirty="0"/>
              <a:t> </a:t>
            </a:r>
            <a:r>
              <a:rPr lang="en-US" dirty="0" err="1"/>
              <a:t>Неймана</a:t>
            </a:r>
            <a:r>
              <a:rPr lang="en-US" dirty="0"/>
              <a:t>, </a:t>
            </a:r>
            <a:r>
              <a:rPr lang="en-US" dirty="0" err="1"/>
              <a:t>характерной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большинства</a:t>
            </a:r>
            <a:r>
              <a:rPr lang="en-US" dirty="0"/>
              <a:t> </a:t>
            </a:r>
            <a:r>
              <a:rPr lang="en-US" dirty="0" err="1"/>
              <a:t>современных</a:t>
            </a:r>
            <a:r>
              <a:rPr lang="en-US" dirty="0"/>
              <a:t> </a:t>
            </a:r>
            <a:r>
              <a:rPr lang="en-US" dirty="0" err="1"/>
              <a:t>процессоров</a:t>
            </a:r>
            <a:r>
              <a:rPr lang="en-US" dirty="0"/>
              <a:t> </a:t>
            </a:r>
            <a:r>
              <a:rPr lang="en-US" dirty="0" err="1"/>
              <a:t>общего</a:t>
            </a:r>
            <a:r>
              <a:rPr lang="en-US" dirty="0"/>
              <a:t> </a:t>
            </a:r>
            <a:r>
              <a:rPr lang="en-US" dirty="0" err="1"/>
              <a:t>назначения</a:t>
            </a:r>
            <a:r>
              <a:rPr lang="en-US" dirty="0"/>
              <a:t>, </a:t>
            </a:r>
            <a:r>
              <a:rPr lang="en-US" dirty="0" err="1"/>
              <a:t>программа</a:t>
            </a:r>
            <a:r>
              <a:rPr lang="en-US" dirty="0"/>
              <a:t> и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располагаются</a:t>
            </a:r>
            <a:r>
              <a:rPr lang="en-US" dirty="0"/>
              <a:t> в </a:t>
            </a:r>
            <a:r>
              <a:rPr lang="en-US" dirty="0" err="1"/>
              <a:t>едином</a:t>
            </a:r>
            <a:r>
              <a:rPr lang="en-US" dirty="0"/>
              <a:t> </a:t>
            </a:r>
            <a:r>
              <a:rPr lang="en-US" dirty="0" err="1"/>
              <a:t>адресном</a:t>
            </a:r>
            <a:r>
              <a:rPr lang="en-US" dirty="0"/>
              <a:t> </a:t>
            </a:r>
            <a:r>
              <a:rPr lang="en-US" dirty="0" err="1"/>
              <a:t>пространстве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Harvard architecture </a:t>
            </a:r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программ</a:t>
            </a:r>
            <a:r>
              <a:rPr lang="en-US" dirty="0"/>
              <a:t> и </a:t>
            </a:r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физически</a:t>
            </a:r>
            <a:r>
              <a:rPr lang="en-US" dirty="0"/>
              <a:t> </a:t>
            </a:r>
            <a:r>
              <a:rPr lang="en-US" dirty="0" err="1"/>
              <a:t>разделены</a:t>
            </a:r>
            <a:r>
              <a:rPr lang="en-US" dirty="0"/>
              <a:t>.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доступа</a:t>
            </a:r>
            <a:r>
              <a:rPr lang="en-US" dirty="0"/>
              <a:t> к </a:t>
            </a:r>
            <a:r>
              <a:rPr lang="en-US" dirty="0" err="1"/>
              <a:t>ним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независимые</a:t>
            </a:r>
            <a:r>
              <a:rPr lang="en-US" dirty="0"/>
              <a:t> </a:t>
            </a:r>
            <a:r>
              <a:rPr lang="en-US" dirty="0" err="1"/>
              <a:t>шины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означает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процессор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одновременно</a:t>
            </a:r>
            <a:r>
              <a:rPr lang="en-US" dirty="0"/>
              <a:t> </a:t>
            </a:r>
            <a:r>
              <a:rPr lang="en-US" dirty="0" err="1"/>
              <a:t>считывать</a:t>
            </a:r>
            <a:r>
              <a:rPr lang="en-US" dirty="0"/>
              <a:t> </a:t>
            </a:r>
            <a:r>
              <a:rPr lang="en-US" dirty="0" err="1"/>
              <a:t>очередную</a:t>
            </a:r>
            <a:r>
              <a:rPr lang="en-US" dirty="0"/>
              <a:t> </a:t>
            </a:r>
            <a:r>
              <a:rPr lang="en-US" dirty="0" err="1"/>
              <a:t>инструкцию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программ</a:t>
            </a:r>
            <a:r>
              <a:rPr lang="en-US" dirty="0"/>
              <a:t> и </a:t>
            </a:r>
            <a:r>
              <a:rPr lang="en-US" dirty="0" err="1"/>
              <a:t>работать</a:t>
            </a:r>
            <a:r>
              <a:rPr lang="en-US" dirty="0"/>
              <a:t> с </a:t>
            </a:r>
            <a:r>
              <a:rPr lang="en-US" dirty="0" err="1"/>
              <a:t>данными</a:t>
            </a:r>
            <a:r>
              <a:rPr lang="en-US" dirty="0"/>
              <a:t> в SRAM.</a:t>
            </a:r>
          </a:p>
          <a:p>
            <a:endParaRPr lang="en-US" dirty="0"/>
          </a:p>
          <a:p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</a:t>
            </a:r>
            <a:r>
              <a:rPr lang="en-US" dirty="0" err="1"/>
              <a:t>упрощает</a:t>
            </a:r>
            <a:r>
              <a:rPr lang="en-US" dirty="0"/>
              <a:t> </a:t>
            </a:r>
            <a:r>
              <a:rPr lang="en-US" dirty="0" err="1"/>
              <a:t>аппаратную</a:t>
            </a:r>
            <a:r>
              <a:rPr lang="en-US" dirty="0"/>
              <a:t> </a:t>
            </a:r>
            <a:r>
              <a:rPr lang="en-US" dirty="0" err="1"/>
              <a:t>реализацию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и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повысить</a:t>
            </a:r>
            <a:r>
              <a:rPr lang="en-US" dirty="0"/>
              <a:t> </a:t>
            </a:r>
            <a:r>
              <a:rPr lang="en-US" dirty="0" err="1"/>
              <a:t>эффективность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инструкций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embedded-</a:t>
            </a:r>
            <a:r>
              <a:rPr lang="en-US" dirty="0" err="1"/>
              <a:t>систем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микроконтроллеры</a:t>
            </a:r>
            <a:r>
              <a:rPr lang="en-US" dirty="0"/>
              <a:t> </a:t>
            </a:r>
            <a:r>
              <a:rPr lang="en-US" dirty="0" err="1"/>
              <a:t>работают</a:t>
            </a:r>
            <a:r>
              <a:rPr lang="en-US" dirty="0"/>
              <a:t> в </a:t>
            </a:r>
            <a:r>
              <a:rPr lang="en-US" dirty="0" err="1"/>
              <a:t>условиях</a:t>
            </a:r>
            <a:r>
              <a:rPr lang="en-US" dirty="0"/>
              <a:t> </a:t>
            </a:r>
            <a:r>
              <a:rPr lang="en-US" dirty="0" err="1"/>
              <a:t>ограниченных</a:t>
            </a:r>
            <a:r>
              <a:rPr lang="en-US" dirty="0"/>
              <a:t> </a:t>
            </a:r>
            <a:r>
              <a:rPr lang="en-US" dirty="0" err="1"/>
              <a:t>аппаратных</a:t>
            </a:r>
            <a:r>
              <a:rPr lang="en-US" dirty="0"/>
              <a:t> </a:t>
            </a:r>
            <a:r>
              <a:rPr lang="en-US" dirty="0" err="1"/>
              <a:t>ресурсов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53314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Архитектура</a:t>
            </a:r>
            <a:r>
              <a:rPr lang="en-US" dirty="0"/>
              <a:t> AVR </a:t>
            </a:r>
            <a:r>
              <a:rPr lang="en-US" dirty="0" err="1"/>
              <a:t>использует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различных</a:t>
            </a:r>
            <a:r>
              <a:rPr lang="en-US" dirty="0"/>
              <a:t> </a:t>
            </a:r>
            <a:r>
              <a:rPr lang="en-US" dirty="0" err="1"/>
              <a:t>типов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, </a:t>
            </a:r>
            <a:r>
              <a:rPr lang="en-US" dirty="0" err="1"/>
              <a:t>предназначенных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разных</a:t>
            </a:r>
            <a:r>
              <a:rPr lang="en-US" dirty="0"/>
              <a:t> </a:t>
            </a:r>
            <a:r>
              <a:rPr lang="en-US" dirty="0" err="1"/>
              <a:t>задач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Flash memory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хранения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туда</a:t>
            </a:r>
            <a:r>
              <a:rPr lang="en-US" dirty="0"/>
              <a:t> </a:t>
            </a:r>
            <a:r>
              <a:rPr lang="en-US" dirty="0" err="1"/>
              <a:t>записывается</a:t>
            </a:r>
            <a:r>
              <a:rPr lang="en-US" dirty="0"/>
              <a:t> </a:t>
            </a:r>
            <a:r>
              <a:rPr lang="en-US" dirty="0" err="1"/>
              <a:t>прошивка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SRAM </a:t>
            </a:r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роль</a:t>
            </a:r>
            <a:r>
              <a:rPr lang="en-US" dirty="0"/>
              <a:t> </a:t>
            </a:r>
            <a:r>
              <a:rPr lang="en-US" dirty="0" err="1"/>
              <a:t>оперативной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 В </a:t>
            </a:r>
            <a:r>
              <a:rPr lang="en-US" dirty="0" err="1"/>
              <a:t>ней</a:t>
            </a:r>
            <a:r>
              <a:rPr lang="en-US" dirty="0"/>
              <a:t> </a:t>
            </a:r>
            <a:r>
              <a:rPr lang="en-US" dirty="0" err="1"/>
              <a:t>располагаются</a:t>
            </a:r>
            <a:r>
              <a:rPr lang="en-US" dirty="0"/>
              <a:t> </a:t>
            </a:r>
            <a:r>
              <a:rPr lang="en-US" dirty="0" err="1"/>
              <a:t>глобальные</a:t>
            </a:r>
            <a:r>
              <a:rPr lang="en-US" dirty="0"/>
              <a:t> </a:t>
            </a:r>
            <a:r>
              <a:rPr lang="en-US" dirty="0" err="1"/>
              <a:t>переменные</a:t>
            </a:r>
            <a:r>
              <a:rPr lang="en-US" dirty="0"/>
              <a:t>, </a:t>
            </a:r>
            <a:r>
              <a:rPr lang="en-US" dirty="0" err="1"/>
              <a:t>стек</a:t>
            </a:r>
            <a:r>
              <a:rPr lang="en-US" dirty="0"/>
              <a:t>, </a:t>
            </a:r>
            <a:r>
              <a:rPr lang="en-US" dirty="0" err="1"/>
              <a:t>временные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и </a:t>
            </a:r>
            <a:r>
              <a:rPr lang="en-US" dirty="0" err="1"/>
              <a:t>динамически</a:t>
            </a:r>
            <a:r>
              <a:rPr lang="en-US" dirty="0"/>
              <a:t> </a:t>
            </a:r>
            <a:r>
              <a:rPr lang="en-US" dirty="0" err="1"/>
              <a:t>выделяемая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EEPROM </a:t>
            </a:r>
            <a:r>
              <a:rPr lang="en-US" dirty="0" err="1"/>
              <a:t>представляет</a:t>
            </a:r>
            <a:r>
              <a:rPr lang="en-US" dirty="0"/>
              <a:t> </a:t>
            </a:r>
            <a:r>
              <a:rPr lang="en-US" dirty="0" err="1"/>
              <a:t>собой</a:t>
            </a:r>
            <a:r>
              <a:rPr lang="en-US" dirty="0"/>
              <a:t> </a:t>
            </a:r>
            <a:r>
              <a:rPr lang="en-US" dirty="0" err="1"/>
              <a:t>отдельный</a:t>
            </a:r>
            <a:r>
              <a:rPr lang="en-US" dirty="0"/>
              <a:t> </a:t>
            </a:r>
            <a:r>
              <a:rPr lang="en-US" dirty="0" err="1"/>
              <a:t>тип</a:t>
            </a:r>
            <a:r>
              <a:rPr lang="en-US" dirty="0"/>
              <a:t> </a:t>
            </a:r>
            <a:r>
              <a:rPr lang="en-US" dirty="0" err="1"/>
              <a:t>энергонезависимой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, </a:t>
            </a:r>
            <a:r>
              <a:rPr lang="en-US" dirty="0" err="1"/>
              <a:t>предназначенный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хранения</a:t>
            </a:r>
            <a:r>
              <a:rPr lang="en-US" dirty="0"/>
              <a:t> </a:t>
            </a:r>
            <a:r>
              <a:rPr lang="en-US" dirty="0" err="1"/>
              <a:t>небольших</a:t>
            </a:r>
            <a:r>
              <a:rPr lang="en-US" dirty="0"/>
              <a:t> </a:t>
            </a:r>
            <a:r>
              <a:rPr lang="en-US" dirty="0" err="1"/>
              <a:t>объёмов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перезагрузками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современных</a:t>
            </a:r>
            <a:r>
              <a:rPr lang="en-US" dirty="0"/>
              <a:t> </a:t>
            </a:r>
            <a:r>
              <a:rPr lang="en-US" dirty="0" err="1"/>
              <a:t>операционных</a:t>
            </a:r>
            <a:r>
              <a:rPr lang="en-US" dirty="0"/>
              <a:t> </a:t>
            </a:r>
            <a:r>
              <a:rPr lang="en-US" dirty="0" err="1"/>
              <a:t>систем</a:t>
            </a:r>
            <a:r>
              <a:rPr lang="en-US" dirty="0"/>
              <a:t>, </a:t>
            </a:r>
            <a:r>
              <a:rPr lang="en-US" dirty="0" err="1"/>
              <a:t>микроконтроллеры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используют</a:t>
            </a:r>
            <a:r>
              <a:rPr lang="en-US" dirty="0"/>
              <a:t> </a:t>
            </a:r>
            <a:r>
              <a:rPr lang="en-US" dirty="0" err="1"/>
              <a:t>виртуальную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механизмы</a:t>
            </a:r>
            <a:r>
              <a:rPr lang="en-US" dirty="0"/>
              <a:t> </a:t>
            </a:r>
            <a:r>
              <a:rPr lang="en-US" dirty="0" err="1"/>
              <a:t>защиты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с </a:t>
            </a:r>
            <a:r>
              <a:rPr lang="en-US" dirty="0" err="1"/>
              <a:t>физической</a:t>
            </a:r>
            <a:r>
              <a:rPr lang="en-US" dirty="0"/>
              <a:t> </a:t>
            </a:r>
            <a:r>
              <a:rPr lang="en-US" dirty="0" err="1"/>
              <a:t>памятью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Из-за</a:t>
            </a:r>
            <a:r>
              <a:rPr lang="en-US" dirty="0"/>
              <a:t> </a:t>
            </a:r>
            <a:r>
              <a:rPr lang="en-US" dirty="0" err="1"/>
              <a:t>ограниченного</a:t>
            </a:r>
            <a:r>
              <a:rPr lang="en-US" dirty="0"/>
              <a:t> </a:t>
            </a:r>
            <a:r>
              <a:rPr lang="en-US" dirty="0" err="1"/>
              <a:t>объёма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embedded-</a:t>
            </a:r>
            <a:r>
              <a:rPr lang="en-US" dirty="0" err="1"/>
              <a:t>разработчику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внимательно</a:t>
            </a:r>
            <a:r>
              <a:rPr lang="en-US" dirty="0"/>
              <a:t> </a:t>
            </a:r>
            <a:r>
              <a:rPr lang="en-US" dirty="0" err="1"/>
              <a:t>контролировать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en-US" dirty="0" err="1"/>
              <a:t>ресурсов</a:t>
            </a:r>
            <a:r>
              <a:rPr lang="en-US" dirty="0"/>
              <a:t> и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где</a:t>
            </a:r>
            <a:r>
              <a:rPr lang="en-US" dirty="0"/>
              <a:t> и </a:t>
            </a:r>
            <a:r>
              <a:rPr lang="en-US" dirty="0" err="1"/>
              <a:t>каким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 </a:t>
            </a:r>
            <a:r>
              <a:rPr lang="en-US" dirty="0" err="1"/>
              <a:t>размещаются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729504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Архитектура</a:t>
            </a:r>
            <a:r>
              <a:rPr lang="en-US" dirty="0"/>
              <a:t> AVR </a:t>
            </a:r>
            <a:r>
              <a:rPr lang="en-US" dirty="0" err="1"/>
              <a:t>содержит</a:t>
            </a:r>
            <a:r>
              <a:rPr lang="en-US" dirty="0"/>
              <a:t> 32 </a:t>
            </a:r>
            <a:r>
              <a:rPr lang="en-US" dirty="0" err="1"/>
              <a:t>регистра</a:t>
            </a:r>
            <a:r>
              <a:rPr lang="en-US" dirty="0"/>
              <a:t> </a:t>
            </a:r>
            <a:r>
              <a:rPr lang="en-US" dirty="0" err="1"/>
              <a:t>общего</a:t>
            </a:r>
            <a:r>
              <a:rPr lang="en-US" dirty="0"/>
              <a:t> </a:t>
            </a:r>
            <a:r>
              <a:rPr lang="en-US" dirty="0" err="1"/>
              <a:t>назначения</a:t>
            </a:r>
            <a:r>
              <a:rPr lang="en-US" dirty="0"/>
              <a:t>, </a:t>
            </a:r>
            <a:r>
              <a:rPr lang="en-US" dirty="0" err="1"/>
              <a:t>обозначаемых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R0–R31.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Для</a:t>
            </a:r>
            <a:r>
              <a:rPr lang="en-US" dirty="0"/>
              <a:t> 8-битного </a:t>
            </a:r>
            <a:r>
              <a:rPr lang="en-US" dirty="0" err="1"/>
              <a:t>микроконтроллера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достаточно</a:t>
            </a:r>
            <a:r>
              <a:rPr lang="en-US" dirty="0"/>
              <a:t> </a:t>
            </a:r>
            <a:r>
              <a:rPr lang="en-US" dirty="0" err="1"/>
              <a:t>большое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регистров</a:t>
            </a:r>
            <a:r>
              <a:rPr lang="en-US" dirty="0"/>
              <a:t>, и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причин</a:t>
            </a:r>
            <a:r>
              <a:rPr lang="en-US" dirty="0"/>
              <a:t> </a:t>
            </a:r>
            <a:r>
              <a:rPr lang="en-US" dirty="0" err="1"/>
              <a:t>высокой</a:t>
            </a:r>
            <a:r>
              <a:rPr lang="en-US" dirty="0"/>
              <a:t> </a:t>
            </a:r>
            <a:r>
              <a:rPr lang="en-US" dirty="0" err="1"/>
              <a:t>эффективности</a:t>
            </a:r>
            <a:r>
              <a:rPr lang="en-US" dirty="0"/>
              <a:t> AVR.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Большинство</a:t>
            </a:r>
            <a:r>
              <a:rPr lang="en-US" dirty="0"/>
              <a:t> </a:t>
            </a:r>
            <a:r>
              <a:rPr lang="en-US" dirty="0" err="1"/>
              <a:t>арифметических</a:t>
            </a:r>
            <a:r>
              <a:rPr lang="en-US" dirty="0"/>
              <a:t> и </a:t>
            </a:r>
            <a:r>
              <a:rPr lang="en-US" dirty="0" err="1"/>
              <a:t>логических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</a:t>
            </a:r>
            <a:r>
              <a:rPr lang="en-US" dirty="0" err="1"/>
              <a:t>над</a:t>
            </a:r>
            <a:r>
              <a:rPr lang="en-US" dirty="0"/>
              <a:t> </a:t>
            </a:r>
            <a:r>
              <a:rPr lang="en-US" dirty="0" err="1"/>
              <a:t>регистрами</a:t>
            </a:r>
            <a:r>
              <a:rPr lang="en-US" dirty="0"/>
              <a:t>. </a:t>
            </a:r>
            <a:r>
              <a:rPr lang="en-US" dirty="0" err="1"/>
              <a:t>Благодаря</a:t>
            </a:r>
            <a:r>
              <a:rPr lang="en-US" dirty="0"/>
              <a:t> </a:t>
            </a:r>
            <a:r>
              <a:rPr lang="en-US" dirty="0" err="1"/>
              <a:t>этому</a:t>
            </a:r>
            <a:r>
              <a:rPr lang="en-US" dirty="0"/>
              <a:t> </a:t>
            </a:r>
            <a:r>
              <a:rPr lang="en-US" dirty="0" err="1"/>
              <a:t>многие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выполняться</a:t>
            </a:r>
            <a:r>
              <a:rPr lang="en-US" dirty="0"/>
              <a:t> </a:t>
            </a:r>
            <a:r>
              <a:rPr lang="en-US" dirty="0" err="1"/>
              <a:t>всего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такт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Некоторые</a:t>
            </a:r>
            <a:r>
              <a:rPr lang="en-US" dirty="0"/>
              <a:t> </a:t>
            </a:r>
            <a:r>
              <a:rPr lang="en-US" dirty="0" err="1"/>
              <a:t>пары</a:t>
            </a:r>
            <a:r>
              <a:rPr lang="en-US" dirty="0"/>
              <a:t> </a:t>
            </a:r>
            <a:r>
              <a:rPr lang="en-US" dirty="0" err="1"/>
              <a:t>регистров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16-битные </a:t>
            </a:r>
            <a:r>
              <a:rPr lang="en-US" dirty="0" err="1"/>
              <a:t>указатели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регистры</a:t>
            </a:r>
            <a:r>
              <a:rPr lang="en-US" dirty="0"/>
              <a:t> X, Y и Z </a:t>
            </a:r>
            <a:r>
              <a:rPr lang="en-US" dirty="0" err="1"/>
              <a:t>применяются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адресации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работе</a:t>
            </a:r>
            <a:r>
              <a:rPr lang="en-US" dirty="0"/>
              <a:t> с </a:t>
            </a:r>
            <a:r>
              <a:rPr lang="en-US" dirty="0" err="1"/>
              <a:t>массивами</a:t>
            </a:r>
            <a:r>
              <a:rPr lang="en-US" dirty="0"/>
              <a:t>, </a:t>
            </a:r>
            <a:r>
              <a:rPr lang="en-US" dirty="0" err="1"/>
              <a:t>строками</a:t>
            </a:r>
            <a:r>
              <a:rPr lang="en-US" dirty="0"/>
              <a:t> и </a:t>
            </a:r>
            <a:r>
              <a:rPr lang="en-US" dirty="0" err="1"/>
              <a:t>структурами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многие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AVR </a:t>
            </a:r>
            <a:r>
              <a:rPr lang="en-US" dirty="0" err="1"/>
              <a:t>ориентированы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ru-RU" dirty="0"/>
              <a:t>указателей</a:t>
            </a:r>
          </a:p>
          <a:p>
            <a:endParaRPr lang="en-US" dirty="0"/>
          </a:p>
          <a:p>
            <a:r>
              <a:rPr lang="en-US" dirty="0" err="1"/>
              <a:t>Здесь</a:t>
            </a:r>
            <a:r>
              <a:rPr lang="en-US" dirty="0"/>
              <a:t>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заметить</a:t>
            </a:r>
            <a:r>
              <a:rPr lang="en-US" dirty="0"/>
              <a:t> </a:t>
            </a:r>
            <a:r>
              <a:rPr lang="en-US" dirty="0" err="1"/>
              <a:t>связь</a:t>
            </a:r>
            <a:r>
              <a:rPr lang="en-US" dirty="0"/>
              <a:t> с </a:t>
            </a:r>
            <a:r>
              <a:rPr lang="en-US" dirty="0" err="1"/>
              <a:t>темами</a:t>
            </a:r>
            <a:r>
              <a:rPr lang="en-US" dirty="0"/>
              <a:t> </a:t>
            </a:r>
            <a:r>
              <a:rPr lang="en-US" dirty="0" err="1"/>
              <a:t>указателей</a:t>
            </a:r>
            <a:r>
              <a:rPr lang="en-US" dirty="0"/>
              <a:t> и </a:t>
            </a:r>
            <a:r>
              <a:rPr lang="en-US" dirty="0" err="1"/>
              <a:t>адресной</a:t>
            </a:r>
            <a:r>
              <a:rPr lang="en-US" dirty="0"/>
              <a:t> </a:t>
            </a:r>
            <a:r>
              <a:rPr lang="en-US" dirty="0" err="1"/>
              <a:t>арифметики</a:t>
            </a:r>
            <a:r>
              <a:rPr lang="en-US" dirty="0"/>
              <a:t>,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изучались</a:t>
            </a:r>
            <a:r>
              <a:rPr lang="en-US" dirty="0"/>
              <a:t> </a:t>
            </a:r>
            <a:r>
              <a:rPr lang="en-US" dirty="0" err="1"/>
              <a:t>ранее</a:t>
            </a:r>
            <a:r>
              <a:rPr lang="en-US" dirty="0"/>
              <a:t> в </a:t>
            </a:r>
            <a:r>
              <a:rPr lang="en-US" dirty="0" err="1"/>
              <a:t>курсе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760207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Система</a:t>
            </a:r>
            <a:r>
              <a:rPr lang="en-US" dirty="0"/>
              <a:t> </a:t>
            </a:r>
            <a:r>
              <a:rPr lang="en-US" dirty="0" err="1"/>
              <a:t>команд</a:t>
            </a:r>
            <a:r>
              <a:rPr lang="en-US" dirty="0"/>
              <a:t> AVR </a:t>
            </a:r>
            <a:r>
              <a:rPr lang="en-US" dirty="0" err="1"/>
              <a:t>относительно</a:t>
            </a:r>
            <a:r>
              <a:rPr lang="en-US" dirty="0"/>
              <a:t> </a:t>
            </a:r>
            <a:r>
              <a:rPr lang="en-US" dirty="0" err="1"/>
              <a:t>компактна</a:t>
            </a:r>
            <a:r>
              <a:rPr lang="en-US" dirty="0"/>
              <a:t> и </a:t>
            </a:r>
            <a:r>
              <a:rPr lang="en-US" dirty="0" err="1"/>
              <a:t>ориентирована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эффективное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 </a:t>
            </a:r>
            <a:r>
              <a:rPr lang="en-US" dirty="0" err="1"/>
              <a:t>простых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, </a:t>
            </a:r>
            <a:r>
              <a:rPr lang="en-US" dirty="0" err="1"/>
              <a:t>характерных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embedded-</a:t>
            </a:r>
            <a:r>
              <a:rPr lang="en-US" dirty="0" err="1"/>
              <a:t>систем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Инструкции</a:t>
            </a:r>
            <a:r>
              <a:rPr lang="en-US" dirty="0"/>
              <a:t> AVR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условно</a:t>
            </a:r>
            <a:r>
              <a:rPr lang="en-US" dirty="0"/>
              <a:t> </a:t>
            </a:r>
            <a:r>
              <a:rPr lang="en-US" dirty="0" err="1"/>
              <a:t>разделить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основных</a:t>
            </a:r>
            <a:r>
              <a:rPr lang="en-US" dirty="0"/>
              <a:t> </a:t>
            </a:r>
            <a:r>
              <a:rPr lang="en-US" dirty="0" err="1"/>
              <a:t>групп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копирования</a:t>
            </a:r>
            <a:r>
              <a:rPr lang="en-US" dirty="0"/>
              <a:t> </a:t>
            </a:r>
            <a:r>
              <a:rPr lang="en-US" dirty="0" err="1"/>
              <a:t>значений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регистрами</a:t>
            </a:r>
            <a:r>
              <a:rPr lang="en-US" dirty="0"/>
              <a:t> и </a:t>
            </a:r>
            <a:r>
              <a:rPr lang="en-US" dirty="0" err="1"/>
              <a:t>памятью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LD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ST</a:t>
            </a:r>
            <a:r>
              <a:rPr lang="en-US" dirty="0"/>
              <a:t> </a:t>
            </a:r>
            <a:r>
              <a:rPr lang="en-US" dirty="0" err="1"/>
              <a:t>выполняют</a:t>
            </a:r>
            <a:r>
              <a:rPr lang="en-US" dirty="0"/>
              <a:t> </a:t>
            </a:r>
            <a:r>
              <a:rPr lang="en-US" dirty="0" err="1"/>
              <a:t>загрузку</a:t>
            </a:r>
            <a:r>
              <a:rPr lang="en-US" dirty="0"/>
              <a:t> и </a:t>
            </a:r>
            <a:r>
              <a:rPr lang="en-US" dirty="0" err="1"/>
              <a:t>сохранение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ru-RU" dirty="0"/>
              <a:t>регистры-указатели</a:t>
            </a:r>
            <a:r>
              <a:rPr lang="en-US" dirty="0"/>
              <a:t>, а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LDI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загрузить</a:t>
            </a:r>
            <a:r>
              <a:rPr lang="en-US" dirty="0"/>
              <a:t> </a:t>
            </a:r>
            <a:r>
              <a:rPr lang="en-US" dirty="0" err="1"/>
              <a:t>непосредственное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в </a:t>
            </a:r>
            <a:r>
              <a:rPr lang="en-US" dirty="0" err="1"/>
              <a:t>регистр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Арифметические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dirty="0" err="1"/>
              <a:t>выполняют</a:t>
            </a:r>
            <a:r>
              <a:rPr lang="en-US" dirty="0"/>
              <a:t> </a:t>
            </a:r>
            <a:r>
              <a:rPr lang="en-US" dirty="0" err="1"/>
              <a:t>сложение</a:t>
            </a:r>
            <a:r>
              <a:rPr lang="en-US" dirty="0"/>
              <a:t>, </a:t>
            </a:r>
            <a:r>
              <a:rPr lang="en-US" dirty="0" err="1"/>
              <a:t>вычитание</a:t>
            </a:r>
            <a:r>
              <a:rPr lang="en-US" dirty="0"/>
              <a:t>, </a:t>
            </a:r>
            <a:r>
              <a:rPr lang="en-US" dirty="0" err="1"/>
              <a:t>инкремент</a:t>
            </a:r>
            <a:r>
              <a:rPr lang="en-US" dirty="0"/>
              <a:t> и </a:t>
            </a:r>
            <a:r>
              <a:rPr lang="en-US" dirty="0" err="1"/>
              <a:t>декремент</a:t>
            </a:r>
            <a:r>
              <a:rPr lang="en-US" dirty="0"/>
              <a:t>. </a:t>
            </a:r>
            <a:r>
              <a:rPr lang="en-US" dirty="0" err="1"/>
              <a:t>Многие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выполняться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</a:t>
            </a:r>
            <a:r>
              <a:rPr lang="en-US" dirty="0" err="1"/>
              <a:t>над</a:t>
            </a:r>
            <a:r>
              <a:rPr lang="en-US" dirty="0"/>
              <a:t> </a:t>
            </a:r>
            <a:r>
              <a:rPr lang="en-US" dirty="0" err="1"/>
              <a:t>регистрами</a:t>
            </a:r>
            <a:r>
              <a:rPr lang="en-US" dirty="0"/>
              <a:t> </a:t>
            </a:r>
            <a:r>
              <a:rPr lang="en-US" dirty="0" err="1"/>
              <a:t>общего</a:t>
            </a:r>
            <a:r>
              <a:rPr lang="en-US" dirty="0"/>
              <a:t> </a:t>
            </a:r>
            <a:r>
              <a:rPr lang="en-US" dirty="0" err="1"/>
              <a:t>назначения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Логические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dirty="0" err="1"/>
              <a:t>реализуют</a:t>
            </a:r>
            <a:r>
              <a:rPr lang="en-US" dirty="0"/>
              <a:t> </a:t>
            </a:r>
            <a:r>
              <a:rPr lang="en-US" dirty="0" err="1"/>
              <a:t>побитовые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, </a:t>
            </a:r>
            <a:r>
              <a:rPr lang="en-US" dirty="0" err="1"/>
              <a:t>такие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AND, OR и XOR. </a:t>
            </a:r>
            <a:r>
              <a:rPr lang="en-US" dirty="0" err="1"/>
              <a:t>Подобные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важны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работе</a:t>
            </a:r>
            <a:r>
              <a:rPr lang="en-US" dirty="0"/>
              <a:t> с </a:t>
            </a:r>
            <a:r>
              <a:rPr lang="en-US" dirty="0" err="1"/>
              <a:t>аппаратными</a:t>
            </a:r>
            <a:r>
              <a:rPr lang="en-US" dirty="0"/>
              <a:t> </a:t>
            </a:r>
            <a:r>
              <a:rPr lang="en-US" dirty="0" err="1"/>
              <a:t>регистрами</a:t>
            </a:r>
            <a:r>
              <a:rPr lang="en-US" dirty="0"/>
              <a:t> и </a:t>
            </a:r>
            <a:r>
              <a:rPr lang="en-US" dirty="0" err="1"/>
              <a:t>управлении</a:t>
            </a:r>
            <a:r>
              <a:rPr lang="en-US" dirty="0"/>
              <a:t> </a:t>
            </a:r>
            <a:r>
              <a:rPr lang="en-US" dirty="0" err="1"/>
              <a:t>отдельными</a:t>
            </a:r>
            <a:r>
              <a:rPr lang="en-US" dirty="0"/>
              <a:t> </a:t>
            </a:r>
            <a:r>
              <a:rPr lang="en-US" dirty="0" err="1"/>
              <a:t>битами</a:t>
            </a:r>
            <a:r>
              <a:rPr lang="en-US" dirty="0"/>
              <a:t> </a:t>
            </a:r>
            <a:r>
              <a:rPr lang="en-US" dirty="0" err="1"/>
              <a:t>периферии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dirty="0" err="1"/>
              <a:t>сдвига</a:t>
            </a:r>
            <a:r>
              <a:rPr lang="en-US" dirty="0"/>
              <a:t> и </a:t>
            </a:r>
            <a:r>
              <a:rPr lang="en-US" dirty="0" err="1"/>
              <a:t>битовых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эффективно</a:t>
            </a:r>
            <a:r>
              <a:rPr lang="en-US" dirty="0"/>
              <a:t>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побитовые</a:t>
            </a:r>
            <a:r>
              <a:rPr lang="en-US" dirty="0"/>
              <a:t> </a:t>
            </a:r>
            <a:r>
              <a:rPr lang="en-US" dirty="0" err="1"/>
              <a:t>преобразования</a:t>
            </a:r>
            <a:r>
              <a:rPr lang="en-US" dirty="0"/>
              <a:t>, а </a:t>
            </a:r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устанавливать</a:t>
            </a:r>
            <a:r>
              <a:rPr lang="en-US" dirty="0"/>
              <a:t> и </a:t>
            </a:r>
            <a:r>
              <a:rPr lang="en-US" dirty="0" err="1"/>
              <a:t>сбрасывать</a:t>
            </a:r>
            <a:r>
              <a:rPr lang="en-US" dirty="0"/>
              <a:t> </a:t>
            </a:r>
            <a:r>
              <a:rPr lang="en-US" dirty="0" err="1"/>
              <a:t>отдельные</a:t>
            </a:r>
            <a:r>
              <a:rPr lang="en-US" dirty="0"/>
              <a:t> </a:t>
            </a:r>
            <a:r>
              <a:rPr lang="en-US" dirty="0" err="1"/>
              <a:t>биты</a:t>
            </a:r>
            <a:r>
              <a:rPr lang="en-US" dirty="0"/>
              <a:t> в I/O-</a:t>
            </a:r>
            <a:r>
              <a:rPr lang="en-US" dirty="0" err="1"/>
              <a:t>регистрах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SBI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CBI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установки</a:t>
            </a:r>
            <a:r>
              <a:rPr lang="en-US" dirty="0"/>
              <a:t> и </a:t>
            </a:r>
            <a:r>
              <a:rPr lang="en-US" dirty="0" err="1"/>
              <a:t>очистки</a:t>
            </a:r>
            <a:r>
              <a:rPr lang="en-US" dirty="0"/>
              <a:t> </a:t>
            </a:r>
            <a:r>
              <a:rPr lang="en-US" dirty="0" err="1"/>
              <a:t>отдельных</a:t>
            </a:r>
            <a:r>
              <a:rPr lang="en-US" dirty="0"/>
              <a:t> </a:t>
            </a:r>
            <a:r>
              <a:rPr lang="en-US" dirty="0" err="1"/>
              <a:t>битов</a:t>
            </a:r>
            <a:r>
              <a:rPr lang="en-US" dirty="0"/>
              <a:t> в </a:t>
            </a:r>
            <a:r>
              <a:rPr lang="en-US" dirty="0" err="1"/>
              <a:t>регистрах</a:t>
            </a:r>
            <a:r>
              <a:rPr lang="en-US" dirty="0"/>
              <a:t> </a:t>
            </a:r>
            <a:r>
              <a:rPr lang="en-US" dirty="0" err="1"/>
              <a:t>периферии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dirty="0" err="1"/>
              <a:t>переходов</a:t>
            </a:r>
            <a:r>
              <a:rPr lang="en-US" dirty="0"/>
              <a:t> и </a:t>
            </a:r>
            <a:r>
              <a:rPr lang="en-US" dirty="0" err="1"/>
              <a:t>вызовов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 </a:t>
            </a:r>
            <a:r>
              <a:rPr lang="en-US" dirty="0" err="1"/>
              <a:t>обеспечивают</a:t>
            </a:r>
            <a:r>
              <a:rPr lang="en-US" dirty="0"/>
              <a:t> </a:t>
            </a:r>
            <a:r>
              <a:rPr lang="en-US" dirty="0" err="1"/>
              <a:t>управление</a:t>
            </a:r>
            <a:r>
              <a:rPr lang="en-US" dirty="0"/>
              <a:t> </a:t>
            </a:r>
            <a:r>
              <a:rPr lang="en-US" dirty="0" err="1"/>
              <a:t>потоком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— </a:t>
            </a:r>
            <a:r>
              <a:rPr lang="en-US" dirty="0" err="1"/>
              <a:t>реализацию</a:t>
            </a:r>
            <a:r>
              <a:rPr lang="en-US" dirty="0"/>
              <a:t> </a:t>
            </a:r>
            <a:r>
              <a:rPr lang="en-US" dirty="0" err="1"/>
              <a:t>условий</a:t>
            </a:r>
            <a:r>
              <a:rPr lang="en-US" dirty="0"/>
              <a:t>, </a:t>
            </a:r>
            <a:r>
              <a:rPr lang="en-US" dirty="0" err="1"/>
              <a:t>циклов</a:t>
            </a:r>
            <a:r>
              <a:rPr lang="en-US" dirty="0"/>
              <a:t> и </a:t>
            </a:r>
            <a:r>
              <a:rPr lang="en-US" dirty="0" err="1"/>
              <a:t>подпрограмм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Отдельно</a:t>
            </a:r>
            <a:r>
              <a:rPr lang="en-US" dirty="0"/>
              <a:t> </a:t>
            </a:r>
            <a:r>
              <a:rPr lang="en-US" dirty="0" err="1"/>
              <a:t>следует</a:t>
            </a:r>
            <a:r>
              <a:rPr lang="en-US" dirty="0"/>
              <a:t> </a:t>
            </a:r>
            <a:r>
              <a:rPr lang="en-US" dirty="0" err="1"/>
              <a:t>выделить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dirty="0" err="1"/>
              <a:t>ввода-вывода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</a:t>
            </a:r>
            <a:r>
              <a:rPr lang="en-US" dirty="0"/>
              <a:t>. </a:t>
            </a:r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предназначены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с I/O-</a:t>
            </a:r>
            <a:r>
              <a:rPr lang="en-US" dirty="0" err="1"/>
              <a:t>регистрами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и </a:t>
            </a:r>
            <a:r>
              <a:rPr lang="en-US" dirty="0" err="1"/>
              <a:t>обеспечивают</a:t>
            </a:r>
            <a:r>
              <a:rPr lang="en-US" dirty="0"/>
              <a:t> </a:t>
            </a:r>
            <a:r>
              <a:rPr lang="en-US" dirty="0" err="1"/>
              <a:t>эффективное</a:t>
            </a:r>
            <a:r>
              <a:rPr lang="en-US" dirty="0"/>
              <a:t> </a:t>
            </a:r>
            <a:r>
              <a:rPr lang="en-US" dirty="0" err="1"/>
              <a:t>взаимодействие</a:t>
            </a:r>
            <a:r>
              <a:rPr lang="en-US" dirty="0"/>
              <a:t> с </a:t>
            </a:r>
            <a:r>
              <a:rPr lang="en-US" dirty="0" err="1"/>
              <a:t>периферийными</a:t>
            </a:r>
            <a:r>
              <a:rPr lang="en-US" dirty="0"/>
              <a:t> </a:t>
            </a:r>
            <a:r>
              <a:rPr lang="en-US" dirty="0" err="1"/>
              <a:t>модулями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с </a:t>
            </a:r>
            <a:r>
              <a:rPr lang="en-US" dirty="0" err="1"/>
              <a:t>помощью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изменить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PORTB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приведёт</a:t>
            </a:r>
            <a:r>
              <a:rPr lang="en-US" dirty="0"/>
              <a:t> к </a:t>
            </a:r>
            <a:r>
              <a:rPr lang="en-US" dirty="0" err="1"/>
              <a:t>изменению</a:t>
            </a:r>
            <a:r>
              <a:rPr lang="en-US" dirty="0"/>
              <a:t> </a:t>
            </a:r>
            <a:r>
              <a:rPr lang="en-US" dirty="0" err="1"/>
              <a:t>электрических</a:t>
            </a:r>
            <a:r>
              <a:rPr lang="en-US" dirty="0"/>
              <a:t> </a:t>
            </a:r>
            <a:r>
              <a:rPr lang="en-US" dirty="0" err="1"/>
              <a:t>сигналов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выводах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Несмотря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относительную</a:t>
            </a:r>
            <a:r>
              <a:rPr lang="en-US" dirty="0"/>
              <a:t> </a:t>
            </a:r>
            <a:r>
              <a:rPr lang="en-US" dirty="0" err="1"/>
              <a:t>простоту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AVR, </a:t>
            </a:r>
            <a:r>
              <a:rPr lang="en-US" dirty="0" err="1"/>
              <a:t>её</a:t>
            </a:r>
            <a:r>
              <a:rPr lang="en-US" dirty="0"/>
              <a:t> </a:t>
            </a:r>
            <a:r>
              <a:rPr lang="en-US" dirty="0" err="1"/>
              <a:t>система</a:t>
            </a:r>
            <a:r>
              <a:rPr lang="en-US" dirty="0"/>
              <a:t> </a:t>
            </a:r>
            <a:r>
              <a:rPr lang="en-US" dirty="0" err="1"/>
              <a:t>команд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все</a:t>
            </a:r>
            <a:r>
              <a:rPr lang="en-US" dirty="0"/>
              <a:t> </a:t>
            </a:r>
            <a:r>
              <a:rPr lang="en-US" dirty="0" err="1"/>
              <a:t>базовые</a:t>
            </a:r>
            <a:r>
              <a:rPr lang="en-US" dirty="0"/>
              <a:t> </a:t>
            </a:r>
            <a:r>
              <a:rPr lang="en-US" dirty="0" err="1"/>
              <a:t>механизмы</a:t>
            </a:r>
            <a:r>
              <a:rPr lang="en-US" dirty="0"/>
              <a:t>, </a:t>
            </a:r>
            <a:r>
              <a:rPr lang="en-US" dirty="0" err="1"/>
              <a:t>характерные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современных</a:t>
            </a:r>
            <a:r>
              <a:rPr lang="en-US" dirty="0"/>
              <a:t> </a:t>
            </a:r>
            <a:r>
              <a:rPr lang="en-US" dirty="0" err="1"/>
              <a:t>процессорных</a:t>
            </a:r>
            <a:r>
              <a:rPr lang="en-US" dirty="0"/>
              <a:t> </a:t>
            </a:r>
            <a:r>
              <a:rPr lang="en-US" dirty="0" err="1"/>
              <a:t>архитектур</a:t>
            </a:r>
            <a:r>
              <a:rPr lang="en-US" dirty="0"/>
              <a:t>: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над</a:t>
            </a:r>
            <a:r>
              <a:rPr lang="en-US" dirty="0"/>
              <a:t> </a:t>
            </a:r>
            <a:r>
              <a:rPr lang="en-US" dirty="0" err="1"/>
              <a:t>регистрами</a:t>
            </a:r>
            <a:r>
              <a:rPr lang="en-US" dirty="0"/>
              <a:t>, </a:t>
            </a:r>
            <a:r>
              <a:rPr lang="en-US" dirty="0" err="1"/>
              <a:t>работу</a:t>
            </a:r>
            <a:r>
              <a:rPr lang="en-US" dirty="0"/>
              <a:t> с </a:t>
            </a:r>
            <a:r>
              <a:rPr lang="en-US" dirty="0" err="1"/>
              <a:t>памятью</a:t>
            </a:r>
            <a:r>
              <a:rPr lang="en-US" dirty="0"/>
              <a:t>, </a:t>
            </a:r>
            <a:r>
              <a:rPr lang="en-US" dirty="0" err="1"/>
              <a:t>управление</a:t>
            </a:r>
            <a:r>
              <a:rPr lang="en-US" dirty="0"/>
              <a:t> </a:t>
            </a:r>
            <a:r>
              <a:rPr lang="en-US" dirty="0" err="1"/>
              <a:t>потоком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и </a:t>
            </a:r>
            <a:r>
              <a:rPr lang="en-US" dirty="0" err="1"/>
              <a:t>взаимодействие</a:t>
            </a:r>
            <a:r>
              <a:rPr lang="en-US" dirty="0"/>
              <a:t> с </a:t>
            </a:r>
            <a:r>
              <a:rPr lang="en-US" dirty="0" err="1"/>
              <a:t>аппаратурой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974347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важных</a:t>
            </a:r>
            <a:r>
              <a:rPr lang="en-US" dirty="0"/>
              <a:t> </a:t>
            </a:r>
            <a:r>
              <a:rPr lang="en-US" dirty="0" err="1"/>
              <a:t>особенностей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AVR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организация</a:t>
            </a:r>
            <a:r>
              <a:rPr lang="en-US" dirty="0"/>
              <a:t> </a:t>
            </a:r>
            <a:r>
              <a:rPr lang="en-US" dirty="0" err="1"/>
              <a:t>адресного</a:t>
            </a:r>
            <a:r>
              <a:rPr lang="en-US" dirty="0"/>
              <a:t> </a:t>
            </a:r>
            <a:r>
              <a:rPr lang="en-US" dirty="0" err="1"/>
              <a:t>пространства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многих</a:t>
            </a:r>
            <a:r>
              <a:rPr lang="en-US" dirty="0"/>
              <a:t> </a:t>
            </a:r>
            <a:r>
              <a:rPr lang="en-US" dirty="0" err="1"/>
              <a:t>архитектур</a:t>
            </a:r>
            <a:r>
              <a:rPr lang="en-US" dirty="0"/>
              <a:t>, </a:t>
            </a:r>
            <a:r>
              <a:rPr lang="en-US" dirty="0" err="1"/>
              <a:t>регистровый</a:t>
            </a:r>
            <a:r>
              <a:rPr lang="en-US" dirty="0"/>
              <a:t> </a:t>
            </a:r>
            <a:r>
              <a:rPr lang="en-US" dirty="0" err="1"/>
              <a:t>файл</a:t>
            </a:r>
            <a:r>
              <a:rPr lang="en-US" dirty="0"/>
              <a:t> AVR </a:t>
            </a:r>
            <a:r>
              <a:rPr lang="en-US" dirty="0" err="1"/>
              <a:t>отображён</a:t>
            </a:r>
            <a:r>
              <a:rPr lang="en-US" dirty="0"/>
              <a:t> в </a:t>
            </a:r>
            <a:r>
              <a:rPr lang="en-US" dirty="0" err="1"/>
              <a:t>адресное</a:t>
            </a:r>
            <a:r>
              <a:rPr lang="en-US" dirty="0"/>
              <a:t> </a:t>
            </a:r>
            <a:r>
              <a:rPr lang="en-US" dirty="0" err="1"/>
              <a:t>пространство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 </a:t>
            </a:r>
            <a:r>
              <a:rPr lang="en-US" dirty="0" err="1"/>
              <a:t>Первые</a:t>
            </a:r>
            <a:r>
              <a:rPr lang="en-US" dirty="0"/>
              <a:t> 32 </a:t>
            </a:r>
            <a:r>
              <a:rPr lang="en-US" dirty="0" err="1"/>
              <a:t>байта</a:t>
            </a:r>
            <a:r>
              <a:rPr lang="en-US" dirty="0"/>
              <a:t> </a:t>
            </a:r>
            <a:r>
              <a:rPr lang="en-US" dirty="0" err="1"/>
              <a:t>адресного</a:t>
            </a:r>
            <a:r>
              <a:rPr lang="en-US" dirty="0"/>
              <a:t> </a:t>
            </a:r>
            <a:r>
              <a:rPr lang="en-US" dirty="0" err="1"/>
              <a:t>пространства</a:t>
            </a:r>
            <a:r>
              <a:rPr lang="en-US" dirty="0"/>
              <a:t> </a:t>
            </a:r>
            <a:r>
              <a:rPr lang="en-US" dirty="0" err="1"/>
              <a:t>соответствуют</a:t>
            </a:r>
            <a:r>
              <a:rPr lang="en-US" dirty="0"/>
              <a:t> </a:t>
            </a:r>
            <a:r>
              <a:rPr lang="en-US" dirty="0" err="1"/>
              <a:t>регистрами</a:t>
            </a:r>
            <a:r>
              <a:rPr lang="en-US" dirty="0"/>
              <a:t> </a:t>
            </a:r>
            <a:r>
              <a:rPr lang="en-US" dirty="0" err="1"/>
              <a:t>общего</a:t>
            </a:r>
            <a:r>
              <a:rPr lang="en-US" dirty="0"/>
              <a:t> </a:t>
            </a:r>
            <a:r>
              <a:rPr lang="en-US" dirty="0" err="1"/>
              <a:t>назначения</a:t>
            </a:r>
            <a:r>
              <a:rPr lang="en-US" dirty="0"/>
              <a:t> R0–R31.</a:t>
            </a:r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означает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использоваться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напрямую</a:t>
            </a:r>
            <a:r>
              <a:rPr lang="en-US" dirty="0"/>
              <a:t> </a:t>
            </a:r>
            <a:r>
              <a:rPr lang="en-US" dirty="0" err="1"/>
              <a:t>арифметическими</a:t>
            </a:r>
            <a:r>
              <a:rPr lang="en-US" dirty="0"/>
              <a:t> </a:t>
            </a:r>
            <a:r>
              <a:rPr lang="en-US" dirty="0" err="1"/>
              <a:t>инструкциями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в </a:t>
            </a:r>
            <a:r>
              <a:rPr lang="en-US" dirty="0" err="1"/>
              <a:t>некоторых</a:t>
            </a:r>
            <a:r>
              <a:rPr lang="en-US" dirty="0"/>
              <a:t> </a:t>
            </a:r>
            <a:r>
              <a:rPr lang="en-US" dirty="0" err="1"/>
              <a:t>случаях</a:t>
            </a:r>
            <a:r>
              <a:rPr lang="en-US" dirty="0"/>
              <a:t> </a:t>
            </a:r>
            <a:r>
              <a:rPr lang="en-US" dirty="0" err="1"/>
              <a:t>адресоваться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область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Следующая</a:t>
            </a:r>
            <a:r>
              <a:rPr lang="en-US" dirty="0"/>
              <a:t> </a:t>
            </a:r>
            <a:r>
              <a:rPr lang="en-US" dirty="0" err="1"/>
              <a:t>область</a:t>
            </a:r>
            <a:r>
              <a:rPr lang="en-US" dirty="0"/>
              <a:t> </a:t>
            </a:r>
            <a:r>
              <a:rPr lang="en-US" dirty="0" err="1"/>
              <a:t>адресного</a:t>
            </a:r>
            <a:r>
              <a:rPr lang="en-US" dirty="0"/>
              <a:t> </a:t>
            </a:r>
            <a:r>
              <a:rPr lang="en-US" dirty="0" err="1"/>
              <a:t>пространства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I/O-</a:t>
            </a:r>
            <a:r>
              <a:rPr lang="en-US" dirty="0" err="1"/>
              <a:t>регистры</a:t>
            </a:r>
            <a:r>
              <a:rPr lang="en-US" dirty="0"/>
              <a:t> — </a:t>
            </a:r>
            <a:r>
              <a:rPr lang="en-US" dirty="0" err="1"/>
              <a:t>специальные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управления</a:t>
            </a:r>
            <a:r>
              <a:rPr lang="en-US" dirty="0"/>
              <a:t> </a:t>
            </a:r>
            <a:r>
              <a:rPr lang="en-US" dirty="0" err="1"/>
              <a:t>периферийными</a:t>
            </a:r>
            <a:r>
              <a:rPr lang="en-US" dirty="0"/>
              <a:t> </a:t>
            </a:r>
            <a:r>
              <a:rPr lang="en-US" dirty="0" err="1"/>
              <a:t>устройствами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эти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управляет</a:t>
            </a:r>
            <a:r>
              <a:rPr lang="en-US" dirty="0"/>
              <a:t> GPIO, </a:t>
            </a:r>
            <a:r>
              <a:rPr lang="en-US" dirty="0" err="1"/>
              <a:t>таймерами</a:t>
            </a:r>
            <a:r>
              <a:rPr lang="en-US" dirty="0"/>
              <a:t>, UART, ADC и </a:t>
            </a:r>
            <a:r>
              <a:rPr lang="en-US" dirty="0" err="1"/>
              <a:t>другими</a:t>
            </a:r>
            <a:r>
              <a:rPr lang="en-US" dirty="0"/>
              <a:t> </a:t>
            </a:r>
            <a:r>
              <a:rPr lang="en-US" dirty="0" err="1"/>
              <a:t>аппаратными</a:t>
            </a:r>
            <a:r>
              <a:rPr lang="en-US" dirty="0"/>
              <a:t> </a:t>
            </a:r>
            <a:r>
              <a:rPr lang="en-US" dirty="0" err="1"/>
              <a:t>модулями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запись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в </a:t>
            </a:r>
            <a:r>
              <a:rPr lang="en-US" dirty="0" err="1"/>
              <a:t>регистр</a:t>
            </a:r>
            <a:r>
              <a:rPr lang="en-US" dirty="0"/>
              <a:t> PORTB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изменить</a:t>
            </a:r>
            <a:r>
              <a:rPr lang="en-US" dirty="0"/>
              <a:t> </a:t>
            </a:r>
            <a:r>
              <a:rPr lang="en-US" dirty="0" err="1"/>
              <a:t>логические</a:t>
            </a:r>
            <a:r>
              <a:rPr lang="en-US" dirty="0"/>
              <a:t> </a:t>
            </a:r>
            <a:r>
              <a:rPr lang="en-US" dirty="0" err="1"/>
              <a:t>уровни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выводах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Часть</a:t>
            </a:r>
            <a:r>
              <a:rPr lang="en-US" dirty="0"/>
              <a:t> I/O-</a:t>
            </a:r>
            <a:r>
              <a:rPr lang="en-US" dirty="0" err="1"/>
              <a:t>регистров</a:t>
            </a:r>
            <a:r>
              <a:rPr lang="en-US" dirty="0"/>
              <a:t> </a:t>
            </a:r>
            <a:r>
              <a:rPr lang="en-US" dirty="0" err="1"/>
              <a:t>доступна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специальные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IN и OUT, </a:t>
            </a:r>
            <a:r>
              <a:rPr lang="en-US" dirty="0" err="1"/>
              <a:t>предназначенные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быстрого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 с </a:t>
            </a:r>
            <a:r>
              <a:rPr lang="en-US" dirty="0" err="1"/>
              <a:t>периферией</a:t>
            </a:r>
            <a:r>
              <a:rPr lang="en-US" dirty="0"/>
              <a:t>.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многие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этих</a:t>
            </a:r>
            <a:r>
              <a:rPr lang="en-US" dirty="0"/>
              <a:t> </a:t>
            </a:r>
            <a:r>
              <a:rPr lang="en-US" dirty="0" err="1"/>
              <a:t>регистров</a:t>
            </a:r>
            <a:r>
              <a:rPr lang="en-US" dirty="0"/>
              <a:t> </a:t>
            </a:r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отображаются</a:t>
            </a:r>
            <a:r>
              <a:rPr lang="en-US" dirty="0"/>
              <a:t> в </a:t>
            </a:r>
            <a:r>
              <a:rPr lang="en-US" dirty="0" err="1"/>
              <a:t>общее</a:t>
            </a:r>
            <a:r>
              <a:rPr lang="en-US" dirty="0"/>
              <a:t> </a:t>
            </a:r>
            <a:r>
              <a:rPr lang="en-US" dirty="0" err="1"/>
              <a:t>адресное</a:t>
            </a:r>
            <a:r>
              <a:rPr lang="en-US" dirty="0"/>
              <a:t> </a:t>
            </a:r>
            <a:r>
              <a:rPr lang="en-US" dirty="0" err="1"/>
              <a:t>пространство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и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доступны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обычные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чтения</a:t>
            </a:r>
            <a:r>
              <a:rPr lang="en-US" dirty="0"/>
              <a:t> и </a:t>
            </a:r>
            <a:r>
              <a:rPr lang="en-US" dirty="0" err="1"/>
              <a:t>записи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Отдельно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отметить</a:t>
            </a:r>
            <a:r>
              <a:rPr lang="en-US" dirty="0"/>
              <a:t> </a:t>
            </a:r>
            <a:r>
              <a:rPr lang="en-US" dirty="0" err="1"/>
              <a:t>организацию</a:t>
            </a:r>
            <a:r>
              <a:rPr lang="en-US" dirty="0"/>
              <a:t> </a:t>
            </a:r>
            <a:r>
              <a:rPr lang="en-US" dirty="0" err="1"/>
              <a:t>стека</a:t>
            </a:r>
            <a:r>
              <a:rPr lang="en-US" dirty="0"/>
              <a:t>.</a:t>
            </a:r>
          </a:p>
          <a:p>
            <a:r>
              <a:rPr lang="en-US" dirty="0" err="1"/>
              <a:t>Стек</a:t>
            </a:r>
            <a:r>
              <a:rPr lang="en-US" dirty="0"/>
              <a:t> </a:t>
            </a:r>
            <a:r>
              <a:rPr lang="en-US" dirty="0" err="1"/>
              <a:t>располагается</a:t>
            </a:r>
            <a:r>
              <a:rPr lang="en-US" dirty="0"/>
              <a:t> в SRAM, а </a:t>
            </a:r>
            <a:r>
              <a:rPr lang="en-US" dirty="0" err="1"/>
              <a:t>его</a:t>
            </a:r>
            <a:r>
              <a:rPr lang="en-US" dirty="0"/>
              <a:t> </a:t>
            </a:r>
            <a:r>
              <a:rPr lang="en-US" dirty="0" err="1"/>
              <a:t>текущее</a:t>
            </a:r>
            <a:r>
              <a:rPr lang="en-US" dirty="0"/>
              <a:t> </a:t>
            </a:r>
            <a:r>
              <a:rPr lang="en-US" dirty="0" err="1"/>
              <a:t>положение</a:t>
            </a:r>
            <a:r>
              <a:rPr lang="en-US" dirty="0"/>
              <a:t> </a:t>
            </a:r>
            <a:r>
              <a:rPr lang="en-US" dirty="0" err="1"/>
              <a:t>задаётся</a:t>
            </a:r>
            <a:r>
              <a:rPr lang="en-US" dirty="0"/>
              <a:t> </a:t>
            </a:r>
            <a:r>
              <a:rPr lang="en-US" dirty="0" err="1"/>
              <a:t>регистром</a:t>
            </a:r>
            <a:r>
              <a:rPr lang="en-US" dirty="0"/>
              <a:t> Stack Pointer. В </a:t>
            </a:r>
            <a:r>
              <a:rPr lang="en-US" dirty="0" err="1"/>
              <a:t>архитектуре</a:t>
            </a:r>
            <a:r>
              <a:rPr lang="en-US" dirty="0"/>
              <a:t> AVR Stack Pointer </a:t>
            </a:r>
            <a:r>
              <a:rPr lang="en-US" dirty="0" err="1"/>
              <a:t>состоит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двух</a:t>
            </a:r>
            <a:r>
              <a:rPr lang="en-US" dirty="0"/>
              <a:t> 8-битных </a:t>
            </a:r>
            <a:r>
              <a:rPr lang="en-US" dirty="0" err="1"/>
              <a:t>регистров</a:t>
            </a:r>
            <a:r>
              <a:rPr lang="en-US" dirty="0"/>
              <a:t> — SPL и SPH.</a:t>
            </a:r>
          </a:p>
          <a:p>
            <a:r>
              <a:rPr lang="en-US" dirty="0" err="1"/>
              <a:t>Интересно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сами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 Stack Pointer </a:t>
            </a:r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являются</a:t>
            </a:r>
            <a:r>
              <a:rPr lang="en-US" dirty="0"/>
              <a:t> I/O-</a:t>
            </a:r>
            <a:r>
              <a:rPr lang="en-US" dirty="0" err="1"/>
              <a:t>регистрами</a:t>
            </a:r>
            <a:r>
              <a:rPr lang="en-US" dirty="0"/>
              <a:t> и </a:t>
            </a:r>
            <a:r>
              <a:rPr lang="en-US" dirty="0" err="1"/>
              <a:t>располагаются</a:t>
            </a:r>
            <a:r>
              <a:rPr lang="en-US" dirty="0"/>
              <a:t> в </a:t>
            </a:r>
            <a:r>
              <a:rPr lang="en-US" dirty="0" err="1"/>
              <a:t>адресном</a:t>
            </a:r>
            <a:r>
              <a:rPr lang="en-US" dirty="0"/>
              <a:t> </a:t>
            </a:r>
            <a:r>
              <a:rPr lang="en-US" dirty="0" err="1"/>
              <a:t>пространстве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, в AVR </a:t>
            </a:r>
            <a:r>
              <a:rPr lang="en-US" dirty="0" err="1"/>
              <a:t>адресное</a:t>
            </a:r>
            <a:r>
              <a:rPr lang="en-US" dirty="0"/>
              <a:t> </a:t>
            </a:r>
            <a:r>
              <a:rPr lang="en-US" dirty="0" err="1"/>
              <a:t>пространство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объединяет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различных</a:t>
            </a:r>
            <a:r>
              <a:rPr lang="en-US" dirty="0"/>
              <a:t> </a:t>
            </a:r>
            <a:r>
              <a:rPr lang="en-US" dirty="0" err="1"/>
              <a:t>сущностей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регистровый</a:t>
            </a:r>
            <a:r>
              <a:rPr lang="en-US" dirty="0"/>
              <a:t> </a:t>
            </a:r>
            <a:r>
              <a:rPr lang="en-US" dirty="0" err="1"/>
              <a:t>файл</a:t>
            </a:r>
            <a:r>
              <a:rPr lang="en-US" dirty="0"/>
              <a:t>, </a:t>
            </a:r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управления</a:t>
            </a:r>
            <a:r>
              <a:rPr lang="en-US" dirty="0"/>
              <a:t> </a:t>
            </a:r>
            <a:r>
              <a:rPr lang="en-US" dirty="0" err="1"/>
              <a:t>периферией</a:t>
            </a:r>
            <a:r>
              <a:rPr lang="en-US" dirty="0"/>
              <a:t> и </a:t>
            </a:r>
            <a:r>
              <a:rPr lang="en-US" dirty="0" err="1"/>
              <a:t>оперативную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.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характерной</a:t>
            </a:r>
            <a:r>
              <a:rPr lang="en-US" dirty="0"/>
              <a:t> </a:t>
            </a:r>
            <a:r>
              <a:rPr lang="en-US" dirty="0" err="1"/>
              <a:t>особенностью</a:t>
            </a:r>
            <a:r>
              <a:rPr lang="en-US" dirty="0"/>
              <a:t> </a:t>
            </a:r>
            <a:r>
              <a:rPr lang="en-US" dirty="0" err="1"/>
              <a:t>многих</a:t>
            </a:r>
            <a:r>
              <a:rPr lang="en-US" dirty="0"/>
              <a:t> </a:t>
            </a:r>
            <a:r>
              <a:rPr lang="en-US" dirty="0" err="1"/>
              <a:t>микроконтроллерных</a:t>
            </a:r>
            <a:r>
              <a:rPr lang="en-US" dirty="0"/>
              <a:t> </a:t>
            </a:r>
            <a:r>
              <a:rPr lang="en-US" dirty="0" err="1"/>
              <a:t>архитектур</a:t>
            </a:r>
            <a:r>
              <a:rPr lang="en-US" dirty="0"/>
              <a:t> и </a:t>
            </a:r>
            <a:r>
              <a:rPr lang="en-US" dirty="0" err="1"/>
              <a:t>тесно</a:t>
            </a:r>
            <a:r>
              <a:rPr lang="en-US" dirty="0"/>
              <a:t> </a:t>
            </a:r>
            <a:r>
              <a:rPr lang="en-US" dirty="0" err="1"/>
              <a:t>связано</a:t>
            </a:r>
            <a:r>
              <a:rPr lang="en-US" dirty="0"/>
              <a:t> с </a:t>
            </a:r>
            <a:r>
              <a:rPr lang="en-US" dirty="0" err="1"/>
              <a:t>концепцией</a:t>
            </a:r>
            <a:r>
              <a:rPr lang="en-US" dirty="0"/>
              <a:t> memory-mapped I/O.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4316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Архитектура</a:t>
            </a:r>
            <a:r>
              <a:rPr lang="en-US" dirty="0"/>
              <a:t> AVR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демонстрирует</a:t>
            </a:r>
            <a:r>
              <a:rPr lang="en-US" dirty="0"/>
              <a:t> </a:t>
            </a:r>
            <a:r>
              <a:rPr lang="en-US" dirty="0" err="1"/>
              <a:t>ключевые</a:t>
            </a:r>
            <a:r>
              <a:rPr lang="en-US" dirty="0"/>
              <a:t> </a:t>
            </a:r>
            <a:r>
              <a:rPr lang="en-US" dirty="0" err="1"/>
              <a:t>особенности</a:t>
            </a:r>
            <a:r>
              <a:rPr lang="en-US" dirty="0"/>
              <a:t> embedded-</a:t>
            </a:r>
            <a:r>
              <a:rPr lang="en-US" dirty="0" err="1"/>
              <a:t>разработки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современных</a:t>
            </a:r>
            <a:r>
              <a:rPr lang="en-US" dirty="0"/>
              <a:t> </a:t>
            </a:r>
            <a:r>
              <a:rPr lang="en-US" dirty="0" err="1"/>
              <a:t>высокопроизводительных</a:t>
            </a:r>
            <a:r>
              <a:rPr lang="en-US" dirty="0"/>
              <a:t> </a:t>
            </a:r>
            <a:r>
              <a:rPr lang="en-US" dirty="0" err="1"/>
              <a:t>процессоров</a:t>
            </a:r>
            <a:r>
              <a:rPr lang="en-US" dirty="0"/>
              <a:t>, </a:t>
            </a:r>
            <a:r>
              <a:rPr lang="en-US" dirty="0" err="1"/>
              <a:t>архитектура</a:t>
            </a:r>
            <a:r>
              <a:rPr lang="en-US" dirty="0"/>
              <a:t> AVR </a:t>
            </a:r>
            <a:r>
              <a:rPr lang="en-US" dirty="0" err="1"/>
              <a:t>значительно</a:t>
            </a:r>
            <a:r>
              <a:rPr lang="en-US" dirty="0"/>
              <a:t> </a:t>
            </a:r>
            <a:r>
              <a:rPr lang="en-US" dirty="0" err="1"/>
              <a:t>проще</a:t>
            </a:r>
            <a:r>
              <a:rPr lang="en-US" dirty="0"/>
              <a:t> и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предсказуема</a:t>
            </a:r>
            <a:r>
              <a:rPr lang="en-US" dirty="0"/>
              <a:t>.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многих</a:t>
            </a:r>
            <a:r>
              <a:rPr lang="en-US" dirty="0"/>
              <a:t> </a:t>
            </a:r>
            <a:r>
              <a:rPr lang="en-US" dirty="0" err="1"/>
              <a:t>инструкций</a:t>
            </a:r>
            <a:r>
              <a:rPr lang="en-US" dirty="0"/>
              <a:t> </a:t>
            </a:r>
            <a:r>
              <a:rPr lang="en-US" dirty="0" err="1"/>
              <a:t>известно</a:t>
            </a:r>
            <a:r>
              <a:rPr lang="en-US" dirty="0"/>
              <a:t> </a:t>
            </a:r>
            <a:r>
              <a:rPr lang="en-US" dirty="0" err="1"/>
              <a:t>заранее</a:t>
            </a:r>
            <a:r>
              <a:rPr lang="en-US" dirty="0"/>
              <a:t>, а </a:t>
            </a:r>
            <a:r>
              <a:rPr lang="en-US" dirty="0" err="1"/>
              <a:t>взаимодействие</a:t>
            </a:r>
            <a:r>
              <a:rPr lang="en-US" dirty="0"/>
              <a:t> с </a:t>
            </a:r>
            <a:r>
              <a:rPr lang="en-US" dirty="0" err="1"/>
              <a:t>аппаратурой</a:t>
            </a:r>
            <a:r>
              <a:rPr lang="en-US" dirty="0"/>
              <a:t> </a:t>
            </a:r>
            <a:r>
              <a:rPr lang="en-US" dirty="0" err="1"/>
              <a:t>осуществляется</a:t>
            </a:r>
            <a:r>
              <a:rPr lang="en-US" dirty="0"/>
              <a:t> </a:t>
            </a:r>
            <a:r>
              <a:rPr lang="en-US" dirty="0" err="1"/>
              <a:t>напрямую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работают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операционной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разработчик</a:t>
            </a:r>
            <a:r>
              <a:rPr lang="en-US" dirty="0"/>
              <a:t> </a:t>
            </a: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en-US" dirty="0" err="1"/>
              <a:t>непосредственный</a:t>
            </a:r>
            <a:r>
              <a:rPr lang="en-US" dirty="0"/>
              <a:t> </a:t>
            </a:r>
            <a:r>
              <a:rPr lang="en-US" dirty="0" err="1"/>
              <a:t>контроль</a:t>
            </a:r>
            <a:r>
              <a:rPr lang="en-US" dirty="0"/>
              <a:t> </a:t>
            </a:r>
            <a:r>
              <a:rPr lang="en-US" dirty="0" err="1"/>
              <a:t>над</a:t>
            </a:r>
            <a:r>
              <a:rPr lang="en-US" dirty="0"/>
              <a:t> </a:t>
            </a:r>
            <a:r>
              <a:rPr lang="en-US" dirty="0" err="1"/>
              <a:t>памятью</a:t>
            </a:r>
            <a:r>
              <a:rPr lang="en-US" dirty="0"/>
              <a:t>, </a:t>
            </a:r>
            <a:r>
              <a:rPr lang="en-US" dirty="0" err="1"/>
              <a:t>регистрами</a:t>
            </a:r>
            <a:r>
              <a:rPr lang="en-US" dirty="0"/>
              <a:t> и </a:t>
            </a:r>
            <a:r>
              <a:rPr lang="en-US" dirty="0" err="1"/>
              <a:t>периферийными</a:t>
            </a:r>
            <a:r>
              <a:rPr lang="en-US" dirty="0"/>
              <a:t> </a:t>
            </a:r>
            <a:r>
              <a:rPr lang="en-US" dirty="0" err="1"/>
              <a:t>устройствами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Одновременно</a:t>
            </a:r>
            <a:r>
              <a:rPr lang="en-US" dirty="0"/>
              <a:t>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означает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становится</a:t>
            </a:r>
            <a:r>
              <a:rPr lang="en-US" dirty="0"/>
              <a:t> </a:t>
            </a:r>
            <a:r>
              <a:rPr lang="en-US" dirty="0" err="1"/>
              <a:t>тесно</a:t>
            </a:r>
            <a:r>
              <a:rPr lang="en-US" dirty="0"/>
              <a:t> </a:t>
            </a:r>
            <a:r>
              <a:rPr lang="en-US" dirty="0" err="1"/>
              <a:t>связанной</a:t>
            </a:r>
            <a:r>
              <a:rPr lang="en-US" dirty="0"/>
              <a:t> с </a:t>
            </a:r>
            <a:r>
              <a:rPr lang="en-US" dirty="0" err="1"/>
              <a:t>конкретной</a:t>
            </a:r>
            <a:r>
              <a:rPr lang="en-US" dirty="0"/>
              <a:t> </a:t>
            </a:r>
            <a:r>
              <a:rPr lang="en-US" dirty="0" err="1"/>
              <a:t>аппаратной</a:t>
            </a:r>
            <a:r>
              <a:rPr lang="en-US" dirty="0"/>
              <a:t> </a:t>
            </a:r>
            <a:r>
              <a:rPr lang="en-US" dirty="0" err="1"/>
              <a:t>платформой</a:t>
            </a:r>
            <a:r>
              <a:rPr lang="en-US" dirty="0"/>
              <a:t>. </a:t>
            </a:r>
            <a:r>
              <a:rPr lang="en-US" dirty="0" err="1"/>
              <a:t>Разработчику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учитывать</a:t>
            </a:r>
            <a:r>
              <a:rPr lang="en-US" dirty="0"/>
              <a:t> </a:t>
            </a:r>
            <a:r>
              <a:rPr lang="en-US" dirty="0" err="1"/>
              <a:t>ограничения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, </a:t>
            </a:r>
            <a:r>
              <a:rPr lang="en-US" dirty="0" err="1"/>
              <a:t>особенности</a:t>
            </a:r>
            <a:r>
              <a:rPr lang="en-US" dirty="0"/>
              <a:t> </a:t>
            </a:r>
            <a:r>
              <a:rPr lang="en-US" dirty="0" err="1"/>
              <a:t>периферии</a:t>
            </a:r>
            <a:r>
              <a:rPr lang="en-US" dirty="0"/>
              <a:t> и </a:t>
            </a:r>
            <a:r>
              <a:rPr lang="en-US" dirty="0" err="1"/>
              <a:t>характеристики</a:t>
            </a:r>
            <a:r>
              <a:rPr lang="en-US" dirty="0"/>
              <a:t> </a:t>
            </a:r>
            <a:r>
              <a:rPr lang="en-US" dirty="0" err="1"/>
              <a:t>используемого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embedded-</a:t>
            </a:r>
            <a:r>
              <a:rPr lang="en-US" dirty="0" err="1"/>
              <a:t>программирование</a:t>
            </a:r>
            <a:r>
              <a:rPr lang="en-US" dirty="0"/>
              <a:t> </a:t>
            </a:r>
            <a:r>
              <a:rPr lang="en-US" dirty="0" err="1"/>
              <a:t>требует</a:t>
            </a:r>
            <a:r>
              <a:rPr lang="en-US" dirty="0"/>
              <a:t> </a:t>
            </a:r>
            <a:r>
              <a:rPr lang="en-US" dirty="0" err="1"/>
              <a:t>хорошего</a:t>
            </a:r>
            <a:r>
              <a:rPr lang="en-US" dirty="0"/>
              <a:t> </a:t>
            </a:r>
            <a:r>
              <a:rPr lang="en-US" dirty="0" err="1"/>
              <a:t>понимания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 и </a:t>
            </a:r>
            <a:r>
              <a:rPr lang="en-US" dirty="0" err="1"/>
              <a:t>низкоуровневых</a:t>
            </a:r>
            <a:r>
              <a:rPr lang="en-US" dirty="0"/>
              <a:t> </a:t>
            </a:r>
            <a:r>
              <a:rPr lang="en-US" dirty="0" err="1"/>
              <a:t>механизмов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404243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</a:t>
            </a:r>
            <a:r>
              <a:rPr lang="en-US" dirty="0" err="1"/>
              <a:t>архитектуре</a:t>
            </a:r>
            <a:r>
              <a:rPr lang="en-US" dirty="0"/>
              <a:t> AVR </a:t>
            </a:r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периферии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адресоваться</a:t>
            </a:r>
            <a:r>
              <a:rPr lang="en-US" dirty="0"/>
              <a:t> </a:t>
            </a:r>
            <a:r>
              <a:rPr lang="en-US" dirty="0" err="1"/>
              <a:t>двумя</a:t>
            </a:r>
            <a:r>
              <a:rPr lang="en-US" dirty="0"/>
              <a:t> </a:t>
            </a:r>
            <a:r>
              <a:rPr lang="en-US" dirty="0" err="1"/>
              <a:t>различными</a:t>
            </a:r>
            <a:r>
              <a:rPr lang="en-US" dirty="0"/>
              <a:t> </a:t>
            </a:r>
            <a:r>
              <a:rPr lang="en-US" dirty="0" err="1"/>
              <a:t>способами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С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стороны</a:t>
            </a:r>
            <a:r>
              <a:rPr lang="en-US" dirty="0"/>
              <a:t>, </a:t>
            </a:r>
            <a:r>
              <a:rPr lang="en-US" dirty="0" err="1"/>
              <a:t>существует</a:t>
            </a:r>
            <a:r>
              <a:rPr lang="en-US" dirty="0"/>
              <a:t> </a:t>
            </a:r>
            <a:r>
              <a:rPr lang="en-US" dirty="0" err="1"/>
              <a:t>специальное</a:t>
            </a:r>
            <a:r>
              <a:rPr lang="en-US" dirty="0"/>
              <a:t> </a:t>
            </a:r>
            <a:r>
              <a:rPr lang="en-US" dirty="0" err="1"/>
              <a:t>пространство</a:t>
            </a:r>
            <a:r>
              <a:rPr lang="en-US" dirty="0"/>
              <a:t> I/O-</a:t>
            </a:r>
            <a:r>
              <a:rPr lang="en-US" dirty="0" err="1"/>
              <a:t>адресов</a:t>
            </a:r>
            <a:r>
              <a:rPr lang="en-US" dirty="0"/>
              <a:t>, </a:t>
            </a:r>
            <a:r>
              <a:rPr lang="en-US" dirty="0" err="1"/>
              <a:t>используемое</a:t>
            </a:r>
            <a:r>
              <a:rPr lang="en-US" dirty="0"/>
              <a:t> </a:t>
            </a:r>
            <a:r>
              <a:rPr lang="en-US" dirty="0" err="1"/>
              <a:t>инструкциями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</a:t>
            </a:r>
            <a:r>
              <a:rPr lang="en-US" dirty="0"/>
              <a:t>. С </a:t>
            </a:r>
            <a:r>
              <a:rPr lang="en-US" dirty="0" err="1"/>
              <a:t>другой</a:t>
            </a:r>
            <a:r>
              <a:rPr lang="en-US" dirty="0"/>
              <a:t> </a:t>
            </a:r>
            <a:r>
              <a:rPr lang="en-US" dirty="0" err="1"/>
              <a:t>стороны</a:t>
            </a:r>
            <a:r>
              <a:rPr lang="en-US" dirty="0"/>
              <a:t>, </a:t>
            </a:r>
            <a:r>
              <a:rPr lang="en-US" dirty="0" err="1"/>
              <a:t>те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отображаются</a:t>
            </a:r>
            <a:r>
              <a:rPr lang="en-US" dirty="0"/>
              <a:t> в </a:t>
            </a:r>
            <a:r>
              <a:rPr lang="en-US" dirty="0" err="1"/>
              <a:t>общее</a:t>
            </a:r>
            <a:r>
              <a:rPr lang="en-US" dirty="0"/>
              <a:t> </a:t>
            </a:r>
            <a:r>
              <a:rPr lang="en-US" dirty="0" err="1"/>
              <a:t>адресное</a:t>
            </a:r>
            <a:r>
              <a:rPr lang="en-US" dirty="0"/>
              <a:t> </a:t>
            </a:r>
            <a:r>
              <a:rPr lang="en-US" dirty="0" err="1"/>
              <a:t>пространство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многих</a:t>
            </a:r>
            <a:r>
              <a:rPr lang="en-US" dirty="0"/>
              <a:t> I/O-</a:t>
            </a:r>
            <a:r>
              <a:rPr lang="en-US" dirty="0" err="1"/>
              <a:t>регистров</a:t>
            </a:r>
            <a:r>
              <a:rPr lang="en-US" dirty="0"/>
              <a:t> в </a:t>
            </a:r>
            <a:r>
              <a:rPr lang="en-US" dirty="0" err="1"/>
              <a:t>документации</a:t>
            </a:r>
            <a:r>
              <a:rPr lang="en-US" dirty="0"/>
              <a:t> </a:t>
            </a:r>
            <a:r>
              <a:rPr lang="en-US" dirty="0" err="1"/>
              <a:t>указываются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адреса</a:t>
            </a:r>
            <a:r>
              <a:rPr lang="en-US" dirty="0"/>
              <a:t> </a:t>
            </a:r>
            <a:r>
              <a:rPr lang="en-US" dirty="0" err="1"/>
              <a:t>одновременно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SPL</a:t>
            </a:r>
            <a:r>
              <a:rPr lang="en-US" dirty="0"/>
              <a:t>, </a:t>
            </a:r>
            <a:r>
              <a:rPr lang="en-US" dirty="0" err="1"/>
              <a:t>содержащего</a:t>
            </a:r>
            <a:r>
              <a:rPr lang="en-US" dirty="0"/>
              <a:t> </a:t>
            </a:r>
            <a:r>
              <a:rPr lang="en-US" dirty="0" err="1"/>
              <a:t>младший</a:t>
            </a:r>
            <a:r>
              <a:rPr lang="en-US" dirty="0"/>
              <a:t> </a:t>
            </a:r>
            <a:r>
              <a:rPr lang="en-US" dirty="0" err="1"/>
              <a:t>байт</a:t>
            </a:r>
            <a:r>
              <a:rPr lang="en-US" dirty="0"/>
              <a:t> </a:t>
            </a:r>
            <a:r>
              <a:rPr lang="en-US" dirty="0" err="1"/>
              <a:t>указателя</a:t>
            </a:r>
            <a:r>
              <a:rPr lang="en-US" dirty="0"/>
              <a:t> </a:t>
            </a:r>
            <a:r>
              <a:rPr lang="en-US" dirty="0" err="1"/>
              <a:t>стека</a:t>
            </a:r>
            <a:r>
              <a:rPr lang="en-US" dirty="0"/>
              <a:t>, </a:t>
            </a:r>
            <a:r>
              <a:rPr lang="en-US" dirty="0" err="1"/>
              <a:t>можно</a:t>
            </a:r>
            <a:r>
              <a:rPr lang="en-US" dirty="0"/>
              <a:t> </a:t>
            </a:r>
            <a:r>
              <a:rPr lang="en-US" dirty="0" err="1"/>
              <a:t>увидеть</a:t>
            </a:r>
            <a:r>
              <a:rPr lang="en-US" dirty="0"/>
              <a:t> </a:t>
            </a:r>
            <a:r>
              <a:rPr lang="en-US" dirty="0" err="1"/>
              <a:t>запись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SPL – 0x3D (0x5D)</a:t>
            </a:r>
          </a:p>
          <a:p>
            <a:pPr rtl="0"/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dirty="0" err="1"/>
              <a:t>Адрес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0x3D</a:t>
            </a:r>
            <a:r>
              <a:rPr lang="en-US" dirty="0"/>
              <a:t> </a:t>
            </a:r>
            <a:r>
              <a:rPr lang="en-US" dirty="0" err="1"/>
              <a:t>соответствует</a:t>
            </a:r>
            <a:r>
              <a:rPr lang="en-US" dirty="0"/>
              <a:t> I/O-</a:t>
            </a:r>
            <a:r>
              <a:rPr lang="en-US" dirty="0" err="1"/>
              <a:t>пространству</a:t>
            </a:r>
            <a:r>
              <a:rPr lang="en-US" dirty="0"/>
              <a:t> и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инструкциями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</a:t>
            </a:r>
            <a:r>
              <a:rPr lang="en-US" dirty="0"/>
              <a:t>.</a:t>
            </a:r>
          </a:p>
          <a:p>
            <a:r>
              <a:rPr lang="en-US" dirty="0" err="1"/>
              <a:t>Адрес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0x5D</a:t>
            </a:r>
            <a:r>
              <a:rPr lang="en-US" dirty="0"/>
              <a:t>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адрес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 в </a:t>
            </a:r>
            <a:r>
              <a:rPr lang="en-US" dirty="0" err="1"/>
              <a:t>общем</a:t>
            </a:r>
            <a:r>
              <a:rPr lang="en-US" dirty="0"/>
              <a:t> </a:t>
            </a:r>
            <a:r>
              <a:rPr lang="en-US" dirty="0" err="1"/>
              <a:t>адресном</a:t>
            </a:r>
            <a:r>
              <a:rPr lang="en-US" dirty="0"/>
              <a:t> </a:t>
            </a:r>
            <a:r>
              <a:rPr lang="en-US" dirty="0" err="1"/>
              <a:t>пространстве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Связь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этими</a:t>
            </a:r>
            <a:r>
              <a:rPr lang="en-US" dirty="0"/>
              <a:t> </a:t>
            </a:r>
            <a:r>
              <a:rPr lang="en-US" dirty="0" err="1"/>
              <a:t>адресами</a:t>
            </a:r>
            <a:r>
              <a:rPr lang="en-US" dirty="0"/>
              <a:t> </a:t>
            </a:r>
            <a:r>
              <a:rPr lang="en-US" dirty="0" err="1"/>
              <a:t>определяется</a:t>
            </a:r>
            <a:r>
              <a:rPr lang="en-US" dirty="0"/>
              <a:t> </a:t>
            </a:r>
            <a:r>
              <a:rPr lang="en-US" dirty="0" err="1"/>
              <a:t>простым</a:t>
            </a:r>
            <a:r>
              <a:rPr lang="en-US" dirty="0"/>
              <a:t> </a:t>
            </a:r>
            <a:r>
              <a:rPr lang="en-US" dirty="0" err="1"/>
              <a:t>соотношением</a:t>
            </a:r>
            <a:r>
              <a:rPr lang="en-US" dirty="0"/>
              <a:t>: </a:t>
            </a:r>
            <a:r>
              <a:rPr lang="en-US" dirty="0" err="1"/>
              <a:t>адрес</a:t>
            </a:r>
            <a:r>
              <a:rPr lang="en-US" dirty="0"/>
              <a:t> в 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равен</a:t>
            </a:r>
            <a:r>
              <a:rPr lang="en-US" dirty="0"/>
              <a:t> I/O-</a:t>
            </a:r>
            <a:r>
              <a:rPr lang="en-US" dirty="0" err="1"/>
              <a:t>адресу</a:t>
            </a:r>
            <a:r>
              <a:rPr lang="en-US" dirty="0"/>
              <a:t> </a:t>
            </a:r>
            <a:r>
              <a:rPr lang="en-US" dirty="0" err="1"/>
              <a:t>плюс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0x20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связано</a:t>
            </a:r>
            <a:r>
              <a:rPr lang="en-US" dirty="0"/>
              <a:t> с </a:t>
            </a:r>
            <a:r>
              <a:rPr lang="en-US" dirty="0" err="1"/>
              <a:t>тем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первые</a:t>
            </a:r>
            <a:r>
              <a:rPr lang="en-US" dirty="0"/>
              <a:t> </a:t>
            </a:r>
            <a:r>
              <a:rPr lang="en-US" dirty="0" err="1"/>
              <a:t>области</a:t>
            </a:r>
            <a:r>
              <a:rPr lang="en-US" dirty="0"/>
              <a:t> </a:t>
            </a:r>
            <a:r>
              <a:rPr lang="en-US" dirty="0" err="1"/>
              <a:t>адресного</a:t>
            </a:r>
            <a:r>
              <a:rPr lang="en-US" dirty="0"/>
              <a:t> </a:t>
            </a:r>
            <a:r>
              <a:rPr lang="en-US" dirty="0" err="1"/>
              <a:t>пространства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AVR </a:t>
            </a:r>
            <a:r>
              <a:rPr lang="en-US" dirty="0" err="1"/>
              <a:t>заняты</a:t>
            </a:r>
            <a:r>
              <a:rPr lang="en-US" dirty="0"/>
              <a:t> </a:t>
            </a:r>
            <a:r>
              <a:rPr lang="en-US" dirty="0" err="1"/>
              <a:t>регистровым</a:t>
            </a:r>
            <a:r>
              <a:rPr lang="en-US" dirty="0"/>
              <a:t> </a:t>
            </a:r>
            <a:r>
              <a:rPr lang="en-US" dirty="0" err="1"/>
              <a:t>файло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Наличие</a:t>
            </a:r>
            <a:r>
              <a:rPr lang="en-US" dirty="0"/>
              <a:t> </a:t>
            </a:r>
            <a:r>
              <a:rPr lang="en-US" dirty="0" err="1"/>
              <a:t>отдельного</a:t>
            </a:r>
            <a:r>
              <a:rPr lang="en-US" dirty="0"/>
              <a:t> I/O-</a:t>
            </a:r>
            <a:r>
              <a:rPr lang="en-US" dirty="0" err="1"/>
              <a:t>пространства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специальные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</a:t>
            </a:r>
            <a:r>
              <a:rPr lang="en-US" dirty="0"/>
              <a:t> и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OUT</a:t>
            </a:r>
            <a:r>
              <a:rPr lang="en-US" dirty="0"/>
              <a:t>, </a:t>
            </a:r>
            <a:r>
              <a:rPr lang="en-US" dirty="0" err="1"/>
              <a:t>которые</a:t>
            </a:r>
            <a:r>
              <a:rPr lang="en-US" dirty="0"/>
              <a:t> </a:t>
            </a:r>
            <a:r>
              <a:rPr lang="en-US" dirty="0" err="1"/>
              <a:t>имеют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компактное</a:t>
            </a:r>
            <a:r>
              <a:rPr lang="en-US" dirty="0"/>
              <a:t> </a:t>
            </a:r>
            <a:r>
              <a:rPr lang="en-US" dirty="0" err="1"/>
              <a:t>кодирование</a:t>
            </a:r>
            <a:r>
              <a:rPr lang="en-US" dirty="0"/>
              <a:t> и </a:t>
            </a:r>
            <a:r>
              <a:rPr lang="en-US" dirty="0" err="1"/>
              <a:t>эффективно</a:t>
            </a:r>
            <a:r>
              <a:rPr lang="en-US" dirty="0"/>
              <a:t> </a:t>
            </a:r>
            <a:r>
              <a:rPr lang="en-US" dirty="0" err="1"/>
              <a:t>работают</a:t>
            </a:r>
            <a:r>
              <a:rPr lang="en-US" dirty="0"/>
              <a:t> с </a:t>
            </a:r>
            <a:r>
              <a:rPr lang="en-US" dirty="0" err="1"/>
              <a:t>периферийными</a:t>
            </a:r>
            <a:r>
              <a:rPr lang="en-US" dirty="0"/>
              <a:t> </a:t>
            </a:r>
            <a:r>
              <a:rPr lang="en-US" dirty="0" err="1"/>
              <a:t>регистрами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Одновременно</a:t>
            </a:r>
            <a:r>
              <a:rPr lang="en-US" dirty="0"/>
              <a:t> </a:t>
            </a:r>
            <a:r>
              <a:rPr lang="en-US" dirty="0" err="1"/>
              <a:t>отображение</a:t>
            </a:r>
            <a:r>
              <a:rPr lang="en-US" dirty="0"/>
              <a:t> I/O-</a:t>
            </a:r>
            <a:r>
              <a:rPr lang="en-US" dirty="0" err="1"/>
              <a:t>регистров</a:t>
            </a:r>
            <a:r>
              <a:rPr lang="en-US" dirty="0"/>
              <a:t> в </a:t>
            </a:r>
            <a:r>
              <a:rPr lang="en-US" dirty="0" err="1"/>
              <a:t>общее</a:t>
            </a:r>
            <a:r>
              <a:rPr lang="en-US" dirty="0"/>
              <a:t> </a:t>
            </a:r>
            <a:r>
              <a:rPr lang="en-US" dirty="0" err="1"/>
              <a:t>адресное</a:t>
            </a:r>
            <a:r>
              <a:rPr lang="en-US" dirty="0"/>
              <a:t> </a:t>
            </a:r>
            <a:r>
              <a:rPr lang="en-US" dirty="0" err="1"/>
              <a:t>пространство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обращаться</a:t>
            </a:r>
            <a:r>
              <a:rPr lang="en-US" dirty="0"/>
              <a:t> к </a:t>
            </a:r>
            <a:r>
              <a:rPr lang="en-US" dirty="0" err="1"/>
              <a:t>ним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к </a:t>
            </a:r>
            <a:r>
              <a:rPr lang="en-US" dirty="0" err="1"/>
              <a:t>обычной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, </a:t>
            </a:r>
            <a:r>
              <a:rPr lang="en-US" dirty="0" err="1"/>
              <a:t>используя</a:t>
            </a:r>
            <a:r>
              <a:rPr lang="en-US" dirty="0"/>
              <a:t> </a:t>
            </a:r>
            <a:r>
              <a:rPr lang="en-US" dirty="0" err="1"/>
              <a:t>стандартные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dirty="0" err="1"/>
              <a:t>загрузки</a:t>
            </a:r>
            <a:r>
              <a:rPr lang="en-US" dirty="0"/>
              <a:t> и </a:t>
            </a:r>
            <a:r>
              <a:rPr lang="en-US" dirty="0" err="1"/>
              <a:t>сохранения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характерных</a:t>
            </a:r>
            <a:r>
              <a:rPr lang="en-US" dirty="0"/>
              <a:t> </a:t>
            </a:r>
            <a:r>
              <a:rPr lang="en-US" dirty="0" err="1"/>
              <a:t>особенностей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AVR и </a:t>
            </a:r>
            <a:r>
              <a:rPr lang="en-US" dirty="0" err="1"/>
              <a:t>представляет</a:t>
            </a:r>
            <a:r>
              <a:rPr lang="en-US" dirty="0"/>
              <a:t> </a:t>
            </a:r>
            <a:r>
              <a:rPr lang="en-US" dirty="0" err="1"/>
              <a:t>собой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memory-mapped I/O.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795798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27115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подачи</a:t>
            </a:r>
            <a:r>
              <a:rPr lang="en-US" dirty="0"/>
              <a:t> </a:t>
            </a:r>
            <a:r>
              <a:rPr lang="en-US" dirty="0" err="1"/>
              <a:t>питания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сброса</a:t>
            </a:r>
            <a:r>
              <a:rPr lang="en-US" dirty="0"/>
              <a:t> </a:t>
            </a:r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с </a:t>
            </a:r>
            <a:r>
              <a:rPr lang="en-US" dirty="0" err="1"/>
              <a:t>заранее</a:t>
            </a:r>
            <a:r>
              <a:rPr lang="en-US" dirty="0"/>
              <a:t> </a:t>
            </a:r>
            <a:r>
              <a:rPr lang="en-US" dirty="0" err="1"/>
              <a:t>определённого</a:t>
            </a:r>
            <a:r>
              <a:rPr lang="en-US" dirty="0"/>
              <a:t> </a:t>
            </a:r>
            <a:r>
              <a:rPr lang="en-US" dirty="0" err="1"/>
              <a:t>адреса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, </a:t>
            </a:r>
            <a:r>
              <a:rPr lang="en-US" dirty="0" err="1"/>
              <a:t>называемого</a:t>
            </a:r>
            <a:r>
              <a:rPr lang="en-US" dirty="0"/>
              <a:t> reset vector.</a:t>
            </a:r>
          </a:p>
          <a:p>
            <a:r>
              <a:rPr lang="en-US" dirty="0"/>
              <a:t>Reset vector </a:t>
            </a:r>
            <a:r>
              <a:rPr lang="en-US" dirty="0" err="1"/>
              <a:t>представляет</a:t>
            </a:r>
            <a:r>
              <a:rPr lang="en-US" dirty="0"/>
              <a:t> </a:t>
            </a:r>
            <a:r>
              <a:rPr lang="en-US" dirty="0" err="1"/>
              <a:t>собой</a:t>
            </a:r>
            <a:r>
              <a:rPr lang="en-US" dirty="0"/>
              <a:t> </a:t>
            </a:r>
            <a:r>
              <a:rPr lang="en-US" dirty="0" err="1"/>
              <a:t>начальную</a:t>
            </a:r>
            <a:r>
              <a:rPr lang="en-US" dirty="0"/>
              <a:t> </a:t>
            </a:r>
            <a:r>
              <a:rPr lang="en-US" dirty="0" err="1"/>
              <a:t>точку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 </a:t>
            </a:r>
            <a:r>
              <a:rPr lang="en-US" dirty="0" err="1"/>
              <a:t>Обычно</a:t>
            </a:r>
            <a:r>
              <a:rPr lang="en-US" dirty="0"/>
              <a:t> в </a:t>
            </a:r>
            <a:r>
              <a:rPr lang="en-US" dirty="0" err="1"/>
              <a:t>этом</a:t>
            </a:r>
            <a:r>
              <a:rPr lang="en-US" dirty="0"/>
              <a:t> </a:t>
            </a:r>
            <a:r>
              <a:rPr lang="en-US" dirty="0" err="1"/>
              <a:t>месте</a:t>
            </a:r>
            <a:r>
              <a:rPr lang="en-US" dirty="0"/>
              <a:t> </a:t>
            </a:r>
            <a:r>
              <a:rPr lang="en-US" dirty="0" err="1"/>
              <a:t>располагается</a:t>
            </a:r>
            <a:r>
              <a:rPr lang="en-US" dirty="0"/>
              <a:t> </a:t>
            </a:r>
            <a:r>
              <a:rPr lang="en-US" dirty="0" err="1"/>
              <a:t>инструкция</a:t>
            </a:r>
            <a:r>
              <a:rPr lang="en-US" dirty="0"/>
              <a:t> </a:t>
            </a:r>
            <a:r>
              <a:rPr lang="en-US" dirty="0" err="1"/>
              <a:t>перехода</a:t>
            </a:r>
            <a:r>
              <a:rPr lang="en-US" dirty="0"/>
              <a:t> к startup code — </a:t>
            </a:r>
            <a:r>
              <a:rPr lang="en-US" dirty="0" err="1"/>
              <a:t>специальному</a:t>
            </a:r>
            <a:r>
              <a:rPr lang="en-US" dirty="0"/>
              <a:t> </a:t>
            </a:r>
            <a:r>
              <a:rPr lang="en-US" dirty="0" err="1"/>
              <a:t>коду</a:t>
            </a:r>
            <a:r>
              <a:rPr lang="en-US" dirty="0"/>
              <a:t> </a:t>
            </a:r>
            <a:r>
              <a:rPr lang="en-US" dirty="0" err="1"/>
              <a:t>инициализации</a:t>
            </a:r>
            <a:r>
              <a:rPr lang="en-US" dirty="0"/>
              <a:t> </a:t>
            </a:r>
            <a:r>
              <a:rPr lang="en-US" dirty="0" err="1"/>
              <a:t>среды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к </a:t>
            </a:r>
            <a:r>
              <a:rPr lang="en-US" dirty="0" err="1"/>
              <a:t>моменту</a:t>
            </a:r>
            <a:r>
              <a:rPr lang="en-US" dirty="0"/>
              <a:t> </a:t>
            </a:r>
            <a:r>
              <a:rPr lang="en-US" dirty="0" err="1"/>
              <a:t>начала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оперативная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</a:t>
            </a:r>
            <a:r>
              <a:rPr lang="en-US" dirty="0" err="1"/>
              <a:t>ещё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подготовлена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.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перед</a:t>
            </a:r>
            <a:r>
              <a:rPr lang="en-US" dirty="0"/>
              <a:t> </a:t>
            </a:r>
            <a:r>
              <a:rPr lang="en-US" dirty="0" err="1"/>
              <a:t>вызовом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main()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выполнить</a:t>
            </a:r>
            <a:r>
              <a:rPr lang="en-US" dirty="0"/>
              <a:t> </a:t>
            </a:r>
            <a:r>
              <a:rPr lang="en-US" dirty="0" err="1"/>
              <a:t>ряд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 </a:t>
            </a:r>
            <a:r>
              <a:rPr lang="en-US" dirty="0" err="1"/>
              <a:t>инициализации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Во-первых</a:t>
            </a:r>
            <a:r>
              <a:rPr lang="en-US" dirty="0"/>
              <a:t>, startup code </a:t>
            </a:r>
            <a:r>
              <a:rPr lang="en-US" dirty="0" err="1"/>
              <a:t>настраивает</a:t>
            </a:r>
            <a:r>
              <a:rPr lang="en-US" dirty="0"/>
              <a:t> Stack Pointer — </a:t>
            </a:r>
            <a:r>
              <a:rPr lang="en-US" dirty="0" err="1"/>
              <a:t>указатель</a:t>
            </a:r>
            <a:r>
              <a:rPr lang="en-US" dirty="0"/>
              <a:t> </a:t>
            </a:r>
            <a:r>
              <a:rPr lang="en-US" dirty="0" err="1"/>
              <a:t>стека</a:t>
            </a:r>
            <a:r>
              <a:rPr lang="en-US" dirty="0"/>
              <a:t>.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стек</a:t>
            </a:r>
            <a:r>
              <a:rPr lang="en-US" dirty="0"/>
              <a:t> </a:t>
            </a:r>
            <a:r>
              <a:rPr lang="en-US" dirty="0" err="1"/>
              <a:t>располагается</a:t>
            </a:r>
            <a:r>
              <a:rPr lang="en-US" dirty="0"/>
              <a:t> в SRAM, </a:t>
            </a:r>
            <a:r>
              <a:rPr lang="en-US" dirty="0" err="1"/>
              <a:t>процессор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знать</a:t>
            </a:r>
            <a:r>
              <a:rPr lang="en-US" dirty="0"/>
              <a:t> </a:t>
            </a:r>
            <a:r>
              <a:rPr lang="en-US" dirty="0" err="1"/>
              <a:t>начальный</a:t>
            </a:r>
            <a:r>
              <a:rPr lang="en-US" dirty="0"/>
              <a:t> </a:t>
            </a:r>
            <a:r>
              <a:rPr lang="en-US" dirty="0" err="1"/>
              <a:t>адрес</a:t>
            </a:r>
            <a:r>
              <a:rPr lang="en-US" dirty="0"/>
              <a:t> </a:t>
            </a:r>
            <a:r>
              <a:rPr lang="en-US" dirty="0" err="1"/>
              <a:t>области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, </a:t>
            </a:r>
            <a:r>
              <a:rPr lang="en-US" dirty="0" err="1"/>
              <a:t>используемой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стековых</a:t>
            </a:r>
            <a:r>
              <a:rPr lang="en-US" dirty="0"/>
              <a:t> </a:t>
            </a:r>
            <a:r>
              <a:rPr lang="en-US" dirty="0" err="1"/>
              <a:t>кадров</a:t>
            </a:r>
            <a:r>
              <a:rPr lang="en-US" dirty="0"/>
              <a:t> и </a:t>
            </a:r>
            <a:r>
              <a:rPr lang="en-US" dirty="0" err="1"/>
              <a:t>сохранения</a:t>
            </a:r>
            <a:r>
              <a:rPr lang="en-US" dirty="0"/>
              <a:t> </a:t>
            </a:r>
            <a:r>
              <a:rPr lang="en-US" dirty="0" err="1"/>
              <a:t>адресов</a:t>
            </a:r>
            <a:r>
              <a:rPr lang="en-US" dirty="0"/>
              <a:t> </a:t>
            </a:r>
            <a:r>
              <a:rPr lang="en-US" dirty="0" err="1"/>
              <a:t>возврата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Во-вторых</a:t>
            </a:r>
            <a:r>
              <a:rPr lang="en-US" dirty="0"/>
              <a:t>,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инициализация</a:t>
            </a:r>
            <a:r>
              <a:rPr lang="en-US" dirty="0"/>
              <a:t> </a:t>
            </a:r>
            <a:r>
              <a:rPr lang="en-US" dirty="0" err="1"/>
              <a:t>глобальных</a:t>
            </a:r>
            <a:r>
              <a:rPr lang="en-US" dirty="0"/>
              <a:t> </a:t>
            </a:r>
            <a:r>
              <a:rPr lang="en-US" dirty="0" err="1"/>
              <a:t>переменных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Глобальные</a:t>
            </a:r>
            <a:r>
              <a:rPr lang="en-US" dirty="0"/>
              <a:t> и </a:t>
            </a:r>
            <a:r>
              <a:rPr lang="en-US" dirty="0" err="1"/>
              <a:t>статические</a:t>
            </a:r>
            <a:r>
              <a:rPr lang="en-US" dirty="0"/>
              <a:t> </a:t>
            </a:r>
            <a:r>
              <a:rPr lang="en-US" dirty="0" err="1"/>
              <a:t>переменные</a:t>
            </a:r>
            <a:r>
              <a:rPr lang="en-US" dirty="0"/>
              <a:t> с </a:t>
            </a:r>
            <a:r>
              <a:rPr lang="en-US" dirty="0" err="1"/>
              <a:t>ненулевой</a:t>
            </a:r>
            <a:r>
              <a:rPr lang="en-US" dirty="0"/>
              <a:t> </a:t>
            </a:r>
            <a:r>
              <a:rPr lang="en-US" dirty="0" err="1"/>
              <a:t>инициализацией</a:t>
            </a:r>
            <a:r>
              <a:rPr lang="en-US" dirty="0"/>
              <a:t> </a:t>
            </a:r>
            <a:r>
              <a:rPr lang="en-US" dirty="0" err="1"/>
              <a:t>располагаются</a:t>
            </a:r>
            <a:r>
              <a:rPr lang="en-US" dirty="0"/>
              <a:t> в </a:t>
            </a:r>
            <a:r>
              <a:rPr lang="en-US" dirty="0" err="1"/>
              <a:t>секции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.data</a:t>
            </a:r>
            <a:r>
              <a:rPr lang="en-US" dirty="0"/>
              <a:t>. </a:t>
            </a:r>
            <a:r>
              <a:rPr lang="en-US" dirty="0" err="1"/>
              <a:t>Их</a:t>
            </a:r>
            <a:r>
              <a:rPr lang="en-US" dirty="0"/>
              <a:t> </a:t>
            </a:r>
            <a:r>
              <a:rPr lang="en-US" dirty="0" err="1"/>
              <a:t>начальные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хранятся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flash-</a:t>
            </a:r>
            <a:r>
              <a:rPr lang="en-US" dirty="0" err="1"/>
              <a:t>памяти</a:t>
            </a:r>
            <a:r>
              <a:rPr lang="en-US" dirty="0"/>
              <a:t> и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запуске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копируются</a:t>
            </a:r>
            <a:r>
              <a:rPr lang="en-US" dirty="0"/>
              <a:t> в SRAM.</a:t>
            </a:r>
          </a:p>
          <a:p>
            <a:r>
              <a:rPr lang="en-US" dirty="0" err="1"/>
              <a:t>Переменные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явной</a:t>
            </a:r>
            <a:r>
              <a:rPr lang="en-US" dirty="0"/>
              <a:t> </a:t>
            </a:r>
            <a:r>
              <a:rPr lang="en-US" dirty="0" err="1"/>
              <a:t>инициализации</a:t>
            </a:r>
            <a:r>
              <a:rPr lang="en-US" dirty="0"/>
              <a:t> </a:t>
            </a:r>
            <a:r>
              <a:rPr lang="en-US" dirty="0" err="1"/>
              <a:t>располагаются</a:t>
            </a:r>
            <a:r>
              <a:rPr lang="en-US" dirty="0"/>
              <a:t> в </a:t>
            </a:r>
            <a:r>
              <a:rPr lang="en-US" dirty="0" err="1"/>
              <a:t>секции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bss</a:t>
            </a:r>
            <a:r>
              <a:rPr lang="en-US" dirty="0"/>
              <a:t>. </a:t>
            </a:r>
            <a:r>
              <a:rPr lang="en-US" dirty="0" err="1"/>
              <a:t>Согласно</a:t>
            </a:r>
            <a:r>
              <a:rPr lang="en-US" dirty="0"/>
              <a:t> </a:t>
            </a:r>
            <a:r>
              <a:rPr lang="en-US" dirty="0" err="1"/>
              <a:t>правилам</a:t>
            </a:r>
            <a:r>
              <a:rPr lang="en-US" dirty="0"/>
              <a:t> </a:t>
            </a:r>
            <a:r>
              <a:rPr lang="en-US" dirty="0" err="1"/>
              <a:t>языка</a:t>
            </a:r>
            <a:r>
              <a:rPr lang="en-US" dirty="0"/>
              <a:t> C </a:t>
            </a:r>
            <a:r>
              <a:rPr lang="en-US" dirty="0" err="1"/>
              <a:t>они</a:t>
            </a:r>
            <a:r>
              <a:rPr lang="en-US" dirty="0"/>
              <a:t> </a:t>
            </a:r>
            <a:r>
              <a:rPr lang="en-US" dirty="0" err="1"/>
              <a:t>должны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инициализированы</a:t>
            </a:r>
            <a:r>
              <a:rPr lang="en-US" dirty="0"/>
              <a:t> </a:t>
            </a:r>
            <a:r>
              <a:rPr lang="en-US" dirty="0" err="1"/>
              <a:t>нулём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startup code </a:t>
            </a:r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очистку</a:t>
            </a:r>
            <a:r>
              <a:rPr lang="en-US" dirty="0"/>
              <a:t> </a:t>
            </a:r>
            <a:r>
              <a:rPr lang="en-US" dirty="0" err="1"/>
              <a:t>соответствующей</a:t>
            </a:r>
            <a:r>
              <a:rPr lang="en-US" dirty="0"/>
              <a:t> </a:t>
            </a:r>
            <a:r>
              <a:rPr lang="en-US" dirty="0" err="1"/>
              <a:t>области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</a:t>
            </a:r>
          </a:p>
          <a:p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 </a:t>
            </a:r>
            <a:r>
              <a:rPr lang="en-US" dirty="0" err="1"/>
              <a:t>этих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 </a:t>
            </a:r>
            <a:r>
              <a:rPr lang="en-US" dirty="0" err="1"/>
              <a:t>вызывается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main()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, </a:t>
            </a:r>
            <a:r>
              <a:rPr lang="en-US" dirty="0" err="1"/>
              <a:t>даже</a:t>
            </a:r>
            <a:r>
              <a:rPr lang="en-US" dirty="0"/>
              <a:t> </a:t>
            </a:r>
            <a:r>
              <a:rPr lang="en-US" dirty="0" err="1"/>
              <a:t>простая</a:t>
            </a:r>
            <a:r>
              <a:rPr lang="en-US" dirty="0"/>
              <a:t> embedded-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фактически</a:t>
            </a:r>
            <a:r>
              <a:rPr lang="en-US" dirty="0"/>
              <a:t>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работу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с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main()</a:t>
            </a:r>
            <a:r>
              <a:rPr lang="en-US" dirty="0"/>
              <a:t>, а с </a:t>
            </a:r>
            <a:r>
              <a:rPr lang="en-US" dirty="0" err="1"/>
              <a:t>низкоуровневого</a:t>
            </a:r>
            <a:r>
              <a:rPr lang="en-US" dirty="0"/>
              <a:t> startup code,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подготавливает</a:t>
            </a:r>
            <a:r>
              <a:rPr lang="en-US" dirty="0"/>
              <a:t> </a:t>
            </a:r>
            <a:r>
              <a:rPr lang="en-US" dirty="0" err="1"/>
              <a:t>аппаратную</a:t>
            </a:r>
            <a:r>
              <a:rPr lang="en-US" dirty="0"/>
              <a:t> и </a:t>
            </a:r>
            <a:r>
              <a:rPr lang="en-US" dirty="0" err="1"/>
              <a:t>программную</a:t>
            </a:r>
            <a:r>
              <a:rPr lang="en-US" dirty="0"/>
              <a:t> </a:t>
            </a:r>
            <a:r>
              <a:rPr lang="en-US" dirty="0" err="1"/>
              <a:t>среду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.</a:t>
            </a:r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хорошо</a:t>
            </a:r>
            <a:r>
              <a:rPr lang="en-US" dirty="0"/>
              <a:t> </a:t>
            </a:r>
            <a:r>
              <a:rPr lang="en-US" dirty="0" err="1"/>
              <a:t>демонстрирует</a:t>
            </a:r>
            <a:r>
              <a:rPr lang="en-US" dirty="0"/>
              <a:t>, </a:t>
            </a:r>
            <a:r>
              <a:rPr lang="en-US" dirty="0" err="1"/>
              <a:t>насколько</a:t>
            </a:r>
            <a:r>
              <a:rPr lang="en-US" dirty="0"/>
              <a:t> </a:t>
            </a:r>
            <a:r>
              <a:rPr lang="en-US" dirty="0" err="1"/>
              <a:t>тесно</a:t>
            </a:r>
            <a:r>
              <a:rPr lang="en-US" dirty="0"/>
              <a:t> embedded-</a:t>
            </a:r>
            <a:r>
              <a:rPr lang="en-US" dirty="0" err="1"/>
              <a:t>программирование</a:t>
            </a:r>
            <a:r>
              <a:rPr lang="en-US" dirty="0"/>
              <a:t> </a:t>
            </a:r>
            <a:r>
              <a:rPr lang="en-US" dirty="0" err="1"/>
              <a:t>связано</a:t>
            </a:r>
            <a:r>
              <a:rPr lang="en-US" dirty="0"/>
              <a:t> с </a:t>
            </a:r>
            <a:r>
              <a:rPr lang="en-US" dirty="0" err="1"/>
              <a:t>архитектурой</a:t>
            </a:r>
            <a:r>
              <a:rPr lang="en-US" dirty="0"/>
              <a:t> </a:t>
            </a:r>
            <a:r>
              <a:rPr lang="en-US" dirty="0" err="1"/>
              <a:t>процессора</a:t>
            </a:r>
            <a:r>
              <a:rPr lang="en-US" dirty="0"/>
              <a:t>, </a:t>
            </a:r>
            <a:r>
              <a:rPr lang="en-US" dirty="0" err="1"/>
              <a:t>организацией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и </a:t>
            </a:r>
            <a:r>
              <a:rPr lang="en-US" dirty="0" err="1"/>
              <a:t>устройством</a:t>
            </a:r>
            <a:r>
              <a:rPr lang="en-US" dirty="0"/>
              <a:t> runtime-</a:t>
            </a:r>
            <a:r>
              <a:rPr lang="en-US" dirty="0" err="1"/>
              <a:t>среды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4962969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Одним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наиболее</a:t>
            </a:r>
            <a:r>
              <a:rPr lang="en-US" dirty="0"/>
              <a:t> </a:t>
            </a:r>
            <a:r>
              <a:rPr lang="en-US" dirty="0" err="1"/>
              <a:t>важных</a:t>
            </a:r>
            <a:r>
              <a:rPr lang="en-US" dirty="0"/>
              <a:t> </a:t>
            </a:r>
            <a:r>
              <a:rPr lang="en-US" dirty="0" err="1"/>
              <a:t>механизмов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с </a:t>
            </a:r>
            <a:r>
              <a:rPr lang="en-US" dirty="0" err="1"/>
              <a:t>внешним</a:t>
            </a:r>
            <a:r>
              <a:rPr lang="en-US" dirty="0"/>
              <a:t> </a:t>
            </a:r>
            <a:r>
              <a:rPr lang="en-US" dirty="0" err="1"/>
              <a:t>миром</a:t>
            </a:r>
            <a:r>
              <a:rPr lang="en-US" dirty="0"/>
              <a:t> </a:t>
            </a:r>
            <a:r>
              <a:rPr lang="en-US" dirty="0" err="1"/>
              <a:t>являются</a:t>
            </a:r>
            <a:r>
              <a:rPr lang="en-US" dirty="0"/>
              <a:t> GPIO — General Purpose Input/Output.</a:t>
            </a:r>
          </a:p>
          <a:p>
            <a:endParaRPr lang="en-US" dirty="0"/>
          </a:p>
          <a:p>
            <a:r>
              <a:rPr lang="en-US" dirty="0"/>
              <a:t>GPIO </a:t>
            </a:r>
            <a:r>
              <a:rPr lang="en-US" dirty="0" err="1"/>
              <a:t>представляют</a:t>
            </a:r>
            <a:r>
              <a:rPr lang="en-US" dirty="0"/>
              <a:t> </a:t>
            </a:r>
            <a:r>
              <a:rPr lang="en-US" dirty="0" err="1"/>
              <a:t>собой</a:t>
            </a:r>
            <a:r>
              <a:rPr lang="en-US" dirty="0"/>
              <a:t> </a:t>
            </a:r>
            <a:r>
              <a:rPr lang="en-US" dirty="0" err="1"/>
              <a:t>универсальные</a:t>
            </a:r>
            <a:r>
              <a:rPr lang="en-US" dirty="0"/>
              <a:t> </a:t>
            </a:r>
            <a:r>
              <a:rPr lang="en-US" dirty="0" err="1"/>
              <a:t>цифровые</a:t>
            </a:r>
            <a:r>
              <a:rPr lang="en-US" dirty="0"/>
              <a:t> </a:t>
            </a:r>
            <a:r>
              <a:rPr lang="en-US" dirty="0" err="1"/>
              <a:t>выводы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,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которых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программно</a:t>
            </a:r>
            <a:r>
              <a:rPr lang="en-US" dirty="0"/>
              <a:t> </a:t>
            </a:r>
            <a:r>
              <a:rPr lang="en-US" dirty="0" err="1"/>
              <a:t>изменяться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считываться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С </a:t>
            </a:r>
            <a:r>
              <a:rPr lang="en-US" dirty="0" err="1"/>
              <a:t>помощью</a:t>
            </a:r>
            <a:r>
              <a:rPr lang="en-US" dirty="0"/>
              <a:t> GPIO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управлять</a:t>
            </a:r>
            <a:r>
              <a:rPr lang="en-US" dirty="0"/>
              <a:t> </a:t>
            </a:r>
            <a:r>
              <a:rPr lang="en-US" dirty="0" err="1"/>
              <a:t>внешними</a:t>
            </a:r>
            <a:r>
              <a:rPr lang="en-US" dirty="0"/>
              <a:t> </a:t>
            </a:r>
            <a:r>
              <a:rPr lang="en-US" dirty="0" err="1"/>
              <a:t>устройствами</a:t>
            </a:r>
            <a:r>
              <a:rPr lang="en-US" dirty="0"/>
              <a:t> —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включать</a:t>
            </a:r>
            <a:r>
              <a:rPr lang="en-US" dirty="0"/>
              <a:t> </a:t>
            </a:r>
            <a:r>
              <a:rPr lang="en-US" dirty="0" err="1"/>
              <a:t>светодиоды</a:t>
            </a:r>
            <a:r>
              <a:rPr lang="en-US" dirty="0"/>
              <a:t>, </a:t>
            </a:r>
            <a:r>
              <a:rPr lang="en-US" dirty="0" err="1"/>
              <a:t>переключать</a:t>
            </a:r>
            <a:r>
              <a:rPr lang="en-US" dirty="0"/>
              <a:t> </a:t>
            </a:r>
            <a:r>
              <a:rPr lang="en-US" dirty="0" err="1"/>
              <a:t>реле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передавать</a:t>
            </a:r>
            <a:r>
              <a:rPr lang="en-US" dirty="0"/>
              <a:t> </a:t>
            </a:r>
            <a:r>
              <a:rPr lang="en-US" dirty="0" err="1"/>
              <a:t>цифровые</a:t>
            </a:r>
            <a:r>
              <a:rPr lang="en-US" dirty="0"/>
              <a:t> </a:t>
            </a:r>
            <a:r>
              <a:rPr lang="en-US" dirty="0" err="1"/>
              <a:t>сигналы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Одновременно</a:t>
            </a:r>
            <a:r>
              <a:rPr lang="en-US" dirty="0"/>
              <a:t> GPIO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использоваться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считывания</a:t>
            </a:r>
            <a:r>
              <a:rPr lang="en-US" dirty="0"/>
              <a:t> </a:t>
            </a:r>
            <a:r>
              <a:rPr lang="en-US" dirty="0" err="1"/>
              <a:t>внешних</a:t>
            </a:r>
            <a:r>
              <a:rPr lang="en-US" dirty="0"/>
              <a:t> </a:t>
            </a:r>
            <a:r>
              <a:rPr lang="en-US" dirty="0" err="1"/>
              <a:t>сигналов</a:t>
            </a:r>
            <a:r>
              <a:rPr lang="en-US" dirty="0"/>
              <a:t> —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состояния</a:t>
            </a:r>
            <a:r>
              <a:rPr lang="en-US" dirty="0"/>
              <a:t> </a:t>
            </a:r>
            <a:r>
              <a:rPr lang="en-US" dirty="0" err="1"/>
              <a:t>кнопок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цифровых</a:t>
            </a:r>
            <a:r>
              <a:rPr lang="en-US" dirty="0"/>
              <a:t> </a:t>
            </a:r>
            <a:r>
              <a:rPr lang="en-US" dirty="0" err="1"/>
              <a:t>датчиков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GPIO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</a:t>
            </a:r>
            <a:r>
              <a:rPr lang="en-US" dirty="0" err="1"/>
              <a:t>взаимодействовать</a:t>
            </a:r>
            <a:r>
              <a:rPr lang="en-US" dirty="0"/>
              <a:t> с </a:t>
            </a:r>
            <a:r>
              <a:rPr lang="en-US" dirty="0" err="1"/>
              <a:t>физическим</a:t>
            </a:r>
            <a:r>
              <a:rPr lang="en-US" dirty="0"/>
              <a:t> </a:t>
            </a:r>
            <a:r>
              <a:rPr lang="en-US" dirty="0" err="1"/>
              <a:t>миром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работа</a:t>
            </a:r>
            <a:r>
              <a:rPr lang="en-US" dirty="0"/>
              <a:t> с </a:t>
            </a:r>
            <a:r>
              <a:rPr lang="en-US" dirty="0" err="1"/>
              <a:t>выводами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базовых</a:t>
            </a:r>
            <a:r>
              <a:rPr lang="en-US" dirty="0"/>
              <a:t> </a:t>
            </a:r>
            <a:r>
              <a:rPr lang="en-US" dirty="0" err="1"/>
              <a:t>задач</a:t>
            </a:r>
            <a:r>
              <a:rPr lang="en-US" dirty="0"/>
              <a:t> embedded-</a:t>
            </a:r>
            <a:r>
              <a:rPr lang="en-US" dirty="0" err="1"/>
              <a:t>программирования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79439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Каждый</a:t>
            </a:r>
            <a:r>
              <a:rPr lang="en-US" dirty="0"/>
              <a:t> GPIO-</a:t>
            </a:r>
            <a:r>
              <a:rPr lang="en-US" dirty="0" err="1"/>
              <a:t>вывод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настроен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либо</a:t>
            </a:r>
            <a:r>
              <a:rPr lang="en-US" dirty="0"/>
              <a:t> в </a:t>
            </a:r>
            <a:r>
              <a:rPr lang="en-US" dirty="0" err="1"/>
              <a:t>режиме</a:t>
            </a:r>
            <a:r>
              <a:rPr lang="en-US" dirty="0"/>
              <a:t> </a:t>
            </a:r>
            <a:r>
              <a:rPr lang="en-US" dirty="0" err="1"/>
              <a:t>входа</a:t>
            </a:r>
            <a:r>
              <a:rPr lang="en-US" dirty="0"/>
              <a:t>, </a:t>
            </a:r>
            <a:r>
              <a:rPr lang="en-US" dirty="0" err="1"/>
              <a:t>либо</a:t>
            </a:r>
            <a:r>
              <a:rPr lang="en-US" dirty="0"/>
              <a:t> в </a:t>
            </a:r>
            <a:r>
              <a:rPr lang="en-US" dirty="0" err="1"/>
              <a:t>режиме</a:t>
            </a:r>
            <a:r>
              <a:rPr lang="en-US" dirty="0"/>
              <a:t> </a:t>
            </a:r>
            <a:r>
              <a:rPr lang="en-US" dirty="0" err="1"/>
              <a:t>выхода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режиме</a:t>
            </a:r>
            <a:r>
              <a:rPr lang="en-US" dirty="0"/>
              <a:t> </a:t>
            </a:r>
            <a:r>
              <a:rPr lang="en-US" dirty="0" err="1"/>
              <a:t>входа</a:t>
            </a:r>
            <a:r>
              <a:rPr lang="en-US" dirty="0"/>
              <a:t> </a:t>
            </a:r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считывает</a:t>
            </a:r>
            <a:r>
              <a:rPr lang="en-US" dirty="0"/>
              <a:t> </a:t>
            </a:r>
            <a:r>
              <a:rPr lang="en-US" dirty="0" err="1"/>
              <a:t>электрический</a:t>
            </a:r>
            <a:r>
              <a:rPr lang="en-US" dirty="0"/>
              <a:t> </a:t>
            </a:r>
            <a:r>
              <a:rPr lang="en-US" dirty="0" err="1"/>
              <a:t>сигнал</a:t>
            </a:r>
            <a:r>
              <a:rPr lang="en-US" dirty="0"/>
              <a:t> с </a:t>
            </a:r>
            <a:r>
              <a:rPr lang="en-US" dirty="0" err="1"/>
              <a:t>вывода</a:t>
            </a:r>
            <a:r>
              <a:rPr lang="en-US" dirty="0"/>
              <a:t>. </a:t>
            </a:r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режим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подключении</a:t>
            </a:r>
            <a:r>
              <a:rPr lang="en-US" dirty="0"/>
              <a:t> </a:t>
            </a:r>
            <a:r>
              <a:rPr lang="en-US" dirty="0" err="1"/>
              <a:t>кнопок</a:t>
            </a:r>
            <a:r>
              <a:rPr lang="en-US" dirty="0"/>
              <a:t>, </a:t>
            </a:r>
            <a:r>
              <a:rPr lang="en-US" dirty="0" err="1"/>
              <a:t>датчиков</a:t>
            </a:r>
            <a:r>
              <a:rPr lang="en-US" dirty="0"/>
              <a:t> и </a:t>
            </a:r>
            <a:r>
              <a:rPr lang="en-US" dirty="0" err="1"/>
              <a:t>других</a:t>
            </a:r>
            <a:r>
              <a:rPr lang="en-US" dirty="0"/>
              <a:t> </a:t>
            </a:r>
            <a:r>
              <a:rPr lang="en-US" dirty="0" err="1"/>
              <a:t>источников</a:t>
            </a:r>
            <a:r>
              <a:rPr lang="en-US" dirty="0"/>
              <a:t> </a:t>
            </a:r>
            <a:r>
              <a:rPr lang="en-US" dirty="0" err="1"/>
              <a:t>сигналов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режиме</a:t>
            </a:r>
            <a:r>
              <a:rPr lang="en-US" dirty="0"/>
              <a:t> </a:t>
            </a:r>
            <a:r>
              <a:rPr lang="en-US" dirty="0" err="1"/>
              <a:t>выхода</a:t>
            </a:r>
            <a:r>
              <a:rPr lang="en-US" dirty="0"/>
              <a:t> </a:t>
            </a:r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самостоятельно</a:t>
            </a:r>
            <a:r>
              <a:rPr lang="en-US" dirty="0"/>
              <a:t> </a:t>
            </a:r>
            <a:r>
              <a:rPr lang="en-US" dirty="0" err="1"/>
              <a:t>формирует</a:t>
            </a:r>
            <a:r>
              <a:rPr lang="en-US" dirty="0"/>
              <a:t> </a:t>
            </a:r>
            <a:r>
              <a:rPr lang="en-US" dirty="0" err="1"/>
              <a:t>логический</a:t>
            </a:r>
            <a:r>
              <a:rPr lang="en-US" dirty="0"/>
              <a:t> </a:t>
            </a:r>
            <a:r>
              <a:rPr lang="en-US" dirty="0" err="1"/>
              <a:t>уровень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выводе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логических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: LOW </a:t>
            </a:r>
            <a:r>
              <a:rPr lang="en-US" dirty="0" err="1"/>
              <a:t>соответствует</a:t>
            </a:r>
            <a:r>
              <a:rPr lang="en-US" dirty="0"/>
              <a:t> </a:t>
            </a:r>
            <a:r>
              <a:rPr lang="en-US" dirty="0" err="1"/>
              <a:t>напряжению</a:t>
            </a:r>
            <a:r>
              <a:rPr lang="en-US" dirty="0"/>
              <a:t>, </a:t>
            </a:r>
            <a:r>
              <a:rPr lang="en-US" dirty="0" err="1"/>
              <a:t>близкому</a:t>
            </a:r>
            <a:r>
              <a:rPr lang="en-US" dirty="0"/>
              <a:t> к </a:t>
            </a:r>
            <a:r>
              <a:rPr lang="en-US" dirty="0" err="1"/>
              <a:t>нулю</a:t>
            </a:r>
            <a:r>
              <a:rPr lang="en-US" dirty="0"/>
              <a:t> </a:t>
            </a:r>
            <a:r>
              <a:rPr lang="en-US" dirty="0" err="1"/>
              <a:t>вольт</a:t>
            </a:r>
            <a:r>
              <a:rPr lang="en-US" dirty="0"/>
              <a:t>, а HIGH — </a:t>
            </a:r>
            <a:r>
              <a:rPr lang="en-US" dirty="0" err="1"/>
              <a:t>напряжению</a:t>
            </a:r>
            <a:r>
              <a:rPr lang="en-US" dirty="0"/>
              <a:t> </a:t>
            </a:r>
            <a:r>
              <a:rPr lang="en-US" dirty="0" err="1"/>
              <a:t>питания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для</a:t>
            </a:r>
            <a:r>
              <a:rPr lang="en-US" dirty="0"/>
              <a:t> ATmega328P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питании</a:t>
            </a:r>
            <a:r>
              <a:rPr lang="en-US" dirty="0"/>
              <a:t> 5 V </a:t>
            </a:r>
            <a:r>
              <a:rPr lang="en-US" dirty="0" err="1"/>
              <a:t>логическая</a:t>
            </a:r>
            <a:r>
              <a:rPr lang="en-US" dirty="0"/>
              <a:t> </a:t>
            </a:r>
            <a:r>
              <a:rPr lang="en-US" dirty="0" err="1"/>
              <a:t>единица</a:t>
            </a:r>
            <a:r>
              <a:rPr lang="en-US" dirty="0"/>
              <a:t> </a:t>
            </a:r>
            <a:r>
              <a:rPr lang="en-US" dirty="0" err="1"/>
              <a:t>соответствует</a:t>
            </a:r>
            <a:r>
              <a:rPr lang="en-US" dirty="0"/>
              <a:t> </a:t>
            </a:r>
            <a:r>
              <a:rPr lang="en-US" dirty="0" err="1"/>
              <a:t>напряжению</a:t>
            </a:r>
            <a:r>
              <a:rPr lang="en-US" dirty="0"/>
              <a:t>, </a:t>
            </a:r>
            <a:r>
              <a:rPr lang="en-US" dirty="0" err="1"/>
              <a:t>близкому</a:t>
            </a:r>
            <a:r>
              <a:rPr lang="en-US" dirty="0"/>
              <a:t> к 5 </a:t>
            </a:r>
            <a:r>
              <a:rPr lang="en-US" dirty="0" err="1"/>
              <a:t>вольтам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Следует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GPIO </a:t>
            </a:r>
            <a:r>
              <a:rPr lang="en-US" dirty="0" err="1"/>
              <a:t>работают</a:t>
            </a:r>
            <a:r>
              <a:rPr lang="en-US" dirty="0"/>
              <a:t> с </a:t>
            </a:r>
            <a:r>
              <a:rPr lang="en-US" dirty="0" err="1"/>
              <a:t>цифровыми</a:t>
            </a:r>
            <a:r>
              <a:rPr lang="en-US" dirty="0"/>
              <a:t> </a:t>
            </a:r>
            <a:r>
              <a:rPr lang="en-US" dirty="0" err="1"/>
              <a:t>сигналами</a:t>
            </a:r>
            <a:r>
              <a:rPr lang="en-US" dirty="0"/>
              <a:t> и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предназначены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непосредственной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</a:t>
            </a:r>
            <a:r>
              <a:rPr lang="en-US" dirty="0" err="1"/>
              <a:t>больших</a:t>
            </a:r>
            <a:r>
              <a:rPr lang="en-US" dirty="0"/>
              <a:t> </a:t>
            </a:r>
            <a:r>
              <a:rPr lang="en-US" dirty="0" err="1"/>
              <a:t>токов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управления</a:t>
            </a:r>
            <a:r>
              <a:rPr lang="en-US" dirty="0"/>
              <a:t> </a:t>
            </a:r>
            <a:r>
              <a:rPr lang="en-US" dirty="0" err="1"/>
              <a:t>мощной</a:t>
            </a:r>
            <a:r>
              <a:rPr lang="en-US" dirty="0"/>
              <a:t> </a:t>
            </a:r>
            <a:r>
              <a:rPr lang="en-US" dirty="0" err="1"/>
              <a:t>нагрузкой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дополнительных</a:t>
            </a:r>
            <a:r>
              <a:rPr lang="en-US" dirty="0"/>
              <a:t> </a:t>
            </a:r>
            <a:r>
              <a:rPr lang="en-US" dirty="0" err="1"/>
              <a:t>компонентов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02415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Перед</a:t>
            </a:r>
            <a:r>
              <a:rPr lang="en-US" dirty="0"/>
              <a:t> </a:t>
            </a:r>
            <a:r>
              <a:rPr lang="en-US" dirty="0" err="1"/>
              <a:t>тем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рассматривать</a:t>
            </a:r>
            <a:r>
              <a:rPr lang="en-US" dirty="0"/>
              <a:t> </a:t>
            </a:r>
            <a:r>
              <a:rPr lang="en-US" dirty="0" err="1"/>
              <a:t>управление</a:t>
            </a:r>
            <a:r>
              <a:rPr lang="en-US" dirty="0"/>
              <a:t> GPIO,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понять</a:t>
            </a:r>
            <a:r>
              <a:rPr lang="en-US" dirty="0"/>
              <a:t>, </a:t>
            </a:r>
            <a:r>
              <a:rPr lang="en-US" dirty="0" err="1"/>
              <a:t>каким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взаимодействует</a:t>
            </a:r>
            <a:r>
              <a:rPr lang="en-US" dirty="0"/>
              <a:t> с </a:t>
            </a:r>
            <a:r>
              <a:rPr lang="en-US" dirty="0" err="1"/>
              <a:t>аппаратными</a:t>
            </a:r>
            <a:r>
              <a:rPr lang="en-US" dirty="0"/>
              <a:t> </a:t>
            </a:r>
            <a:r>
              <a:rPr lang="en-US" dirty="0" err="1"/>
              <a:t>регистрами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архитектуре</a:t>
            </a:r>
            <a:r>
              <a:rPr lang="en-US" dirty="0"/>
              <a:t> AVR </a:t>
            </a:r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периферийных</a:t>
            </a:r>
            <a:r>
              <a:rPr lang="en-US" dirty="0"/>
              <a:t> </a:t>
            </a:r>
            <a:r>
              <a:rPr lang="en-US" dirty="0" err="1"/>
              <a:t>устройств</a:t>
            </a:r>
            <a:r>
              <a:rPr lang="en-US" dirty="0"/>
              <a:t> </a:t>
            </a:r>
            <a:r>
              <a:rPr lang="en-US" dirty="0" err="1"/>
              <a:t>отображаются</a:t>
            </a:r>
            <a:r>
              <a:rPr lang="en-US" dirty="0"/>
              <a:t> в </a:t>
            </a:r>
            <a:r>
              <a:rPr lang="en-US" dirty="0" err="1"/>
              <a:t>адресное</a:t>
            </a:r>
            <a:r>
              <a:rPr lang="en-US" dirty="0"/>
              <a:t> </a:t>
            </a:r>
            <a:r>
              <a:rPr lang="en-US" dirty="0" err="1"/>
              <a:t>пространство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 С </a:t>
            </a:r>
            <a:r>
              <a:rPr lang="en-US" dirty="0" err="1"/>
              <a:t>точки</a:t>
            </a:r>
            <a:r>
              <a:rPr lang="en-US" dirty="0"/>
              <a:t> </a:t>
            </a:r>
            <a:r>
              <a:rPr lang="en-US" dirty="0" err="1"/>
              <a:t>зрения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аппаратный</a:t>
            </a:r>
            <a:r>
              <a:rPr lang="en-US" dirty="0"/>
              <a:t> </a:t>
            </a:r>
            <a:r>
              <a:rPr lang="en-US" dirty="0" err="1"/>
              <a:t>регистр</a:t>
            </a:r>
            <a:r>
              <a:rPr lang="en-US" dirty="0"/>
              <a:t> </a:t>
            </a:r>
            <a:r>
              <a:rPr lang="en-US" dirty="0" err="1"/>
              <a:t>выглядит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ячейка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определённому</a:t>
            </a:r>
            <a:r>
              <a:rPr lang="en-US" dirty="0"/>
              <a:t> </a:t>
            </a:r>
            <a:r>
              <a:rPr lang="en-US" dirty="0" err="1"/>
              <a:t>адресу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регистр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PORTB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представлен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объект</a:t>
            </a:r>
            <a:r>
              <a:rPr lang="en-US" dirty="0"/>
              <a:t> </a:t>
            </a:r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фиксированному</a:t>
            </a:r>
            <a:r>
              <a:rPr lang="en-US" dirty="0"/>
              <a:t> </a:t>
            </a:r>
            <a:r>
              <a:rPr lang="en-US" dirty="0" err="1"/>
              <a:t>адресу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аппаратные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принципиально</a:t>
            </a:r>
            <a:r>
              <a:rPr lang="en-US" dirty="0"/>
              <a:t> </a:t>
            </a:r>
            <a:r>
              <a:rPr lang="en-US" dirty="0" err="1"/>
              <a:t>отличаются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обычных</a:t>
            </a:r>
            <a:r>
              <a:rPr lang="en-US" dirty="0"/>
              <a:t> </a:t>
            </a:r>
            <a:r>
              <a:rPr lang="en-US" dirty="0" err="1"/>
              <a:t>переменных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Во-первых</a:t>
            </a:r>
            <a:r>
              <a:rPr lang="en-US" dirty="0"/>
              <a:t>, </a:t>
            </a:r>
            <a:r>
              <a:rPr lang="en-US" dirty="0" err="1"/>
              <a:t>содержимое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изменяться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программой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</a:t>
            </a:r>
            <a:r>
              <a:rPr lang="en-US" dirty="0" err="1"/>
              <a:t>самой</a:t>
            </a:r>
            <a:r>
              <a:rPr lang="en-US" dirty="0"/>
              <a:t> </a:t>
            </a:r>
            <a:r>
              <a:rPr lang="en-US" dirty="0" err="1"/>
              <a:t>аппаратурой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таймер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изменять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 </a:t>
            </a:r>
            <a:r>
              <a:rPr lang="en-US" dirty="0" err="1"/>
              <a:t>независимо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выполняемого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Во-вторых</a:t>
            </a:r>
            <a:r>
              <a:rPr lang="en-US" dirty="0"/>
              <a:t>, </a:t>
            </a:r>
            <a:r>
              <a:rPr lang="en-US" dirty="0" err="1"/>
              <a:t>операции</a:t>
            </a:r>
            <a:r>
              <a:rPr lang="en-US" dirty="0"/>
              <a:t> </a:t>
            </a:r>
            <a:r>
              <a:rPr lang="en-US" dirty="0" err="1"/>
              <a:t>чтения</a:t>
            </a:r>
            <a:r>
              <a:rPr lang="en-US" dirty="0"/>
              <a:t> и </a:t>
            </a:r>
            <a:r>
              <a:rPr lang="en-US" dirty="0" err="1"/>
              <a:t>записи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иметь</a:t>
            </a:r>
            <a:r>
              <a:rPr lang="en-US" dirty="0"/>
              <a:t> </a:t>
            </a:r>
            <a:r>
              <a:rPr lang="en-US" dirty="0" err="1"/>
              <a:t>побочные</a:t>
            </a:r>
            <a:r>
              <a:rPr lang="en-US" dirty="0"/>
              <a:t> </a:t>
            </a:r>
            <a:r>
              <a:rPr lang="en-US" dirty="0" err="1"/>
              <a:t>эффекты</a:t>
            </a:r>
            <a:r>
              <a:rPr lang="en-US" dirty="0"/>
              <a:t>.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запись</a:t>
            </a:r>
            <a:r>
              <a:rPr lang="en-US" dirty="0"/>
              <a:t> в </a:t>
            </a:r>
            <a:r>
              <a:rPr lang="en-US" dirty="0" err="1"/>
              <a:t>регистр</a:t>
            </a:r>
            <a:r>
              <a:rPr lang="en-US" dirty="0"/>
              <a:t> </a:t>
            </a:r>
            <a:r>
              <a:rPr lang="en-US" dirty="0" err="1"/>
              <a:t>управления</a:t>
            </a:r>
            <a:r>
              <a:rPr lang="en-US" dirty="0"/>
              <a:t> GPIO </a:t>
            </a:r>
            <a:r>
              <a:rPr lang="en-US" dirty="0" err="1"/>
              <a:t>приводит</a:t>
            </a:r>
            <a:r>
              <a:rPr lang="en-US" dirty="0"/>
              <a:t> к </a:t>
            </a:r>
            <a:r>
              <a:rPr lang="en-US" dirty="0" err="1"/>
              <a:t>изменению</a:t>
            </a:r>
            <a:r>
              <a:rPr lang="en-US" dirty="0"/>
              <a:t> </a:t>
            </a:r>
            <a:r>
              <a:rPr lang="en-US" dirty="0" err="1"/>
              <a:t>электрического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 </a:t>
            </a:r>
            <a:r>
              <a:rPr lang="en-US" dirty="0" err="1"/>
              <a:t>выводов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По</a:t>
            </a:r>
            <a:r>
              <a:rPr lang="en-US" dirty="0"/>
              <a:t> </a:t>
            </a:r>
            <a:r>
              <a:rPr lang="en-US" dirty="0" err="1"/>
              <a:t>этой</a:t>
            </a:r>
            <a:r>
              <a:rPr lang="en-US" dirty="0"/>
              <a:t> </a:t>
            </a:r>
            <a:r>
              <a:rPr lang="en-US" dirty="0" err="1"/>
              <a:t>причине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работе</a:t>
            </a:r>
            <a:r>
              <a:rPr lang="en-US" dirty="0"/>
              <a:t> с </a:t>
            </a:r>
            <a:r>
              <a:rPr lang="en-US" dirty="0" err="1"/>
              <a:t>аппаратными</a:t>
            </a:r>
            <a:r>
              <a:rPr lang="en-US" dirty="0"/>
              <a:t> </a:t>
            </a:r>
            <a:r>
              <a:rPr lang="en-US" dirty="0" err="1"/>
              <a:t>регистрами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ключевое</a:t>
            </a:r>
            <a:r>
              <a:rPr lang="en-US" dirty="0"/>
              <a:t> </a:t>
            </a:r>
            <a:r>
              <a:rPr lang="en-US" dirty="0" err="1"/>
              <a:t>слово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volatile</a:t>
            </a:r>
            <a:r>
              <a:rPr lang="en-US" dirty="0"/>
              <a:t>.</a:t>
            </a:r>
          </a:p>
          <a:p>
            <a:r>
              <a:rPr lang="en-US" dirty="0" err="1"/>
              <a:t>Квалификатор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volatile</a:t>
            </a:r>
            <a:r>
              <a:rPr lang="en-US" dirty="0"/>
              <a:t> </a:t>
            </a:r>
            <a:r>
              <a:rPr lang="en-US" dirty="0" err="1"/>
              <a:t>сообщает</a:t>
            </a:r>
            <a:r>
              <a:rPr lang="en-US" dirty="0"/>
              <a:t> </a:t>
            </a:r>
            <a:r>
              <a:rPr lang="en-US" dirty="0" err="1"/>
              <a:t>компилятору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объекта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изменяться</a:t>
            </a:r>
            <a:r>
              <a:rPr lang="en-US" dirty="0"/>
              <a:t> </a:t>
            </a:r>
            <a:r>
              <a:rPr lang="en-US" dirty="0" err="1"/>
              <a:t>способами</a:t>
            </a:r>
            <a:r>
              <a:rPr lang="en-US" dirty="0"/>
              <a:t>,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видимыми</a:t>
            </a:r>
            <a:r>
              <a:rPr lang="en-US" dirty="0"/>
              <a:t> </a:t>
            </a:r>
            <a:r>
              <a:rPr lang="en-US" dirty="0" err="1"/>
              <a:t>компилятору</a:t>
            </a:r>
            <a:r>
              <a:rPr lang="en-US" dirty="0"/>
              <a:t> </a:t>
            </a:r>
            <a:r>
              <a:rPr lang="en-US" dirty="0" err="1"/>
              <a:t>напрямую</a:t>
            </a:r>
            <a:r>
              <a:rPr lang="en-US" dirty="0"/>
              <a:t>. </a:t>
            </a:r>
            <a:r>
              <a:rPr lang="en-US" dirty="0" err="1"/>
              <a:t>Следовательно</a:t>
            </a:r>
            <a:r>
              <a:rPr lang="en-US" dirty="0"/>
              <a:t>,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обязан</a:t>
            </a:r>
            <a:r>
              <a:rPr lang="en-US" dirty="0"/>
              <a:t>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каждое</a:t>
            </a:r>
            <a:r>
              <a:rPr lang="en-US" dirty="0"/>
              <a:t> </a:t>
            </a:r>
            <a:r>
              <a:rPr lang="en-US" dirty="0" err="1"/>
              <a:t>обращение</a:t>
            </a:r>
            <a:r>
              <a:rPr lang="en-US" dirty="0"/>
              <a:t> к </a:t>
            </a:r>
            <a:r>
              <a:rPr lang="en-US" dirty="0" err="1"/>
              <a:t>такому</a:t>
            </a:r>
            <a:r>
              <a:rPr lang="en-US" dirty="0"/>
              <a:t> </a:t>
            </a:r>
            <a:r>
              <a:rPr lang="en-US" dirty="0" err="1"/>
              <a:t>объекту</a:t>
            </a:r>
            <a:r>
              <a:rPr lang="en-US" dirty="0"/>
              <a:t>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так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оно</a:t>
            </a:r>
            <a:r>
              <a:rPr lang="en-US" dirty="0"/>
              <a:t> </a:t>
            </a:r>
            <a:r>
              <a:rPr lang="en-US" dirty="0" err="1"/>
              <a:t>записано</a:t>
            </a:r>
            <a:r>
              <a:rPr lang="en-US" dirty="0"/>
              <a:t> в </a:t>
            </a:r>
            <a:r>
              <a:rPr lang="en-US" dirty="0" err="1"/>
              <a:t>программе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volatile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мог</a:t>
            </a:r>
            <a:r>
              <a:rPr lang="en-US" dirty="0"/>
              <a:t> </a:t>
            </a:r>
            <a:r>
              <a:rPr lang="en-US" dirty="0" err="1"/>
              <a:t>бы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сохранить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временном</a:t>
            </a:r>
            <a:r>
              <a:rPr lang="en-US" dirty="0"/>
              <a:t> </a:t>
            </a:r>
            <a:r>
              <a:rPr lang="en-US" dirty="0" err="1"/>
              <a:t>регистре</a:t>
            </a:r>
            <a:r>
              <a:rPr lang="en-US" dirty="0"/>
              <a:t> </a:t>
            </a:r>
            <a:r>
              <a:rPr lang="en-US" dirty="0" err="1"/>
              <a:t>процессора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удалить</a:t>
            </a:r>
            <a:r>
              <a:rPr lang="en-US" dirty="0"/>
              <a:t> «</a:t>
            </a:r>
            <a:r>
              <a:rPr lang="en-US" dirty="0" err="1"/>
              <a:t>лишние</a:t>
            </a:r>
            <a:r>
              <a:rPr lang="en-US" dirty="0"/>
              <a:t>» </a:t>
            </a:r>
            <a:r>
              <a:rPr lang="en-US" dirty="0" err="1"/>
              <a:t>обращения</a:t>
            </a:r>
            <a:r>
              <a:rPr lang="en-US" dirty="0"/>
              <a:t> к </a:t>
            </a:r>
            <a:r>
              <a:rPr lang="en-US" dirty="0" err="1"/>
              <a:t>памяти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изменить</a:t>
            </a:r>
            <a:r>
              <a:rPr lang="en-US" dirty="0"/>
              <a:t> </a:t>
            </a:r>
            <a:r>
              <a:rPr lang="en-US" dirty="0" err="1"/>
              <a:t>порядок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преобразовать</a:t>
            </a:r>
            <a:r>
              <a:rPr lang="en-US" dirty="0"/>
              <a:t> </a:t>
            </a:r>
            <a:r>
              <a:rPr lang="en-US" dirty="0" err="1"/>
              <a:t>цикл</a:t>
            </a:r>
            <a:r>
              <a:rPr lang="en-US" dirty="0"/>
              <a:t> </a:t>
            </a:r>
            <a:r>
              <a:rPr lang="en-US" dirty="0" err="1"/>
              <a:t>ожидания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 в </a:t>
            </a:r>
            <a:r>
              <a:rPr lang="en-US" dirty="0" err="1"/>
              <a:t>бесконечный</a:t>
            </a:r>
            <a:r>
              <a:rPr lang="en-US" dirty="0"/>
              <a:t> </a:t>
            </a:r>
            <a:r>
              <a:rPr lang="en-US" dirty="0" err="1"/>
              <a:t>цикл</a:t>
            </a:r>
            <a:r>
              <a:rPr lang="en-US" dirty="0"/>
              <a:t>. </a:t>
            </a:r>
          </a:p>
          <a:p>
            <a:endParaRPr lang="ru-RU" dirty="0"/>
          </a:p>
          <a:p>
            <a:r>
              <a:rPr lang="en-US" dirty="0" err="1"/>
              <a:t>Подобные</a:t>
            </a:r>
            <a:r>
              <a:rPr lang="en-US" dirty="0"/>
              <a:t> </a:t>
            </a:r>
            <a:r>
              <a:rPr lang="en-US" dirty="0" err="1"/>
              <a:t>оптимизации</a:t>
            </a:r>
            <a:r>
              <a:rPr lang="en-US" dirty="0"/>
              <a:t> </a:t>
            </a:r>
            <a:r>
              <a:rPr lang="en-US" dirty="0" err="1"/>
              <a:t>корректны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обычных</a:t>
            </a:r>
            <a:r>
              <a:rPr lang="en-US" dirty="0"/>
              <a:t> </a:t>
            </a:r>
            <a:r>
              <a:rPr lang="en-US" dirty="0" err="1"/>
              <a:t>переменных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полностью</a:t>
            </a:r>
            <a:r>
              <a:rPr lang="en-US" dirty="0"/>
              <a:t> </a:t>
            </a:r>
            <a:r>
              <a:rPr lang="en-US" dirty="0" err="1"/>
              <a:t>нарушить</a:t>
            </a:r>
            <a:r>
              <a:rPr lang="en-US" dirty="0"/>
              <a:t> </a:t>
            </a:r>
            <a:r>
              <a:rPr lang="en-US" dirty="0" err="1"/>
              <a:t>работу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взаимодействии</a:t>
            </a:r>
            <a:r>
              <a:rPr lang="en-US" dirty="0"/>
              <a:t> с </a:t>
            </a:r>
            <a:r>
              <a:rPr lang="en-US" dirty="0" err="1"/>
              <a:t>аппаратурой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volatile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фундаментальным</a:t>
            </a:r>
            <a:r>
              <a:rPr lang="en-US" dirty="0"/>
              <a:t> </a:t>
            </a:r>
            <a:r>
              <a:rPr lang="en-US" dirty="0" err="1"/>
              <a:t>требованием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работе</a:t>
            </a:r>
            <a:r>
              <a:rPr lang="en-US" dirty="0"/>
              <a:t> с memory-mapped I/O и </a:t>
            </a:r>
            <a:r>
              <a:rPr lang="en-US" dirty="0" err="1"/>
              <a:t>периферийными</a:t>
            </a:r>
            <a:r>
              <a:rPr lang="en-US" dirty="0"/>
              <a:t> </a:t>
            </a:r>
            <a:r>
              <a:rPr lang="en-US" dirty="0" err="1"/>
              <a:t>регистрами</a:t>
            </a:r>
            <a:r>
              <a:rPr lang="en-US" dirty="0"/>
              <a:t> </a:t>
            </a:r>
            <a:r>
              <a:rPr lang="en-US" dirty="0" err="1"/>
              <a:t>микроконтроллеров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6484005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</a:t>
            </a:r>
            <a:r>
              <a:rPr lang="en-US" dirty="0" err="1"/>
              <a:t>микроконтроллере</a:t>
            </a:r>
            <a:r>
              <a:rPr lang="en-US" dirty="0"/>
              <a:t> ATmega328P </a:t>
            </a:r>
            <a:r>
              <a:rPr lang="en-US" dirty="0" err="1"/>
              <a:t>цифровые</a:t>
            </a:r>
            <a:r>
              <a:rPr lang="en-US" dirty="0"/>
              <a:t> </a:t>
            </a:r>
            <a:r>
              <a:rPr lang="en-US" dirty="0" err="1"/>
              <a:t>выводы</a:t>
            </a:r>
            <a:r>
              <a:rPr lang="en-US" dirty="0"/>
              <a:t> </a:t>
            </a:r>
            <a:r>
              <a:rPr lang="en-US" dirty="0" err="1"/>
              <a:t>организованы</a:t>
            </a:r>
            <a:r>
              <a:rPr lang="en-US" dirty="0"/>
              <a:t> в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портов</a:t>
            </a:r>
            <a:r>
              <a:rPr lang="en-US" dirty="0"/>
              <a:t>: PORTB, PORTC и PORTD. </a:t>
            </a:r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порт</a:t>
            </a:r>
            <a:r>
              <a:rPr lang="en-US" dirty="0"/>
              <a:t> </a:t>
            </a:r>
            <a:r>
              <a:rPr lang="en-US" dirty="0" err="1"/>
              <a:t>объединяет</a:t>
            </a:r>
            <a:r>
              <a:rPr lang="en-US" dirty="0"/>
              <a:t> </a:t>
            </a:r>
            <a:r>
              <a:rPr lang="en-US" dirty="0" err="1"/>
              <a:t>группу</a:t>
            </a:r>
            <a:r>
              <a:rPr lang="en-US" dirty="0"/>
              <a:t> </a:t>
            </a:r>
            <a:r>
              <a:rPr lang="en-US" dirty="0" err="1"/>
              <a:t>физических</a:t>
            </a:r>
            <a:r>
              <a:rPr lang="en-US" dirty="0"/>
              <a:t> </a:t>
            </a:r>
            <a:r>
              <a:rPr lang="en-US" dirty="0" err="1"/>
              <a:t>выводов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Управление</a:t>
            </a:r>
            <a:r>
              <a:rPr lang="en-US" dirty="0"/>
              <a:t> </a:t>
            </a:r>
            <a:r>
              <a:rPr lang="en-US" dirty="0" err="1"/>
              <a:t>выводами</a:t>
            </a:r>
            <a:r>
              <a:rPr lang="en-US" dirty="0"/>
              <a:t> </a:t>
            </a:r>
            <a:r>
              <a:rPr lang="en-US" dirty="0" err="1"/>
              <a:t>осуществляется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специальные</a:t>
            </a:r>
            <a:r>
              <a:rPr lang="en-US" dirty="0"/>
              <a:t> I/O-</a:t>
            </a:r>
            <a:r>
              <a:rPr lang="en-US" dirty="0" err="1"/>
              <a:t>регистры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Регистр</a:t>
            </a:r>
            <a:r>
              <a:rPr lang="en-US" dirty="0"/>
              <a:t> </a:t>
            </a:r>
            <a:r>
              <a:rPr lang="en-US" dirty="0" err="1"/>
              <a:t>DDRx</a:t>
            </a:r>
            <a:r>
              <a:rPr lang="en-US" dirty="0"/>
              <a:t> — Data Direction Register — </a:t>
            </a:r>
            <a:r>
              <a:rPr lang="en-US" dirty="0" err="1"/>
              <a:t>определяет</a:t>
            </a:r>
            <a:r>
              <a:rPr lang="en-US" dirty="0"/>
              <a:t> </a:t>
            </a:r>
            <a:r>
              <a:rPr lang="en-US" dirty="0" err="1"/>
              <a:t>направление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каждого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.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соответствующий</a:t>
            </a:r>
            <a:r>
              <a:rPr lang="en-US" dirty="0"/>
              <a:t> </a:t>
            </a:r>
            <a:r>
              <a:rPr lang="en-US" dirty="0" err="1"/>
              <a:t>бит</a:t>
            </a:r>
            <a:r>
              <a:rPr lang="en-US" dirty="0"/>
              <a:t> </a:t>
            </a:r>
            <a:r>
              <a:rPr lang="en-US" dirty="0" err="1"/>
              <a:t>установлен</a:t>
            </a:r>
            <a:r>
              <a:rPr lang="en-US" dirty="0"/>
              <a:t> в </a:t>
            </a:r>
            <a:r>
              <a:rPr lang="en-US" dirty="0" err="1"/>
              <a:t>единицу</a:t>
            </a:r>
            <a:r>
              <a:rPr lang="en-US" dirty="0"/>
              <a:t>, </a:t>
            </a:r>
            <a:r>
              <a:rPr lang="en-US" dirty="0" err="1"/>
              <a:t>вывод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в </a:t>
            </a:r>
            <a:r>
              <a:rPr lang="en-US" dirty="0" err="1"/>
              <a:t>режиме</a:t>
            </a:r>
            <a:r>
              <a:rPr lang="en-US" dirty="0"/>
              <a:t> </a:t>
            </a:r>
            <a:r>
              <a:rPr lang="en-US" dirty="0" err="1"/>
              <a:t>выхода</a:t>
            </a:r>
            <a:r>
              <a:rPr lang="en-US" dirty="0"/>
              <a:t>.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бит</a:t>
            </a:r>
            <a:r>
              <a:rPr lang="en-US" dirty="0"/>
              <a:t> </a:t>
            </a:r>
            <a:r>
              <a:rPr lang="en-US" dirty="0" err="1"/>
              <a:t>равен</a:t>
            </a:r>
            <a:r>
              <a:rPr lang="en-US" dirty="0"/>
              <a:t> </a:t>
            </a:r>
            <a:r>
              <a:rPr lang="en-US" dirty="0" err="1"/>
              <a:t>нулю</a:t>
            </a:r>
            <a:r>
              <a:rPr lang="en-US" dirty="0"/>
              <a:t>, </a:t>
            </a:r>
            <a:r>
              <a:rPr lang="en-US" dirty="0" err="1"/>
              <a:t>вывод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в </a:t>
            </a:r>
            <a:r>
              <a:rPr lang="en-US" dirty="0" err="1"/>
              <a:t>режиме</a:t>
            </a:r>
            <a:r>
              <a:rPr lang="en-US" dirty="0"/>
              <a:t> </a:t>
            </a:r>
            <a:r>
              <a:rPr lang="en-US" dirty="0" err="1"/>
              <a:t>входа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Регистр</a:t>
            </a:r>
            <a:r>
              <a:rPr lang="en-US" dirty="0"/>
              <a:t> PORTx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управления</a:t>
            </a:r>
            <a:r>
              <a:rPr lang="en-US" dirty="0"/>
              <a:t> </a:t>
            </a:r>
            <a:r>
              <a:rPr lang="en-US" dirty="0" err="1"/>
              <a:t>логическим</a:t>
            </a:r>
            <a:r>
              <a:rPr lang="en-US" dirty="0"/>
              <a:t> </a:t>
            </a:r>
            <a:r>
              <a:rPr lang="en-US" dirty="0" err="1"/>
              <a:t>уровнем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работе</a:t>
            </a:r>
            <a:r>
              <a:rPr lang="en-US" dirty="0"/>
              <a:t> в </a:t>
            </a:r>
            <a:r>
              <a:rPr lang="en-US" dirty="0" err="1"/>
              <a:t>режиме</a:t>
            </a:r>
            <a:r>
              <a:rPr lang="en-US" dirty="0"/>
              <a:t> output. </a:t>
            </a:r>
            <a:r>
              <a:rPr lang="en-US" dirty="0" err="1"/>
              <a:t>Запись</a:t>
            </a:r>
            <a:r>
              <a:rPr lang="en-US" dirty="0"/>
              <a:t> </a:t>
            </a:r>
            <a:r>
              <a:rPr lang="en-US" dirty="0" err="1"/>
              <a:t>единицы</a:t>
            </a:r>
            <a:r>
              <a:rPr lang="en-US" dirty="0"/>
              <a:t> </a:t>
            </a:r>
            <a:r>
              <a:rPr lang="en-US" dirty="0" err="1"/>
              <a:t>устанавливает</a:t>
            </a:r>
            <a:r>
              <a:rPr lang="en-US" dirty="0"/>
              <a:t> </a:t>
            </a:r>
            <a:r>
              <a:rPr lang="en-US" dirty="0" err="1"/>
              <a:t>высокий</a:t>
            </a:r>
            <a:r>
              <a:rPr lang="en-US" dirty="0"/>
              <a:t> </a:t>
            </a:r>
            <a:r>
              <a:rPr lang="en-US" dirty="0" err="1"/>
              <a:t>уровень</a:t>
            </a:r>
            <a:r>
              <a:rPr lang="en-US" dirty="0"/>
              <a:t> </a:t>
            </a:r>
            <a:r>
              <a:rPr lang="en-US" dirty="0" err="1"/>
              <a:t>напряжения</a:t>
            </a:r>
            <a:r>
              <a:rPr lang="en-US" dirty="0"/>
              <a:t>, а </a:t>
            </a:r>
            <a:r>
              <a:rPr lang="en-US" dirty="0" err="1"/>
              <a:t>запись</a:t>
            </a:r>
            <a:r>
              <a:rPr lang="en-US" dirty="0"/>
              <a:t> </a:t>
            </a:r>
            <a:r>
              <a:rPr lang="en-US" dirty="0" err="1"/>
              <a:t>нуля</a:t>
            </a:r>
            <a:r>
              <a:rPr lang="en-US" dirty="0"/>
              <a:t> — </a:t>
            </a:r>
            <a:r>
              <a:rPr lang="en-US" dirty="0" err="1"/>
              <a:t>низкий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вывод</a:t>
            </a:r>
            <a:r>
              <a:rPr lang="en-US" dirty="0"/>
              <a:t> </a:t>
            </a:r>
            <a:r>
              <a:rPr lang="en-US" dirty="0" err="1"/>
              <a:t>настроен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вход</a:t>
            </a:r>
            <a:r>
              <a:rPr lang="en-US" dirty="0"/>
              <a:t>, </a:t>
            </a:r>
            <a:r>
              <a:rPr lang="en-US" dirty="0" err="1"/>
              <a:t>регистр</a:t>
            </a:r>
            <a:r>
              <a:rPr lang="en-US" dirty="0"/>
              <a:t> PORTx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иначе</a:t>
            </a:r>
            <a:r>
              <a:rPr lang="en-US" dirty="0"/>
              <a:t>: </a:t>
            </a:r>
            <a:r>
              <a:rPr lang="en-US" dirty="0" err="1"/>
              <a:t>запись</a:t>
            </a:r>
            <a:r>
              <a:rPr lang="en-US" dirty="0"/>
              <a:t> </a:t>
            </a:r>
            <a:r>
              <a:rPr lang="en-US" dirty="0" err="1"/>
              <a:t>единицы</a:t>
            </a:r>
            <a:r>
              <a:rPr lang="en-US" dirty="0"/>
              <a:t> </a:t>
            </a:r>
            <a:r>
              <a:rPr lang="en-US" dirty="0" err="1"/>
              <a:t>включает</a:t>
            </a:r>
            <a:r>
              <a:rPr lang="en-US" dirty="0"/>
              <a:t> </a:t>
            </a:r>
            <a:r>
              <a:rPr lang="en-US" dirty="0" err="1"/>
              <a:t>встроенный</a:t>
            </a:r>
            <a:r>
              <a:rPr lang="en-US" dirty="0"/>
              <a:t> pull-up </a:t>
            </a:r>
            <a:r>
              <a:rPr lang="en-US" dirty="0" err="1"/>
              <a:t>резистор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Регистр</a:t>
            </a:r>
            <a:r>
              <a:rPr lang="en-US" dirty="0"/>
              <a:t> </a:t>
            </a:r>
            <a:r>
              <a:rPr lang="en-US" dirty="0" err="1"/>
              <a:t>PINx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считывать</a:t>
            </a:r>
            <a:r>
              <a:rPr lang="en-US" dirty="0"/>
              <a:t> </a:t>
            </a:r>
            <a:r>
              <a:rPr lang="en-US" dirty="0" err="1"/>
              <a:t>текущее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/>
              <a:t>В </a:t>
            </a:r>
            <a:r>
              <a:rPr lang="en-US" dirty="0" err="1"/>
              <a:t>приведённом</a:t>
            </a:r>
            <a:r>
              <a:rPr lang="en-US" dirty="0"/>
              <a:t> </a:t>
            </a:r>
            <a:r>
              <a:rPr lang="en-US" dirty="0" err="1"/>
              <a:t>примере</a:t>
            </a:r>
            <a:r>
              <a:rPr lang="en-US" dirty="0"/>
              <a:t> </a:t>
            </a:r>
            <a:r>
              <a:rPr lang="en-US" dirty="0" err="1"/>
              <a:t>первая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настраивает</a:t>
            </a:r>
            <a:r>
              <a:rPr lang="en-US" dirty="0"/>
              <a:t> </a:t>
            </a:r>
            <a:r>
              <a:rPr lang="en-US" dirty="0" err="1"/>
              <a:t>вывод</a:t>
            </a:r>
            <a:r>
              <a:rPr lang="en-US" dirty="0"/>
              <a:t> PB5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выход</a:t>
            </a:r>
            <a:r>
              <a:rPr lang="en-US" dirty="0"/>
              <a:t> и </a:t>
            </a:r>
            <a:r>
              <a:rPr lang="en-US" dirty="0" err="1"/>
              <a:t>устанавливает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нём</a:t>
            </a:r>
            <a:r>
              <a:rPr lang="en-US" dirty="0"/>
              <a:t> </a:t>
            </a:r>
            <a:r>
              <a:rPr lang="en-US" dirty="0" err="1"/>
              <a:t>высокий</a:t>
            </a:r>
            <a:r>
              <a:rPr lang="en-US" dirty="0"/>
              <a:t> </a:t>
            </a:r>
            <a:r>
              <a:rPr lang="en-US" dirty="0" err="1"/>
              <a:t>логический</a:t>
            </a:r>
            <a:r>
              <a:rPr lang="en-US" dirty="0"/>
              <a:t> </a:t>
            </a:r>
            <a:r>
              <a:rPr lang="en-US" dirty="0" err="1"/>
              <a:t>уровень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втором</a:t>
            </a:r>
            <a:r>
              <a:rPr lang="en-US" dirty="0"/>
              <a:t> </a:t>
            </a:r>
            <a:r>
              <a:rPr lang="en-US" dirty="0" err="1"/>
              <a:t>примере</a:t>
            </a:r>
            <a:r>
              <a:rPr lang="en-US" dirty="0"/>
              <a:t> </a:t>
            </a:r>
            <a:r>
              <a:rPr lang="en-US" dirty="0" err="1"/>
              <a:t>вывод</a:t>
            </a:r>
            <a:r>
              <a:rPr lang="en-US" dirty="0"/>
              <a:t> PD2 </a:t>
            </a:r>
            <a:r>
              <a:rPr lang="en-US" dirty="0" err="1"/>
              <a:t>переводится</a:t>
            </a:r>
            <a:r>
              <a:rPr lang="en-US" dirty="0"/>
              <a:t> в </a:t>
            </a:r>
            <a:r>
              <a:rPr lang="en-US" dirty="0" err="1"/>
              <a:t>режим</a:t>
            </a:r>
            <a:r>
              <a:rPr lang="en-US" dirty="0"/>
              <a:t> </a:t>
            </a:r>
            <a:r>
              <a:rPr lang="en-US" dirty="0" err="1"/>
              <a:t>входа</a:t>
            </a:r>
            <a:r>
              <a:rPr lang="en-US" dirty="0"/>
              <a:t>,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чего</a:t>
            </a:r>
            <a:r>
              <a:rPr lang="en-US" dirty="0"/>
              <a:t> </a:t>
            </a:r>
            <a:r>
              <a:rPr lang="en-US" dirty="0" err="1"/>
              <a:t>включается</a:t>
            </a:r>
            <a:r>
              <a:rPr lang="en-US" dirty="0"/>
              <a:t> </a:t>
            </a:r>
            <a:r>
              <a:rPr lang="en-US" dirty="0" err="1"/>
              <a:t>встроенный</a:t>
            </a:r>
            <a:r>
              <a:rPr lang="en-US" dirty="0"/>
              <a:t> pull-up </a:t>
            </a:r>
            <a:r>
              <a:rPr lang="en-US" dirty="0" err="1"/>
              <a:t>резистор</a:t>
            </a:r>
            <a:r>
              <a:rPr lang="en-US" dirty="0"/>
              <a:t>.</a:t>
            </a:r>
            <a:r>
              <a:rPr lang="ru-RU" dirty="0"/>
              <a:t> </a:t>
            </a:r>
            <a:r>
              <a:rPr lang="en-US" dirty="0"/>
              <a:t>Pull-up </a:t>
            </a:r>
            <a:r>
              <a:rPr lang="en-US" dirty="0" err="1"/>
              <a:t>резистор</a:t>
            </a:r>
            <a:r>
              <a:rPr lang="en-US" dirty="0"/>
              <a:t> </a:t>
            </a:r>
            <a:r>
              <a:rPr lang="en-US" dirty="0" err="1"/>
              <a:t>необходим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предотвращения</a:t>
            </a:r>
            <a:r>
              <a:rPr lang="en-US" dirty="0"/>
              <a:t> </a:t>
            </a:r>
            <a:r>
              <a:rPr lang="en-US" dirty="0" err="1"/>
              <a:t>неопределённого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 </a:t>
            </a:r>
            <a:r>
              <a:rPr lang="en-US" dirty="0" err="1"/>
              <a:t>входа</a:t>
            </a:r>
            <a:r>
              <a:rPr lang="en-US" dirty="0"/>
              <a:t>. </a:t>
            </a:r>
            <a:r>
              <a:rPr lang="en-US" dirty="0" err="1"/>
              <a:t>Неподключённый</a:t>
            </a:r>
            <a:r>
              <a:rPr lang="en-US" dirty="0"/>
              <a:t> </a:t>
            </a:r>
            <a:r>
              <a:rPr lang="en-US" dirty="0" err="1"/>
              <a:t>цифровой</a:t>
            </a:r>
            <a:r>
              <a:rPr lang="en-US" dirty="0"/>
              <a:t> </a:t>
            </a:r>
            <a:r>
              <a:rPr lang="en-US" dirty="0" err="1"/>
              <a:t>вход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воспринимать</a:t>
            </a:r>
            <a:r>
              <a:rPr lang="en-US" dirty="0"/>
              <a:t> </a:t>
            </a:r>
            <a:r>
              <a:rPr lang="en-US" dirty="0" err="1"/>
              <a:t>электрические</a:t>
            </a:r>
            <a:r>
              <a:rPr lang="en-US" dirty="0"/>
              <a:t> </a:t>
            </a:r>
            <a:r>
              <a:rPr lang="en-US" dirty="0" err="1"/>
              <a:t>помехи</a:t>
            </a:r>
            <a:r>
              <a:rPr lang="en-US" dirty="0"/>
              <a:t> и </a:t>
            </a:r>
            <a:r>
              <a:rPr lang="en-US" dirty="0" err="1"/>
              <a:t>случайным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 </a:t>
            </a:r>
            <a:r>
              <a:rPr lang="en-US" dirty="0" err="1"/>
              <a:t>менять</a:t>
            </a:r>
            <a:r>
              <a:rPr lang="en-US" dirty="0"/>
              <a:t> </a:t>
            </a:r>
            <a:r>
              <a:rPr lang="en-US" dirty="0" err="1"/>
              <a:t>своё</a:t>
            </a:r>
            <a:r>
              <a:rPr lang="en-US" dirty="0"/>
              <a:t> </a:t>
            </a:r>
            <a:r>
              <a:rPr lang="en-US" dirty="0" err="1"/>
              <a:t>логическое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.</a:t>
            </a:r>
          </a:p>
          <a:p>
            <a:r>
              <a:rPr lang="en-US" dirty="0" err="1"/>
              <a:t>Встроенный</a:t>
            </a:r>
            <a:r>
              <a:rPr lang="en-US" dirty="0"/>
              <a:t> pull-up </a:t>
            </a:r>
            <a:r>
              <a:rPr lang="en-US" dirty="0" err="1"/>
              <a:t>резистор</a:t>
            </a:r>
            <a:r>
              <a:rPr lang="en-US" dirty="0"/>
              <a:t> </a:t>
            </a:r>
            <a:r>
              <a:rPr lang="en-US" dirty="0" err="1"/>
              <a:t>подтягивает</a:t>
            </a:r>
            <a:r>
              <a:rPr lang="en-US" dirty="0"/>
              <a:t> </a:t>
            </a:r>
            <a:r>
              <a:rPr lang="en-US" dirty="0" err="1"/>
              <a:t>вход</a:t>
            </a:r>
            <a:r>
              <a:rPr lang="en-US" dirty="0"/>
              <a:t> к </a:t>
            </a:r>
            <a:r>
              <a:rPr lang="en-US" dirty="0" err="1"/>
              <a:t>высокому</a:t>
            </a:r>
            <a:r>
              <a:rPr lang="en-US" dirty="0"/>
              <a:t> </a:t>
            </a:r>
            <a:r>
              <a:rPr lang="en-US" dirty="0" err="1"/>
              <a:t>уровню</a:t>
            </a:r>
            <a:r>
              <a:rPr lang="en-US" dirty="0"/>
              <a:t> </a:t>
            </a:r>
            <a:r>
              <a:rPr lang="en-US" dirty="0" err="1"/>
              <a:t>напряжения</a:t>
            </a:r>
            <a:r>
              <a:rPr lang="en-US" dirty="0"/>
              <a:t> и </a:t>
            </a:r>
            <a:r>
              <a:rPr lang="en-US" dirty="0" err="1"/>
              <a:t>обеспечивает</a:t>
            </a:r>
            <a:r>
              <a:rPr lang="en-US" dirty="0"/>
              <a:t> </a:t>
            </a:r>
            <a:r>
              <a:rPr lang="en-US" dirty="0" err="1"/>
              <a:t>стабильное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сигнала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отсутствии</a:t>
            </a:r>
            <a:r>
              <a:rPr lang="en-US" dirty="0"/>
              <a:t> </a:t>
            </a:r>
            <a:r>
              <a:rPr lang="en-US" dirty="0" err="1"/>
              <a:t>внешнего</a:t>
            </a:r>
            <a:r>
              <a:rPr lang="en-US" dirty="0"/>
              <a:t> </a:t>
            </a:r>
            <a:r>
              <a:rPr lang="en-US" dirty="0" err="1"/>
              <a:t>воздействия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Подобная</a:t>
            </a:r>
            <a:r>
              <a:rPr lang="en-US" dirty="0"/>
              <a:t> </a:t>
            </a:r>
            <a:r>
              <a:rPr lang="en-US" dirty="0" err="1"/>
              <a:t>конфигурация</a:t>
            </a:r>
            <a:r>
              <a:rPr lang="en-US" dirty="0"/>
              <a:t> </a:t>
            </a:r>
            <a:r>
              <a:rPr lang="en-US" dirty="0" err="1"/>
              <a:t>часто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подключении</a:t>
            </a:r>
            <a:r>
              <a:rPr lang="en-US" dirty="0"/>
              <a:t> </a:t>
            </a:r>
            <a:r>
              <a:rPr lang="en-US" dirty="0" err="1"/>
              <a:t>кнопок</a:t>
            </a:r>
            <a:r>
              <a:rPr lang="en-US" dirty="0"/>
              <a:t>: в </a:t>
            </a:r>
            <a:r>
              <a:rPr lang="en-US" dirty="0" err="1"/>
              <a:t>обычном</a:t>
            </a:r>
            <a:r>
              <a:rPr lang="en-US" dirty="0"/>
              <a:t> </a:t>
            </a:r>
            <a:r>
              <a:rPr lang="en-US" dirty="0" err="1"/>
              <a:t>состоянии</a:t>
            </a:r>
            <a:r>
              <a:rPr lang="en-US" dirty="0"/>
              <a:t> </a:t>
            </a:r>
            <a:r>
              <a:rPr lang="en-US" dirty="0" err="1"/>
              <a:t>вход</a:t>
            </a:r>
            <a:r>
              <a:rPr lang="en-US" dirty="0"/>
              <a:t> </a:t>
            </a:r>
            <a:r>
              <a:rPr lang="en-US" dirty="0" err="1"/>
              <a:t>имеет</a:t>
            </a:r>
            <a:r>
              <a:rPr lang="en-US" dirty="0"/>
              <a:t> </a:t>
            </a:r>
            <a:r>
              <a:rPr lang="en-US" dirty="0" err="1"/>
              <a:t>уровень</a:t>
            </a:r>
            <a:r>
              <a:rPr lang="en-US" dirty="0"/>
              <a:t> HIGH, а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нажатии</a:t>
            </a:r>
            <a:r>
              <a:rPr lang="en-US" dirty="0"/>
              <a:t> </a:t>
            </a:r>
            <a:r>
              <a:rPr lang="en-US" dirty="0" err="1"/>
              <a:t>кнопка</a:t>
            </a:r>
            <a:r>
              <a:rPr lang="en-US" dirty="0"/>
              <a:t> </a:t>
            </a:r>
            <a:r>
              <a:rPr lang="en-US" dirty="0" err="1"/>
              <a:t>замыкает</a:t>
            </a:r>
            <a:r>
              <a:rPr lang="en-US" dirty="0"/>
              <a:t> </a:t>
            </a:r>
            <a:r>
              <a:rPr lang="en-US" dirty="0" err="1"/>
              <a:t>вывод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землю</a:t>
            </a:r>
            <a:r>
              <a:rPr lang="en-US" dirty="0"/>
              <a:t>, </a:t>
            </a:r>
            <a:r>
              <a:rPr lang="en-US" dirty="0" err="1"/>
              <a:t>формируя</a:t>
            </a:r>
            <a:r>
              <a:rPr lang="en-US" dirty="0"/>
              <a:t> </a:t>
            </a:r>
            <a:r>
              <a:rPr lang="en-US" dirty="0" err="1"/>
              <a:t>уровень</a:t>
            </a:r>
            <a:r>
              <a:rPr lang="en-US" dirty="0"/>
              <a:t> LOW.</a:t>
            </a:r>
          </a:p>
          <a:p>
            <a:endParaRPr lang="ru-RU" dirty="0"/>
          </a:p>
          <a:p>
            <a:r>
              <a:rPr lang="en-US" dirty="0" err="1"/>
              <a:t>Следует</a:t>
            </a:r>
            <a:r>
              <a:rPr lang="en-US" dirty="0"/>
              <a:t> </a:t>
            </a:r>
            <a:r>
              <a:rPr lang="en-US" dirty="0" err="1"/>
              <a:t>обратить</a:t>
            </a:r>
            <a:r>
              <a:rPr lang="en-US" dirty="0"/>
              <a:t> </a:t>
            </a:r>
            <a:r>
              <a:rPr lang="en-US" dirty="0" err="1"/>
              <a:t>внимание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работа</a:t>
            </a:r>
            <a:r>
              <a:rPr lang="en-US" dirty="0"/>
              <a:t> с GPIO </a:t>
            </a:r>
            <a:r>
              <a:rPr lang="en-US" dirty="0" err="1"/>
              <a:t>фактически</a:t>
            </a:r>
            <a:r>
              <a:rPr lang="en-US" dirty="0"/>
              <a:t> </a:t>
            </a:r>
            <a:r>
              <a:rPr lang="en-US" dirty="0" err="1"/>
              <a:t>сводится</a:t>
            </a:r>
            <a:r>
              <a:rPr lang="en-US" dirty="0"/>
              <a:t> к </a:t>
            </a:r>
            <a:r>
              <a:rPr lang="en-US" dirty="0" err="1"/>
              <a:t>чтению</a:t>
            </a:r>
            <a:r>
              <a:rPr lang="en-US" dirty="0"/>
              <a:t> и </a:t>
            </a:r>
            <a:r>
              <a:rPr lang="en-US" dirty="0" err="1"/>
              <a:t>записи</a:t>
            </a:r>
            <a:r>
              <a:rPr lang="en-US" dirty="0"/>
              <a:t> </a:t>
            </a:r>
            <a:r>
              <a:rPr lang="en-US" dirty="0" err="1"/>
              <a:t>отдельных</a:t>
            </a:r>
            <a:r>
              <a:rPr lang="en-US" dirty="0"/>
              <a:t> </a:t>
            </a:r>
            <a:r>
              <a:rPr lang="en-US" dirty="0" err="1"/>
              <a:t>битов</a:t>
            </a:r>
            <a:r>
              <a:rPr lang="en-US" dirty="0"/>
              <a:t> </a:t>
            </a:r>
            <a:r>
              <a:rPr lang="en-US" dirty="0" err="1"/>
              <a:t>аппаратных</a:t>
            </a:r>
            <a:r>
              <a:rPr lang="en-US" dirty="0"/>
              <a:t> </a:t>
            </a:r>
            <a:r>
              <a:rPr lang="en-US" dirty="0" err="1"/>
              <a:t>регистров</a:t>
            </a:r>
            <a:r>
              <a:rPr lang="en-US" dirty="0"/>
              <a:t>. </a:t>
            </a:r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побитовые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 и </a:t>
            </a:r>
            <a:r>
              <a:rPr lang="en-US" dirty="0" err="1"/>
              <a:t>понимание</a:t>
            </a:r>
            <a:r>
              <a:rPr lang="en-US" dirty="0"/>
              <a:t> </a:t>
            </a:r>
            <a:r>
              <a:rPr lang="en-US" dirty="0" err="1"/>
              <a:t>двоичного</a:t>
            </a:r>
            <a:r>
              <a:rPr lang="en-US" dirty="0"/>
              <a:t> </a:t>
            </a:r>
            <a:r>
              <a:rPr lang="en-US" dirty="0" err="1"/>
              <a:t>представления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играют</a:t>
            </a:r>
            <a:r>
              <a:rPr lang="en-US" dirty="0"/>
              <a:t> </a:t>
            </a:r>
            <a:r>
              <a:rPr lang="en-US" dirty="0" err="1"/>
              <a:t>важную</a:t>
            </a:r>
            <a:r>
              <a:rPr lang="en-US" dirty="0"/>
              <a:t> </a:t>
            </a:r>
            <a:r>
              <a:rPr lang="en-US" dirty="0" err="1"/>
              <a:t>роль</a:t>
            </a:r>
            <a:r>
              <a:rPr lang="en-US" dirty="0"/>
              <a:t> в embedded-</a:t>
            </a:r>
            <a:r>
              <a:rPr lang="en-US" dirty="0" err="1"/>
              <a:t>программировании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685521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разработки</a:t>
            </a:r>
            <a:r>
              <a:rPr lang="en-US" dirty="0"/>
              <a:t> </a:t>
            </a:r>
            <a:r>
              <a:rPr lang="en-US" dirty="0" err="1"/>
              <a:t>программ</a:t>
            </a:r>
            <a:r>
              <a:rPr lang="en-US" dirty="0"/>
              <a:t> </a:t>
            </a:r>
            <a:r>
              <a:rPr lang="en-US" dirty="0" err="1"/>
              <a:t>под</a:t>
            </a:r>
            <a:r>
              <a:rPr lang="en-US" dirty="0"/>
              <a:t> AVR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специализированный</a:t>
            </a:r>
            <a:r>
              <a:rPr lang="en-US" dirty="0"/>
              <a:t> </a:t>
            </a:r>
            <a:r>
              <a:rPr lang="en-US" dirty="0" err="1"/>
              <a:t>набор</a:t>
            </a:r>
            <a:r>
              <a:rPr lang="en-US" dirty="0"/>
              <a:t> </a:t>
            </a:r>
            <a:r>
              <a:rPr lang="en-US" dirty="0" err="1"/>
              <a:t>инструментов</a:t>
            </a:r>
            <a:r>
              <a:rPr lang="en-US" dirty="0"/>
              <a:t> — toolchain</a:t>
            </a:r>
          </a:p>
          <a:p>
            <a:r>
              <a:rPr lang="en-US" dirty="0"/>
              <a:t>.</a:t>
            </a:r>
          </a:p>
          <a:p>
            <a:r>
              <a:rPr lang="en-US" dirty="0" err="1"/>
              <a:t>Общий</a:t>
            </a:r>
            <a:r>
              <a:rPr lang="en-US" dirty="0"/>
              <a:t> </a:t>
            </a:r>
            <a:r>
              <a:rPr lang="en-US" dirty="0" err="1"/>
              <a:t>процесс</a:t>
            </a:r>
            <a:r>
              <a:rPr lang="en-US" dirty="0"/>
              <a:t> </a:t>
            </a:r>
            <a:r>
              <a:rPr lang="en-US" dirty="0" err="1"/>
              <a:t>разработки</a:t>
            </a:r>
            <a:r>
              <a:rPr lang="en-US" dirty="0"/>
              <a:t> </a:t>
            </a:r>
            <a:r>
              <a:rPr lang="en-US" dirty="0" err="1"/>
              <a:t>похож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тот</a:t>
            </a:r>
            <a:r>
              <a:rPr lang="en-US" dirty="0"/>
              <a:t>, </a:t>
            </a:r>
            <a:r>
              <a:rPr lang="en-US" dirty="0" err="1"/>
              <a:t>который</a:t>
            </a:r>
            <a:r>
              <a:rPr lang="en-US" dirty="0"/>
              <a:t> </a:t>
            </a:r>
            <a:r>
              <a:rPr lang="en-US" dirty="0" err="1"/>
              <a:t>мы</a:t>
            </a:r>
            <a:r>
              <a:rPr lang="en-US" dirty="0"/>
              <a:t> </a:t>
            </a:r>
            <a:r>
              <a:rPr lang="en-US" dirty="0" err="1"/>
              <a:t>уже</a:t>
            </a:r>
            <a:r>
              <a:rPr lang="en-US" dirty="0"/>
              <a:t> </a:t>
            </a:r>
            <a:r>
              <a:rPr lang="en-US" dirty="0" err="1"/>
              <a:t>рассматривали</a:t>
            </a:r>
            <a:r>
              <a:rPr lang="en-US" dirty="0"/>
              <a:t> </a:t>
            </a:r>
            <a:r>
              <a:rPr lang="en-US" dirty="0" err="1"/>
              <a:t>ранее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обычных</a:t>
            </a:r>
            <a:r>
              <a:rPr lang="en-US" dirty="0"/>
              <a:t> </a:t>
            </a:r>
            <a:r>
              <a:rPr lang="en-US" dirty="0" err="1"/>
              <a:t>программ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C: </a:t>
            </a:r>
            <a:r>
              <a:rPr lang="en-US" dirty="0" err="1"/>
              <a:t>исходный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компилируется</a:t>
            </a:r>
            <a:r>
              <a:rPr lang="en-US" dirty="0"/>
              <a:t>,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объектные</a:t>
            </a:r>
            <a:r>
              <a:rPr lang="en-US" dirty="0"/>
              <a:t> </a:t>
            </a:r>
            <a:r>
              <a:rPr lang="en-US" dirty="0" err="1"/>
              <a:t>файлы</a:t>
            </a:r>
            <a:r>
              <a:rPr lang="en-US" dirty="0"/>
              <a:t> </a:t>
            </a:r>
            <a:r>
              <a:rPr lang="en-US" dirty="0" err="1"/>
              <a:t>связываются</a:t>
            </a:r>
            <a:r>
              <a:rPr lang="en-US" dirty="0"/>
              <a:t> </a:t>
            </a:r>
            <a:r>
              <a:rPr lang="en-US" dirty="0" err="1"/>
              <a:t>линковщиком</a:t>
            </a:r>
            <a:r>
              <a:rPr lang="en-US" dirty="0"/>
              <a:t>,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чего</a:t>
            </a:r>
            <a:r>
              <a:rPr lang="en-US" dirty="0"/>
              <a:t> </a:t>
            </a:r>
            <a:r>
              <a:rPr lang="en-US" dirty="0" err="1"/>
              <a:t>формируется</a:t>
            </a:r>
            <a:r>
              <a:rPr lang="en-US" dirty="0"/>
              <a:t> </a:t>
            </a:r>
            <a:r>
              <a:rPr lang="en-US" dirty="0" err="1"/>
              <a:t>исполняемый</a:t>
            </a:r>
            <a:r>
              <a:rPr lang="en-US" dirty="0"/>
              <a:t> </a:t>
            </a:r>
            <a:r>
              <a:rPr lang="en-US" dirty="0" err="1"/>
              <a:t>машинный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в </a:t>
            </a:r>
            <a:r>
              <a:rPr lang="en-US" dirty="0" err="1"/>
              <a:t>случае</a:t>
            </a:r>
            <a:r>
              <a:rPr lang="en-US" dirty="0"/>
              <a:t> </a:t>
            </a:r>
            <a:r>
              <a:rPr lang="en-US" dirty="0" err="1"/>
              <a:t>микроконтроллеров</a:t>
            </a:r>
            <a:r>
              <a:rPr lang="en-US" dirty="0"/>
              <a:t> </a:t>
            </a:r>
            <a:r>
              <a:rPr lang="en-US" dirty="0" err="1"/>
              <a:t>результатом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обычный</a:t>
            </a:r>
            <a:r>
              <a:rPr lang="en-US" dirty="0"/>
              <a:t> </a:t>
            </a:r>
            <a:r>
              <a:rPr lang="en-US" dirty="0" err="1"/>
              <a:t>исполняемый</a:t>
            </a:r>
            <a:r>
              <a:rPr lang="en-US" dirty="0"/>
              <a:t> </a:t>
            </a:r>
            <a:r>
              <a:rPr lang="en-US" dirty="0" err="1"/>
              <a:t>файл</a:t>
            </a:r>
            <a:r>
              <a:rPr lang="en-US" dirty="0"/>
              <a:t> </a:t>
            </a:r>
            <a:r>
              <a:rPr lang="en-US" dirty="0" err="1"/>
              <a:t>операционной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en-US" dirty="0"/>
              <a:t>, а </a:t>
            </a:r>
            <a:r>
              <a:rPr lang="en-US" dirty="0" err="1"/>
              <a:t>прошивка</a:t>
            </a:r>
            <a:r>
              <a:rPr lang="en-US" dirty="0"/>
              <a:t> — </a:t>
            </a:r>
            <a:r>
              <a:rPr lang="en-US" dirty="0" err="1"/>
              <a:t>набор</a:t>
            </a:r>
            <a:r>
              <a:rPr lang="en-US" dirty="0"/>
              <a:t> </a:t>
            </a:r>
            <a:r>
              <a:rPr lang="en-US" dirty="0" err="1"/>
              <a:t>машинных</a:t>
            </a:r>
            <a:r>
              <a:rPr lang="en-US" dirty="0"/>
              <a:t> </a:t>
            </a:r>
            <a:r>
              <a:rPr lang="en-US" dirty="0" err="1"/>
              <a:t>инструкций</a:t>
            </a:r>
            <a:r>
              <a:rPr lang="en-US" dirty="0"/>
              <a:t>, </a:t>
            </a:r>
            <a:r>
              <a:rPr lang="en-US" dirty="0" err="1"/>
              <a:t>предназначенный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записи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flash-</a:t>
            </a:r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avr-gcc</a:t>
            </a:r>
            <a:r>
              <a:rPr lang="en-US" dirty="0"/>
              <a:t> </a:t>
            </a:r>
            <a:r>
              <a:rPr lang="en-US" dirty="0" err="1"/>
              <a:t>преобразует</a:t>
            </a:r>
            <a:r>
              <a:rPr lang="en-US" dirty="0"/>
              <a:t> </a:t>
            </a:r>
            <a:r>
              <a:rPr lang="en-US" dirty="0" err="1"/>
              <a:t>исходный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языке</a:t>
            </a:r>
            <a:r>
              <a:rPr lang="en-US" dirty="0"/>
              <a:t> C в </a:t>
            </a:r>
            <a:r>
              <a:rPr lang="en-US" dirty="0" err="1"/>
              <a:t>машинный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AVR.</a:t>
            </a:r>
          </a:p>
          <a:p>
            <a:r>
              <a:rPr lang="en-US" dirty="0" err="1"/>
              <a:t>Ассемблер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-as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сборки</a:t>
            </a:r>
            <a:r>
              <a:rPr lang="en-US" dirty="0"/>
              <a:t> </a:t>
            </a:r>
            <a:r>
              <a:rPr lang="en-US" dirty="0" err="1"/>
              <a:t>ассемблерных</a:t>
            </a:r>
            <a:r>
              <a:rPr lang="en-US" dirty="0"/>
              <a:t> </a:t>
            </a:r>
            <a:r>
              <a:rPr lang="en-US" dirty="0" err="1"/>
              <a:t>файлов</a:t>
            </a:r>
            <a:r>
              <a:rPr lang="en-US" dirty="0"/>
              <a:t>.</a:t>
            </a:r>
          </a:p>
          <a:p>
            <a:r>
              <a:rPr lang="en-US" dirty="0" err="1"/>
              <a:t>Линковщик</a:t>
            </a:r>
            <a:r>
              <a:rPr lang="en-US" dirty="0"/>
              <a:t> </a:t>
            </a:r>
            <a:r>
              <a:rPr lang="en-US" dirty="0" err="1"/>
              <a:t>объединяет</a:t>
            </a:r>
            <a:r>
              <a:rPr lang="en-US" dirty="0"/>
              <a:t> </a:t>
            </a:r>
            <a:r>
              <a:rPr lang="en-US" dirty="0" err="1"/>
              <a:t>объектные</a:t>
            </a:r>
            <a:r>
              <a:rPr lang="en-US" dirty="0"/>
              <a:t> </a:t>
            </a:r>
            <a:r>
              <a:rPr lang="en-US" dirty="0" err="1"/>
              <a:t>файлы</a:t>
            </a:r>
            <a:r>
              <a:rPr lang="en-US" dirty="0"/>
              <a:t> и </a:t>
            </a:r>
            <a:r>
              <a:rPr lang="en-US" dirty="0" err="1"/>
              <a:t>формирует</a:t>
            </a:r>
            <a:r>
              <a:rPr lang="en-US" dirty="0"/>
              <a:t> </a:t>
            </a:r>
            <a:r>
              <a:rPr lang="en-US" dirty="0" err="1"/>
              <a:t>итоговый</a:t>
            </a:r>
            <a:r>
              <a:rPr lang="en-US" dirty="0"/>
              <a:t> ELF-</a:t>
            </a:r>
            <a:r>
              <a:rPr lang="en-US" dirty="0" err="1"/>
              <a:t>файл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Инструмент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avr-objdump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дизассемблировать</a:t>
            </a:r>
            <a:r>
              <a:rPr lang="en-US" dirty="0"/>
              <a:t> </a:t>
            </a:r>
            <a:r>
              <a:rPr lang="en-US" dirty="0" err="1"/>
              <a:t>программу</a:t>
            </a:r>
            <a:r>
              <a:rPr lang="en-US" dirty="0"/>
              <a:t> и </a:t>
            </a:r>
            <a:r>
              <a:rPr lang="en-US" dirty="0" err="1"/>
              <a:t>анализировать</a:t>
            </a:r>
            <a:r>
              <a:rPr lang="en-US" dirty="0"/>
              <a:t> </a:t>
            </a:r>
            <a:r>
              <a:rPr lang="en-US" dirty="0" err="1"/>
              <a:t>сгенерированный</a:t>
            </a:r>
            <a:r>
              <a:rPr lang="en-US" dirty="0"/>
              <a:t> </a:t>
            </a:r>
            <a:r>
              <a:rPr lang="en-US" dirty="0" err="1"/>
              <a:t>машинный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— </a:t>
            </a:r>
            <a:r>
              <a:rPr lang="en-US" dirty="0" err="1"/>
              <a:t>аналогично</a:t>
            </a:r>
            <a:r>
              <a:rPr lang="en-US" dirty="0"/>
              <a:t> </a:t>
            </a:r>
            <a:r>
              <a:rPr lang="en-US" dirty="0" err="1"/>
              <a:t>тому</a:t>
            </a:r>
            <a:r>
              <a:rPr lang="en-US" dirty="0"/>
              <a:t>,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ранее</a:t>
            </a:r>
            <a:r>
              <a:rPr lang="en-US" dirty="0"/>
              <a:t> </a:t>
            </a:r>
            <a:r>
              <a:rPr lang="en-US" dirty="0" err="1"/>
              <a:t>использовались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objdump</a:t>
            </a:r>
            <a:r>
              <a:rPr lang="en-US" dirty="0"/>
              <a:t> и Compiler Explorer </a:t>
            </a:r>
            <a:r>
              <a:rPr lang="en-US" dirty="0" err="1"/>
              <a:t>для</a:t>
            </a:r>
            <a:r>
              <a:rPr lang="en-US" dirty="0"/>
              <a:t> x86-64.</a:t>
            </a:r>
          </a:p>
          <a:p>
            <a:endParaRPr lang="en-US" sz="1200" kern="1200" dirty="0">
              <a:solidFill>
                <a:schemeClr val="tx1"/>
              </a:solidFill>
              <a:latin typeface="+mn-lt"/>
              <a:ea typeface="+mn-ea"/>
              <a:cs typeface="+mn-cs"/>
            </a:endParaRPr>
          </a:p>
          <a:p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-size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оценить</a:t>
            </a:r>
            <a:r>
              <a:rPr lang="en-US" dirty="0"/>
              <a:t> </a:t>
            </a:r>
            <a:r>
              <a:rPr lang="en-US" dirty="0" err="1"/>
              <a:t>объём</a:t>
            </a:r>
            <a:r>
              <a:rPr lang="en-US" dirty="0"/>
              <a:t> </a:t>
            </a:r>
            <a:r>
              <a:rPr lang="en-US" dirty="0" err="1"/>
              <a:t>используемой</a:t>
            </a:r>
            <a:r>
              <a:rPr lang="en-US" dirty="0"/>
              <a:t> flash-</a:t>
            </a:r>
            <a:r>
              <a:rPr lang="en-US" dirty="0" err="1"/>
              <a:t>памяти</a:t>
            </a:r>
            <a:r>
              <a:rPr lang="en-US" dirty="0"/>
              <a:t> и SRAM,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микроконтроллеров</a:t>
            </a:r>
            <a:r>
              <a:rPr lang="en-US" dirty="0"/>
              <a:t> с </a:t>
            </a:r>
            <a:r>
              <a:rPr lang="en-US" dirty="0" err="1"/>
              <a:t>ограниченными</a:t>
            </a:r>
            <a:r>
              <a:rPr lang="en-US" dirty="0"/>
              <a:t> </a:t>
            </a:r>
            <a:r>
              <a:rPr lang="en-US" dirty="0" err="1"/>
              <a:t>ресурсами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сборки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специальная</a:t>
            </a:r>
            <a:r>
              <a:rPr lang="en-US" dirty="0"/>
              <a:t> </a:t>
            </a:r>
            <a:r>
              <a:rPr lang="en-US" dirty="0" err="1"/>
              <a:t>утилита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avrdude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записи</a:t>
            </a:r>
            <a:r>
              <a:rPr lang="en-US" dirty="0"/>
              <a:t> </a:t>
            </a:r>
            <a:r>
              <a:rPr lang="en-US" dirty="0" err="1"/>
              <a:t>прошивки</a:t>
            </a:r>
            <a:r>
              <a:rPr lang="en-US" dirty="0"/>
              <a:t> в </a:t>
            </a:r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35255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минимальный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AVR.</a:t>
            </a:r>
          </a:p>
          <a:p>
            <a:endParaRPr lang="en-US" dirty="0"/>
          </a:p>
          <a:p>
            <a:r>
              <a:rPr lang="en-US" dirty="0" err="1"/>
              <a:t>Даже</a:t>
            </a:r>
            <a:r>
              <a:rPr lang="en-US" dirty="0"/>
              <a:t> </a:t>
            </a:r>
            <a:r>
              <a:rPr lang="en-US" dirty="0" err="1"/>
              <a:t>простейшая</a:t>
            </a:r>
            <a:r>
              <a:rPr lang="en-US" dirty="0"/>
              <a:t> embedded-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бесконечный</a:t>
            </a:r>
            <a:r>
              <a:rPr lang="en-US" dirty="0"/>
              <a:t> </a:t>
            </a:r>
            <a:r>
              <a:rPr lang="en-US" dirty="0" err="1"/>
              <a:t>цикл</a:t>
            </a:r>
            <a:r>
              <a:rPr lang="en-US" dirty="0"/>
              <a:t>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непрерывно</a:t>
            </a:r>
            <a:r>
              <a:rPr lang="en-US" dirty="0"/>
              <a:t>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управление</a:t>
            </a:r>
            <a:r>
              <a:rPr lang="en-US" dirty="0"/>
              <a:t> </a:t>
            </a:r>
            <a:r>
              <a:rPr lang="en-US" dirty="0" err="1"/>
              <a:t>устройством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явно</a:t>
            </a:r>
            <a:r>
              <a:rPr lang="en-US" dirty="0"/>
              <a:t> </a:t>
            </a:r>
            <a:r>
              <a:rPr lang="en-US" dirty="0" err="1"/>
              <a:t>указать</a:t>
            </a:r>
            <a:r>
              <a:rPr lang="en-US" dirty="0"/>
              <a:t> </a:t>
            </a:r>
            <a:r>
              <a:rPr lang="en-US" dirty="0" err="1"/>
              <a:t>модель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 </a:t>
            </a:r>
            <a:r>
              <a:rPr lang="en-US" dirty="0" err="1"/>
              <a:t>Параметр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-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mmcu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=atmega328p</a:t>
            </a:r>
            <a:r>
              <a:rPr lang="en-US" dirty="0"/>
              <a:t> </a:t>
            </a:r>
            <a:r>
              <a:rPr lang="en-US" dirty="0" err="1"/>
              <a:t>сообщает</a:t>
            </a:r>
            <a:r>
              <a:rPr lang="en-US" dirty="0"/>
              <a:t> </a:t>
            </a:r>
            <a:r>
              <a:rPr lang="en-US" dirty="0" err="1"/>
              <a:t>компилятору</a:t>
            </a:r>
            <a:r>
              <a:rPr lang="en-US" dirty="0"/>
              <a:t> </a:t>
            </a:r>
            <a:r>
              <a:rPr lang="en-US" dirty="0" err="1"/>
              <a:t>характеристики</a:t>
            </a:r>
            <a:r>
              <a:rPr lang="en-US" dirty="0"/>
              <a:t> </a:t>
            </a:r>
            <a:r>
              <a:rPr lang="en-US" dirty="0" err="1"/>
              <a:t>целевой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: </a:t>
            </a:r>
            <a:r>
              <a:rPr lang="en-US" dirty="0" err="1"/>
              <a:t>объём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, </a:t>
            </a:r>
            <a:r>
              <a:rPr lang="en-US" dirty="0" err="1"/>
              <a:t>набор</a:t>
            </a:r>
            <a:r>
              <a:rPr lang="en-US" dirty="0"/>
              <a:t> </a:t>
            </a:r>
            <a:r>
              <a:rPr lang="en-US" dirty="0" err="1"/>
              <a:t>периферии</a:t>
            </a:r>
            <a:r>
              <a:rPr lang="en-US" dirty="0"/>
              <a:t> и </a:t>
            </a:r>
            <a:r>
              <a:rPr lang="en-US" dirty="0" err="1"/>
              <a:t>допустимые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.</a:t>
            </a:r>
          </a:p>
          <a:p>
            <a:r>
              <a:rPr lang="en-US" dirty="0" err="1"/>
              <a:t>Результатом</a:t>
            </a:r>
            <a:r>
              <a:rPr lang="en-US" dirty="0"/>
              <a:t> </a:t>
            </a:r>
            <a:r>
              <a:rPr lang="en-US" dirty="0" err="1"/>
              <a:t>компиляции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ELF-</a:t>
            </a:r>
            <a:r>
              <a:rPr lang="en-US" dirty="0" err="1"/>
              <a:t>файл</a:t>
            </a:r>
            <a:r>
              <a:rPr lang="en-US" dirty="0"/>
              <a:t>, </a:t>
            </a:r>
            <a:r>
              <a:rPr lang="en-US" dirty="0" err="1"/>
              <a:t>содержащий</a:t>
            </a:r>
            <a:r>
              <a:rPr lang="en-US" dirty="0"/>
              <a:t> </a:t>
            </a:r>
            <a:r>
              <a:rPr lang="en-US" dirty="0" err="1"/>
              <a:t>машинный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, </a:t>
            </a:r>
            <a:r>
              <a:rPr lang="en-US" dirty="0" err="1"/>
              <a:t>таблицы</a:t>
            </a:r>
            <a:r>
              <a:rPr lang="en-US" dirty="0"/>
              <a:t> </a:t>
            </a:r>
            <a:r>
              <a:rPr lang="en-US" dirty="0" err="1"/>
              <a:t>символов</a:t>
            </a:r>
            <a:r>
              <a:rPr lang="en-US" dirty="0"/>
              <a:t> и </a:t>
            </a:r>
            <a:r>
              <a:rPr lang="en-US" dirty="0" err="1"/>
              <a:t>служебную</a:t>
            </a:r>
            <a:r>
              <a:rPr lang="en-US" dirty="0"/>
              <a:t> </a:t>
            </a:r>
            <a:r>
              <a:rPr lang="en-US" dirty="0" err="1"/>
              <a:t>информацию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прошивки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формат</a:t>
            </a:r>
            <a:r>
              <a:rPr lang="en-US" dirty="0"/>
              <a:t> Intel HEX.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дополнительное</a:t>
            </a:r>
            <a:r>
              <a:rPr lang="en-US" dirty="0"/>
              <a:t> </a:t>
            </a:r>
            <a:r>
              <a:rPr lang="en-US" dirty="0" err="1"/>
              <a:t>преобразование</a:t>
            </a:r>
            <a:r>
              <a:rPr lang="en-US" dirty="0"/>
              <a:t> ELF-</a:t>
            </a:r>
            <a:r>
              <a:rPr lang="en-US" dirty="0" err="1"/>
              <a:t>файла</a:t>
            </a:r>
            <a:r>
              <a:rPr lang="en-US" dirty="0"/>
              <a:t> в HEX-</a:t>
            </a:r>
            <a:r>
              <a:rPr lang="en-US" dirty="0" err="1"/>
              <a:t>файл</a:t>
            </a:r>
            <a:r>
              <a:rPr lang="en-US" dirty="0"/>
              <a:t> с </a:t>
            </a:r>
            <a:r>
              <a:rPr lang="en-US" dirty="0" err="1"/>
              <a:t>помощью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avr-objcopy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Полученный</a:t>
            </a:r>
            <a:r>
              <a:rPr lang="en-US" dirty="0"/>
              <a:t> </a:t>
            </a:r>
            <a:r>
              <a:rPr lang="en-US" dirty="0" err="1"/>
              <a:t>файл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, </a:t>
            </a:r>
            <a:r>
              <a:rPr lang="en-US" dirty="0" err="1"/>
              <a:t>предназначенные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записи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flash-</a:t>
            </a:r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974305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Как</a:t>
            </a:r>
            <a:r>
              <a:rPr lang="en-US" dirty="0"/>
              <a:t> и в </a:t>
            </a:r>
            <a:r>
              <a:rPr lang="en-US" dirty="0" err="1"/>
              <a:t>случае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x86-64, </a:t>
            </a:r>
            <a:r>
              <a:rPr lang="en-US" dirty="0" err="1"/>
              <a:t>для</a:t>
            </a:r>
            <a:r>
              <a:rPr lang="en-US" dirty="0"/>
              <a:t> AVR </a:t>
            </a:r>
            <a:r>
              <a:rPr lang="en-US" dirty="0" err="1"/>
              <a:t>крайне</a:t>
            </a:r>
            <a:r>
              <a:rPr lang="en-US" dirty="0"/>
              <a:t> </a:t>
            </a:r>
            <a:r>
              <a:rPr lang="en-US" dirty="0" err="1"/>
              <a:t>полезно</a:t>
            </a:r>
            <a:r>
              <a:rPr lang="en-US" dirty="0"/>
              <a:t> </a:t>
            </a:r>
            <a:r>
              <a:rPr lang="en-US" dirty="0" err="1"/>
              <a:t>анализировать</a:t>
            </a:r>
            <a:r>
              <a:rPr lang="en-US" dirty="0"/>
              <a:t> </a:t>
            </a:r>
            <a:r>
              <a:rPr lang="en-US" dirty="0" err="1"/>
              <a:t>сгенерированный</a:t>
            </a:r>
            <a:r>
              <a:rPr lang="en-US" dirty="0"/>
              <a:t> </a:t>
            </a:r>
            <a:r>
              <a:rPr lang="en-US" dirty="0" err="1"/>
              <a:t>машинный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.</a:t>
            </a:r>
          </a:p>
          <a:p>
            <a:r>
              <a:rPr lang="en-US" dirty="0" err="1"/>
              <a:t>Инструмент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avr-objdump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выполнить</a:t>
            </a:r>
            <a:r>
              <a:rPr lang="en-US" dirty="0"/>
              <a:t> </a:t>
            </a:r>
            <a:r>
              <a:rPr lang="en-US" dirty="0" err="1"/>
              <a:t>дизассемблирование</a:t>
            </a:r>
            <a:r>
              <a:rPr lang="en-US" dirty="0"/>
              <a:t> ELF-</a:t>
            </a:r>
            <a:r>
              <a:rPr lang="en-US" dirty="0" err="1"/>
              <a:t>файла</a:t>
            </a:r>
            <a:r>
              <a:rPr lang="en-US" dirty="0"/>
              <a:t> и </a:t>
            </a:r>
            <a:r>
              <a:rPr lang="en-US" dirty="0" err="1"/>
              <a:t>получить</a:t>
            </a:r>
            <a:r>
              <a:rPr lang="en-US" dirty="0"/>
              <a:t> </a:t>
            </a:r>
            <a:r>
              <a:rPr lang="en-US" dirty="0" err="1"/>
              <a:t>ассемблерное</a:t>
            </a:r>
            <a:r>
              <a:rPr lang="en-US" dirty="0"/>
              <a:t> </a:t>
            </a:r>
            <a:r>
              <a:rPr lang="en-US" dirty="0" err="1"/>
              <a:t>представление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приведённом</a:t>
            </a:r>
            <a:r>
              <a:rPr lang="en-US" dirty="0"/>
              <a:t> </a:t>
            </a:r>
            <a:r>
              <a:rPr lang="en-US" dirty="0" err="1"/>
              <a:t>примере</a:t>
            </a:r>
            <a:r>
              <a:rPr lang="en-US" dirty="0"/>
              <a:t> </a:t>
            </a:r>
            <a:r>
              <a:rPr lang="en-US" dirty="0" err="1"/>
              <a:t>бесконечный</a:t>
            </a:r>
            <a:r>
              <a:rPr lang="en-US" dirty="0"/>
              <a:t> </a:t>
            </a:r>
            <a:r>
              <a:rPr lang="en-US" dirty="0" err="1"/>
              <a:t>цикл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языке</a:t>
            </a:r>
            <a:r>
              <a:rPr lang="en-US" dirty="0"/>
              <a:t> C </a:t>
            </a:r>
            <a:r>
              <a:rPr lang="en-US" dirty="0" err="1"/>
              <a:t>был</a:t>
            </a:r>
            <a:r>
              <a:rPr lang="en-US" dirty="0"/>
              <a:t> </a:t>
            </a:r>
            <a:r>
              <a:rPr lang="en-US" dirty="0" err="1"/>
              <a:t>преобразован</a:t>
            </a:r>
            <a:r>
              <a:rPr lang="en-US" dirty="0"/>
              <a:t> в </a:t>
            </a:r>
            <a:r>
              <a:rPr lang="en-US" dirty="0" err="1"/>
              <a:t>инструкцию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RJMP</a:t>
            </a:r>
            <a:r>
              <a:rPr lang="en-US" dirty="0"/>
              <a:t>, </a:t>
            </a:r>
            <a:r>
              <a:rPr lang="en-US" dirty="0" err="1"/>
              <a:t>выполняющую</a:t>
            </a:r>
            <a:r>
              <a:rPr lang="en-US" dirty="0"/>
              <a:t> </a:t>
            </a:r>
            <a:r>
              <a:rPr lang="en-US" dirty="0" err="1"/>
              <a:t>переход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саму</a:t>
            </a:r>
            <a:r>
              <a:rPr lang="en-US" dirty="0"/>
              <a:t> </a:t>
            </a:r>
            <a:r>
              <a:rPr lang="en-US" dirty="0" err="1"/>
              <a:t>себя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Подобный</a:t>
            </a:r>
            <a:r>
              <a:rPr lang="en-US" dirty="0"/>
              <a:t> </a:t>
            </a:r>
            <a:r>
              <a:rPr lang="en-US" dirty="0" err="1"/>
              <a:t>анализ</a:t>
            </a:r>
            <a:r>
              <a:rPr lang="en-US" dirty="0"/>
              <a:t> </a:t>
            </a:r>
            <a:r>
              <a:rPr lang="en-US" dirty="0" err="1"/>
              <a:t>особенно</a:t>
            </a:r>
            <a:r>
              <a:rPr lang="en-US" dirty="0"/>
              <a:t> </a:t>
            </a:r>
            <a:r>
              <a:rPr lang="en-US" dirty="0" err="1"/>
              <a:t>важен</a:t>
            </a:r>
            <a:r>
              <a:rPr lang="en-US" dirty="0"/>
              <a:t> в embedded-</a:t>
            </a:r>
            <a:r>
              <a:rPr lang="en-US" dirty="0" err="1"/>
              <a:t>разработке</a:t>
            </a:r>
            <a:r>
              <a:rPr lang="en-US" dirty="0"/>
              <a:t>, </a:t>
            </a:r>
            <a:r>
              <a:rPr lang="en-US" dirty="0" err="1"/>
              <a:t>поскольку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понимать</a:t>
            </a:r>
            <a:r>
              <a:rPr lang="en-US" dirty="0"/>
              <a:t> </a:t>
            </a:r>
            <a:r>
              <a:rPr lang="en-US" dirty="0" err="1"/>
              <a:t>реальное</a:t>
            </a:r>
            <a:r>
              <a:rPr lang="en-US" dirty="0"/>
              <a:t> </a:t>
            </a:r>
            <a:r>
              <a:rPr lang="en-US" dirty="0" err="1"/>
              <a:t>поведение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анализировать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оценивать</a:t>
            </a:r>
            <a:r>
              <a:rPr lang="en-US" dirty="0"/>
              <a:t> </a:t>
            </a:r>
            <a:r>
              <a:rPr lang="en-US" dirty="0" err="1"/>
              <a:t>эффективность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контролировать</a:t>
            </a:r>
            <a:r>
              <a:rPr lang="en-US" dirty="0"/>
              <a:t> </a:t>
            </a:r>
            <a:r>
              <a:rPr lang="en-US" dirty="0" err="1"/>
              <a:t>работу</a:t>
            </a:r>
            <a:r>
              <a:rPr lang="en-US" dirty="0"/>
              <a:t> </a:t>
            </a:r>
            <a:r>
              <a:rPr lang="en-US" dirty="0" err="1"/>
              <a:t>компилятора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 err="1"/>
              <a:t>Кроме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из-за</a:t>
            </a:r>
            <a:r>
              <a:rPr lang="en-US" dirty="0"/>
              <a:t> </a:t>
            </a:r>
            <a:r>
              <a:rPr lang="en-US" dirty="0" err="1"/>
              <a:t>ограниченных</a:t>
            </a:r>
            <a:r>
              <a:rPr lang="en-US" dirty="0"/>
              <a:t> </a:t>
            </a:r>
            <a:r>
              <a:rPr lang="en-US" dirty="0" err="1"/>
              <a:t>ресурсов</a:t>
            </a:r>
            <a:r>
              <a:rPr lang="en-US" dirty="0"/>
              <a:t> </a:t>
            </a:r>
            <a:r>
              <a:rPr lang="en-US" dirty="0" err="1"/>
              <a:t>микроконтроллеров</a:t>
            </a:r>
            <a:r>
              <a:rPr lang="en-US" dirty="0"/>
              <a:t> embedded-</a:t>
            </a:r>
            <a:r>
              <a:rPr lang="en-US" dirty="0" err="1"/>
              <a:t>разработчик</a:t>
            </a:r>
            <a:r>
              <a:rPr lang="en-US" dirty="0"/>
              <a:t> </a:t>
            </a:r>
            <a:r>
              <a:rPr lang="en-US" dirty="0" err="1"/>
              <a:t>значительно</a:t>
            </a:r>
            <a:r>
              <a:rPr lang="en-US" dirty="0"/>
              <a:t> </a:t>
            </a:r>
            <a:r>
              <a:rPr lang="en-US" dirty="0" err="1"/>
              <a:t>чаще</a:t>
            </a:r>
            <a:r>
              <a:rPr lang="en-US" dirty="0"/>
              <a:t> </a:t>
            </a:r>
            <a:r>
              <a:rPr lang="en-US" dirty="0" err="1"/>
              <a:t>взаимодействует</a:t>
            </a:r>
            <a:r>
              <a:rPr lang="en-US" dirty="0"/>
              <a:t> с </a:t>
            </a:r>
            <a:r>
              <a:rPr lang="en-US" dirty="0" err="1"/>
              <a:t>дизассемблированным</a:t>
            </a:r>
            <a:r>
              <a:rPr lang="en-US" dirty="0"/>
              <a:t> </a:t>
            </a:r>
            <a:r>
              <a:rPr lang="en-US" dirty="0" err="1"/>
              <a:t>кодом</a:t>
            </a:r>
            <a:r>
              <a:rPr lang="en-US" dirty="0"/>
              <a:t>, </a:t>
            </a:r>
            <a:r>
              <a:rPr lang="en-US" dirty="0" err="1"/>
              <a:t>чем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разработке</a:t>
            </a:r>
            <a:r>
              <a:rPr lang="en-US" dirty="0"/>
              <a:t> </a:t>
            </a:r>
            <a:r>
              <a:rPr lang="en-US" dirty="0" err="1"/>
              <a:t>обычных</a:t>
            </a:r>
            <a:r>
              <a:rPr lang="en-US" dirty="0"/>
              <a:t> </a:t>
            </a:r>
            <a:r>
              <a:rPr lang="en-US" dirty="0" err="1"/>
              <a:t>пользовательских</a:t>
            </a:r>
            <a:r>
              <a:rPr lang="en-US" dirty="0"/>
              <a:t> </a:t>
            </a:r>
            <a:r>
              <a:rPr lang="en-US" dirty="0" err="1"/>
              <a:t>приложений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278402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сборки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необходимо</a:t>
            </a:r>
            <a:r>
              <a:rPr lang="en-US" dirty="0"/>
              <a:t> </a:t>
            </a:r>
            <a:r>
              <a:rPr lang="en-US" dirty="0" err="1"/>
              <a:t>записать</a:t>
            </a:r>
            <a:r>
              <a:rPr lang="en-US" dirty="0"/>
              <a:t> </a:t>
            </a:r>
            <a:r>
              <a:rPr lang="en-US" dirty="0" err="1"/>
              <a:t>её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flash-</a:t>
            </a:r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</a:p>
          <a:p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используется</a:t>
            </a:r>
            <a:r>
              <a:rPr lang="en-US" dirty="0"/>
              <a:t> </a:t>
            </a:r>
            <a:r>
              <a:rPr lang="en-US" dirty="0" err="1"/>
              <a:t>утилита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avrdude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прошивки</a:t>
            </a:r>
            <a:r>
              <a:rPr lang="en-US" dirty="0"/>
              <a:t> </a:t>
            </a:r>
            <a:r>
              <a:rPr lang="en-US" dirty="0" err="1"/>
              <a:t>компьютер</a:t>
            </a:r>
            <a:r>
              <a:rPr lang="en-US" dirty="0"/>
              <a:t> </a:t>
            </a:r>
            <a:r>
              <a:rPr lang="en-US" dirty="0" err="1"/>
              <a:t>устанавливает</a:t>
            </a:r>
            <a:r>
              <a:rPr lang="en-US" dirty="0"/>
              <a:t> </a:t>
            </a:r>
            <a:r>
              <a:rPr lang="en-US" dirty="0" err="1"/>
              <a:t>соединение</a:t>
            </a:r>
            <a:r>
              <a:rPr lang="en-US" dirty="0"/>
              <a:t> с </a:t>
            </a:r>
            <a:r>
              <a:rPr lang="en-US" dirty="0" err="1"/>
              <a:t>микроконтроллером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программатор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bootloader. </a:t>
            </a:r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содержимое</a:t>
            </a:r>
            <a:r>
              <a:rPr lang="en-US" dirty="0"/>
              <a:t> HEX-</a:t>
            </a:r>
            <a:r>
              <a:rPr lang="en-US" dirty="0" err="1"/>
              <a:t>файла</a:t>
            </a:r>
            <a:r>
              <a:rPr lang="en-US" dirty="0"/>
              <a:t> </a:t>
            </a:r>
            <a:r>
              <a:rPr lang="en-US" dirty="0" err="1"/>
              <a:t>передаётся</a:t>
            </a:r>
            <a:r>
              <a:rPr lang="en-US" dirty="0"/>
              <a:t> </a:t>
            </a:r>
            <a:r>
              <a:rPr lang="en-US" dirty="0" err="1"/>
              <a:t>устройству</a:t>
            </a:r>
            <a:r>
              <a:rPr lang="en-US" dirty="0"/>
              <a:t> и </a:t>
            </a:r>
            <a:r>
              <a:rPr lang="en-US" dirty="0" err="1"/>
              <a:t>записывается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flash-</a:t>
            </a:r>
            <a:r>
              <a:rPr lang="en-US" dirty="0" err="1"/>
              <a:t>память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 </a:t>
            </a:r>
            <a:r>
              <a:rPr lang="en-US" dirty="0" err="1"/>
              <a:t>записи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проверка</a:t>
            </a:r>
            <a:r>
              <a:rPr lang="en-US" dirty="0"/>
              <a:t> </a:t>
            </a:r>
            <a:r>
              <a:rPr lang="en-US" dirty="0" err="1"/>
              <a:t>корректности</a:t>
            </a:r>
            <a:r>
              <a:rPr lang="en-US" dirty="0"/>
              <a:t> </a:t>
            </a:r>
            <a:r>
              <a:rPr lang="en-US" dirty="0" err="1"/>
              <a:t>содержимого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обычных</a:t>
            </a:r>
            <a:r>
              <a:rPr lang="en-US" dirty="0"/>
              <a:t> </a:t>
            </a:r>
            <a:r>
              <a:rPr lang="en-US" dirty="0" err="1"/>
              <a:t>программ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операционных</a:t>
            </a:r>
            <a:r>
              <a:rPr lang="en-US" dirty="0"/>
              <a:t> </a:t>
            </a:r>
            <a:r>
              <a:rPr lang="en-US" dirty="0" err="1"/>
              <a:t>систем</a:t>
            </a:r>
            <a:r>
              <a:rPr lang="en-US" dirty="0"/>
              <a:t>, embedded-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физически</a:t>
            </a:r>
            <a:r>
              <a:rPr lang="en-US" dirty="0"/>
              <a:t> </a:t>
            </a:r>
            <a:r>
              <a:rPr lang="en-US" dirty="0" err="1"/>
              <a:t>размещается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и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выполняться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сброса</a:t>
            </a:r>
            <a:r>
              <a:rPr lang="en-US" dirty="0"/>
              <a:t>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подачи</a:t>
            </a:r>
            <a:r>
              <a:rPr lang="en-US" dirty="0"/>
              <a:t> </a:t>
            </a:r>
            <a:r>
              <a:rPr lang="en-US" dirty="0" err="1"/>
              <a:t>питания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1233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Toolchain </a:t>
            </a:r>
            <a:r>
              <a:rPr lang="en-US" dirty="0" err="1"/>
              <a:t>для</a:t>
            </a:r>
            <a:r>
              <a:rPr lang="en-US" dirty="0"/>
              <a:t> embedded-</a:t>
            </a:r>
            <a:r>
              <a:rPr lang="en-US" dirty="0" err="1"/>
              <a:t>разработки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многом</a:t>
            </a:r>
            <a:r>
              <a:rPr lang="en-US" dirty="0"/>
              <a:t> </a:t>
            </a:r>
            <a:r>
              <a:rPr lang="en-US" dirty="0" err="1"/>
              <a:t>похож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обычный</a:t>
            </a:r>
            <a:r>
              <a:rPr lang="en-US" dirty="0"/>
              <a:t> toolchain </a:t>
            </a:r>
            <a:r>
              <a:rPr lang="en-US" dirty="0" err="1"/>
              <a:t>языка</a:t>
            </a:r>
            <a:r>
              <a:rPr lang="en-US" dirty="0"/>
              <a:t> C, </a:t>
            </a:r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существуют</a:t>
            </a:r>
            <a:r>
              <a:rPr lang="en-US" dirty="0"/>
              <a:t> и </a:t>
            </a:r>
            <a:r>
              <a:rPr lang="en-US" dirty="0" err="1"/>
              <a:t>важные</a:t>
            </a:r>
            <a:r>
              <a:rPr lang="en-US" dirty="0"/>
              <a:t> </a:t>
            </a:r>
            <a:r>
              <a:rPr lang="en-US" dirty="0" err="1"/>
              <a:t>отличия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Компиляция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</a:t>
            </a:r>
            <a:r>
              <a:rPr lang="en-US" dirty="0" err="1"/>
              <a:t>компьютера</a:t>
            </a:r>
            <a:r>
              <a:rPr lang="en-US" dirty="0"/>
              <a:t> </a:t>
            </a:r>
            <a:r>
              <a:rPr lang="en-US" dirty="0" err="1"/>
              <a:t>разработчика</a:t>
            </a:r>
            <a:r>
              <a:rPr lang="en-US" dirty="0"/>
              <a:t>, а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целевой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 </a:t>
            </a:r>
            <a:r>
              <a:rPr lang="en-US" dirty="0" err="1"/>
              <a:t>Такой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</a:t>
            </a:r>
            <a:r>
              <a:rPr lang="en-US" dirty="0" err="1"/>
              <a:t>называется</a:t>
            </a:r>
            <a:r>
              <a:rPr lang="en-US" dirty="0"/>
              <a:t> cross-compilation.</a:t>
            </a:r>
          </a:p>
          <a:p>
            <a:endParaRPr lang="en-US" dirty="0"/>
          </a:p>
          <a:p>
            <a:r>
              <a:rPr lang="en-US" dirty="0" err="1"/>
              <a:t>Кроме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embedded-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операционной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en-US" dirty="0"/>
              <a:t> и </a:t>
            </a:r>
            <a:r>
              <a:rPr lang="en-US" dirty="0" err="1"/>
              <a:t>непосредственно</a:t>
            </a:r>
            <a:r>
              <a:rPr lang="en-US" dirty="0"/>
              <a:t> </a:t>
            </a:r>
            <a:r>
              <a:rPr lang="en-US" dirty="0" err="1"/>
              <a:t>взаимодействует</a:t>
            </a:r>
            <a:r>
              <a:rPr lang="en-US" dirty="0"/>
              <a:t> с </a:t>
            </a:r>
            <a:r>
              <a:rPr lang="en-US" dirty="0" err="1"/>
              <a:t>аппаратурой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Из-за</a:t>
            </a:r>
            <a:r>
              <a:rPr lang="en-US" dirty="0"/>
              <a:t> </a:t>
            </a:r>
            <a:r>
              <a:rPr lang="en-US" dirty="0" err="1"/>
              <a:t>ограниченных</a:t>
            </a:r>
            <a:r>
              <a:rPr lang="en-US" dirty="0"/>
              <a:t> </a:t>
            </a:r>
            <a:r>
              <a:rPr lang="en-US" dirty="0" err="1"/>
              <a:t>ресурсов</a:t>
            </a:r>
            <a:r>
              <a:rPr lang="en-US" dirty="0"/>
              <a:t> </a:t>
            </a:r>
            <a:r>
              <a:rPr lang="en-US" dirty="0" err="1"/>
              <a:t>особое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приобретают</a:t>
            </a:r>
            <a:r>
              <a:rPr lang="en-US" dirty="0"/>
              <a:t> </a:t>
            </a:r>
            <a:r>
              <a:rPr lang="en-US" dirty="0" err="1"/>
              <a:t>размер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, </a:t>
            </a:r>
            <a:r>
              <a:rPr lang="en-US" dirty="0" err="1"/>
              <a:t>объём</a:t>
            </a:r>
            <a:r>
              <a:rPr lang="en-US" dirty="0"/>
              <a:t> </a:t>
            </a:r>
            <a:r>
              <a:rPr lang="en-US" dirty="0" err="1"/>
              <a:t>используемой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и </a:t>
            </a:r>
            <a:r>
              <a:rPr lang="en-US" dirty="0" err="1"/>
              <a:t>эффективность</a:t>
            </a:r>
            <a:r>
              <a:rPr lang="en-US" dirty="0"/>
              <a:t> </a:t>
            </a:r>
            <a:r>
              <a:rPr lang="en-US" dirty="0" err="1"/>
              <a:t>машинного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Поэтому</a:t>
            </a:r>
            <a:r>
              <a:rPr lang="en-US" dirty="0"/>
              <a:t> embedded-</a:t>
            </a:r>
            <a:r>
              <a:rPr lang="en-US" dirty="0" err="1"/>
              <a:t>разработчик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писать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языке</a:t>
            </a:r>
            <a:r>
              <a:rPr lang="en-US" dirty="0"/>
              <a:t> </a:t>
            </a:r>
            <a:r>
              <a:rPr lang="en-US" dirty="0" err="1"/>
              <a:t>высокого</a:t>
            </a:r>
            <a:r>
              <a:rPr lang="en-US" dirty="0"/>
              <a:t> </a:t>
            </a:r>
            <a:r>
              <a:rPr lang="en-US" dirty="0" err="1"/>
              <a:t>уровня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</a:t>
            </a:r>
            <a:r>
              <a:rPr lang="en-US" dirty="0" err="1"/>
              <a:t>понимать</a:t>
            </a:r>
            <a:r>
              <a:rPr lang="en-US" dirty="0"/>
              <a:t> </a:t>
            </a:r>
            <a:r>
              <a:rPr lang="en-US" dirty="0" err="1"/>
              <a:t>особенности</a:t>
            </a:r>
            <a:r>
              <a:rPr lang="en-US" dirty="0"/>
              <a:t> </a:t>
            </a:r>
            <a:r>
              <a:rPr lang="en-US" dirty="0" err="1"/>
              <a:t>архитектуры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, </a:t>
            </a:r>
            <a:r>
              <a:rPr lang="en-US" dirty="0" err="1"/>
              <a:t>организацию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и </a:t>
            </a:r>
            <a:r>
              <a:rPr lang="en-US" dirty="0" err="1"/>
              <a:t>структуру</a:t>
            </a:r>
            <a:r>
              <a:rPr lang="en-US" dirty="0"/>
              <a:t> </a:t>
            </a:r>
            <a:r>
              <a:rPr lang="en-US" dirty="0" err="1"/>
              <a:t>сгенерированного</a:t>
            </a:r>
            <a:r>
              <a:rPr lang="en-US" dirty="0"/>
              <a:t> </a:t>
            </a:r>
            <a:r>
              <a:rPr lang="en-US" dirty="0" err="1"/>
              <a:t>машинного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5059086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классический</a:t>
            </a:r>
            <a:r>
              <a:rPr lang="en-US" dirty="0"/>
              <a:t> </a:t>
            </a:r>
            <a:r>
              <a:rPr lang="en-US" dirty="0" err="1"/>
              <a:t>пример</a:t>
            </a:r>
            <a:r>
              <a:rPr lang="en-US" dirty="0"/>
              <a:t> embedded-</a:t>
            </a:r>
            <a:r>
              <a:rPr lang="en-US" dirty="0" err="1"/>
              <a:t>программы</a:t>
            </a:r>
            <a:r>
              <a:rPr lang="en-US" dirty="0"/>
              <a:t> — </a:t>
            </a:r>
            <a:r>
              <a:rPr lang="en-US" dirty="0" err="1"/>
              <a:t>мигание</a:t>
            </a:r>
            <a:r>
              <a:rPr lang="en-US" dirty="0"/>
              <a:t> </a:t>
            </a:r>
            <a:r>
              <a:rPr lang="en-US" dirty="0" err="1"/>
              <a:t>светодиодом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Несмотря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простоту</a:t>
            </a:r>
            <a:r>
              <a:rPr lang="en-US" dirty="0"/>
              <a:t>, </a:t>
            </a:r>
            <a:r>
              <a:rPr lang="en-US" dirty="0" err="1"/>
              <a:t>такая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демонстрирует</a:t>
            </a:r>
            <a:r>
              <a:rPr lang="en-US" dirty="0"/>
              <a:t> </a:t>
            </a:r>
            <a:r>
              <a:rPr lang="en-US" dirty="0" err="1"/>
              <a:t>сразу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фундаментальных</a:t>
            </a:r>
            <a:r>
              <a:rPr lang="en-US" dirty="0"/>
              <a:t> </a:t>
            </a:r>
            <a:r>
              <a:rPr lang="en-US" dirty="0" err="1"/>
              <a:t>принципов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микроконтроллеров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управление</a:t>
            </a:r>
            <a:r>
              <a:rPr lang="en-US" dirty="0"/>
              <a:t> GPIO, </a:t>
            </a:r>
            <a:r>
              <a:rPr lang="en-US" dirty="0" err="1"/>
              <a:t>работу</a:t>
            </a:r>
            <a:r>
              <a:rPr lang="en-US" dirty="0"/>
              <a:t> с </a:t>
            </a:r>
            <a:r>
              <a:rPr lang="en-US" dirty="0" err="1"/>
              <a:t>аппаратными</a:t>
            </a:r>
            <a:r>
              <a:rPr lang="en-US" dirty="0"/>
              <a:t> </a:t>
            </a:r>
            <a:r>
              <a:rPr lang="en-US" dirty="0" err="1"/>
              <a:t>регистрами</a:t>
            </a:r>
            <a:r>
              <a:rPr lang="en-US" dirty="0"/>
              <a:t> и </a:t>
            </a:r>
            <a:r>
              <a:rPr lang="en-US" dirty="0" err="1"/>
              <a:t>организацию</a:t>
            </a:r>
            <a:r>
              <a:rPr lang="en-US" dirty="0"/>
              <a:t> </a:t>
            </a:r>
            <a:r>
              <a:rPr lang="en-US" dirty="0" err="1"/>
              <a:t>бесконечного</a:t>
            </a:r>
            <a:r>
              <a:rPr lang="en-US" dirty="0"/>
              <a:t> </a:t>
            </a:r>
            <a:r>
              <a:rPr lang="en-US" dirty="0" err="1"/>
              <a:t>цикла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начале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подключаются</a:t>
            </a:r>
            <a:r>
              <a:rPr lang="en-US" dirty="0"/>
              <a:t> </a:t>
            </a:r>
            <a:r>
              <a:rPr lang="en-US" dirty="0" err="1"/>
              <a:t>заголовочные</a:t>
            </a:r>
            <a:r>
              <a:rPr lang="en-US" dirty="0"/>
              <a:t> </a:t>
            </a:r>
            <a:r>
              <a:rPr lang="en-US" dirty="0" err="1"/>
              <a:t>файлы</a:t>
            </a:r>
            <a:r>
              <a:rPr lang="en-US" dirty="0"/>
              <a:t> AVR.</a:t>
            </a:r>
          </a:p>
          <a:p>
            <a:r>
              <a:rPr lang="en-US" dirty="0" err="1"/>
              <a:t>Файл</a:t>
            </a:r>
            <a:r>
              <a:rPr lang="en-US" dirty="0"/>
              <a:t> 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avr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/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io.h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определения</a:t>
            </a:r>
            <a:r>
              <a:rPr lang="en-US" dirty="0"/>
              <a:t> </a:t>
            </a:r>
            <a:r>
              <a:rPr lang="en-US" dirty="0" err="1"/>
              <a:t>аппаратных</a:t>
            </a:r>
            <a:r>
              <a:rPr lang="en-US" dirty="0"/>
              <a:t> </a:t>
            </a:r>
            <a:r>
              <a:rPr lang="en-US" dirty="0" err="1"/>
              <a:t>регистров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и </a:t>
            </a:r>
            <a:r>
              <a:rPr lang="en-US" dirty="0" err="1"/>
              <a:t>констант</a:t>
            </a:r>
            <a:r>
              <a:rPr lang="en-US" dirty="0"/>
              <a:t>, </a:t>
            </a:r>
            <a:r>
              <a:rPr lang="en-US" dirty="0" err="1"/>
              <a:t>соответствующих</a:t>
            </a:r>
            <a:r>
              <a:rPr lang="en-US" dirty="0"/>
              <a:t> </a:t>
            </a:r>
            <a:r>
              <a:rPr lang="en-US" dirty="0" err="1"/>
              <a:t>выводам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Файл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util/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delay.h</a:t>
            </a:r>
            <a:r>
              <a:rPr lang="en-US" dirty="0"/>
              <a:t> </a:t>
            </a:r>
            <a:r>
              <a:rPr lang="en-US" dirty="0" err="1"/>
              <a:t>предоставляет</a:t>
            </a:r>
            <a:r>
              <a:rPr lang="en-US" dirty="0"/>
              <a:t> </a:t>
            </a:r>
            <a:r>
              <a:rPr lang="en-US" dirty="0" err="1"/>
              <a:t>функцию</a:t>
            </a:r>
            <a:r>
              <a:rPr lang="en-US" dirty="0"/>
              <a:t> </a:t>
            </a:r>
            <a:r>
              <a:rPr lang="en-US" dirty="0" err="1"/>
              <a:t>программной</a:t>
            </a:r>
            <a:r>
              <a:rPr lang="en-US" dirty="0"/>
              <a:t> </a:t>
            </a:r>
            <a:r>
              <a:rPr lang="en-US" dirty="0" err="1"/>
              <a:t>задержки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_</a:t>
            </a:r>
            <a:r>
              <a:rPr lang="en-US" sz="1200" kern="1200" dirty="0" err="1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delay_ms</a:t>
            </a:r>
            <a:r>
              <a:rPr lang="en-US" dirty="0"/>
              <a:t>.</a:t>
            </a:r>
          </a:p>
          <a:p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main</a:t>
            </a:r>
            <a:r>
              <a:rPr lang="en-US" dirty="0"/>
              <a:t> </a:t>
            </a:r>
            <a:r>
              <a:rPr lang="en-US" dirty="0" err="1"/>
              <a:t>сначала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настройка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 PB5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выхода</a:t>
            </a:r>
            <a:r>
              <a:rPr lang="en-US" dirty="0"/>
              <a:t>.</a:t>
            </a:r>
          </a:p>
          <a:p>
            <a:r>
              <a:rPr lang="en-US" dirty="0" err="1"/>
              <a:t>Операция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DDRB |= (1 &lt;&lt; PB5);</a:t>
            </a:r>
          </a:p>
          <a:p>
            <a:r>
              <a:rPr lang="en-US" dirty="0" err="1"/>
              <a:t>устанавливает</a:t>
            </a:r>
            <a:r>
              <a:rPr lang="en-US" dirty="0"/>
              <a:t> </a:t>
            </a:r>
            <a:r>
              <a:rPr lang="en-US" dirty="0" err="1"/>
              <a:t>соответствующий</a:t>
            </a:r>
            <a:r>
              <a:rPr lang="en-US" dirty="0"/>
              <a:t> </a:t>
            </a:r>
            <a:r>
              <a:rPr lang="en-US" dirty="0" err="1"/>
              <a:t>бит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 DDRB, </a:t>
            </a:r>
            <a:r>
              <a:rPr lang="en-US" dirty="0" err="1"/>
              <a:t>переводя</a:t>
            </a:r>
            <a:r>
              <a:rPr lang="en-US" dirty="0"/>
              <a:t> </a:t>
            </a:r>
            <a:r>
              <a:rPr lang="en-US" dirty="0" err="1"/>
              <a:t>вывод</a:t>
            </a:r>
            <a:r>
              <a:rPr lang="en-US" dirty="0"/>
              <a:t> PB5 в </a:t>
            </a:r>
            <a:r>
              <a:rPr lang="en-US" dirty="0" err="1"/>
              <a:t>режим</a:t>
            </a:r>
            <a:r>
              <a:rPr lang="en-US" dirty="0"/>
              <a:t> output.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входит</a:t>
            </a:r>
            <a:r>
              <a:rPr lang="en-US" dirty="0"/>
              <a:t> в </a:t>
            </a:r>
            <a:r>
              <a:rPr lang="en-US" dirty="0" err="1"/>
              <a:t>бесконечный</a:t>
            </a:r>
            <a:r>
              <a:rPr lang="en-US" dirty="0"/>
              <a:t> </a:t>
            </a:r>
            <a:r>
              <a:rPr lang="en-US" dirty="0" err="1"/>
              <a:t>цикл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Сначала</a:t>
            </a:r>
            <a:r>
              <a:rPr lang="en-US" dirty="0"/>
              <a:t> в </a:t>
            </a:r>
            <a:r>
              <a:rPr lang="en-US" dirty="0" err="1"/>
              <a:t>регистр</a:t>
            </a:r>
            <a:r>
              <a:rPr lang="en-US" dirty="0"/>
              <a:t> PORTB </a:t>
            </a:r>
            <a:r>
              <a:rPr lang="en-US" dirty="0" err="1"/>
              <a:t>записывается</a:t>
            </a:r>
            <a:r>
              <a:rPr lang="en-US" dirty="0"/>
              <a:t> </a:t>
            </a:r>
            <a:r>
              <a:rPr lang="en-US" dirty="0" err="1"/>
              <a:t>единица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 PB5,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устанавливает</a:t>
            </a:r>
            <a:r>
              <a:rPr lang="en-US" dirty="0"/>
              <a:t> </a:t>
            </a:r>
            <a:r>
              <a:rPr lang="en-US" dirty="0" err="1"/>
              <a:t>высокий</a:t>
            </a:r>
            <a:r>
              <a:rPr lang="en-US" dirty="0"/>
              <a:t> </a:t>
            </a:r>
            <a:r>
              <a:rPr lang="en-US" dirty="0" err="1"/>
              <a:t>логический</a:t>
            </a:r>
            <a:r>
              <a:rPr lang="en-US" dirty="0"/>
              <a:t> </a:t>
            </a:r>
            <a:r>
              <a:rPr lang="en-US" dirty="0" err="1"/>
              <a:t>уровень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выводе</a:t>
            </a:r>
            <a:r>
              <a:rPr lang="en-US" dirty="0"/>
              <a:t> и </a:t>
            </a:r>
            <a:r>
              <a:rPr lang="en-US" dirty="0" err="1"/>
              <a:t>включает</a:t>
            </a:r>
            <a:r>
              <a:rPr lang="en-US" dirty="0"/>
              <a:t> </a:t>
            </a:r>
            <a:r>
              <a:rPr lang="en-US" dirty="0" err="1"/>
              <a:t>светодиод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Затем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задержка</a:t>
            </a:r>
            <a:r>
              <a:rPr lang="en-US" dirty="0"/>
              <a:t> </a:t>
            </a:r>
            <a:r>
              <a:rPr lang="en-US" dirty="0" err="1"/>
              <a:t>длительностью</a:t>
            </a:r>
            <a:r>
              <a:rPr lang="en-US" dirty="0"/>
              <a:t> 500 </a:t>
            </a:r>
            <a:r>
              <a:rPr lang="en-US" dirty="0" err="1"/>
              <a:t>миллисекунд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бит</a:t>
            </a:r>
            <a:r>
              <a:rPr lang="en-US" dirty="0"/>
              <a:t> PB5 </a:t>
            </a:r>
            <a:r>
              <a:rPr lang="en-US" dirty="0" err="1"/>
              <a:t>очищается</a:t>
            </a:r>
            <a:r>
              <a:rPr lang="en-US" dirty="0"/>
              <a:t>,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выводе</a:t>
            </a:r>
            <a:r>
              <a:rPr lang="en-US" dirty="0"/>
              <a:t> </a:t>
            </a:r>
            <a:r>
              <a:rPr lang="en-US" dirty="0" err="1"/>
              <a:t>формируется</a:t>
            </a:r>
            <a:r>
              <a:rPr lang="en-US" dirty="0"/>
              <a:t> </a:t>
            </a:r>
            <a:r>
              <a:rPr lang="en-US" dirty="0" err="1"/>
              <a:t>низкий</a:t>
            </a:r>
            <a:r>
              <a:rPr lang="en-US" dirty="0"/>
              <a:t> </a:t>
            </a:r>
            <a:r>
              <a:rPr lang="en-US" dirty="0" err="1"/>
              <a:t>уровень</a:t>
            </a:r>
            <a:r>
              <a:rPr lang="en-US" dirty="0"/>
              <a:t> и </a:t>
            </a:r>
            <a:r>
              <a:rPr lang="en-US" dirty="0" err="1"/>
              <a:t>светодиод</a:t>
            </a:r>
            <a:r>
              <a:rPr lang="en-US" dirty="0"/>
              <a:t> </a:t>
            </a:r>
            <a:r>
              <a:rPr lang="en-US" dirty="0" err="1"/>
              <a:t>выключается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Далее</a:t>
            </a:r>
            <a:r>
              <a:rPr lang="en-US" dirty="0"/>
              <a:t> </a:t>
            </a:r>
            <a:r>
              <a:rPr lang="en-US" dirty="0" err="1"/>
              <a:t>снова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задержка</a:t>
            </a:r>
            <a:r>
              <a:rPr lang="en-US" dirty="0"/>
              <a:t>,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чего</a:t>
            </a:r>
            <a:r>
              <a:rPr lang="en-US" dirty="0"/>
              <a:t> </a:t>
            </a:r>
            <a:r>
              <a:rPr lang="en-US" dirty="0" err="1"/>
              <a:t>цикл</a:t>
            </a:r>
            <a:r>
              <a:rPr lang="en-US" dirty="0"/>
              <a:t> </a:t>
            </a:r>
            <a:r>
              <a:rPr lang="en-US" dirty="0" err="1"/>
              <a:t>повторяется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Следует</a:t>
            </a:r>
            <a:r>
              <a:rPr lang="en-US" dirty="0"/>
              <a:t> </a:t>
            </a:r>
            <a:r>
              <a:rPr lang="en-US" dirty="0" err="1"/>
              <a:t>обратить</a:t>
            </a:r>
            <a:r>
              <a:rPr lang="en-US" dirty="0"/>
              <a:t> </a:t>
            </a:r>
            <a:r>
              <a:rPr lang="en-US" dirty="0" err="1"/>
              <a:t>внимание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embedded-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содержат</a:t>
            </a:r>
            <a:r>
              <a:rPr lang="en-US" dirty="0"/>
              <a:t> </a:t>
            </a:r>
            <a:r>
              <a:rPr lang="en-US" dirty="0" err="1"/>
              <a:t>бесконечный</a:t>
            </a:r>
            <a:r>
              <a:rPr lang="en-US" dirty="0"/>
              <a:t> </a:t>
            </a:r>
            <a:r>
              <a:rPr lang="en-US" dirty="0" err="1"/>
              <a:t>цикл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. В </a:t>
            </a:r>
            <a:r>
              <a:rPr lang="en-US" dirty="0" err="1"/>
              <a:t>отличие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обычных</a:t>
            </a:r>
            <a:r>
              <a:rPr lang="en-US" dirty="0"/>
              <a:t> </a:t>
            </a:r>
            <a:r>
              <a:rPr lang="en-US" dirty="0" err="1"/>
              <a:t>пользовательских</a:t>
            </a:r>
            <a:r>
              <a:rPr lang="en-US" dirty="0"/>
              <a:t> </a:t>
            </a:r>
            <a:r>
              <a:rPr lang="en-US" dirty="0" err="1"/>
              <a:t>приложений</a:t>
            </a:r>
            <a:r>
              <a:rPr lang="en-US" dirty="0"/>
              <a:t>, </a:t>
            </a:r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завершать</a:t>
            </a:r>
            <a:r>
              <a:rPr lang="en-US" dirty="0"/>
              <a:t> </a:t>
            </a:r>
            <a:r>
              <a:rPr lang="en-US" dirty="0" err="1"/>
              <a:t>работу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некоторой</a:t>
            </a:r>
            <a:r>
              <a:rPr lang="en-US" dirty="0"/>
              <a:t> </a:t>
            </a:r>
            <a:r>
              <a:rPr lang="en-US" dirty="0" err="1"/>
              <a:t>задачи</a:t>
            </a:r>
            <a:r>
              <a:rPr lang="en-US" dirty="0"/>
              <a:t>.</a:t>
            </a:r>
            <a:r>
              <a:rPr lang="ru-RU" dirty="0"/>
              <a:t> </a:t>
            </a:r>
            <a:r>
              <a:rPr lang="en-US" dirty="0" err="1"/>
              <a:t>Он</a:t>
            </a:r>
            <a:r>
              <a:rPr lang="en-US" dirty="0"/>
              <a:t> </a:t>
            </a:r>
            <a:r>
              <a:rPr lang="en-US" dirty="0" err="1"/>
              <a:t>непрерывно</a:t>
            </a:r>
            <a:r>
              <a:rPr lang="en-US" dirty="0"/>
              <a:t> </a:t>
            </a:r>
            <a:r>
              <a:rPr lang="en-US" dirty="0" err="1"/>
              <a:t>управляет</a:t>
            </a:r>
            <a:r>
              <a:rPr lang="en-US" dirty="0"/>
              <a:t> </a:t>
            </a:r>
            <a:r>
              <a:rPr lang="en-US" dirty="0" err="1"/>
              <a:t>устройством</a:t>
            </a:r>
            <a:r>
              <a:rPr lang="en-US" dirty="0"/>
              <a:t> и </a:t>
            </a:r>
            <a:r>
              <a:rPr lang="en-US" dirty="0" err="1"/>
              <a:t>реагирует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внешние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Также</a:t>
            </a:r>
            <a:r>
              <a:rPr lang="en-US" dirty="0"/>
              <a:t> </a:t>
            </a:r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изменение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бита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 PORTB </a:t>
            </a:r>
            <a:r>
              <a:rPr lang="en-US" dirty="0" err="1"/>
              <a:t>приводит</a:t>
            </a:r>
            <a:r>
              <a:rPr lang="en-US" dirty="0"/>
              <a:t> к </a:t>
            </a:r>
            <a:r>
              <a:rPr lang="en-US" dirty="0" err="1"/>
              <a:t>непосредственному</a:t>
            </a:r>
            <a:r>
              <a:rPr lang="en-US" dirty="0"/>
              <a:t> </a:t>
            </a:r>
            <a:r>
              <a:rPr lang="en-US" dirty="0" err="1"/>
              <a:t>изменению</a:t>
            </a:r>
            <a:r>
              <a:rPr lang="en-US" dirty="0"/>
              <a:t> </a:t>
            </a:r>
            <a:r>
              <a:rPr lang="en-US" dirty="0" err="1"/>
              <a:t>электрического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ru-RU" dirty="0" err="1"/>
              <a:t>ти</a:t>
            </a:r>
            <a:r>
              <a:rPr lang="en-US" dirty="0" err="1"/>
              <a:t>ичным</a:t>
            </a:r>
            <a:r>
              <a:rPr lang="en-US" dirty="0"/>
              <a:t> </a:t>
            </a:r>
            <a:r>
              <a:rPr lang="en-US" dirty="0" err="1"/>
              <a:t>примером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с </a:t>
            </a:r>
            <a:r>
              <a:rPr lang="en-US" dirty="0" err="1"/>
              <a:t>аппаратурой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memory-mapped I/O.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457154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Таймеры</a:t>
            </a:r>
            <a:r>
              <a:rPr lang="en-US" dirty="0"/>
              <a:t> </a:t>
            </a:r>
            <a:r>
              <a:rPr lang="en-US" dirty="0" err="1"/>
              <a:t>являются</a:t>
            </a:r>
            <a:r>
              <a:rPr lang="en-US" dirty="0"/>
              <a:t> </a:t>
            </a:r>
            <a:r>
              <a:rPr lang="en-US" dirty="0" err="1"/>
              <a:t>одной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важнейших</a:t>
            </a:r>
            <a:r>
              <a:rPr lang="en-US" dirty="0"/>
              <a:t> </a:t>
            </a:r>
            <a:r>
              <a:rPr lang="en-US" dirty="0" err="1"/>
              <a:t>периферий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Таймер</a:t>
            </a:r>
            <a:r>
              <a:rPr lang="en-US" dirty="0"/>
              <a:t> </a:t>
            </a:r>
            <a:r>
              <a:rPr lang="en-US" dirty="0" err="1"/>
              <a:t>представляет</a:t>
            </a:r>
            <a:r>
              <a:rPr lang="en-US" dirty="0"/>
              <a:t> </a:t>
            </a:r>
            <a:r>
              <a:rPr lang="en-US" dirty="0" err="1"/>
              <a:t>собой</a:t>
            </a:r>
            <a:r>
              <a:rPr lang="en-US" dirty="0"/>
              <a:t> </a:t>
            </a:r>
            <a:r>
              <a:rPr lang="en-US" dirty="0" err="1"/>
              <a:t>аппаратный</a:t>
            </a:r>
            <a:r>
              <a:rPr lang="en-US" dirty="0"/>
              <a:t> </a:t>
            </a:r>
            <a:r>
              <a:rPr lang="en-US" dirty="0" err="1"/>
              <a:t>модуль</a:t>
            </a:r>
            <a:r>
              <a:rPr lang="en-US" dirty="0"/>
              <a:t>, </a:t>
            </a:r>
            <a:r>
              <a:rPr lang="en-US" dirty="0" err="1"/>
              <a:t>способный</a:t>
            </a:r>
            <a:r>
              <a:rPr lang="en-US" dirty="0"/>
              <a:t> </a:t>
            </a:r>
            <a:r>
              <a:rPr lang="en-US" dirty="0" err="1"/>
              <a:t>изменять</a:t>
            </a:r>
            <a:r>
              <a:rPr lang="en-US" dirty="0"/>
              <a:t> </a:t>
            </a:r>
            <a:r>
              <a:rPr lang="en-US" dirty="0" err="1"/>
              <a:t>своё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независимо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процессором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правило</a:t>
            </a:r>
            <a:r>
              <a:rPr lang="en-US" dirty="0"/>
              <a:t>, </a:t>
            </a:r>
            <a:r>
              <a:rPr lang="en-US" dirty="0" err="1"/>
              <a:t>таймер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счётчик</a:t>
            </a:r>
            <a:r>
              <a:rPr lang="en-US" dirty="0"/>
              <a:t>,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которого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увеличивается</a:t>
            </a:r>
            <a:r>
              <a:rPr lang="en-US" dirty="0"/>
              <a:t> с </a:t>
            </a:r>
            <a:r>
              <a:rPr lang="en-US" dirty="0" err="1"/>
              <a:t>заданной</a:t>
            </a:r>
            <a:r>
              <a:rPr lang="en-US" dirty="0"/>
              <a:t> </a:t>
            </a:r>
            <a:r>
              <a:rPr lang="en-US" dirty="0" err="1"/>
              <a:t>частотой</a:t>
            </a:r>
            <a:r>
              <a:rPr lang="en-US" dirty="0"/>
              <a:t>.</a:t>
            </a:r>
          </a:p>
          <a:p>
            <a:r>
              <a:rPr lang="en-US" dirty="0" err="1"/>
              <a:t>Благодаря</a:t>
            </a:r>
            <a:r>
              <a:rPr lang="en-US" dirty="0"/>
              <a:t> </a:t>
            </a:r>
            <a:r>
              <a:rPr lang="en-US" dirty="0" err="1"/>
              <a:t>этому</a:t>
            </a:r>
            <a:r>
              <a:rPr lang="en-US" dirty="0"/>
              <a:t> </a:t>
            </a:r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измерять</a:t>
            </a:r>
            <a:r>
              <a:rPr lang="en-US" dirty="0"/>
              <a:t> </a:t>
            </a:r>
            <a:r>
              <a:rPr lang="en-US" dirty="0" err="1"/>
              <a:t>временные</a:t>
            </a:r>
            <a:r>
              <a:rPr lang="en-US" dirty="0"/>
              <a:t> </a:t>
            </a:r>
            <a:r>
              <a:rPr lang="en-US" dirty="0" err="1"/>
              <a:t>интервалы</a:t>
            </a:r>
            <a:r>
              <a:rPr lang="en-US" dirty="0"/>
              <a:t>, </a:t>
            </a:r>
            <a:r>
              <a:rPr lang="en-US" dirty="0" err="1"/>
              <a:t>формировать</a:t>
            </a:r>
            <a:r>
              <a:rPr lang="en-US" dirty="0"/>
              <a:t> </a:t>
            </a:r>
            <a:r>
              <a:rPr lang="en-US" dirty="0" err="1"/>
              <a:t>периодические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, </a:t>
            </a:r>
            <a:r>
              <a:rPr lang="en-US" dirty="0" err="1"/>
              <a:t>генерировать</a:t>
            </a:r>
            <a:r>
              <a:rPr lang="en-US" dirty="0"/>
              <a:t> </a:t>
            </a:r>
            <a:r>
              <a:rPr lang="en-US" dirty="0" err="1"/>
              <a:t>сигналы</a:t>
            </a:r>
            <a:r>
              <a:rPr lang="en-US" dirty="0"/>
              <a:t> PWM и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множество</a:t>
            </a:r>
            <a:r>
              <a:rPr lang="en-US" dirty="0"/>
              <a:t> </a:t>
            </a:r>
            <a:r>
              <a:rPr lang="en-US" dirty="0" err="1"/>
              <a:t>других</a:t>
            </a:r>
            <a:r>
              <a:rPr lang="en-US" dirty="0"/>
              <a:t> </a:t>
            </a:r>
            <a:r>
              <a:rPr lang="en-US" dirty="0" err="1"/>
              <a:t>задач</a:t>
            </a:r>
            <a:r>
              <a:rPr lang="en-US" dirty="0"/>
              <a:t>, </a:t>
            </a:r>
            <a:r>
              <a:rPr lang="en-US" dirty="0" err="1"/>
              <a:t>связанных</a:t>
            </a:r>
            <a:r>
              <a:rPr lang="en-US" dirty="0"/>
              <a:t> </a:t>
            </a:r>
            <a:r>
              <a:rPr lang="en-US" dirty="0" err="1"/>
              <a:t>со</a:t>
            </a:r>
            <a:r>
              <a:rPr lang="en-US" dirty="0"/>
              <a:t> </a:t>
            </a:r>
            <a:r>
              <a:rPr lang="en-US" dirty="0" err="1"/>
              <a:t>временем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таймер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параллельно</a:t>
            </a:r>
            <a:r>
              <a:rPr lang="en-US" dirty="0"/>
              <a:t> с CPU. </a:t>
            </a:r>
            <a:r>
              <a:rPr lang="en-US" dirty="0" err="1"/>
              <a:t>Даже</a:t>
            </a:r>
            <a:r>
              <a:rPr lang="en-US" dirty="0"/>
              <a:t>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процессор</a:t>
            </a:r>
            <a:r>
              <a:rPr lang="en-US" dirty="0"/>
              <a:t> </a:t>
            </a:r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другие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, </a:t>
            </a:r>
            <a:r>
              <a:rPr lang="en-US" dirty="0" err="1"/>
              <a:t>аппаратный</a:t>
            </a:r>
            <a:r>
              <a:rPr lang="en-US" dirty="0"/>
              <a:t> </a:t>
            </a:r>
            <a:r>
              <a:rPr lang="en-US" dirty="0" err="1"/>
              <a:t>счётчик</a:t>
            </a:r>
            <a:r>
              <a:rPr lang="en-US" dirty="0"/>
              <a:t> </a:t>
            </a:r>
            <a:r>
              <a:rPr lang="en-US" dirty="0" err="1"/>
              <a:t>таймера</a:t>
            </a:r>
            <a:r>
              <a:rPr lang="en-US" dirty="0"/>
              <a:t> </a:t>
            </a:r>
            <a:r>
              <a:rPr lang="en-US" dirty="0" err="1"/>
              <a:t>продолжает</a:t>
            </a:r>
            <a:r>
              <a:rPr lang="en-US" dirty="0"/>
              <a:t> </a:t>
            </a:r>
            <a:r>
              <a:rPr lang="en-US" dirty="0" err="1"/>
              <a:t>изменяться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таймеры</a:t>
            </a:r>
            <a:r>
              <a:rPr lang="en-US" dirty="0"/>
              <a:t> </a:t>
            </a:r>
            <a:r>
              <a:rPr lang="en-US" dirty="0" err="1"/>
              <a:t>являются</a:t>
            </a:r>
            <a:r>
              <a:rPr lang="en-US" dirty="0"/>
              <a:t> </a:t>
            </a:r>
            <a:r>
              <a:rPr lang="en-US" dirty="0" err="1"/>
              <a:t>значительно</a:t>
            </a:r>
            <a:r>
              <a:rPr lang="en-US" dirty="0"/>
              <a:t> </a:t>
            </a:r>
            <a:r>
              <a:rPr lang="en-US" dirty="0" err="1"/>
              <a:t>более</a:t>
            </a:r>
            <a:r>
              <a:rPr lang="en-US" dirty="0"/>
              <a:t> </a:t>
            </a:r>
            <a:r>
              <a:rPr lang="en-US" dirty="0" err="1"/>
              <a:t>эффективным</a:t>
            </a:r>
            <a:r>
              <a:rPr lang="en-US" dirty="0"/>
              <a:t> </a:t>
            </a:r>
            <a:r>
              <a:rPr lang="en-US" dirty="0" err="1"/>
              <a:t>механизмом</a:t>
            </a:r>
            <a:r>
              <a:rPr lang="en-US" dirty="0"/>
              <a:t> </a:t>
            </a:r>
            <a:r>
              <a:rPr lang="en-US" dirty="0" err="1"/>
              <a:t>измерения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, </a:t>
            </a:r>
            <a:r>
              <a:rPr lang="en-US" dirty="0" err="1"/>
              <a:t>чем</a:t>
            </a:r>
            <a:r>
              <a:rPr lang="en-US" dirty="0"/>
              <a:t> </a:t>
            </a:r>
            <a:r>
              <a:rPr lang="en-US" dirty="0" err="1"/>
              <a:t>программные</a:t>
            </a:r>
            <a:r>
              <a:rPr lang="en-US" dirty="0"/>
              <a:t> </a:t>
            </a:r>
            <a:r>
              <a:rPr lang="en-US" dirty="0" err="1"/>
              <a:t>циклы</a:t>
            </a:r>
            <a:r>
              <a:rPr lang="en-US" dirty="0"/>
              <a:t> </a:t>
            </a:r>
            <a:r>
              <a:rPr lang="en-US" dirty="0" err="1"/>
              <a:t>задержки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6707879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общий</a:t>
            </a:r>
            <a:r>
              <a:rPr lang="en-US" dirty="0"/>
              <a:t> </a:t>
            </a:r>
            <a:r>
              <a:rPr lang="en-US" dirty="0" err="1"/>
              <a:t>принцип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аппаратного</a:t>
            </a:r>
            <a:r>
              <a:rPr lang="en-US" dirty="0"/>
              <a:t> </a:t>
            </a:r>
            <a:r>
              <a:rPr lang="en-US" dirty="0" err="1"/>
              <a:t>таймера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Источником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таймера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тактовый</a:t>
            </a:r>
            <a:r>
              <a:rPr lang="en-US" dirty="0"/>
              <a:t> </a:t>
            </a:r>
            <a:r>
              <a:rPr lang="en-US" dirty="0" err="1"/>
              <a:t>сигнал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Перед</a:t>
            </a:r>
            <a:r>
              <a:rPr lang="en-US" dirty="0"/>
              <a:t> </a:t>
            </a:r>
            <a:r>
              <a:rPr lang="en-US" dirty="0" err="1"/>
              <a:t>поступлением</a:t>
            </a:r>
            <a:r>
              <a:rPr lang="en-US" dirty="0"/>
              <a:t> в </a:t>
            </a:r>
            <a:r>
              <a:rPr lang="en-US" dirty="0" err="1"/>
              <a:t>счётчик</a:t>
            </a:r>
            <a:r>
              <a:rPr lang="en-US" dirty="0"/>
              <a:t> </a:t>
            </a:r>
            <a:r>
              <a:rPr lang="en-US" dirty="0" err="1"/>
              <a:t>частота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проходить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prescaler</a:t>
            </a:r>
            <a:r>
              <a:rPr lang="en-US" dirty="0"/>
              <a:t> — </a:t>
            </a:r>
            <a:r>
              <a:rPr lang="en-US" dirty="0" err="1"/>
              <a:t>аппаратный</a:t>
            </a:r>
            <a:r>
              <a:rPr lang="en-US" dirty="0"/>
              <a:t> </a:t>
            </a:r>
            <a:r>
              <a:rPr lang="en-US" dirty="0" err="1"/>
              <a:t>делитель</a:t>
            </a:r>
            <a:r>
              <a:rPr lang="en-US" dirty="0"/>
              <a:t> </a:t>
            </a:r>
            <a:r>
              <a:rPr lang="en-US" dirty="0" err="1"/>
              <a:t>частоты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частоте</a:t>
            </a:r>
            <a:r>
              <a:rPr lang="en-US" dirty="0"/>
              <a:t> 16 MHz, </a:t>
            </a:r>
            <a:r>
              <a:rPr lang="en-US" dirty="0" err="1"/>
              <a:t>prescaler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уменьшить</a:t>
            </a:r>
            <a:r>
              <a:rPr lang="en-US" dirty="0"/>
              <a:t> </a:t>
            </a:r>
            <a:r>
              <a:rPr lang="en-US" dirty="0" err="1"/>
              <a:t>частоту</a:t>
            </a:r>
            <a:r>
              <a:rPr lang="en-US" dirty="0"/>
              <a:t> </a:t>
            </a:r>
            <a:r>
              <a:rPr lang="en-US" dirty="0" err="1"/>
              <a:t>счётчика</a:t>
            </a:r>
            <a:r>
              <a:rPr lang="en-US" dirty="0"/>
              <a:t> в 8, 64, 256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другое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раз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этого</a:t>
            </a:r>
            <a:r>
              <a:rPr lang="en-US" dirty="0"/>
              <a:t> </a:t>
            </a:r>
            <a:r>
              <a:rPr lang="en-US" dirty="0" err="1"/>
              <a:t>аппаратный</a:t>
            </a:r>
            <a:r>
              <a:rPr lang="en-US" dirty="0"/>
              <a:t> </a:t>
            </a:r>
            <a:r>
              <a:rPr lang="en-US" dirty="0" err="1"/>
              <a:t>счётчик</a:t>
            </a:r>
            <a:r>
              <a:rPr lang="en-US" dirty="0"/>
              <a:t>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увеличивать</a:t>
            </a:r>
            <a:r>
              <a:rPr lang="en-US" dirty="0"/>
              <a:t> </a:t>
            </a:r>
            <a:r>
              <a:rPr lang="en-US" dirty="0" err="1"/>
              <a:t>своё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многих</a:t>
            </a:r>
            <a:r>
              <a:rPr lang="en-US" dirty="0"/>
              <a:t> </a:t>
            </a:r>
            <a:r>
              <a:rPr lang="en-US" dirty="0" err="1"/>
              <a:t>режимах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таймер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сравнивать</a:t>
            </a:r>
            <a:r>
              <a:rPr lang="en-US" dirty="0"/>
              <a:t> </a:t>
            </a:r>
            <a:r>
              <a:rPr lang="en-US" dirty="0" err="1"/>
              <a:t>текущее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счётчика</a:t>
            </a:r>
            <a:r>
              <a:rPr lang="en-US" dirty="0"/>
              <a:t> </a:t>
            </a:r>
            <a:r>
              <a:rPr lang="en-US" dirty="0" err="1"/>
              <a:t>со</a:t>
            </a:r>
            <a:r>
              <a:rPr lang="en-US" dirty="0"/>
              <a:t> </a:t>
            </a:r>
            <a:r>
              <a:rPr lang="en-US" dirty="0" err="1"/>
              <a:t>специальным</a:t>
            </a:r>
            <a:r>
              <a:rPr lang="en-US" dirty="0"/>
              <a:t> compare register.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совпадают</a:t>
            </a:r>
            <a:r>
              <a:rPr lang="en-US" dirty="0"/>
              <a:t>, </a:t>
            </a:r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:</a:t>
            </a:r>
          </a:p>
          <a:p>
            <a:r>
              <a:rPr lang="en-US" dirty="0" err="1"/>
              <a:t>установить</a:t>
            </a:r>
            <a:r>
              <a:rPr lang="en-US" dirty="0"/>
              <a:t> </a:t>
            </a:r>
            <a:r>
              <a:rPr lang="en-US" dirty="0" err="1"/>
              <a:t>флаг</a:t>
            </a:r>
            <a:r>
              <a:rPr lang="en-US" dirty="0"/>
              <a:t>; </a:t>
            </a:r>
          </a:p>
          <a:p>
            <a:r>
              <a:rPr lang="en-US" dirty="0" err="1"/>
              <a:t>изменить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; </a:t>
            </a:r>
          </a:p>
          <a:p>
            <a:r>
              <a:rPr lang="en-US" dirty="0" err="1"/>
              <a:t>сгенерировать</a:t>
            </a:r>
            <a:r>
              <a:rPr lang="en-US" dirty="0"/>
              <a:t> </a:t>
            </a:r>
            <a:r>
              <a:rPr lang="ru-RU" dirty="0"/>
              <a:t>прерывание</a:t>
            </a:r>
            <a:r>
              <a:rPr lang="en-US" dirty="0"/>
              <a:t>. 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, </a:t>
            </a:r>
            <a:r>
              <a:rPr lang="en-US" dirty="0" err="1"/>
              <a:t>таймер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аппаратно</a:t>
            </a:r>
            <a:r>
              <a:rPr lang="en-US" dirty="0"/>
              <a:t> </a:t>
            </a:r>
            <a:r>
              <a:rPr lang="en-US" dirty="0" err="1"/>
              <a:t>формировать</a:t>
            </a:r>
            <a:r>
              <a:rPr lang="en-US" dirty="0"/>
              <a:t> </a:t>
            </a:r>
            <a:r>
              <a:rPr lang="en-US" dirty="0" err="1"/>
              <a:t>периодические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постоянного</a:t>
            </a:r>
            <a:r>
              <a:rPr lang="en-US" dirty="0"/>
              <a:t> </a:t>
            </a:r>
            <a:r>
              <a:rPr lang="en-US" dirty="0" err="1"/>
              <a:t>участия</a:t>
            </a:r>
            <a:r>
              <a:rPr lang="en-US" dirty="0"/>
              <a:t> </a:t>
            </a:r>
            <a:r>
              <a:rPr lang="en-US" dirty="0" err="1"/>
              <a:t>процессора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173947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Interrupts, </a:t>
            </a:r>
            <a:r>
              <a:rPr lang="en-US" dirty="0" err="1"/>
              <a:t>или</a:t>
            </a:r>
            <a:r>
              <a:rPr lang="en-US" dirty="0"/>
              <a:t> </a:t>
            </a:r>
            <a:r>
              <a:rPr lang="en-US" dirty="0" err="1"/>
              <a:t>прерывания</a:t>
            </a:r>
            <a:r>
              <a:rPr lang="en-US" dirty="0"/>
              <a:t>, </a:t>
            </a:r>
            <a:r>
              <a:rPr lang="en-US" dirty="0" err="1"/>
              <a:t>являются</a:t>
            </a:r>
            <a:r>
              <a:rPr lang="en-US" dirty="0"/>
              <a:t> </a:t>
            </a:r>
            <a:r>
              <a:rPr lang="en-US" dirty="0" err="1"/>
              <a:t>одним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фундаментальных</a:t>
            </a:r>
            <a:r>
              <a:rPr lang="en-US" dirty="0"/>
              <a:t> </a:t>
            </a:r>
            <a:r>
              <a:rPr lang="en-US" dirty="0" err="1"/>
              <a:t>механизмов</a:t>
            </a:r>
            <a:r>
              <a:rPr lang="en-US" dirty="0"/>
              <a:t> embedded-</a:t>
            </a:r>
            <a:r>
              <a:rPr lang="en-US" dirty="0" err="1"/>
              <a:t>систем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Прерывание</a:t>
            </a:r>
            <a:r>
              <a:rPr lang="en-US" dirty="0"/>
              <a:t> </a:t>
            </a:r>
            <a:r>
              <a:rPr lang="en-US" dirty="0" err="1"/>
              <a:t>позволяет</a:t>
            </a:r>
            <a:r>
              <a:rPr lang="en-US" dirty="0"/>
              <a:t> </a:t>
            </a:r>
            <a:r>
              <a:rPr lang="en-US" dirty="0" err="1"/>
              <a:t>аппаратуре</a:t>
            </a:r>
            <a:r>
              <a:rPr lang="en-US" dirty="0"/>
              <a:t> </a:t>
            </a:r>
            <a:r>
              <a:rPr lang="en-US" dirty="0" err="1"/>
              <a:t>асинхронно</a:t>
            </a:r>
            <a:r>
              <a:rPr lang="en-US" dirty="0"/>
              <a:t> </a:t>
            </a:r>
            <a:r>
              <a:rPr lang="en-US" dirty="0" err="1"/>
              <a:t>уведомить</a:t>
            </a:r>
            <a:r>
              <a:rPr lang="en-US" dirty="0"/>
              <a:t> </a:t>
            </a:r>
            <a:r>
              <a:rPr lang="en-US" dirty="0" err="1"/>
              <a:t>процессор</a:t>
            </a:r>
            <a:r>
              <a:rPr lang="en-US" dirty="0"/>
              <a:t> о </a:t>
            </a:r>
            <a:r>
              <a:rPr lang="en-US" dirty="0" err="1"/>
              <a:t>возникновении</a:t>
            </a:r>
            <a:r>
              <a:rPr lang="en-US" dirty="0"/>
              <a:t> </a:t>
            </a:r>
            <a:r>
              <a:rPr lang="en-US" dirty="0" err="1"/>
              <a:t>некоторого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.</a:t>
            </a:r>
          </a:p>
          <a:p>
            <a:r>
              <a:rPr lang="en-US" dirty="0" err="1"/>
              <a:t>Источником</a:t>
            </a:r>
            <a:r>
              <a:rPr lang="en-US" dirty="0"/>
              <a:t> </a:t>
            </a:r>
            <a:r>
              <a:rPr lang="en-US" dirty="0" err="1"/>
              <a:t>прерывания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таймеры</a:t>
            </a:r>
            <a:r>
              <a:rPr lang="en-US" dirty="0"/>
              <a:t>, </a:t>
            </a:r>
            <a:r>
              <a:rPr lang="en-US" dirty="0" err="1"/>
              <a:t>изменение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 GPIO, </a:t>
            </a:r>
            <a:r>
              <a:rPr lang="en-US" dirty="0" err="1"/>
              <a:t>завершение</a:t>
            </a:r>
            <a:r>
              <a:rPr lang="en-US" dirty="0"/>
              <a:t> </a:t>
            </a:r>
            <a:r>
              <a:rPr lang="en-US" dirty="0" err="1"/>
              <a:t>передачи</a:t>
            </a:r>
            <a:r>
              <a:rPr lang="en-US" dirty="0"/>
              <a:t> UART, </a:t>
            </a:r>
            <a:r>
              <a:rPr lang="en-US" dirty="0" err="1"/>
              <a:t>окончание</a:t>
            </a:r>
            <a:r>
              <a:rPr lang="en-US" dirty="0"/>
              <a:t> </a:t>
            </a:r>
            <a:r>
              <a:rPr lang="en-US" dirty="0" err="1"/>
              <a:t>преобразования</a:t>
            </a:r>
            <a:r>
              <a:rPr lang="en-US" dirty="0"/>
              <a:t> ADC и </a:t>
            </a:r>
            <a:r>
              <a:rPr lang="en-US" dirty="0" err="1"/>
              <a:t>многие</a:t>
            </a:r>
            <a:r>
              <a:rPr lang="en-US" dirty="0"/>
              <a:t> </a:t>
            </a:r>
            <a:r>
              <a:rPr lang="en-US" dirty="0" err="1"/>
              <a:t>другие</a:t>
            </a:r>
            <a:r>
              <a:rPr lang="en-US" dirty="0"/>
              <a:t> </a:t>
            </a:r>
            <a:r>
              <a:rPr lang="en-US" dirty="0" err="1"/>
              <a:t>аппаратные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возникает</a:t>
            </a:r>
            <a:r>
              <a:rPr lang="ru-RU" dirty="0"/>
              <a:t> прерывание</a:t>
            </a:r>
            <a:r>
              <a:rPr lang="en-US" dirty="0"/>
              <a:t>, </a:t>
            </a:r>
            <a:r>
              <a:rPr lang="en-US" dirty="0" err="1"/>
              <a:t>процессор</a:t>
            </a:r>
            <a:r>
              <a:rPr lang="en-US" dirty="0"/>
              <a:t> </a:t>
            </a:r>
            <a:r>
              <a:rPr lang="en-US" dirty="0" err="1"/>
              <a:t>завершает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 </a:t>
            </a:r>
            <a:r>
              <a:rPr lang="en-US" dirty="0" err="1"/>
              <a:t>текущей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, </a:t>
            </a:r>
            <a:r>
              <a:rPr lang="en-US" dirty="0" err="1"/>
              <a:t>сохраняет</a:t>
            </a:r>
            <a:r>
              <a:rPr lang="en-US" dirty="0"/>
              <a:t> </a:t>
            </a:r>
            <a:r>
              <a:rPr lang="en-US" dirty="0" err="1"/>
              <a:t>адрес</a:t>
            </a:r>
            <a:r>
              <a:rPr lang="en-US" dirty="0"/>
              <a:t> </a:t>
            </a:r>
            <a:r>
              <a:rPr lang="en-US" dirty="0" err="1"/>
              <a:t>возврата</a:t>
            </a:r>
            <a:r>
              <a:rPr lang="en-US" dirty="0"/>
              <a:t> в </a:t>
            </a:r>
            <a:r>
              <a:rPr lang="en-US" dirty="0" err="1"/>
              <a:t>стек</a:t>
            </a:r>
            <a:r>
              <a:rPr lang="en-US" dirty="0"/>
              <a:t> и </a:t>
            </a:r>
            <a:r>
              <a:rPr lang="en-US" dirty="0" err="1"/>
              <a:t>передаёт</a:t>
            </a:r>
            <a:r>
              <a:rPr lang="en-US" dirty="0"/>
              <a:t> </a:t>
            </a:r>
            <a:r>
              <a:rPr lang="en-US" dirty="0" err="1"/>
              <a:t>управление</a:t>
            </a:r>
            <a:r>
              <a:rPr lang="en-US" dirty="0"/>
              <a:t> </a:t>
            </a:r>
            <a:r>
              <a:rPr lang="en-US" dirty="0" err="1"/>
              <a:t>специальной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— interrupt service routine, </a:t>
            </a:r>
            <a:r>
              <a:rPr lang="en-US" dirty="0" err="1"/>
              <a:t>или</a:t>
            </a:r>
            <a:r>
              <a:rPr lang="en-US" dirty="0"/>
              <a:t> ISR.</a:t>
            </a:r>
          </a:p>
          <a:p>
            <a:endParaRPr lang="en-US" dirty="0"/>
          </a:p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завершения</a:t>
            </a:r>
            <a:r>
              <a:rPr lang="en-US" dirty="0"/>
              <a:t> ISR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возврат</a:t>
            </a:r>
            <a:r>
              <a:rPr lang="en-US" dirty="0"/>
              <a:t> к </a:t>
            </a:r>
            <a:r>
              <a:rPr lang="en-US" dirty="0" err="1"/>
              <a:t>основной</a:t>
            </a:r>
            <a:r>
              <a:rPr lang="en-US" dirty="0"/>
              <a:t> </a:t>
            </a:r>
            <a:r>
              <a:rPr lang="en-US" dirty="0" err="1"/>
              <a:t>программе</a:t>
            </a:r>
            <a:r>
              <a:rPr lang="en-US" dirty="0"/>
              <a:t>, и </a:t>
            </a:r>
            <a:r>
              <a:rPr lang="en-US" dirty="0" err="1"/>
              <a:t>процессор</a:t>
            </a:r>
            <a:r>
              <a:rPr lang="en-US" dirty="0"/>
              <a:t> </a:t>
            </a:r>
            <a:r>
              <a:rPr lang="en-US" dirty="0" err="1"/>
              <a:t>продолжает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 с </a:t>
            </a:r>
            <a:r>
              <a:rPr lang="en-US" dirty="0" err="1"/>
              <a:t>того</a:t>
            </a:r>
            <a:r>
              <a:rPr lang="en-US" dirty="0"/>
              <a:t> </a:t>
            </a:r>
            <a:r>
              <a:rPr lang="en-US" dirty="0" err="1"/>
              <a:t>места</a:t>
            </a:r>
            <a:r>
              <a:rPr lang="en-US" dirty="0"/>
              <a:t>, </a:t>
            </a:r>
            <a:r>
              <a:rPr lang="en-US" dirty="0" err="1"/>
              <a:t>где</a:t>
            </a:r>
            <a:r>
              <a:rPr lang="en-US" dirty="0"/>
              <a:t> </a:t>
            </a:r>
            <a:r>
              <a:rPr lang="en-US" dirty="0" err="1"/>
              <a:t>оно</a:t>
            </a:r>
            <a:r>
              <a:rPr lang="en-US" dirty="0"/>
              <a:t> </a:t>
            </a:r>
            <a:r>
              <a:rPr lang="en-US" dirty="0" err="1"/>
              <a:t>было</a:t>
            </a:r>
            <a:r>
              <a:rPr lang="en-US" dirty="0"/>
              <a:t> </a:t>
            </a:r>
            <a:r>
              <a:rPr lang="en-US" dirty="0" err="1"/>
              <a:t>прервано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, interrupts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микроконтроллеру</a:t>
            </a:r>
            <a:r>
              <a:rPr lang="en-US" dirty="0"/>
              <a:t> </a:t>
            </a:r>
            <a:r>
              <a:rPr lang="en-US" dirty="0" err="1"/>
              <a:t>реагировать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необходимости</a:t>
            </a:r>
            <a:r>
              <a:rPr lang="en-US" dirty="0"/>
              <a:t> </a:t>
            </a:r>
            <a:r>
              <a:rPr lang="en-US" dirty="0" err="1"/>
              <a:t>постоянно</a:t>
            </a:r>
            <a:r>
              <a:rPr lang="en-US" dirty="0"/>
              <a:t> </a:t>
            </a:r>
            <a:r>
              <a:rPr lang="en-US" dirty="0" err="1"/>
              <a:t>опрашивать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устройств</a:t>
            </a:r>
            <a:r>
              <a:rPr lang="en-US" dirty="0"/>
              <a:t> </a:t>
            </a:r>
            <a:r>
              <a:rPr lang="en-US" dirty="0" err="1"/>
              <a:t>вручную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286906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</a:t>
            </a:r>
            <a:r>
              <a:rPr lang="en-US" dirty="0" err="1"/>
              <a:t>примере</a:t>
            </a:r>
            <a:r>
              <a:rPr lang="en-US" dirty="0"/>
              <a:t> polling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непрерывно</a:t>
            </a:r>
            <a:r>
              <a:rPr lang="en-US" dirty="0"/>
              <a:t> </a:t>
            </a:r>
            <a:r>
              <a:rPr lang="en-US" dirty="0" err="1"/>
              <a:t>проверяет</a:t>
            </a:r>
            <a:r>
              <a:rPr lang="en-US" dirty="0"/>
              <a:t> </a:t>
            </a:r>
            <a:r>
              <a:rPr lang="en-US" dirty="0" err="1"/>
              <a:t>специальный</a:t>
            </a:r>
            <a:r>
              <a:rPr lang="en-US" dirty="0"/>
              <a:t> </a:t>
            </a:r>
            <a:r>
              <a:rPr lang="en-US" dirty="0" err="1"/>
              <a:t>флаг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OCF0A</a:t>
            </a:r>
            <a:r>
              <a:rPr lang="en-US" dirty="0"/>
              <a:t>.</a:t>
            </a:r>
          </a:p>
          <a:p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флаг</a:t>
            </a:r>
            <a:r>
              <a:rPr lang="en-US" dirty="0"/>
              <a:t> </a:t>
            </a:r>
            <a:r>
              <a:rPr lang="en-US" dirty="0" err="1"/>
              <a:t>находится</a:t>
            </a:r>
            <a:r>
              <a:rPr lang="en-US" dirty="0"/>
              <a:t> в </a:t>
            </a:r>
            <a:r>
              <a:rPr lang="en-US" dirty="0" err="1"/>
              <a:t>регистре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TIFR0</a:t>
            </a:r>
            <a:r>
              <a:rPr lang="en-US" dirty="0"/>
              <a:t> — Timer Interrupt Flag Register.</a:t>
            </a:r>
          </a:p>
          <a:p>
            <a:r>
              <a:rPr lang="en-US" dirty="0" err="1"/>
              <a:t>Название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OCF0A</a:t>
            </a:r>
            <a:r>
              <a:rPr lang="en-US" dirty="0"/>
              <a:t> </a:t>
            </a:r>
            <a:r>
              <a:rPr lang="en-US" dirty="0" err="1"/>
              <a:t>означает</a:t>
            </a:r>
            <a:r>
              <a:rPr lang="en-US" dirty="0"/>
              <a:t> Output Compare Flag </a:t>
            </a:r>
            <a:r>
              <a:rPr lang="en-US" dirty="0" err="1"/>
              <a:t>для</a:t>
            </a:r>
            <a:r>
              <a:rPr lang="en-US" dirty="0"/>
              <a:t> Timer0 Compare Unit A.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Таймер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устанавливает</a:t>
            </a:r>
            <a:r>
              <a:rPr lang="en-US" dirty="0"/>
              <a:t> </a:t>
            </a:r>
            <a:r>
              <a:rPr lang="en-US" dirty="0" err="1"/>
              <a:t>этот</a:t>
            </a:r>
            <a:r>
              <a:rPr lang="en-US" dirty="0"/>
              <a:t> </a:t>
            </a:r>
            <a:r>
              <a:rPr lang="en-US" dirty="0" err="1"/>
              <a:t>флаг</a:t>
            </a:r>
            <a:r>
              <a:rPr lang="en-US" dirty="0"/>
              <a:t>, </a:t>
            </a:r>
            <a:r>
              <a:rPr lang="en-US" dirty="0" err="1"/>
              <a:t>когда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счётчика</a:t>
            </a:r>
            <a:r>
              <a:rPr lang="en-US" dirty="0"/>
              <a:t> </a:t>
            </a:r>
            <a:r>
              <a:rPr lang="en-US" dirty="0" err="1"/>
              <a:t>совпадает</a:t>
            </a:r>
            <a:r>
              <a:rPr lang="en-US" dirty="0"/>
              <a:t> </a:t>
            </a:r>
            <a:r>
              <a:rPr lang="en-US" dirty="0" err="1"/>
              <a:t>со</a:t>
            </a:r>
            <a:r>
              <a:rPr lang="en-US" dirty="0"/>
              <a:t> </a:t>
            </a:r>
            <a:r>
              <a:rPr lang="en-US" dirty="0" err="1"/>
              <a:t>значением</a:t>
            </a:r>
            <a:r>
              <a:rPr lang="en-US" dirty="0"/>
              <a:t> compare register.</a:t>
            </a:r>
          </a:p>
          <a:p>
            <a:endParaRPr lang="en-US" dirty="0"/>
          </a:p>
          <a:p>
            <a:r>
              <a:rPr lang="en-US" dirty="0" err="1"/>
              <a:t>Таким</a:t>
            </a:r>
            <a:r>
              <a:rPr lang="en-US" dirty="0"/>
              <a:t> </a:t>
            </a:r>
            <a:r>
              <a:rPr lang="en-US" dirty="0" err="1"/>
              <a:t>образом</a:t>
            </a:r>
            <a:r>
              <a:rPr lang="en-US" dirty="0"/>
              <a:t>,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постоянно</a:t>
            </a:r>
            <a:r>
              <a:rPr lang="en-US" dirty="0"/>
              <a:t> </a:t>
            </a:r>
            <a:r>
              <a:rPr lang="en-US" dirty="0" err="1"/>
              <a:t>ожидает</a:t>
            </a:r>
            <a:r>
              <a:rPr lang="en-US" dirty="0"/>
              <a:t> </a:t>
            </a:r>
            <a:r>
              <a:rPr lang="en-US" dirty="0" err="1"/>
              <a:t>наступления</a:t>
            </a:r>
            <a:r>
              <a:rPr lang="en-US" dirty="0"/>
              <a:t> </a:t>
            </a:r>
            <a:r>
              <a:rPr lang="en-US" dirty="0" err="1"/>
              <a:t>аппаратного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, </a:t>
            </a:r>
            <a:r>
              <a:rPr lang="en-US" dirty="0" err="1"/>
              <a:t>многократно</a:t>
            </a:r>
            <a:r>
              <a:rPr lang="en-US" dirty="0"/>
              <a:t> </a:t>
            </a:r>
            <a:r>
              <a:rPr lang="en-US" dirty="0" err="1"/>
              <a:t>читая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и </a:t>
            </a:r>
            <a:r>
              <a:rPr lang="en-US" dirty="0" err="1"/>
              <a:t>тот</a:t>
            </a:r>
            <a:r>
              <a:rPr lang="en-US" dirty="0"/>
              <a:t> </a:t>
            </a:r>
            <a:r>
              <a:rPr lang="en-US" dirty="0" err="1"/>
              <a:t>же</a:t>
            </a:r>
            <a:r>
              <a:rPr lang="en-US" dirty="0"/>
              <a:t> </a:t>
            </a:r>
            <a:r>
              <a:rPr lang="en-US" dirty="0" err="1"/>
              <a:t>регистр</a:t>
            </a:r>
            <a:r>
              <a:rPr lang="en-US" dirty="0"/>
              <a:t> в </a:t>
            </a:r>
            <a:r>
              <a:rPr lang="en-US" dirty="0" err="1"/>
              <a:t>цикле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Подобный</a:t>
            </a:r>
            <a:r>
              <a:rPr lang="en-US" dirty="0"/>
              <a:t> </a:t>
            </a:r>
            <a:r>
              <a:rPr lang="en-US" dirty="0" err="1"/>
              <a:t>подход</a:t>
            </a:r>
            <a:r>
              <a:rPr lang="en-US" dirty="0"/>
              <a:t> </a:t>
            </a:r>
            <a:r>
              <a:rPr lang="en-US" dirty="0" err="1"/>
              <a:t>прост</a:t>
            </a:r>
            <a:r>
              <a:rPr lang="en-US" dirty="0"/>
              <a:t> в </a:t>
            </a:r>
            <a:r>
              <a:rPr lang="en-US" dirty="0" err="1"/>
              <a:t>реализации</a:t>
            </a:r>
            <a:r>
              <a:rPr lang="en-US" dirty="0"/>
              <a:t>, </a:t>
            </a:r>
            <a:r>
              <a:rPr lang="en-US" dirty="0" err="1"/>
              <a:t>однако</a:t>
            </a:r>
            <a:r>
              <a:rPr lang="en-US" dirty="0"/>
              <a:t> </a:t>
            </a:r>
            <a:r>
              <a:rPr lang="en-US" dirty="0" err="1"/>
              <a:t>процессор</a:t>
            </a:r>
            <a:r>
              <a:rPr lang="en-US" dirty="0"/>
              <a:t> </a:t>
            </a:r>
            <a:r>
              <a:rPr lang="en-US" dirty="0" err="1"/>
              <a:t>фактически</a:t>
            </a:r>
            <a:r>
              <a:rPr lang="en-US" dirty="0"/>
              <a:t> </a:t>
            </a:r>
            <a:r>
              <a:rPr lang="en-US" dirty="0" err="1"/>
              <a:t>занят</a:t>
            </a:r>
            <a:r>
              <a:rPr lang="en-US" dirty="0"/>
              <a:t> </a:t>
            </a:r>
            <a:r>
              <a:rPr lang="en-US" dirty="0" err="1"/>
              <a:t>бесполезным</a:t>
            </a:r>
            <a:r>
              <a:rPr lang="en-US" dirty="0"/>
              <a:t> </a:t>
            </a:r>
            <a:r>
              <a:rPr lang="en-US" dirty="0" err="1"/>
              <a:t>ожиданием</a:t>
            </a:r>
            <a:r>
              <a:rPr lang="en-US" dirty="0"/>
              <a:t> и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эффективно</a:t>
            </a:r>
            <a:r>
              <a:rPr lang="en-US" dirty="0"/>
              <a:t>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другую</a:t>
            </a:r>
            <a:r>
              <a:rPr lang="en-US" dirty="0"/>
              <a:t> </a:t>
            </a:r>
            <a:r>
              <a:rPr lang="en-US" dirty="0" err="1"/>
              <a:t>работу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использовании</a:t>
            </a:r>
            <a:r>
              <a:rPr lang="en-US" dirty="0"/>
              <a:t> </a:t>
            </a:r>
            <a:r>
              <a:rPr lang="ru-RU" dirty="0"/>
              <a:t>прерываний</a:t>
            </a:r>
            <a:r>
              <a:rPr lang="en-US" dirty="0"/>
              <a:t> </a:t>
            </a:r>
            <a:r>
              <a:rPr lang="en-US" dirty="0" err="1"/>
              <a:t>ситуация</a:t>
            </a:r>
            <a:r>
              <a:rPr lang="en-US" dirty="0"/>
              <a:t> </a:t>
            </a:r>
            <a:r>
              <a:rPr lang="en-US" dirty="0" err="1"/>
              <a:t>меняется</a:t>
            </a:r>
            <a:r>
              <a:rPr lang="en-US" dirty="0"/>
              <a:t>. </a:t>
            </a:r>
            <a:r>
              <a:rPr lang="en-US" dirty="0" err="1"/>
              <a:t>Вместо</a:t>
            </a:r>
            <a:r>
              <a:rPr lang="en-US" dirty="0"/>
              <a:t> </a:t>
            </a:r>
            <a:r>
              <a:rPr lang="en-US" dirty="0" err="1"/>
              <a:t>постоянного</a:t>
            </a:r>
            <a:r>
              <a:rPr lang="en-US" dirty="0"/>
              <a:t> </a:t>
            </a:r>
            <a:r>
              <a:rPr lang="en-US" dirty="0" err="1"/>
              <a:t>опроса</a:t>
            </a:r>
            <a:r>
              <a:rPr lang="en-US" dirty="0"/>
              <a:t> </a:t>
            </a:r>
            <a:r>
              <a:rPr lang="en-US" dirty="0" err="1"/>
              <a:t>флага</a:t>
            </a:r>
            <a:r>
              <a:rPr lang="en-US" dirty="0"/>
              <a:t> </a:t>
            </a:r>
            <a:r>
              <a:rPr lang="en-US" dirty="0" err="1"/>
              <a:t>аппаратный</a:t>
            </a:r>
            <a:r>
              <a:rPr lang="en-US" dirty="0"/>
              <a:t> </a:t>
            </a:r>
            <a:r>
              <a:rPr lang="en-US" dirty="0" err="1"/>
              <a:t>модуль</a:t>
            </a:r>
            <a:r>
              <a:rPr lang="en-US" dirty="0"/>
              <a:t> </a:t>
            </a:r>
            <a:r>
              <a:rPr lang="en-US" dirty="0" err="1"/>
              <a:t>таймера</a:t>
            </a:r>
            <a:r>
              <a:rPr lang="en-US" dirty="0"/>
              <a:t> </a:t>
            </a:r>
            <a:r>
              <a:rPr lang="en-US" dirty="0" err="1"/>
              <a:t>самостоятельно</a:t>
            </a:r>
            <a:r>
              <a:rPr lang="en-US" dirty="0"/>
              <a:t> </a:t>
            </a:r>
            <a:r>
              <a:rPr lang="en-US" dirty="0" err="1"/>
              <a:t>генерирует</a:t>
            </a:r>
            <a:r>
              <a:rPr lang="en-US" dirty="0"/>
              <a:t> interrupt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наступлении</a:t>
            </a:r>
            <a:r>
              <a:rPr lang="en-US" dirty="0"/>
              <a:t> compare match </a:t>
            </a:r>
            <a:r>
              <a:rPr lang="en-US" dirty="0" err="1"/>
              <a:t>события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Процессор</a:t>
            </a:r>
            <a:r>
              <a:rPr lang="en-US" dirty="0"/>
              <a:t> </a:t>
            </a:r>
            <a:r>
              <a:rPr lang="en-US" dirty="0" err="1"/>
              <a:t>получает</a:t>
            </a:r>
            <a:r>
              <a:rPr lang="en-US" dirty="0"/>
              <a:t> </a:t>
            </a:r>
            <a:r>
              <a:rPr lang="en-US" dirty="0" err="1"/>
              <a:t>уведомление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аппаратуры</a:t>
            </a:r>
            <a:r>
              <a:rPr lang="en-US" dirty="0"/>
              <a:t> и </a:t>
            </a:r>
            <a:r>
              <a:rPr lang="en-US" dirty="0" err="1"/>
              <a:t>вызывает</a:t>
            </a:r>
            <a:r>
              <a:rPr lang="en-US" dirty="0"/>
              <a:t> </a:t>
            </a:r>
            <a:r>
              <a:rPr lang="en-US" dirty="0" err="1"/>
              <a:t>соответствующий</a:t>
            </a:r>
            <a:r>
              <a:rPr lang="en-US" dirty="0"/>
              <a:t> ISR </a:t>
            </a:r>
            <a:r>
              <a:rPr lang="en-US" dirty="0" err="1"/>
              <a:t>только</a:t>
            </a:r>
            <a:r>
              <a:rPr lang="en-US" dirty="0"/>
              <a:t> в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возникновения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.</a:t>
            </a:r>
          </a:p>
          <a:p>
            <a:endParaRPr lang="ru-RU" dirty="0"/>
          </a:p>
          <a:p>
            <a:r>
              <a:rPr lang="en-US" dirty="0" err="1"/>
              <a:t>Именно</a:t>
            </a:r>
            <a:r>
              <a:rPr lang="en-US" dirty="0"/>
              <a:t> </a:t>
            </a:r>
            <a:r>
              <a:rPr lang="en-US" dirty="0" err="1"/>
              <a:t>поэтому</a:t>
            </a:r>
            <a:r>
              <a:rPr lang="en-US" dirty="0"/>
              <a:t> interrupts </a:t>
            </a:r>
            <a:r>
              <a:rPr lang="en-US" dirty="0" err="1"/>
              <a:t>позволяют</a:t>
            </a:r>
            <a:r>
              <a:rPr lang="en-US" dirty="0"/>
              <a:t> </a:t>
            </a:r>
            <a:r>
              <a:rPr lang="en-US" dirty="0" err="1"/>
              <a:t>значительно</a:t>
            </a:r>
            <a:r>
              <a:rPr lang="en-US" dirty="0"/>
              <a:t> </a:t>
            </a:r>
            <a:r>
              <a:rPr lang="en-US" dirty="0" err="1"/>
              <a:t>эффективнее</a:t>
            </a:r>
            <a:r>
              <a:rPr lang="en-US" dirty="0"/>
              <a:t> </a:t>
            </a:r>
            <a:r>
              <a:rPr lang="en-US" dirty="0" err="1"/>
              <a:t>использовать</a:t>
            </a:r>
            <a:r>
              <a:rPr lang="en-US" dirty="0"/>
              <a:t> </a:t>
            </a:r>
            <a:r>
              <a:rPr lang="en-US" dirty="0" err="1"/>
              <a:t>процессорное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и </a:t>
            </a:r>
            <a:r>
              <a:rPr lang="en-US" dirty="0" err="1"/>
              <a:t>являются</a:t>
            </a:r>
            <a:r>
              <a:rPr lang="en-US" dirty="0"/>
              <a:t> </a:t>
            </a:r>
            <a:r>
              <a:rPr lang="en-US" dirty="0" err="1"/>
              <a:t>основным</a:t>
            </a:r>
            <a:r>
              <a:rPr lang="en-US" dirty="0"/>
              <a:t> </a:t>
            </a:r>
            <a:r>
              <a:rPr lang="en-US" dirty="0" err="1"/>
              <a:t>механизмом</a:t>
            </a:r>
            <a:r>
              <a:rPr lang="en-US" dirty="0"/>
              <a:t> </a:t>
            </a:r>
            <a:r>
              <a:rPr lang="en-US" dirty="0" err="1"/>
              <a:t>взаимодействия</a:t>
            </a:r>
            <a:r>
              <a:rPr lang="en-US" dirty="0"/>
              <a:t> с </a:t>
            </a:r>
            <a:r>
              <a:rPr lang="en-US" dirty="0" err="1"/>
              <a:t>периферией</a:t>
            </a:r>
            <a:r>
              <a:rPr lang="en-US" dirty="0"/>
              <a:t> в embedded-</a:t>
            </a:r>
            <a:r>
              <a:rPr lang="en-US" dirty="0" err="1"/>
              <a:t>системах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7078560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Interrupt Service Routine — </a:t>
            </a:r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специальная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,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вызываемая</a:t>
            </a:r>
            <a:r>
              <a:rPr lang="en-US" dirty="0"/>
              <a:t> </a:t>
            </a:r>
            <a:r>
              <a:rPr lang="en-US" dirty="0" err="1"/>
              <a:t>процессором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возникновении</a:t>
            </a:r>
            <a:r>
              <a:rPr lang="en-US" dirty="0"/>
              <a:t> </a:t>
            </a:r>
            <a:r>
              <a:rPr lang="ru-RU" dirty="0"/>
              <a:t>прерывания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AVR </a:t>
            </a:r>
            <a:r>
              <a:rPr lang="en-US" dirty="0" err="1"/>
              <a:t>обработчики</a:t>
            </a:r>
            <a:r>
              <a:rPr lang="en-US" dirty="0"/>
              <a:t> </a:t>
            </a:r>
            <a:r>
              <a:rPr lang="en-US" dirty="0" err="1"/>
              <a:t>прерываний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объявляются</a:t>
            </a:r>
            <a:r>
              <a:rPr lang="en-US" dirty="0"/>
              <a:t> с </a:t>
            </a:r>
            <a:r>
              <a:rPr lang="en-US" dirty="0" err="1"/>
              <a:t>помощью</a:t>
            </a:r>
            <a:r>
              <a:rPr lang="en-US" dirty="0"/>
              <a:t> </a:t>
            </a:r>
            <a:r>
              <a:rPr lang="en-US" dirty="0" err="1"/>
              <a:t>макроса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ISR(...)</a:t>
            </a:r>
            <a:r>
              <a:rPr lang="en-US" dirty="0"/>
              <a:t>.</a:t>
            </a:r>
          </a:p>
          <a:p>
            <a:r>
              <a:rPr lang="en-US" dirty="0" err="1"/>
              <a:t>Например</a:t>
            </a:r>
            <a:r>
              <a:rPr lang="en-US" dirty="0"/>
              <a:t>:</a:t>
            </a:r>
          </a:p>
          <a:p>
            <a:pPr rtl="0"/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ISR(TIMER0_COMPA_vect)</a:t>
            </a:r>
          </a:p>
          <a:p>
            <a:r>
              <a:rPr lang="en-US" dirty="0" err="1"/>
              <a:t>означает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данная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обработчиком</a:t>
            </a:r>
            <a:r>
              <a:rPr lang="en-US" dirty="0"/>
              <a:t> interrupt-</a:t>
            </a:r>
            <a:r>
              <a:rPr lang="en-US" dirty="0" err="1"/>
              <a:t>события</a:t>
            </a:r>
            <a:r>
              <a:rPr lang="en-US" dirty="0"/>
              <a:t> Timer0 Compare Match A.</a:t>
            </a:r>
          </a:p>
          <a:p>
            <a:endParaRPr lang="en-US" dirty="0"/>
          </a:p>
          <a:p>
            <a:r>
              <a:rPr lang="en-US" dirty="0" err="1"/>
              <a:t>Макрос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ISR</a:t>
            </a:r>
            <a:r>
              <a:rPr lang="en-US" dirty="0"/>
              <a:t> </a:t>
            </a:r>
            <a:r>
              <a:rPr lang="en-US" dirty="0" err="1"/>
              <a:t>необходим</a:t>
            </a:r>
            <a:r>
              <a:rPr lang="en-US" dirty="0"/>
              <a:t> </a:t>
            </a:r>
            <a:r>
              <a:rPr lang="en-US" dirty="0" err="1"/>
              <a:t>потому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обработчик</a:t>
            </a:r>
            <a:r>
              <a:rPr lang="en-US" dirty="0"/>
              <a:t> </a:t>
            </a:r>
            <a:r>
              <a:rPr lang="en-US" dirty="0" err="1"/>
              <a:t>прерывания</a:t>
            </a:r>
            <a:r>
              <a:rPr lang="en-US" dirty="0"/>
              <a:t> </a:t>
            </a:r>
            <a:r>
              <a:rPr lang="en-US" dirty="0" err="1"/>
              <a:t>отличается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</a:t>
            </a:r>
            <a:r>
              <a:rPr lang="en-US" dirty="0" err="1"/>
              <a:t>обычной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логически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уровне</a:t>
            </a:r>
            <a:r>
              <a:rPr lang="en-US" dirty="0"/>
              <a:t> </a:t>
            </a:r>
            <a:r>
              <a:rPr lang="en-US" dirty="0" err="1"/>
              <a:t>машинного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Обычная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dirty="0" err="1"/>
              <a:t>вызывается</a:t>
            </a:r>
            <a:r>
              <a:rPr lang="en-US" dirty="0"/>
              <a:t> </a:t>
            </a:r>
            <a:r>
              <a:rPr lang="en-US" dirty="0" err="1"/>
              <a:t>инструкцией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CALL</a:t>
            </a:r>
            <a:r>
              <a:rPr lang="en-US" dirty="0"/>
              <a:t> и </a:t>
            </a:r>
            <a:r>
              <a:rPr lang="en-US" dirty="0" err="1"/>
              <a:t>завершается</a:t>
            </a:r>
            <a:r>
              <a:rPr lang="en-US" dirty="0"/>
              <a:t> </a:t>
            </a:r>
            <a:r>
              <a:rPr lang="en-US" dirty="0" err="1"/>
              <a:t>инструкцией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Interrupt Service Routine </a:t>
            </a:r>
            <a:r>
              <a:rPr lang="en-US" dirty="0" err="1"/>
              <a:t>вызывается</a:t>
            </a:r>
            <a:r>
              <a:rPr lang="en-US" dirty="0"/>
              <a:t> </a:t>
            </a:r>
            <a:r>
              <a:rPr lang="en-US" dirty="0" err="1"/>
              <a:t>аппаратурой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возникновении</a:t>
            </a:r>
            <a:r>
              <a:rPr lang="en-US" dirty="0"/>
              <a:t> interrupt-</a:t>
            </a:r>
            <a:r>
              <a:rPr lang="en-US" dirty="0" err="1"/>
              <a:t>события</a:t>
            </a:r>
            <a:r>
              <a:rPr lang="en-US" dirty="0"/>
              <a:t>. </a:t>
            </a:r>
            <a:r>
              <a:rPr lang="en-US" dirty="0" err="1"/>
              <a:t>Возврат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ISR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специальной</a:t>
            </a:r>
            <a:r>
              <a:rPr lang="en-US" dirty="0"/>
              <a:t> </a:t>
            </a:r>
            <a:r>
              <a:rPr lang="en-US" dirty="0" err="1"/>
              <a:t>инструкцией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RETI</a:t>
            </a:r>
            <a:r>
              <a:rPr lang="en-US" dirty="0"/>
              <a:t> — Return from Interrupt.</a:t>
            </a:r>
          </a:p>
          <a:p>
            <a:endParaRPr lang="en-US" dirty="0"/>
          </a:p>
          <a:p>
            <a:r>
              <a:rPr lang="en-US" dirty="0" err="1"/>
              <a:t>Инструкция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RETI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восстанавливает</a:t>
            </a:r>
            <a:r>
              <a:rPr lang="en-US" dirty="0"/>
              <a:t> </a:t>
            </a:r>
            <a:r>
              <a:rPr lang="en-US" dirty="0" err="1"/>
              <a:t>адрес</a:t>
            </a:r>
            <a:r>
              <a:rPr lang="en-US" dirty="0"/>
              <a:t> </a:t>
            </a:r>
            <a:r>
              <a:rPr lang="en-US" dirty="0" err="1"/>
              <a:t>возврата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стека</a:t>
            </a:r>
            <a:r>
              <a:rPr lang="en-US" dirty="0"/>
              <a:t>, </a:t>
            </a:r>
            <a:r>
              <a:rPr lang="en-US" dirty="0" err="1"/>
              <a:t>но</a:t>
            </a:r>
            <a:r>
              <a:rPr lang="en-US" dirty="0"/>
              <a:t> и </a:t>
            </a:r>
            <a:r>
              <a:rPr lang="en-US" dirty="0" err="1"/>
              <a:t>повторно</a:t>
            </a:r>
            <a:r>
              <a:rPr lang="en-US" dirty="0"/>
              <a:t> </a:t>
            </a:r>
            <a:r>
              <a:rPr lang="en-US" dirty="0" err="1"/>
              <a:t>разрешает</a:t>
            </a:r>
            <a:r>
              <a:rPr lang="en-US" dirty="0"/>
              <a:t> </a:t>
            </a:r>
            <a:r>
              <a:rPr lang="en-US" dirty="0" err="1"/>
              <a:t>обработку</a:t>
            </a:r>
            <a:r>
              <a:rPr lang="en-US" dirty="0"/>
              <a:t> </a:t>
            </a:r>
            <a:r>
              <a:rPr lang="ru-RU" dirty="0"/>
              <a:t>прерываний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Кроме</a:t>
            </a:r>
            <a:r>
              <a:rPr lang="en-US" dirty="0"/>
              <a:t> </a:t>
            </a:r>
            <a:r>
              <a:rPr lang="en-US" dirty="0" err="1"/>
              <a:t>того</a:t>
            </a:r>
            <a:r>
              <a:rPr lang="en-US" dirty="0"/>
              <a:t>,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 </a:t>
            </a:r>
            <a:r>
              <a:rPr lang="en-US" dirty="0" err="1"/>
              <a:t>сгенерировать</a:t>
            </a:r>
            <a:r>
              <a:rPr lang="en-US" dirty="0"/>
              <a:t> </a:t>
            </a:r>
            <a:r>
              <a:rPr lang="en-US" dirty="0" err="1"/>
              <a:t>специальный</a:t>
            </a:r>
            <a:r>
              <a:rPr lang="en-US" dirty="0"/>
              <a:t> </a:t>
            </a:r>
            <a:r>
              <a:rPr lang="en-US" dirty="0" err="1"/>
              <a:t>пролог</a:t>
            </a:r>
            <a:r>
              <a:rPr lang="en-US" dirty="0"/>
              <a:t> и </a:t>
            </a:r>
            <a:r>
              <a:rPr lang="en-US" dirty="0" err="1"/>
              <a:t>эпилог</a:t>
            </a:r>
            <a:r>
              <a:rPr lang="en-US" dirty="0"/>
              <a:t> </a:t>
            </a:r>
            <a:r>
              <a:rPr lang="en-US" dirty="0" err="1"/>
              <a:t>функции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сохранить</a:t>
            </a:r>
            <a:r>
              <a:rPr lang="en-US" dirty="0"/>
              <a:t> </a:t>
            </a:r>
            <a:r>
              <a:rPr lang="en-US" dirty="0" err="1"/>
              <a:t>используемые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корректно</a:t>
            </a:r>
            <a:r>
              <a:rPr lang="en-US" dirty="0"/>
              <a:t> </a:t>
            </a:r>
            <a:r>
              <a:rPr lang="en-US" dirty="0" err="1"/>
              <a:t>взаимодействовать</a:t>
            </a:r>
            <a:r>
              <a:rPr lang="en-US" dirty="0"/>
              <a:t> </a:t>
            </a:r>
            <a:r>
              <a:rPr lang="en-US" dirty="0" err="1"/>
              <a:t>со</a:t>
            </a:r>
            <a:r>
              <a:rPr lang="en-US" dirty="0"/>
              <a:t> </a:t>
            </a:r>
            <a:r>
              <a:rPr lang="en-US" dirty="0" err="1"/>
              <a:t>стеком</a:t>
            </a:r>
            <a:r>
              <a:rPr lang="en-US" dirty="0"/>
              <a:t>;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обеспечить</a:t>
            </a:r>
            <a:r>
              <a:rPr lang="en-US" dirty="0"/>
              <a:t> </a:t>
            </a:r>
            <a:r>
              <a:rPr lang="en-US" dirty="0" err="1"/>
              <a:t>безопасный</a:t>
            </a:r>
            <a:r>
              <a:rPr lang="en-US" dirty="0"/>
              <a:t> </a:t>
            </a:r>
            <a:r>
              <a:rPr lang="en-US" dirty="0" err="1"/>
              <a:t>возврат</a:t>
            </a:r>
            <a:r>
              <a:rPr lang="en-US" dirty="0"/>
              <a:t> к </a:t>
            </a:r>
            <a:r>
              <a:rPr lang="en-US" dirty="0" err="1"/>
              <a:t>основной</a:t>
            </a:r>
            <a:r>
              <a:rPr lang="en-US" dirty="0"/>
              <a:t> </a:t>
            </a:r>
            <a:r>
              <a:rPr lang="en-US" dirty="0" err="1"/>
              <a:t>программе</a:t>
            </a:r>
            <a:r>
              <a:rPr lang="en-US" dirty="0"/>
              <a:t>. </a:t>
            </a:r>
          </a:p>
          <a:p>
            <a:endParaRPr lang="en-US" dirty="0"/>
          </a:p>
          <a:p>
            <a:r>
              <a:rPr lang="en-US" dirty="0" err="1"/>
              <a:t>Макрос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ISR</a:t>
            </a:r>
            <a:r>
              <a:rPr lang="en-US" dirty="0"/>
              <a:t> </a:t>
            </a:r>
            <a:r>
              <a:rPr lang="en-US" dirty="0" err="1"/>
              <a:t>автоматически</a:t>
            </a:r>
            <a:r>
              <a:rPr lang="en-US" dirty="0"/>
              <a:t> </a:t>
            </a:r>
            <a:r>
              <a:rPr lang="en-US" dirty="0" err="1"/>
              <a:t>сообщает</a:t>
            </a:r>
            <a:r>
              <a:rPr lang="en-US" dirty="0"/>
              <a:t> </a:t>
            </a:r>
            <a:r>
              <a:rPr lang="en-US" dirty="0" err="1"/>
              <a:t>компилятору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данная</a:t>
            </a:r>
            <a:r>
              <a:rPr lang="en-US" dirty="0"/>
              <a:t> </a:t>
            </a:r>
            <a:r>
              <a:rPr lang="en-US" dirty="0" err="1"/>
              <a:t>функция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обработчиком</a:t>
            </a:r>
            <a:r>
              <a:rPr lang="en-US" dirty="0"/>
              <a:t> </a:t>
            </a:r>
            <a:r>
              <a:rPr lang="en-US" dirty="0" err="1"/>
              <a:t>прерывания</a:t>
            </a:r>
            <a:r>
              <a:rPr lang="en-US" dirty="0"/>
              <a:t> и </a:t>
            </a:r>
            <a:r>
              <a:rPr lang="en-US" dirty="0" err="1"/>
              <a:t>требует</a:t>
            </a:r>
            <a:r>
              <a:rPr lang="en-US" dirty="0"/>
              <a:t> </a:t>
            </a:r>
            <a:r>
              <a:rPr lang="en-US" dirty="0" err="1"/>
              <a:t>специальной</a:t>
            </a:r>
            <a:r>
              <a:rPr lang="en-US" dirty="0"/>
              <a:t> </a:t>
            </a:r>
            <a:r>
              <a:rPr lang="en-US" dirty="0" err="1"/>
              <a:t>генерации</a:t>
            </a:r>
            <a:r>
              <a:rPr lang="en-US" dirty="0"/>
              <a:t> </a:t>
            </a:r>
            <a:r>
              <a:rPr lang="en-US" dirty="0" err="1"/>
              <a:t>кода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приведённом</a:t>
            </a:r>
            <a:r>
              <a:rPr lang="en-US" dirty="0"/>
              <a:t> </a:t>
            </a:r>
            <a:r>
              <a:rPr lang="en-US" dirty="0" err="1"/>
              <a:t>примере</a:t>
            </a:r>
            <a:r>
              <a:rPr lang="en-US" dirty="0"/>
              <a:t> ISR </a:t>
            </a:r>
            <a:r>
              <a:rPr lang="en-US" dirty="0" err="1"/>
              <a:t>вызывается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совпадении</a:t>
            </a:r>
            <a:r>
              <a:rPr lang="en-US" dirty="0"/>
              <a:t> </a:t>
            </a:r>
            <a:r>
              <a:rPr lang="en-US" dirty="0" err="1"/>
              <a:t>значения</a:t>
            </a:r>
            <a:r>
              <a:rPr lang="en-US" dirty="0"/>
              <a:t> </a:t>
            </a:r>
            <a:r>
              <a:rPr lang="en-US" dirty="0" err="1"/>
              <a:t>таймера</a:t>
            </a:r>
            <a:r>
              <a:rPr lang="en-US" dirty="0"/>
              <a:t> Timer0 с compare register.</a:t>
            </a:r>
          </a:p>
          <a:p>
            <a:endParaRPr lang="en-US" dirty="0"/>
          </a:p>
          <a:p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обработчика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переключение</a:t>
            </a:r>
            <a:r>
              <a:rPr lang="en-US" dirty="0"/>
              <a:t> </a:t>
            </a:r>
            <a:r>
              <a:rPr lang="en-US" dirty="0" err="1"/>
              <a:t>состояния</a:t>
            </a:r>
            <a:r>
              <a:rPr lang="en-US" dirty="0"/>
              <a:t> </a:t>
            </a:r>
            <a:r>
              <a:rPr lang="en-US" dirty="0" err="1"/>
              <a:t>вывода</a:t>
            </a:r>
            <a:r>
              <a:rPr lang="en-US" dirty="0"/>
              <a:t> PB5,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использоваться</a:t>
            </a:r>
            <a:r>
              <a:rPr lang="en-US" dirty="0"/>
              <a:t>, </a:t>
            </a:r>
            <a:r>
              <a:rPr lang="en-US" dirty="0" err="1"/>
              <a:t>например</a:t>
            </a:r>
            <a:r>
              <a:rPr lang="en-US" dirty="0"/>
              <a:t>,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мигания</a:t>
            </a:r>
            <a:r>
              <a:rPr lang="en-US" dirty="0"/>
              <a:t> </a:t>
            </a:r>
            <a:r>
              <a:rPr lang="en-US" dirty="0" err="1"/>
              <a:t>светодиодом</a:t>
            </a:r>
            <a:r>
              <a:rPr lang="en-US" dirty="0"/>
              <a:t>.</a:t>
            </a:r>
          </a:p>
          <a:p>
            <a:endParaRPr lang="en-US" dirty="0"/>
          </a:p>
          <a:p>
            <a:r>
              <a:rPr lang="en-US" dirty="0" err="1"/>
              <a:t>Важно</a:t>
            </a:r>
            <a:r>
              <a:rPr lang="en-US" dirty="0"/>
              <a:t> </a:t>
            </a:r>
            <a:r>
              <a:rPr lang="en-US" dirty="0" err="1"/>
              <a:t>понимать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ISR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асинхронно</a:t>
            </a:r>
            <a:r>
              <a:rPr lang="en-US" dirty="0"/>
              <a:t> </a:t>
            </a:r>
            <a:r>
              <a:rPr lang="en-US" dirty="0" err="1"/>
              <a:t>относительно</a:t>
            </a:r>
            <a:r>
              <a:rPr lang="en-US" dirty="0"/>
              <a:t> </a:t>
            </a:r>
            <a:r>
              <a:rPr lang="en-US" dirty="0" err="1"/>
              <a:t>основной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 Interrupt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возникнуть</a:t>
            </a:r>
            <a:r>
              <a:rPr lang="en-US" dirty="0"/>
              <a:t> </a:t>
            </a:r>
            <a:r>
              <a:rPr lang="en-US" dirty="0" err="1"/>
              <a:t>практически</a:t>
            </a:r>
            <a:r>
              <a:rPr lang="en-US" dirty="0"/>
              <a:t> в </a:t>
            </a:r>
            <a:r>
              <a:rPr lang="en-US" dirty="0" err="1"/>
              <a:t>любой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, </a:t>
            </a:r>
            <a:r>
              <a:rPr lang="en-US" dirty="0" err="1"/>
              <a:t>поэтому</a:t>
            </a:r>
            <a:r>
              <a:rPr lang="en-US" dirty="0"/>
              <a:t> </a:t>
            </a:r>
            <a:r>
              <a:rPr lang="en-US" dirty="0" err="1"/>
              <a:t>обработчики</a:t>
            </a:r>
            <a:r>
              <a:rPr lang="en-US" dirty="0"/>
              <a:t> </a:t>
            </a:r>
            <a:r>
              <a:rPr lang="en-US" dirty="0" err="1"/>
              <a:t>прерываний</a:t>
            </a:r>
            <a:r>
              <a:rPr lang="en-US" dirty="0"/>
              <a:t> </a:t>
            </a:r>
            <a:r>
              <a:rPr lang="en-US" dirty="0" err="1"/>
              <a:t>должны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короткими</a:t>
            </a:r>
            <a:r>
              <a:rPr lang="en-US" dirty="0"/>
              <a:t>, </a:t>
            </a:r>
            <a:r>
              <a:rPr lang="en-US" dirty="0" err="1"/>
              <a:t>эффективными</a:t>
            </a:r>
            <a:r>
              <a:rPr lang="en-US" dirty="0"/>
              <a:t> и </a:t>
            </a:r>
            <a:r>
              <a:rPr lang="en-US" dirty="0" err="1"/>
              <a:t>аккуратно</a:t>
            </a:r>
            <a:r>
              <a:rPr lang="en-US" dirty="0"/>
              <a:t> </a:t>
            </a:r>
            <a:r>
              <a:rPr lang="en-US" dirty="0" err="1"/>
              <a:t>работать</a:t>
            </a:r>
            <a:r>
              <a:rPr lang="en-US" dirty="0"/>
              <a:t> с </a:t>
            </a:r>
            <a:r>
              <a:rPr lang="en-US" dirty="0" err="1"/>
              <a:t>общими</a:t>
            </a:r>
            <a:r>
              <a:rPr lang="en-US" dirty="0"/>
              <a:t> </a:t>
            </a:r>
            <a:r>
              <a:rPr lang="en-US" dirty="0" err="1"/>
              <a:t>данными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596271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работе</a:t>
            </a:r>
            <a:r>
              <a:rPr lang="en-US" dirty="0"/>
              <a:t> с </a:t>
            </a:r>
            <a:r>
              <a:rPr lang="ru-RU" dirty="0"/>
              <a:t>прерываниями</a:t>
            </a:r>
            <a:r>
              <a:rPr lang="en-US" dirty="0"/>
              <a:t> </a:t>
            </a:r>
            <a:r>
              <a:rPr lang="ru-RU" dirty="0"/>
              <a:t>важно использовать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volatile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Рассмотрим</a:t>
            </a:r>
            <a:r>
              <a:rPr lang="en-US" dirty="0"/>
              <a:t> </a:t>
            </a:r>
            <a:r>
              <a:rPr lang="en-US" dirty="0" err="1"/>
              <a:t>переменную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flag</a:t>
            </a:r>
            <a:r>
              <a:rPr lang="en-US" dirty="0"/>
              <a:t>, </a:t>
            </a:r>
            <a:r>
              <a:rPr lang="en-US" dirty="0" err="1"/>
              <a:t>которая</a:t>
            </a:r>
            <a:r>
              <a:rPr lang="en-US" dirty="0"/>
              <a:t> </a:t>
            </a:r>
            <a:r>
              <a:rPr lang="en-US" dirty="0" err="1"/>
              <a:t>изменяется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ISR.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Если</a:t>
            </a:r>
            <a:r>
              <a:rPr lang="en-US" dirty="0"/>
              <a:t> </a:t>
            </a:r>
            <a:r>
              <a:rPr lang="en-US" dirty="0" err="1"/>
              <a:t>переменная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объявлена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volatile</a:t>
            </a:r>
            <a:r>
              <a:rPr lang="en-US" dirty="0"/>
              <a:t>,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предположить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её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изменяется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цикла</a:t>
            </a:r>
            <a:r>
              <a:rPr lang="en-US" dirty="0"/>
              <a:t> </a:t>
            </a:r>
            <a:r>
              <a:rPr lang="en-US" dirty="0" err="1"/>
              <a:t>ожидания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/>
              <a:t>В </a:t>
            </a:r>
            <a:r>
              <a:rPr lang="en-US" dirty="0" err="1"/>
              <a:t>результате</a:t>
            </a:r>
            <a:r>
              <a:rPr lang="en-US" dirty="0"/>
              <a:t>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способен</a:t>
            </a:r>
            <a:r>
              <a:rPr lang="en-US" dirty="0"/>
              <a:t> </a:t>
            </a:r>
            <a:r>
              <a:rPr lang="en-US" dirty="0" err="1"/>
              <a:t>загрузить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переменной</a:t>
            </a:r>
            <a:r>
              <a:rPr lang="en-US" dirty="0"/>
              <a:t> </a:t>
            </a:r>
            <a:r>
              <a:rPr lang="en-US" dirty="0" err="1"/>
              <a:t>один</a:t>
            </a:r>
            <a:r>
              <a:rPr lang="en-US" dirty="0"/>
              <a:t> </a:t>
            </a:r>
            <a:r>
              <a:rPr lang="en-US" dirty="0" err="1"/>
              <a:t>раз</a:t>
            </a:r>
            <a:r>
              <a:rPr lang="en-US" dirty="0"/>
              <a:t> и </a:t>
            </a:r>
            <a:r>
              <a:rPr lang="en-US" dirty="0" err="1"/>
              <a:t>больше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чтение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, </a:t>
            </a:r>
            <a:r>
              <a:rPr lang="en-US" dirty="0" err="1"/>
              <a:t>превратив</a:t>
            </a:r>
            <a:r>
              <a:rPr lang="en-US" dirty="0"/>
              <a:t> </a:t>
            </a:r>
            <a:r>
              <a:rPr lang="en-US" dirty="0" err="1"/>
              <a:t>цикл</a:t>
            </a:r>
            <a:r>
              <a:rPr lang="en-US" dirty="0"/>
              <a:t> </a:t>
            </a:r>
            <a:r>
              <a:rPr lang="en-US" dirty="0" err="1"/>
              <a:t>ожидания</a:t>
            </a:r>
            <a:r>
              <a:rPr lang="en-US" dirty="0"/>
              <a:t> в </a:t>
            </a:r>
            <a:r>
              <a:rPr lang="en-US" dirty="0" err="1"/>
              <a:t>бесконечный</a:t>
            </a:r>
            <a:r>
              <a:rPr lang="en-US" dirty="0"/>
              <a:t> </a:t>
            </a:r>
            <a:r>
              <a:rPr lang="en-US" dirty="0" err="1"/>
              <a:t>цикл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Однако</a:t>
            </a:r>
            <a:r>
              <a:rPr lang="en-US" dirty="0"/>
              <a:t> ISR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асинхронно</a:t>
            </a:r>
            <a:r>
              <a:rPr lang="en-US" dirty="0"/>
              <a:t> </a:t>
            </a:r>
            <a:r>
              <a:rPr lang="en-US" dirty="0" err="1"/>
              <a:t>изменить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переменной</a:t>
            </a:r>
            <a:r>
              <a:rPr lang="en-US" dirty="0"/>
              <a:t> в </a:t>
            </a:r>
            <a:r>
              <a:rPr lang="en-US" dirty="0" err="1"/>
              <a:t>любой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.</a:t>
            </a:r>
          </a:p>
          <a:p>
            <a:r>
              <a:rPr lang="en-US" dirty="0" err="1"/>
              <a:t>Квалификатор</a:t>
            </a:r>
            <a:r>
              <a:rPr lang="en-US" dirty="0"/>
              <a:t> </a:t>
            </a:r>
            <a:r>
              <a:rPr lang="en-US" sz="1200" kern="1200" dirty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volatile</a:t>
            </a:r>
            <a:r>
              <a:rPr lang="en-US" dirty="0"/>
              <a:t> </a:t>
            </a:r>
            <a:r>
              <a:rPr lang="en-US" dirty="0" err="1"/>
              <a:t>запрещает</a:t>
            </a:r>
            <a:r>
              <a:rPr lang="en-US" dirty="0"/>
              <a:t> </a:t>
            </a:r>
            <a:r>
              <a:rPr lang="en-US" dirty="0" err="1"/>
              <a:t>компилятору</a:t>
            </a:r>
            <a:r>
              <a:rPr lang="en-US" dirty="0"/>
              <a:t> </a:t>
            </a:r>
            <a:r>
              <a:rPr lang="en-US" dirty="0" err="1"/>
              <a:t>выполнять</a:t>
            </a:r>
            <a:r>
              <a:rPr lang="en-US" dirty="0"/>
              <a:t> </a:t>
            </a:r>
            <a:r>
              <a:rPr lang="en-US" dirty="0" err="1"/>
              <a:t>подобные</a:t>
            </a:r>
            <a:r>
              <a:rPr lang="en-US" dirty="0"/>
              <a:t> </a:t>
            </a:r>
            <a:r>
              <a:rPr lang="en-US" dirty="0" err="1"/>
              <a:t>оптимизации</a:t>
            </a:r>
            <a:r>
              <a:rPr lang="en-US" dirty="0"/>
              <a:t> и </a:t>
            </a:r>
            <a:r>
              <a:rPr lang="en-US" dirty="0" err="1"/>
              <a:t>требует</a:t>
            </a:r>
            <a:r>
              <a:rPr lang="en-US" dirty="0"/>
              <a:t> </a:t>
            </a:r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раз</a:t>
            </a:r>
            <a:r>
              <a:rPr lang="en-US" dirty="0"/>
              <a:t> </a:t>
            </a:r>
            <a:r>
              <a:rPr lang="en-US" dirty="0" err="1"/>
              <a:t>читать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переменной</a:t>
            </a:r>
            <a:r>
              <a:rPr lang="en-US" dirty="0"/>
              <a:t> </a:t>
            </a:r>
            <a:r>
              <a:rPr lang="en-US" dirty="0" err="1"/>
              <a:t>непосредственно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</a:t>
            </a:r>
            <a:endParaRPr lang="ru-RU" dirty="0"/>
          </a:p>
          <a:p>
            <a:endParaRPr lang="en-US" dirty="0"/>
          </a:p>
          <a:p>
            <a:r>
              <a:rPr lang="en-US" dirty="0" err="1"/>
              <a:t>Это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одним</a:t>
            </a:r>
            <a:r>
              <a:rPr lang="en-US" dirty="0"/>
              <a:t> </a:t>
            </a:r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фундаментальных</a:t>
            </a:r>
            <a:r>
              <a:rPr lang="en-US" dirty="0"/>
              <a:t> </a:t>
            </a:r>
            <a:r>
              <a:rPr lang="en-US" dirty="0" err="1"/>
              <a:t>требований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взаимодействии</a:t>
            </a:r>
            <a:r>
              <a:rPr lang="en-US" dirty="0"/>
              <a:t> </a:t>
            </a:r>
            <a:r>
              <a:rPr lang="en-US" dirty="0" err="1"/>
              <a:t>основной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с </a:t>
            </a:r>
            <a:r>
              <a:rPr lang="en-US" dirty="0" err="1"/>
              <a:t>обработчиками</a:t>
            </a:r>
            <a:r>
              <a:rPr lang="en-US" dirty="0"/>
              <a:t> </a:t>
            </a:r>
            <a:r>
              <a:rPr lang="en-US" dirty="0" err="1"/>
              <a:t>прерываний</a:t>
            </a:r>
            <a:r>
              <a:rPr lang="en-US" dirty="0"/>
              <a:t> и </a:t>
            </a:r>
            <a:r>
              <a:rPr lang="en-US" dirty="0" err="1"/>
              <a:t>аппаратными</a:t>
            </a:r>
            <a:r>
              <a:rPr lang="en-US" dirty="0"/>
              <a:t> </a:t>
            </a:r>
            <a:r>
              <a:rPr lang="en-US" dirty="0" err="1"/>
              <a:t>регистрами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377F0E-5212-47C6-B88A-D2005084B0E6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672199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14FC61-F602-CA9C-5CCA-DD150DD634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2682E4-9A95-F74E-00CC-DA57DE7895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229AE7-5C71-9FD6-5735-473647CBE8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00B82-0A15-446D-88EA-592A7911FFA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596DF0-49B7-122B-4B3C-0683EC2BC9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2F789C-060A-524C-E5EC-2D522502C6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EA73C-5F25-4BA6-86FC-08B87251C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75346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D04F2F-6EBC-19C9-967F-59FCA22C2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4C4F4E-BE75-132F-62A9-05DF580E9D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15E8A5-54D0-51C2-D7D8-8A23D281580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00B82-0A15-446D-88EA-592A7911FFA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D54E31-682F-7E5C-EF6E-2729BF8D6B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7D029A-B157-1E83-2216-D30014DEE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EA73C-5F25-4BA6-86FC-08B87251C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8754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4CBED8-7E98-3248-C9A2-C31743615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73DCB0-A717-6167-6164-9F0E9DAB7F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AA6B19-6EF7-9A82-5680-210BAD7468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00B82-0A15-446D-88EA-592A7911FFA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D759E7D-B399-275F-6164-044CCB835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4E2C777-2336-B4C7-8558-7274578F7C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EA73C-5F25-4BA6-86FC-08B87251C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415875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D79BB6-01F3-5B25-7715-AAC60B5EEE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F3A22A-4D90-F150-701B-EDC6C730314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48203B-A9CE-CF0E-2F6A-20B0360D257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556069E-6CF8-5563-2671-98C41BA65A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00B82-0A15-446D-88EA-592A7911FFA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58646C-D3F0-28B1-3077-413E6EBA2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CDE8FC-1827-4186-377E-1FAAA4D22F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EA73C-5F25-4BA6-86FC-08B87251C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000041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337E01-226A-7134-70FB-180F1D5D7E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A26D64-61BF-2826-1D1B-CCB41E7B14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D343F85-682B-9773-724F-E55B975670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405741A-EB75-123B-D313-70AA502239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A5C422C-A4C7-7D06-E211-9B7249BFE64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B59817E-C44B-22BA-4A8D-08B005DB6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00B82-0A15-446D-88EA-592A7911FFA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3057A90-973A-B41A-BB24-729555C6FE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6629E560-E7D8-38D7-1663-79EA7BC83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EA73C-5F25-4BA6-86FC-08B87251C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83472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BA9EC-44B2-4F01-4798-14F75355D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164D97-BEDD-B8AD-C2CC-1BB2B462F4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00B82-0A15-446D-88EA-592A7911FFA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D2CD9E-7E55-E4E7-E97B-59FF0837C5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D458CA-3FA6-86B7-4536-301EC0CB2F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EA73C-5F25-4BA6-86FC-08B87251C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06629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F89AEA-2B71-87DC-A179-6F8631378B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00B82-0A15-446D-88EA-592A7911FFA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27072E1-0AEB-1C89-0420-0F7615BED7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48A29B-E51B-DC16-1222-A996D4D3FF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EA73C-5F25-4BA6-86FC-08B87251C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212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CAF581-3F48-26CA-897A-EEF983E7C9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CB410A-F909-6133-46E1-066BC6B98F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7C9F1E-9C97-FAD5-90B9-9E90E0FDF73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126F511-05AD-EFA5-0B4C-214C4016D3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00B82-0A15-446D-88EA-592A7911FFA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C54CD03-A122-F7D2-96A5-4A98295835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95C3E7D-B345-8729-91FA-BFC16D251C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EA73C-5F25-4BA6-86FC-08B87251C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30428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24B2E7-AF48-F4E6-FD25-257EEC6F52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99A9BC0-5D24-7939-0A86-81758F6C106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D41890-9654-E2BC-CCC2-4943D9D13AE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2022620-86D9-3C98-D8D1-099EDA6439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00B82-0A15-446D-88EA-592A7911FFA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904924-32D8-D720-D017-45E061BEC1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4EE9EF7-99A6-EFC0-BA55-85C310EB46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EA73C-5F25-4BA6-86FC-08B87251C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2875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71355A-9301-C030-1CB3-29E7EB034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F41E97B-39BB-53E9-CB8B-F85C3E6EC95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DF86EB9-EC46-EC9D-BA3B-7754B742E0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00B82-0A15-446D-88EA-592A7911FFA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E3FCBF-D387-2234-C86F-80C210C68B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F820672-FCE4-A8D0-494B-9C481717B2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EA73C-5F25-4BA6-86FC-08B87251C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99717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A5627BF-8B9C-3AD7-F953-D51CB842699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2252628-FAA1-F6F2-1663-B58B5809E8E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3BBBEE-2FD9-3B05-92D3-C455057EB2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600B82-0A15-446D-88EA-592A7911FFA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179947-8BEC-5539-42C7-0AFC2143F5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930CBD-5673-5BA3-3A50-97EA409EAA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3FEA73C-5F25-4BA6-86FC-08B87251C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502429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F845E2C-E929-98A9-1689-4B85AF635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9557620-5793-D941-BCEE-0CD327D971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C7DE1A-48EE-2713-24CD-CB014CE6CA4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600B82-0A15-446D-88EA-592A7911FFA6}" type="datetimeFigureOut">
              <a:rPr lang="en-US" smtClean="0"/>
              <a:t>5/26/2026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052EA0-315F-CA1F-063D-AABD504A24E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202205-1B3B-4C00-0109-93B39DD7E83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3FEA73C-5F25-4BA6-86FC-08B87251CA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80743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4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4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1C054F-29D4-092E-2E3B-50959AEE2D3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ru-RU" dirty="0"/>
              <a:t>Программирование микроконтроллеров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42598A4-FA46-411F-3831-A90E8AAB102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4951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F788B8-1F50-FA02-8D32-CF4DE13D62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Встраиваемые системы (</a:t>
            </a:r>
            <a:r>
              <a:rPr lang="en-US" dirty="0"/>
              <a:t>embedded systems)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16CC33-4E7C-AA2E-66D5-8199C0694B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Встраиваемые системы</a:t>
            </a:r>
            <a:r>
              <a:rPr lang="en-US" dirty="0"/>
              <a:t> – </a:t>
            </a:r>
            <a:r>
              <a:rPr lang="ru-RU" dirty="0"/>
              <a:t>вычислительная система, встроенная внутрь других устройств для выполнения конкретных задач</a:t>
            </a:r>
          </a:p>
          <a:p>
            <a:r>
              <a:rPr lang="ru-RU" dirty="0"/>
              <a:t>Использование:</a:t>
            </a:r>
          </a:p>
          <a:p>
            <a:pPr lvl="1"/>
            <a:r>
              <a:rPr lang="ru-RU" dirty="0"/>
              <a:t>Бытовая техника, автомобили, роутеры, медицинское оборудование, дроны, роботы, </a:t>
            </a:r>
            <a:r>
              <a:rPr lang="en-US" dirty="0"/>
              <a:t>IoT</a:t>
            </a:r>
          </a:p>
          <a:p>
            <a:r>
              <a:rPr lang="ru-RU" dirty="0"/>
              <a:t>Основой большинства встраиваемых систем являются </a:t>
            </a:r>
            <a:r>
              <a:rPr lang="ru-RU" b="1" dirty="0"/>
              <a:t>микроконтроллеры</a:t>
            </a:r>
          </a:p>
          <a:p>
            <a:pPr lvl="1"/>
            <a:r>
              <a:rPr lang="ru-RU" dirty="0"/>
              <a:t>Процессор + память + периферия в одном чипе</a:t>
            </a:r>
          </a:p>
        </p:txBody>
      </p:sp>
    </p:spTree>
    <p:extLst>
      <p:ext uri="{BB962C8B-B14F-4D97-AF65-F5344CB8AC3E}">
        <p14:creationId xmlns:p14="http://schemas.microsoft.com/office/powerpoint/2010/main" val="19296693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23E738-BF26-B0C4-4E17-75470F5269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такое</a:t>
            </a:r>
            <a:r>
              <a:rPr lang="en-US" dirty="0"/>
              <a:t> </a:t>
            </a:r>
            <a:r>
              <a:rPr lang="en-US" dirty="0" err="1"/>
              <a:t>микроконтроллер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E52B72-DA59-E05E-2382-E2F88B93AD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err="1"/>
              <a:t>Микроконтроллер</a:t>
            </a:r>
            <a:r>
              <a:rPr lang="en-US" dirty="0"/>
              <a:t> (MCU, Microcontroller Unit) —</a:t>
            </a:r>
            <a:r>
              <a:rPr lang="ru-RU" dirty="0"/>
              <a:t> </a:t>
            </a:r>
            <a:r>
              <a:rPr lang="en-US" dirty="0" err="1"/>
              <a:t>небольшой</a:t>
            </a:r>
            <a:r>
              <a:rPr lang="en-US" dirty="0"/>
              <a:t> </a:t>
            </a:r>
            <a:r>
              <a:rPr lang="en-US" dirty="0" err="1"/>
              <a:t>компьютер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чипа</a:t>
            </a:r>
            <a:r>
              <a:rPr lang="en-US" dirty="0"/>
              <a:t>.</a:t>
            </a:r>
          </a:p>
          <a:p>
            <a:r>
              <a:rPr lang="en-US" dirty="0" err="1"/>
              <a:t>Обычно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процессор</a:t>
            </a:r>
            <a:r>
              <a:rPr lang="en-US" dirty="0"/>
              <a:t> (CPU) </a:t>
            </a:r>
          </a:p>
          <a:p>
            <a:pPr lvl="1"/>
            <a:r>
              <a:rPr lang="en-US" dirty="0" err="1"/>
              <a:t>оперативную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 (SRAM) </a:t>
            </a:r>
          </a:p>
          <a:p>
            <a:pPr lvl="1"/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программ</a:t>
            </a:r>
            <a:r>
              <a:rPr lang="en-US" dirty="0"/>
              <a:t> (Flash) </a:t>
            </a:r>
          </a:p>
          <a:p>
            <a:pPr lvl="1"/>
            <a:r>
              <a:rPr lang="en-US" dirty="0" err="1"/>
              <a:t>периферию</a:t>
            </a:r>
            <a:r>
              <a:rPr lang="en-US" dirty="0"/>
              <a:t>: </a:t>
            </a:r>
          </a:p>
          <a:p>
            <a:pPr lvl="2"/>
            <a:r>
              <a:rPr lang="en-US" dirty="0"/>
              <a:t>GPIO</a:t>
            </a:r>
          </a:p>
          <a:p>
            <a:pPr lvl="2"/>
            <a:r>
              <a:rPr lang="en-US" dirty="0" err="1"/>
              <a:t>таймеры</a:t>
            </a:r>
            <a:r>
              <a:rPr lang="en-US" dirty="0"/>
              <a:t> </a:t>
            </a:r>
          </a:p>
          <a:p>
            <a:pPr lvl="2"/>
            <a:r>
              <a:rPr lang="en-US" dirty="0"/>
              <a:t>UART/SPI/I2C</a:t>
            </a:r>
          </a:p>
          <a:p>
            <a:pPr lvl="2"/>
            <a:r>
              <a:rPr lang="en-US" dirty="0"/>
              <a:t>ADC </a:t>
            </a:r>
          </a:p>
          <a:p>
            <a:r>
              <a:rPr lang="en-US" dirty="0" err="1"/>
              <a:t>Предназначен</a:t>
            </a:r>
            <a:r>
              <a:rPr lang="ru-RU" dirty="0" err="1"/>
              <a:t>ие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управлени</a:t>
            </a:r>
            <a:r>
              <a:rPr lang="ru-RU" dirty="0"/>
              <a:t>е</a:t>
            </a:r>
            <a:r>
              <a:rPr lang="en-US" dirty="0"/>
              <a:t> </a:t>
            </a:r>
            <a:r>
              <a:rPr lang="en-US" dirty="0" err="1"/>
              <a:t>устройствами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обработк</a:t>
            </a:r>
            <a:r>
              <a:rPr lang="ru-RU" dirty="0"/>
              <a:t>а</a:t>
            </a:r>
            <a:r>
              <a:rPr lang="en-US" dirty="0"/>
              <a:t> </a:t>
            </a:r>
            <a:r>
              <a:rPr lang="en-US" dirty="0" err="1"/>
              <a:t>сигналов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взаимодействи</a:t>
            </a:r>
            <a:r>
              <a:rPr lang="ru-RU" dirty="0"/>
              <a:t>е</a:t>
            </a:r>
            <a:r>
              <a:rPr lang="en-US" dirty="0"/>
              <a:t> с </a:t>
            </a:r>
            <a:r>
              <a:rPr lang="en-US" dirty="0" err="1"/>
              <a:t>внешним</a:t>
            </a:r>
            <a:r>
              <a:rPr lang="en-US" dirty="0"/>
              <a:t> </a:t>
            </a:r>
            <a:r>
              <a:rPr lang="en-US" dirty="0" err="1"/>
              <a:t>миром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134966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5F53FD-E5C0-5A9F-C697-FB987830D3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Из</a:t>
            </a:r>
            <a:r>
              <a:rPr lang="en-US" dirty="0"/>
              <a:t> </a:t>
            </a:r>
            <a:r>
              <a:rPr lang="en-US" dirty="0" err="1"/>
              <a:t>чего</a:t>
            </a:r>
            <a:r>
              <a:rPr lang="en-US" dirty="0"/>
              <a:t> </a:t>
            </a:r>
            <a:r>
              <a:rPr lang="en-US" dirty="0" err="1"/>
              <a:t>состоит</a:t>
            </a:r>
            <a:r>
              <a:rPr lang="en-US" dirty="0"/>
              <a:t> </a:t>
            </a:r>
            <a:r>
              <a:rPr lang="en-US" dirty="0" err="1"/>
              <a:t>микроконтроллер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F94F57F-B894-2509-944E-D78D9C4CF2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CPU – </a:t>
            </a:r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</a:p>
          <a:p>
            <a:r>
              <a:rPr lang="en-US" dirty="0"/>
              <a:t>Flash memory – </a:t>
            </a:r>
            <a:r>
              <a:rPr lang="en-US" dirty="0" err="1"/>
              <a:t>хранит</a:t>
            </a:r>
            <a:r>
              <a:rPr lang="en-US" dirty="0"/>
              <a:t> </a:t>
            </a:r>
            <a:r>
              <a:rPr lang="en-US" dirty="0" err="1"/>
              <a:t>программу</a:t>
            </a:r>
            <a:r>
              <a:rPr lang="en-US" dirty="0"/>
              <a:t> </a:t>
            </a:r>
          </a:p>
          <a:p>
            <a:r>
              <a:rPr lang="en-US" dirty="0"/>
              <a:t>SRAM - </a:t>
            </a:r>
            <a:r>
              <a:rPr lang="en-US" dirty="0" err="1"/>
              <a:t>хранит</a:t>
            </a:r>
            <a:r>
              <a:rPr lang="en-US" dirty="0"/>
              <a:t> </a:t>
            </a:r>
            <a:r>
              <a:rPr lang="en-US" dirty="0" err="1"/>
              <a:t>данные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</a:p>
          <a:p>
            <a:r>
              <a:rPr lang="en-US" dirty="0"/>
              <a:t>EEPROM - </a:t>
            </a:r>
            <a:r>
              <a:rPr lang="en-US" dirty="0" err="1"/>
              <a:t>хранение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перезагрузками</a:t>
            </a:r>
            <a:r>
              <a:rPr lang="en-US" dirty="0"/>
              <a:t> </a:t>
            </a:r>
          </a:p>
          <a:p>
            <a:r>
              <a:rPr lang="en-US" dirty="0" err="1"/>
              <a:t>Периферия</a:t>
            </a:r>
            <a:endParaRPr lang="en-US" dirty="0"/>
          </a:p>
          <a:p>
            <a:pPr lvl="1"/>
            <a:r>
              <a:rPr lang="en-US" dirty="0"/>
              <a:t>GPIO</a:t>
            </a:r>
            <a:r>
              <a:rPr lang="ru-RU" dirty="0"/>
              <a:t>, </a:t>
            </a:r>
            <a:r>
              <a:rPr lang="en-US" dirty="0"/>
              <a:t>UART</a:t>
            </a:r>
            <a:r>
              <a:rPr lang="ru-RU" dirty="0"/>
              <a:t>, </a:t>
            </a:r>
            <a:r>
              <a:rPr lang="en-US" dirty="0"/>
              <a:t>SPI/I2C</a:t>
            </a:r>
            <a:r>
              <a:rPr lang="ru-RU" dirty="0"/>
              <a:t>, </a:t>
            </a:r>
            <a:r>
              <a:rPr lang="en-US" dirty="0"/>
              <a:t>ADC</a:t>
            </a:r>
            <a:r>
              <a:rPr lang="ru-RU" dirty="0"/>
              <a:t>, </a:t>
            </a:r>
            <a:r>
              <a:rPr lang="en-US" dirty="0" err="1"/>
              <a:t>таймеры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57464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1D55A-CD36-269E-4606-906F7236E8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CPU </a:t>
            </a:r>
            <a:r>
              <a:rPr lang="en-US" dirty="0" err="1"/>
              <a:t>внутри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F9303-A655-A1E2-B164-F082D64D1F9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CPU </a:t>
            </a:r>
            <a:r>
              <a:rPr lang="en-US" dirty="0" err="1"/>
              <a:t>микроконтроллера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машинные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использует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со</a:t>
            </a:r>
            <a:r>
              <a:rPr lang="en-US" dirty="0"/>
              <a:t> </a:t>
            </a:r>
            <a:r>
              <a:rPr lang="en-US" dirty="0" err="1"/>
              <a:t>стеком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вызовы</a:t>
            </a:r>
            <a:r>
              <a:rPr lang="en-US" dirty="0"/>
              <a:t> </a:t>
            </a:r>
            <a:r>
              <a:rPr lang="en-US" dirty="0" err="1"/>
              <a:t>функций</a:t>
            </a:r>
            <a:r>
              <a:rPr lang="en-US" dirty="0"/>
              <a:t> </a:t>
            </a:r>
          </a:p>
          <a:p>
            <a:r>
              <a:rPr lang="en-US" dirty="0" err="1"/>
              <a:t>Но</a:t>
            </a:r>
            <a:r>
              <a:rPr lang="en-US" dirty="0"/>
              <a:t> </a:t>
            </a:r>
            <a:r>
              <a:rPr lang="en-US" dirty="0" err="1"/>
              <a:t>обычно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ниже</a:t>
            </a:r>
            <a:r>
              <a:rPr lang="en-US" dirty="0"/>
              <a:t> </a:t>
            </a:r>
            <a:r>
              <a:rPr lang="en-US" dirty="0" err="1"/>
              <a:t>частота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проще</a:t>
            </a:r>
            <a:r>
              <a:rPr lang="en-US" dirty="0"/>
              <a:t> </a:t>
            </a:r>
            <a:r>
              <a:rPr lang="en-US" dirty="0" err="1"/>
              <a:t>архитектура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меньше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нет</a:t>
            </a:r>
            <a:r>
              <a:rPr lang="en-US" dirty="0"/>
              <a:t> </a:t>
            </a:r>
            <a:r>
              <a:rPr lang="en-US" dirty="0" err="1"/>
              <a:t>сложной</a:t>
            </a:r>
            <a:r>
              <a:rPr lang="en-US" dirty="0"/>
              <a:t> ОС </a:t>
            </a:r>
          </a:p>
          <a:p>
            <a:r>
              <a:rPr lang="en-US" dirty="0" err="1"/>
              <a:t>Пример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/>
              <a:t>ATmega328P</a:t>
            </a:r>
          </a:p>
          <a:p>
            <a:pPr lvl="1"/>
            <a:r>
              <a:rPr lang="en-US" dirty="0"/>
              <a:t>16 MHz </a:t>
            </a:r>
          </a:p>
          <a:p>
            <a:pPr lvl="1"/>
            <a:r>
              <a:rPr lang="en-US" dirty="0"/>
              <a:t>2 KB SRAM </a:t>
            </a:r>
          </a:p>
          <a:p>
            <a:pPr lvl="1"/>
            <a:r>
              <a:rPr lang="en-US" dirty="0"/>
              <a:t>32 KB Flash</a:t>
            </a:r>
          </a:p>
          <a:p>
            <a:endParaRPr lang="en-US" dirty="0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A2D438AC-0D84-F965-2D48-E75B34EB7504}"/>
              </a:ext>
            </a:extLst>
          </p:cNvPr>
          <p:cNvPicPr>
            <a:picLocks noGrp="1" noChangeAspect="1" noChangeArrowheads="1"/>
          </p:cNvPicPr>
          <p:nvPr>
            <p:ph sz="half" idx="2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7405" t="25798" r="27181" b="21765"/>
          <a:stretch>
            <a:fillRect/>
          </a:stretch>
        </p:blipFill>
        <p:spPr bwMode="auto">
          <a:xfrm>
            <a:off x="6724650" y="1826419"/>
            <a:ext cx="4648200" cy="35772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D8E4520-DE58-9190-4846-1F60425F7875}"/>
              </a:ext>
            </a:extLst>
          </p:cNvPr>
          <p:cNvSpPr txBox="1"/>
          <p:nvPr/>
        </p:nvSpPr>
        <p:spPr>
          <a:xfrm>
            <a:off x="7696200" y="5403665"/>
            <a:ext cx="27051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/>
              <a:t>ATmega328P</a:t>
            </a:r>
          </a:p>
        </p:txBody>
      </p:sp>
    </p:spTree>
    <p:extLst>
      <p:ext uri="{BB962C8B-B14F-4D97-AF65-F5344CB8AC3E}">
        <p14:creationId xmlns:p14="http://schemas.microsoft.com/office/powerpoint/2010/main" val="24762739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22229-3E3E-4901-F0C7-FDC27ADCEC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Периферия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568DBD-76F3-5543-53A2-1075D8E27F4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Периферийные</a:t>
            </a:r>
            <a:r>
              <a:rPr lang="en-US" dirty="0"/>
              <a:t> </a:t>
            </a:r>
            <a:r>
              <a:rPr lang="en-US" dirty="0" err="1"/>
              <a:t>модули</a:t>
            </a:r>
            <a:r>
              <a:rPr lang="en-US" dirty="0"/>
              <a:t> </a:t>
            </a:r>
            <a:r>
              <a:rPr lang="en-US" dirty="0" err="1"/>
              <a:t>обеспечивают</a:t>
            </a:r>
            <a:r>
              <a:rPr lang="en-US" dirty="0"/>
              <a:t> </a:t>
            </a:r>
            <a:r>
              <a:rPr lang="en-US" dirty="0" err="1"/>
              <a:t>взаимодействие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с </a:t>
            </a:r>
            <a:r>
              <a:rPr lang="en-US" dirty="0" err="1"/>
              <a:t>внешними</a:t>
            </a:r>
            <a:r>
              <a:rPr lang="en-US" dirty="0"/>
              <a:t> </a:t>
            </a:r>
            <a:r>
              <a:rPr lang="en-US" dirty="0" err="1"/>
              <a:t>устройствами</a:t>
            </a:r>
            <a:r>
              <a:rPr lang="en-US" dirty="0"/>
              <a:t> и </a:t>
            </a:r>
            <a:r>
              <a:rPr lang="en-US" dirty="0" err="1"/>
              <a:t>физическими</a:t>
            </a:r>
            <a:r>
              <a:rPr lang="en-US" dirty="0"/>
              <a:t> </a:t>
            </a:r>
            <a:r>
              <a:rPr lang="en-US" dirty="0" err="1"/>
              <a:t>сигналами</a:t>
            </a:r>
            <a:r>
              <a:rPr lang="en-US" dirty="0"/>
              <a:t>.</a:t>
            </a:r>
            <a:endParaRPr lang="ru-RU" dirty="0"/>
          </a:p>
          <a:p>
            <a:pPr lvl="1"/>
            <a:r>
              <a:rPr lang="en-US" dirty="0"/>
              <a:t>GPIO (General Purpose Input/Output)</a:t>
            </a:r>
            <a:r>
              <a:rPr lang="ru-RU" dirty="0"/>
              <a:t> - </a:t>
            </a:r>
            <a:r>
              <a:rPr lang="en-US" dirty="0" err="1"/>
              <a:t>управление</a:t>
            </a:r>
            <a:r>
              <a:rPr lang="en-US" dirty="0"/>
              <a:t> </a:t>
            </a:r>
            <a:r>
              <a:rPr lang="en-US" dirty="0" err="1"/>
              <a:t>цифровыми</a:t>
            </a:r>
            <a:r>
              <a:rPr lang="en-US" dirty="0"/>
              <a:t> </a:t>
            </a:r>
            <a:r>
              <a:rPr lang="en-US" dirty="0" err="1"/>
              <a:t>выводами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UART (Universal Asynchronous Receiver-Transmitter)</a:t>
            </a:r>
            <a:r>
              <a:rPr lang="ru-RU" dirty="0"/>
              <a:t> – </a:t>
            </a:r>
            <a:r>
              <a:rPr lang="en-US" dirty="0" err="1"/>
              <a:t>последовательная</a:t>
            </a:r>
            <a:r>
              <a:rPr lang="ru-RU" dirty="0"/>
              <a:t> </a:t>
            </a:r>
            <a:r>
              <a:rPr lang="en-US" dirty="0" err="1"/>
              <a:t>передача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SPI / I2C</a:t>
            </a:r>
            <a:r>
              <a:rPr lang="ru-RU" dirty="0"/>
              <a:t> - </a:t>
            </a:r>
            <a:r>
              <a:rPr lang="en-US" dirty="0" err="1"/>
              <a:t>интерфейсы</a:t>
            </a:r>
            <a:r>
              <a:rPr lang="en-US" dirty="0"/>
              <a:t> </a:t>
            </a:r>
            <a:r>
              <a:rPr lang="en-US" dirty="0" err="1"/>
              <a:t>подключения</a:t>
            </a:r>
            <a:r>
              <a:rPr lang="en-US" dirty="0"/>
              <a:t> </a:t>
            </a:r>
            <a:r>
              <a:rPr lang="en-US" dirty="0" err="1"/>
              <a:t>внешних</a:t>
            </a:r>
            <a:r>
              <a:rPr lang="en-US" dirty="0"/>
              <a:t> </a:t>
            </a:r>
            <a:r>
              <a:rPr lang="en-US" dirty="0" err="1"/>
              <a:t>устройств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Timers/Counters</a:t>
            </a:r>
            <a:r>
              <a:rPr lang="ru-RU" dirty="0"/>
              <a:t> – </a:t>
            </a:r>
            <a:r>
              <a:rPr lang="en-US" dirty="0" err="1"/>
              <a:t>измерение</a:t>
            </a:r>
            <a:r>
              <a:rPr lang="ru-RU" dirty="0"/>
              <a:t> </a:t>
            </a:r>
            <a:r>
              <a:rPr lang="en-US" dirty="0" err="1"/>
              <a:t>времени</a:t>
            </a:r>
            <a:r>
              <a:rPr lang="en-US" dirty="0"/>
              <a:t> и </a:t>
            </a:r>
            <a:r>
              <a:rPr lang="en-US" dirty="0" err="1"/>
              <a:t>генерация</a:t>
            </a:r>
            <a:r>
              <a:rPr lang="en-US" dirty="0"/>
              <a:t> </a:t>
            </a:r>
            <a:r>
              <a:rPr lang="en-US" dirty="0" err="1"/>
              <a:t>периодических</a:t>
            </a:r>
            <a:r>
              <a:rPr lang="en-US" dirty="0"/>
              <a:t> </a:t>
            </a:r>
            <a:r>
              <a:rPr lang="en-US" dirty="0" err="1"/>
              <a:t>событий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ADC (Analog-to-Digital Converter)</a:t>
            </a:r>
            <a:r>
              <a:rPr lang="ru-RU" dirty="0"/>
              <a:t> – </a:t>
            </a:r>
            <a:r>
              <a:rPr lang="en-US" dirty="0" err="1"/>
              <a:t>преобразование</a:t>
            </a:r>
            <a:r>
              <a:rPr lang="ru-RU" dirty="0"/>
              <a:t> </a:t>
            </a:r>
            <a:r>
              <a:rPr lang="en-US" dirty="0" err="1"/>
              <a:t>аналоговых</a:t>
            </a:r>
            <a:r>
              <a:rPr lang="en-US" dirty="0"/>
              <a:t> </a:t>
            </a:r>
            <a:r>
              <a:rPr lang="en-US" dirty="0" err="1"/>
              <a:t>сигналов</a:t>
            </a:r>
            <a:r>
              <a:rPr lang="en-US" dirty="0"/>
              <a:t> в </a:t>
            </a:r>
            <a:r>
              <a:rPr lang="en-US" dirty="0" err="1"/>
              <a:t>цифровую</a:t>
            </a:r>
            <a:r>
              <a:rPr lang="en-US" dirty="0"/>
              <a:t> </a:t>
            </a:r>
            <a:r>
              <a:rPr lang="en-US" dirty="0" err="1"/>
              <a:t>форму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PWM (Pulse Width Modulation)</a:t>
            </a:r>
            <a:r>
              <a:rPr lang="ru-RU" dirty="0"/>
              <a:t> - </a:t>
            </a:r>
            <a:r>
              <a:rPr lang="en-US" dirty="0" err="1"/>
              <a:t>управление</a:t>
            </a:r>
            <a:r>
              <a:rPr lang="en-US" dirty="0"/>
              <a:t> </a:t>
            </a:r>
            <a:r>
              <a:rPr lang="en-US" dirty="0" err="1"/>
              <a:t>средней</a:t>
            </a:r>
            <a:r>
              <a:rPr lang="en-US" dirty="0"/>
              <a:t> </a:t>
            </a:r>
            <a:r>
              <a:rPr lang="en-US" dirty="0" err="1"/>
              <a:t>мощностью</a:t>
            </a:r>
            <a:r>
              <a:rPr lang="en-US" dirty="0"/>
              <a:t> </a:t>
            </a:r>
            <a:r>
              <a:rPr lang="en-US" dirty="0" err="1"/>
              <a:t>сигнала</a:t>
            </a:r>
            <a:endParaRPr lang="ru-RU" dirty="0"/>
          </a:p>
          <a:p>
            <a:r>
              <a:rPr lang="ru-RU" dirty="0"/>
              <a:t>Взаимодействие с периферией выполняется через аппаратные регистры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5978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 bldLvl="2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629783-7D58-C48D-989C-92B89059C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система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кристалле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B6E5BF-F220-DA6C-E0E8-B5D7F1CE6A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 err="1"/>
              <a:t>Микроконтроллер</a:t>
            </a:r>
            <a:r>
              <a:rPr lang="en-US" dirty="0"/>
              <a:t> </a:t>
            </a:r>
            <a:r>
              <a:rPr lang="en-US" dirty="0" err="1"/>
              <a:t>представляет</a:t>
            </a:r>
            <a:r>
              <a:rPr lang="en-US" dirty="0"/>
              <a:t> </a:t>
            </a:r>
            <a:r>
              <a:rPr lang="en-US" dirty="0" err="1"/>
              <a:t>собой</a:t>
            </a:r>
            <a:r>
              <a:rPr lang="en-US" dirty="0"/>
              <a:t> </a:t>
            </a:r>
            <a:r>
              <a:rPr lang="en-US" dirty="0" err="1"/>
              <a:t>интегрированную</a:t>
            </a:r>
            <a:r>
              <a:rPr lang="en-US" dirty="0"/>
              <a:t> </a:t>
            </a:r>
            <a:r>
              <a:rPr lang="en-US" dirty="0" err="1"/>
              <a:t>вычислительную</a:t>
            </a:r>
            <a:r>
              <a:rPr lang="en-US" dirty="0"/>
              <a:t> </a:t>
            </a:r>
            <a:r>
              <a:rPr lang="en-US" dirty="0" err="1"/>
              <a:t>систему</a:t>
            </a:r>
            <a:r>
              <a:rPr lang="en-US" dirty="0"/>
              <a:t>, </a:t>
            </a:r>
            <a:r>
              <a:rPr lang="en-US" dirty="0" err="1"/>
              <a:t>реализованную</a:t>
            </a:r>
            <a:r>
              <a:rPr lang="en-US" dirty="0"/>
              <a:t> в </a:t>
            </a:r>
            <a:r>
              <a:rPr lang="en-US" dirty="0" err="1"/>
              <a:t>пределах</a:t>
            </a:r>
            <a:r>
              <a:rPr lang="en-US" dirty="0"/>
              <a:t> </a:t>
            </a:r>
            <a:r>
              <a:rPr lang="en-US" dirty="0" err="1"/>
              <a:t>одного</a:t>
            </a:r>
            <a:r>
              <a:rPr lang="en-US" dirty="0"/>
              <a:t> </a:t>
            </a:r>
            <a:r>
              <a:rPr lang="en-US" dirty="0" err="1"/>
              <a:t>кристалла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CPU, Flash, SRAM, </a:t>
            </a:r>
            <a:r>
              <a:rPr lang="ru-RU" dirty="0"/>
              <a:t>периферия, системные шины, контроллеры тактирования и прерываний</a:t>
            </a:r>
            <a:endParaRPr lang="en-US" dirty="0"/>
          </a:p>
          <a:p>
            <a:r>
              <a:rPr lang="en-US" dirty="0" err="1"/>
              <a:t>Преимущества</a:t>
            </a:r>
            <a:r>
              <a:rPr lang="en-US" dirty="0"/>
              <a:t> </a:t>
            </a:r>
            <a:r>
              <a:rPr lang="en-US" dirty="0" err="1"/>
              <a:t>интеграции</a:t>
            </a:r>
            <a:endParaRPr lang="en-US" dirty="0"/>
          </a:p>
          <a:p>
            <a:pPr lvl="1"/>
            <a:r>
              <a:rPr lang="en-US" dirty="0" err="1"/>
              <a:t>компактность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низкое</a:t>
            </a:r>
            <a:r>
              <a:rPr lang="en-US" dirty="0"/>
              <a:t> </a:t>
            </a:r>
            <a:r>
              <a:rPr lang="en-US" dirty="0" err="1"/>
              <a:t>энергопотребление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невысокая</a:t>
            </a:r>
            <a:r>
              <a:rPr lang="en-US" dirty="0"/>
              <a:t> </a:t>
            </a:r>
            <a:r>
              <a:rPr lang="en-US" dirty="0" err="1"/>
              <a:t>стоимость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минимальное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внешних</a:t>
            </a:r>
            <a:r>
              <a:rPr lang="en-US" dirty="0"/>
              <a:t> </a:t>
            </a:r>
            <a:r>
              <a:rPr lang="en-US" dirty="0" err="1"/>
              <a:t>компонентов</a:t>
            </a:r>
            <a:r>
              <a:rPr lang="en-US" dirty="0"/>
              <a:t> </a:t>
            </a:r>
          </a:p>
          <a:p>
            <a:r>
              <a:rPr lang="en-US" dirty="0" err="1"/>
              <a:t>Ограничения</a:t>
            </a:r>
            <a:endParaRPr lang="en-US" dirty="0"/>
          </a:p>
          <a:p>
            <a:pPr lvl="1"/>
            <a:r>
              <a:rPr lang="en-US" dirty="0" err="1"/>
              <a:t>ограниченный</a:t>
            </a:r>
            <a:r>
              <a:rPr lang="en-US" dirty="0"/>
              <a:t> </a:t>
            </a:r>
            <a:r>
              <a:rPr lang="en-US" dirty="0" err="1"/>
              <a:t>объём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невысокая</a:t>
            </a:r>
            <a:r>
              <a:rPr lang="en-US" dirty="0"/>
              <a:t> </a:t>
            </a:r>
            <a:r>
              <a:rPr lang="en-US" dirty="0" err="1"/>
              <a:t>вычислительная</a:t>
            </a:r>
            <a:r>
              <a:rPr lang="en-US" dirty="0"/>
              <a:t> </a:t>
            </a:r>
            <a:r>
              <a:rPr lang="en-US" dirty="0" err="1"/>
              <a:t>производительность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ограниченные</a:t>
            </a:r>
            <a:r>
              <a:rPr lang="en-US" dirty="0"/>
              <a:t> </a:t>
            </a:r>
            <a:r>
              <a:rPr lang="en-US" dirty="0" err="1"/>
              <a:t>аппаратные</a:t>
            </a:r>
            <a:r>
              <a:rPr lang="en-US" dirty="0"/>
              <a:t> </a:t>
            </a:r>
            <a:r>
              <a:rPr lang="en-US" dirty="0" err="1"/>
              <a:t>ресурсы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1265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1CDD772-A7E4-7EA6-4896-A74876FA24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Микроконтроллеры </a:t>
            </a:r>
            <a:r>
              <a:rPr lang="en-US" dirty="0"/>
              <a:t>AVR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CE00B3A-02F8-9316-C131-1AAB393A84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89919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B75B256-8C6D-C0E4-4129-34EEA2BF52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Архитектура </a:t>
            </a:r>
            <a:r>
              <a:rPr lang="en-US" dirty="0"/>
              <a:t>AVR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31C6F25-99F8-8F3F-0E01-F2157E40A31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AVR — </a:t>
            </a:r>
            <a:r>
              <a:rPr lang="en-US" dirty="0" err="1"/>
              <a:t>семейство</a:t>
            </a:r>
            <a:r>
              <a:rPr lang="en-US" dirty="0"/>
              <a:t> 8-битных RISC-</a:t>
            </a:r>
            <a:r>
              <a:rPr lang="en-US" dirty="0" err="1"/>
              <a:t>микроконтроллеров</a:t>
            </a:r>
            <a:r>
              <a:rPr lang="ru-RU" dirty="0"/>
              <a:t> компании </a:t>
            </a:r>
            <a:r>
              <a:rPr lang="en-US" dirty="0"/>
              <a:t>Atmel</a:t>
            </a:r>
          </a:p>
          <a:p>
            <a:pPr lvl="1"/>
            <a:r>
              <a:rPr lang="en-US" dirty="0"/>
              <a:t>RISC – Reduced Instruction Set Computer – </a:t>
            </a:r>
            <a:r>
              <a:rPr lang="ru-RU" dirty="0"/>
              <a:t>архитектура процессора с относительно небольшим и простым набором инструкций</a:t>
            </a:r>
            <a:endParaRPr lang="en-US" dirty="0"/>
          </a:p>
          <a:p>
            <a:r>
              <a:rPr lang="en-US" dirty="0" err="1"/>
              <a:t>Характерные</a:t>
            </a:r>
            <a:r>
              <a:rPr lang="en-US" dirty="0"/>
              <a:t> </a:t>
            </a:r>
            <a:r>
              <a:rPr lang="en-US" dirty="0" err="1"/>
              <a:t>особенности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Harvard architecture </a:t>
            </a:r>
          </a:p>
          <a:p>
            <a:pPr lvl="1"/>
            <a:r>
              <a:rPr lang="en-US" dirty="0" err="1"/>
              <a:t>большое</a:t>
            </a:r>
            <a:r>
              <a:rPr lang="en-US" dirty="0"/>
              <a:t> </a:t>
            </a:r>
            <a:r>
              <a:rPr lang="en-US" dirty="0" err="1"/>
              <a:t>количество</a:t>
            </a:r>
            <a:r>
              <a:rPr lang="en-US" dirty="0"/>
              <a:t> </a:t>
            </a:r>
            <a:r>
              <a:rPr lang="en-US" dirty="0" err="1"/>
              <a:t>регистров</a:t>
            </a:r>
            <a:r>
              <a:rPr lang="en-US" dirty="0"/>
              <a:t> </a:t>
            </a:r>
            <a:r>
              <a:rPr lang="en-US" dirty="0" err="1"/>
              <a:t>общего</a:t>
            </a:r>
            <a:r>
              <a:rPr lang="en-US" dirty="0"/>
              <a:t> </a:t>
            </a:r>
            <a:r>
              <a:rPr lang="en-US" dirty="0" err="1"/>
              <a:t>назначения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простая</a:t>
            </a:r>
            <a:r>
              <a:rPr lang="en-US" dirty="0"/>
              <a:t> </a:t>
            </a:r>
            <a:r>
              <a:rPr lang="en-US" dirty="0" err="1"/>
              <a:t>система</a:t>
            </a:r>
            <a:r>
              <a:rPr lang="en-US" dirty="0"/>
              <a:t> </a:t>
            </a:r>
            <a:r>
              <a:rPr lang="en-US" dirty="0" err="1"/>
              <a:t>команд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низкое</a:t>
            </a:r>
            <a:r>
              <a:rPr lang="en-US" dirty="0"/>
              <a:t> </a:t>
            </a:r>
            <a:r>
              <a:rPr lang="en-US" dirty="0" err="1"/>
              <a:t>энергопотребление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ориентация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</a:t>
            </a:r>
            <a:r>
              <a:rPr lang="ru-RU" dirty="0"/>
              <a:t>встраиваемые системы</a:t>
            </a:r>
            <a:endParaRPr lang="en-US" dirty="0"/>
          </a:p>
          <a:p>
            <a:r>
              <a:rPr lang="en-US" dirty="0" err="1"/>
              <a:t>Пример</a:t>
            </a:r>
            <a:r>
              <a:rPr lang="en-US" dirty="0"/>
              <a:t>: ATmega328P (Arduino Nano)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895576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5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5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4D329-B668-347D-F91F-33BAB4772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Гарвардская архитектура </a:t>
            </a:r>
            <a:r>
              <a:rPr lang="en-US" dirty="0"/>
              <a:t>AVR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DBFF52-7CA8-C52C-D5E1-8D56DE2852C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764994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AVR </a:t>
            </a:r>
            <a:r>
              <a:rPr lang="en-US" dirty="0" err="1"/>
              <a:t>использует</a:t>
            </a:r>
            <a:r>
              <a:rPr lang="en-US" dirty="0"/>
              <a:t> </a:t>
            </a:r>
            <a:r>
              <a:rPr lang="ru-RU" dirty="0"/>
              <a:t>гарвардскую архитектуру</a:t>
            </a:r>
            <a:endParaRPr lang="en-US" dirty="0"/>
          </a:p>
          <a:p>
            <a:pPr lvl="1"/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программ</a:t>
            </a:r>
            <a:r>
              <a:rPr lang="en-US" dirty="0"/>
              <a:t> и </a:t>
            </a:r>
            <a:r>
              <a:rPr lang="en-US" dirty="0" err="1"/>
              <a:t>память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физически</a:t>
            </a:r>
            <a:r>
              <a:rPr lang="en-US" dirty="0"/>
              <a:t> </a:t>
            </a:r>
            <a:r>
              <a:rPr lang="en-US" dirty="0" err="1"/>
              <a:t>разделены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имеют</a:t>
            </a:r>
            <a:r>
              <a:rPr lang="en-US" dirty="0"/>
              <a:t> </a:t>
            </a:r>
            <a:r>
              <a:rPr lang="en-US" dirty="0" err="1"/>
              <a:t>независимые</a:t>
            </a:r>
            <a:r>
              <a:rPr lang="en-US" dirty="0"/>
              <a:t> </a:t>
            </a:r>
            <a:r>
              <a:rPr lang="en-US" dirty="0" err="1"/>
              <a:t>шины</a:t>
            </a:r>
            <a:r>
              <a:rPr lang="en-US" dirty="0"/>
              <a:t> </a:t>
            </a:r>
            <a:r>
              <a:rPr lang="en-US" dirty="0" err="1"/>
              <a:t>доступа</a:t>
            </a:r>
            <a:r>
              <a:rPr lang="en-US" dirty="0"/>
              <a:t> </a:t>
            </a:r>
          </a:p>
          <a:p>
            <a:r>
              <a:rPr lang="en-US" dirty="0" err="1"/>
              <a:t>Следствие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одновременный</a:t>
            </a:r>
            <a:r>
              <a:rPr lang="en-US" dirty="0"/>
              <a:t> </a:t>
            </a:r>
            <a:r>
              <a:rPr lang="en-US" dirty="0" err="1"/>
              <a:t>доступ</a:t>
            </a:r>
            <a:r>
              <a:rPr lang="en-US" dirty="0"/>
              <a:t> к </a:t>
            </a:r>
            <a:r>
              <a:rPr lang="en-US" dirty="0" err="1"/>
              <a:t>инструкциям</a:t>
            </a:r>
            <a:r>
              <a:rPr lang="en-US" dirty="0"/>
              <a:t> и </a:t>
            </a:r>
            <a:r>
              <a:rPr lang="en-US" dirty="0" err="1"/>
              <a:t>данным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упрощение</a:t>
            </a:r>
            <a:r>
              <a:rPr lang="en-US" dirty="0"/>
              <a:t> </a:t>
            </a:r>
            <a:r>
              <a:rPr lang="en-US" dirty="0" err="1"/>
              <a:t>аппаратной</a:t>
            </a:r>
            <a:r>
              <a:rPr lang="en-US" dirty="0"/>
              <a:t> </a:t>
            </a:r>
            <a:r>
              <a:rPr lang="en-US" dirty="0" err="1"/>
              <a:t>реализации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повышение</a:t>
            </a:r>
            <a:r>
              <a:rPr lang="en-US" dirty="0"/>
              <a:t> </a:t>
            </a:r>
            <a:r>
              <a:rPr lang="en-US" dirty="0" err="1"/>
              <a:t>эффективности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5EDC47A-A80B-6922-BEF8-EA5A3BF515FF}"/>
              </a:ext>
            </a:extLst>
          </p:cNvPr>
          <p:cNvSpPr/>
          <p:nvPr/>
        </p:nvSpPr>
        <p:spPr>
          <a:xfrm>
            <a:off x="8559857" y="3628708"/>
            <a:ext cx="1569206" cy="813662"/>
          </a:xfrm>
          <a:prstGeom prst="rect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/>
              <a:t>Устройство управления</a:t>
            </a:r>
            <a:endParaRPr lang="en-US" sz="16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89315D08-0D00-4A8D-5E5E-AEACD3C3690B}"/>
              </a:ext>
            </a:extLst>
          </p:cNvPr>
          <p:cNvSpPr/>
          <p:nvPr/>
        </p:nvSpPr>
        <p:spPr>
          <a:xfrm>
            <a:off x="6738803" y="3628708"/>
            <a:ext cx="1317359" cy="813662"/>
          </a:xfrm>
          <a:prstGeom prst="rect">
            <a:avLst/>
          </a:prstGeom>
        </p:spPr>
        <p:style>
          <a:lnRef idx="3">
            <a:schemeClr val="lt1"/>
          </a:lnRef>
          <a:fillRef idx="1">
            <a:schemeClr val="accent5"/>
          </a:fillRef>
          <a:effectRef idx="1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/>
              <a:t>Память инструкций</a:t>
            </a:r>
            <a:endParaRPr lang="en-US" sz="1600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E2C172C-D6AA-4AAC-D5DD-4D396B9B6D3A}"/>
              </a:ext>
            </a:extLst>
          </p:cNvPr>
          <p:cNvSpPr/>
          <p:nvPr/>
        </p:nvSpPr>
        <p:spPr>
          <a:xfrm>
            <a:off x="10632759" y="3628708"/>
            <a:ext cx="1297984" cy="813662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1600" dirty="0"/>
              <a:t>Память данных</a:t>
            </a:r>
            <a:endParaRPr lang="en-US" sz="1600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FDD28DD-BB61-7E42-CFA4-F2979E89FED4}"/>
              </a:ext>
            </a:extLst>
          </p:cNvPr>
          <p:cNvSpPr/>
          <p:nvPr/>
        </p:nvSpPr>
        <p:spPr>
          <a:xfrm>
            <a:off x="8559857" y="4993187"/>
            <a:ext cx="1569206" cy="813662"/>
          </a:xfrm>
          <a:prstGeom prst="rect">
            <a:avLst/>
          </a:prstGeom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sz="1600" dirty="0"/>
              <a:t>Ввод-вывод</a:t>
            </a:r>
            <a:endParaRPr lang="en-US" sz="1600" dirty="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90DD4E85-B09E-D0AC-7EB7-6BADB908D5BA}"/>
              </a:ext>
            </a:extLst>
          </p:cNvPr>
          <p:cNvSpPr/>
          <p:nvPr/>
        </p:nvSpPr>
        <p:spPr>
          <a:xfrm>
            <a:off x="8559857" y="2264229"/>
            <a:ext cx="1569206" cy="813662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ALU</a:t>
            </a:r>
          </a:p>
        </p:txBody>
      </p:sp>
      <p:sp>
        <p:nvSpPr>
          <p:cNvPr id="10" name="Arrow: Left-Right 9">
            <a:extLst>
              <a:ext uri="{FF2B5EF4-FFF2-40B4-BE49-F238E27FC236}">
                <a16:creationId xmlns:a16="http://schemas.microsoft.com/office/drawing/2014/main" id="{2AA48B5F-3AE7-50B6-AFCA-34DE85F2F9FC}"/>
              </a:ext>
            </a:extLst>
          </p:cNvPr>
          <p:cNvSpPr/>
          <p:nvPr/>
        </p:nvSpPr>
        <p:spPr>
          <a:xfrm>
            <a:off x="7968983" y="3895926"/>
            <a:ext cx="678052" cy="370639"/>
          </a:xfrm>
          <a:prstGeom prst="leftRightArrow">
            <a:avLst>
              <a:gd name="adj1" fmla="val 50000"/>
              <a:gd name="adj2" fmla="val 4619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2" name="Arrow: Up-Down 11">
            <a:extLst>
              <a:ext uri="{FF2B5EF4-FFF2-40B4-BE49-F238E27FC236}">
                <a16:creationId xmlns:a16="http://schemas.microsoft.com/office/drawing/2014/main" id="{C7F251CB-88C0-32F0-2BFD-E55A01821B36}"/>
              </a:ext>
            </a:extLst>
          </p:cNvPr>
          <p:cNvSpPr/>
          <p:nvPr/>
        </p:nvSpPr>
        <p:spPr>
          <a:xfrm>
            <a:off x="9174898" y="4353276"/>
            <a:ext cx="360870" cy="72900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5" name="Arrow: Up-Down 14">
            <a:extLst>
              <a:ext uri="{FF2B5EF4-FFF2-40B4-BE49-F238E27FC236}">
                <a16:creationId xmlns:a16="http://schemas.microsoft.com/office/drawing/2014/main" id="{4CECC7FD-B229-F0F9-7234-F3283E992373}"/>
              </a:ext>
            </a:extLst>
          </p:cNvPr>
          <p:cNvSpPr/>
          <p:nvPr/>
        </p:nvSpPr>
        <p:spPr>
          <a:xfrm>
            <a:off x="9174898" y="2984359"/>
            <a:ext cx="360870" cy="729006"/>
          </a:xfrm>
          <a:prstGeom prst="up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  <p:sp>
        <p:nvSpPr>
          <p:cNvPr id="16" name="Arrow: Left-Right 15">
            <a:extLst>
              <a:ext uri="{FF2B5EF4-FFF2-40B4-BE49-F238E27FC236}">
                <a16:creationId xmlns:a16="http://schemas.microsoft.com/office/drawing/2014/main" id="{FA2C459D-4F03-423A-821D-3CEAA204E28A}"/>
              </a:ext>
            </a:extLst>
          </p:cNvPr>
          <p:cNvSpPr/>
          <p:nvPr/>
        </p:nvSpPr>
        <p:spPr>
          <a:xfrm>
            <a:off x="10041885" y="3895925"/>
            <a:ext cx="678052" cy="370639"/>
          </a:xfrm>
          <a:prstGeom prst="leftRightArrow">
            <a:avLst>
              <a:gd name="adj1" fmla="val 50000"/>
              <a:gd name="adj2" fmla="val 46196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4140324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99468B-E0CA-E433-3008-30F59463E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Память</a:t>
            </a:r>
            <a:r>
              <a:rPr lang="en-US" dirty="0"/>
              <a:t> в AVR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B51814-731B-9F70-4E5E-3AB9A75E25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Основные</a:t>
            </a:r>
            <a:r>
              <a:rPr lang="en-US" dirty="0"/>
              <a:t> </a:t>
            </a:r>
            <a:r>
              <a:rPr lang="en-US" dirty="0" err="1"/>
              <a:t>типы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endParaRPr lang="en-US" dirty="0"/>
          </a:p>
          <a:p>
            <a:pPr lvl="1"/>
            <a:r>
              <a:rPr lang="en-US" dirty="0"/>
              <a:t>Flash memory – </a:t>
            </a:r>
            <a:r>
              <a:rPr lang="en-US" dirty="0" err="1"/>
              <a:t>хранение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endParaRPr lang="ru-RU" dirty="0"/>
          </a:p>
          <a:p>
            <a:pPr lvl="2"/>
            <a:r>
              <a:rPr lang="en-US" dirty="0"/>
              <a:t>ATmega328: </a:t>
            </a:r>
            <a:r>
              <a:rPr lang="ru-RU" dirty="0"/>
              <a:t>32</a:t>
            </a:r>
            <a:r>
              <a:rPr lang="en-US" dirty="0"/>
              <a:t>KB</a:t>
            </a:r>
          </a:p>
          <a:p>
            <a:pPr lvl="1"/>
            <a:r>
              <a:rPr lang="en-US" dirty="0"/>
              <a:t>SRAM- </a:t>
            </a:r>
            <a:r>
              <a:rPr lang="en-US" dirty="0" err="1"/>
              <a:t>хранение</a:t>
            </a:r>
            <a:r>
              <a:rPr lang="en-US" dirty="0"/>
              <a:t>  </a:t>
            </a:r>
            <a:r>
              <a:rPr lang="en-US" dirty="0" err="1"/>
              <a:t>данных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</a:t>
            </a:r>
            <a:r>
              <a:rPr lang="en-US" dirty="0" err="1"/>
              <a:t>время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</a:p>
          <a:p>
            <a:pPr lvl="2"/>
            <a:r>
              <a:rPr lang="en-US" dirty="0"/>
              <a:t>ATmega328: 2KB</a:t>
            </a:r>
          </a:p>
          <a:p>
            <a:pPr lvl="1"/>
            <a:r>
              <a:rPr lang="en-US" dirty="0"/>
              <a:t>EEPROM – </a:t>
            </a:r>
            <a:r>
              <a:rPr lang="en-US" dirty="0" err="1"/>
              <a:t>энергонезависимое</a:t>
            </a:r>
            <a:r>
              <a:rPr lang="en-US" dirty="0"/>
              <a:t>  </a:t>
            </a:r>
            <a:r>
              <a:rPr lang="en-US" dirty="0" err="1"/>
              <a:t>хранение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</a:p>
          <a:p>
            <a:pPr lvl="2"/>
            <a:r>
              <a:rPr lang="en-US" dirty="0"/>
              <a:t>ATmega328: 1KB</a:t>
            </a:r>
          </a:p>
          <a:p>
            <a:r>
              <a:rPr lang="en-US" dirty="0" err="1"/>
              <a:t>Особенности</a:t>
            </a:r>
            <a:endParaRPr lang="en-US" dirty="0"/>
          </a:p>
          <a:p>
            <a:pPr lvl="1"/>
            <a:r>
              <a:rPr lang="en-US" dirty="0" err="1"/>
              <a:t>небольшой</a:t>
            </a:r>
            <a:r>
              <a:rPr lang="en-US" dirty="0"/>
              <a:t> </a:t>
            </a:r>
            <a:r>
              <a:rPr lang="en-US" dirty="0" err="1"/>
              <a:t>объём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отсутствие</a:t>
            </a:r>
            <a:r>
              <a:rPr lang="en-US" dirty="0"/>
              <a:t> </a:t>
            </a:r>
            <a:r>
              <a:rPr lang="en-US" dirty="0" err="1"/>
              <a:t>виртуальной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прямой</a:t>
            </a:r>
            <a:r>
              <a:rPr lang="en-US" dirty="0"/>
              <a:t> </a:t>
            </a:r>
            <a:r>
              <a:rPr lang="en-US" dirty="0" err="1"/>
              <a:t>контроль</a:t>
            </a:r>
            <a:r>
              <a:rPr lang="en-US" dirty="0"/>
              <a:t> </a:t>
            </a:r>
            <a:r>
              <a:rPr lang="en-US" dirty="0" err="1"/>
              <a:t>над</a:t>
            </a:r>
            <a:r>
              <a:rPr lang="en-US" dirty="0"/>
              <a:t> </a:t>
            </a:r>
            <a:r>
              <a:rPr lang="en-US" dirty="0" err="1"/>
              <a:t>размещением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8797727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57B312-B761-3815-672C-79A6E39E6A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Регистры</a:t>
            </a:r>
            <a:r>
              <a:rPr lang="en-US" dirty="0"/>
              <a:t> AVR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33C75B-C39E-D0D6-3E50-61BA461968A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649686" cy="4351338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AVR </a:t>
            </a:r>
            <a:r>
              <a:rPr lang="en-US" dirty="0" err="1"/>
              <a:t>содержит</a:t>
            </a:r>
            <a:r>
              <a:rPr lang="en-US" dirty="0"/>
              <a:t> 32 </a:t>
            </a:r>
            <a:r>
              <a:rPr lang="en-US" dirty="0" err="1"/>
              <a:t>регистра</a:t>
            </a:r>
            <a:r>
              <a:rPr lang="en-US" dirty="0"/>
              <a:t> </a:t>
            </a:r>
            <a:r>
              <a:rPr lang="en-US" dirty="0" err="1"/>
              <a:t>общего</a:t>
            </a:r>
            <a:r>
              <a:rPr lang="en-US" dirty="0"/>
              <a:t> </a:t>
            </a:r>
            <a:r>
              <a:rPr lang="en-US" dirty="0" err="1"/>
              <a:t>назначения</a:t>
            </a:r>
            <a:r>
              <a:rPr lang="en-US" dirty="0"/>
              <a:t>: R0–R31</a:t>
            </a:r>
          </a:p>
          <a:p>
            <a:r>
              <a:rPr lang="en-US" dirty="0" err="1"/>
              <a:t>Особенности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большинство</a:t>
            </a:r>
            <a:r>
              <a:rPr lang="en-US" dirty="0"/>
              <a:t> </a:t>
            </a:r>
            <a:r>
              <a:rPr lang="en-US" dirty="0" err="1"/>
              <a:t>арифметических</a:t>
            </a:r>
            <a:r>
              <a:rPr lang="en-US" dirty="0"/>
              <a:t> </a:t>
            </a:r>
            <a:r>
              <a:rPr lang="en-US" dirty="0" err="1"/>
              <a:t>операций</a:t>
            </a:r>
            <a:r>
              <a:rPr lang="en-US" dirty="0"/>
              <a:t> </a:t>
            </a:r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над</a:t>
            </a:r>
            <a:r>
              <a:rPr lang="en-US" dirty="0"/>
              <a:t> </a:t>
            </a:r>
            <a:r>
              <a:rPr lang="en-US" dirty="0" err="1"/>
              <a:t>регистрами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многие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 </a:t>
            </a:r>
            <a:r>
              <a:rPr lang="en-US" dirty="0" err="1"/>
              <a:t>выполняются</a:t>
            </a:r>
            <a:r>
              <a:rPr lang="en-US" dirty="0"/>
              <a:t> </a:t>
            </a:r>
            <a:r>
              <a:rPr lang="en-US" dirty="0" err="1"/>
              <a:t>за</a:t>
            </a:r>
            <a:r>
              <a:rPr lang="en-US" dirty="0"/>
              <a:t> 1 </a:t>
            </a:r>
            <a:r>
              <a:rPr lang="en-US" dirty="0" err="1"/>
              <a:t>такт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регистры</a:t>
            </a:r>
            <a:r>
              <a:rPr lang="en-US" dirty="0"/>
              <a:t> X, Y, Z </a:t>
            </a:r>
            <a:r>
              <a:rPr lang="en-US" dirty="0" err="1"/>
              <a:t>используются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указатели</a:t>
            </a:r>
            <a:r>
              <a:rPr lang="en-US" dirty="0"/>
              <a:t> </a:t>
            </a:r>
          </a:p>
          <a:p>
            <a:pPr lvl="2"/>
            <a:r>
              <a:rPr lang="en-US" dirty="0"/>
              <a:t>X = R27:R26 </a:t>
            </a:r>
          </a:p>
          <a:p>
            <a:pPr lvl="2"/>
            <a:r>
              <a:rPr lang="en-US" dirty="0"/>
              <a:t>Y = R29:R28 </a:t>
            </a:r>
          </a:p>
          <a:p>
            <a:pPr lvl="2"/>
            <a:r>
              <a:rPr lang="en-US" dirty="0"/>
              <a:t>Z = R31:R30</a:t>
            </a:r>
          </a:p>
          <a:p>
            <a:endParaRPr lang="en-US" dirty="0"/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3C92AF09-2B90-4E89-C58B-AFE32DA66F9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7942567" y="1855338"/>
            <a:ext cx="3861789" cy="319871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4B4B5F3-3495-5A9C-EDDA-5FB26BFB953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0107" y="5054053"/>
            <a:ext cx="5150893" cy="18039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9791607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309A04E-4062-E7D9-18B9-26D2025C8E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Система</a:t>
            </a:r>
            <a:r>
              <a:rPr lang="en-US" dirty="0"/>
              <a:t> </a:t>
            </a:r>
            <a:r>
              <a:rPr lang="en-US" dirty="0" err="1"/>
              <a:t>команд</a:t>
            </a:r>
            <a:r>
              <a:rPr lang="en-US" dirty="0"/>
              <a:t> AVR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4012AF-DF20-98F3-EBBE-FDCA6BEB7A2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 err="1"/>
              <a:t>Передача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MOV </a:t>
            </a:r>
          </a:p>
          <a:p>
            <a:pPr lvl="1"/>
            <a:r>
              <a:rPr lang="en-US" dirty="0"/>
              <a:t>LD </a:t>
            </a:r>
          </a:p>
          <a:p>
            <a:pPr lvl="1"/>
            <a:r>
              <a:rPr lang="en-US" dirty="0"/>
              <a:t>ST </a:t>
            </a:r>
          </a:p>
          <a:p>
            <a:pPr lvl="1"/>
            <a:r>
              <a:rPr lang="en-US" dirty="0"/>
              <a:t>LDI </a:t>
            </a:r>
          </a:p>
          <a:p>
            <a:pPr lvl="1"/>
            <a:r>
              <a:rPr lang="en-US" dirty="0"/>
              <a:t>LDS </a:t>
            </a:r>
          </a:p>
          <a:p>
            <a:pPr lvl="1"/>
            <a:r>
              <a:rPr lang="en-US" dirty="0"/>
              <a:t>STS </a:t>
            </a:r>
          </a:p>
          <a:p>
            <a:r>
              <a:rPr lang="en-US" dirty="0" err="1"/>
              <a:t>Арифметические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ADD </a:t>
            </a:r>
          </a:p>
          <a:p>
            <a:pPr lvl="1"/>
            <a:r>
              <a:rPr lang="en-US" dirty="0"/>
              <a:t>ADC </a:t>
            </a:r>
          </a:p>
          <a:p>
            <a:pPr lvl="1"/>
            <a:r>
              <a:rPr lang="en-US" dirty="0"/>
              <a:t>SUB </a:t>
            </a:r>
          </a:p>
          <a:p>
            <a:pPr lvl="1"/>
            <a:r>
              <a:rPr lang="en-US" dirty="0"/>
              <a:t>SBC </a:t>
            </a:r>
          </a:p>
          <a:p>
            <a:pPr lvl="1"/>
            <a:r>
              <a:rPr lang="en-US" dirty="0"/>
              <a:t>INC </a:t>
            </a:r>
          </a:p>
          <a:p>
            <a:pPr lvl="1"/>
            <a:r>
              <a:rPr lang="en-US" dirty="0"/>
              <a:t>DEC </a:t>
            </a:r>
          </a:p>
          <a:p>
            <a:r>
              <a:rPr lang="en-US" dirty="0" err="1"/>
              <a:t>Ввод-вывод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IN </a:t>
            </a:r>
          </a:p>
          <a:p>
            <a:pPr lvl="1"/>
            <a:r>
              <a:rPr lang="en-US" dirty="0"/>
              <a:t>OUT</a:t>
            </a:r>
          </a:p>
          <a:p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94E30A5-6522-38F5-1014-245AF1309A1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 err="1"/>
              <a:t>Логические</a:t>
            </a:r>
            <a:r>
              <a:rPr lang="en-US" dirty="0"/>
              <a:t> </a:t>
            </a:r>
            <a:r>
              <a:rPr lang="en-US" dirty="0" err="1"/>
              <a:t>операции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AND </a:t>
            </a:r>
          </a:p>
          <a:p>
            <a:pPr lvl="1"/>
            <a:r>
              <a:rPr lang="en-US" dirty="0"/>
              <a:t>OR </a:t>
            </a:r>
          </a:p>
          <a:p>
            <a:pPr lvl="1"/>
            <a:r>
              <a:rPr lang="en-US" dirty="0"/>
              <a:t>EOR </a:t>
            </a:r>
          </a:p>
          <a:p>
            <a:pPr lvl="1"/>
            <a:r>
              <a:rPr lang="en-US" dirty="0"/>
              <a:t>COM </a:t>
            </a:r>
          </a:p>
          <a:p>
            <a:pPr lvl="1"/>
            <a:r>
              <a:rPr lang="en-US" dirty="0"/>
              <a:t>TST </a:t>
            </a:r>
          </a:p>
          <a:p>
            <a:r>
              <a:rPr lang="en-US" dirty="0" err="1"/>
              <a:t>Сдвиги</a:t>
            </a:r>
            <a:r>
              <a:rPr lang="en-US" dirty="0"/>
              <a:t> и </a:t>
            </a:r>
            <a:r>
              <a:rPr lang="en-US" dirty="0" err="1"/>
              <a:t>работа</a:t>
            </a:r>
            <a:r>
              <a:rPr lang="en-US" dirty="0"/>
              <a:t> с </a:t>
            </a:r>
            <a:r>
              <a:rPr lang="en-US" dirty="0" err="1"/>
              <a:t>битами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LSL </a:t>
            </a:r>
          </a:p>
          <a:p>
            <a:pPr lvl="1"/>
            <a:r>
              <a:rPr lang="en-US" dirty="0"/>
              <a:t>LSR </a:t>
            </a:r>
          </a:p>
          <a:p>
            <a:pPr lvl="1"/>
            <a:r>
              <a:rPr lang="en-US" dirty="0"/>
              <a:t>ROL </a:t>
            </a:r>
          </a:p>
          <a:p>
            <a:pPr lvl="1"/>
            <a:r>
              <a:rPr lang="en-US" dirty="0"/>
              <a:t>ROR </a:t>
            </a:r>
          </a:p>
          <a:p>
            <a:pPr lvl="1"/>
            <a:r>
              <a:rPr lang="en-US" dirty="0"/>
              <a:t>SBI </a:t>
            </a:r>
          </a:p>
          <a:p>
            <a:pPr lvl="1"/>
            <a:r>
              <a:rPr lang="en-US" dirty="0"/>
              <a:t>CBI </a:t>
            </a:r>
          </a:p>
          <a:p>
            <a:r>
              <a:rPr lang="en-US" dirty="0" err="1"/>
              <a:t>Переходы</a:t>
            </a:r>
            <a:r>
              <a:rPr lang="en-US" dirty="0"/>
              <a:t> и </a:t>
            </a:r>
            <a:r>
              <a:rPr lang="en-US" dirty="0" err="1"/>
              <a:t>вызовы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RJMP </a:t>
            </a:r>
          </a:p>
          <a:p>
            <a:pPr lvl="1"/>
            <a:r>
              <a:rPr lang="en-US" dirty="0"/>
              <a:t>BRNE </a:t>
            </a:r>
          </a:p>
          <a:p>
            <a:pPr lvl="1"/>
            <a:r>
              <a:rPr lang="en-US" dirty="0"/>
              <a:t>BREQ </a:t>
            </a:r>
          </a:p>
          <a:p>
            <a:pPr lvl="1"/>
            <a:r>
              <a:rPr lang="en-US" dirty="0"/>
              <a:t>CALL </a:t>
            </a:r>
          </a:p>
          <a:p>
            <a:pPr lvl="1"/>
            <a:r>
              <a:rPr lang="en-US" dirty="0"/>
              <a:t>RET </a:t>
            </a:r>
          </a:p>
        </p:txBody>
      </p:sp>
    </p:spTree>
    <p:extLst>
      <p:ext uri="{BB962C8B-B14F-4D97-AF65-F5344CB8AC3E}">
        <p14:creationId xmlns:p14="http://schemas.microsoft.com/office/powerpoint/2010/main" val="41623268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52506-5B31-13B9-84CA-03161B4854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Адресное</a:t>
            </a:r>
            <a:r>
              <a:rPr lang="en-US" dirty="0"/>
              <a:t> </a:t>
            </a:r>
            <a:r>
              <a:rPr lang="en-US" dirty="0" err="1"/>
              <a:t>пространство</a:t>
            </a:r>
            <a:r>
              <a:rPr lang="en-US" dirty="0"/>
              <a:t> ATmega328P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B5C872-7C85-9294-5928-DC171212117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199" y="1825625"/>
            <a:ext cx="5584371" cy="4351338"/>
          </a:xfrm>
        </p:spPr>
        <p:txBody>
          <a:bodyPr>
            <a:normAutofit lnSpcReduction="10000"/>
          </a:bodyPr>
          <a:lstStyle/>
          <a:p>
            <a:r>
              <a:rPr lang="en-US" dirty="0" err="1"/>
              <a:t>Особенности</a:t>
            </a:r>
            <a:endParaRPr lang="en-US" dirty="0"/>
          </a:p>
          <a:p>
            <a:pPr lvl="1"/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общего</a:t>
            </a:r>
            <a:r>
              <a:rPr lang="en-US" dirty="0"/>
              <a:t> </a:t>
            </a:r>
            <a:r>
              <a:rPr lang="en-US" dirty="0" err="1"/>
              <a:t>назначения</a:t>
            </a:r>
            <a:r>
              <a:rPr lang="en-US" dirty="0"/>
              <a:t> </a:t>
            </a:r>
            <a:r>
              <a:rPr lang="en-US" dirty="0" err="1"/>
              <a:t>отображены</a:t>
            </a:r>
            <a:r>
              <a:rPr lang="en-US" dirty="0"/>
              <a:t> в </a:t>
            </a:r>
            <a:r>
              <a:rPr lang="en-US" dirty="0" err="1"/>
              <a:t>адресное</a:t>
            </a:r>
            <a:r>
              <a:rPr lang="en-US" dirty="0"/>
              <a:t> </a:t>
            </a:r>
            <a:r>
              <a:rPr lang="en-US" dirty="0" err="1"/>
              <a:t>пространство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I/O-</a:t>
            </a:r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доступны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специальные</a:t>
            </a:r>
            <a:r>
              <a:rPr lang="en-US" dirty="0"/>
              <a:t> </a:t>
            </a:r>
            <a:r>
              <a:rPr lang="en-US" dirty="0" err="1"/>
              <a:t>инструкции</a:t>
            </a:r>
            <a:r>
              <a:rPr lang="en-US" dirty="0"/>
              <a:t>, </a:t>
            </a:r>
            <a:r>
              <a:rPr lang="en-US" dirty="0" err="1"/>
              <a:t>так</a:t>
            </a:r>
            <a:r>
              <a:rPr lang="en-US" dirty="0"/>
              <a:t> и </a:t>
            </a:r>
            <a:r>
              <a:rPr lang="en-US" dirty="0" err="1"/>
              <a:t>через</a:t>
            </a:r>
            <a:r>
              <a:rPr lang="en-US" dirty="0"/>
              <a:t> </a:t>
            </a:r>
            <a:r>
              <a:rPr lang="en-US" dirty="0" err="1"/>
              <a:t>память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Stack Pointer </a:t>
            </a:r>
            <a:r>
              <a:rPr lang="en-US" dirty="0" err="1"/>
              <a:t>хранится</a:t>
            </a:r>
            <a:r>
              <a:rPr lang="en-US" dirty="0"/>
              <a:t> в </a:t>
            </a:r>
            <a:r>
              <a:rPr lang="en-US" dirty="0" err="1"/>
              <a:t>специальных</a:t>
            </a:r>
            <a:r>
              <a:rPr lang="en-US" dirty="0"/>
              <a:t> I/O-</a:t>
            </a:r>
            <a:r>
              <a:rPr lang="en-US" dirty="0" err="1"/>
              <a:t>регистрах</a:t>
            </a:r>
            <a:r>
              <a:rPr lang="en-US" dirty="0"/>
              <a:t>: </a:t>
            </a:r>
          </a:p>
          <a:p>
            <a:pPr lvl="2"/>
            <a:r>
              <a:rPr lang="en-US" dirty="0"/>
              <a:t>SPL – 0x003D</a:t>
            </a:r>
          </a:p>
          <a:p>
            <a:pPr lvl="2"/>
            <a:r>
              <a:rPr lang="en-US" dirty="0"/>
              <a:t>SPH </a:t>
            </a:r>
            <a:r>
              <a:rPr lang="ru-RU" dirty="0"/>
              <a:t>– 0</a:t>
            </a:r>
            <a:r>
              <a:rPr lang="en-US" dirty="0"/>
              <a:t>x003E</a:t>
            </a:r>
          </a:p>
          <a:p>
            <a:pPr lvl="1"/>
            <a:r>
              <a:rPr lang="en-US" dirty="0" err="1"/>
              <a:t>стек</a:t>
            </a:r>
            <a:r>
              <a:rPr lang="en-US" dirty="0"/>
              <a:t> </a:t>
            </a:r>
            <a:r>
              <a:rPr lang="en-US" dirty="0" err="1"/>
              <a:t>располагается</a:t>
            </a:r>
            <a:r>
              <a:rPr lang="en-US" dirty="0"/>
              <a:t> в SRAM</a:t>
            </a:r>
          </a:p>
          <a:p>
            <a:endParaRPr lang="en-US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E114CE2C-04D7-C24E-BB70-CCE628E3FE13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1105854835"/>
              </p:ext>
            </p:extLst>
          </p:nvPr>
        </p:nvGraphicFramePr>
        <p:xfrm>
          <a:off x="6716485" y="1825625"/>
          <a:ext cx="5018315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7139">
                  <a:extLst>
                    <a:ext uri="{9D8B030D-6E8A-4147-A177-3AD203B41FA5}">
                      <a16:colId xmlns:a16="http://schemas.microsoft.com/office/drawing/2014/main" val="487488085"/>
                    </a:ext>
                  </a:extLst>
                </a:gridCol>
                <a:gridCol w="3131176">
                  <a:extLst>
                    <a:ext uri="{9D8B030D-6E8A-4147-A177-3AD203B41FA5}">
                      <a16:colId xmlns:a16="http://schemas.microsoft.com/office/drawing/2014/main" val="241174250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Адреса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Назначение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525847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0x0000-0x001F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Регистры общего назначения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53388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0x0020-0x005F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I/O</a:t>
                      </a:r>
                      <a:r>
                        <a:rPr lang="ru-RU" dirty="0"/>
                        <a:t> регистры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196794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0x0060-0x00FF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Extended I/O</a:t>
                      </a:r>
                      <a:r>
                        <a:rPr lang="ru-RU" dirty="0"/>
                        <a:t> регистры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49737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0x0100-…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SRAM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835329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76882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0BAF2-ED6F-6E81-E09D-E6CD3BC445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AVR и embedded-</a:t>
            </a:r>
            <a:r>
              <a:rPr lang="en-US" dirty="0" err="1"/>
              <a:t>разработка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C48F08-8817-E51B-0F65-93C3A45600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Особенности</a:t>
            </a:r>
            <a:r>
              <a:rPr lang="en-US" dirty="0"/>
              <a:t> AVR </a:t>
            </a:r>
            <a:r>
              <a:rPr lang="en-US" dirty="0" err="1"/>
              <a:t>как</a:t>
            </a:r>
            <a:r>
              <a:rPr lang="en-US" dirty="0"/>
              <a:t> embedded-</a:t>
            </a:r>
            <a:r>
              <a:rPr lang="en-US" dirty="0" err="1"/>
              <a:t>платформы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предсказуемое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 </a:t>
            </a:r>
            <a:r>
              <a:rPr lang="en-US" dirty="0" err="1"/>
              <a:t>инструкций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низкое</a:t>
            </a:r>
            <a:r>
              <a:rPr lang="en-US" dirty="0"/>
              <a:t> </a:t>
            </a:r>
            <a:r>
              <a:rPr lang="en-US" dirty="0" err="1"/>
              <a:t>энергопотребление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непосредственный</a:t>
            </a:r>
            <a:r>
              <a:rPr lang="en-US" dirty="0"/>
              <a:t> </a:t>
            </a:r>
            <a:r>
              <a:rPr lang="en-US" dirty="0" err="1"/>
              <a:t>доступ</a:t>
            </a:r>
            <a:r>
              <a:rPr lang="en-US" dirty="0"/>
              <a:t> к </a:t>
            </a:r>
            <a:r>
              <a:rPr lang="en-US" dirty="0" err="1"/>
              <a:t>периферии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работа</a:t>
            </a:r>
            <a:r>
              <a:rPr lang="en-US" dirty="0"/>
              <a:t> </a:t>
            </a:r>
            <a:r>
              <a:rPr lang="en-US" dirty="0" err="1"/>
              <a:t>без</a:t>
            </a:r>
            <a:r>
              <a:rPr lang="en-US" dirty="0"/>
              <a:t> </a:t>
            </a:r>
            <a:r>
              <a:rPr lang="en-US" dirty="0" err="1"/>
              <a:t>операционной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ограниченные</a:t>
            </a:r>
            <a:r>
              <a:rPr lang="en-US" dirty="0"/>
              <a:t> </a:t>
            </a:r>
            <a:r>
              <a:rPr lang="en-US" dirty="0" err="1"/>
              <a:t>ресурсы</a:t>
            </a:r>
            <a:r>
              <a:rPr lang="en-US" dirty="0"/>
              <a:t> </a:t>
            </a:r>
          </a:p>
          <a:p>
            <a:r>
              <a:rPr lang="en-US" dirty="0" err="1"/>
              <a:t>Следствие</a:t>
            </a:r>
            <a:r>
              <a:rPr lang="en-US" dirty="0"/>
              <a:t>:</a:t>
            </a:r>
            <a:r>
              <a:rPr lang="ru-RU" dirty="0"/>
              <a:t> </a:t>
            </a:r>
            <a:r>
              <a:rPr lang="en-US" dirty="0" err="1"/>
              <a:t>программа</a:t>
            </a:r>
            <a:r>
              <a:rPr lang="en-US" dirty="0"/>
              <a:t> </a:t>
            </a:r>
            <a:r>
              <a:rPr lang="en-US" dirty="0" err="1"/>
              <a:t>тесно</a:t>
            </a:r>
            <a:r>
              <a:rPr lang="en-US" dirty="0"/>
              <a:t> </a:t>
            </a:r>
            <a:r>
              <a:rPr lang="en-US" dirty="0" err="1"/>
              <a:t>связана</a:t>
            </a:r>
            <a:r>
              <a:rPr lang="en-US" dirty="0"/>
              <a:t> с </a:t>
            </a:r>
            <a:r>
              <a:rPr lang="en-US" dirty="0" err="1"/>
              <a:t>аппаратной</a:t>
            </a:r>
            <a:r>
              <a:rPr lang="en-US" dirty="0"/>
              <a:t> </a:t>
            </a:r>
            <a:r>
              <a:rPr lang="en-US" dirty="0" err="1"/>
              <a:t>архитектурой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0066803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2F664-1276-FBBE-EBA9-0039ABDBCC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пространства</a:t>
            </a:r>
            <a:r>
              <a:rPr lang="en-US" dirty="0"/>
              <a:t> </a:t>
            </a:r>
            <a:r>
              <a:rPr lang="en-US" dirty="0" err="1"/>
              <a:t>адресов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I/O-</a:t>
            </a:r>
            <a:r>
              <a:rPr lang="en-US" dirty="0" err="1"/>
              <a:t>регистров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D6960CF-53AC-256F-5CC7-76A1446050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В AVR I/O-</a:t>
            </a:r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имеют</a:t>
            </a:r>
            <a:r>
              <a:rPr lang="en-US" dirty="0"/>
              <a:t> </a:t>
            </a:r>
            <a:r>
              <a:rPr lang="en-US" dirty="0" err="1"/>
              <a:t>два</a:t>
            </a:r>
            <a:r>
              <a:rPr lang="en-US" dirty="0"/>
              <a:t> </a:t>
            </a:r>
            <a:r>
              <a:rPr lang="en-US" dirty="0" err="1"/>
              <a:t>адреса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I/O address </a:t>
            </a:r>
          </a:p>
          <a:p>
            <a:pPr lvl="1"/>
            <a:r>
              <a:rPr lang="en-US" dirty="0"/>
              <a:t>Data memory address</a:t>
            </a:r>
            <a:r>
              <a:rPr lang="ru-RU" dirty="0"/>
              <a:t> </a:t>
            </a:r>
            <a:r>
              <a:rPr lang="en-US" dirty="0"/>
              <a:t>= I/O address + 0x20</a:t>
            </a:r>
            <a:endParaRPr lang="ru-RU" dirty="0"/>
          </a:p>
          <a:p>
            <a:r>
              <a:rPr lang="ru-RU" dirty="0"/>
              <a:t>Пример:</a:t>
            </a:r>
          </a:p>
          <a:p>
            <a:pPr lvl="1"/>
            <a:r>
              <a:rPr lang="en-US" dirty="0"/>
              <a:t>SPL – 0x3D (0x5D)</a:t>
            </a:r>
          </a:p>
          <a:p>
            <a:pPr lvl="2"/>
            <a:r>
              <a:rPr lang="en-US" dirty="0"/>
              <a:t>I/O </a:t>
            </a:r>
            <a:r>
              <a:rPr lang="ru-RU" dirty="0"/>
              <a:t>адрес </a:t>
            </a:r>
            <a:r>
              <a:rPr lang="en-US" dirty="0"/>
              <a:t>= 0x3D</a:t>
            </a:r>
          </a:p>
          <a:p>
            <a:pPr lvl="2"/>
            <a:r>
              <a:rPr lang="en-US" dirty="0"/>
              <a:t>Data memory address = 0x5D</a:t>
            </a:r>
          </a:p>
          <a:p>
            <a:r>
              <a:rPr lang="ru-RU" dirty="0"/>
              <a:t>Доступ к регистру:</a:t>
            </a:r>
          </a:p>
          <a:p>
            <a:pPr lvl="1"/>
            <a:r>
              <a:rPr lang="ru-RU" dirty="0"/>
              <a:t>Через </a:t>
            </a:r>
            <a:r>
              <a:rPr lang="en-US" dirty="0"/>
              <a:t>I/O </a:t>
            </a:r>
            <a:r>
              <a:rPr lang="ru-RU" dirty="0"/>
              <a:t>инструкции</a:t>
            </a:r>
            <a:r>
              <a:rPr lang="en-US" dirty="0"/>
              <a:t>:</a:t>
            </a:r>
          </a:p>
          <a:p>
            <a:pPr lvl="2"/>
            <a:r>
              <a:rPr lang="en-US" dirty="0"/>
              <a:t>in r16, 0x3D</a:t>
            </a:r>
          </a:p>
          <a:p>
            <a:pPr lvl="1"/>
            <a:r>
              <a:rPr lang="ru-RU" dirty="0"/>
              <a:t>Через память данных</a:t>
            </a:r>
          </a:p>
          <a:p>
            <a:pPr lvl="2"/>
            <a:r>
              <a:rPr lang="en-US" dirty="0" err="1"/>
              <a:t>lds</a:t>
            </a:r>
            <a:r>
              <a:rPr lang="en-US" dirty="0"/>
              <a:t> r16, 0x005D</a:t>
            </a:r>
          </a:p>
          <a:p>
            <a:pPr lvl="1"/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940025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8EE57-5DDF-D5AF-8669-E86F6B96A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0B1F1589-1ED6-59A3-58C1-168B1061D4D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2969546" y="165099"/>
            <a:ext cx="6123638" cy="66929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79956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BD0537-6CBE-BABC-096F-AE654883F5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происходит</a:t>
            </a:r>
            <a:r>
              <a:rPr lang="en-US" dirty="0"/>
              <a:t> </a:t>
            </a:r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загрузки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9E6E6-9EC7-D272-4E42-968F007DC9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 err="1"/>
              <a:t>После</a:t>
            </a:r>
            <a:r>
              <a:rPr lang="en-US" dirty="0"/>
              <a:t> </a:t>
            </a:r>
            <a:r>
              <a:rPr lang="en-US" dirty="0" err="1"/>
              <a:t>сброса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ru-RU" dirty="0"/>
              <a:t> </a:t>
            </a:r>
            <a:r>
              <a:rPr lang="en-US" dirty="0"/>
              <a:t>CPU </a:t>
            </a:r>
            <a:r>
              <a:rPr lang="en-US" dirty="0" err="1"/>
              <a:t>начинает</a:t>
            </a:r>
            <a:r>
              <a:rPr lang="en-US" dirty="0"/>
              <a:t> </a:t>
            </a:r>
            <a:r>
              <a:rPr lang="en-US" dirty="0" err="1"/>
              <a:t>выполнение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с reset vector.</a:t>
            </a:r>
          </a:p>
          <a:p>
            <a:pPr lvl="1"/>
            <a:r>
              <a:rPr lang="en-US" dirty="0" err="1"/>
              <a:t>Сброс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Загрузка</a:t>
            </a:r>
            <a:r>
              <a:rPr lang="en-US" dirty="0"/>
              <a:t> </a:t>
            </a:r>
            <a:r>
              <a:rPr lang="en-US" dirty="0" err="1"/>
              <a:t>адреса</a:t>
            </a:r>
            <a:r>
              <a:rPr lang="en-US" dirty="0"/>
              <a:t> reset vector </a:t>
            </a:r>
          </a:p>
          <a:p>
            <a:pPr lvl="1"/>
            <a:r>
              <a:rPr lang="en-US" dirty="0" err="1"/>
              <a:t>Выполнение</a:t>
            </a:r>
            <a:r>
              <a:rPr lang="en-US" dirty="0"/>
              <a:t> startup code </a:t>
            </a:r>
          </a:p>
          <a:p>
            <a:pPr lvl="1"/>
            <a:r>
              <a:rPr lang="en-US" dirty="0" err="1"/>
              <a:t>Инициализация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Настройка</a:t>
            </a:r>
            <a:r>
              <a:rPr lang="en-US" dirty="0"/>
              <a:t> Stack Pointer </a:t>
            </a:r>
          </a:p>
          <a:p>
            <a:pPr lvl="1"/>
            <a:r>
              <a:rPr lang="en-US" dirty="0" err="1"/>
              <a:t>Инициализация</a:t>
            </a:r>
            <a:r>
              <a:rPr lang="en-US" dirty="0"/>
              <a:t> </a:t>
            </a:r>
            <a:r>
              <a:rPr lang="en-US" dirty="0" err="1"/>
              <a:t>глобальных</a:t>
            </a:r>
            <a:r>
              <a:rPr lang="en-US" dirty="0"/>
              <a:t> </a:t>
            </a:r>
            <a:r>
              <a:rPr lang="en-US" dirty="0" err="1"/>
              <a:t>переменных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Вызов</a:t>
            </a:r>
            <a:r>
              <a:rPr lang="en-US" dirty="0"/>
              <a:t> main() </a:t>
            </a:r>
          </a:p>
          <a:p>
            <a:r>
              <a:rPr lang="en-US" dirty="0"/>
              <a:t>Startup code </a:t>
            </a:r>
            <a:r>
              <a:rPr lang="en-US" dirty="0" err="1"/>
              <a:t>обычно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копирует</a:t>
            </a:r>
            <a:r>
              <a:rPr lang="en-US" dirty="0"/>
              <a:t> .data </a:t>
            </a:r>
            <a:r>
              <a:rPr lang="en-US" dirty="0" err="1"/>
              <a:t>из</a:t>
            </a:r>
            <a:r>
              <a:rPr lang="en-US" dirty="0"/>
              <a:t> Flash в SRAM </a:t>
            </a:r>
            <a:r>
              <a:rPr lang="ru-RU" dirty="0"/>
              <a:t> (инициализированные глобальные переменные)</a:t>
            </a:r>
            <a:endParaRPr lang="en-US" dirty="0"/>
          </a:p>
          <a:p>
            <a:pPr lvl="1"/>
            <a:r>
              <a:rPr lang="en-US" dirty="0" err="1"/>
              <a:t>обнуляет</a:t>
            </a:r>
            <a:r>
              <a:rPr lang="en-US" dirty="0"/>
              <a:t> .</a:t>
            </a:r>
            <a:r>
              <a:rPr lang="en-US" dirty="0" err="1"/>
              <a:t>bss</a:t>
            </a:r>
            <a:r>
              <a:rPr lang="en-US" dirty="0"/>
              <a:t> </a:t>
            </a:r>
            <a:r>
              <a:rPr lang="ru-RU" dirty="0"/>
              <a:t>(глобальные переменные)</a:t>
            </a:r>
            <a:endParaRPr lang="en-US" dirty="0"/>
          </a:p>
          <a:p>
            <a:pPr lvl="1"/>
            <a:r>
              <a:rPr lang="en-US" dirty="0" err="1"/>
              <a:t>инициализирует</a:t>
            </a:r>
            <a:r>
              <a:rPr lang="en-US" dirty="0"/>
              <a:t> </a:t>
            </a:r>
            <a:r>
              <a:rPr lang="en-US" dirty="0" err="1"/>
              <a:t>стек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подготавливает</a:t>
            </a:r>
            <a:r>
              <a:rPr lang="en-US" dirty="0"/>
              <a:t> </a:t>
            </a:r>
            <a:r>
              <a:rPr lang="en-US" dirty="0" err="1"/>
              <a:t>среду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82184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213411-42FC-D39E-CAF8-E81BADCB9E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GPIO: </a:t>
            </a:r>
            <a:r>
              <a:rPr lang="en-US" dirty="0" err="1"/>
              <a:t>цифровые</a:t>
            </a:r>
            <a:r>
              <a:rPr lang="en-US" dirty="0"/>
              <a:t> </a:t>
            </a:r>
            <a:r>
              <a:rPr lang="en-US" dirty="0" err="1"/>
              <a:t>выводы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53B213-3C01-8E24-B308-055905338D4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GPIO (General Purpose Input/Output) — </a:t>
            </a:r>
            <a:r>
              <a:rPr lang="en-US" dirty="0" err="1"/>
              <a:t>универсальные</a:t>
            </a:r>
            <a:r>
              <a:rPr lang="en-US" dirty="0"/>
              <a:t> </a:t>
            </a:r>
            <a:r>
              <a:rPr lang="en-US" dirty="0" err="1"/>
              <a:t>цифровые</a:t>
            </a:r>
            <a:r>
              <a:rPr lang="en-US" dirty="0"/>
              <a:t> </a:t>
            </a:r>
            <a:r>
              <a:rPr lang="en-US" dirty="0" err="1"/>
              <a:t>выводы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.</a:t>
            </a:r>
          </a:p>
          <a:p>
            <a:r>
              <a:rPr lang="en-US" dirty="0"/>
              <a:t>GPIO </a:t>
            </a:r>
            <a:r>
              <a:rPr lang="en-US" dirty="0" err="1"/>
              <a:t>позволяют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считывать</a:t>
            </a:r>
            <a:r>
              <a:rPr lang="en-US" dirty="0"/>
              <a:t> </a:t>
            </a:r>
            <a:r>
              <a:rPr lang="en-US" dirty="0" err="1"/>
              <a:t>цифровые</a:t>
            </a:r>
            <a:r>
              <a:rPr lang="en-US" dirty="0"/>
              <a:t> </a:t>
            </a:r>
            <a:r>
              <a:rPr lang="en-US" dirty="0" err="1"/>
              <a:t>сигналы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управлять</a:t>
            </a:r>
            <a:r>
              <a:rPr lang="en-US" dirty="0"/>
              <a:t> </a:t>
            </a:r>
            <a:r>
              <a:rPr lang="en-US" dirty="0" err="1"/>
              <a:t>внешними</a:t>
            </a:r>
            <a:r>
              <a:rPr lang="en-US" dirty="0"/>
              <a:t> </a:t>
            </a:r>
            <a:r>
              <a:rPr lang="en-US" dirty="0" err="1"/>
              <a:t>устройствами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обмениваться</a:t>
            </a:r>
            <a:r>
              <a:rPr lang="en-US" dirty="0"/>
              <a:t> </a:t>
            </a:r>
            <a:r>
              <a:rPr lang="en-US" dirty="0" err="1"/>
              <a:t>простыми</a:t>
            </a:r>
            <a:r>
              <a:rPr lang="en-US" dirty="0"/>
              <a:t> </a:t>
            </a:r>
            <a:r>
              <a:rPr lang="en-US" dirty="0" err="1"/>
              <a:t>сигналами</a:t>
            </a:r>
            <a:r>
              <a:rPr lang="en-US" dirty="0"/>
              <a:t> </a:t>
            </a:r>
          </a:p>
          <a:p>
            <a:r>
              <a:rPr lang="en-US" dirty="0" err="1"/>
              <a:t>Примеры</a:t>
            </a:r>
            <a:r>
              <a:rPr lang="en-US" dirty="0"/>
              <a:t> </a:t>
            </a:r>
            <a:r>
              <a:rPr lang="en-US" dirty="0" err="1"/>
              <a:t>использования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кнопки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светодиоды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реле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датчики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дисплеи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219286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385A1-AF48-8184-073D-8F6036A4D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Режимы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GPIO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BB6900D-819D-1951-79F5-90C7383D67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вывод</a:t>
            </a:r>
            <a:r>
              <a:rPr lang="en-US" dirty="0"/>
              <a:t> GPIO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работать</a:t>
            </a:r>
            <a:r>
              <a:rPr lang="en-US" dirty="0"/>
              <a:t> в </a:t>
            </a:r>
            <a:r>
              <a:rPr lang="en-US" dirty="0" err="1"/>
              <a:t>различных</a:t>
            </a:r>
            <a:r>
              <a:rPr lang="en-US" dirty="0"/>
              <a:t> </a:t>
            </a:r>
            <a:r>
              <a:rPr lang="en-US" dirty="0" err="1"/>
              <a:t>режимах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Input – </a:t>
            </a:r>
            <a:r>
              <a:rPr lang="en-US" dirty="0" err="1"/>
              <a:t>считывание</a:t>
            </a:r>
            <a:r>
              <a:rPr lang="en-US" dirty="0"/>
              <a:t> </a:t>
            </a:r>
            <a:r>
              <a:rPr lang="en-US" dirty="0" err="1"/>
              <a:t>внешнего</a:t>
            </a:r>
            <a:r>
              <a:rPr lang="en-US" dirty="0"/>
              <a:t> </a:t>
            </a:r>
            <a:r>
              <a:rPr lang="en-US" dirty="0" err="1"/>
              <a:t>сигнала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Output – </a:t>
            </a:r>
            <a:r>
              <a:rPr lang="en-US" dirty="0" err="1"/>
              <a:t>формирование</a:t>
            </a:r>
            <a:r>
              <a:rPr lang="en-US" dirty="0"/>
              <a:t> </a:t>
            </a:r>
            <a:r>
              <a:rPr lang="en-US" dirty="0" err="1"/>
              <a:t>выходного</a:t>
            </a:r>
            <a:r>
              <a:rPr lang="en-US" dirty="0"/>
              <a:t> </a:t>
            </a:r>
            <a:r>
              <a:rPr lang="en-US" dirty="0" err="1"/>
              <a:t>сигнала</a:t>
            </a:r>
            <a:endParaRPr lang="en-US" dirty="0"/>
          </a:p>
          <a:p>
            <a:r>
              <a:rPr lang="ru-RU" dirty="0"/>
              <a:t>Логические уровни</a:t>
            </a:r>
          </a:p>
          <a:p>
            <a:pPr lvl="1"/>
            <a:r>
              <a:rPr lang="en-US" dirty="0"/>
              <a:t>LOW: </a:t>
            </a:r>
            <a:r>
              <a:rPr lang="ru-RU" dirty="0"/>
              <a:t>около 0</a:t>
            </a:r>
            <a:r>
              <a:rPr lang="en-US" dirty="0"/>
              <a:t>V</a:t>
            </a:r>
          </a:p>
          <a:p>
            <a:pPr lvl="1"/>
            <a:r>
              <a:rPr lang="en-US" dirty="0"/>
              <a:t>HIGH: </a:t>
            </a:r>
            <a:r>
              <a:rPr lang="ru-RU" dirty="0"/>
              <a:t>около 5</a:t>
            </a:r>
            <a:r>
              <a:rPr lang="en-US"/>
              <a:t>V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918617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E5E9EE-3E07-A4AC-6845-8F7C8FD8E3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Работа</a:t>
            </a:r>
            <a:r>
              <a:rPr lang="en-US" dirty="0"/>
              <a:t> с </a:t>
            </a:r>
            <a:r>
              <a:rPr lang="en-US" dirty="0" err="1"/>
              <a:t>аппаратными</a:t>
            </a:r>
            <a:r>
              <a:rPr lang="en-US" dirty="0"/>
              <a:t> </a:t>
            </a:r>
            <a:r>
              <a:rPr lang="en-US" dirty="0" err="1"/>
              <a:t>регистрами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BD3095-38AF-34BD-496E-F83A8E982B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 err="1"/>
              <a:t>Аппаратные</a:t>
            </a:r>
            <a:r>
              <a:rPr lang="en-US" dirty="0"/>
              <a:t> </a:t>
            </a:r>
            <a:r>
              <a:rPr lang="en-US" dirty="0" err="1"/>
              <a:t>регистры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</a:t>
            </a:r>
            <a:r>
              <a:rPr lang="en-US" dirty="0" err="1"/>
              <a:t>отображены</a:t>
            </a:r>
            <a:r>
              <a:rPr lang="en-US" dirty="0"/>
              <a:t> в </a:t>
            </a:r>
            <a:r>
              <a:rPr lang="en-US" dirty="0" err="1"/>
              <a:t>адресное</a:t>
            </a:r>
            <a:r>
              <a:rPr lang="en-US" dirty="0"/>
              <a:t> </a:t>
            </a:r>
            <a:r>
              <a:rPr lang="en-US" dirty="0" err="1"/>
              <a:t>пространство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r>
              <a:rPr lang="en-US" dirty="0"/>
              <a:t>.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#define PORTB (*(volatile uint8_t*)0x25)</a:t>
            </a:r>
          </a:p>
          <a:p>
            <a:r>
              <a:rPr lang="en-US" dirty="0" err="1"/>
              <a:t>Особенности</a:t>
            </a:r>
            <a:r>
              <a:rPr lang="en-US" dirty="0"/>
              <a:t> </a:t>
            </a:r>
            <a:r>
              <a:rPr lang="en-US" dirty="0" err="1"/>
              <a:t>аппаратных</a:t>
            </a:r>
            <a:r>
              <a:rPr lang="en-US" dirty="0"/>
              <a:t> </a:t>
            </a:r>
            <a:r>
              <a:rPr lang="en-US" dirty="0" err="1"/>
              <a:t>регистров</a:t>
            </a:r>
            <a:endParaRPr lang="en-US" dirty="0"/>
          </a:p>
          <a:p>
            <a:pPr lvl="1"/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изменяться</a:t>
            </a:r>
            <a:r>
              <a:rPr lang="en-US" dirty="0"/>
              <a:t> </a:t>
            </a:r>
            <a:r>
              <a:rPr lang="en-US" dirty="0" err="1"/>
              <a:t>аппаратурой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чтение</a:t>
            </a:r>
            <a:r>
              <a:rPr lang="en-US" dirty="0"/>
              <a:t> и </a:t>
            </a:r>
            <a:r>
              <a:rPr lang="en-US" dirty="0" err="1"/>
              <a:t>запись</a:t>
            </a:r>
            <a:r>
              <a:rPr lang="en-US" dirty="0"/>
              <a:t> </a:t>
            </a:r>
            <a:r>
              <a:rPr lang="en-US" dirty="0" err="1"/>
              <a:t>могут</a:t>
            </a:r>
            <a:r>
              <a:rPr lang="en-US" dirty="0"/>
              <a:t> </a:t>
            </a:r>
            <a:r>
              <a:rPr lang="en-US" dirty="0" err="1"/>
              <a:t>иметь</a:t>
            </a:r>
            <a:r>
              <a:rPr lang="en-US" dirty="0"/>
              <a:t> </a:t>
            </a:r>
            <a:r>
              <a:rPr lang="en-US" dirty="0" err="1"/>
              <a:t>побочные</a:t>
            </a:r>
            <a:r>
              <a:rPr lang="en-US" dirty="0"/>
              <a:t> </a:t>
            </a:r>
            <a:r>
              <a:rPr lang="en-US" dirty="0" err="1"/>
              <a:t>эффекты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регистр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является</a:t>
            </a:r>
            <a:r>
              <a:rPr lang="en-US" dirty="0"/>
              <a:t> </a:t>
            </a:r>
            <a:r>
              <a:rPr lang="en-US" dirty="0" err="1"/>
              <a:t>обычной</a:t>
            </a:r>
            <a:r>
              <a:rPr lang="en-US" dirty="0"/>
              <a:t> </a:t>
            </a:r>
            <a:r>
              <a:rPr lang="en-US" dirty="0" err="1"/>
              <a:t>переменной</a:t>
            </a:r>
            <a:r>
              <a:rPr lang="en-US" dirty="0"/>
              <a:t> </a:t>
            </a:r>
          </a:p>
          <a:p>
            <a:r>
              <a:rPr lang="en-US" dirty="0" err="1"/>
              <a:t>Ключевое</a:t>
            </a:r>
            <a:r>
              <a:rPr lang="en-US" dirty="0"/>
              <a:t> </a:t>
            </a:r>
            <a:r>
              <a:rPr lang="en-US" dirty="0" err="1"/>
              <a:t>слово</a:t>
            </a:r>
            <a:r>
              <a:rPr lang="en-US" dirty="0"/>
              <a:t> volatile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volatile uint8_t* reg;</a:t>
            </a:r>
          </a:p>
          <a:p>
            <a:pPr lvl="1"/>
            <a:r>
              <a:rPr lang="en-US" dirty="0"/>
              <a:t>volatile </a:t>
            </a:r>
            <a:r>
              <a:rPr lang="en-US" dirty="0" err="1"/>
              <a:t>запрещает</a:t>
            </a:r>
            <a:r>
              <a:rPr lang="en-US" dirty="0"/>
              <a:t> </a:t>
            </a:r>
            <a:r>
              <a:rPr lang="en-US" dirty="0" err="1"/>
              <a:t>компилятору</a:t>
            </a:r>
            <a:r>
              <a:rPr lang="en-US" dirty="0"/>
              <a:t>:</a:t>
            </a:r>
          </a:p>
          <a:p>
            <a:pPr lvl="2"/>
            <a:r>
              <a:rPr lang="en-US" dirty="0" err="1"/>
              <a:t>удалять</a:t>
            </a:r>
            <a:r>
              <a:rPr lang="en-US" dirty="0"/>
              <a:t> </a:t>
            </a:r>
            <a:r>
              <a:rPr lang="en-US" dirty="0" err="1"/>
              <a:t>обращения</a:t>
            </a:r>
            <a:r>
              <a:rPr lang="en-US" dirty="0"/>
              <a:t> к </a:t>
            </a:r>
            <a:r>
              <a:rPr lang="en-US" dirty="0" err="1"/>
              <a:t>регистру</a:t>
            </a:r>
            <a:r>
              <a:rPr lang="en-US" dirty="0"/>
              <a:t> </a:t>
            </a:r>
          </a:p>
          <a:p>
            <a:pPr lvl="2"/>
            <a:r>
              <a:rPr lang="en-US" dirty="0" err="1"/>
              <a:t>кэшировать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регистра</a:t>
            </a:r>
            <a:r>
              <a:rPr lang="en-US" dirty="0"/>
              <a:t> </a:t>
            </a:r>
          </a:p>
          <a:p>
            <a:pPr lvl="2"/>
            <a:r>
              <a:rPr lang="en-US" dirty="0" err="1"/>
              <a:t>изменять</a:t>
            </a:r>
            <a:r>
              <a:rPr lang="en-US" dirty="0"/>
              <a:t> </a:t>
            </a:r>
            <a:r>
              <a:rPr lang="en-US" dirty="0" err="1"/>
              <a:t>порядок</a:t>
            </a:r>
            <a:r>
              <a:rPr lang="en-US" dirty="0"/>
              <a:t> </a:t>
            </a:r>
            <a:r>
              <a:rPr lang="en-US" dirty="0" err="1"/>
              <a:t>обращений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540324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075F27-4261-5BC3-1EB6-EAA08A40E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GPIO в ATmega328P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EF18157-FB57-6E2C-CB27-AB134B2F19A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6070600" cy="4351338"/>
          </a:xfrm>
        </p:spPr>
        <p:txBody>
          <a:bodyPr>
            <a:normAutofit fontScale="77500" lnSpcReduction="20000"/>
          </a:bodyPr>
          <a:lstStyle/>
          <a:p>
            <a:r>
              <a:rPr lang="en-US" dirty="0"/>
              <a:t>GPIO </a:t>
            </a:r>
            <a:r>
              <a:rPr lang="en-US" dirty="0" err="1"/>
              <a:t>организованы</a:t>
            </a:r>
            <a:r>
              <a:rPr lang="en-US" dirty="0"/>
              <a:t> в </a:t>
            </a:r>
            <a:r>
              <a:rPr lang="en-US" dirty="0" err="1"/>
              <a:t>порты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PORTB </a:t>
            </a:r>
          </a:p>
          <a:p>
            <a:pPr lvl="1"/>
            <a:r>
              <a:rPr lang="en-US" dirty="0"/>
              <a:t>PORTC </a:t>
            </a:r>
          </a:p>
          <a:p>
            <a:pPr lvl="1"/>
            <a:r>
              <a:rPr lang="en-US" dirty="0"/>
              <a:t>PORTD </a:t>
            </a:r>
          </a:p>
          <a:p>
            <a:r>
              <a:rPr lang="en-US" dirty="0" err="1"/>
              <a:t>Каждый</a:t>
            </a:r>
            <a:r>
              <a:rPr lang="en-US" dirty="0"/>
              <a:t> </a:t>
            </a:r>
            <a:r>
              <a:rPr lang="en-US" dirty="0" err="1"/>
              <a:t>порт</a:t>
            </a:r>
            <a:r>
              <a:rPr lang="en-US" dirty="0"/>
              <a:t> </a:t>
            </a:r>
            <a:r>
              <a:rPr lang="en-US" dirty="0" err="1"/>
              <a:t>содержит</a:t>
            </a:r>
            <a:r>
              <a:rPr lang="en-US" dirty="0"/>
              <a:t> </a:t>
            </a:r>
            <a:r>
              <a:rPr lang="en-US" dirty="0" err="1"/>
              <a:t>несколько</a:t>
            </a:r>
            <a:r>
              <a:rPr lang="en-US" dirty="0"/>
              <a:t> </a:t>
            </a:r>
            <a:r>
              <a:rPr lang="en-US" dirty="0" err="1"/>
              <a:t>выводов</a:t>
            </a:r>
            <a:endParaRPr lang="ru-RU" dirty="0"/>
          </a:p>
          <a:p>
            <a:r>
              <a:rPr lang="en-US" dirty="0" err="1"/>
              <a:t>Режим</a:t>
            </a:r>
            <a:r>
              <a:rPr lang="en-US" dirty="0"/>
              <a:t> output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DDRB |= (1 &lt;&lt; PB5);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PORTB |= (1 &lt;&lt; PB5);</a:t>
            </a:r>
          </a:p>
          <a:p>
            <a:pPr lvl="1"/>
            <a:r>
              <a:rPr lang="en-US" dirty="0"/>
              <a:t>PB5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выход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на</a:t>
            </a:r>
            <a:r>
              <a:rPr lang="en-US" dirty="0"/>
              <a:t> </a:t>
            </a:r>
            <a:r>
              <a:rPr lang="en-US" dirty="0" err="1"/>
              <a:t>вывод</a:t>
            </a:r>
            <a:r>
              <a:rPr lang="en-US" dirty="0"/>
              <a:t> </a:t>
            </a:r>
            <a:r>
              <a:rPr lang="en-US" dirty="0" err="1"/>
              <a:t>подаётся</a:t>
            </a:r>
            <a:r>
              <a:rPr lang="en-US" dirty="0"/>
              <a:t> HIGH </a:t>
            </a:r>
          </a:p>
          <a:p>
            <a:r>
              <a:rPr lang="en-US" dirty="0" err="1"/>
              <a:t>Режим</a:t>
            </a:r>
            <a:r>
              <a:rPr lang="en-US" dirty="0"/>
              <a:t> input + pull-up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DDRD &amp;= ~(1 &lt;&lt; PD2);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PORTD |= (1 &lt;&lt; PD2);</a:t>
            </a:r>
          </a:p>
          <a:p>
            <a:pPr lvl="1"/>
            <a:r>
              <a:rPr lang="en-US" dirty="0"/>
              <a:t>PD2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как</a:t>
            </a:r>
            <a:r>
              <a:rPr lang="en-US" dirty="0"/>
              <a:t> </a:t>
            </a:r>
            <a:r>
              <a:rPr lang="en-US" dirty="0" err="1"/>
              <a:t>вход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включён</a:t>
            </a:r>
            <a:r>
              <a:rPr lang="en-US" dirty="0"/>
              <a:t> </a:t>
            </a:r>
            <a:r>
              <a:rPr lang="en-US" dirty="0" err="1"/>
              <a:t>встроенный</a:t>
            </a:r>
            <a:r>
              <a:rPr lang="en-US" dirty="0"/>
              <a:t> pull-up </a:t>
            </a:r>
            <a:r>
              <a:rPr lang="en-US" dirty="0" err="1"/>
              <a:t>резистор</a:t>
            </a:r>
            <a:endParaRPr lang="en-US" dirty="0"/>
          </a:p>
          <a:p>
            <a:endParaRPr lang="en-US" dirty="0"/>
          </a:p>
        </p:txBody>
      </p:sp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CA0618E9-86B2-D35D-DC83-856C43F04E57}"/>
              </a:ext>
            </a:extLst>
          </p:cNvPr>
          <p:cNvGraphicFramePr>
            <a:graphicFrameLocks noGrp="1"/>
          </p:cNvGraphicFramePr>
          <p:nvPr>
            <p:ph sz="half" idx="2"/>
            <p:extLst>
              <p:ext uri="{D42A27DB-BD31-4B8C-83A1-F6EECF244321}">
                <p14:modId xmlns:p14="http://schemas.microsoft.com/office/powerpoint/2010/main" val="3414247901"/>
              </p:ext>
            </p:extLst>
          </p:nvPr>
        </p:nvGraphicFramePr>
        <p:xfrm>
          <a:off x="6716354" y="3881741"/>
          <a:ext cx="51816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5385">
                  <a:extLst>
                    <a:ext uri="{9D8B030D-6E8A-4147-A177-3AD203B41FA5}">
                      <a16:colId xmlns:a16="http://schemas.microsoft.com/office/drawing/2014/main" val="4068020681"/>
                    </a:ext>
                  </a:extLst>
                </a:gridCol>
                <a:gridCol w="3656215">
                  <a:extLst>
                    <a:ext uri="{9D8B030D-6E8A-4147-A177-3AD203B41FA5}">
                      <a16:colId xmlns:a16="http://schemas.microsoft.com/office/drawing/2014/main" val="1060168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Регистр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Назначение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62395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DDRx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направление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вывода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03691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PORTx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выходное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значение</a:t>
                      </a:r>
                      <a:r>
                        <a:rPr lang="en-US" dirty="0"/>
                        <a:t> / pull-up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852445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/>
                        <a:t>PINx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чтение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состояния</a:t>
                      </a:r>
                      <a:r>
                        <a:rPr lang="en-US" dirty="0"/>
                        <a:t> </a:t>
                      </a:r>
                      <a:r>
                        <a:rPr lang="en-US" dirty="0" err="1"/>
                        <a:t>вывода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39316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10605528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60586C-2309-8C48-9AEC-B2EC7334F2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AVR Toolchain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5E099DE-12FA-79B1-C605-ED1C02FF6D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99863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DAA41A-16FD-CB35-9387-B7F83DC4CB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Toolchain </a:t>
            </a:r>
            <a:r>
              <a:rPr lang="en-US" dirty="0" err="1"/>
              <a:t>для</a:t>
            </a:r>
            <a:r>
              <a:rPr lang="en-US" dirty="0"/>
              <a:t> AVR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52FB1BA6-0F9B-17C6-B087-C4B22C1264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Этапы</a:t>
            </a:r>
            <a:r>
              <a:rPr lang="en-US" dirty="0"/>
              <a:t> </a:t>
            </a:r>
            <a:r>
              <a:rPr lang="en-US" dirty="0" err="1"/>
              <a:t>разработки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endParaRPr lang="en-US" dirty="0"/>
          </a:p>
          <a:p>
            <a:pPr lvl="1"/>
            <a:r>
              <a:rPr lang="en-US" dirty="0" err="1"/>
              <a:t>Исходный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  <a:r>
              <a:rPr lang="en-US" dirty="0" err="1"/>
              <a:t>на</a:t>
            </a:r>
            <a:r>
              <a:rPr lang="en-US" dirty="0"/>
              <a:t> C</a:t>
            </a:r>
          </a:p>
          <a:p>
            <a:pPr lvl="1"/>
            <a:r>
              <a:rPr lang="en-US" dirty="0" err="1"/>
              <a:t>Компиляция</a:t>
            </a:r>
            <a:r>
              <a:rPr lang="en-US" dirty="0"/>
              <a:t> (</a:t>
            </a:r>
            <a:r>
              <a:rPr lang="en-US" dirty="0" err="1"/>
              <a:t>avr-gcc</a:t>
            </a:r>
            <a:r>
              <a:rPr lang="en-US" dirty="0"/>
              <a:t>) → </a:t>
            </a:r>
            <a:r>
              <a:rPr lang="en-US" dirty="0" err="1"/>
              <a:t>Объектные</a:t>
            </a:r>
            <a:r>
              <a:rPr lang="en-US" dirty="0"/>
              <a:t> </a:t>
            </a:r>
            <a:r>
              <a:rPr lang="en-US" dirty="0" err="1"/>
              <a:t>файлы</a:t>
            </a:r>
            <a:endParaRPr lang="en-US" dirty="0"/>
          </a:p>
          <a:p>
            <a:pPr lvl="1"/>
            <a:r>
              <a:rPr lang="en-US" dirty="0" err="1"/>
              <a:t>Линковка</a:t>
            </a:r>
            <a:r>
              <a:rPr lang="en-US" dirty="0"/>
              <a:t> → </a:t>
            </a:r>
            <a:r>
              <a:rPr lang="en-US" dirty="0" err="1"/>
              <a:t>Машинный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(.elf, .hex)</a:t>
            </a:r>
          </a:p>
          <a:p>
            <a:pPr lvl="1"/>
            <a:r>
              <a:rPr lang="en-US" dirty="0" err="1"/>
              <a:t>Прошивка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r>
              <a:rPr lang="en-US" dirty="0"/>
              <a:t> (</a:t>
            </a:r>
            <a:r>
              <a:rPr lang="en-US" dirty="0" err="1"/>
              <a:t>avrdude</a:t>
            </a:r>
            <a:r>
              <a:rPr lang="en-US" dirty="0"/>
              <a:t>)</a:t>
            </a:r>
          </a:p>
          <a:p>
            <a:r>
              <a:rPr lang="en-US" dirty="0" err="1"/>
              <a:t>Основные</a:t>
            </a:r>
            <a:r>
              <a:rPr lang="en-US" dirty="0"/>
              <a:t> </a:t>
            </a:r>
            <a:r>
              <a:rPr lang="en-US" dirty="0" err="1"/>
              <a:t>инструменты</a:t>
            </a:r>
            <a:endParaRPr lang="en-US" dirty="0"/>
          </a:p>
          <a:p>
            <a:pPr lvl="1"/>
            <a:r>
              <a:rPr lang="en-US" dirty="0" err="1"/>
              <a:t>avr-gcc</a:t>
            </a:r>
            <a:r>
              <a:rPr lang="en-US" dirty="0"/>
              <a:t> — </a:t>
            </a:r>
            <a:r>
              <a:rPr lang="en-US" dirty="0" err="1"/>
              <a:t>компилятор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avr</a:t>
            </a:r>
            <a:r>
              <a:rPr lang="en-US" dirty="0"/>
              <a:t>-as — </a:t>
            </a:r>
            <a:r>
              <a:rPr lang="en-US" dirty="0" err="1"/>
              <a:t>ассемблер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avr-ld</a:t>
            </a:r>
            <a:r>
              <a:rPr lang="en-US" dirty="0"/>
              <a:t> — </a:t>
            </a:r>
            <a:r>
              <a:rPr lang="en-US" dirty="0" err="1"/>
              <a:t>линковщик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avr-objdump</a:t>
            </a:r>
            <a:r>
              <a:rPr lang="en-US" dirty="0"/>
              <a:t> — </a:t>
            </a:r>
            <a:r>
              <a:rPr lang="en-US" dirty="0" err="1"/>
              <a:t>дизассемблирование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avr</a:t>
            </a:r>
            <a:r>
              <a:rPr lang="en-US" dirty="0"/>
              <a:t>-size — </a:t>
            </a:r>
            <a:r>
              <a:rPr lang="en-US" dirty="0" err="1"/>
              <a:t>анализ</a:t>
            </a:r>
            <a:r>
              <a:rPr lang="en-US" dirty="0"/>
              <a:t> </a:t>
            </a:r>
            <a:r>
              <a:rPr lang="en-US" dirty="0" err="1"/>
              <a:t>размера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avrdude</a:t>
            </a:r>
            <a:r>
              <a:rPr lang="en-US" dirty="0"/>
              <a:t> — </a:t>
            </a:r>
            <a:r>
              <a:rPr lang="en-US" dirty="0" err="1"/>
              <a:t>прошивка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323154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47F6A7-6F71-5C30-D7DF-D266C418E2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Компиляция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AVR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57E8A2-71D6-6B61-4A24-96F8B6FCC8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endParaRPr lang="en-US" dirty="0"/>
          </a:p>
          <a:p>
            <a:pPr lvl="1"/>
            <a:r>
              <a:rPr lang="en-US" dirty="0">
                <a:latin typeface="Consolas" panose="020B0609020204030204" pitchFamily="49" charset="0"/>
              </a:rPr>
              <a:t>int main(void)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while (1)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}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r>
              <a:rPr lang="en-US" dirty="0" err="1"/>
              <a:t>Компиляция</a:t>
            </a:r>
            <a:endParaRPr lang="en-US" dirty="0"/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avr-gcc</a:t>
            </a:r>
            <a:r>
              <a:rPr lang="en-US" dirty="0">
                <a:latin typeface="Consolas" panose="020B0609020204030204" pitchFamily="49" charset="0"/>
              </a:rPr>
              <a:t> -</a:t>
            </a:r>
            <a:r>
              <a:rPr lang="en-US" dirty="0" err="1">
                <a:latin typeface="Consolas" panose="020B0609020204030204" pitchFamily="49" charset="0"/>
              </a:rPr>
              <a:t>mmcu</a:t>
            </a:r>
            <a:r>
              <a:rPr lang="en-US" dirty="0">
                <a:latin typeface="Consolas" panose="020B0609020204030204" pitchFamily="49" charset="0"/>
              </a:rPr>
              <a:t>=atmega328p </a:t>
            </a:r>
            <a:r>
              <a:rPr lang="en-US" dirty="0" err="1">
                <a:latin typeface="Consolas" panose="020B0609020204030204" pitchFamily="49" charset="0"/>
              </a:rPr>
              <a:t>main.c</a:t>
            </a:r>
            <a:r>
              <a:rPr lang="en-US" dirty="0">
                <a:latin typeface="Consolas" panose="020B0609020204030204" pitchFamily="49" charset="0"/>
              </a:rPr>
              <a:t> -o </a:t>
            </a:r>
            <a:r>
              <a:rPr lang="en-US" dirty="0" err="1">
                <a:latin typeface="Consolas" panose="020B0609020204030204" pitchFamily="49" charset="0"/>
              </a:rPr>
              <a:t>main.elf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/>
              <a:t>Получение</a:t>
            </a:r>
            <a:r>
              <a:rPr lang="en-US" dirty="0"/>
              <a:t> </a:t>
            </a:r>
            <a:r>
              <a:rPr lang="en-US" dirty="0" err="1"/>
              <a:t>прошивки</a:t>
            </a:r>
            <a:endParaRPr lang="en-US" dirty="0"/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avr-objcopy</a:t>
            </a:r>
            <a:r>
              <a:rPr lang="en-US" dirty="0">
                <a:latin typeface="Consolas" panose="020B0609020204030204" pitchFamily="49" charset="0"/>
              </a:rPr>
              <a:t> -O </a:t>
            </a:r>
            <a:r>
              <a:rPr lang="en-US" dirty="0" err="1">
                <a:latin typeface="Consolas" panose="020B0609020204030204" pitchFamily="49" charset="0"/>
              </a:rPr>
              <a:t>ihex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main.elf</a:t>
            </a:r>
            <a:r>
              <a:rPr lang="en-US" dirty="0">
                <a:latin typeface="Consolas" panose="020B0609020204030204" pitchFamily="49" charset="0"/>
              </a:rPr>
              <a:t> </a:t>
            </a:r>
            <a:r>
              <a:rPr lang="en-US" dirty="0" err="1">
                <a:latin typeface="Consolas" panose="020B0609020204030204" pitchFamily="49" charset="0"/>
              </a:rPr>
              <a:t>main.hex</a:t>
            </a:r>
            <a:endParaRPr lang="en-US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732013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EFCF745-8887-7664-9107-A9CF6EC7E79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Дизассемблирование</a:t>
            </a:r>
            <a:r>
              <a:rPr lang="en-US" dirty="0"/>
              <a:t> AVR-</a:t>
            </a:r>
            <a:r>
              <a:rPr lang="en-US" dirty="0" err="1"/>
              <a:t>программы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040093C-95BD-7857-2C9E-F5C983A4B7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Дизассемблирование</a:t>
            </a:r>
            <a:endParaRPr lang="en-US" dirty="0"/>
          </a:p>
          <a:p>
            <a:pPr lvl="1"/>
            <a:r>
              <a:rPr lang="en-US" dirty="0" err="1"/>
              <a:t>avr-objdump</a:t>
            </a:r>
            <a:r>
              <a:rPr lang="en-US" dirty="0"/>
              <a:t> -d </a:t>
            </a:r>
            <a:r>
              <a:rPr lang="en-US" dirty="0" err="1"/>
              <a:t>main.elf</a:t>
            </a:r>
            <a:endParaRPr lang="en-US" dirty="0"/>
          </a:p>
          <a:p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результата</a:t>
            </a:r>
            <a:endParaRPr lang="en-US" dirty="0"/>
          </a:p>
          <a:p>
            <a:pPr lvl="1"/>
            <a:r>
              <a:rPr lang="en-US" dirty="0"/>
              <a:t>00000080 &lt;main&gt;:</a:t>
            </a:r>
            <a:br>
              <a:rPr lang="en-US" dirty="0"/>
            </a:br>
            <a:r>
              <a:rPr lang="en-US" dirty="0"/>
              <a:t>  80:  ff </a:t>
            </a:r>
            <a:r>
              <a:rPr lang="en-US" dirty="0" err="1"/>
              <a:t>cf</a:t>
            </a:r>
            <a:r>
              <a:rPr lang="en-US" dirty="0"/>
              <a:t>    </a:t>
            </a:r>
            <a:r>
              <a:rPr lang="en-US" dirty="0" err="1"/>
              <a:t>rjmp</a:t>
            </a:r>
            <a:r>
              <a:rPr lang="en-US" dirty="0"/>
              <a:t> .-2</a:t>
            </a:r>
          </a:p>
        </p:txBody>
      </p:sp>
    </p:spTree>
    <p:extLst>
      <p:ext uri="{BB962C8B-B14F-4D97-AF65-F5344CB8AC3E}">
        <p14:creationId xmlns:p14="http://schemas.microsoft.com/office/powerpoint/2010/main" val="259923495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C4DFBD-B431-511E-232B-6B4574A642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Прошивка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0A426F-3E6A-4CB9-97BD-58E1C24DF64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Загрузка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в MCU</a:t>
            </a:r>
          </a:p>
          <a:p>
            <a:pPr lvl="1"/>
            <a:r>
              <a:rPr lang="en-US" dirty="0" err="1">
                <a:latin typeface="Consolas" panose="020B0609020204030204" pitchFamily="49" charset="0"/>
              </a:rPr>
              <a:t>avrdude</a:t>
            </a:r>
            <a:r>
              <a:rPr lang="en-US" dirty="0">
                <a:latin typeface="Consolas" panose="020B0609020204030204" pitchFamily="49" charset="0"/>
              </a:rPr>
              <a:t> -c </a:t>
            </a:r>
            <a:r>
              <a:rPr lang="en-US" dirty="0" err="1">
                <a:latin typeface="Consolas" panose="020B0609020204030204" pitchFamily="49" charset="0"/>
              </a:rPr>
              <a:t>arduino</a:t>
            </a:r>
            <a:r>
              <a:rPr lang="en-US" dirty="0">
                <a:latin typeface="Consolas" panose="020B0609020204030204" pitchFamily="49" charset="0"/>
              </a:rPr>
              <a:t> -p m328p \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-P COM3 -b 115200 \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    -U </a:t>
            </a:r>
            <a:r>
              <a:rPr lang="en-US" dirty="0" err="1">
                <a:latin typeface="Consolas" panose="020B0609020204030204" pitchFamily="49" charset="0"/>
              </a:rPr>
              <a:t>flash:w:main.hex</a:t>
            </a:r>
            <a:endParaRPr lang="en-US" dirty="0">
              <a:latin typeface="Consolas" panose="020B0609020204030204" pitchFamily="49" charset="0"/>
            </a:endParaRPr>
          </a:p>
          <a:p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происходит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прошивке</a:t>
            </a:r>
            <a:endParaRPr lang="en-US" dirty="0"/>
          </a:p>
          <a:p>
            <a:pPr lvl="1"/>
            <a:r>
              <a:rPr lang="en-US" dirty="0" err="1"/>
              <a:t>установление</a:t>
            </a:r>
            <a:r>
              <a:rPr lang="en-US" dirty="0"/>
              <a:t> </a:t>
            </a:r>
            <a:r>
              <a:rPr lang="en-US" dirty="0" err="1"/>
              <a:t>соединения</a:t>
            </a:r>
            <a:r>
              <a:rPr lang="en-US" dirty="0"/>
              <a:t> с bootloader/programmer </a:t>
            </a:r>
          </a:p>
          <a:p>
            <a:pPr lvl="1"/>
            <a:r>
              <a:rPr lang="en-US" dirty="0" err="1"/>
              <a:t>передача</a:t>
            </a:r>
            <a:r>
              <a:rPr lang="en-US" dirty="0"/>
              <a:t> </a:t>
            </a:r>
            <a:r>
              <a:rPr lang="en-US" dirty="0" err="1"/>
              <a:t>данных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запись</a:t>
            </a:r>
            <a:r>
              <a:rPr lang="en-US" dirty="0"/>
              <a:t> </a:t>
            </a:r>
            <a:r>
              <a:rPr lang="en-US" dirty="0" err="1"/>
              <a:t>во</a:t>
            </a:r>
            <a:r>
              <a:rPr lang="en-US" dirty="0"/>
              <a:t> flash memory </a:t>
            </a:r>
          </a:p>
          <a:p>
            <a:pPr lvl="1"/>
            <a:r>
              <a:rPr lang="en-US" dirty="0" err="1"/>
              <a:t>проверка</a:t>
            </a:r>
            <a:r>
              <a:rPr lang="en-US" dirty="0"/>
              <a:t> </a:t>
            </a:r>
            <a:r>
              <a:rPr lang="en-US" dirty="0" err="1"/>
              <a:t>содержимого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9976242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0C616F-1358-E0CF-7912-28E1B6B70C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Особенности</a:t>
            </a:r>
            <a:r>
              <a:rPr lang="en-US" dirty="0"/>
              <a:t> embedded toolchain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664544-67C2-6B0B-61FD-36EF88FFA9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Отличия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desktop-</a:t>
            </a:r>
            <a:r>
              <a:rPr lang="en-US" dirty="0" err="1"/>
              <a:t>разработки</a:t>
            </a:r>
            <a:endParaRPr lang="en-US" dirty="0"/>
          </a:p>
          <a:p>
            <a:pPr lvl="1"/>
            <a:r>
              <a:rPr lang="en-US" dirty="0" err="1"/>
              <a:t>компиляция</a:t>
            </a:r>
            <a:r>
              <a:rPr lang="en-US" dirty="0"/>
              <a:t> </a:t>
            </a:r>
            <a:r>
              <a:rPr lang="en-US" dirty="0" err="1"/>
              <a:t>под</a:t>
            </a:r>
            <a:r>
              <a:rPr lang="en-US" dirty="0"/>
              <a:t> </a:t>
            </a:r>
            <a:r>
              <a:rPr lang="en-US" dirty="0" err="1"/>
              <a:t>другую</a:t>
            </a:r>
            <a:r>
              <a:rPr lang="en-US" dirty="0"/>
              <a:t> </a:t>
            </a:r>
            <a:r>
              <a:rPr lang="en-US" dirty="0" err="1"/>
              <a:t>архитектуру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ограниченные</a:t>
            </a:r>
            <a:r>
              <a:rPr lang="en-US" dirty="0"/>
              <a:t> </a:t>
            </a:r>
            <a:r>
              <a:rPr lang="en-US" dirty="0" err="1"/>
              <a:t>аппаратные</a:t>
            </a:r>
            <a:r>
              <a:rPr lang="en-US" dirty="0"/>
              <a:t> </a:t>
            </a:r>
            <a:r>
              <a:rPr lang="en-US" dirty="0" err="1"/>
              <a:t>ресурсы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отсутствие</a:t>
            </a:r>
            <a:r>
              <a:rPr lang="en-US" dirty="0"/>
              <a:t> </a:t>
            </a:r>
            <a:r>
              <a:rPr lang="en-US" dirty="0" err="1"/>
              <a:t>операционной</a:t>
            </a:r>
            <a:r>
              <a:rPr lang="en-US" dirty="0"/>
              <a:t> </a:t>
            </a:r>
            <a:r>
              <a:rPr lang="en-US" dirty="0" err="1"/>
              <a:t>системы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непосредственная</a:t>
            </a:r>
            <a:r>
              <a:rPr lang="en-US" dirty="0"/>
              <a:t> </a:t>
            </a:r>
            <a:r>
              <a:rPr lang="en-US" dirty="0" err="1"/>
              <a:t>работа</a:t>
            </a:r>
            <a:r>
              <a:rPr lang="en-US" dirty="0"/>
              <a:t> с </a:t>
            </a:r>
            <a:r>
              <a:rPr lang="en-US" dirty="0" err="1"/>
              <a:t>памятью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важность</a:t>
            </a:r>
            <a:r>
              <a:rPr lang="en-US" dirty="0"/>
              <a:t> </a:t>
            </a:r>
            <a:r>
              <a:rPr lang="en-US" dirty="0" err="1"/>
              <a:t>анализа</a:t>
            </a:r>
            <a:r>
              <a:rPr lang="en-US" dirty="0"/>
              <a:t> </a:t>
            </a:r>
            <a:r>
              <a:rPr lang="en-US" dirty="0" err="1"/>
              <a:t>размера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 </a:t>
            </a:r>
          </a:p>
          <a:p>
            <a:r>
              <a:rPr lang="en-US" dirty="0" err="1"/>
              <a:t>Следствие</a:t>
            </a:r>
            <a:endParaRPr lang="en-US" dirty="0"/>
          </a:p>
          <a:p>
            <a:pPr lvl="1"/>
            <a:r>
              <a:rPr lang="en-US" dirty="0"/>
              <a:t>Embedded-</a:t>
            </a:r>
            <a:r>
              <a:rPr lang="en-US" dirty="0" err="1"/>
              <a:t>разработчик</a:t>
            </a:r>
            <a:r>
              <a:rPr lang="en-US" dirty="0"/>
              <a:t> </a:t>
            </a:r>
            <a:r>
              <a:rPr lang="en-US" dirty="0" err="1"/>
              <a:t>должен</a:t>
            </a:r>
            <a:r>
              <a:rPr lang="en-US" dirty="0"/>
              <a:t>:</a:t>
            </a:r>
          </a:p>
          <a:p>
            <a:pPr lvl="1"/>
            <a:r>
              <a:rPr lang="en-US" dirty="0" err="1"/>
              <a:t>понимать</a:t>
            </a:r>
            <a:r>
              <a:rPr lang="en-US" dirty="0"/>
              <a:t> </a:t>
            </a:r>
            <a:r>
              <a:rPr lang="en-US" dirty="0" err="1"/>
              <a:t>архитектуру</a:t>
            </a:r>
            <a:r>
              <a:rPr lang="en-US" dirty="0"/>
              <a:t> MCU </a:t>
            </a:r>
          </a:p>
          <a:p>
            <a:pPr lvl="1"/>
            <a:r>
              <a:rPr lang="en-US" dirty="0" err="1"/>
              <a:t>анализировать</a:t>
            </a:r>
            <a:r>
              <a:rPr lang="en-US" dirty="0"/>
              <a:t> </a:t>
            </a:r>
            <a:r>
              <a:rPr lang="en-US" dirty="0" err="1"/>
              <a:t>машинный</a:t>
            </a:r>
            <a:r>
              <a:rPr lang="en-US" dirty="0"/>
              <a:t> </a:t>
            </a:r>
            <a:r>
              <a:rPr lang="en-US" dirty="0" err="1"/>
              <a:t>код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контролировать</a:t>
            </a:r>
            <a:r>
              <a:rPr lang="en-US" dirty="0"/>
              <a:t> </a:t>
            </a:r>
            <a:r>
              <a:rPr lang="en-US" dirty="0" err="1"/>
              <a:t>использование</a:t>
            </a:r>
            <a:r>
              <a:rPr lang="en-US" dirty="0"/>
              <a:t> </a:t>
            </a:r>
            <a:r>
              <a:rPr lang="en-US" dirty="0" err="1"/>
              <a:t>памяти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4183455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32D6F244-CDB7-5905-8B24-F654E8B03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Пример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: </a:t>
            </a:r>
            <a:r>
              <a:rPr lang="en-US" dirty="0" err="1"/>
              <a:t>мигание</a:t>
            </a:r>
            <a:r>
              <a:rPr lang="en-US" dirty="0"/>
              <a:t> </a:t>
            </a:r>
            <a:r>
              <a:rPr lang="en-US" dirty="0" err="1"/>
              <a:t>светодиодом</a:t>
            </a:r>
            <a:endParaRPr lang="en-US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5C8619-5BFD-1D05-3776-0C027EFE3FCE}"/>
              </a:ext>
            </a:extLst>
          </p:cNvPr>
          <p:cNvSpPr txBox="1"/>
          <p:nvPr/>
        </p:nvSpPr>
        <p:spPr>
          <a:xfrm>
            <a:off x="838200" y="1690688"/>
            <a:ext cx="10515600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avr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/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io.h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808080"/>
                </a:solidFill>
                <a:effectLst/>
                <a:latin typeface="Consolas" panose="020B0609020204030204" pitchFamily="49" charset="0"/>
              </a:rPr>
              <a:t>#include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&lt;</a:t>
            </a:r>
            <a:r>
              <a:rPr lang="en-US" b="0" dirty="0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util/</a:t>
            </a:r>
            <a:r>
              <a:rPr lang="en-US" b="0" dirty="0" err="1">
                <a:solidFill>
                  <a:srgbClr val="A31515"/>
                </a:solidFill>
                <a:effectLst/>
                <a:latin typeface="Consolas" panose="020B0609020204030204" pitchFamily="49" charset="0"/>
              </a:rPr>
              <a:t>delay.h</a:t>
            </a:r>
            <a:r>
              <a:rPr lang="en-US" b="0" dirty="0">
                <a:solidFill>
                  <a:srgbClr val="E21F1F"/>
                </a:solidFill>
                <a:effectLst/>
                <a:latin typeface="Consolas" panose="020B0609020204030204" pitchFamily="49" charset="0"/>
              </a:rPr>
              <a:t>&gt;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main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000FF"/>
                </a:solidFill>
                <a:effectLst/>
                <a:latin typeface="Consolas" panose="020B0609020204030204" pitchFamily="49" charset="0"/>
              </a:rPr>
              <a:t>void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DDRB |= 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PB5);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PB5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настраивается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как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output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8F08C4"/>
                </a:solidFill>
                <a:effectLst/>
                <a:latin typeface="Consolas" panose="020B0609020204030204" pitchFamily="49" charset="0"/>
              </a:rPr>
              <a:t>while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 {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PORTB |= 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PB5);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светодиод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включается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delay_ms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  <a:b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PORTB &amp;= ~(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1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&lt;&lt; PB5);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светодиод</a:t>
            </a:r>
            <a:r>
              <a:rPr lang="en-US" b="0" dirty="0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 err="1">
                <a:solidFill>
                  <a:srgbClr val="008000"/>
                </a:solidFill>
                <a:effectLst/>
                <a:latin typeface="Consolas" panose="020B0609020204030204" pitchFamily="49" charset="0"/>
              </a:rPr>
              <a:t>выключается</a:t>
            </a:r>
            <a:endParaRPr lang="en-US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US" b="0" dirty="0" err="1">
                <a:solidFill>
                  <a:srgbClr val="74531F"/>
                </a:solidFill>
                <a:effectLst/>
                <a:latin typeface="Consolas" panose="020B0609020204030204" pitchFamily="49" charset="0"/>
              </a:rPr>
              <a:t>delay_ms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098658"/>
                </a:solidFill>
                <a:effectLst/>
                <a:latin typeface="Consolas" panose="020B0609020204030204" pitchFamily="49" charset="0"/>
              </a:rPr>
              <a:t>500</a:t>
            </a: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);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   }</a:t>
            </a:r>
          </a:p>
          <a:p>
            <a:pPr>
              <a:buNone/>
            </a:pPr>
            <a:r>
              <a:rPr lang="en-US" b="0" dirty="0"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7900158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8E48DD8-71EC-4CA4-C205-E0895CE545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Таймеры микроконтроллера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457622-666A-871A-153E-EABC229BB5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745453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42CB759-E413-1CEE-B2DD-6741A515FA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Таймеры</a:t>
            </a:r>
            <a:r>
              <a:rPr lang="en-US" dirty="0"/>
              <a:t> </a:t>
            </a:r>
            <a:r>
              <a:rPr lang="en-US" dirty="0" err="1"/>
              <a:t>микроконтроллера</a:t>
            </a:r>
            <a:endParaRPr lang="en-US" dirty="0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8054BF28-E1EB-BEFD-C8EA-9E78058C04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Таймер</a:t>
            </a:r>
            <a:r>
              <a:rPr lang="en-US" dirty="0"/>
              <a:t> (timer/counter) —</a:t>
            </a:r>
            <a:r>
              <a:rPr lang="ru-RU" dirty="0"/>
              <a:t> </a:t>
            </a:r>
            <a:r>
              <a:rPr lang="en-US" dirty="0" err="1"/>
              <a:t>аппаратный</a:t>
            </a:r>
            <a:r>
              <a:rPr lang="en-US" dirty="0"/>
              <a:t> </a:t>
            </a:r>
            <a:r>
              <a:rPr lang="en-US" dirty="0" err="1"/>
              <a:t>модуль</a:t>
            </a:r>
            <a:r>
              <a:rPr lang="en-US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измерения</a:t>
            </a:r>
            <a:r>
              <a:rPr lang="en-US" dirty="0"/>
              <a:t> </a:t>
            </a:r>
            <a:r>
              <a:rPr lang="en-US" dirty="0" err="1"/>
              <a:t>времени</a:t>
            </a:r>
            <a:r>
              <a:rPr lang="en-US" dirty="0"/>
              <a:t> и </a:t>
            </a:r>
            <a:r>
              <a:rPr lang="en-US" dirty="0" err="1"/>
              <a:t>генерации</a:t>
            </a:r>
            <a:r>
              <a:rPr lang="en-US" dirty="0"/>
              <a:t> </a:t>
            </a:r>
            <a:r>
              <a:rPr lang="en-US" dirty="0" err="1"/>
              <a:t>событий</a:t>
            </a:r>
            <a:r>
              <a:rPr lang="en-US" dirty="0"/>
              <a:t>.</a:t>
            </a:r>
          </a:p>
          <a:p>
            <a:r>
              <a:rPr lang="en-US" dirty="0" err="1"/>
              <a:t>Возможност</a:t>
            </a:r>
            <a:r>
              <a:rPr lang="ru-RU" dirty="0"/>
              <a:t>и</a:t>
            </a:r>
            <a:endParaRPr lang="en-US" dirty="0"/>
          </a:p>
          <a:p>
            <a:pPr lvl="1"/>
            <a:r>
              <a:rPr lang="en-US" dirty="0" err="1"/>
              <a:t>измерение</a:t>
            </a:r>
            <a:r>
              <a:rPr lang="en-US" dirty="0"/>
              <a:t> </a:t>
            </a:r>
            <a:r>
              <a:rPr lang="en-US" dirty="0" err="1"/>
              <a:t>временных</a:t>
            </a:r>
            <a:r>
              <a:rPr lang="en-US" dirty="0"/>
              <a:t> </a:t>
            </a:r>
            <a:r>
              <a:rPr lang="en-US" dirty="0" err="1"/>
              <a:t>интервалов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генерация</a:t>
            </a:r>
            <a:r>
              <a:rPr lang="en-US" dirty="0"/>
              <a:t> </a:t>
            </a:r>
            <a:r>
              <a:rPr lang="en-US" dirty="0" err="1"/>
              <a:t>периодических</a:t>
            </a:r>
            <a:r>
              <a:rPr lang="en-US" dirty="0"/>
              <a:t> </a:t>
            </a:r>
            <a:r>
              <a:rPr lang="en-US" dirty="0" err="1"/>
              <a:t>событий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счёт</a:t>
            </a:r>
            <a:r>
              <a:rPr lang="en-US" dirty="0"/>
              <a:t> </a:t>
            </a:r>
            <a:r>
              <a:rPr lang="en-US" dirty="0" err="1"/>
              <a:t>внешних</a:t>
            </a:r>
            <a:r>
              <a:rPr lang="en-US" dirty="0"/>
              <a:t> </a:t>
            </a:r>
            <a:r>
              <a:rPr lang="en-US" dirty="0" err="1"/>
              <a:t>импульсов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PWM (Pulse Width Modulation), </a:t>
            </a:r>
            <a:r>
              <a:rPr lang="en-US" dirty="0" err="1"/>
              <a:t>широтно-импульсная</a:t>
            </a:r>
            <a:r>
              <a:rPr lang="en-US" dirty="0"/>
              <a:t> </a:t>
            </a:r>
            <a:r>
              <a:rPr lang="en-US" dirty="0" err="1"/>
              <a:t>модуляция</a:t>
            </a:r>
            <a:endParaRPr lang="en-US" dirty="0"/>
          </a:p>
          <a:p>
            <a:pPr lvl="2"/>
            <a:r>
              <a:rPr lang="en-US" dirty="0" err="1"/>
              <a:t>способ</a:t>
            </a:r>
            <a:r>
              <a:rPr lang="en-US" dirty="0"/>
              <a:t> </a:t>
            </a:r>
            <a:r>
              <a:rPr lang="en-US" dirty="0" err="1"/>
              <a:t>управления</a:t>
            </a:r>
            <a:r>
              <a:rPr lang="en-US" dirty="0"/>
              <a:t> </a:t>
            </a:r>
            <a:r>
              <a:rPr lang="en-US" dirty="0" err="1"/>
              <a:t>средней</a:t>
            </a:r>
            <a:r>
              <a:rPr lang="en-US" dirty="0"/>
              <a:t> </a:t>
            </a:r>
            <a:r>
              <a:rPr lang="en-US" dirty="0" err="1"/>
              <a:t>мощностью</a:t>
            </a:r>
            <a:r>
              <a:rPr lang="en-US" dirty="0"/>
              <a:t> </a:t>
            </a:r>
            <a:r>
              <a:rPr lang="en-US" dirty="0" err="1"/>
              <a:t>сигнала</a:t>
            </a:r>
            <a:r>
              <a:rPr lang="en-US" dirty="0"/>
              <a:t> </a:t>
            </a:r>
            <a:r>
              <a:rPr lang="ru-RU" dirty="0"/>
              <a:t>за счёт быстрого</a:t>
            </a:r>
            <a:r>
              <a:rPr lang="en-US" dirty="0"/>
              <a:t> </a:t>
            </a:r>
            <a:r>
              <a:rPr lang="en-US" dirty="0" err="1"/>
              <a:t>переключения</a:t>
            </a:r>
            <a:r>
              <a:rPr lang="en-US" dirty="0"/>
              <a:t> </a:t>
            </a:r>
            <a:r>
              <a:rPr lang="en-US" dirty="0" err="1"/>
              <a:t>цифрового</a:t>
            </a:r>
            <a:r>
              <a:rPr lang="en-US" dirty="0"/>
              <a:t> </a:t>
            </a:r>
            <a:r>
              <a:rPr lang="en-US" dirty="0" err="1"/>
              <a:t>выхода</a:t>
            </a:r>
            <a:r>
              <a:rPr lang="en-US" dirty="0"/>
              <a:t> </a:t>
            </a:r>
            <a:r>
              <a:rPr lang="en-US" dirty="0" err="1"/>
              <a:t>между</a:t>
            </a:r>
            <a:r>
              <a:rPr lang="en-US" dirty="0"/>
              <a:t> </a:t>
            </a:r>
            <a:r>
              <a:rPr lang="en-US" dirty="0" err="1"/>
              <a:t>состояниями</a:t>
            </a:r>
            <a:r>
              <a:rPr lang="en-US" dirty="0"/>
              <a:t> HIGH и LOW.</a:t>
            </a:r>
          </a:p>
          <a:p>
            <a:pPr lvl="1"/>
            <a:r>
              <a:rPr lang="en-US" dirty="0" err="1"/>
              <a:t>генерация</a:t>
            </a:r>
            <a:r>
              <a:rPr lang="en-US" dirty="0"/>
              <a:t> </a:t>
            </a:r>
            <a:r>
              <a:rPr lang="ru-RU" dirty="0"/>
              <a:t>прерываний (</a:t>
            </a:r>
            <a:r>
              <a:rPr lang="en-US" dirty="0"/>
              <a:t>interrupts) </a:t>
            </a:r>
          </a:p>
          <a:p>
            <a:r>
              <a:rPr lang="en-US" dirty="0" err="1"/>
              <a:t>Таймер</a:t>
            </a:r>
            <a:r>
              <a:rPr lang="en-US" dirty="0"/>
              <a:t> </a:t>
            </a:r>
            <a:r>
              <a:rPr lang="en-US" dirty="0" err="1"/>
              <a:t>работает</a:t>
            </a:r>
            <a:r>
              <a:rPr lang="en-US" dirty="0"/>
              <a:t> </a:t>
            </a:r>
            <a:r>
              <a:rPr lang="en-US" dirty="0" err="1"/>
              <a:t>независимо</a:t>
            </a:r>
            <a:r>
              <a:rPr lang="en-US" dirty="0"/>
              <a:t> </a:t>
            </a:r>
            <a:r>
              <a:rPr lang="en-US" dirty="0" err="1"/>
              <a:t>от</a:t>
            </a:r>
            <a:r>
              <a:rPr lang="en-US" dirty="0"/>
              <a:t> CPU.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230935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6A0D7C-880C-7132-2275-D9599E5FB1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Принцип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r>
              <a:rPr lang="en-US" dirty="0"/>
              <a:t> </a:t>
            </a:r>
            <a:r>
              <a:rPr lang="en-US" dirty="0" err="1"/>
              <a:t>таймера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0F1795-D538-7227-169B-9D4233FE03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 err="1"/>
              <a:t>Упрощённая</a:t>
            </a:r>
            <a:r>
              <a:rPr lang="en-US" dirty="0"/>
              <a:t> </a:t>
            </a:r>
            <a:r>
              <a:rPr lang="en-US" dirty="0" err="1"/>
              <a:t>схема</a:t>
            </a:r>
            <a:r>
              <a:rPr lang="en-US" dirty="0"/>
              <a:t> </a:t>
            </a:r>
            <a:r>
              <a:rPr lang="en-US" dirty="0" err="1"/>
              <a:t>работы</a:t>
            </a:r>
            <a:endParaRPr lang="en-US" dirty="0"/>
          </a:p>
          <a:p>
            <a:pPr lvl="1"/>
            <a:r>
              <a:rPr lang="en-US" dirty="0"/>
              <a:t>Clock → </a:t>
            </a:r>
            <a:r>
              <a:rPr lang="en-US" dirty="0" err="1"/>
              <a:t>Prescaler</a:t>
            </a:r>
            <a:r>
              <a:rPr lang="en-US" dirty="0"/>
              <a:t> → Counter → Compare Match</a:t>
            </a:r>
          </a:p>
          <a:p>
            <a:r>
              <a:rPr lang="en-US" dirty="0" err="1"/>
              <a:t>Основные</a:t>
            </a:r>
            <a:r>
              <a:rPr lang="en-US" dirty="0"/>
              <a:t> </a:t>
            </a:r>
            <a:r>
              <a:rPr lang="en-US" dirty="0" err="1"/>
              <a:t>компоненты</a:t>
            </a:r>
            <a:endParaRPr lang="en-US" dirty="0"/>
          </a:p>
          <a:p>
            <a:pPr lvl="1"/>
            <a:r>
              <a:rPr lang="en-US" dirty="0"/>
              <a:t>Clock source</a:t>
            </a:r>
            <a:r>
              <a:rPr lang="ru-RU" dirty="0"/>
              <a:t> – </a:t>
            </a:r>
            <a:r>
              <a:rPr lang="en-US" dirty="0" err="1"/>
              <a:t>источник</a:t>
            </a:r>
            <a:r>
              <a:rPr lang="ru-RU" dirty="0"/>
              <a:t> </a:t>
            </a:r>
            <a:r>
              <a:rPr lang="en-US" dirty="0" err="1"/>
              <a:t>такт</a:t>
            </a:r>
            <a:r>
              <a:rPr lang="ru-RU" dirty="0" err="1"/>
              <a:t>овых</a:t>
            </a:r>
            <a:r>
              <a:rPr lang="ru-RU" dirty="0"/>
              <a:t> импульсов</a:t>
            </a:r>
            <a:endParaRPr lang="en-US" dirty="0"/>
          </a:p>
          <a:p>
            <a:pPr lvl="1"/>
            <a:r>
              <a:rPr lang="en-US" dirty="0" err="1"/>
              <a:t>Prescaler</a:t>
            </a:r>
            <a:r>
              <a:rPr lang="ru-RU" dirty="0"/>
              <a:t> – </a:t>
            </a:r>
            <a:r>
              <a:rPr lang="en-US" dirty="0" err="1"/>
              <a:t>делитель</a:t>
            </a:r>
            <a:r>
              <a:rPr lang="ru-RU" dirty="0"/>
              <a:t> </a:t>
            </a:r>
            <a:r>
              <a:rPr lang="en-US" dirty="0" err="1"/>
              <a:t>частоты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Counter</a:t>
            </a:r>
            <a:r>
              <a:rPr lang="ru-RU" dirty="0"/>
              <a:t> – </a:t>
            </a:r>
            <a:r>
              <a:rPr lang="en-US" dirty="0" err="1"/>
              <a:t>аппаратный</a:t>
            </a:r>
            <a:r>
              <a:rPr lang="ru-RU" dirty="0"/>
              <a:t> </a:t>
            </a:r>
            <a:r>
              <a:rPr lang="en-US" dirty="0" err="1"/>
              <a:t>счётчик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Compare register</a:t>
            </a:r>
            <a:r>
              <a:rPr lang="ru-RU" dirty="0"/>
              <a:t> – </a:t>
            </a:r>
            <a:r>
              <a:rPr lang="en-US" dirty="0" err="1"/>
              <a:t>значение</a:t>
            </a:r>
            <a:r>
              <a:rPr lang="ru-RU" dirty="0"/>
              <a:t> </a:t>
            </a:r>
            <a:r>
              <a:rPr lang="en-US" dirty="0" err="1"/>
              <a:t>для</a:t>
            </a:r>
            <a:r>
              <a:rPr lang="en-US" dirty="0"/>
              <a:t> </a:t>
            </a:r>
            <a:r>
              <a:rPr lang="en-US" dirty="0" err="1"/>
              <a:t>сравнения</a:t>
            </a:r>
            <a:endParaRPr lang="en-US" dirty="0"/>
          </a:p>
          <a:p>
            <a:r>
              <a:rPr lang="ru-RU" dirty="0"/>
              <a:t>Действия при срабатывания таймера</a:t>
            </a:r>
          </a:p>
          <a:p>
            <a:pPr lvl="1"/>
            <a:r>
              <a:rPr lang="ru-RU" dirty="0"/>
              <a:t>Установка флага</a:t>
            </a:r>
          </a:p>
          <a:p>
            <a:pPr lvl="1"/>
            <a:r>
              <a:rPr lang="ru-RU" dirty="0"/>
              <a:t>Изменение состояние вывода</a:t>
            </a:r>
          </a:p>
          <a:p>
            <a:pPr lvl="1"/>
            <a:r>
              <a:rPr lang="ru-RU" dirty="0"/>
              <a:t>Генерирование прерывания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502779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568D07-B83C-C0A1-89F0-A3B60F24C0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Прерывания</a:t>
            </a:r>
            <a:r>
              <a:rPr lang="en-US" dirty="0"/>
              <a:t> (Interrupts)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2A187D-8275-B459-FDB7-551F70A497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ru-RU" dirty="0"/>
              <a:t>Прерывание </a:t>
            </a:r>
            <a:r>
              <a:rPr lang="en-US" dirty="0"/>
              <a:t>—</a:t>
            </a:r>
            <a:r>
              <a:rPr lang="ru-RU" dirty="0"/>
              <a:t> </a:t>
            </a:r>
            <a:r>
              <a:rPr lang="en-US" dirty="0" err="1"/>
              <a:t>аппаратный</a:t>
            </a:r>
            <a:r>
              <a:rPr lang="en-US" dirty="0"/>
              <a:t> </a:t>
            </a:r>
            <a:r>
              <a:rPr lang="en-US" dirty="0" err="1"/>
              <a:t>механизм</a:t>
            </a:r>
            <a:r>
              <a:rPr lang="en-US" dirty="0"/>
              <a:t> </a:t>
            </a:r>
            <a:r>
              <a:rPr lang="en-US" dirty="0" err="1"/>
              <a:t>асинхронного</a:t>
            </a:r>
            <a:r>
              <a:rPr lang="en-US" dirty="0"/>
              <a:t> </a:t>
            </a:r>
            <a:r>
              <a:rPr lang="en-US" dirty="0" err="1"/>
              <a:t>прерывания</a:t>
            </a:r>
            <a:r>
              <a:rPr lang="en-US" dirty="0"/>
              <a:t> </a:t>
            </a:r>
            <a:r>
              <a:rPr lang="en-US" dirty="0" err="1"/>
              <a:t>выполнения</a:t>
            </a:r>
            <a:r>
              <a:rPr lang="en-US" dirty="0"/>
              <a:t> </a:t>
            </a:r>
            <a:r>
              <a:rPr lang="en-US" dirty="0" err="1"/>
              <a:t>программы</a:t>
            </a:r>
            <a:r>
              <a:rPr lang="en-US" dirty="0"/>
              <a:t>.</a:t>
            </a:r>
          </a:p>
          <a:p>
            <a:r>
              <a:rPr lang="en-US" dirty="0" err="1"/>
              <a:t>Источники</a:t>
            </a:r>
            <a:r>
              <a:rPr lang="en-US" dirty="0"/>
              <a:t> </a:t>
            </a:r>
            <a:r>
              <a:rPr lang="ru-RU" dirty="0"/>
              <a:t>прерываний</a:t>
            </a:r>
            <a:endParaRPr lang="en-US" dirty="0"/>
          </a:p>
          <a:p>
            <a:pPr lvl="1"/>
            <a:r>
              <a:rPr lang="en-US" dirty="0" err="1"/>
              <a:t>таймеры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GPIO </a:t>
            </a:r>
          </a:p>
          <a:p>
            <a:pPr lvl="1"/>
            <a:r>
              <a:rPr lang="en-US" dirty="0"/>
              <a:t>UART </a:t>
            </a:r>
          </a:p>
          <a:p>
            <a:pPr lvl="1"/>
            <a:r>
              <a:rPr lang="en-US" dirty="0"/>
              <a:t>ADC </a:t>
            </a:r>
          </a:p>
          <a:p>
            <a:pPr lvl="1"/>
            <a:r>
              <a:rPr lang="en-US" dirty="0" err="1"/>
              <a:t>внешние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r>
              <a:rPr lang="en-US" dirty="0"/>
              <a:t> </a:t>
            </a:r>
          </a:p>
          <a:p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возникновении</a:t>
            </a:r>
            <a:r>
              <a:rPr lang="en-US" dirty="0"/>
              <a:t> </a:t>
            </a:r>
            <a:r>
              <a:rPr lang="ru-RU" dirty="0"/>
              <a:t>прерывания</a:t>
            </a:r>
            <a:endParaRPr lang="en-US" dirty="0"/>
          </a:p>
          <a:p>
            <a:pPr lvl="1"/>
            <a:r>
              <a:rPr lang="en-US" dirty="0"/>
              <a:t>CPU </a:t>
            </a:r>
            <a:r>
              <a:rPr lang="en-US" dirty="0" err="1"/>
              <a:t>завершает</a:t>
            </a:r>
            <a:r>
              <a:rPr lang="en-US" dirty="0"/>
              <a:t> </a:t>
            </a:r>
            <a:r>
              <a:rPr lang="en-US" dirty="0" err="1"/>
              <a:t>текущую</a:t>
            </a:r>
            <a:r>
              <a:rPr lang="en-US" dirty="0"/>
              <a:t> </a:t>
            </a:r>
            <a:r>
              <a:rPr lang="en-US" dirty="0" err="1"/>
              <a:t>инструкцию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сохраняет</a:t>
            </a:r>
            <a:r>
              <a:rPr lang="en-US" dirty="0"/>
              <a:t> </a:t>
            </a:r>
            <a:r>
              <a:rPr lang="en-US" dirty="0" err="1"/>
              <a:t>адрес</a:t>
            </a:r>
            <a:r>
              <a:rPr lang="en-US" dirty="0"/>
              <a:t> </a:t>
            </a:r>
            <a:r>
              <a:rPr lang="en-US" dirty="0" err="1"/>
              <a:t>возврата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переходит</a:t>
            </a:r>
            <a:r>
              <a:rPr lang="en-US" dirty="0"/>
              <a:t> к ISR (interrupt service routine) </a:t>
            </a:r>
          </a:p>
          <a:p>
            <a:pPr lvl="1"/>
            <a:r>
              <a:rPr lang="en-US" dirty="0" err="1"/>
              <a:t>выполняет</a:t>
            </a:r>
            <a:r>
              <a:rPr lang="en-US" dirty="0"/>
              <a:t> </a:t>
            </a:r>
            <a:r>
              <a:rPr lang="en-US" dirty="0" err="1"/>
              <a:t>обработчик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возвращается</a:t>
            </a:r>
            <a:r>
              <a:rPr lang="en-US" dirty="0"/>
              <a:t> к </a:t>
            </a:r>
            <a:r>
              <a:rPr lang="en-US" dirty="0" err="1"/>
              <a:t>основной</a:t>
            </a:r>
            <a:r>
              <a:rPr lang="en-US" dirty="0"/>
              <a:t> </a:t>
            </a:r>
            <a:r>
              <a:rPr lang="en-US" dirty="0" err="1"/>
              <a:t>программе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279376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8B654E-002A-9299-C354-EE6D1C989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Polling vs Interrupts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5862D9-43A7-6C63-F6FB-D466A5364A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Polling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while (!(TIFR0 &amp; (1 &lt;&lt; OCF0A)))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pPr lvl="1"/>
            <a:r>
              <a:rPr lang="en-US" dirty="0"/>
              <a:t>CPU </a:t>
            </a:r>
            <a:r>
              <a:rPr lang="en-US" dirty="0" err="1"/>
              <a:t>постоянно</a:t>
            </a:r>
            <a:r>
              <a:rPr lang="en-US" dirty="0"/>
              <a:t> </a:t>
            </a:r>
            <a:r>
              <a:rPr lang="en-US" dirty="0" err="1"/>
              <a:t>проверяет</a:t>
            </a:r>
            <a:r>
              <a:rPr lang="en-US" dirty="0"/>
              <a:t> </a:t>
            </a:r>
            <a:r>
              <a:rPr lang="en-US" dirty="0" err="1"/>
              <a:t>состояние</a:t>
            </a:r>
            <a:r>
              <a:rPr lang="en-US" dirty="0"/>
              <a:t> </a:t>
            </a:r>
            <a:r>
              <a:rPr lang="en-US" dirty="0" err="1"/>
              <a:t>устройства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CPU </a:t>
            </a:r>
            <a:r>
              <a:rPr lang="ru-RU" dirty="0"/>
              <a:t>постоянно проверяет флаг</a:t>
            </a:r>
            <a:r>
              <a:rPr lang="en-US" dirty="0"/>
              <a:t> </a:t>
            </a:r>
            <a:r>
              <a:rPr lang="ru-RU" dirty="0"/>
              <a:t>события (</a:t>
            </a:r>
            <a:r>
              <a:rPr lang="en-US" dirty="0"/>
              <a:t>TIFR0 Timer 0 Interrupt Flag Register)</a:t>
            </a:r>
          </a:p>
          <a:p>
            <a:pPr lvl="2"/>
            <a:r>
              <a:rPr lang="en-US" dirty="0">
                <a:latin typeface="Consolas" panose="020B0609020204030204" pitchFamily="49" charset="0"/>
              </a:rPr>
              <a:t>#define TIFR0 (*(volatile uint8_t*)0x35) </a:t>
            </a:r>
          </a:p>
          <a:p>
            <a:pPr lvl="1"/>
            <a:r>
              <a:rPr lang="en-US" dirty="0"/>
              <a:t>OCF0A — Output Compare Flag Timer0 A</a:t>
            </a:r>
          </a:p>
          <a:p>
            <a:pPr lvl="1"/>
            <a:r>
              <a:rPr lang="ru-RU" dirty="0"/>
              <a:t>флаг устанавливается таймером при </a:t>
            </a:r>
            <a:r>
              <a:rPr lang="en-US" dirty="0"/>
              <a:t>compare </a:t>
            </a:r>
            <a:r>
              <a:rPr lang="en-US" dirty="0" err="1"/>
              <a:t>matc</a:t>
            </a:r>
            <a:endParaRPr lang="en-US" dirty="0"/>
          </a:p>
          <a:p>
            <a:r>
              <a:rPr lang="ru-RU" dirty="0"/>
              <a:t>В случае прерываний </a:t>
            </a:r>
            <a:r>
              <a:rPr lang="en-US" dirty="0"/>
              <a:t>CPU </a:t>
            </a:r>
            <a:r>
              <a:rPr lang="en-US" dirty="0" err="1"/>
              <a:t>реагирует</a:t>
            </a:r>
            <a:r>
              <a:rPr lang="en-US" dirty="0"/>
              <a:t> </a:t>
            </a:r>
            <a:r>
              <a:rPr lang="en-US" dirty="0" err="1"/>
              <a:t>только</a:t>
            </a:r>
            <a:r>
              <a:rPr lang="en-US" dirty="0"/>
              <a:t> </a:t>
            </a:r>
            <a:r>
              <a:rPr lang="en-US" dirty="0" err="1"/>
              <a:t>при</a:t>
            </a:r>
            <a:r>
              <a:rPr lang="en-US" dirty="0"/>
              <a:t> </a:t>
            </a:r>
            <a:r>
              <a:rPr lang="en-US" dirty="0" err="1"/>
              <a:t>возникновении</a:t>
            </a:r>
            <a:r>
              <a:rPr lang="en-US" dirty="0"/>
              <a:t> </a:t>
            </a:r>
            <a:r>
              <a:rPr lang="en-US" dirty="0" err="1"/>
              <a:t>события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6470265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5020F-545F-68C7-F06C-BA118066C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Interrupt Service Routine (ISR)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09282B-2EFE-482C-E4FB-62B7F99081F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 err="1"/>
              <a:t>Пример</a:t>
            </a:r>
            <a:r>
              <a:rPr lang="en-US" dirty="0"/>
              <a:t> ISR</a:t>
            </a:r>
          </a:p>
          <a:p>
            <a:pPr lvl="1"/>
            <a:r>
              <a:rPr lang="en-US" dirty="0"/>
              <a:t>ISR(TIMER0_COMPA_vect) {</a:t>
            </a:r>
            <a:br>
              <a:rPr lang="en-US" dirty="0"/>
            </a:br>
            <a:r>
              <a:rPr lang="en-US" dirty="0"/>
              <a:t>    PORTB ^= (1 &lt;&lt; PB5);</a:t>
            </a:r>
            <a:br>
              <a:rPr lang="en-US" dirty="0"/>
            </a:br>
            <a:r>
              <a:rPr lang="en-US" dirty="0"/>
              <a:t>}</a:t>
            </a:r>
          </a:p>
          <a:p>
            <a:r>
              <a:rPr lang="en-US" dirty="0" err="1"/>
              <a:t>Особенности</a:t>
            </a:r>
            <a:r>
              <a:rPr lang="en-US" dirty="0"/>
              <a:t> ISR</a:t>
            </a:r>
          </a:p>
          <a:p>
            <a:pPr lvl="1"/>
            <a:r>
              <a:rPr lang="en-US" dirty="0" err="1"/>
              <a:t>выполняется</a:t>
            </a:r>
            <a:r>
              <a:rPr lang="en-US" dirty="0"/>
              <a:t> </a:t>
            </a:r>
            <a:r>
              <a:rPr lang="en-US" dirty="0" err="1"/>
              <a:t>асинхронно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должна</a:t>
            </a:r>
            <a:r>
              <a:rPr lang="en-US" dirty="0"/>
              <a:t> </a:t>
            </a:r>
            <a:r>
              <a:rPr lang="en-US" dirty="0" err="1"/>
              <a:t>быть</a:t>
            </a:r>
            <a:r>
              <a:rPr lang="en-US" dirty="0"/>
              <a:t> </a:t>
            </a:r>
            <a:r>
              <a:rPr lang="en-US" dirty="0" err="1"/>
              <a:t>короткой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использует</a:t>
            </a:r>
            <a:r>
              <a:rPr lang="en-US" dirty="0"/>
              <a:t> </a:t>
            </a:r>
            <a:r>
              <a:rPr lang="en-US" dirty="0" err="1"/>
              <a:t>стек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прервать</a:t>
            </a:r>
            <a:r>
              <a:rPr lang="en-US" dirty="0"/>
              <a:t> </a:t>
            </a:r>
            <a:r>
              <a:rPr lang="en-US" dirty="0" err="1"/>
              <a:t>основную</a:t>
            </a:r>
            <a:r>
              <a:rPr lang="en-US" dirty="0"/>
              <a:t> </a:t>
            </a:r>
            <a:r>
              <a:rPr lang="en-US" dirty="0" err="1"/>
              <a:t>программу</a:t>
            </a:r>
            <a:r>
              <a:rPr lang="en-US" dirty="0"/>
              <a:t> в </a:t>
            </a:r>
            <a:r>
              <a:rPr lang="en-US" dirty="0" err="1"/>
              <a:t>любой</a:t>
            </a:r>
            <a:r>
              <a:rPr lang="en-US" dirty="0"/>
              <a:t> </a:t>
            </a:r>
            <a:r>
              <a:rPr lang="en-US" dirty="0" err="1"/>
              <a:t>момент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990ADC-C6B9-7251-0DDD-7C407F31A9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2555875"/>
          </a:xfrm>
        </p:spPr>
        <p:txBody>
          <a:bodyPr>
            <a:normAutofit fontScale="92500" lnSpcReduction="10000"/>
          </a:bodyPr>
          <a:lstStyle/>
          <a:p>
            <a:r>
              <a:rPr lang="en-US" b="1" dirty="0" err="1"/>
              <a:t>Макрос</a:t>
            </a:r>
            <a:r>
              <a:rPr lang="en-US" b="1" dirty="0"/>
              <a:t> ISR(...)</a:t>
            </a:r>
          </a:p>
          <a:p>
            <a:pPr lvl="1"/>
            <a:r>
              <a:rPr lang="en-US" dirty="0" err="1"/>
              <a:t>связывает</a:t>
            </a:r>
            <a:r>
              <a:rPr lang="en-US" dirty="0"/>
              <a:t> </a:t>
            </a:r>
            <a:r>
              <a:rPr lang="en-US" dirty="0" err="1"/>
              <a:t>функцию</a:t>
            </a:r>
            <a:r>
              <a:rPr lang="en-US" dirty="0"/>
              <a:t> с interrupt vector </a:t>
            </a:r>
          </a:p>
          <a:p>
            <a:pPr lvl="1"/>
            <a:r>
              <a:rPr lang="en-US" dirty="0" err="1"/>
              <a:t>формирует</a:t>
            </a:r>
            <a:r>
              <a:rPr lang="en-US" dirty="0"/>
              <a:t> </a:t>
            </a:r>
            <a:r>
              <a:rPr lang="en-US" dirty="0" err="1"/>
              <a:t>корректный</a:t>
            </a:r>
            <a:r>
              <a:rPr lang="en-US" dirty="0"/>
              <a:t> </a:t>
            </a:r>
            <a:r>
              <a:rPr lang="en-US" dirty="0" err="1"/>
              <a:t>обработчик</a:t>
            </a:r>
            <a:r>
              <a:rPr lang="en-US" dirty="0"/>
              <a:t> </a:t>
            </a:r>
            <a:r>
              <a:rPr lang="en-US" dirty="0" err="1"/>
              <a:t>прерывания</a:t>
            </a:r>
            <a:r>
              <a:rPr lang="en-US" dirty="0"/>
              <a:t> </a:t>
            </a:r>
          </a:p>
          <a:p>
            <a:pPr lvl="1"/>
            <a:r>
              <a:rPr lang="en-US" dirty="0" err="1"/>
              <a:t>добавляет</a:t>
            </a:r>
            <a:r>
              <a:rPr lang="en-US" dirty="0"/>
              <a:t> </a:t>
            </a:r>
            <a:r>
              <a:rPr lang="en-US" dirty="0" err="1"/>
              <a:t>специальную</a:t>
            </a:r>
            <a:r>
              <a:rPr lang="en-US" dirty="0"/>
              <a:t> </a:t>
            </a:r>
            <a:r>
              <a:rPr lang="en-US" dirty="0" err="1"/>
              <a:t>последовательность</a:t>
            </a:r>
            <a:r>
              <a:rPr lang="en-US" dirty="0"/>
              <a:t> </a:t>
            </a:r>
            <a:r>
              <a:rPr lang="ru-RU" dirty="0"/>
              <a:t>команд </a:t>
            </a:r>
            <a:r>
              <a:rPr lang="en-US" dirty="0" err="1"/>
              <a:t>возврата</a:t>
            </a:r>
            <a:endParaRPr lang="ru-RU" dirty="0"/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D53606BD-B60B-B791-9694-61F2735F74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900249"/>
              </p:ext>
            </p:extLst>
          </p:nvPr>
        </p:nvGraphicFramePr>
        <p:xfrm>
          <a:off x="6172200" y="4516437"/>
          <a:ext cx="5848350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4175">
                  <a:extLst>
                    <a:ext uri="{9D8B030D-6E8A-4147-A177-3AD203B41FA5}">
                      <a16:colId xmlns:a16="http://schemas.microsoft.com/office/drawing/2014/main" val="234980313"/>
                    </a:ext>
                  </a:extLst>
                </a:gridCol>
                <a:gridCol w="2924175">
                  <a:extLst>
                    <a:ext uri="{9D8B030D-6E8A-4147-A177-3AD203B41FA5}">
                      <a16:colId xmlns:a16="http://schemas.microsoft.com/office/drawing/2014/main" val="6124821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Обычная функция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ISR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520872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Вызывается программой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Вызывается аппаратурой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932514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call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Interrupt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3757952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ret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reti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576462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ru-RU" dirty="0"/>
                        <a:t>Обычный поток выполнения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/>
                        <a:t>Асинхронное выполнение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38769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8670007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F10FDA-E8F7-38C0-07D2-22901E64C1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volatile и interrupts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AE07CA-BE7E-8652-9652-8F10DADD5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 err="1"/>
              <a:t>Проблема</a:t>
            </a:r>
            <a:endParaRPr lang="en-US" dirty="0"/>
          </a:p>
          <a:p>
            <a:pPr lvl="1"/>
            <a:r>
              <a:rPr lang="en-US" dirty="0">
                <a:latin typeface="Consolas" panose="020B0609020204030204" pitchFamily="49" charset="0"/>
              </a:rPr>
              <a:t>while (!flag) {</a:t>
            </a:r>
            <a:br>
              <a:rPr lang="en-US" dirty="0"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}</a:t>
            </a:r>
          </a:p>
          <a:p>
            <a:r>
              <a:rPr lang="en-US" dirty="0" err="1"/>
              <a:t>Если</a:t>
            </a:r>
            <a:r>
              <a:rPr lang="en-US" dirty="0"/>
              <a:t> flag </a:t>
            </a:r>
            <a:r>
              <a:rPr lang="en-US" dirty="0" err="1"/>
              <a:t>изменяется</a:t>
            </a:r>
            <a:r>
              <a:rPr lang="en-US" dirty="0"/>
              <a:t> </a:t>
            </a:r>
            <a:r>
              <a:rPr lang="en-US" dirty="0" err="1"/>
              <a:t>внутри</a:t>
            </a:r>
            <a:r>
              <a:rPr lang="en-US" dirty="0"/>
              <a:t> ISR:</a:t>
            </a:r>
          </a:p>
          <a:p>
            <a:pPr lvl="1"/>
            <a:r>
              <a:rPr lang="en-US" dirty="0">
                <a:latin typeface="Consolas" panose="020B0609020204030204" pitchFamily="49" charset="0"/>
              </a:rPr>
              <a:t>volatile uint8_t flag;</a:t>
            </a:r>
          </a:p>
          <a:p>
            <a:r>
              <a:rPr lang="en-US" dirty="0" err="1"/>
              <a:t>Почему</a:t>
            </a:r>
            <a:r>
              <a:rPr lang="en-US" dirty="0"/>
              <a:t> </a:t>
            </a:r>
            <a:r>
              <a:rPr lang="en-US" dirty="0" err="1"/>
              <a:t>нужен</a:t>
            </a:r>
            <a:r>
              <a:rPr lang="en-US" dirty="0"/>
              <a:t> volatile</a:t>
            </a:r>
          </a:p>
          <a:p>
            <a:pPr lvl="1"/>
            <a:r>
              <a:rPr lang="en-US" dirty="0" err="1"/>
              <a:t>Компилятор</a:t>
            </a:r>
            <a:r>
              <a:rPr lang="en-US" dirty="0"/>
              <a:t> </a:t>
            </a:r>
            <a:r>
              <a:rPr lang="en-US" dirty="0" err="1"/>
              <a:t>не</a:t>
            </a:r>
            <a:r>
              <a:rPr lang="en-US" dirty="0"/>
              <a:t> </a:t>
            </a:r>
            <a:r>
              <a:rPr lang="en-US" dirty="0" err="1"/>
              <a:t>знает</a:t>
            </a:r>
            <a:r>
              <a:rPr lang="en-US" dirty="0"/>
              <a:t>, </a:t>
            </a:r>
            <a:r>
              <a:rPr lang="en-US" dirty="0" err="1"/>
              <a:t>что</a:t>
            </a:r>
            <a:r>
              <a:rPr lang="en-US" dirty="0"/>
              <a:t> </a:t>
            </a:r>
            <a:r>
              <a:rPr lang="en-US" dirty="0" err="1"/>
              <a:t>значение</a:t>
            </a:r>
            <a:r>
              <a:rPr lang="en-US" dirty="0"/>
              <a:t> </a:t>
            </a:r>
            <a:r>
              <a:rPr lang="en-US" dirty="0" err="1"/>
              <a:t>переменной</a:t>
            </a:r>
            <a:r>
              <a:rPr lang="en-US" dirty="0"/>
              <a:t> </a:t>
            </a:r>
            <a:r>
              <a:rPr lang="en-US" dirty="0" err="1"/>
              <a:t>может</a:t>
            </a:r>
            <a:r>
              <a:rPr lang="en-US" dirty="0"/>
              <a:t> </a:t>
            </a:r>
            <a:r>
              <a:rPr lang="en-US" dirty="0" err="1"/>
              <a:t>измениться</a:t>
            </a:r>
            <a:r>
              <a:rPr lang="en-US" dirty="0"/>
              <a:t> </a:t>
            </a:r>
            <a:r>
              <a:rPr lang="en-US" dirty="0" err="1"/>
              <a:t>аппаратно</a:t>
            </a:r>
            <a:r>
              <a:rPr lang="en-US" dirty="0"/>
              <a:t> </a:t>
            </a:r>
            <a:r>
              <a:rPr lang="ru-RU" dirty="0"/>
              <a:t>или внутри прерывания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328822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05BF59-7583-4579-F9ED-17E8EC61FD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568BFBC-50D8-56CC-5C0A-F2C5757A78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35539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626</TotalTime>
  <Words>6658</Words>
  <Application>Microsoft Office PowerPoint</Application>
  <PresentationFormat>Widescreen</PresentationFormat>
  <Paragraphs>856</Paragraphs>
  <Slides>37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2" baseType="lpstr">
      <vt:lpstr>Aptos</vt:lpstr>
      <vt:lpstr>Aptos Display</vt:lpstr>
      <vt:lpstr>Arial</vt:lpstr>
      <vt:lpstr>Consolas</vt:lpstr>
      <vt:lpstr>Office Theme</vt:lpstr>
      <vt:lpstr>Программирование микроконтроллеров</vt:lpstr>
      <vt:lpstr>Встраиваемые системы (embedded systems)</vt:lpstr>
      <vt:lpstr>Что такое микроконтроллер</vt:lpstr>
      <vt:lpstr>Из чего состоит микроконтроллер</vt:lpstr>
      <vt:lpstr>CPU внутри микроконтроллера</vt:lpstr>
      <vt:lpstr>Периферия микроконтроллера</vt:lpstr>
      <vt:lpstr>Микроконтроллер как система на кристалле</vt:lpstr>
      <vt:lpstr>Микроконтроллеры AVR</vt:lpstr>
      <vt:lpstr>Архитектура AVR</vt:lpstr>
      <vt:lpstr>Гарвардская архитектура AVR</vt:lpstr>
      <vt:lpstr>Память в AVR</vt:lpstr>
      <vt:lpstr>Регистры AVR</vt:lpstr>
      <vt:lpstr>Система команд AVR</vt:lpstr>
      <vt:lpstr>Адресное пространство ATmega328P</vt:lpstr>
      <vt:lpstr>AVR и embedded-разработка</vt:lpstr>
      <vt:lpstr>Два пространства адресов для I/O-регистров</vt:lpstr>
      <vt:lpstr>PowerPoint Presentation</vt:lpstr>
      <vt:lpstr>Что происходит после загрузки программы</vt:lpstr>
      <vt:lpstr>GPIO: цифровые выводы микроконтроллера</vt:lpstr>
      <vt:lpstr>Режимы работы GPIO</vt:lpstr>
      <vt:lpstr>Работа с аппаратными регистрами</vt:lpstr>
      <vt:lpstr>GPIO в ATmega328P</vt:lpstr>
      <vt:lpstr>AVR Toolchain</vt:lpstr>
      <vt:lpstr>Toolchain для AVR</vt:lpstr>
      <vt:lpstr>Компиляция программы для AVR</vt:lpstr>
      <vt:lpstr>Дизассемблирование AVR-программы</vt:lpstr>
      <vt:lpstr>Прошивка микроконтроллера</vt:lpstr>
      <vt:lpstr>Особенности embedded toolchain</vt:lpstr>
      <vt:lpstr>Пример программы: мигание светодиодом</vt:lpstr>
      <vt:lpstr>Таймеры микроконтроллера</vt:lpstr>
      <vt:lpstr>Таймеры микроконтроллера</vt:lpstr>
      <vt:lpstr>Принцип работы таймера</vt:lpstr>
      <vt:lpstr>Прерывания (Interrupts)</vt:lpstr>
      <vt:lpstr>Polling vs Interrupts</vt:lpstr>
      <vt:lpstr>Interrupt Service Routine (ISR)</vt:lpstr>
      <vt:lpstr>volatile и interrupts</vt:lpstr>
      <vt:lpstr>UART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Алексей Малов</dc:creator>
  <cp:lastModifiedBy>K5 318</cp:lastModifiedBy>
  <cp:revision>5</cp:revision>
  <dcterms:created xsi:type="dcterms:W3CDTF">2026-05-19T02:55:18Z</dcterms:created>
  <dcterms:modified xsi:type="dcterms:W3CDTF">2026-05-25T21:37:47Z</dcterms:modified>
</cp:coreProperties>
</file>