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2" r:id="rId15"/>
    <p:sldId id="271" r:id="rId16"/>
    <p:sldId id="273" r:id="rId17"/>
    <p:sldId id="268" r:id="rId18"/>
    <p:sldId id="276" r:id="rId19"/>
    <p:sldId id="277" r:id="rId20"/>
    <p:sldId id="278" r:id="rId21"/>
    <p:sldId id="280" r:id="rId22"/>
    <p:sldId id="279" r:id="rId23"/>
    <p:sldId id="274" r:id="rId24"/>
    <p:sldId id="281" r:id="rId25"/>
    <p:sldId id="282" r:id="rId26"/>
    <p:sldId id="275" r:id="rId27"/>
    <p:sldId id="283" r:id="rId28"/>
    <p:sldId id="284" r:id="rId29"/>
    <p:sldId id="285" r:id="rId30"/>
    <p:sldId id="287" r:id="rId31"/>
    <p:sldId id="288" r:id="rId32"/>
    <p:sldId id="289" r:id="rId33"/>
    <p:sldId id="290" r:id="rId34"/>
    <p:sldId id="292" r:id="rId35"/>
    <p:sldId id="293" r:id="rId36"/>
    <p:sldId id="294" r:id="rId37"/>
    <p:sldId id="296" r:id="rId38"/>
    <p:sldId id="295" r:id="rId39"/>
    <p:sldId id="297" r:id="rId40"/>
    <p:sldId id="301" r:id="rId41"/>
    <p:sldId id="307" r:id="rId42"/>
    <p:sldId id="298" r:id="rId43"/>
    <p:sldId id="299" r:id="rId44"/>
    <p:sldId id="300" r:id="rId45"/>
    <p:sldId id="302" r:id="rId46"/>
    <p:sldId id="303" r:id="rId47"/>
    <p:sldId id="304" r:id="rId48"/>
    <p:sldId id="305" r:id="rId49"/>
    <p:sldId id="306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291" r:id="rId63"/>
    <p:sldId id="323" r:id="rId64"/>
    <p:sldId id="324" r:id="rId65"/>
    <p:sldId id="325" r:id="rId66"/>
    <p:sldId id="326" r:id="rId67"/>
    <p:sldId id="320" r:id="rId68"/>
    <p:sldId id="321" r:id="rId69"/>
    <p:sldId id="322" r:id="rId70"/>
    <p:sldId id="327" r:id="rId71"/>
    <p:sldId id="328" r:id="rId72"/>
    <p:sldId id="329" r:id="rId73"/>
    <p:sldId id="330" r:id="rId74"/>
    <p:sldId id="331" r:id="rId75"/>
    <p:sldId id="332" r:id="rId76"/>
    <p:sldId id="333" r:id="rId77"/>
    <p:sldId id="334" r:id="rId78"/>
    <p:sldId id="335" r:id="rId79"/>
    <p:sldId id="336" r:id="rId80"/>
    <p:sldId id="337" r:id="rId81"/>
    <p:sldId id="338" r:id="rId82"/>
    <p:sldId id="339" r:id="rId83"/>
    <p:sldId id="340" r:id="rId84"/>
    <p:sldId id="341" r:id="rId85"/>
    <p:sldId id="342" r:id="rId86"/>
    <p:sldId id="343" r:id="rId87"/>
    <p:sldId id="344" r:id="rId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796" autoAdjust="0"/>
  </p:normalViewPr>
  <p:slideViewPr>
    <p:cSldViewPr snapToGrid="0" showGuides="1">
      <p:cViewPr varScale="1">
        <p:scale>
          <a:sx n="88" d="100"/>
          <a:sy n="88" d="100"/>
        </p:scale>
        <p:origin x="462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0DF67-43DD-4C69-A81D-1BCF90B7192E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377F0E-5212-47C6-B88A-D2005084B0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50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в </a:t>
            </a:r>
            <a:r>
              <a:rPr lang="en-US" dirty="0" err="1"/>
              <a:t>основном</a:t>
            </a:r>
            <a:r>
              <a:rPr lang="en-US" dirty="0"/>
              <a:t> </a:t>
            </a:r>
            <a:r>
              <a:rPr lang="en-US" dirty="0" err="1"/>
              <a:t>говорили</a:t>
            </a:r>
            <a:r>
              <a:rPr lang="en-US" dirty="0"/>
              <a:t> о </a:t>
            </a:r>
            <a:r>
              <a:rPr lang="en-US" dirty="0" err="1"/>
              <a:t>процессорах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— </a:t>
            </a:r>
            <a:r>
              <a:rPr lang="en-US" dirty="0" err="1"/>
              <a:t>таких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x86-64 в </a:t>
            </a:r>
            <a:r>
              <a:rPr lang="en-US" dirty="0" err="1"/>
              <a:t>настольных</a:t>
            </a:r>
            <a:r>
              <a:rPr lang="en-US" dirty="0"/>
              <a:t> </a:t>
            </a:r>
            <a:r>
              <a:rPr lang="en-US" dirty="0" err="1"/>
              <a:t>компьютерах</a:t>
            </a:r>
            <a:r>
              <a:rPr lang="en-US" dirty="0"/>
              <a:t> и </a:t>
            </a:r>
            <a:r>
              <a:rPr lang="en-US" dirty="0" err="1"/>
              <a:t>серверах</a:t>
            </a:r>
            <a:r>
              <a:rPr lang="en-US" dirty="0"/>
              <a:t>.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переходим</a:t>
            </a:r>
            <a:r>
              <a:rPr lang="en-US" dirty="0"/>
              <a:t> к </a:t>
            </a:r>
            <a:r>
              <a:rPr lang="en-US" dirty="0" err="1"/>
              <a:t>другому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 — embedded systems,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встраиваемым</a:t>
            </a:r>
            <a:r>
              <a:rPr lang="en-US" dirty="0"/>
              <a:t> </a:t>
            </a:r>
            <a:r>
              <a:rPr lang="en-US" dirty="0" err="1"/>
              <a:t>системам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Embedded system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, </a:t>
            </a:r>
            <a:r>
              <a:rPr lang="en-US" dirty="0" err="1"/>
              <a:t>встроенный</a:t>
            </a:r>
            <a:r>
              <a:rPr lang="en-US" dirty="0"/>
              <a:t> </a:t>
            </a:r>
            <a:r>
              <a:rPr lang="en-US" dirty="0" err="1"/>
              <a:t>внутрь</a:t>
            </a:r>
            <a:r>
              <a:rPr lang="en-US" dirty="0"/>
              <a:t> </a:t>
            </a:r>
            <a:r>
              <a:rPr lang="en-US" dirty="0" err="1"/>
              <a:t>какого-то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выполняющий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ПК,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предназначена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произвольных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пользователем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embedded systems </a:t>
            </a:r>
            <a:r>
              <a:rPr lang="en-US" dirty="0" err="1"/>
              <a:t>окружают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повсюду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в </a:t>
            </a:r>
            <a:r>
              <a:rPr lang="en-US" dirty="0" err="1"/>
              <a:t>стиральных</a:t>
            </a:r>
            <a:r>
              <a:rPr lang="en-US" dirty="0"/>
              <a:t> </a:t>
            </a:r>
            <a:r>
              <a:rPr lang="en-US" dirty="0" err="1"/>
              <a:t>машинах</a:t>
            </a:r>
            <a:r>
              <a:rPr lang="en-US" dirty="0"/>
              <a:t>, </a:t>
            </a:r>
            <a:r>
              <a:rPr lang="en-US" dirty="0" err="1"/>
              <a:t>микроволновках</a:t>
            </a:r>
            <a:r>
              <a:rPr lang="en-US" dirty="0"/>
              <a:t>, </a:t>
            </a:r>
            <a:r>
              <a:rPr lang="en-US" dirty="0" err="1"/>
              <a:t>автомобилях</a:t>
            </a:r>
            <a:r>
              <a:rPr lang="en-US" dirty="0"/>
              <a:t>, </a:t>
            </a:r>
            <a:r>
              <a:rPr lang="en-US" dirty="0" err="1"/>
              <a:t>роутерах</a:t>
            </a:r>
            <a:r>
              <a:rPr lang="en-US" dirty="0"/>
              <a:t>, </a:t>
            </a:r>
            <a:r>
              <a:rPr lang="en-US" dirty="0" err="1"/>
              <a:t>клавиатурах</a:t>
            </a:r>
            <a:r>
              <a:rPr lang="en-US" dirty="0"/>
              <a:t>, </a:t>
            </a:r>
            <a:r>
              <a:rPr lang="en-US" dirty="0" err="1"/>
              <a:t>принтерах</a:t>
            </a:r>
            <a:r>
              <a:rPr lang="en-US" dirty="0"/>
              <a:t>, </a:t>
            </a:r>
            <a:r>
              <a:rPr lang="en-US" dirty="0" err="1"/>
              <a:t>датчиках</a:t>
            </a:r>
            <a:r>
              <a:rPr lang="en-US" dirty="0"/>
              <a:t>, </a:t>
            </a:r>
            <a:r>
              <a:rPr lang="en-US" dirty="0" err="1"/>
              <a:t>медицинском</a:t>
            </a:r>
            <a:r>
              <a:rPr lang="en-US" dirty="0"/>
              <a:t> </a:t>
            </a:r>
            <a:r>
              <a:rPr lang="en-US" dirty="0" err="1"/>
              <a:t>оборудовании</a:t>
            </a:r>
            <a:r>
              <a:rPr lang="en-US" dirty="0"/>
              <a:t>, </a:t>
            </a:r>
            <a:r>
              <a:rPr lang="en-US" dirty="0" err="1"/>
              <a:t>дронах</a:t>
            </a:r>
            <a:r>
              <a:rPr lang="en-US" dirty="0"/>
              <a:t> и </a:t>
            </a:r>
            <a:r>
              <a:rPr lang="en-US" dirty="0" err="1"/>
              <a:t>огромном</a:t>
            </a:r>
            <a:r>
              <a:rPr lang="en-US" dirty="0"/>
              <a:t> </a:t>
            </a:r>
            <a:r>
              <a:rPr lang="en-US" dirty="0" err="1"/>
              <a:t>количестве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основой</a:t>
            </a:r>
            <a:r>
              <a:rPr lang="en-US" dirty="0"/>
              <a:t> embedded system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.</a:t>
            </a:r>
          </a:p>
          <a:p>
            <a:r>
              <a:rPr lang="en-US" dirty="0" err="1"/>
              <a:t>Микроконтроллер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ПК,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чипсет</a:t>
            </a:r>
            <a:r>
              <a:rPr lang="en-US" dirty="0"/>
              <a:t>, </a:t>
            </a:r>
            <a:r>
              <a:rPr lang="en-US" dirty="0" err="1"/>
              <a:t>внешняя</a:t>
            </a:r>
            <a:r>
              <a:rPr lang="en-US" dirty="0"/>
              <a:t> RAM и </a:t>
            </a:r>
            <a:r>
              <a:rPr lang="en-US" dirty="0" err="1"/>
              <a:t>сложная</a:t>
            </a:r>
            <a:r>
              <a:rPr lang="en-US" dirty="0"/>
              <a:t> </a:t>
            </a:r>
            <a:r>
              <a:rPr lang="en-US" dirty="0" err="1"/>
              <a:t>инфраструктура</a:t>
            </a:r>
            <a:r>
              <a:rPr lang="en-US" dirty="0"/>
              <a:t> </a:t>
            </a:r>
            <a:r>
              <a:rPr lang="en-US" dirty="0" err="1"/>
              <a:t>вокруг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ближе</a:t>
            </a:r>
            <a:r>
              <a:rPr lang="en-US" dirty="0"/>
              <a:t> к </a:t>
            </a:r>
            <a:r>
              <a:rPr lang="en-US" dirty="0" err="1"/>
              <a:t>железу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привычной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</a:t>
            </a:r>
            <a:r>
              <a:rPr lang="en-US" dirty="0" err="1"/>
              <a:t>виртуальной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абстракций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,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темы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—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указатели</a:t>
            </a:r>
            <a:r>
              <a:rPr lang="en-US" dirty="0"/>
              <a:t>, </a:t>
            </a:r>
            <a:r>
              <a:rPr lang="en-US" dirty="0" err="1"/>
              <a:t>ассемблер</a:t>
            </a:r>
            <a:r>
              <a:rPr lang="en-US" dirty="0"/>
              <a:t>, ABI,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и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—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744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маленький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, </a:t>
            </a:r>
            <a:r>
              <a:rPr lang="en-US" dirty="0" err="1"/>
              <a:t>собранный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в </a:t>
            </a:r>
            <a:r>
              <a:rPr lang="en-US" dirty="0" err="1"/>
              <a:t>настольном</a:t>
            </a:r>
            <a:r>
              <a:rPr lang="en-US" dirty="0"/>
              <a:t> </a:t>
            </a:r>
            <a:r>
              <a:rPr lang="en-US" dirty="0" err="1"/>
              <a:t>компьютере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контроллеры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и </a:t>
            </a:r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в </a:t>
            </a:r>
            <a:r>
              <a:rPr lang="en-US" dirty="0" err="1"/>
              <a:t>микроконтроллере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объединено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оборудованием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мотором</a:t>
            </a:r>
            <a:r>
              <a:rPr lang="en-US" dirty="0"/>
              <a:t>,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температуру</a:t>
            </a:r>
            <a:r>
              <a:rPr lang="en-US" dirty="0"/>
              <a:t>,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UART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светодиодами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физическим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89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подробнее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Центральный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CPU,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x86-64,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производительны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Flash memory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энергонезависимая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в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выключения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flash </a:t>
            </a:r>
            <a:r>
              <a:rPr lang="en-US" dirty="0" err="1"/>
              <a:t>сохраняется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SRAM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</a:t>
            </a:r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динамически</a:t>
            </a:r>
            <a:r>
              <a:rPr lang="en-US" dirty="0"/>
              <a:t> </a:t>
            </a:r>
            <a:r>
              <a:rPr lang="en-US" dirty="0" err="1"/>
              <a:t>выделенная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EEPROM —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энергонезависимой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объёмов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сохраняться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настроек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калибровочных</a:t>
            </a:r>
            <a:r>
              <a:rPr lang="en-US" dirty="0"/>
              <a:t> </a:t>
            </a:r>
            <a:r>
              <a:rPr lang="en-US" dirty="0" err="1"/>
              <a:t>коэффициентов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dirty="0" err="1"/>
              <a:t>периферию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полезным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embedded systems.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—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,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78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различия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микроконтроллерами</a:t>
            </a:r>
            <a:r>
              <a:rPr lang="en-US" dirty="0"/>
              <a:t> и </a:t>
            </a:r>
            <a:r>
              <a:rPr lang="en-US" dirty="0" err="1"/>
              <a:t>современными</a:t>
            </a:r>
            <a:r>
              <a:rPr lang="en-US" dirty="0"/>
              <a:t> </a:t>
            </a:r>
            <a:r>
              <a:rPr lang="en-US" dirty="0" err="1"/>
              <a:t>процессорами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ПК, </a:t>
            </a:r>
            <a:r>
              <a:rPr lang="en-US" dirty="0" err="1"/>
              <a:t>фундаментальные</a:t>
            </a:r>
            <a:r>
              <a:rPr lang="en-US" dirty="0"/>
              <a:t> </a:t>
            </a:r>
            <a:r>
              <a:rPr lang="en-US" dirty="0" err="1"/>
              <a:t>принципы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теми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CPU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и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.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концепции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— </a:t>
            </a:r>
            <a:r>
              <a:rPr lang="en-US" dirty="0" err="1"/>
              <a:t>стековые</a:t>
            </a:r>
            <a:r>
              <a:rPr lang="en-US" dirty="0"/>
              <a:t> </a:t>
            </a:r>
            <a:r>
              <a:rPr lang="en-US" dirty="0" err="1"/>
              <a:t>кадры</a:t>
            </a:r>
            <a:r>
              <a:rPr lang="en-US" dirty="0"/>
              <a:t>, </a:t>
            </a:r>
            <a:r>
              <a:rPr lang="en-US" dirty="0" err="1"/>
              <a:t>указатели</a:t>
            </a:r>
            <a:r>
              <a:rPr lang="en-US" dirty="0"/>
              <a:t>, layout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ассемблерные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—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актуальными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: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ATmega328P,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Arduino Nano,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частоте</a:t>
            </a:r>
            <a:r>
              <a:rPr lang="en-US" dirty="0"/>
              <a:t> 16 </a:t>
            </a:r>
            <a:r>
              <a:rPr lang="en-US" dirty="0" err="1"/>
              <a:t>MHz.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: </a:t>
            </a:r>
            <a:r>
              <a:rPr lang="en-US" dirty="0" err="1"/>
              <a:t>современные</a:t>
            </a:r>
            <a:r>
              <a:rPr lang="en-US" dirty="0"/>
              <a:t> </a:t>
            </a:r>
            <a:r>
              <a:rPr lang="en-US" dirty="0" err="1"/>
              <a:t>процессоры</a:t>
            </a:r>
            <a:r>
              <a:rPr lang="en-US" dirty="0"/>
              <a:t> x86-64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частотах</a:t>
            </a:r>
            <a:r>
              <a:rPr lang="en-US" dirty="0"/>
              <a:t> в </a:t>
            </a:r>
            <a:r>
              <a:rPr lang="en-US" dirty="0" err="1"/>
              <a:t>несколько</a:t>
            </a:r>
            <a:r>
              <a:rPr lang="en-US" dirty="0"/>
              <a:t> GHz.</a:t>
            </a:r>
            <a:endParaRPr lang="ru-RU" dirty="0"/>
          </a:p>
          <a:p>
            <a:endParaRPr lang="en-US" dirty="0"/>
          </a:p>
          <a:p>
            <a:r>
              <a:rPr lang="en-US" dirty="0"/>
              <a:t>Объём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маленький</a:t>
            </a:r>
            <a:r>
              <a:rPr lang="en-US" dirty="0"/>
              <a:t>. В ATmega328P </a:t>
            </a:r>
            <a:r>
              <a:rPr lang="en-US" dirty="0" err="1"/>
              <a:t>всего</a:t>
            </a:r>
            <a:r>
              <a:rPr lang="en-US" dirty="0"/>
              <a:t> 2 KB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32 KB flash-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 embedded-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гораздо</a:t>
            </a:r>
            <a:r>
              <a:rPr lang="en-US" dirty="0"/>
              <a:t> </a:t>
            </a:r>
            <a:r>
              <a:rPr lang="en-US" dirty="0" err="1"/>
              <a:t>внимательнее</a:t>
            </a:r>
            <a:r>
              <a:rPr lang="en-US" dirty="0"/>
              <a:t> </a:t>
            </a:r>
            <a:r>
              <a:rPr lang="en-US" dirty="0" err="1"/>
              <a:t>относиться</a:t>
            </a:r>
            <a:r>
              <a:rPr lang="en-US" dirty="0"/>
              <a:t> к </a:t>
            </a:r>
            <a:r>
              <a:rPr lang="en-US" dirty="0" err="1"/>
              <a:t>размеру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76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встроенной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—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, </a:t>
            </a:r>
            <a:r>
              <a:rPr lang="en-US" dirty="0" err="1"/>
              <a:t>предназначенных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и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ограничивается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выполнением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 </a:t>
            </a:r>
            <a:r>
              <a:rPr lang="en-US" dirty="0" err="1"/>
              <a:t>Значительная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функциональности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управлением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и </a:t>
            </a:r>
            <a:r>
              <a:rPr lang="en-US" dirty="0" err="1"/>
              <a:t>обменом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с </a:t>
            </a:r>
            <a:r>
              <a:rPr lang="en-US" dirty="0" err="1"/>
              <a:t>окружающей</a:t>
            </a:r>
            <a:r>
              <a:rPr lang="en-US" dirty="0"/>
              <a:t> </a:t>
            </a:r>
            <a:r>
              <a:rPr lang="en-US" dirty="0" err="1"/>
              <a:t>средой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базовым</a:t>
            </a:r>
            <a:r>
              <a:rPr lang="en-US" dirty="0"/>
              <a:t> </a:t>
            </a:r>
            <a:r>
              <a:rPr lang="en-US" dirty="0" err="1"/>
              <a:t>видом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GPIO — General Purpose Input/Output.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программно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цифровых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 С </a:t>
            </a:r>
            <a:r>
              <a:rPr lang="en-US" dirty="0" err="1"/>
              <a:t>помощью</a:t>
            </a:r>
            <a:r>
              <a:rPr lang="en-US" dirty="0"/>
              <a:t> GPIO </a:t>
            </a:r>
            <a:r>
              <a:rPr lang="en-US" dirty="0" err="1"/>
              <a:t>можно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светодиодами</a:t>
            </a:r>
            <a:r>
              <a:rPr lang="en-US" dirty="0"/>
              <a:t>,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UART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последовательной</a:t>
            </a:r>
            <a:r>
              <a:rPr lang="en-US" dirty="0"/>
              <a:t> </a:t>
            </a:r>
            <a:r>
              <a:rPr lang="en-US" dirty="0" err="1"/>
              <a:t>асинхронной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информацией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микроконтроллером</a:t>
            </a:r>
            <a:r>
              <a:rPr lang="en-US" dirty="0"/>
              <a:t> и </a:t>
            </a:r>
            <a:r>
              <a:rPr lang="en-US" dirty="0" err="1"/>
              <a:t>компьютером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электронными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Интерфейсы</a:t>
            </a:r>
            <a:r>
              <a:rPr lang="en-US" dirty="0"/>
              <a:t> SPI и I2C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микросхем</a:t>
            </a:r>
            <a:r>
              <a:rPr lang="en-US" dirty="0"/>
              <a:t> и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,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датчики</a:t>
            </a:r>
            <a:r>
              <a:rPr lang="en-US" dirty="0"/>
              <a:t>, </a:t>
            </a:r>
            <a:r>
              <a:rPr lang="en-US" dirty="0" err="1"/>
              <a:t>дисплеи</a:t>
            </a:r>
            <a:r>
              <a:rPr lang="en-US" dirty="0"/>
              <a:t>, </a:t>
            </a:r>
            <a:r>
              <a:rPr lang="en-US" dirty="0" err="1"/>
              <a:t>энергонезависимая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Таймеры</a:t>
            </a:r>
            <a:r>
              <a:rPr lang="en-US" dirty="0"/>
              <a:t> и </a:t>
            </a:r>
            <a:r>
              <a:rPr lang="en-US" dirty="0" err="1"/>
              <a:t>счётчики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,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и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связанные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участия</a:t>
            </a:r>
            <a:r>
              <a:rPr lang="en-US" dirty="0"/>
              <a:t> </a:t>
            </a:r>
            <a:r>
              <a:rPr lang="en-US" dirty="0" err="1"/>
              <a:t>центрального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ADC — analog-to-digital converter —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аналоговых</a:t>
            </a:r>
            <a:r>
              <a:rPr lang="en-US" dirty="0"/>
              <a:t> </a:t>
            </a:r>
            <a:r>
              <a:rPr lang="en-US" dirty="0" err="1"/>
              <a:t>электрических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в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пригодные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датчиками</a:t>
            </a:r>
            <a:r>
              <a:rPr lang="en-US" dirty="0"/>
              <a:t> </a:t>
            </a:r>
            <a:r>
              <a:rPr lang="en-US" dirty="0" err="1"/>
              <a:t>температуры</a:t>
            </a:r>
            <a:r>
              <a:rPr lang="en-US" dirty="0"/>
              <a:t>, </a:t>
            </a:r>
            <a:r>
              <a:rPr lang="en-US" dirty="0" err="1"/>
              <a:t>освещённости</a:t>
            </a:r>
            <a:r>
              <a:rPr lang="en-US" dirty="0"/>
              <a:t>, </a:t>
            </a:r>
            <a:r>
              <a:rPr lang="en-US" dirty="0" err="1"/>
              <a:t>напряжения</a:t>
            </a:r>
            <a:r>
              <a:rPr lang="en-US" dirty="0"/>
              <a:t>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аналоговыми</a:t>
            </a:r>
            <a:r>
              <a:rPr lang="en-US" dirty="0"/>
              <a:t> </a:t>
            </a:r>
            <a:r>
              <a:rPr lang="en-US" dirty="0" err="1"/>
              <a:t>источниками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PWM — pulse width modulation —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регулировке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 </a:t>
            </a:r>
            <a:r>
              <a:rPr lang="en-US" dirty="0" err="1"/>
              <a:t>светодиодов</a:t>
            </a:r>
            <a:r>
              <a:rPr lang="en-US" dirty="0"/>
              <a:t>, </a:t>
            </a:r>
            <a:r>
              <a:rPr lang="en-US" dirty="0" err="1"/>
              <a:t>управлении</a:t>
            </a:r>
            <a:r>
              <a:rPr lang="en-US" dirty="0"/>
              <a:t> </a:t>
            </a:r>
            <a:r>
              <a:rPr lang="en-US" dirty="0" err="1"/>
              <a:t>скоростью</a:t>
            </a:r>
            <a:r>
              <a:rPr lang="en-US" dirty="0"/>
              <a:t> </a:t>
            </a:r>
            <a:r>
              <a:rPr lang="en-US" dirty="0" err="1"/>
              <a:t>электродвигателей</a:t>
            </a:r>
            <a:r>
              <a:rPr lang="en-US" dirty="0"/>
              <a:t> и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аналогоподобных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управляются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.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концепциями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, </a:t>
            </a:r>
            <a:r>
              <a:rPr lang="en-US" dirty="0" err="1"/>
              <a:t>адресации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низкоуровневого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рассматривались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1030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полноценную</a:t>
            </a:r>
            <a:r>
              <a:rPr lang="en-US" dirty="0"/>
              <a:t> </a:t>
            </a:r>
            <a:r>
              <a:rPr lang="en-US" dirty="0" err="1"/>
              <a:t>вычислительную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, </a:t>
            </a:r>
            <a:r>
              <a:rPr lang="en-US" dirty="0" err="1"/>
              <a:t>интегрированную</a:t>
            </a:r>
            <a:r>
              <a:rPr lang="en-US" dirty="0"/>
              <a:t> в </a:t>
            </a:r>
            <a:r>
              <a:rPr lang="en-US" dirty="0" err="1"/>
              <a:t>пределах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полупроводникового</a:t>
            </a:r>
            <a:r>
              <a:rPr lang="en-US" dirty="0"/>
              <a:t> </a:t>
            </a:r>
            <a:r>
              <a:rPr lang="en-US" dirty="0" err="1"/>
              <a:t>кристалла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традиционных</a:t>
            </a:r>
            <a:r>
              <a:rPr lang="en-US" dirty="0"/>
              <a:t> </a:t>
            </a:r>
            <a:r>
              <a:rPr lang="en-US" dirty="0" err="1"/>
              <a:t>компьютерных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контроллеры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представлены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, в </a:t>
            </a:r>
            <a:r>
              <a:rPr lang="en-US" dirty="0" err="1"/>
              <a:t>микроконтроллере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объединены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Типичный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, </a:t>
            </a:r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 и </a:t>
            </a:r>
            <a:r>
              <a:rPr lang="en-US" dirty="0" err="1"/>
              <a:t>внутренних</a:t>
            </a:r>
            <a:r>
              <a:rPr lang="en-US" dirty="0"/>
              <a:t> </a:t>
            </a:r>
            <a:r>
              <a:rPr lang="en-US" dirty="0" err="1"/>
              <a:t>системных</a:t>
            </a:r>
            <a:r>
              <a:rPr lang="en-US" dirty="0"/>
              <a:t> </a:t>
            </a:r>
            <a:r>
              <a:rPr lang="en-US" dirty="0" err="1"/>
              <a:t>контроллеров</a:t>
            </a:r>
            <a:r>
              <a:rPr lang="en-US" dirty="0"/>
              <a:t>.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этими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посредством</a:t>
            </a:r>
            <a:r>
              <a:rPr lang="en-US" dirty="0"/>
              <a:t> </a:t>
            </a:r>
            <a:r>
              <a:rPr lang="en-US" dirty="0" err="1"/>
              <a:t>внутренних</a:t>
            </a:r>
            <a:r>
              <a:rPr lang="en-US" dirty="0"/>
              <a:t> </a:t>
            </a:r>
            <a:r>
              <a:rPr lang="en-US" dirty="0" err="1"/>
              <a:t>шин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адресации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степень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ряд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преимуществ</a:t>
            </a:r>
            <a:r>
              <a:rPr lang="en-US" dirty="0"/>
              <a:t>.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обладают</a:t>
            </a:r>
            <a:r>
              <a:rPr lang="en-US" dirty="0"/>
              <a:t> </a:t>
            </a:r>
            <a:r>
              <a:rPr lang="en-US" dirty="0" err="1"/>
              <a:t>малыми</a:t>
            </a:r>
            <a:r>
              <a:rPr lang="en-US" dirty="0"/>
              <a:t> </a:t>
            </a:r>
            <a:r>
              <a:rPr lang="en-US" dirty="0" err="1"/>
              <a:t>размерами</a:t>
            </a:r>
            <a:r>
              <a:rPr lang="en-US" dirty="0"/>
              <a:t>, </a:t>
            </a:r>
            <a:r>
              <a:rPr lang="en-US" dirty="0" err="1"/>
              <a:t>низким</a:t>
            </a:r>
            <a:r>
              <a:rPr lang="en-US" dirty="0"/>
              <a:t> </a:t>
            </a:r>
            <a:r>
              <a:rPr lang="en-US" dirty="0" err="1"/>
              <a:t>энергопотреблением</a:t>
            </a:r>
            <a:r>
              <a:rPr lang="en-US" dirty="0"/>
              <a:t> и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невысокой</a:t>
            </a:r>
            <a:r>
              <a:rPr lang="en-US" dirty="0"/>
              <a:t> </a:t>
            </a:r>
            <a:r>
              <a:rPr lang="en-US" dirty="0" err="1"/>
              <a:t>стоимостью</a:t>
            </a:r>
            <a:r>
              <a:rPr lang="en-US" dirty="0"/>
              <a:t>. </a:t>
            </a:r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работающего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минимальное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применяются</a:t>
            </a:r>
            <a:r>
              <a:rPr lang="en-US" dirty="0"/>
              <a:t> в </a:t>
            </a:r>
            <a:r>
              <a:rPr lang="en-US" dirty="0" err="1"/>
              <a:t>устройствах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компактность</a:t>
            </a:r>
            <a:r>
              <a:rPr lang="en-US" dirty="0"/>
              <a:t>, </a:t>
            </a:r>
            <a:r>
              <a:rPr lang="en-US" dirty="0" err="1"/>
              <a:t>автономность</a:t>
            </a:r>
            <a:r>
              <a:rPr lang="en-US" dirty="0"/>
              <a:t> и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непосредственного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интеграция</a:t>
            </a:r>
            <a:r>
              <a:rPr lang="en-US" dirty="0"/>
              <a:t> </a:t>
            </a:r>
            <a:r>
              <a:rPr lang="en-US" dirty="0" err="1"/>
              <a:t>сопровождается</a:t>
            </a:r>
            <a:r>
              <a:rPr lang="en-US" dirty="0"/>
              <a:t> и </a:t>
            </a:r>
            <a:r>
              <a:rPr lang="en-US" dirty="0" err="1"/>
              <a:t>рядом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. Объём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невелик</a:t>
            </a:r>
            <a:r>
              <a:rPr lang="en-US" dirty="0"/>
              <a:t>, </a:t>
            </a:r>
            <a:r>
              <a:rPr lang="en-US" dirty="0" err="1"/>
              <a:t>вычислительная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сравнению</a:t>
            </a:r>
            <a:r>
              <a:rPr lang="en-US" dirty="0"/>
              <a:t> с </a:t>
            </a:r>
            <a:r>
              <a:rPr lang="en-US" dirty="0" err="1"/>
              <a:t>процессорами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а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ограничены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программного</a:t>
            </a:r>
            <a:r>
              <a:rPr lang="en-US" dirty="0"/>
              <a:t> </a:t>
            </a:r>
            <a:r>
              <a:rPr lang="en-US" dirty="0" err="1"/>
              <a:t>обеспечения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приобретают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и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496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платформы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дальнейшего</a:t>
            </a:r>
            <a:r>
              <a:rPr lang="en-US" dirty="0"/>
              <a:t> </a:t>
            </a:r>
            <a:r>
              <a:rPr lang="en-US" dirty="0" err="1"/>
              <a:t>изучения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/>
              <a:t>AVR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семейство</a:t>
            </a:r>
            <a:r>
              <a:rPr lang="en-US" dirty="0"/>
              <a:t> 8-битных </a:t>
            </a:r>
            <a:r>
              <a:rPr lang="en-US" dirty="0" err="1"/>
              <a:t>микроконтроллеров</a:t>
            </a:r>
            <a:r>
              <a:rPr lang="en-US" dirty="0"/>
              <a:t>, </a:t>
            </a:r>
            <a:r>
              <a:rPr lang="en-US" dirty="0" err="1"/>
              <a:t>первоначально</a:t>
            </a:r>
            <a:r>
              <a:rPr lang="en-US" dirty="0"/>
              <a:t> </a:t>
            </a:r>
            <a:r>
              <a:rPr lang="en-US" dirty="0" err="1"/>
              <a:t>разработанное</a:t>
            </a:r>
            <a:r>
              <a:rPr lang="en-US" dirty="0"/>
              <a:t> </a:t>
            </a:r>
            <a:r>
              <a:rPr lang="en-US" dirty="0" err="1"/>
              <a:t>компанией</a:t>
            </a:r>
            <a:r>
              <a:rPr lang="en-US" dirty="0"/>
              <a:t> Atmel,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позднее</a:t>
            </a:r>
            <a:r>
              <a:rPr lang="en-US" dirty="0"/>
              <a:t> </a:t>
            </a:r>
            <a:r>
              <a:rPr lang="en-US" dirty="0" err="1"/>
              <a:t>стала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Microchip Technology.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Микроконтроллеры</a:t>
            </a:r>
            <a:r>
              <a:rPr lang="en-US" dirty="0"/>
              <a:t> AVR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широкое</a:t>
            </a:r>
            <a:r>
              <a:rPr lang="en-US" dirty="0"/>
              <a:t> </a:t>
            </a:r>
            <a:r>
              <a:rPr lang="en-US" dirty="0" err="1"/>
              <a:t>распространение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архитектуре</a:t>
            </a:r>
            <a:r>
              <a:rPr lang="en-US" dirty="0"/>
              <a:t>, </a:t>
            </a:r>
            <a:r>
              <a:rPr lang="en-US" dirty="0" err="1"/>
              <a:t>доступности</a:t>
            </a:r>
            <a:r>
              <a:rPr lang="en-US" dirty="0"/>
              <a:t> и </a:t>
            </a:r>
            <a:r>
              <a:rPr lang="en-US" dirty="0" err="1"/>
              <a:t>большому</a:t>
            </a:r>
            <a:r>
              <a:rPr lang="en-US" dirty="0"/>
              <a:t>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учебных</a:t>
            </a:r>
            <a:r>
              <a:rPr lang="en-US" dirty="0"/>
              <a:t> </a:t>
            </a:r>
            <a:r>
              <a:rPr lang="en-US" dirty="0" err="1"/>
              <a:t>платформ</a:t>
            </a:r>
            <a:r>
              <a:rPr lang="en-US" dirty="0"/>
              <a:t>, </a:t>
            </a:r>
            <a:r>
              <a:rPr lang="en-US" dirty="0" err="1"/>
              <a:t>включая</a:t>
            </a:r>
            <a:r>
              <a:rPr lang="en-US" dirty="0"/>
              <a:t> Arduino.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dirty="0" err="1"/>
              <a:t>классу</a:t>
            </a:r>
            <a:r>
              <a:rPr lang="en-US" dirty="0"/>
              <a:t> RISC — Reduced Instruction Set Computer.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сравнительно</a:t>
            </a:r>
            <a:r>
              <a:rPr lang="en-US" dirty="0"/>
              <a:t> </a:t>
            </a:r>
            <a:r>
              <a:rPr lang="en-US" dirty="0" err="1"/>
              <a:t>невелик</a:t>
            </a:r>
            <a:r>
              <a:rPr lang="en-US" dirty="0"/>
              <a:t> и </a:t>
            </a:r>
            <a:r>
              <a:rPr lang="en-US" dirty="0" err="1"/>
              <a:t>ориентирован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быстрое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AVR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embedded systems,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, </a:t>
            </a:r>
            <a:r>
              <a:rPr lang="en-US" dirty="0" err="1"/>
              <a:t>предсказуемость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простота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2639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Harvard architecture.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</a:t>
            </a:r>
            <a:r>
              <a:rPr lang="en-US" dirty="0" err="1"/>
              <a:t>фон</a:t>
            </a:r>
            <a:r>
              <a:rPr lang="en-US" dirty="0"/>
              <a:t> </a:t>
            </a:r>
            <a:r>
              <a:rPr lang="en-US" dirty="0" err="1"/>
              <a:t>Неймана</a:t>
            </a:r>
            <a:r>
              <a:rPr lang="en-US" dirty="0"/>
              <a:t>, </a:t>
            </a:r>
            <a:r>
              <a:rPr lang="en-US" dirty="0" err="1"/>
              <a:t>характерной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и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едином</a:t>
            </a:r>
            <a:r>
              <a:rPr lang="en-US" dirty="0"/>
              <a:t>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Harvard architecture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разделены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шины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очередную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данными</a:t>
            </a:r>
            <a:r>
              <a:rPr lang="en-US" dirty="0"/>
              <a:t> в SRAM.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упрощает</a:t>
            </a:r>
            <a:r>
              <a:rPr lang="en-US" dirty="0"/>
              <a:t> </a:t>
            </a:r>
            <a:r>
              <a:rPr lang="en-US" dirty="0" err="1"/>
              <a:t>аппаратную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повысить</a:t>
            </a:r>
            <a:r>
              <a:rPr lang="en-US" dirty="0"/>
              <a:t>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в </a:t>
            </a:r>
            <a:r>
              <a:rPr lang="en-US" dirty="0" err="1"/>
              <a:t>условиях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31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предназначенных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Flash memory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SRAM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В </a:t>
            </a:r>
            <a:r>
              <a:rPr lang="en-US" dirty="0" err="1"/>
              <a:t>ней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</a:t>
            </a:r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и </a:t>
            </a:r>
            <a:r>
              <a:rPr lang="en-US" dirty="0" err="1"/>
              <a:t>динамически</a:t>
            </a:r>
            <a:r>
              <a:rPr lang="en-US" dirty="0"/>
              <a:t> </a:t>
            </a:r>
            <a:r>
              <a:rPr lang="en-US" dirty="0" err="1"/>
              <a:t>выделяемая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EEPROM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энергонезависимой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объёмов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операционных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виртуальную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защиты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с </a:t>
            </a:r>
            <a:r>
              <a:rPr lang="en-US" dirty="0" err="1"/>
              <a:t>физической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ограниченного</a:t>
            </a:r>
            <a:r>
              <a:rPr lang="en-US" dirty="0"/>
              <a:t> </a:t>
            </a:r>
            <a:r>
              <a:rPr lang="en-US" dirty="0" err="1"/>
              <a:t>объёма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embedded-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внимательно</a:t>
            </a:r>
            <a:r>
              <a:rPr lang="en-US" dirty="0"/>
              <a:t> </a:t>
            </a: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и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и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размещаются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95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содержит</a:t>
            </a:r>
            <a:r>
              <a:rPr lang="en-US" dirty="0"/>
              <a:t> 32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обозначаемых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R0–R31.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8-битного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, и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причин</a:t>
            </a:r>
            <a:r>
              <a:rPr lang="en-US" dirty="0"/>
              <a:t> </a:t>
            </a:r>
            <a:r>
              <a:rPr lang="en-US" dirty="0" err="1"/>
              <a:t>высокой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арифметических</a:t>
            </a:r>
            <a:r>
              <a:rPr lang="en-US" dirty="0"/>
              <a:t> и </a:t>
            </a:r>
            <a:r>
              <a:rPr lang="en-US" dirty="0" err="1"/>
              <a:t>логических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такт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Некоторые</a:t>
            </a:r>
            <a:r>
              <a:rPr lang="en-US" dirty="0"/>
              <a:t> </a:t>
            </a:r>
            <a:r>
              <a:rPr lang="en-US" dirty="0" err="1"/>
              <a:t>пары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16-битные </a:t>
            </a:r>
            <a:r>
              <a:rPr lang="en-US" dirty="0" err="1"/>
              <a:t>указатели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регистры</a:t>
            </a:r>
            <a:r>
              <a:rPr lang="en-US" dirty="0"/>
              <a:t> X, Y и Z </a:t>
            </a:r>
            <a:r>
              <a:rPr lang="en-US" dirty="0" err="1"/>
              <a:t>применяются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адресации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массивами</a:t>
            </a:r>
            <a:r>
              <a:rPr lang="en-US" dirty="0"/>
              <a:t>, </a:t>
            </a:r>
            <a:r>
              <a:rPr lang="en-US" dirty="0" err="1"/>
              <a:t>строками</a:t>
            </a:r>
            <a:r>
              <a:rPr lang="en-US" dirty="0"/>
              <a:t> и </a:t>
            </a:r>
            <a:r>
              <a:rPr lang="en-US" dirty="0" err="1"/>
              <a:t>структурами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AVR </a:t>
            </a:r>
            <a:r>
              <a:rPr lang="en-US" dirty="0" err="1"/>
              <a:t>ориентированы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ru-RU" dirty="0"/>
              <a:t>указателей</a:t>
            </a:r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заметить</a:t>
            </a:r>
            <a:r>
              <a:rPr lang="en-US" dirty="0"/>
              <a:t> </a:t>
            </a:r>
            <a:r>
              <a:rPr lang="en-US" dirty="0" err="1"/>
              <a:t>связь</a:t>
            </a:r>
            <a:r>
              <a:rPr lang="en-US" dirty="0"/>
              <a:t> с </a:t>
            </a:r>
            <a:r>
              <a:rPr lang="en-US" dirty="0" err="1"/>
              <a:t>темами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 и </a:t>
            </a:r>
            <a:r>
              <a:rPr lang="en-US" dirty="0" err="1"/>
              <a:t>адресной</a:t>
            </a:r>
            <a:r>
              <a:rPr lang="en-US" dirty="0"/>
              <a:t> </a:t>
            </a:r>
            <a:r>
              <a:rPr lang="en-US" dirty="0" err="1"/>
              <a:t>арифметики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изучались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020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AVR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компактна</a:t>
            </a:r>
            <a:r>
              <a:rPr lang="en-US" dirty="0"/>
              <a:t> и </a:t>
            </a:r>
            <a:r>
              <a:rPr lang="en-US" dirty="0" err="1"/>
              <a:t>ориентирована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AVR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условно</a:t>
            </a:r>
            <a:r>
              <a:rPr lang="en-US" dirty="0"/>
              <a:t> </a:t>
            </a:r>
            <a:r>
              <a:rPr lang="en-US" dirty="0" err="1"/>
              <a:t>разделить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основных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памятью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загрузку</a:t>
            </a:r>
            <a:r>
              <a:rPr lang="en-US" dirty="0"/>
              <a:t> и </a:t>
            </a:r>
            <a:r>
              <a:rPr lang="en-US" dirty="0" err="1"/>
              <a:t>сохранение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ru-RU" dirty="0"/>
              <a:t>регистры-указатели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</a:t>
            </a:r>
            <a:r>
              <a:rPr lang="en-US" dirty="0" err="1"/>
              <a:t>непосредственное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Арифметические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сложение</a:t>
            </a:r>
            <a:r>
              <a:rPr lang="en-US" dirty="0"/>
              <a:t>, </a:t>
            </a:r>
            <a:r>
              <a:rPr lang="en-US" dirty="0" err="1"/>
              <a:t>вычитание</a:t>
            </a:r>
            <a:r>
              <a:rPr lang="en-US" dirty="0"/>
              <a:t>, </a:t>
            </a:r>
            <a:r>
              <a:rPr lang="en-US" dirty="0" err="1"/>
              <a:t>инкремент</a:t>
            </a:r>
            <a:r>
              <a:rPr lang="en-US" dirty="0"/>
              <a:t> и </a:t>
            </a:r>
            <a:r>
              <a:rPr lang="en-US" dirty="0" err="1"/>
              <a:t>декремент</a:t>
            </a:r>
            <a:r>
              <a:rPr lang="en-US" dirty="0"/>
              <a:t>.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реализуют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AND, OR и XOR. </a:t>
            </a:r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управлении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битами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сдвига</a:t>
            </a:r>
            <a:r>
              <a:rPr lang="en-US" dirty="0"/>
              <a:t> и </a:t>
            </a:r>
            <a:r>
              <a:rPr lang="en-US" dirty="0" err="1"/>
              <a:t>битовых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устанавливать</a:t>
            </a:r>
            <a:r>
              <a:rPr lang="en-US" dirty="0"/>
              <a:t> и </a:t>
            </a:r>
            <a:r>
              <a:rPr lang="en-US" dirty="0" err="1"/>
              <a:t>сбрасывать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в I/O-</a:t>
            </a:r>
            <a:r>
              <a:rPr lang="en-US" dirty="0" err="1"/>
              <a:t>регистрах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SBI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CBI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установки</a:t>
            </a:r>
            <a:r>
              <a:rPr lang="en-US" dirty="0"/>
              <a:t> и </a:t>
            </a:r>
            <a:r>
              <a:rPr lang="en-US" dirty="0" err="1"/>
              <a:t>очистки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в </a:t>
            </a:r>
            <a:r>
              <a:rPr lang="en-US" dirty="0" err="1"/>
              <a:t>регистрах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переходов</a:t>
            </a:r>
            <a:r>
              <a:rPr lang="en-US" dirty="0"/>
              <a:t> и </a:t>
            </a:r>
            <a:r>
              <a:rPr lang="en-US" dirty="0" err="1"/>
              <a:t>вызовов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потоком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, </a:t>
            </a:r>
            <a:r>
              <a:rPr lang="en-US" dirty="0" err="1"/>
              <a:t>циклов</a:t>
            </a:r>
            <a:r>
              <a:rPr lang="en-US" dirty="0"/>
              <a:t> и </a:t>
            </a:r>
            <a:r>
              <a:rPr lang="en-US" dirty="0" err="1"/>
              <a:t>подпрограмм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ввода-вывода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I/O-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модулями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приведёт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выводах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относительную</a:t>
            </a:r>
            <a:r>
              <a:rPr lang="en-US" dirty="0"/>
              <a:t> </a:t>
            </a:r>
            <a:r>
              <a:rPr lang="en-US" dirty="0" err="1"/>
              <a:t>простоту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AVR,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базовые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, </a:t>
            </a:r>
            <a:r>
              <a:rPr lang="en-US" dirty="0" err="1"/>
              <a:t>характерные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процессорных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: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,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,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потоком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43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, </a:t>
            </a:r>
            <a:r>
              <a:rPr lang="en-US" dirty="0" err="1"/>
              <a:t>регистровый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AVR </a:t>
            </a:r>
            <a:r>
              <a:rPr lang="en-US" dirty="0" err="1"/>
              <a:t>отображён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Первые</a:t>
            </a:r>
            <a:r>
              <a:rPr lang="en-US" dirty="0"/>
              <a:t> 32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соответствуют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R0–R31.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арифметическими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в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dirty="0" err="1"/>
              <a:t>адресоваться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I/O-</a:t>
            </a:r>
            <a:r>
              <a:rPr lang="en-US" dirty="0" err="1"/>
              <a:t>регистры</a:t>
            </a:r>
            <a:r>
              <a:rPr lang="en-US" dirty="0"/>
              <a:t> —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GPIO, </a:t>
            </a:r>
            <a:r>
              <a:rPr lang="en-US" dirty="0" err="1"/>
              <a:t>таймерами</a:t>
            </a:r>
            <a:r>
              <a:rPr lang="en-US" dirty="0"/>
              <a:t>, UART, ADC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модулями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PORTB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уровни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выводах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Часть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доступна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IN и OUT, </a:t>
            </a:r>
            <a:r>
              <a:rPr lang="en-US" dirty="0" err="1"/>
              <a:t>предназначенные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быстрого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отметить</a:t>
            </a:r>
            <a:r>
              <a:rPr lang="en-US" dirty="0"/>
              <a:t>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.</a:t>
            </a:r>
          </a:p>
          <a:p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SRAM, а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</a:t>
            </a:r>
            <a:r>
              <a:rPr lang="en-US" dirty="0" err="1"/>
              <a:t>регистром</a:t>
            </a:r>
            <a:r>
              <a:rPr lang="en-US" dirty="0"/>
              <a:t> Stack Pointer. В </a:t>
            </a:r>
            <a:r>
              <a:rPr lang="en-US" dirty="0" err="1"/>
              <a:t>архитектуре</a:t>
            </a:r>
            <a:r>
              <a:rPr lang="en-US" dirty="0"/>
              <a:t> AVR Stack Pointer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8-битных </a:t>
            </a:r>
            <a:r>
              <a:rPr lang="en-US" dirty="0" err="1"/>
              <a:t>регистров</a:t>
            </a:r>
            <a:r>
              <a:rPr lang="en-US" dirty="0"/>
              <a:t> — SPL и SPH.</a:t>
            </a:r>
          </a:p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Stack Pointer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I/O-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в AVR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сущностей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регистровый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периферией</a:t>
            </a:r>
            <a:r>
              <a:rPr lang="en-US" dirty="0"/>
              <a:t> и </a:t>
            </a:r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характерной</a:t>
            </a:r>
            <a:r>
              <a:rPr lang="en-US" dirty="0"/>
              <a:t> </a:t>
            </a:r>
            <a:r>
              <a:rPr lang="en-US" dirty="0" err="1"/>
              <a:t>особенностью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микроконтроллерных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 и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концепцией</a:t>
            </a:r>
            <a:r>
              <a:rPr lang="en-US" dirty="0"/>
              <a:t> memory-mapped I/O.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431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ключевые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, </a:t>
            </a:r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и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предсказуема</a:t>
            </a:r>
            <a:r>
              <a:rPr lang="en-US" dirty="0"/>
              <a:t>.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известно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, а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непосредственный</a:t>
            </a:r>
            <a:r>
              <a:rPr lang="en-US" dirty="0"/>
              <a:t>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,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связанной</a:t>
            </a:r>
            <a:r>
              <a:rPr lang="en-US" dirty="0"/>
              <a:t> с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платформой</a:t>
            </a:r>
            <a:r>
              <a:rPr lang="en-US" dirty="0"/>
              <a:t>. 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используемого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embedded-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хорошего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низкоуровневых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04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AVR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адресоваться</a:t>
            </a:r>
            <a:r>
              <a:rPr lang="en-US" dirty="0"/>
              <a:t> </a:t>
            </a:r>
            <a:r>
              <a:rPr lang="en-US" dirty="0" err="1"/>
              <a:t>двумя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специальное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I/O-</a:t>
            </a:r>
            <a:r>
              <a:rPr lang="en-US" dirty="0" err="1"/>
              <a:t>адресов</a:t>
            </a:r>
            <a:r>
              <a:rPr lang="en-US" dirty="0"/>
              <a:t>, </a:t>
            </a:r>
            <a:r>
              <a:rPr lang="en-US" dirty="0" err="1"/>
              <a:t>используемое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 С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в </a:t>
            </a:r>
            <a:r>
              <a:rPr lang="en-US" dirty="0" err="1"/>
              <a:t>документации</a:t>
            </a:r>
            <a:r>
              <a:rPr lang="en-US" dirty="0"/>
              <a:t> </a:t>
            </a:r>
            <a:r>
              <a:rPr lang="en-US" dirty="0" err="1"/>
              <a:t>указываются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</a:t>
            </a:r>
            <a:r>
              <a:rPr lang="en-US" dirty="0"/>
              <a:t>, </a:t>
            </a:r>
            <a:r>
              <a:rPr lang="en-US" dirty="0" err="1"/>
              <a:t>содержащего</a:t>
            </a:r>
            <a:r>
              <a:rPr lang="en-US" dirty="0"/>
              <a:t> </a:t>
            </a:r>
            <a:r>
              <a:rPr lang="en-US" dirty="0" err="1"/>
              <a:t>младший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</a:t>
            </a:r>
            <a:r>
              <a:rPr lang="en-US" dirty="0" err="1"/>
              <a:t>указателя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 – 0x3D (0x5D)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0x3D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I/O-</a:t>
            </a:r>
            <a:r>
              <a:rPr lang="en-US" dirty="0" err="1"/>
              <a:t>пространству</a:t>
            </a:r>
            <a:r>
              <a:rPr lang="en-US" dirty="0"/>
              <a:t> и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</a:t>
            </a:r>
          </a:p>
          <a:p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0x5D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в </a:t>
            </a:r>
            <a:r>
              <a:rPr lang="en-US" dirty="0" err="1"/>
              <a:t>общем</a:t>
            </a:r>
            <a:r>
              <a:rPr lang="en-US" dirty="0"/>
              <a:t>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Связь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этими</a:t>
            </a:r>
            <a:r>
              <a:rPr lang="en-US" dirty="0"/>
              <a:t> </a:t>
            </a:r>
            <a:r>
              <a:rPr lang="en-US" dirty="0" err="1"/>
              <a:t>адресами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простым</a:t>
            </a:r>
            <a:r>
              <a:rPr lang="en-US" dirty="0"/>
              <a:t> </a:t>
            </a:r>
            <a:r>
              <a:rPr lang="en-US" dirty="0" err="1"/>
              <a:t>соотношением</a:t>
            </a:r>
            <a:r>
              <a:rPr lang="en-US" dirty="0"/>
              <a:t>: </a:t>
            </a:r>
            <a:r>
              <a:rPr lang="en-US" dirty="0" err="1"/>
              <a:t>адрес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I/O-</a:t>
            </a:r>
            <a:r>
              <a:rPr lang="en-US" dirty="0" err="1"/>
              <a:t>адресу</a:t>
            </a:r>
            <a:r>
              <a:rPr lang="en-US" dirty="0"/>
              <a:t> </a:t>
            </a:r>
            <a:r>
              <a:rPr lang="en-US" dirty="0" err="1"/>
              <a:t>плюс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0x20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первые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AVR </a:t>
            </a:r>
            <a:r>
              <a:rPr lang="en-US" dirty="0" err="1"/>
              <a:t>заняты</a:t>
            </a:r>
            <a:r>
              <a:rPr lang="en-US" dirty="0"/>
              <a:t> </a:t>
            </a:r>
            <a:r>
              <a:rPr lang="en-US" dirty="0" err="1"/>
              <a:t>регистровым</a:t>
            </a:r>
            <a:r>
              <a:rPr lang="en-US" dirty="0"/>
              <a:t> </a:t>
            </a:r>
            <a:r>
              <a:rPr lang="en-US" dirty="0" err="1"/>
              <a:t>файло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I/O-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компактное</a:t>
            </a:r>
            <a:r>
              <a:rPr lang="en-US" dirty="0"/>
              <a:t> </a:t>
            </a:r>
            <a:r>
              <a:rPr lang="en-US" dirty="0" err="1"/>
              <a:t>кодирование</a:t>
            </a:r>
            <a:r>
              <a:rPr lang="en-US" dirty="0"/>
              <a:t> и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обращаться</a:t>
            </a:r>
            <a:r>
              <a:rPr lang="en-US" dirty="0"/>
              <a:t> к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к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используя</a:t>
            </a:r>
            <a:r>
              <a:rPr lang="en-US" dirty="0"/>
              <a:t> </a:t>
            </a:r>
            <a:r>
              <a:rPr lang="en-US" dirty="0" err="1"/>
              <a:t>стандартные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и </a:t>
            </a:r>
            <a:r>
              <a:rPr lang="en-US" dirty="0" err="1"/>
              <a:t>сохранения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и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memory-mapped I/O.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579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71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подачи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называемого</a:t>
            </a:r>
            <a:r>
              <a:rPr lang="en-US" dirty="0"/>
              <a:t> reset vector.</a:t>
            </a:r>
          </a:p>
          <a:p>
            <a:r>
              <a:rPr lang="en-US" dirty="0"/>
              <a:t>Reset vector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начальную</a:t>
            </a:r>
            <a:r>
              <a:rPr lang="en-US" dirty="0"/>
              <a:t> </a:t>
            </a:r>
            <a:r>
              <a:rPr lang="en-US" dirty="0" err="1"/>
              <a:t>точку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Обычно</a:t>
            </a:r>
            <a:r>
              <a:rPr lang="en-US" dirty="0"/>
              <a:t>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 к startup code — </a:t>
            </a:r>
            <a:r>
              <a:rPr lang="en-US" dirty="0" err="1"/>
              <a:t>специальному</a:t>
            </a:r>
            <a:r>
              <a:rPr lang="en-US" dirty="0"/>
              <a:t> </a:t>
            </a:r>
            <a:r>
              <a:rPr lang="en-US" dirty="0" err="1"/>
              <a:t>коду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среды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к </a:t>
            </a:r>
            <a:r>
              <a:rPr lang="en-US" dirty="0" err="1"/>
              <a:t>моменту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подготовлена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вызовом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ряд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Во-первых</a:t>
            </a:r>
            <a:r>
              <a:rPr lang="en-US" dirty="0"/>
              <a:t>, startup code </a:t>
            </a:r>
            <a:r>
              <a:rPr lang="en-US" dirty="0" err="1"/>
              <a:t>настраивает</a:t>
            </a:r>
            <a:r>
              <a:rPr lang="en-US" dirty="0"/>
              <a:t> Stack Pointer —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.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начальный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используемой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стековых</a:t>
            </a:r>
            <a:r>
              <a:rPr lang="en-US" dirty="0"/>
              <a:t> </a:t>
            </a:r>
            <a:r>
              <a:rPr lang="en-US" dirty="0" err="1"/>
              <a:t>кадров</a:t>
            </a:r>
            <a:r>
              <a:rPr lang="en-US" dirty="0"/>
              <a:t> и </a:t>
            </a:r>
            <a:r>
              <a:rPr lang="en-US" dirty="0" err="1"/>
              <a:t>сохранения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глобальных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Глобальные</a:t>
            </a:r>
            <a:r>
              <a:rPr lang="en-US" dirty="0"/>
              <a:t> и </a:t>
            </a:r>
            <a:r>
              <a:rPr lang="en-US" dirty="0" err="1"/>
              <a:t>статические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 с </a:t>
            </a:r>
            <a:r>
              <a:rPr lang="en-US" dirty="0" err="1"/>
              <a:t>ненулевой</a:t>
            </a:r>
            <a:r>
              <a:rPr lang="en-US" dirty="0"/>
              <a:t> </a:t>
            </a:r>
            <a:r>
              <a:rPr lang="en-US" dirty="0" err="1"/>
              <a:t>инициализацией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секции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.data</a:t>
            </a:r>
            <a:r>
              <a:rPr lang="en-US" dirty="0"/>
              <a:t>.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начальные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хранятся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запуске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копируются</a:t>
            </a:r>
            <a:r>
              <a:rPr lang="en-US" dirty="0"/>
              <a:t> в SRAM.</a:t>
            </a:r>
          </a:p>
          <a:p>
            <a:r>
              <a:rPr lang="en-US" dirty="0" err="1"/>
              <a:t>Переменные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явной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секции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bss</a:t>
            </a:r>
            <a:r>
              <a:rPr lang="en-US" dirty="0"/>
              <a:t>. </a:t>
            </a:r>
            <a:r>
              <a:rPr lang="en-US" dirty="0" err="1"/>
              <a:t>Согласно</a:t>
            </a:r>
            <a:r>
              <a:rPr lang="en-US" dirty="0"/>
              <a:t> </a:t>
            </a:r>
            <a:r>
              <a:rPr lang="en-US" dirty="0" err="1"/>
              <a:t>правилам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инициализированы</a:t>
            </a:r>
            <a:r>
              <a:rPr lang="en-US" dirty="0"/>
              <a:t> </a:t>
            </a:r>
            <a:r>
              <a:rPr lang="en-US" dirty="0" err="1"/>
              <a:t>нулём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startup code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очистку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простая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, а с </a:t>
            </a:r>
            <a:r>
              <a:rPr lang="en-US" dirty="0" err="1"/>
              <a:t>низкоуровневого</a:t>
            </a:r>
            <a:r>
              <a:rPr lang="en-US" dirty="0"/>
              <a:t> startup code,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подготавливает</a:t>
            </a:r>
            <a:r>
              <a:rPr lang="en-US" dirty="0"/>
              <a:t> </a:t>
            </a:r>
            <a:r>
              <a:rPr lang="en-US" dirty="0" err="1"/>
              <a:t>аппаратную</a:t>
            </a:r>
            <a:r>
              <a:rPr lang="en-US" dirty="0"/>
              <a:t> и </a:t>
            </a:r>
            <a:r>
              <a:rPr lang="en-US" dirty="0" err="1"/>
              <a:t>программную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, </a:t>
            </a:r>
            <a:r>
              <a:rPr lang="en-US" dirty="0" err="1"/>
              <a:t>насколько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embedded-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, </a:t>
            </a:r>
            <a:r>
              <a:rPr lang="en-US" dirty="0" err="1"/>
              <a:t>организацией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устройством</a:t>
            </a:r>
            <a:r>
              <a:rPr lang="en-US" dirty="0"/>
              <a:t> runtime-</a:t>
            </a:r>
            <a:r>
              <a:rPr lang="en-US" dirty="0" err="1"/>
              <a:t>среды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29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GPIO — General Purpose Input/Output.</a:t>
            </a:r>
          </a:p>
          <a:p>
            <a:endParaRPr lang="en-US" dirty="0"/>
          </a:p>
          <a:p>
            <a:r>
              <a:rPr lang="en-US" dirty="0"/>
              <a:t>GPIO </a:t>
            </a:r>
            <a:r>
              <a:rPr lang="en-US" dirty="0" err="1"/>
              <a:t>представляют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программно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считываться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помощью</a:t>
            </a:r>
            <a:r>
              <a:rPr lang="en-US" dirty="0"/>
              <a:t> GPIO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включать</a:t>
            </a:r>
            <a:r>
              <a:rPr lang="en-US" dirty="0"/>
              <a:t> </a:t>
            </a:r>
            <a:r>
              <a:rPr lang="en-US" dirty="0" err="1"/>
              <a:t>светодиоды</a:t>
            </a:r>
            <a:r>
              <a:rPr lang="en-US" dirty="0"/>
              <a:t>, </a:t>
            </a:r>
            <a:r>
              <a:rPr lang="en-US" dirty="0" err="1"/>
              <a:t>переключать</a:t>
            </a:r>
            <a:r>
              <a:rPr lang="en-US" dirty="0"/>
              <a:t> </a:t>
            </a:r>
            <a:r>
              <a:rPr lang="en-US" dirty="0" err="1"/>
              <a:t>реле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GPIO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считывания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цифровых</a:t>
            </a:r>
            <a:r>
              <a:rPr lang="en-US" dirty="0"/>
              <a:t> </a:t>
            </a:r>
            <a:r>
              <a:rPr lang="en-US" dirty="0" err="1"/>
              <a:t>датчиков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GPIO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физическим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embedded-</a:t>
            </a:r>
            <a:r>
              <a:rPr lang="en-US" dirty="0" err="1"/>
              <a:t>программирования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7943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GPIO-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настроен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считывает</a:t>
            </a:r>
            <a:r>
              <a:rPr lang="en-US" dirty="0"/>
              <a:t> </a:t>
            </a:r>
            <a:r>
              <a:rPr lang="en-US" dirty="0" err="1"/>
              <a:t>электрический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с </a:t>
            </a:r>
            <a:r>
              <a:rPr lang="en-US" dirty="0" err="1"/>
              <a:t>вывода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подключении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, </a:t>
            </a:r>
            <a:r>
              <a:rPr lang="en-US" dirty="0" err="1"/>
              <a:t>датчиков</a:t>
            </a:r>
            <a:r>
              <a:rPr lang="en-US" dirty="0"/>
              <a:t> 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источников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логических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: LOW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напряжению</a:t>
            </a:r>
            <a:r>
              <a:rPr lang="en-US" dirty="0"/>
              <a:t>, </a:t>
            </a:r>
            <a:r>
              <a:rPr lang="en-US" dirty="0" err="1"/>
              <a:t>близкому</a:t>
            </a:r>
            <a:r>
              <a:rPr lang="en-US" dirty="0"/>
              <a:t> к </a:t>
            </a:r>
            <a:r>
              <a:rPr lang="en-US" dirty="0" err="1"/>
              <a:t>нулю</a:t>
            </a:r>
            <a:r>
              <a:rPr lang="en-US" dirty="0"/>
              <a:t> </a:t>
            </a:r>
            <a:r>
              <a:rPr lang="en-US" dirty="0" err="1"/>
              <a:t>вольт</a:t>
            </a:r>
            <a:r>
              <a:rPr lang="en-US" dirty="0"/>
              <a:t>, а HIGH — </a:t>
            </a:r>
            <a:r>
              <a:rPr lang="en-US" dirty="0" err="1"/>
              <a:t>напряжению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ATmega328P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питании</a:t>
            </a:r>
            <a:r>
              <a:rPr lang="en-US" dirty="0"/>
              <a:t> 5 V </a:t>
            </a:r>
            <a:r>
              <a:rPr lang="en-US" dirty="0" err="1"/>
              <a:t>логическая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напряжению</a:t>
            </a:r>
            <a:r>
              <a:rPr lang="en-US" dirty="0"/>
              <a:t>, </a:t>
            </a:r>
            <a:r>
              <a:rPr lang="en-US" dirty="0" err="1"/>
              <a:t>близкому</a:t>
            </a:r>
            <a:r>
              <a:rPr lang="en-US" dirty="0"/>
              <a:t> к 5 </a:t>
            </a:r>
            <a:r>
              <a:rPr lang="en-US" dirty="0" err="1"/>
              <a:t>вольтам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GPIO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непосредственной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токов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мощной</a:t>
            </a:r>
            <a:r>
              <a:rPr lang="en-US" dirty="0"/>
              <a:t> </a:t>
            </a:r>
            <a:r>
              <a:rPr lang="en-US" dirty="0" err="1"/>
              <a:t>нагрузкой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дополнительных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241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GPIO,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AVR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ячейка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определённому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представлен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фиксированному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принципиально</a:t>
            </a:r>
            <a:r>
              <a:rPr lang="en-US" dirty="0"/>
              <a:t> </a:t>
            </a:r>
            <a:r>
              <a:rPr lang="en-US" dirty="0" err="1"/>
              <a:t>отличаются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Во-первых</a:t>
            </a:r>
            <a:r>
              <a:rPr lang="en-US" dirty="0"/>
              <a:t>,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выполняемого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побочные</a:t>
            </a:r>
            <a:r>
              <a:rPr lang="en-US" dirty="0"/>
              <a:t> </a:t>
            </a:r>
            <a:r>
              <a:rPr lang="en-US" dirty="0" err="1"/>
              <a:t>эффекты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GPIO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видимыми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 </a:t>
            </a:r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обязан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каждое</a:t>
            </a:r>
            <a:r>
              <a:rPr lang="en-US" dirty="0"/>
              <a:t> </a:t>
            </a:r>
            <a:r>
              <a:rPr lang="en-US" dirty="0" err="1"/>
              <a:t>обращение</a:t>
            </a:r>
            <a:r>
              <a:rPr lang="en-US" dirty="0"/>
              <a:t> к </a:t>
            </a:r>
            <a:r>
              <a:rPr lang="en-US" dirty="0" err="1"/>
              <a:t>такому</a:t>
            </a:r>
            <a:r>
              <a:rPr lang="en-US" dirty="0"/>
              <a:t> </a:t>
            </a:r>
            <a:r>
              <a:rPr lang="en-US" dirty="0" err="1"/>
              <a:t>объекту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записано</a:t>
            </a:r>
            <a:r>
              <a:rPr lang="en-US" dirty="0"/>
              <a:t> в </a:t>
            </a:r>
            <a:r>
              <a:rPr lang="en-US" dirty="0" err="1"/>
              <a:t>программе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временном</a:t>
            </a:r>
            <a:r>
              <a:rPr lang="en-US" dirty="0"/>
              <a:t> </a:t>
            </a:r>
            <a:r>
              <a:rPr lang="en-US" dirty="0" err="1"/>
              <a:t>регистре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удалить</a:t>
            </a:r>
            <a:r>
              <a:rPr lang="en-US" dirty="0"/>
              <a:t> «</a:t>
            </a:r>
            <a:r>
              <a:rPr lang="en-US" dirty="0" err="1"/>
              <a:t>лишние</a:t>
            </a:r>
            <a:r>
              <a:rPr lang="en-US" dirty="0"/>
              <a:t>»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преобразовать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</a:t>
            </a:r>
            <a:r>
              <a:rPr lang="en-US" dirty="0" err="1"/>
              <a:t>корректны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нарушить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взаимодействии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фундаментальным</a:t>
            </a:r>
            <a:r>
              <a:rPr lang="en-US" dirty="0"/>
              <a:t> </a:t>
            </a:r>
            <a:r>
              <a:rPr lang="en-US" dirty="0" err="1"/>
              <a:t>требованием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memory-mapped I/O и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4840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микроконтроллере</a:t>
            </a:r>
            <a:r>
              <a:rPr lang="en-US" dirty="0"/>
              <a:t> ATmega328P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организованы</a:t>
            </a:r>
            <a:r>
              <a:rPr lang="en-US" dirty="0"/>
              <a:t> в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портов</a:t>
            </a:r>
            <a:r>
              <a:rPr lang="en-US" dirty="0"/>
              <a:t>: PORTB, PORTC и PORTD.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порт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группу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I/O-</a:t>
            </a:r>
            <a:r>
              <a:rPr lang="en-US" dirty="0" err="1"/>
              <a:t>регистры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DDRx</a:t>
            </a:r>
            <a:r>
              <a:rPr lang="en-US" dirty="0"/>
              <a:t> — Data Direction Register —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направление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установлен</a:t>
            </a:r>
            <a:r>
              <a:rPr lang="en-US" dirty="0"/>
              <a:t> в </a:t>
            </a:r>
            <a:r>
              <a:rPr lang="en-US" dirty="0" err="1"/>
              <a:t>единицу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Регистр</a:t>
            </a:r>
            <a:r>
              <a:rPr lang="en-US" dirty="0"/>
              <a:t> PORTx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логическим</a:t>
            </a:r>
            <a:r>
              <a:rPr lang="en-US" dirty="0"/>
              <a:t> </a:t>
            </a:r>
            <a:r>
              <a:rPr lang="en-US" dirty="0" err="1"/>
              <a:t>уровнем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output.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, а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нуля</a:t>
            </a:r>
            <a:r>
              <a:rPr lang="en-US" dirty="0"/>
              <a:t> — </a:t>
            </a:r>
            <a:r>
              <a:rPr lang="en-US" dirty="0" err="1"/>
              <a:t>низкий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настроен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, </a:t>
            </a:r>
            <a:r>
              <a:rPr lang="en-US" dirty="0" err="1"/>
              <a:t>регистр</a:t>
            </a:r>
            <a:r>
              <a:rPr lang="en-US" dirty="0"/>
              <a:t> PORTx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: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PINx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настраивает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PB5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</a:t>
            </a:r>
            <a:r>
              <a:rPr lang="en-US" dirty="0"/>
              <a:t> и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втором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PD2 </a:t>
            </a:r>
            <a:r>
              <a:rPr lang="en-US" dirty="0" err="1"/>
              <a:t>переводится</a:t>
            </a:r>
            <a:r>
              <a:rPr lang="en-US" dirty="0"/>
              <a:t> в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включается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/>
              <a:t>Pull-up </a:t>
            </a:r>
            <a:r>
              <a:rPr lang="en-US" dirty="0" err="1"/>
              <a:t>резистор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предотвращения</a:t>
            </a:r>
            <a:r>
              <a:rPr lang="en-US" dirty="0"/>
              <a:t> </a:t>
            </a:r>
            <a:r>
              <a:rPr lang="en-US" dirty="0" err="1"/>
              <a:t>неопределённого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. </a:t>
            </a:r>
            <a:r>
              <a:rPr lang="en-US" dirty="0" err="1"/>
              <a:t>Неподключённый</a:t>
            </a:r>
            <a:r>
              <a:rPr lang="en-US" dirty="0"/>
              <a:t> </a:t>
            </a:r>
            <a:r>
              <a:rPr lang="en-US" dirty="0" err="1"/>
              <a:t>цифровой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воспринимать</a:t>
            </a:r>
            <a:r>
              <a:rPr lang="en-US" dirty="0"/>
              <a:t> </a:t>
            </a:r>
            <a:r>
              <a:rPr lang="en-US" dirty="0" err="1"/>
              <a:t>электрические</a:t>
            </a:r>
            <a:r>
              <a:rPr lang="en-US" dirty="0"/>
              <a:t> </a:t>
            </a:r>
            <a:r>
              <a:rPr lang="en-US" dirty="0" err="1"/>
              <a:t>помехи</a:t>
            </a:r>
            <a:r>
              <a:rPr lang="en-US" dirty="0"/>
              <a:t> и </a:t>
            </a:r>
            <a:r>
              <a:rPr lang="en-US" dirty="0" err="1"/>
              <a:t>случайным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логическое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</a:p>
          <a:p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 </a:t>
            </a:r>
            <a:r>
              <a:rPr lang="en-US" dirty="0" err="1"/>
              <a:t>подтягивает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к </a:t>
            </a:r>
            <a:r>
              <a:rPr lang="en-US" dirty="0" err="1"/>
              <a:t>высокому</a:t>
            </a:r>
            <a:r>
              <a:rPr lang="en-US" dirty="0"/>
              <a:t> </a:t>
            </a:r>
            <a:r>
              <a:rPr lang="en-US" dirty="0" err="1"/>
              <a:t>уровню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 и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стабильное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отсутствии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воздействия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конфигурация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подключении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: в </a:t>
            </a:r>
            <a:r>
              <a:rPr lang="en-US" dirty="0" err="1"/>
              <a:t>обычном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HIGH,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нажатии</a:t>
            </a:r>
            <a:r>
              <a:rPr lang="en-US" dirty="0"/>
              <a:t>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замыкает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землю</a:t>
            </a:r>
            <a:r>
              <a:rPr lang="en-US" dirty="0"/>
              <a:t>, </a:t>
            </a:r>
            <a:r>
              <a:rPr lang="en-US" dirty="0" err="1"/>
              <a:t>формируя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LOW.</a:t>
            </a:r>
          </a:p>
          <a:p>
            <a:endParaRPr lang="ru-RU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GPIO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сводится</a:t>
            </a:r>
            <a:r>
              <a:rPr lang="en-US" dirty="0"/>
              <a:t> к </a:t>
            </a:r>
            <a:r>
              <a:rPr lang="en-US" dirty="0" err="1"/>
              <a:t>чтению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и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двоичного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играют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в embedded-</a:t>
            </a:r>
            <a:r>
              <a:rPr lang="en-US" dirty="0" err="1"/>
              <a:t>программировании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552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AVR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специализированный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инструментов</a:t>
            </a:r>
            <a:r>
              <a:rPr lang="en-US" dirty="0"/>
              <a:t> — toolchain</a:t>
            </a:r>
          </a:p>
          <a:p>
            <a:r>
              <a:rPr lang="en-US" dirty="0"/>
              <a:t>.</a:t>
            </a:r>
          </a:p>
          <a:p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похож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C: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компилируется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</a:t>
            </a:r>
            <a:r>
              <a:rPr lang="en-US" dirty="0" err="1"/>
              <a:t>связываются</a:t>
            </a:r>
            <a:r>
              <a:rPr lang="en-US" dirty="0"/>
              <a:t> </a:t>
            </a:r>
            <a:r>
              <a:rPr lang="en-US" dirty="0" err="1"/>
              <a:t>линковщиком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исполняемый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исполняемый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а </a:t>
            </a:r>
            <a:r>
              <a:rPr lang="en-US" dirty="0" err="1"/>
              <a:t>прошивка</a:t>
            </a:r>
            <a:r>
              <a:rPr lang="en-US" dirty="0"/>
              <a:t> —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машинных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avr-gcc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C в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AVR.</a:t>
            </a:r>
          </a:p>
          <a:p>
            <a:r>
              <a:rPr lang="en-US" dirty="0" err="1"/>
              <a:t>Ассемблер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-as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ассемблерных</a:t>
            </a:r>
            <a:r>
              <a:rPr lang="en-US" dirty="0"/>
              <a:t> </a:t>
            </a:r>
            <a:r>
              <a:rPr lang="en-US" dirty="0" err="1"/>
              <a:t>файлов</a:t>
            </a:r>
            <a:r>
              <a:rPr lang="en-US" dirty="0"/>
              <a:t>.</a:t>
            </a:r>
          </a:p>
          <a:p>
            <a:r>
              <a:rPr lang="en-US" dirty="0" err="1"/>
              <a:t>Линковщик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и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итоговый</a:t>
            </a:r>
            <a:r>
              <a:rPr lang="en-US" dirty="0"/>
              <a:t> ELF-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avr-objdump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дизассемблировать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и </a:t>
            </a: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сгенерированный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— </a:t>
            </a:r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тому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использовались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objdump</a:t>
            </a:r>
            <a:r>
              <a:rPr lang="en-US" dirty="0"/>
              <a:t> и Compiler Explorer </a:t>
            </a:r>
            <a:r>
              <a:rPr lang="en-US" dirty="0" err="1"/>
              <a:t>для</a:t>
            </a:r>
            <a:r>
              <a:rPr lang="en-US" dirty="0"/>
              <a:t> x86-64.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-size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оценить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используемой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 и SRAM,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с </a:t>
            </a:r>
            <a:r>
              <a:rPr lang="en-US" dirty="0" err="1"/>
              <a:t>ограниченными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утилита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avrdude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в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525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минимальный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AVR.</a:t>
            </a:r>
          </a:p>
          <a:p>
            <a:endParaRPr lang="en-US" dirty="0"/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простейшая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mmcu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=atmega328p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целевой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: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допустимые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.</a:t>
            </a:r>
          </a:p>
          <a:p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ELF-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символов</a:t>
            </a:r>
            <a:r>
              <a:rPr lang="en-US" dirty="0"/>
              <a:t> и </a:t>
            </a:r>
            <a:r>
              <a:rPr lang="en-US" dirty="0" err="1"/>
              <a:t>служебную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Intel HEX.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дополнительное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ELF-</a:t>
            </a:r>
            <a:r>
              <a:rPr lang="en-US" dirty="0" err="1"/>
              <a:t>файла</a:t>
            </a:r>
            <a:r>
              <a:rPr lang="en-US" dirty="0"/>
              <a:t> в HEX-</a:t>
            </a:r>
            <a:r>
              <a:rPr lang="en-US" dirty="0" err="1"/>
              <a:t>файл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avr-objcopy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Полученный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предназначенные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7430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и в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x86-64, </a:t>
            </a:r>
            <a:r>
              <a:rPr lang="en-US" dirty="0" err="1"/>
              <a:t>для</a:t>
            </a:r>
            <a:r>
              <a:rPr lang="en-US" dirty="0"/>
              <a:t> AVR </a:t>
            </a:r>
            <a:r>
              <a:rPr lang="en-US" dirty="0" err="1"/>
              <a:t>крайне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сгенерированный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avr-objdump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дизассемблирование</a:t>
            </a:r>
            <a:r>
              <a:rPr lang="en-US" dirty="0"/>
              <a:t> ELF-</a:t>
            </a:r>
            <a:r>
              <a:rPr lang="en-US" dirty="0" err="1"/>
              <a:t>файла</a:t>
            </a:r>
            <a:r>
              <a:rPr lang="en-US" dirty="0"/>
              <a:t> и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ассемблерное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C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преобразован</a:t>
            </a:r>
            <a:r>
              <a:rPr lang="en-US" dirty="0"/>
              <a:t> в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RJMP</a:t>
            </a:r>
            <a:r>
              <a:rPr lang="en-US" dirty="0"/>
              <a:t>, </a:t>
            </a:r>
            <a:r>
              <a:rPr lang="en-US" dirty="0" err="1"/>
              <a:t>выполняющую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саму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 в embedded-</a:t>
            </a:r>
            <a:r>
              <a:rPr lang="en-US" dirty="0" err="1"/>
              <a:t>разработке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реальное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оценивать</a:t>
            </a:r>
            <a:r>
              <a:rPr lang="en-US" dirty="0"/>
              <a:t>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чаще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дизассемблированным</a:t>
            </a:r>
            <a:r>
              <a:rPr lang="en-US" dirty="0"/>
              <a:t> </a:t>
            </a:r>
            <a:r>
              <a:rPr lang="en-US" dirty="0" err="1"/>
              <a:t>кодом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784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утилита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avrdude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соединение</a:t>
            </a:r>
            <a:r>
              <a:rPr lang="en-US" dirty="0"/>
              <a:t> с </a:t>
            </a:r>
            <a:r>
              <a:rPr lang="en-US" dirty="0" err="1"/>
              <a:t>микроконтроллером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программатор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bootloader.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HEX-</a:t>
            </a:r>
            <a:r>
              <a:rPr lang="en-US" dirty="0" err="1"/>
              <a:t>файла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устройству</a:t>
            </a:r>
            <a:r>
              <a:rPr lang="en-US" dirty="0"/>
              <a:t> и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корректности</a:t>
            </a:r>
            <a:r>
              <a:rPr lang="en-US" dirty="0"/>
              <a:t> </a:t>
            </a:r>
            <a:r>
              <a:rPr lang="en-US" dirty="0" err="1"/>
              <a:t>содержимого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операционных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размещается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подачи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233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Toolchain </a:t>
            </a:r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многом</a:t>
            </a:r>
            <a:r>
              <a:rPr lang="en-US" dirty="0"/>
              <a:t> </a:t>
            </a:r>
            <a:r>
              <a:rPr lang="en-US" dirty="0" err="1"/>
              <a:t>похож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toolchain </a:t>
            </a:r>
            <a:r>
              <a:rPr lang="en-US" dirty="0" err="1"/>
              <a:t>языка</a:t>
            </a:r>
            <a:r>
              <a:rPr lang="en-US" dirty="0"/>
              <a:t> C,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и </a:t>
            </a:r>
            <a:r>
              <a:rPr lang="en-US" dirty="0" err="1"/>
              <a:t>важные</a:t>
            </a:r>
            <a:r>
              <a:rPr lang="en-US" dirty="0"/>
              <a:t> </a:t>
            </a:r>
            <a:r>
              <a:rPr lang="en-US" dirty="0" err="1"/>
              <a:t>отличия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компьютера</a:t>
            </a:r>
            <a:r>
              <a:rPr lang="en-US" dirty="0"/>
              <a:t> </a:t>
            </a:r>
            <a:r>
              <a:rPr lang="en-US" dirty="0" err="1"/>
              <a:t>разработчика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целевой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cross-compilation.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и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приобретают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,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используемой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сгенерированного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590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embedded-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мигание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простоту</a:t>
            </a:r>
            <a:r>
              <a:rPr lang="en-US" dirty="0"/>
              <a:t>,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принципов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управление</a:t>
            </a:r>
            <a:r>
              <a:rPr lang="en-US" dirty="0"/>
              <a:t> GPIO,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бесконечного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начале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подключаются</a:t>
            </a:r>
            <a:r>
              <a:rPr lang="en-US" dirty="0"/>
              <a:t> </a:t>
            </a:r>
            <a:r>
              <a:rPr lang="en-US" dirty="0" err="1"/>
              <a:t>заголовочные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AVR.</a:t>
            </a:r>
          </a:p>
          <a:p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io.h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определения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констант</a:t>
            </a:r>
            <a:r>
              <a:rPr lang="en-US" dirty="0"/>
              <a:t>, </a:t>
            </a:r>
            <a:r>
              <a:rPr lang="en-US" dirty="0" err="1"/>
              <a:t>соответствующих</a:t>
            </a:r>
            <a:r>
              <a:rPr lang="en-US" dirty="0"/>
              <a:t> </a:t>
            </a:r>
            <a:r>
              <a:rPr lang="en-US" dirty="0" err="1"/>
              <a:t>выводам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delay.h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dirty="0" err="1"/>
              <a:t>программной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delay_ms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настройка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</a:t>
            </a:r>
          </a:p>
          <a:p>
            <a:r>
              <a:rPr lang="en-US" dirty="0" err="1"/>
              <a:t>Операция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DDRB |= (1 &lt;&lt; PB5);</a:t>
            </a:r>
          </a:p>
          <a:p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DDRB, </a:t>
            </a:r>
            <a:r>
              <a:rPr lang="en-US" dirty="0" err="1"/>
              <a:t>переводя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PB5 в </a:t>
            </a:r>
            <a:r>
              <a:rPr lang="en-US" dirty="0" err="1"/>
              <a:t>режим</a:t>
            </a:r>
            <a:r>
              <a:rPr lang="en-US" dirty="0"/>
              <a:t> output.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входит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PORTB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 и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светодиод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 </a:t>
            </a:r>
            <a:r>
              <a:rPr lang="en-US" dirty="0" err="1"/>
              <a:t>длительностью</a:t>
            </a:r>
            <a:r>
              <a:rPr lang="en-US" dirty="0"/>
              <a:t> 500 </a:t>
            </a:r>
            <a:r>
              <a:rPr lang="en-US" dirty="0" err="1"/>
              <a:t>миллисекунд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PB5 </a:t>
            </a:r>
            <a:r>
              <a:rPr lang="en-US" dirty="0" err="1"/>
              <a:t>очищается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низкий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и </a:t>
            </a:r>
            <a:r>
              <a:rPr lang="en-US" dirty="0" err="1"/>
              <a:t>светодиод</a:t>
            </a:r>
            <a:r>
              <a:rPr lang="en-US" dirty="0"/>
              <a:t> </a:t>
            </a:r>
            <a:r>
              <a:rPr lang="en-US" dirty="0" err="1"/>
              <a:t>выключается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embedded-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содержат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завершать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 и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PORTB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непосредственному</a:t>
            </a:r>
            <a:r>
              <a:rPr lang="en-US" dirty="0"/>
              <a:t>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ru-RU" dirty="0" err="1"/>
              <a:t>ти</a:t>
            </a:r>
            <a:r>
              <a:rPr lang="en-US" dirty="0" err="1"/>
              <a:t>ичным</a:t>
            </a:r>
            <a:r>
              <a:rPr lang="en-US" dirty="0"/>
              <a:t> </a:t>
            </a:r>
            <a:r>
              <a:rPr lang="en-US" dirty="0" err="1"/>
              <a:t>примером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memory-mapped I/O.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4571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периферий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, </a:t>
            </a:r>
            <a:r>
              <a:rPr lang="en-US" dirty="0" err="1"/>
              <a:t>способный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процессором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,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увеличивается</a:t>
            </a:r>
            <a:r>
              <a:rPr lang="en-US" dirty="0"/>
              <a:t> с </a:t>
            </a:r>
            <a:r>
              <a:rPr lang="en-US" dirty="0" err="1"/>
              <a:t>заданной</a:t>
            </a:r>
            <a:r>
              <a:rPr lang="en-US" dirty="0"/>
              <a:t> </a:t>
            </a:r>
            <a:r>
              <a:rPr lang="en-US" dirty="0" err="1"/>
              <a:t>частотой</a:t>
            </a:r>
            <a:r>
              <a:rPr lang="en-US" dirty="0"/>
              <a:t>.</a:t>
            </a:r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,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PWM и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, </a:t>
            </a:r>
            <a:r>
              <a:rPr lang="en-US" dirty="0" err="1"/>
              <a:t>связанных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 с CPU.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программные</a:t>
            </a:r>
            <a:r>
              <a:rPr lang="en-US" dirty="0"/>
              <a:t> </a:t>
            </a:r>
            <a:r>
              <a:rPr lang="en-US" dirty="0" err="1"/>
              <a:t>циклы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7078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Источником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тактовый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поступлением</a:t>
            </a:r>
            <a:r>
              <a:rPr lang="en-US" dirty="0"/>
              <a:t> в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частота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проходить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prescaler</a:t>
            </a:r>
            <a:r>
              <a:rPr lang="en-US" dirty="0"/>
              <a:t> —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делитель</a:t>
            </a:r>
            <a:r>
              <a:rPr lang="en-US" dirty="0"/>
              <a:t> </a:t>
            </a:r>
            <a:r>
              <a:rPr lang="en-US" dirty="0" err="1"/>
              <a:t>частоты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частоте</a:t>
            </a:r>
            <a:r>
              <a:rPr lang="en-US" dirty="0"/>
              <a:t> 16 MHz, </a:t>
            </a:r>
            <a:r>
              <a:rPr lang="en-US" dirty="0" err="1"/>
              <a:t>prescaler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частоту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в 8, 64, 256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увеличивать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режимах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сравнивать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специальным</a:t>
            </a:r>
            <a:r>
              <a:rPr lang="en-US" dirty="0"/>
              <a:t> compare register.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совпадают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:</a:t>
            </a:r>
          </a:p>
          <a:p>
            <a:r>
              <a:rPr lang="en-US" dirty="0" err="1"/>
              <a:t>установить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; </a:t>
            </a:r>
          </a:p>
          <a:p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; </a:t>
            </a:r>
          </a:p>
          <a:p>
            <a:r>
              <a:rPr lang="en-US" dirty="0" err="1"/>
              <a:t>сгенерировать</a:t>
            </a:r>
            <a:r>
              <a:rPr lang="en-US" dirty="0"/>
              <a:t> </a:t>
            </a:r>
            <a:r>
              <a:rPr lang="ru-RU" dirty="0"/>
              <a:t>прерывание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участия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7394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Interrupts,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,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аппаратуре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уведомить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о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r>
              <a:rPr lang="en-US" dirty="0" err="1"/>
              <a:t>Источником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,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GPIO,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UART, </a:t>
            </a:r>
            <a:r>
              <a:rPr lang="en-US" dirty="0" err="1"/>
              <a:t>окончание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ADC 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ru-RU" dirty="0"/>
              <a:t> прерывание</a:t>
            </a:r>
            <a:r>
              <a:rPr lang="en-US" dirty="0"/>
              <a:t>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в </a:t>
            </a:r>
            <a:r>
              <a:rPr lang="en-US" dirty="0" err="1"/>
              <a:t>стек</a:t>
            </a:r>
            <a:r>
              <a:rPr lang="en-US" dirty="0"/>
              <a:t> и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— interrupt service routine, </a:t>
            </a:r>
            <a:r>
              <a:rPr lang="en-US" dirty="0" err="1"/>
              <a:t>или</a:t>
            </a:r>
            <a:r>
              <a:rPr lang="en-US" dirty="0"/>
              <a:t> ISR.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возврат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, и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с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места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прервано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interrupts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реагировать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опрашивать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8690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polling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OCF0A</a:t>
            </a:r>
            <a:r>
              <a:rPr lang="en-US" dirty="0"/>
              <a:t>.</a:t>
            </a:r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регистре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TIFR0</a:t>
            </a:r>
            <a:r>
              <a:rPr lang="en-US" dirty="0"/>
              <a:t> — Timer Interrupt Flag Register.</a:t>
            </a:r>
          </a:p>
          <a:p>
            <a:r>
              <a:rPr lang="en-US" dirty="0" err="1"/>
              <a:t>Название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OCF0A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Output Compare Flag </a:t>
            </a:r>
            <a:r>
              <a:rPr lang="en-US" dirty="0" err="1"/>
              <a:t>для</a:t>
            </a:r>
            <a:r>
              <a:rPr lang="en-US" dirty="0"/>
              <a:t> Timer0 Compare Unit A.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значением</a:t>
            </a:r>
            <a:r>
              <a:rPr lang="en-US" dirty="0"/>
              <a:t> compare register.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наступления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читая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в </a:t>
            </a:r>
            <a:r>
              <a:rPr lang="en-US" dirty="0" err="1"/>
              <a:t>цикле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прост</a:t>
            </a:r>
            <a:r>
              <a:rPr lang="en-US" dirty="0"/>
              <a:t> в </a:t>
            </a:r>
            <a:r>
              <a:rPr lang="en-US" dirty="0" err="1"/>
              <a:t>реализации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занят</a:t>
            </a:r>
            <a:r>
              <a:rPr lang="en-US" dirty="0"/>
              <a:t> </a:t>
            </a:r>
            <a:r>
              <a:rPr lang="en-US" dirty="0" err="1"/>
              <a:t>бесполезным</a:t>
            </a:r>
            <a:r>
              <a:rPr lang="en-US" dirty="0"/>
              <a:t> </a:t>
            </a:r>
            <a:r>
              <a:rPr lang="en-US" dirty="0" err="1"/>
              <a:t>ожиданием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меняется</a:t>
            </a:r>
            <a:r>
              <a:rPr lang="en-US" dirty="0"/>
              <a:t>.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опроса</a:t>
            </a:r>
            <a:r>
              <a:rPr lang="en-US" dirty="0"/>
              <a:t> </a:t>
            </a:r>
            <a:r>
              <a:rPr lang="en-US" dirty="0" err="1"/>
              <a:t>флага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interrupt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наступлении</a:t>
            </a:r>
            <a:r>
              <a:rPr lang="en-US" dirty="0"/>
              <a:t> compare match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аппаратуры</a:t>
            </a:r>
            <a:r>
              <a:rPr lang="en-US" dirty="0"/>
              <a:t>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ISR </a:t>
            </a:r>
            <a:r>
              <a:rPr lang="en-US" dirty="0" err="1"/>
              <a:t>только</a:t>
            </a:r>
            <a:r>
              <a:rPr lang="en-US" dirty="0"/>
              <a:t> в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возникновения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interrupts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и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основным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в embedded-</a:t>
            </a:r>
            <a:r>
              <a:rPr lang="en-US" dirty="0" err="1"/>
              <a:t>системах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0785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Interrupt Service Routine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,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вызываемая</a:t>
            </a:r>
            <a:r>
              <a:rPr lang="en-US" dirty="0"/>
              <a:t> </a:t>
            </a:r>
            <a:r>
              <a:rPr lang="en-US" dirty="0" err="1"/>
              <a:t>процессором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ru-RU" dirty="0"/>
              <a:t>прерывания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AVR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объявляются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макроса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ISR(...)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ISR(TIMER0_COMPA_vect)</a:t>
            </a:r>
          </a:p>
          <a:p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обработчиком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 Timer0 Compare Match A.</a:t>
            </a:r>
          </a:p>
          <a:p>
            <a:endParaRPr lang="en-US" dirty="0"/>
          </a:p>
          <a:p>
            <a:r>
              <a:rPr lang="en-US" dirty="0" err="1"/>
              <a:t>Макрос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отличается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логически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en-US" dirty="0"/>
              <a:t> и </a:t>
            </a:r>
            <a:r>
              <a:rPr lang="en-US" dirty="0" err="1"/>
              <a:t>завершается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Interrupt Service Routine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. </a:t>
            </a:r>
            <a:r>
              <a:rPr lang="en-US" dirty="0" err="1"/>
              <a:t>Возврат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dirty="0"/>
              <a:t> — Return from Interrupt.</a:t>
            </a:r>
          </a:p>
          <a:p>
            <a:endParaRPr lang="en-US" dirty="0"/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сгенерировать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пролог</a:t>
            </a:r>
            <a:r>
              <a:rPr lang="en-US" dirty="0"/>
              <a:t> и </a:t>
            </a:r>
            <a:r>
              <a:rPr lang="en-US" dirty="0" err="1"/>
              <a:t>эпилог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используемые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стеком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обеспечить</a:t>
            </a:r>
            <a:r>
              <a:rPr lang="en-US" dirty="0"/>
              <a:t> </a:t>
            </a:r>
            <a:r>
              <a:rPr lang="en-US" dirty="0" err="1"/>
              <a:t>безопасный</a:t>
            </a:r>
            <a:r>
              <a:rPr lang="en-US" dirty="0"/>
              <a:t> </a:t>
            </a:r>
            <a:r>
              <a:rPr lang="en-US" dirty="0" err="1"/>
              <a:t>возврат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Макрос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обработчиком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и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ISR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совпадении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Timer0 с compare register.</a:t>
            </a:r>
          </a:p>
          <a:p>
            <a:endParaRPr lang="en-US" dirty="0"/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переключение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мигания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Interrupt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возникнуть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короткими</a:t>
            </a:r>
            <a:r>
              <a:rPr lang="en-US" dirty="0"/>
              <a:t>, </a:t>
            </a:r>
            <a:r>
              <a:rPr lang="en-US" dirty="0" err="1"/>
              <a:t>эффективными</a:t>
            </a:r>
            <a:r>
              <a:rPr lang="en-US" dirty="0"/>
              <a:t> и </a:t>
            </a:r>
            <a:r>
              <a:rPr lang="en-US" dirty="0" err="1"/>
              <a:t>аккуратно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общими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9627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ru-RU" dirty="0"/>
              <a:t>прерываниями</a:t>
            </a:r>
            <a:r>
              <a:rPr lang="en-US" dirty="0"/>
              <a:t> </a:t>
            </a:r>
            <a:r>
              <a:rPr lang="ru-RU" dirty="0"/>
              <a:t>важно использовать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ISR.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объявлена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предположить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и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превратив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ISR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и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взаимодействии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обработчиками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и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2199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ru-RU" dirty="0"/>
              <a:t>прерывания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— interrupt vector table.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источнику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точка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, </a:t>
            </a:r>
            <a:r>
              <a:rPr lang="en-US" dirty="0" err="1"/>
              <a:t>называемая</a:t>
            </a:r>
            <a:r>
              <a:rPr lang="en-US" dirty="0"/>
              <a:t> Interrupt vector.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отдельные</a:t>
            </a:r>
            <a:r>
              <a:rPr lang="en-US" dirty="0"/>
              <a:t> vectors </a:t>
            </a:r>
            <a:r>
              <a:rPr lang="en-US" dirty="0" err="1"/>
              <a:t>существуют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таймеров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UART;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внешних</a:t>
            </a:r>
            <a:r>
              <a:rPr lang="en-US" dirty="0"/>
              <a:t> GPIO interrupts;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ADC;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ru-RU" dirty="0"/>
              <a:t>прерывание</a:t>
            </a:r>
            <a:r>
              <a:rPr lang="en-US" dirty="0"/>
              <a:t>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переходит</a:t>
            </a:r>
            <a:r>
              <a:rPr lang="en-US" dirty="0"/>
              <a:t> к </a:t>
            </a:r>
            <a:r>
              <a:rPr lang="en-US" dirty="0" err="1"/>
              <a:t>обработчику</a:t>
            </a:r>
            <a:r>
              <a:rPr lang="en-US" dirty="0"/>
              <a:t>, </a:t>
            </a:r>
            <a:r>
              <a:rPr lang="en-US" dirty="0" err="1"/>
              <a:t>связанному</a:t>
            </a:r>
            <a:r>
              <a:rPr lang="en-US" dirty="0"/>
              <a:t> с </a:t>
            </a:r>
            <a:r>
              <a:rPr lang="en-US" dirty="0" err="1"/>
              <a:t>соответствующим</a:t>
            </a:r>
            <a:r>
              <a:rPr lang="en-US" dirty="0"/>
              <a:t> vector. </a:t>
            </a:r>
          </a:p>
          <a:p>
            <a:endParaRPr lang="ru-RU" dirty="0"/>
          </a:p>
          <a:p>
            <a:r>
              <a:rPr lang="en-US" dirty="0"/>
              <a:t>В AVR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interrupt vector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специальное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TIMER1_COMPA_vect</a:t>
            </a:r>
          </a:p>
          <a:p>
            <a:r>
              <a:rPr lang="en-US" dirty="0" err="1"/>
              <a:t>обозначает</a:t>
            </a:r>
            <a:r>
              <a:rPr lang="en-US" dirty="0"/>
              <a:t> interrupt vector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Compare Match A </a:t>
            </a:r>
            <a:r>
              <a:rPr lang="en-US" dirty="0" err="1"/>
              <a:t>таймера</a:t>
            </a:r>
            <a:r>
              <a:rPr lang="en-US" dirty="0"/>
              <a:t> Timer1.</a:t>
            </a:r>
          </a:p>
          <a:p>
            <a:endParaRPr lang="ru-RU" dirty="0"/>
          </a:p>
          <a:p>
            <a:r>
              <a:rPr lang="en-US" dirty="0" err="1"/>
              <a:t>Аналогично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USART_RX_vect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завершению</a:t>
            </a:r>
            <a:r>
              <a:rPr lang="en-US" dirty="0"/>
              <a:t> </a:t>
            </a:r>
            <a:r>
              <a:rPr lang="en-US" dirty="0" err="1"/>
              <a:t>приёма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UART.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Макрос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ISR(TIMER1_COMPA_vect)</a:t>
            </a:r>
          </a:p>
          <a:p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соответствующего</a:t>
            </a:r>
            <a:r>
              <a:rPr lang="en-US" dirty="0"/>
              <a:t> interrupt vector.</a:t>
            </a:r>
          </a:p>
          <a:p>
            <a:endParaRPr lang="ru-RU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размещает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в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и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необходимый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корректной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interrupts.</a:t>
            </a:r>
          </a:p>
          <a:p>
            <a:endParaRPr lang="ru-RU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interrupt vector table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, </a:t>
            </a:r>
            <a:r>
              <a:rPr lang="en-US" dirty="0" err="1"/>
              <a:t>связывающим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функциями-обработчиками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8122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полный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периодических</a:t>
            </a:r>
            <a:r>
              <a:rPr lang="en-US" dirty="0"/>
              <a:t> interrupts.</a:t>
            </a:r>
          </a:p>
          <a:p>
            <a:r>
              <a:rPr lang="en-US" dirty="0"/>
              <a:t>В </a:t>
            </a:r>
            <a:r>
              <a:rPr lang="en-US" dirty="0" err="1"/>
              <a:t>начале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подключаются</a:t>
            </a:r>
            <a:r>
              <a:rPr lang="en-US" dirty="0"/>
              <a:t> </a:t>
            </a:r>
            <a:r>
              <a:rPr lang="en-US" dirty="0" err="1"/>
              <a:t>заголовочные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Файл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io.h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определения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подключается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interrupt.h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заголовочный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поддержку</a:t>
            </a:r>
            <a:r>
              <a:rPr lang="en-US" dirty="0"/>
              <a:t> interrupts и </a:t>
            </a:r>
            <a:r>
              <a:rPr lang="en-US" dirty="0" err="1"/>
              <a:t>макрос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Файл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sleep.h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перевода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в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сна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embedded-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большую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sleep mode и </a:t>
            </a:r>
            <a:r>
              <a:rPr lang="en-US" dirty="0" err="1"/>
              <a:t>просыпается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имена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TIMSK1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</a:t>
            </a:r>
            <a:r>
              <a:rPr lang="en-US" dirty="0"/>
              <a:t> 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обычными</a:t>
            </a:r>
            <a:r>
              <a:rPr lang="en-US" dirty="0"/>
              <a:t> </a:t>
            </a:r>
            <a:r>
              <a:rPr lang="en-US" dirty="0" err="1"/>
              <a:t>переменными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, </a:t>
            </a:r>
            <a:r>
              <a:rPr lang="en-US" dirty="0" err="1"/>
              <a:t>отображённые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фиксированным</a:t>
            </a:r>
            <a:r>
              <a:rPr lang="en-US" dirty="0"/>
              <a:t> </a:t>
            </a:r>
            <a:r>
              <a:rPr lang="en-US" dirty="0" err="1"/>
              <a:t>адресам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AVR </a:t>
            </a:r>
            <a:r>
              <a:rPr lang="en-US" dirty="0" err="1"/>
              <a:t>libc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объявлены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чрезвычайно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удалять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произвольно</a:t>
            </a:r>
            <a:r>
              <a:rPr lang="en-US" dirty="0"/>
              <a:t> </a:t>
            </a:r>
            <a:r>
              <a:rPr lang="en-US" dirty="0" err="1"/>
              <a:t>переупорядочивать</a:t>
            </a:r>
            <a:r>
              <a:rPr lang="en-US" dirty="0"/>
              <a:t>.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критически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переводится</a:t>
            </a:r>
            <a:r>
              <a:rPr lang="en-US" dirty="0"/>
              <a:t> в </a:t>
            </a:r>
            <a:r>
              <a:rPr lang="en-US" dirty="0" err="1"/>
              <a:t>нужный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сбрасывается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свободно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записей</a:t>
            </a:r>
            <a:r>
              <a:rPr lang="en-US" dirty="0"/>
              <a:t> в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, </a:t>
            </a:r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могла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некорректном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привело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к </a:t>
            </a:r>
            <a:r>
              <a:rPr lang="en-US" dirty="0" err="1"/>
              <a:t>неправильной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объявляются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interrupt: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ISR(TIMER1_COMPA_vect)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обсуждалось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TIMER1_COMPA_vect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interrupt vector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Compare Match A </a:t>
            </a:r>
            <a:r>
              <a:rPr lang="en-US" dirty="0" err="1"/>
              <a:t>таймера</a:t>
            </a:r>
            <a:r>
              <a:rPr lang="en-US" dirty="0"/>
              <a:t> Timer1.</a:t>
            </a:r>
          </a:p>
          <a:p>
            <a:endParaRPr lang="ru-RU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TCNT1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значением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</a:t>
            </a:r>
            <a:r>
              <a:rPr lang="en-US" dirty="0"/>
              <a:t>,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данный</a:t>
            </a:r>
            <a:r>
              <a:rPr lang="en-US" dirty="0"/>
              <a:t> ISR.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 ^= (1 &lt;&lt; PB5);</a:t>
            </a:r>
          </a:p>
          <a:p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переключает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PB5.</a:t>
            </a:r>
          </a:p>
          <a:p>
            <a:r>
              <a:rPr lang="en-US" dirty="0" err="1"/>
              <a:t>На</a:t>
            </a:r>
            <a:r>
              <a:rPr lang="en-US" dirty="0"/>
              <a:t> Arduino Uno и Nano </a:t>
            </a:r>
            <a:r>
              <a:rPr lang="en-US" dirty="0" err="1"/>
              <a:t>вывод</a:t>
            </a:r>
            <a:r>
              <a:rPr lang="en-US" dirty="0"/>
              <a:t> PB5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встроенному</a:t>
            </a:r>
            <a:r>
              <a:rPr lang="en-US" dirty="0"/>
              <a:t> </a:t>
            </a:r>
            <a:r>
              <a:rPr lang="en-US" dirty="0" err="1"/>
              <a:t>светодиоду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настройка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Сначала</a:t>
            </a:r>
            <a:r>
              <a:rPr lang="en-US" dirty="0"/>
              <a:t> interrupts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запрещаются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cli();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предотвращает</a:t>
            </a:r>
            <a:r>
              <a:rPr lang="en-US" dirty="0"/>
              <a:t> </a:t>
            </a:r>
            <a:r>
              <a:rPr lang="en-US" dirty="0" err="1"/>
              <a:t>возникновение</a:t>
            </a:r>
            <a:r>
              <a:rPr lang="en-US" dirty="0"/>
              <a:t> interrupt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PB5 </a:t>
            </a:r>
            <a:r>
              <a:rPr lang="en-US" dirty="0" err="1"/>
              <a:t>настраивается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output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DDRB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настройка</a:t>
            </a:r>
            <a:r>
              <a:rPr lang="en-US" dirty="0"/>
              <a:t> Timer1.</a:t>
            </a:r>
          </a:p>
          <a:p>
            <a:endParaRPr lang="ru-RU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сбрасывается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 = 0;</a:t>
            </a:r>
          </a:p>
          <a:p>
            <a:r>
              <a:rPr lang="en-US" dirty="0" err="1"/>
              <a:t>Таймер</a:t>
            </a:r>
            <a:r>
              <a:rPr lang="en-US" dirty="0"/>
              <a:t> Timer1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</a:t>
            </a:r>
            <a:r>
              <a:rPr lang="en-US" dirty="0"/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TCCR1B</a:t>
            </a:r>
            <a:r>
              <a:rPr lang="en-US" dirty="0"/>
              <a:t> 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справа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</a:t>
            </a:r>
            <a:r>
              <a:rPr lang="en-US" dirty="0" err="1"/>
              <a:t>режима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</a:t>
            </a:r>
            <a:r>
              <a:rPr lang="en-US" dirty="0"/>
              <a:t> </a:t>
            </a:r>
            <a:r>
              <a:rPr lang="en-US" dirty="0" err="1"/>
              <a:t>распределены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WGM10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WGM11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WGM12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WGM13</a:t>
            </a:r>
            <a:r>
              <a:rPr lang="en-US" dirty="0"/>
              <a:t> —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TCCR1B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Совокупность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CTC — Clear Timer on Compare Match</a:t>
            </a:r>
          </a:p>
          <a:p>
            <a:r>
              <a:rPr lang="en-US" dirty="0" err="1"/>
              <a:t>Согласно</a:t>
            </a:r>
            <a:r>
              <a:rPr lang="en-US" dirty="0"/>
              <a:t>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режимов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CTC </a:t>
            </a:r>
            <a:r>
              <a:rPr lang="en-US" dirty="0" err="1"/>
              <a:t>необходимо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WGM13 = 0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WGM12 = 1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WGM11 = 0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WGM10 = 0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</a:t>
            </a:r>
            <a:r>
              <a:rPr lang="en-US" dirty="0"/>
              <a:t> </a:t>
            </a:r>
            <a:r>
              <a:rPr lang="en-US" dirty="0" err="1"/>
              <a:t>обнуляется</a:t>
            </a:r>
            <a:r>
              <a:rPr lang="en-US" dirty="0"/>
              <a:t>; </a:t>
            </a:r>
          </a:p>
          <a:p>
            <a:r>
              <a:rPr lang="en-US" dirty="0"/>
              <a:t>а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TCCR1B</a:t>
            </a:r>
            <a:r>
              <a:rPr lang="en-US" dirty="0"/>
              <a:t> </a:t>
            </a:r>
            <a:r>
              <a:rPr lang="en-US" dirty="0" err="1"/>
              <a:t>устанавливается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WGM12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TCNT1 = 0;</a:t>
            </a:r>
          </a:p>
          <a:p>
            <a:r>
              <a:rPr lang="en-US" dirty="0" err="1"/>
              <a:t>сбрасывает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настраивается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, 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записываться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,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режима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2299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шагом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 = 15625 - 1;</a:t>
            </a:r>
          </a:p>
          <a:p>
            <a:endParaRPr lang="ru-RU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верхнее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режима</a:t>
            </a:r>
            <a:r>
              <a:rPr lang="en-US" dirty="0"/>
              <a:t> CTC.</a:t>
            </a:r>
          </a:p>
          <a:p>
            <a:endParaRPr lang="ru-RU" dirty="0"/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увеличивает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TCNT1</a:t>
            </a:r>
            <a:r>
              <a:rPr lang="en-US" dirty="0"/>
              <a:t> и </a:t>
            </a:r>
            <a:r>
              <a:rPr lang="en-US" dirty="0" err="1"/>
              <a:t>сравнивает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</a:t>
            </a:r>
            <a:r>
              <a:rPr lang="en-US" dirty="0"/>
              <a:t>.</a:t>
            </a: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условие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TCNT1 == OCR1A</a:t>
            </a:r>
          </a:p>
          <a:p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Compare Match.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частоте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16 MHz и </a:t>
            </a:r>
            <a:r>
              <a:rPr lang="en-US" dirty="0" err="1"/>
              <a:t>prescaler</a:t>
            </a:r>
            <a:r>
              <a:rPr lang="en-US" dirty="0"/>
              <a:t> 1024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16000000 / 1024 = 15625</a:t>
            </a:r>
          </a:p>
          <a:p>
            <a:r>
              <a:rPr lang="en-US" dirty="0" err="1"/>
              <a:t>тиков</a:t>
            </a:r>
            <a:r>
              <a:rPr lang="en-US" dirty="0"/>
              <a:t> в </a:t>
            </a:r>
            <a:r>
              <a:rPr lang="en-US" dirty="0" err="1"/>
              <a:t>секунду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отсчёт</a:t>
            </a:r>
            <a:r>
              <a:rPr lang="en-US" dirty="0"/>
              <a:t> с </a:t>
            </a:r>
            <a:r>
              <a:rPr lang="en-US" dirty="0" err="1"/>
              <a:t>нуля</a:t>
            </a:r>
            <a:r>
              <a:rPr lang="en-US" dirty="0"/>
              <a:t>, </a:t>
            </a:r>
            <a:r>
              <a:rPr lang="en-US" dirty="0" err="1"/>
              <a:t>значения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0 ... 15624</a:t>
            </a:r>
          </a:p>
          <a:p>
            <a:r>
              <a:rPr lang="en-US" dirty="0" err="1"/>
              <a:t>дают</a:t>
            </a:r>
            <a:r>
              <a:rPr lang="en-US" dirty="0"/>
              <a:t> </a:t>
            </a:r>
            <a:r>
              <a:rPr lang="en-US" dirty="0" err="1"/>
              <a:t>ровно</a:t>
            </a:r>
            <a:r>
              <a:rPr lang="en-US" dirty="0"/>
              <a:t> 15625 </a:t>
            </a:r>
            <a:r>
              <a:rPr lang="en-US" dirty="0" err="1"/>
              <a:t>тиков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15625 - 1</a:t>
            </a:r>
          </a:p>
          <a:p>
            <a:r>
              <a:rPr lang="en-US" dirty="0"/>
              <a:t>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15625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режима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периферией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принципиальное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Периферийное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реагировать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: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переводится</a:t>
            </a:r>
            <a:r>
              <a:rPr lang="en-US" dirty="0"/>
              <a:t> в </a:t>
            </a:r>
            <a:r>
              <a:rPr lang="en-US" dirty="0" err="1"/>
              <a:t>корректный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сбрасывается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compare register. </a:t>
            </a:r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разрешается</a:t>
            </a:r>
            <a:r>
              <a:rPr lang="en-US" dirty="0"/>
              <a:t> interrupt Compare Match A: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TIMSK1 |= (1 &lt;&lt; OCIE1A);</a:t>
            </a:r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TIMSK1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разрешением</a:t>
            </a:r>
            <a:r>
              <a:rPr lang="en-US" dirty="0"/>
              <a:t> interrupts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схеме</a:t>
            </a:r>
            <a:r>
              <a:rPr lang="en-US" dirty="0"/>
              <a:t> </a:t>
            </a:r>
            <a:r>
              <a:rPr lang="en-US" dirty="0" err="1"/>
              <a:t>справа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OCIE1A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interrupt Compare Match A.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запускается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TCCR1B |= (1 &lt;&lt; CS12) | (1 &lt;&lt; CS10);</a:t>
            </a:r>
          </a:p>
          <a:p>
            <a:r>
              <a:rPr lang="en-US" dirty="0" err="1"/>
              <a:t>Биты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CS12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CS11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CS10</a:t>
            </a:r>
            <a:r>
              <a:rPr lang="en-US" dirty="0"/>
              <a:t> </a:t>
            </a:r>
          </a:p>
          <a:p>
            <a:r>
              <a:rPr lang="en-US" dirty="0" err="1"/>
              <a:t>задают</a:t>
            </a:r>
            <a:r>
              <a:rPr lang="en-US" dirty="0"/>
              <a:t> </a:t>
            </a:r>
            <a:r>
              <a:rPr lang="en-US" dirty="0" err="1"/>
              <a:t>источник</a:t>
            </a:r>
            <a:r>
              <a:rPr lang="en-US" dirty="0"/>
              <a:t> </a:t>
            </a:r>
            <a:r>
              <a:rPr lang="en-US" dirty="0" err="1"/>
              <a:t>тактирования</a:t>
            </a:r>
            <a:r>
              <a:rPr lang="en-US" dirty="0"/>
              <a:t> и </a:t>
            </a:r>
            <a:r>
              <a:rPr lang="en-US" dirty="0" err="1"/>
              <a:t>prescaler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справа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соответствие</a:t>
            </a:r>
            <a:r>
              <a:rPr lang="en-US" dirty="0"/>
              <a:t> </a:t>
            </a:r>
            <a:r>
              <a:rPr lang="en-US" dirty="0" err="1"/>
              <a:t>комбинаций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и </a:t>
            </a:r>
            <a:r>
              <a:rPr lang="en-US" dirty="0" err="1"/>
              <a:t>частоты</a:t>
            </a:r>
            <a:r>
              <a:rPr lang="en-US" dirty="0"/>
              <a:t> </a:t>
            </a:r>
            <a:r>
              <a:rPr lang="en-US" dirty="0" err="1"/>
              <a:t>тиков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r>
              <a:rPr lang="en-US" dirty="0" err="1"/>
              <a:t>Комбинация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CS12 = 1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CS11 = 0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CS10 = 1</a:t>
            </a:r>
          </a:p>
          <a:p>
            <a:r>
              <a:rPr lang="en-US" dirty="0" err="1"/>
              <a:t>соответствует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 1024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тик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каждые</a:t>
            </a:r>
            <a:r>
              <a:rPr lang="en-US" dirty="0"/>
              <a:t> 1024 </a:t>
            </a:r>
            <a:r>
              <a:rPr lang="en-US" dirty="0" err="1"/>
              <a:t>такта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sei();</a:t>
            </a:r>
          </a:p>
          <a:p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dirty="0" err="1"/>
              <a:t>глобально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interrupts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ISR </a:t>
            </a:r>
            <a:r>
              <a:rPr lang="en-US" dirty="0" err="1"/>
              <a:t>возникнет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выполнении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:</a:t>
            </a:r>
          </a:p>
          <a:p>
            <a:r>
              <a:rPr lang="en-US" dirty="0" err="1"/>
              <a:t>произошло</a:t>
            </a:r>
            <a:r>
              <a:rPr lang="en-US" dirty="0"/>
              <a:t> </a:t>
            </a:r>
            <a:r>
              <a:rPr lang="en-US" dirty="0" err="1"/>
              <a:t>аппаратное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; </a:t>
            </a:r>
          </a:p>
          <a:p>
            <a:r>
              <a:rPr lang="en-US" dirty="0" err="1"/>
              <a:t>установлен</a:t>
            </a:r>
            <a:r>
              <a:rPr lang="en-US" dirty="0"/>
              <a:t> interrupt enable bit; </a:t>
            </a:r>
          </a:p>
          <a:p>
            <a:r>
              <a:rPr lang="en-US" dirty="0" err="1"/>
              <a:t>глобально</a:t>
            </a:r>
            <a:r>
              <a:rPr lang="en-US" dirty="0"/>
              <a:t> </a:t>
            </a:r>
            <a:r>
              <a:rPr lang="en-US" dirty="0" err="1"/>
              <a:t>разрешены</a:t>
            </a:r>
            <a:r>
              <a:rPr lang="en-US" dirty="0"/>
              <a:t> interrupts. 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конце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 (1) {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sleep_mode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пустого</a:t>
            </a:r>
            <a:r>
              <a:rPr lang="en-US" dirty="0"/>
              <a:t> busy-wait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переводится</a:t>
            </a:r>
            <a:r>
              <a:rPr lang="en-US" dirty="0"/>
              <a:t> в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сна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sleep_mode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CPU </a:t>
            </a:r>
            <a:r>
              <a:rPr lang="en-US" dirty="0" err="1"/>
              <a:t>прекращает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и </a:t>
            </a:r>
            <a:r>
              <a:rPr lang="en-US" dirty="0" err="1"/>
              <a:t>ожидает</a:t>
            </a:r>
            <a:r>
              <a:rPr lang="en-US" dirty="0"/>
              <a:t> interrupt.</a:t>
            </a: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Compare Match interrupt:</a:t>
            </a:r>
          </a:p>
          <a:p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«</a:t>
            </a:r>
            <a:r>
              <a:rPr lang="en-US" dirty="0" err="1"/>
              <a:t>просыпается</a:t>
            </a:r>
            <a:r>
              <a:rPr lang="en-US" dirty="0"/>
              <a:t>»; </a:t>
            </a:r>
          </a:p>
          <a:p>
            <a:r>
              <a:rPr lang="en-US" dirty="0" err="1"/>
              <a:t>выполняет</a:t>
            </a:r>
            <a:r>
              <a:rPr lang="en-US" dirty="0"/>
              <a:t> ISR;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возвращается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</a:t>
            </a:r>
            <a:r>
              <a:rPr lang="en-US" dirty="0" err="1"/>
              <a:t>цикл</a:t>
            </a:r>
            <a:r>
              <a:rPr lang="en-US" dirty="0"/>
              <a:t> и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в sleep mode. 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event-driven </a:t>
            </a:r>
            <a:r>
              <a:rPr lang="en-US" dirty="0" err="1"/>
              <a:t>архитектуры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занят</a:t>
            </a:r>
            <a:r>
              <a:rPr lang="en-US" dirty="0"/>
              <a:t> </a:t>
            </a:r>
            <a:r>
              <a:rPr lang="en-US" dirty="0" err="1"/>
              <a:t>постоянными</a:t>
            </a:r>
            <a:r>
              <a:rPr lang="en-US" dirty="0"/>
              <a:t> </a:t>
            </a:r>
            <a:r>
              <a:rPr lang="en-US" dirty="0" err="1"/>
              <a:t>проверками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бесполезные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.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а CPU </a:t>
            </a:r>
            <a:r>
              <a:rPr lang="en-US" dirty="0" err="1"/>
              <a:t>активируется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1879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самая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в </a:t>
            </a:r>
            <a:r>
              <a:rPr lang="en-US" dirty="0" err="1"/>
              <a:t>формате</a:t>
            </a:r>
            <a:r>
              <a:rPr lang="en-US" dirty="0"/>
              <a:t> Arduino IDE.</a:t>
            </a:r>
          </a:p>
          <a:p>
            <a:r>
              <a:rPr lang="en-US" dirty="0"/>
              <a:t>Arduino IDE </a:t>
            </a:r>
            <a:r>
              <a:rPr lang="en-US" dirty="0" err="1"/>
              <a:t>скрывает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низкоуровневой</a:t>
            </a:r>
            <a:r>
              <a:rPr lang="en-US" dirty="0"/>
              <a:t> </a:t>
            </a:r>
            <a:r>
              <a:rPr lang="en-US" dirty="0" err="1"/>
              <a:t>инфраструктуры</a:t>
            </a:r>
            <a:r>
              <a:rPr lang="en-US" dirty="0"/>
              <a:t> и </a:t>
            </a:r>
            <a:r>
              <a:rPr lang="en-US" dirty="0" err="1"/>
              <a:t>упрощает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 main(void)</a:t>
            </a:r>
          </a:p>
          <a:p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setup()</a:t>
            </a:r>
          </a:p>
          <a:p>
            <a:r>
              <a:rPr lang="en-US" dirty="0"/>
              <a:t>и: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loop()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setup()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:</a:t>
            </a:r>
          </a:p>
          <a:p>
            <a:r>
              <a:rPr lang="en-US" dirty="0" err="1"/>
              <a:t>настройки</a:t>
            </a:r>
            <a:r>
              <a:rPr lang="en-US" dirty="0"/>
              <a:t> GPIO; </a:t>
            </a:r>
          </a:p>
          <a:p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таймеров</a:t>
            </a:r>
            <a:r>
              <a:rPr lang="en-US" dirty="0"/>
              <a:t>; </a:t>
            </a:r>
          </a:p>
          <a:p>
            <a:r>
              <a:rPr lang="en-US" dirty="0" err="1"/>
              <a:t>инициализации</a:t>
            </a:r>
            <a:r>
              <a:rPr lang="en-US" dirty="0"/>
              <a:t> UART; </a:t>
            </a:r>
          </a:p>
          <a:p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конфигурация</a:t>
            </a:r>
            <a:r>
              <a:rPr lang="en-US" dirty="0"/>
              <a:t> Timer1 и interrupts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.</a:t>
            </a:r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loop()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Arduino runtime в </a:t>
            </a:r>
            <a:r>
              <a:rPr lang="en-US" dirty="0" err="1"/>
              <a:t>бесконечном</a:t>
            </a:r>
            <a:r>
              <a:rPr lang="en-US" dirty="0"/>
              <a:t> </a:t>
            </a:r>
            <a:r>
              <a:rPr lang="en-US" dirty="0" err="1"/>
              <a:t>цикле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Arduino IDE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эквивалентный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</a:t>
            </a:r>
            <a:r>
              <a:rPr lang="en-US" dirty="0" err="1"/>
              <a:t>следующему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init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ru-RU" dirty="0"/>
          </a:p>
          <a:p>
            <a:endParaRPr lang="ru-R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3986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наша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ELF-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дизассемблирован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avr-objdump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начале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__vectors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отсюда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reset и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interrupts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0: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0x68 &lt;__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ctors_end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en-US" dirty="0" err="1"/>
              <a:t>Это</a:t>
            </a:r>
            <a:r>
              <a:rPr lang="en-US" dirty="0"/>
              <a:t> reset vector — </a:t>
            </a:r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с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0x0000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к startup code.</a:t>
            </a:r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 в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vectors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interrupt-</a:t>
            </a:r>
            <a:r>
              <a:rPr lang="en-US" dirty="0" err="1"/>
              <a:t>источников</a:t>
            </a:r>
            <a:r>
              <a:rPr lang="en-US" dirty="0"/>
              <a:t>.</a:t>
            </a:r>
          </a:p>
          <a:p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записей</a:t>
            </a:r>
            <a:r>
              <a:rPr lang="en-US" dirty="0"/>
              <a:t> </a:t>
            </a:r>
            <a:r>
              <a:rPr lang="en-US" dirty="0" err="1"/>
              <a:t>выглядят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0x8c &lt;__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bad_interrupt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соответствующего</a:t>
            </a:r>
            <a:r>
              <a:rPr lang="en-US" dirty="0"/>
              <a:t> interrupt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ISR.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interrupt </a:t>
            </a:r>
            <a:r>
              <a:rPr lang="en-US" dirty="0" err="1"/>
              <a:t>неожиданно</a:t>
            </a:r>
            <a:r>
              <a:rPr lang="en-US" dirty="0"/>
              <a:t> </a:t>
            </a:r>
            <a:r>
              <a:rPr lang="en-US" dirty="0" err="1"/>
              <a:t>возникнет</a:t>
            </a:r>
            <a:r>
              <a:rPr lang="en-US" dirty="0"/>
              <a:t>,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перейдёт</a:t>
            </a:r>
            <a:r>
              <a:rPr lang="en-US" dirty="0"/>
              <a:t> в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bad_interrupt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некоторые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указывают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реальные</a:t>
            </a:r>
            <a:r>
              <a:rPr lang="en-US" dirty="0"/>
              <a:t> ISR.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40: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0x90 &lt;__vector_16&gt;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к </a:t>
            </a:r>
            <a:r>
              <a:rPr lang="en-US" dirty="0" err="1"/>
              <a:t>обработчику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сюда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передаст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соответствующего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, </a:t>
            </a:r>
            <a:r>
              <a:rPr lang="en-US" dirty="0" err="1"/>
              <a:t>расположенных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фиксированным</a:t>
            </a:r>
            <a:r>
              <a:rPr lang="en-US" dirty="0"/>
              <a:t> </a:t>
            </a:r>
            <a:r>
              <a:rPr lang="en-US" dirty="0" err="1"/>
              <a:t>адресам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interrupts — </a:t>
            </a:r>
            <a:r>
              <a:rPr lang="en-US" dirty="0" err="1"/>
              <a:t>не</a:t>
            </a:r>
            <a:r>
              <a:rPr lang="en-US" dirty="0"/>
              <a:t> «</a:t>
            </a:r>
            <a:r>
              <a:rPr lang="en-US" dirty="0" err="1"/>
              <a:t>магия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C», а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Макрос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ISR(TIMER1_COMPA_vect)</a:t>
            </a:r>
          </a:p>
          <a:p>
            <a:r>
              <a:rPr lang="en-US" dirty="0"/>
              <a:t>в </a:t>
            </a:r>
            <a:r>
              <a:rPr lang="en-US" dirty="0" err="1"/>
              <a:t>конечном</a:t>
            </a:r>
            <a:r>
              <a:rPr lang="en-US" dirty="0"/>
              <a:t> </a:t>
            </a:r>
            <a:r>
              <a:rPr lang="en-US" dirty="0" err="1"/>
              <a:t>итоге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размещает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в </a:t>
            </a:r>
            <a:r>
              <a:rPr lang="en-US" dirty="0" err="1"/>
              <a:t>нужной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4160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reset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, а в startup code,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подготавливает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к </a:t>
            </a:r>
            <a:r>
              <a:rPr lang="en-US" dirty="0" err="1"/>
              <a:t>выполнению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фрагмент</a:t>
            </a:r>
            <a:r>
              <a:rPr lang="en-US" dirty="0"/>
              <a:t> runtime initialization, </a:t>
            </a:r>
            <a:r>
              <a:rPr lang="en-US" dirty="0" err="1"/>
              <a:t>сгенерированный</a:t>
            </a:r>
            <a:r>
              <a:rPr lang="en-US" dirty="0"/>
              <a:t> </a:t>
            </a:r>
            <a:r>
              <a:rPr lang="en-US" dirty="0" err="1"/>
              <a:t>компилятором</a:t>
            </a:r>
            <a:r>
              <a:rPr lang="en-US" dirty="0"/>
              <a:t> и </a:t>
            </a:r>
            <a:r>
              <a:rPr lang="en-US" dirty="0" err="1"/>
              <a:t>стандартной</a:t>
            </a:r>
            <a:r>
              <a:rPr lang="en-US" dirty="0"/>
              <a:t> </a:t>
            </a:r>
            <a:r>
              <a:rPr lang="en-US" dirty="0" err="1"/>
              <a:t>библиотекой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шагам</a:t>
            </a:r>
            <a:r>
              <a:rPr lang="en-US" dirty="0"/>
              <a:t>.</a:t>
            </a:r>
          </a:p>
          <a:p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68: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r1, r1</a:t>
            </a:r>
          </a:p>
          <a:p>
            <a:r>
              <a:rPr lang="en-US" dirty="0" err="1"/>
              <a:t>выполняет</a:t>
            </a:r>
            <a:r>
              <a:rPr lang="en-US" dirty="0"/>
              <a:t> XOR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r1</a:t>
            </a:r>
            <a:r>
              <a:rPr lang="en-US" dirty="0"/>
              <a:t> с </a:t>
            </a:r>
            <a:r>
              <a:rPr lang="en-US" dirty="0" err="1"/>
              <a:t>самим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,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самым</a:t>
            </a:r>
            <a:r>
              <a:rPr lang="en-US" dirty="0"/>
              <a:t> </a:t>
            </a:r>
            <a:r>
              <a:rPr lang="en-US" dirty="0" err="1"/>
              <a:t>устанавливая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r1 = 0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AVR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r1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соглашению</a:t>
            </a:r>
            <a:r>
              <a:rPr lang="en-US" dirty="0"/>
              <a:t> ABI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предположение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6a: out 0x3f, r1</a:t>
            </a:r>
          </a:p>
          <a:p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SREG</a:t>
            </a:r>
            <a:r>
              <a:rPr lang="en-US" dirty="0"/>
              <a:t> — Status Register.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очищаются</a:t>
            </a:r>
            <a:r>
              <a:rPr lang="en-US" dirty="0"/>
              <a:t> </a:t>
            </a:r>
            <a:r>
              <a:rPr lang="en-US" dirty="0" err="1"/>
              <a:t>флаги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и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запрещаются</a:t>
            </a:r>
            <a:r>
              <a:rPr lang="en-US" dirty="0"/>
              <a:t> interrupts.</a:t>
            </a:r>
          </a:p>
          <a:p>
            <a:r>
              <a:rPr lang="en-US" dirty="0" err="1"/>
              <a:t>Далее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6c: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r28, 0xFF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6e: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r29, 0x08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70: out 0x3e, r29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72: out 0x3d, r28</a:t>
            </a:r>
          </a:p>
          <a:p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инициализация</a:t>
            </a:r>
            <a:r>
              <a:rPr lang="en-US" dirty="0"/>
              <a:t> stack pointer.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Регистры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0x3E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SPH</a:t>
            </a:r>
            <a:r>
              <a:rPr lang="en-US" dirty="0"/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0x3D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</a:t>
            </a:r>
            <a:r>
              <a:rPr lang="en-US" dirty="0"/>
              <a:t> </a:t>
            </a:r>
          </a:p>
          <a:p>
            <a:r>
              <a:rPr lang="en-US" dirty="0" err="1"/>
              <a:t>образуют</a:t>
            </a:r>
            <a:r>
              <a:rPr lang="en-US" dirty="0"/>
              <a:t> Stack Pointer.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устанавливается</a:t>
            </a:r>
            <a:r>
              <a:rPr lang="en-US" dirty="0"/>
              <a:t> в </a:t>
            </a:r>
            <a:r>
              <a:rPr lang="en-US" dirty="0" err="1"/>
              <a:t>адрес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0x08FF</a:t>
            </a:r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верхней</a:t>
            </a:r>
            <a:r>
              <a:rPr lang="en-US" dirty="0"/>
              <a:t> </a:t>
            </a:r>
            <a:r>
              <a:rPr lang="en-US" dirty="0" err="1"/>
              <a:t>границе</a:t>
            </a:r>
            <a:r>
              <a:rPr lang="en-US" dirty="0"/>
              <a:t> SRAM ATmega328P.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логично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стек</a:t>
            </a:r>
            <a:r>
              <a:rPr lang="en-US" dirty="0"/>
              <a:t> в AVR </a:t>
            </a:r>
            <a:r>
              <a:rPr lang="en-US" dirty="0" err="1"/>
              <a:t>растёт</a:t>
            </a:r>
            <a:r>
              <a:rPr lang="en-US" dirty="0"/>
              <a:t> </a:t>
            </a:r>
            <a:r>
              <a:rPr lang="en-US" dirty="0" err="1"/>
              <a:t>вниз</a:t>
            </a:r>
            <a:r>
              <a:rPr lang="en-US" dirty="0"/>
              <a:t>,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к </a:t>
            </a:r>
            <a:r>
              <a:rPr lang="en-US" dirty="0" err="1"/>
              <a:t>меньшим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очистка</a:t>
            </a:r>
            <a:r>
              <a:rPr lang="en-US" dirty="0"/>
              <a:t> </a:t>
            </a:r>
            <a:r>
              <a:rPr lang="en-US" dirty="0" err="1"/>
              <a:t>секции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bss</a:t>
            </a:r>
            <a:r>
              <a:rPr lang="en-US" dirty="0"/>
              <a:t>.</a:t>
            </a:r>
          </a:p>
          <a:p>
            <a:r>
              <a:rPr lang="en-US" dirty="0" err="1"/>
              <a:t>Секция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bss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:</a:t>
            </a:r>
          </a:p>
          <a:p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; </a:t>
            </a:r>
          </a:p>
          <a:p>
            <a:r>
              <a:rPr lang="en-US" dirty="0"/>
              <a:t>static-</a:t>
            </a:r>
            <a:r>
              <a:rPr lang="en-US" dirty="0" err="1"/>
              <a:t>переменные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имеющие</a:t>
            </a:r>
            <a:r>
              <a:rPr lang="en-US" dirty="0"/>
              <a:t> </a:t>
            </a:r>
            <a:r>
              <a:rPr lang="en-US" dirty="0" err="1"/>
              <a:t>явной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Согласно</a:t>
            </a:r>
            <a:r>
              <a:rPr lang="en-US" dirty="0"/>
              <a:t> </a:t>
            </a:r>
            <a:r>
              <a:rPr lang="en-US" dirty="0" err="1"/>
              <a:t>стандарту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заполнены</a:t>
            </a:r>
            <a:r>
              <a:rPr lang="en-US" dirty="0"/>
              <a:t> </a:t>
            </a:r>
            <a:r>
              <a:rPr lang="en-US" dirty="0" err="1"/>
              <a:t>нулями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началом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занимается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74: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r18, 0x01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76: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r26, 0x00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78: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r27, 0x01</a:t>
            </a:r>
          </a:p>
          <a:p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r27:r26</a:t>
            </a:r>
            <a:r>
              <a:rPr lang="en-US" dirty="0"/>
              <a:t> </a:t>
            </a:r>
            <a:r>
              <a:rPr lang="en-US" dirty="0" err="1"/>
              <a:t>образуют</a:t>
            </a:r>
            <a:r>
              <a:rPr lang="en-US" dirty="0"/>
              <a:t>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в </a:t>
            </a:r>
            <a:r>
              <a:rPr lang="en-US" dirty="0" err="1"/>
              <a:t>цикле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7c: st X+, r1</a:t>
            </a:r>
          </a:p>
          <a:p>
            <a:r>
              <a:rPr lang="en-US" dirty="0"/>
              <a:t>в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r1</a:t>
            </a:r>
            <a:r>
              <a:rPr lang="en-US" dirty="0"/>
              <a:t>, а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увеличивается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7e: cpi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80: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cpc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82: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brne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реализуют</a:t>
            </a:r>
            <a:r>
              <a:rPr lang="en-US" dirty="0"/>
              <a:t> </a:t>
            </a:r>
            <a:r>
              <a:rPr lang="en-US" dirty="0" err="1"/>
              <a:t>проверку</a:t>
            </a:r>
            <a:r>
              <a:rPr lang="en-US" dirty="0"/>
              <a:t> </a:t>
            </a:r>
            <a:r>
              <a:rPr lang="en-US" dirty="0" err="1"/>
              <a:t>окончания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.</a:t>
            </a:r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startup code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очищает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bss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84: call 0x148 &lt;main&gt;</a:t>
            </a:r>
          </a:p>
          <a:p>
            <a:r>
              <a:rPr lang="en-US" dirty="0" err="1"/>
              <a:t>Только</a:t>
            </a:r>
            <a:r>
              <a:rPr lang="en-US" dirty="0"/>
              <a:t> в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пользовательской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мысль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точка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ней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значительный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runtime initialization.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88: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0x22e &lt;_exit&gt;</a:t>
            </a:r>
          </a:p>
          <a:p>
            <a:r>
              <a:rPr lang="en-US" dirty="0" err="1"/>
              <a:t>Хотя</a:t>
            </a:r>
            <a:r>
              <a:rPr lang="en-US" dirty="0"/>
              <a:t> в embedded-</a:t>
            </a:r>
            <a:r>
              <a:rPr lang="en-US" dirty="0" err="1"/>
              <a:t>программах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никогда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завершается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Внизу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bad_interrupt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interrupt,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определён</a:t>
            </a:r>
            <a:r>
              <a:rPr lang="en-US" dirty="0"/>
              <a:t> ISR,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</a:t>
            </a:r>
            <a:r>
              <a:rPr lang="en-US" dirty="0" err="1"/>
              <a:t>сюда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</a:t>
            </a:r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reset-</a:t>
            </a:r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к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насколько</a:t>
            </a:r>
            <a:r>
              <a:rPr lang="en-US" dirty="0"/>
              <a:t> </a:t>
            </a:r>
            <a:r>
              <a:rPr lang="en-US" dirty="0" err="1"/>
              <a:t>низкоуровневым</a:t>
            </a:r>
            <a:r>
              <a:rPr lang="en-US" dirty="0"/>
              <a:t> и </a:t>
            </a:r>
            <a:r>
              <a:rPr lang="en-US" dirty="0" err="1"/>
              <a:t>прямолинейным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в </a:t>
            </a:r>
            <a:r>
              <a:rPr lang="en-US" dirty="0" err="1"/>
              <a:t>микроконтроллере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246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 interrupt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дизассемблированная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ISR(TIMER1_COMPA_vect)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ISR </a:t>
            </a:r>
            <a:r>
              <a:rPr lang="en-US" dirty="0" err="1"/>
              <a:t>отличается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логически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ru-RU" dirty="0"/>
              <a:t>машинного кода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начале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пролог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124: push r1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126: push r0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...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12e: push r24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130: push r25</a:t>
            </a:r>
          </a:p>
          <a:p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сохраняют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в </a:t>
            </a:r>
            <a:r>
              <a:rPr lang="en-US" dirty="0" err="1"/>
              <a:t>стек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Interrupt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возникнуть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ISR </a:t>
            </a:r>
            <a:r>
              <a:rPr lang="en-US" dirty="0" err="1"/>
              <a:t>обязана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разрушить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прерванного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интересна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128: in r0, 0x3f</a:t>
            </a:r>
          </a:p>
          <a:p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SREG</a:t>
            </a:r>
            <a:r>
              <a:rPr lang="en-US" dirty="0"/>
              <a:t> — Status Register.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SREG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 в </a:t>
            </a:r>
            <a:r>
              <a:rPr lang="en-US" dirty="0" err="1"/>
              <a:t>стек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12a: push r0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сохранения</a:t>
            </a:r>
            <a:r>
              <a:rPr lang="en-US" dirty="0"/>
              <a:t> </a:t>
            </a:r>
            <a:r>
              <a:rPr lang="en-US" dirty="0" err="1"/>
              <a:t>флагов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ISR.</a:t>
            </a:r>
          </a:p>
          <a:p>
            <a:r>
              <a:rPr lang="en-US" dirty="0" err="1"/>
              <a:t>Напомним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в </a:t>
            </a:r>
            <a:r>
              <a:rPr lang="en-US" dirty="0" err="1"/>
              <a:t>исходной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 ^= (1 &lt;&lt; PB5);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132: in  r24, 0x05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134: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r25, 0x20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136: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r25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138: out 0x05, r24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подробнее</a:t>
            </a:r>
            <a:r>
              <a:rPr lang="en-US" dirty="0"/>
              <a:t>.</a:t>
            </a:r>
          </a:p>
          <a:p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 r24, 0x05</a:t>
            </a:r>
          </a:p>
          <a:p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в </a:t>
            </a:r>
            <a:r>
              <a:rPr lang="en-US" dirty="0" err="1"/>
              <a:t>языке</a:t>
            </a:r>
            <a:r>
              <a:rPr lang="en-US" dirty="0"/>
              <a:t> C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 </a:t>
            </a:r>
            <a:r>
              <a:rPr lang="en-US" dirty="0" err="1"/>
              <a:t>выглядел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-</a:t>
            </a:r>
            <a:r>
              <a:rPr lang="en-US" dirty="0" err="1"/>
              <a:t>переменная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данный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I/O-</a:t>
            </a:r>
            <a:r>
              <a:rPr lang="en-US" dirty="0" err="1"/>
              <a:t>регистру</a:t>
            </a:r>
            <a:r>
              <a:rPr lang="en-US" dirty="0"/>
              <a:t> AVR, </a:t>
            </a:r>
            <a:r>
              <a:rPr lang="en-US" dirty="0" err="1"/>
              <a:t>расположенному</a:t>
            </a:r>
            <a:r>
              <a:rPr lang="en-US" dirty="0"/>
              <a:t> в </a:t>
            </a:r>
            <a:r>
              <a:rPr lang="en-US" dirty="0" err="1"/>
              <a:t>специальном</a:t>
            </a:r>
            <a:r>
              <a:rPr lang="en-US" dirty="0"/>
              <a:t> I/O address space.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lds</a:t>
            </a:r>
            <a:r>
              <a:rPr lang="en-US" dirty="0"/>
              <a:t>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dirty="0"/>
              <a:t> 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</a:p>
          <a:p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AVR и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r25, 0x20</a:t>
            </a:r>
          </a:p>
          <a:p>
            <a:r>
              <a:rPr lang="en-US" dirty="0" err="1"/>
              <a:t>загружает</a:t>
            </a:r>
            <a:r>
              <a:rPr lang="en-US" dirty="0"/>
              <a:t> </a:t>
            </a:r>
            <a:r>
              <a:rPr lang="en-US" dirty="0" err="1"/>
              <a:t>маску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0x20 = 1 &lt;&lt; PB5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r25</a:t>
            </a:r>
          </a:p>
          <a:p>
            <a:r>
              <a:rPr lang="en-US" dirty="0" err="1"/>
              <a:t>выполняет</a:t>
            </a:r>
            <a:r>
              <a:rPr lang="en-US" dirty="0"/>
              <a:t> XOR, </a:t>
            </a:r>
            <a:r>
              <a:rPr lang="en-US" dirty="0" err="1"/>
              <a:t>переключая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PB5.</a:t>
            </a:r>
            <a:endParaRPr lang="ru-RU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затем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 0x05, r24</a:t>
            </a:r>
          </a:p>
          <a:p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операция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 ^= (1 &lt;&lt; PB5);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в: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; 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; 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</a:t>
            </a:r>
            <a:r>
              <a:rPr lang="en-US" dirty="0" err="1"/>
              <a:t>периферию</a:t>
            </a:r>
            <a:r>
              <a:rPr lang="en-US" dirty="0"/>
              <a:t>.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П</a:t>
            </a:r>
            <a:r>
              <a:rPr lang="en-US" dirty="0" err="1"/>
              <a:t>осле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ISR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эпилог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Инструкции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</a:p>
          <a:p>
            <a:r>
              <a:rPr lang="en-US" dirty="0" err="1"/>
              <a:t>восстанавливают</a:t>
            </a:r>
            <a:r>
              <a:rPr lang="en-US" dirty="0"/>
              <a:t> </a:t>
            </a:r>
            <a:r>
              <a:rPr lang="en-US" dirty="0" err="1"/>
              <a:t>сохранённые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Затем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140: out 0x3f, r0</a:t>
            </a:r>
          </a:p>
          <a:p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SREG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наконец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146: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возврат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interrupt.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AVR.</a:t>
            </a:r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en-US" dirty="0"/>
              <a:t>,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dirty="0"/>
              <a:t>:</a:t>
            </a:r>
          </a:p>
          <a:p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interrupts. 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ISR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специальным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,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связанным</a:t>
            </a:r>
            <a:r>
              <a:rPr lang="en-US" dirty="0"/>
              <a:t> с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и </a:t>
            </a:r>
            <a:r>
              <a:rPr lang="en-US" dirty="0" err="1"/>
              <a:t>механизмом</a:t>
            </a:r>
            <a:r>
              <a:rPr lang="en-US" dirty="0"/>
              <a:t> interrupts.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437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,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превратил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setup()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</a:t>
            </a:r>
            <a:r>
              <a:rPr lang="en-US" dirty="0" err="1"/>
              <a:t>преобразуются</a:t>
            </a:r>
            <a:r>
              <a:rPr lang="en-US" dirty="0"/>
              <a:t> в </a:t>
            </a: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AVR.</a:t>
            </a:r>
          </a:p>
          <a:p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1ce: cli</a:t>
            </a:r>
          </a:p>
          <a:p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вызову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cli();</a:t>
            </a:r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interrupts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1d0: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0x04, 5</a:t>
            </a:r>
          </a:p>
          <a:p>
            <a:r>
              <a:rPr lang="en-US" dirty="0" err="1"/>
              <a:t>соответствует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DDRB |= (1 &lt;&lt; PB5);</a:t>
            </a:r>
          </a:p>
          <a:p>
            <a:endParaRPr lang="ru-RU" dirty="0"/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sbi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Bit in I/O Register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AVR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установки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в I/O-</a:t>
            </a:r>
            <a:r>
              <a:rPr lang="en-US" dirty="0" err="1"/>
              <a:t>регистре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стал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:</a:t>
            </a:r>
          </a:p>
          <a:p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; </a:t>
            </a:r>
          </a:p>
          <a:p>
            <a:r>
              <a:rPr lang="en-US" dirty="0" err="1"/>
              <a:t>модификацию</a:t>
            </a:r>
            <a:r>
              <a:rPr lang="en-US" dirty="0"/>
              <a:t>; </a:t>
            </a:r>
          </a:p>
          <a:p>
            <a:r>
              <a:rPr lang="en-US" dirty="0" err="1"/>
              <a:t>обратную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использовал</a:t>
            </a:r>
            <a:r>
              <a:rPr lang="en-US" dirty="0"/>
              <a:t> </a:t>
            </a:r>
            <a:r>
              <a:rPr lang="en-US" dirty="0" err="1"/>
              <a:t>специализированную</a:t>
            </a:r>
            <a:r>
              <a:rPr lang="en-US" dirty="0"/>
              <a:t> bit-manipulation instruction </a:t>
            </a:r>
            <a:r>
              <a:rPr lang="en-US" dirty="0" err="1"/>
              <a:t>архитектуры</a:t>
            </a:r>
            <a:r>
              <a:rPr lang="en-US" dirty="0"/>
              <a:t> AVR.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возможно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DDRB</a:t>
            </a:r>
            <a:r>
              <a:rPr lang="en-US" dirty="0"/>
              <a:t> </a:t>
            </a:r>
            <a:r>
              <a:rPr lang="en-US" dirty="0" err="1"/>
              <a:t>расположен</a:t>
            </a:r>
            <a:r>
              <a:rPr lang="en-US" dirty="0"/>
              <a:t> в low I/O address space; </a:t>
            </a:r>
          </a:p>
          <a:p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известен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; </a:t>
            </a:r>
          </a:p>
          <a:p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установку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0x0080, r1</a:t>
            </a:r>
          </a:p>
          <a:p>
            <a:r>
              <a:rPr lang="en-US" dirty="0" err="1"/>
              <a:t>соответствует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 = 0;</a:t>
            </a:r>
          </a:p>
          <a:p>
            <a:endParaRPr lang="ru-RU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/>
              <a:t>— Store Direct to Data Space.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DDRB</a:t>
            </a:r>
            <a:r>
              <a:rPr lang="en-US" dirty="0"/>
              <a:t>,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</a:t>
            </a:r>
            <a:r>
              <a:rPr lang="en-US" dirty="0"/>
              <a:t> </a:t>
            </a:r>
            <a:r>
              <a:rPr lang="en-US" dirty="0" err="1"/>
              <a:t>расположен</a:t>
            </a:r>
            <a:r>
              <a:rPr lang="en-US" dirty="0"/>
              <a:t> </a:t>
            </a:r>
            <a:r>
              <a:rPr lang="en-US" dirty="0" err="1"/>
              <a:t>вне</a:t>
            </a:r>
            <a:r>
              <a:rPr lang="en-US" dirty="0"/>
              <a:t> low I/O area,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обращается</a:t>
            </a:r>
            <a:r>
              <a:rPr lang="en-US" dirty="0"/>
              <a:t> к </a:t>
            </a:r>
            <a:r>
              <a:rPr lang="en-US" dirty="0" err="1"/>
              <a:t>нему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AVR.</a:t>
            </a:r>
          </a:p>
          <a:p>
            <a:endParaRPr lang="ru-RU" dirty="0"/>
          </a:p>
          <a:p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:</a:t>
            </a:r>
          </a:p>
          <a:p>
            <a:r>
              <a:rPr lang="en-US" dirty="0"/>
              <a:t>в </a:t>
            </a:r>
            <a:r>
              <a:rPr lang="en-US" dirty="0" err="1"/>
              <a:t>специальном</a:t>
            </a:r>
            <a:r>
              <a:rPr lang="en-US" dirty="0"/>
              <a:t> I/O address space; </a:t>
            </a:r>
          </a:p>
          <a:p>
            <a:r>
              <a:rPr lang="en-US" dirty="0"/>
              <a:t>и </a:t>
            </a:r>
            <a:r>
              <a:rPr lang="en-US" dirty="0" err="1"/>
              <a:t>доступна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быстрые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: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 </a:t>
            </a:r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sbi</a:t>
            </a:r>
            <a:r>
              <a:rPr lang="en-US" dirty="0"/>
              <a:t> </a:t>
            </a:r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cbi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memory-mapped </a:t>
            </a:r>
            <a:r>
              <a:rPr lang="en-US" dirty="0" err="1"/>
              <a:t>области</a:t>
            </a:r>
            <a:r>
              <a:rPr lang="en-US" dirty="0"/>
              <a:t> SRAM address space и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memory access instructions: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lds</a:t>
            </a:r>
            <a:r>
              <a:rPr lang="en-US" dirty="0"/>
              <a:t>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варианта</a:t>
            </a:r>
            <a:r>
              <a:rPr lang="en-US" dirty="0"/>
              <a:t> </a:t>
            </a:r>
            <a:r>
              <a:rPr lang="en-US" dirty="0" err="1"/>
              <a:t>выглядят</a:t>
            </a:r>
            <a:r>
              <a:rPr lang="en-US" dirty="0"/>
              <a:t> </a:t>
            </a:r>
            <a:r>
              <a:rPr lang="en-US" dirty="0" err="1"/>
              <a:t>одинаково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 = ...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TCCR1A = ...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нужные</a:t>
            </a:r>
            <a:r>
              <a:rPr lang="en-US" dirty="0"/>
              <a:t>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0x0085, r1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0x0084, r1</a:t>
            </a:r>
          </a:p>
          <a:p>
            <a:r>
              <a:rPr lang="en-US" dirty="0" err="1"/>
              <a:t>Это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TCNT1 = 0;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заметить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TCNT1</a:t>
            </a:r>
            <a:r>
              <a:rPr lang="en-US" dirty="0"/>
              <a:t> — 16-битный </a:t>
            </a:r>
            <a:r>
              <a:rPr lang="en-US" dirty="0" err="1"/>
              <a:t>регистр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младшего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старшего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Затем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0x08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0x0081, r24</a:t>
            </a:r>
          </a:p>
          <a:p>
            <a:r>
              <a:rPr lang="en-US" dirty="0" err="1"/>
              <a:t>соответствует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TCCR1B = (1 &lt;&lt; WGM12);</a:t>
            </a:r>
          </a:p>
          <a:p>
            <a:endParaRPr lang="ru-RU" dirty="0"/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dirty="0"/>
              <a:t> </a:t>
            </a:r>
            <a:r>
              <a:rPr lang="en-US" dirty="0" err="1"/>
              <a:t>загружает</a:t>
            </a:r>
            <a:r>
              <a:rPr lang="en-US" dirty="0"/>
              <a:t> </a:t>
            </a:r>
            <a:r>
              <a:rPr lang="en-US" dirty="0" err="1"/>
              <a:t>константу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в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интересно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 = 15624;</a:t>
            </a:r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разбивает</a:t>
            </a:r>
            <a:r>
              <a:rPr lang="en-US" dirty="0"/>
              <a:t> 16-битное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0x08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r25, 0x3D</a:t>
            </a:r>
          </a:p>
          <a:p>
            <a:r>
              <a:rPr lang="en-US" dirty="0" err="1"/>
              <a:t>Здесь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0x3D08</a:t>
            </a:r>
            <a:br>
              <a:rPr lang="en-US" dirty="0"/>
            </a:br>
            <a:r>
              <a:rPr lang="en-US" dirty="0"/>
              <a:t>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шестнадцатеричное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15624</a:t>
            </a:r>
            <a:r>
              <a:rPr lang="en-US" dirty="0"/>
              <a:t>. 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записываются</a:t>
            </a:r>
            <a:r>
              <a:rPr lang="en-US" dirty="0"/>
              <a:t> в: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OCR1AH</a:t>
            </a:r>
            <a:r>
              <a:rPr lang="en-US" dirty="0"/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OCR1AL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фрагмент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0x0081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0x05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0x0081, r24</a:t>
            </a:r>
          </a:p>
          <a:p>
            <a:r>
              <a:rPr lang="en-US" dirty="0" err="1"/>
              <a:t>соответствует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TCCR1B |= (1 &lt;&lt; CS12) | (1 &lt;&lt; CS10);</a:t>
            </a:r>
          </a:p>
          <a:p>
            <a:endParaRPr lang="ru-RU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read-modify-write: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установить</a:t>
            </a:r>
            <a:r>
              <a:rPr lang="en-US" dirty="0"/>
              <a:t> </a:t>
            </a:r>
            <a:r>
              <a:rPr lang="en-US" dirty="0" err="1"/>
              <a:t>нужные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ori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-</a:t>
            </a:r>
            <a:r>
              <a:rPr lang="en-US" dirty="0" err="1"/>
              <a:t>регистром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удалить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переупорядочить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объявлены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программирования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принципиально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записей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к </a:t>
            </a:r>
            <a:r>
              <a:rPr lang="en-US" dirty="0" err="1"/>
              <a:t>некорректной</a:t>
            </a:r>
            <a:r>
              <a:rPr lang="en-US" dirty="0"/>
              <a:t> </a:t>
            </a:r>
            <a:r>
              <a:rPr lang="en-US" dirty="0" err="1"/>
              <a:t>конфигурации</a:t>
            </a:r>
            <a:r>
              <a:rPr lang="en-US" dirty="0"/>
              <a:t> </a:t>
            </a:r>
            <a:r>
              <a:rPr lang="en-US" dirty="0" err="1"/>
              <a:t>аппаратуры</a:t>
            </a:r>
            <a:r>
              <a:rPr lang="en-US" dirty="0"/>
              <a:t>.</a:t>
            </a:r>
          </a:p>
          <a:p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настройка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TIMSK1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наконец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204: sei</a:t>
            </a:r>
          </a:p>
          <a:p>
            <a:r>
              <a:rPr lang="en-US" dirty="0" err="1"/>
              <a:t>соответствует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sei();</a:t>
            </a:r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</a:t>
            </a:r>
            <a:r>
              <a:rPr lang="en-US" dirty="0"/>
              <a:t> </a:t>
            </a:r>
            <a:r>
              <a:rPr lang="en-US" dirty="0" err="1"/>
              <a:t>глобально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interrupts.</a:t>
            </a:r>
          </a:p>
          <a:p>
            <a:endParaRPr lang="ru-RU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прямолинейную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констант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модификация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в </a:t>
            </a:r>
            <a:r>
              <a:rPr lang="en-US" dirty="0" err="1"/>
              <a:t>периферию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9685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главный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Arduino IDE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пишет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 loop()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никакой</a:t>
            </a:r>
            <a:r>
              <a:rPr lang="en-US" dirty="0"/>
              <a:t> «</a:t>
            </a:r>
            <a:r>
              <a:rPr lang="en-US" dirty="0" err="1"/>
              <a:t>магии</a:t>
            </a:r>
            <a:r>
              <a:rPr lang="en-US" dirty="0"/>
              <a:t> loop»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Arduino runtime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 (;;) {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loop();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if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serialEventRun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serialEventRun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loop()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и </a:t>
            </a:r>
            <a:r>
              <a:rPr lang="en-US" dirty="0" err="1"/>
              <a:t>снова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loop()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sleep_mode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-US" dirty="0" err="1"/>
              <a:t>Посмотрим</a:t>
            </a:r>
            <a:r>
              <a:rPr lang="en-US" dirty="0"/>
              <a:t>,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AVR.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20a: in r24, 0x33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20c: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0x01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20e: out 0x33, r24</a:t>
            </a:r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регистром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SMCR</a:t>
            </a:r>
            <a:r>
              <a:rPr lang="en-US" dirty="0"/>
              <a:t> — Sleep Mode Control Register.</a:t>
            </a:r>
          </a:p>
          <a:p>
            <a:endParaRPr lang="en-US" dirty="0"/>
          </a:p>
          <a:p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ori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</a:t>
            </a:r>
            <a:r>
              <a:rPr lang="en-US" dirty="0"/>
              <a:t> — Sleep Enable;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обновлённое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переходом</a:t>
            </a:r>
            <a:r>
              <a:rPr lang="en-US" dirty="0"/>
              <a:t> в sleep mode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сна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ключевая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210: sleep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CPU </a:t>
            </a:r>
            <a:r>
              <a:rPr lang="en-US" dirty="0" err="1"/>
              <a:t>прекращает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и </a:t>
            </a:r>
            <a:r>
              <a:rPr lang="en-US" dirty="0" err="1"/>
              <a:t>переходит</a:t>
            </a:r>
            <a:r>
              <a:rPr lang="en-US" dirty="0"/>
              <a:t> в sleep mode.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процессор</a:t>
            </a:r>
            <a:r>
              <a:rPr lang="en-US" dirty="0"/>
              <a:t> в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перестаёт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периферия</a:t>
            </a:r>
            <a:r>
              <a:rPr lang="en-US" dirty="0"/>
              <a:t>:</a:t>
            </a:r>
          </a:p>
          <a:p>
            <a:r>
              <a:rPr lang="en-US" dirty="0" err="1"/>
              <a:t>таймеры</a:t>
            </a:r>
            <a:r>
              <a:rPr lang="en-US" dirty="0"/>
              <a:t>; </a:t>
            </a:r>
          </a:p>
          <a:p>
            <a:r>
              <a:rPr lang="en-US" dirty="0"/>
              <a:t>interrupts; </a:t>
            </a:r>
          </a:p>
          <a:p>
            <a:r>
              <a:rPr lang="en-US" dirty="0"/>
              <a:t>UART; </a:t>
            </a:r>
          </a:p>
          <a:p>
            <a:r>
              <a:rPr lang="en-US" dirty="0"/>
              <a:t>GPIO </a:t>
            </a:r>
          </a:p>
          <a:p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ru-RU" dirty="0"/>
              <a:t>прерывание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Timer1: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«</a:t>
            </a:r>
            <a:r>
              <a:rPr lang="en-US" dirty="0" err="1"/>
              <a:t>просыпается</a:t>
            </a:r>
            <a:r>
              <a:rPr lang="en-US" dirty="0"/>
              <a:t>»;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выполняет</a:t>
            </a:r>
            <a:r>
              <a:rPr lang="en-US" dirty="0"/>
              <a:t> ISR;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следующей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пробуждения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212: in r24, 0x33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214: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0xFE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216: out 0x33, r24</a:t>
            </a:r>
          </a:p>
          <a:p>
            <a:endParaRPr lang="ru-RU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SMCR</a:t>
            </a:r>
            <a:r>
              <a:rPr lang="en-US" dirty="0"/>
              <a:t>.</a:t>
            </a:r>
          </a:p>
          <a:p>
            <a:r>
              <a:rPr lang="en-US" dirty="0" err="1"/>
              <a:t>Инструкция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r24, 0xFE</a:t>
            </a:r>
          </a:p>
          <a:p>
            <a:r>
              <a:rPr lang="en-US" dirty="0" err="1"/>
              <a:t>сбрасывает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</a:t>
            </a:r>
            <a:r>
              <a:rPr lang="en-US" dirty="0"/>
              <a:t>.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пробуждения</a:t>
            </a:r>
            <a:r>
              <a:rPr lang="en-US" dirty="0"/>
              <a:t> sleep mode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отключается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предотвращает</a:t>
            </a:r>
            <a:r>
              <a:rPr lang="en-US" dirty="0"/>
              <a:t> </a:t>
            </a:r>
            <a:r>
              <a:rPr lang="en-US" dirty="0" err="1"/>
              <a:t>случайный</a:t>
            </a:r>
            <a:r>
              <a:rPr lang="en-US" dirty="0"/>
              <a:t> </a:t>
            </a:r>
            <a:r>
              <a:rPr lang="en-US" dirty="0" err="1"/>
              <a:t>повторный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в sleep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последующих</a:t>
            </a:r>
            <a:r>
              <a:rPr lang="en-US" dirty="0"/>
              <a:t> </a:t>
            </a:r>
            <a:r>
              <a:rPr lang="en-US" dirty="0" err="1"/>
              <a:t>инструкциях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21a: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breq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...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220: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rjmp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...</a:t>
            </a:r>
          </a:p>
          <a:p>
            <a:r>
              <a:rPr lang="en-US" dirty="0" err="1"/>
              <a:t>реализуют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Arduino runtime.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крайне</a:t>
            </a:r>
            <a:r>
              <a:rPr lang="en-US" dirty="0"/>
              <a:t> </a:t>
            </a:r>
            <a:r>
              <a:rPr lang="en-US" dirty="0" err="1"/>
              <a:t>прямолинейно</a:t>
            </a:r>
            <a:r>
              <a:rPr lang="en-US" dirty="0"/>
              <a:t>:</a:t>
            </a:r>
          </a:p>
          <a:p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установка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переходы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Никаких</a:t>
            </a:r>
            <a:r>
              <a:rPr lang="en-US" dirty="0"/>
              <a:t> «</a:t>
            </a:r>
            <a:r>
              <a:rPr lang="en-US" dirty="0" err="1"/>
              <a:t>высокоуровневых</a:t>
            </a:r>
            <a:r>
              <a:rPr lang="en-US" dirty="0"/>
              <a:t>» </a:t>
            </a:r>
            <a:r>
              <a:rPr lang="en-US" dirty="0" err="1"/>
              <a:t>конструкций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Внизу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_exit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когда-либо</a:t>
            </a:r>
            <a:r>
              <a:rPr lang="en-US" dirty="0"/>
              <a:t> </a:t>
            </a:r>
            <a:r>
              <a:rPr lang="en-US" dirty="0" err="1"/>
              <a:t>попытается</a:t>
            </a:r>
            <a:r>
              <a:rPr lang="en-US" dirty="0"/>
              <a:t> </a:t>
            </a:r>
            <a:r>
              <a:rPr lang="en-US" dirty="0" err="1"/>
              <a:t>завершиться</a:t>
            </a:r>
            <a:r>
              <a:rPr lang="en-US" dirty="0"/>
              <a:t>, runtime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ru-RU" dirty="0"/>
              <a:t>прерывания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</a:t>
            </a:r>
          </a:p>
          <a:p>
            <a:r>
              <a:rPr lang="en-US" dirty="0"/>
              <a:t>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rjmp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.-2</a:t>
            </a:r>
          </a:p>
          <a:p>
            <a:r>
              <a:rPr lang="en-US" dirty="0"/>
              <a:t>Embedded-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завершаются</a:t>
            </a:r>
            <a:r>
              <a:rPr lang="en-US" dirty="0"/>
              <a:t> —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предполагается</a:t>
            </a:r>
            <a:r>
              <a:rPr lang="en-US" dirty="0"/>
              <a:t> </a:t>
            </a:r>
            <a:r>
              <a:rPr lang="en-US" dirty="0" err="1"/>
              <a:t>работающим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включения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84892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</a:t>
            </a:r>
            <a:r>
              <a:rPr lang="en-US" dirty="0" err="1"/>
              <a:t>устроена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написана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C, в </a:t>
            </a:r>
            <a:r>
              <a:rPr lang="en-US" dirty="0" err="1"/>
              <a:t>конечном</a:t>
            </a:r>
            <a:r>
              <a:rPr lang="en-US" dirty="0"/>
              <a:t> </a:t>
            </a:r>
            <a:r>
              <a:rPr lang="en-US" dirty="0" err="1"/>
              <a:t>итоге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сводится</a:t>
            </a:r>
            <a:r>
              <a:rPr lang="en-US" dirty="0"/>
              <a:t> 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чтению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выполнению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взаимодействию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увидели</a:t>
            </a:r>
            <a:r>
              <a:rPr lang="en-US" dirty="0"/>
              <a:t> </a:t>
            </a:r>
            <a:r>
              <a:rPr lang="en-US" dirty="0" err="1"/>
              <a:t>полный</a:t>
            </a:r>
            <a:r>
              <a:rPr lang="en-US" dirty="0"/>
              <a:t> </a:t>
            </a:r>
            <a:r>
              <a:rPr lang="en-US" dirty="0" err="1"/>
              <a:t>путь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от</a:t>
            </a:r>
            <a:r>
              <a:rPr lang="en-US" dirty="0"/>
              <a:t> reset vector;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через</a:t>
            </a:r>
            <a:r>
              <a:rPr lang="en-US" dirty="0"/>
              <a:t> startup code;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к </a:t>
            </a:r>
            <a:r>
              <a:rPr lang="en-US" dirty="0" err="1"/>
              <a:t>инициализации</a:t>
            </a:r>
            <a:r>
              <a:rPr lang="en-US" dirty="0"/>
              <a:t> runtime;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настройке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обработке</a:t>
            </a:r>
            <a:r>
              <a:rPr lang="en-US" dirty="0"/>
              <a:t> interrupts.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TIMSK1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TCCR1B</a:t>
            </a:r>
            <a:r>
              <a:rPr lang="en-US" dirty="0"/>
              <a:t> </a:t>
            </a:r>
          </a:p>
          <a:p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обычными</a:t>
            </a:r>
            <a:r>
              <a:rPr lang="en-US" dirty="0"/>
              <a:t> </a:t>
            </a:r>
            <a:r>
              <a:rPr lang="en-US" dirty="0" err="1"/>
              <a:t>переменными</a:t>
            </a:r>
            <a:r>
              <a:rPr lang="en-US" dirty="0"/>
              <a:t>, а </a:t>
            </a:r>
            <a:r>
              <a:rPr lang="en-US" dirty="0" err="1"/>
              <a:t>интерфейсом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объявляются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с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принципиально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реагировать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увидели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высокоуровневый</a:t>
            </a:r>
            <a:r>
              <a:rPr lang="en-US" dirty="0"/>
              <a:t> C-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прямолинейно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AVR: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,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lds</a:t>
            </a:r>
            <a:r>
              <a:rPr lang="en-US" dirty="0"/>
              <a:t>,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</a:t>
            </a:r>
            <a:r>
              <a:rPr lang="en-US" dirty="0"/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«</a:t>
            </a:r>
            <a:r>
              <a:rPr lang="en-US" dirty="0" err="1"/>
              <a:t>скрывает</a:t>
            </a:r>
            <a:r>
              <a:rPr lang="en-US" dirty="0"/>
              <a:t> </a:t>
            </a:r>
            <a:r>
              <a:rPr lang="en-US" dirty="0" err="1"/>
              <a:t>магию</a:t>
            </a:r>
            <a:r>
              <a:rPr lang="en-US" dirty="0"/>
              <a:t>», а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соответствующие</a:t>
            </a:r>
            <a:r>
              <a:rPr lang="en-US" dirty="0"/>
              <a:t> </a:t>
            </a:r>
            <a:r>
              <a:rPr lang="en-US" dirty="0" err="1"/>
              <a:t>архитектуре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важной</a:t>
            </a:r>
            <a:r>
              <a:rPr lang="en-US" dirty="0"/>
              <a:t> </a:t>
            </a:r>
            <a:r>
              <a:rPr lang="en-US" dirty="0" err="1"/>
              <a:t>особенностью</a:t>
            </a:r>
            <a:r>
              <a:rPr lang="en-US" dirty="0"/>
              <a:t> embedded-</a:t>
            </a:r>
            <a:r>
              <a:rPr lang="en-US" dirty="0" err="1"/>
              <a:t>программирования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event-driven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busy-wait </a:t>
            </a:r>
            <a:r>
              <a:rPr lang="en-US" dirty="0" err="1"/>
              <a:t>циклы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занимается</a:t>
            </a:r>
            <a:r>
              <a:rPr lang="en-US" dirty="0"/>
              <a:t> </a:t>
            </a:r>
            <a:r>
              <a:rPr lang="en-US" dirty="0" err="1"/>
              <a:t>постоянным</a:t>
            </a:r>
            <a:r>
              <a:rPr lang="en-US" dirty="0"/>
              <a:t> polling;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большую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sleep mode. </a:t>
            </a:r>
          </a:p>
          <a:p>
            <a:endParaRPr lang="ru-RU" dirty="0"/>
          </a:p>
          <a:p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событиями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interrupt,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просыпается</a:t>
            </a:r>
            <a:r>
              <a:rPr lang="en-US" dirty="0"/>
              <a:t>, </a:t>
            </a:r>
            <a:r>
              <a:rPr lang="en-US" dirty="0" err="1"/>
              <a:t>выполняет</a:t>
            </a:r>
            <a:r>
              <a:rPr lang="en-US" dirty="0"/>
              <a:t> ISR и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в </a:t>
            </a:r>
            <a:r>
              <a:rPr lang="en-US" dirty="0" err="1"/>
              <a:t>ожидание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принципов</a:t>
            </a:r>
            <a:r>
              <a:rPr lang="en-US" dirty="0"/>
              <a:t> </a:t>
            </a:r>
            <a:r>
              <a:rPr lang="en-US" dirty="0" err="1"/>
              <a:t>проектирования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14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interrupts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обрабатываются</a:t>
            </a:r>
            <a:r>
              <a:rPr lang="en-US" dirty="0"/>
              <a:t> </a:t>
            </a:r>
            <a:r>
              <a:rPr lang="en-US" dirty="0" err="1"/>
              <a:t>мгновенно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возникновением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и </a:t>
            </a:r>
            <a:r>
              <a:rPr lang="en-US" dirty="0" err="1"/>
              <a:t>началом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ISR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, </a:t>
            </a:r>
            <a:r>
              <a:rPr lang="en-US" dirty="0" err="1"/>
              <a:t>называемая</a:t>
            </a:r>
            <a:r>
              <a:rPr lang="en-US" dirty="0"/>
              <a:t> interrupt latency.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ru-RU" dirty="0"/>
              <a:t>периферия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ru-RU" dirty="0"/>
              <a:t>прерывание,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прервать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посреди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CPU </a:t>
            </a:r>
            <a:r>
              <a:rPr lang="en-US" dirty="0" err="1"/>
              <a:t>должен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завершить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перейти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interrupt vector;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пролог</a:t>
            </a:r>
            <a:r>
              <a:rPr lang="en-US" dirty="0"/>
              <a:t> ISR и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необходимые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AVR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невелика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в embedded-</a:t>
            </a:r>
            <a:r>
              <a:rPr lang="en-US" dirty="0" err="1"/>
              <a:t>системах</a:t>
            </a:r>
            <a:r>
              <a:rPr lang="en-US" dirty="0"/>
              <a:t> timing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принципиальное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Latency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факторов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dirty="0" err="1"/>
              <a:t>выполнялась</a:t>
            </a:r>
            <a:r>
              <a:rPr lang="en-US" dirty="0"/>
              <a:t> в </a:t>
            </a:r>
            <a:r>
              <a:rPr lang="en-US" dirty="0" err="1"/>
              <a:t>момент</a:t>
            </a:r>
            <a:r>
              <a:rPr lang="en-US" dirty="0"/>
              <a:t> interrupt;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разрешены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interrupts;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ISR;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занимает</a:t>
            </a:r>
            <a:r>
              <a:rPr lang="en-US" dirty="0"/>
              <a:t> </a:t>
            </a:r>
            <a:r>
              <a:rPr lang="en-US" dirty="0" err="1"/>
              <a:t>сохранение</a:t>
            </a:r>
            <a:r>
              <a:rPr lang="en-US" dirty="0"/>
              <a:t> </a:t>
            </a:r>
            <a:r>
              <a:rPr lang="en-US" dirty="0" err="1"/>
              <a:t>контекста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влияние</a:t>
            </a:r>
            <a:r>
              <a:rPr lang="en-US" dirty="0"/>
              <a:t> </a:t>
            </a:r>
            <a:r>
              <a:rPr lang="en-US" dirty="0" err="1"/>
              <a:t>длинных</a:t>
            </a:r>
            <a:r>
              <a:rPr lang="en-US" dirty="0"/>
              <a:t> ISR.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долго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увеличивается</a:t>
            </a:r>
            <a:r>
              <a:rPr lang="en-US" dirty="0"/>
              <a:t> latency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interrupts;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ухудшается</a:t>
            </a:r>
            <a:r>
              <a:rPr lang="en-US" dirty="0"/>
              <a:t> </a:t>
            </a:r>
            <a:r>
              <a:rPr lang="en-US" dirty="0" err="1"/>
              <a:t>отзывчивость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возрастает</a:t>
            </a:r>
            <a:r>
              <a:rPr lang="en-US" dirty="0"/>
              <a:t> jitter — </a:t>
            </a:r>
            <a:r>
              <a:rPr lang="en-US" dirty="0" err="1"/>
              <a:t>нестабильность</a:t>
            </a:r>
            <a:r>
              <a:rPr lang="en-US" dirty="0"/>
              <a:t> </a:t>
            </a:r>
            <a:r>
              <a:rPr lang="en-US" dirty="0" err="1"/>
              <a:t>временных</a:t>
            </a:r>
            <a:r>
              <a:rPr lang="en-US" dirty="0"/>
              <a:t> </a:t>
            </a:r>
            <a:r>
              <a:rPr lang="en-US" dirty="0" err="1"/>
              <a:t>интервалов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/>
              <a:t>В real-time и embedded-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потере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нарушению</a:t>
            </a:r>
            <a:r>
              <a:rPr lang="en-US" dirty="0"/>
              <a:t> </a:t>
            </a:r>
            <a:r>
              <a:rPr lang="ru-RU" dirty="0"/>
              <a:t>ограничений по времени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embedded-</a:t>
            </a:r>
            <a:r>
              <a:rPr lang="en-US" dirty="0" err="1"/>
              <a:t>принцип</a:t>
            </a:r>
            <a:r>
              <a:rPr lang="en-US" dirty="0"/>
              <a:t>:</a:t>
            </a:r>
          </a:p>
          <a:p>
            <a:r>
              <a:rPr lang="en-US" dirty="0"/>
              <a:t>ISR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:</a:t>
            </a:r>
          </a:p>
          <a:p>
            <a:r>
              <a:rPr lang="en-US" dirty="0" err="1"/>
              <a:t>короткой</a:t>
            </a:r>
            <a:r>
              <a:rPr lang="en-US" dirty="0"/>
              <a:t>; </a:t>
            </a:r>
          </a:p>
          <a:p>
            <a:r>
              <a:rPr lang="en-US" dirty="0" err="1"/>
              <a:t>быстрой</a:t>
            </a:r>
            <a:r>
              <a:rPr lang="en-US" dirty="0"/>
              <a:t>; </a:t>
            </a:r>
          </a:p>
          <a:p>
            <a:r>
              <a:rPr lang="en-US" dirty="0" err="1"/>
              <a:t>предсказуемой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Обычно</a:t>
            </a:r>
            <a:r>
              <a:rPr lang="en-US" dirty="0"/>
              <a:t> ISR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фиксирует</a:t>
            </a:r>
            <a:r>
              <a:rPr lang="en-US" dirty="0"/>
              <a:t> </a:t>
            </a:r>
            <a:r>
              <a:rPr lang="en-US" dirty="0" err="1"/>
              <a:t>факт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:</a:t>
            </a:r>
          </a:p>
          <a:p>
            <a:r>
              <a:rPr lang="en-US" dirty="0" err="1"/>
              <a:t>устанавливает</a:t>
            </a:r>
            <a:r>
              <a:rPr lang="en-US" dirty="0"/>
              <a:t> flag; </a:t>
            </a:r>
          </a:p>
          <a:p>
            <a:r>
              <a:rPr lang="en-US" dirty="0" err="1"/>
              <a:t>копирует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; </a:t>
            </a:r>
          </a:p>
          <a:p>
            <a:r>
              <a:rPr lang="en-US" dirty="0" err="1"/>
              <a:t>обновляет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в </a:t>
            </a:r>
            <a:r>
              <a:rPr lang="en-US" dirty="0" err="1"/>
              <a:t>основном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3384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interrupts — interrupt nesting.</a:t>
            </a:r>
          </a:p>
          <a:p>
            <a:endParaRPr lang="en-US" dirty="0"/>
          </a:p>
          <a:p>
            <a:r>
              <a:rPr lang="en-US" dirty="0"/>
              <a:t>Interrupt nesting </a:t>
            </a:r>
            <a:r>
              <a:rPr lang="en-US" dirty="0" err="1"/>
              <a:t>означает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ISR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interrupt, и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прерывает</a:t>
            </a:r>
            <a:r>
              <a:rPr lang="en-US" dirty="0"/>
              <a:t> </a:t>
            </a:r>
            <a:r>
              <a:rPr lang="en-US" dirty="0" err="1"/>
              <a:t>текущий</a:t>
            </a:r>
            <a:r>
              <a:rPr lang="en-US" dirty="0"/>
              <a:t> ISR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AVR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умолчанию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входит</a:t>
            </a:r>
            <a:r>
              <a:rPr lang="en-US" dirty="0"/>
              <a:t> в ISR: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глобальный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interrupts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сбрасывается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interrupts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запрещается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ISR </a:t>
            </a:r>
            <a:r>
              <a:rPr lang="en-US" dirty="0" err="1"/>
              <a:t>остальные</a:t>
            </a:r>
            <a:r>
              <a:rPr lang="en-US" dirty="0"/>
              <a:t> interrupts </a:t>
            </a:r>
            <a:r>
              <a:rPr lang="en-US" dirty="0" err="1"/>
              <a:t>ожидают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.</a:t>
            </a:r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dirty="0"/>
              <a:t>в </a:t>
            </a:r>
            <a:r>
              <a:rPr lang="en-US" dirty="0" err="1"/>
              <a:t>конце</a:t>
            </a:r>
            <a:r>
              <a:rPr lang="en-US" dirty="0"/>
              <a:t> ISR </a:t>
            </a:r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ru-RU" dirty="0"/>
              <a:t>и п</a:t>
            </a:r>
            <a:r>
              <a:rPr lang="en-US" dirty="0" err="1"/>
              <a:t>овторно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interrupts. 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упрощает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и </a:t>
            </a:r>
            <a:r>
              <a:rPr lang="en-US" dirty="0" err="1"/>
              <a:t>делает</a:t>
            </a:r>
            <a:r>
              <a:rPr lang="en-US" dirty="0"/>
              <a:t> timing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предсказуемым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у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подхода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следствие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долго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остальные</a:t>
            </a:r>
            <a:r>
              <a:rPr lang="en-US" dirty="0"/>
              <a:t> interrupts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обрабатываться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увеличивается</a:t>
            </a:r>
            <a:r>
              <a:rPr lang="en-US" dirty="0"/>
              <a:t> interrupt latency;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начинают</a:t>
            </a:r>
            <a:r>
              <a:rPr lang="en-US" dirty="0"/>
              <a:t> </a:t>
            </a:r>
            <a:r>
              <a:rPr lang="en-US" dirty="0" err="1"/>
              <a:t>накапливаться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нарушаться</a:t>
            </a:r>
            <a:r>
              <a:rPr lang="en-US" dirty="0"/>
              <a:t> timing </a:t>
            </a:r>
            <a:r>
              <a:rPr lang="en-US" dirty="0" err="1"/>
              <a:t>периферии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ISR </a:t>
            </a:r>
            <a:r>
              <a:rPr lang="en-US" dirty="0" err="1"/>
              <a:t>рекомендуется</a:t>
            </a:r>
            <a:r>
              <a:rPr lang="en-US" dirty="0"/>
              <a:t> </a:t>
            </a:r>
            <a:r>
              <a:rPr lang="en-US" dirty="0" err="1"/>
              <a:t>делать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короткими</a:t>
            </a:r>
            <a:r>
              <a:rPr lang="en-US" dirty="0"/>
              <a:t>.</a:t>
            </a:r>
          </a:p>
          <a:p>
            <a:r>
              <a:rPr lang="en-US" dirty="0" err="1"/>
              <a:t>Технически</a:t>
            </a:r>
            <a:r>
              <a:rPr lang="en-US" dirty="0"/>
              <a:t> nested interrupts </a:t>
            </a:r>
            <a:r>
              <a:rPr lang="en-US" dirty="0" err="1"/>
              <a:t>на</a:t>
            </a:r>
            <a:r>
              <a:rPr lang="en-US" dirty="0"/>
              <a:t> AVR </a:t>
            </a:r>
            <a:r>
              <a:rPr lang="en-US" dirty="0" err="1"/>
              <a:t>возможны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ISR </a:t>
            </a:r>
            <a:r>
              <a:rPr lang="en-US" dirty="0" err="1"/>
              <a:t>вручную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sei();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разрешит</a:t>
            </a:r>
            <a:r>
              <a:rPr lang="en-US" dirty="0"/>
              <a:t> interrupts, и </a:t>
            </a:r>
            <a:r>
              <a:rPr lang="en-US" dirty="0" err="1"/>
              <a:t>один</a:t>
            </a:r>
            <a:r>
              <a:rPr lang="en-US" dirty="0"/>
              <a:t> ISR </a:t>
            </a:r>
            <a:r>
              <a:rPr lang="en-US" dirty="0" err="1"/>
              <a:t>сможет</a:t>
            </a:r>
            <a:r>
              <a:rPr lang="en-US" dirty="0"/>
              <a:t> </a:t>
            </a:r>
            <a:r>
              <a:rPr lang="en-US" dirty="0" err="1"/>
              <a:t>прерываться</a:t>
            </a:r>
            <a:r>
              <a:rPr lang="en-US" dirty="0"/>
              <a:t> </a:t>
            </a:r>
            <a:r>
              <a:rPr lang="en-US" dirty="0" err="1"/>
              <a:t>другим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усложняет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дополнительные</a:t>
            </a:r>
            <a:r>
              <a:rPr lang="en-US" dirty="0"/>
              <a:t> </a:t>
            </a:r>
            <a:r>
              <a:rPr lang="ru-RU" dirty="0"/>
              <a:t>состояния гонки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возрастает</a:t>
            </a:r>
            <a:r>
              <a:rPr lang="en-US" dirty="0"/>
              <a:t> </a:t>
            </a:r>
            <a:r>
              <a:rPr lang="en-US" dirty="0" err="1"/>
              <a:t>нагрузка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ухудшается</a:t>
            </a:r>
            <a:r>
              <a:rPr lang="en-US" dirty="0"/>
              <a:t> </a:t>
            </a:r>
            <a:r>
              <a:rPr lang="en-US" dirty="0" err="1"/>
              <a:t>предсказуемость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большинстве</a:t>
            </a:r>
            <a:r>
              <a:rPr lang="en-US" dirty="0"/>
              <a:t> embedded-</a:t>
            </a:r>
            <a:r>
              <a:rPr lang="en-US" dirty="0" err="1"/>
              <a:t>программ</a:t>
            </a:r>
            <a:r>
              <a:rPr lang="en-US" dirty="0"/>
              <a:t> nested interrupts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избегаются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осторожно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30516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embedded-</a:t>
            </a:r>
            <a:r>
              <a:rPr lang="en-US" dirty="0" err="1"/>
              <a:t>программирования</a:t>
            </a:r>
            <a:r>
              <a:rPr lang="en-US" dirty="0"/>
              <a:t> — </a:t>
            </a:r>
            <a:r>
              <a:rPr lang="ru-RU" dirty="0"/>
              <a:t>состояние гонки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ru-RU" dirty="0"/>
              <a:t>Состояние гонки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взаимного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совместной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ISR;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.</a:t>
            </a:r>
          </a:p>
          <a:p>
            <a:r>
              <a:rPr lang="en-US" dirty="0" err="1"/>
              <a:t>Пусть</a:t>
            </a:r>
            <a:r>
              <a:rPr lang="en-US" dirty="0"/>
              <a:t> ISR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увеличивает</a:t>
            </a:r>
            <a:r>
              <a:rPr lang="en-US" dirty="0"/>
              <a:t> </a:t>
            </a:r>
            <a:r>
              <a:rPr lang="en-US" dirty="0" err="1"/>
              <a:t>глобальную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 uint16_t counter;</a:t>
            </a:r>
          </a:p>
          <a:p>
            <a:r>
              <a:rPr lang="en-US" dirty="0"/>
              <a:t>а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AVR — </a:t>
            </a:r>
            <a:r>
              <a:rPr lang="en-US" dirty="0" err="1"/>
              <a:t>это</a:t>
            </a:r>
            <a:r>
              <a:rPr lang="en-US" dirty="0"/>
              <a:t> 8-битная </a:t>
            </a:r>
            <a:r>
              <a:rPr lang="en-US" dirty="0" err="1"/>
              <a:t>архитектура</a:t>
            </a:r>
            <a:r>
              <a:rPr lang="en-US" dirty="0"/>
              <a:t>.</a:t>
            </a:r>
          </a:p>
          <a:p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16-битное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 = counter;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младшего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; </a:t>
            </a:r>
          </a:p>
          <a:p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старшего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interrupt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успела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младший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; </a:t>
            </a:r>
          </a:p>
          <a:p>
            <a:r>
              <a:rPr lang="en-US" dirty="0" err="1"/>
              <a:t>затем</a:t>
            </a:r>
            <a:r>
              <a:rPr lang="en-US" dirty="0"/>
              <a:t> ISR </a:t>
            </a:r>
            <a:r>
              <a:rPr lang="en-US" dirty="0" err="1"/>
              <a:t>изменила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en-US" dirty="0"/>
              <a:t>; 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main </a:t>
            </a:r>
            <a:r>
              <a:rPr lang="en-US" dirty="0" err="1"/>
              <a:t>прочитал</a:t>
            </a:r>
            <a:r>
              <a:rPr lang="en-US" dirty="0"/>
              <a:t> </a:t>
            </a:r>
            <a:r>
              <a:rPr lang="en-US" dirty="0" err="1"/>
              <a:t>старший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повреждённое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никогда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существовало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и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ru-RU" dirty="0"/>
              <a:t>состояние гонки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</a:t>
            </a:r>
            <a:r>
              <a:rPr lang="ru-RU" dirty="0"/>
              <a:t>состояния гонки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удалять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кэшировать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atomic;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защищает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одновременного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предотвращает</a:t>
            </a:r>
            <a:r>
              <a:rPr lang="en-US" dirty="0"/>
              <a:t> </a:t>
            </a:r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посреди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80837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предотвращения</a:t>
            </a:r>
            <a:r>
              <a:rPr lang="en-US" dirty="0"/>
              <a:t> </a:t>
            </a:r>
            <a:r>
              <a:rPr lang="en-US" dirty="0" err="1"/>
              <a:t>подобных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critical sections.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cli();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 = counter;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sei();</a:t>
            </a:r>
          </a:p>
          <a:p>
            <a:r>
              <a:rPr lang="en-US" dirty="0" err="1"/>
              <a:t>Здесь</a:t>
            </a:r>
            <a:r>
              <a:rPr lang="en-US" dirty="0"/>
              <a:t> interrupts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запрещаются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5511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AVR </a:t>
            </a:r>
            <a:r>
              <a:rPr lang="en-US" dirty="0" err="1"/>
              <a:t>существуют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cli()</a:t>
            </a:r>
          </a:p>
          <a:p>
            <a:r>
              <a:rPr lang="en-US" dirty="0"/>
              <a:t>и: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sei()</a:t>
            </a:r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управляют</a:t>
            </a:r>
            <a:r>
              <a:rPr lang="en-US" dirty="0"/>
              <a:t> </a:t>
            </a:r>
            <a:r>
              <a:rPr lang="en-US" dirty="0" err="1"/>
              <a:t>глобальным</a:t>
            </a:r>
            <a:r>
              <a:rPr lang="en-US" dirty="0"/>
              <a:t> </a:t>
            </a:r>
            <a:r>
              <a:rPr lang="en-US" dirty="0" err="1"/>
              <a:t>разрешением</a:t>
            </a:r>
            <a:r>
              <a:rPr lang="en-US" dirty="0"/>
              <a:t> interrupts.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 Interrupt Flag</a:t>
            </a:r>
          </a:p>
          <a:p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interrupts </a:t>
            </a:r>
            <a:r>
              <a:rPr lang="en-US" dirty="0" err="1"/>
              <a:t>процессором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Interrupt Flag</a:t>
            </a:r>
          </a:p>
          <a:p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interrupts.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critical sections — </a:t>
            </a:r>
            <a:r>
              <a:rPr lang="en-US" dirty="0" err="1"/>
              <a:t>участков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атомарно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вмешательства</a:t>
            </a:r>
            <a:r>
              <a:rPr lang="en-US" dirty="0"/>
              <a:t> ISR.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race condition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чтении</a:t>
            </a:r>
            <a:r>
              <a:rPr lang="en-US" dirty="0"/>
              <a:t> 16-битной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8-битном AVR.</a:t>
            </a:r>
          </a:p>
          <a:p>
            <a:r>
              <a:rPr lang="en-US" dirty="0" err="1"/>
              <a:t>Решением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cli();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 = counter;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sei();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Пока</a:t>
            </a:r>
            <a:r>
              <a:rPr lang="en-US" dirty="0"/>
              <a:t> interrupts </a:t>
            </a:r>
            <a:r>
              <a:rPr lang="en-US" dirty="0" err="1"/>
              <a:t>запрещены</a:t>
            </a:r>
            <a:r>
              <a:rPr lang="en-US" dirty="0"/>
              <a:t>, ISR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 </a:t>
            </a:r>
            <a:r>
              <a:rPr lang="en-US" dirty="0" err="1"/>
              <a:t>посреди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запрет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опасной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ru-RU" dirty="0"/>
              <a:t>они </a:t>
            </a:r>
            <a:r>
              <a:rPr lang="en-US" dirty="0" err="1"/>
              <a:t>запрещены</a:t>
            </a:r>
            <a:r>
              <a:rPr lang="ru-RU" dirty="0"/>
              <a:t>, </a:t>
            </a:r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ru-RU" dirty="0"/>
              <a:t>, аппаратные события </a:t>
            </a:r>
            <a:r>
              <a:rPr lang="en-US" dirty="0" err="1"/>
              <a:t>продолжают</a:t>
            </a:r>
            <a:r>
              <a:rPr lang="en-US" dirty="0"/>
              <a:t> </a:t>
            </a:r>
            <a:r>
              <a:rPr lang="en-US" dirty="0" err="1"/>
              <a:t>возникать</a:t>
            </a:r>
            <a:r>
              <a:rPr lang="ru-RU" dirty="0"/>
              <a:t>, </a:t>
            </a:r>
            <a:r>
              <a:rPr lang="en-US" dirty="0" err="1"/>
              <a:t>но</a:t>
            </a:r>
            <a:r>
              <a:rPr lang="en-US" dirty="0"/>
              <a:t> ISR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interrupts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запрещёнными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долго</a:t>
            </a:r>
            <a:r>
              <a:rPr lang="en-US" dirty="0"/>
              <a:t>:</a:t>
            </a:r>
          </a:p>
          <a:p>
            <a:r>
              <a:rPr lang="en-US" dirty="0" err="1"/>
              <a:t>увеличивается</a:t>
            </a:r>
            <a:r>
              <a:rPr lang="en-US" dirty="0"/>
              <a:t> interrupt latency; </a:t>
            </a:r>
          </a:p>
          <a:p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теряться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UART; </a:t>
            </a:r>
          </a:p>
          <a:p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пропускаться</a:t>
            </a:r>
            <a:r>
              <a:rPr lang="en-US" dirty="0"/>
              <a:t> timer events; </a:t>
            </a:r>
          </a:p>
          <a:p>
            <a:r>
              <a:rPr lang="en-US" dirty="0" err="1"/>
              <a:t>ухудшается</a:t>
            </a:r>
            <a:r>
              <a:rPr lang="en-US" dirty="0"/>
              <a:t> timing </a:t>
            </a:r>
            <a:r>
              <a:rPr lang="en-US" dirty="0" err="1"/>
              <a:t>системы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/>
              <a:t> </a:t>
            </a:r>
          </a:p>
          <a:p>
            <a:r>
              <a:rPr lang="en-US" dirty="0"/>
              <a:t>В real-time embedded-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нестабильной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embedded-</a:t>
            </a:r>
            <a:r>
              <a:rPr lang="en-US" dirty="0" err="1"/>
              <a:t>принцип</a:t>
            </a:r>
            <a:r>
              <a:rPr lang="en-US" dirty="0"/>
              <a:t>:</a:t>
            </a:r>
          </a:p>
          <a:p>
            <a:r>
              <a:rPr lang="en-US" dirty="0"/>
              <a:t>interrupts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запрещать</a:t>
            </a:r>
            <a:r>
              <a:rPr lang="en-US" dirty="0"/>
              <a:t>:</a:t>
            </a:r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минимально</a:t>
            </a:r>
            <a:r>
              <a:rPr lang="en-US" dirty="0"/>
              <a:t> </a:t>
            </a:r>
            <a:r>
              <a:rPr lang="en-US" dirty="0" err="1"/>
              <a:t>возможное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/>
              <a:t>Critical sections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короткими</a:t>
            </a:r>
            <a:r>
              <a:rPr lang="en-US" dirty="0"/>
              <a:t> и </a:t>
            </a:r>
            <a:r>
              <a:rPr lang="en-US" dirty="0" err="1"/>
              <a:t>предсказуемыми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5510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прерывание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аппаратное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, а </a:t>
            </a:r>
            <a:r>
              <a:rPr lang="en-US" dirty="0" err="1"/>
              <a:t>реакция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</a:p>
          <a:p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стадий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аппаратное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достигает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OCR1A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ru-RU" dirty="0"/>
              <a:t>периферия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interrupt flag — 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OCF1A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установка</a:t>
            </a:r>
            <a:r>
              <a:rPr lang="en-US" dirty="0"/>
              <a:t> </a:t>
            </a:r>
            <a:r>
              <a:rPr lang="en-US" dirty="0" err="1"/>
              <a:t>флага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ISR.</a:t>
            </a:r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аппаратная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:</a:t>
            </a:r>
          </a:p>
          <a:p>
            <a:r>
              <a:rPr lang="en-US" dirty="0" err="1"/>
              <a:t>разрешено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TIMSK1</a:t>
            </a:r>
            <a:r>
              <a:rPr lang="en-US" dirty="0"/>
              <a:t>; </a:t>
            </a:r>
          </a:p>
          <a:p>
            <a:r>
              <a:rPr lang="en-US" dirty="0"/>
              <a:t>и </a:t>
            </a:r>
            <a:r>
              <a:rPr lang="en-US" dirty="0" err="1"/>
              <a:t>глобально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разрешены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sei()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ISR.</a:t>
            </a:r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различать</a:t>
            </a:r>
            <a:r>
              <a:rPr lang="en-US" dirty="0"/>
              <a:t>:</a:t>
            </a:r>
          </a:p>
          <a:p>
            <a:r>
              <a:rPr lang="en-US" dirty="0"/>
              <a:t>interrupt flags; </a:t>
            </a:r>
          </a:p>
          <a:p>
            <a:r>
              <a:rPr lang="en-US" dirty="0"/>
              <a:t>и interrupt enable bits. </a:t>
            </a:r>
          </a:p>
          <a:p>
            <a:r>
              <a:rPr lang="en-US" dirty="0"/>
              <a:t>В Timer1:</a:t>
            </a:r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TIFR1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флаги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;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TIMSK1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разрешением</a:t>
            </a:r>
            <a:r>
              <a:rPr lang="en-US" dirty="0"/>
              <a:t> </a:t>
            </a:r>
            <a:r>
              <a:rPr lang="en-US" dirty="0" err="1"/>
              <a:t>соответствующих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. 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фундаментальная</a:t>
            </a:r>
            <a:r>
              <a:rPr lang="en-US" dirty="0"/>
              <a:t> embedded-</a:t>
            </a:r>
            <a:r>
              <a:rPr lang="en-US" dirty="0" err="1"/>
              <a:t>концепция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ru-RU" dirty="0"/>
              <a:t>Аппаратура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установить</a:t>
            </a:r>
            <a:r>
              <a:rPr lang="en-US" dirty="0"/>
              <a:t> interrupt flag, </a:t>
            </a:r>
            <a:r>
              <a:rPr lang="en-US" dirty="0" err="1"/>
              <a:t>но</a:t>
            </a:r>
            <a:r>
              <a:rPr lang="en-US" dirty="0"/>
              <a:t> ISR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вызван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запрещено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:</a:t>
            </a:r>
          </a:p>
          <a:p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накапливаться</a:t>
            </a:r>
            <a:r>
              <a:rPr lang="en-US" dirty="0"/>
              <a:t>; </a:t>
            </a:r>
          </a:p>
          <a:p>
            <a:r>
              <a:rPr lang="en-US" dirty="0"/>
              <a:t>ISR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отложен</a:t>
            </a:r>
            <a:r>
              <a:rPr lang="en-US" dirty="0"/>
              <a:t>; </a:t>
            </a:r>
          </a:p>
          <a:p>
            <a:r>
              <a:rPr lang="en-US" dirty="0"/>
              <a:t>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неправильной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флагами</a:t>
            </a:r>
            <a:r>
              <a:rPr lang="en-US" dirty="0"/>
              <a:t> </a:t>
            </a:r>
            <a:r>
              <a:rPr lang="en-US" dirty="0" err="1"/>
              <a:t>возможна</a:t>
            </a:r>
            <a:r>
              <a:rPr lang="en-US" dirty="0"/>
              <a:t> </a:t>
            </a:r>
            <a:r>
              <a:rPr lang="en-US" dirty="0" err="1"/>
              <a:t>потеря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26364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</a:t>
            </a:r>
            <a:r>
              <a:rPr lang="en-US" dirty="0" err="1"/>
              <a:t>начале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с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0x0000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reset.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 — reset vector —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к startup code.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соответствуют</a:t>
            </a:r>
            <a:r>
              <a:rPr lang="en-US" dirty="0"/>
              <a:t> </a:t>
            </a:r>
            <a:r>
              <a:rPr lang="en-US" dirty="0" err="1"/>
              <a:t>различным</a:t>
            </a:r>
            <a:r>
              <a:rPr lang="en-US" dirty="0"/>
              <a:t> </a:t>
            </a:r>
            <a:r>
              <a:rPr lang="en-US" dirty="0" err="1"/>
              <a:t>аппаратным</a:t>
            </a:r>
            <a:r>
              <a:rPr lang="en-US" dirty="0"/>
              <a:t> </a:t>
            </a:r>
            <a:r>
              <a:rPr lang="en-US" dirty="0" err="1"/>
              <a:t>событиям</a:t>
            </a:r>
            <a:r>
              <a:rPr lang="en-US" dirty="0"/>
              <a:t>:</a:t>
            </a:r>
          </a:p>
          <a:p>
            <a:r>
              <a:rPr lang="en-US" dirty="0" err="1"/>
              <a:t>таймерам</a:t>
            </a:r>
            <a:r>
              <a:rPr lang="en-US" dirty="0"/>
              <a:t>; </a:t>
            </a:r>
          </a:p>
          <a:p>
            <a:r>
              <a:rPr lang="en-US" dirty="0"/>
              <a:t>UART; </a:t>
            </a:r>
          </a:p>
          <a:p>
            <a:r>
              <a:rPr lang="en-US" dirty="0"/>
              <a:t>GPIO; </a:t>
            </a:r>
          </a:p>
          <a:p>
            <a:r>
              <a:rPr lang="en-US" dirty="0"/>
              <a:t>ADC; </a:t>
            </a:r>
          </a:p>
          <a:p>
            <a:r>
              <a:rPr lang="en-US" dirty="0"/>
              <a:t>и </a:t>
            </a:r>
            <a:r>
              <a:rPr lang="en-US" dirty="0" err="1"/>
              <a:t>другим</a:t>
            </a:r>
            <a:r>
              <a:rPr lang="en-US" dirty="0"/>
              <a:t> </a:t>
            </a:r>
            <a:r>
              <a:rPr lang="ru-RU" dirty="0"/>
              <a:t>периферийным устройствам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AVR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, а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dirty="0"/>
              <a:t>.</a:t>
            </a:r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AVR </a:t>
            </a:r>
            <a:r>
              <a:rPr lang="en-US" dirty="0" err="1"/>
              <a:t>занимает</a:t>
            </a:r>
            <a:r>
              <a:rPr lang="en-US" dirty="0"/>
              <a:t> 4 </a:t>
            </a:r>
            <a:r>
              <a:rPr lang="en-US" dirty="0" err="1"/>
              <a:t>байта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занимает</a:t>
            </a:r>
            <a:r>
              <a:rPr lang="en-US" dirty="0"/>
              <a:t> 4 </a:t>
            </a:r>
            <a:r>
              <a:rPr lang="en-US" dirty="0" err="1"/>
              <a:t>байта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 в </a:t>
            </a:r>
            <a:r>
              <a:rPr lang="en-US" dirty="0" err="1"/>
              <a:t>дизассемблированном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Поскольку</a:t>
            </a:r>
            <a:r>
              <a:rPr lang="en-US" dirty="0"/>
              <a:t> vector table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 memory,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.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hardware-</a:t>
            </a:r>
            <a:r>
              <a:rPr lang="en-US" dirty="0" err="1"/>
              <a:t>маршрутизация</a:t>
            </a:r>
            <a:r>
              <a:rPr lang="en-US" dirty="0"/>
              <a:t> interrupts </a:t>
            </a:r>
            <a:r>
              <a:rPr lang="en-US" dirty="0" err="1"/>
              <a:t>фиксируется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обязана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статической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 в ISR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произвольный</a:t>
            </a:r>
            <a:r>
              <a:rPr lang="en-US" dirty="0"/>
              <a:t> </a:t>
            </a:r>
            <a:r>
              <a:rPr lang="en-US" dirty="0" err="1"/>
              <a:t>программный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:</a:t>
            </a:r>
          </a:p>
          <a:p>
            <a:r>
              <a:rPr lang="en-US" dirty="0"/>
              <a:t>state machines; </a:t>
            </a:r>
          </a:p>
          <a:p>
            <a:r>
              <a:rPr lang="en-US" dirty="0"/>
              <a:t>dispatching; </a:t>
            </a:r>
          </a:p>
          <a:p>
            <a:r>
              <a:rPr lang="en-US" dirty="0"/>
              <a:t>function pointers; </a:t>
            </a:r>
          </a:p>
          <a:p>
            <a:r>
              <a:rPr lang="en-US" dirty="0"/>
              <a:t>callback-</a:t>
            </a:r>
            <a:r>
              <a:rPr lang="en-US" dirty="0" err="1"/>
              <a:t>механизмы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hardware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фиксированную</a:t>
            </a:r>
            <a:r>
              <a:rPr lang="en-US" dirty="0"/>
              <a:t> </a:t>
            </a:r>
            <a:r>
              <a:rPr lang="en-US" dirty="0" err="1"/>
              <a:t>точку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а software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динамическое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4635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Напомним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— </a:t>
            </a:r>
            <a:r>
              <a:rPr lang="en-US" dirty="0" err="1"/>
              <a:t>это</a:t>
            </a:r>
            <a:r>
              <a:rPr lang="en-US" dirty="0"/>
              <a:t> Harvard architecture.</a:t>
            </a:r>
          </a:p>
          <a:p>
            <a:r>
              <a:rPr lang="en-US" dirty="0" err="1"/>
              <a:t>Программа</a:t>
            </a:r>
            <a:r>
              <a:rPr lang="en-US" dirty="0"/>
              <a:t> и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адресных</a:t>
            </a:r>
            <a:r>
              <a:rPr lang="en-US" dirty="0"/>
              <a:t> </a:t>
            </a:r>
            <a:r>
              <a:rPr lang="en-US" dirty="0" err="1"/>
              <a:t>пространствах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видим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0x0000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interrupt vector table и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0x0000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register file,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конфликт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memory spaces:</a:t>
            </a:r>
          </a:p>
          <a:p>
            <a:r>
              <a:rPr lang="en-US" dirty="0"/>
              <a:t>program space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Flash; </a:t>
            </a:r>
          </a:p>
          <a:p>
            <a:r>
              <a:rPr lang="en-US" dirty="0"/>
              <a:t>data space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, I/O и SRAM. 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с Flash;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lds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sts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 — с data space. 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объясняет</a:t>
            </a:r>
            <a:r>
              <a:rPr lang="en-US" dirty="0"/>
              <a:t>, </a:t>
            </a:r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Flash, а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14803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использовали</a:t>
            </a:r>
            <a:r>
              <a:rPr lang="en-US" dirty="0"/>
              <a:t> GPIO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светодиодами</a:t>
            </a:r>
            <a:r>
              <a:rPr lang="en-US" dirty="0"/>
              <a:t>, </a:t>
            </a:r>
            <a:r>
              <a:rPr lang="en-US" dirty="0" err="1"/>
              <a:t>кнопками</a:t>
            </a:r>
            <a:r>
              <a:rPr lang="en-US" dirty="0"/>
              <a:t>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простыми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реальных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взаимодействуют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сложной</a:t>
            </a:r>
            <a:r>
              <a:rPr lang="en-US" dirty="0"/>
              <a:t> </a:t>
            </a:r>
            <a:r>
              <a:rPr lang="en-US" dirty="0" err="1"/>
              <a:t>периферией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датчиками</a:t>
            </a:r>
            <a:r>
              <a:rPr lang="en-US" dirty="0"/>
              <a:t> </a:t>
            </a:r>
            <a:r>
              <a:rPr lang="en-US" dirty="0" err="1"/>
              <a:t>температуры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дисплеями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картами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микроконтроллерами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компьютером</a:t>
            </a:r>
            <a:r>
              <a:rPr lang="en-US" dirty="0"/>
              <a:t>. 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протоколы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микроконтроллерах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распространены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UART, SPI и I²C.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8302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решают</a:t>
            </a:r>
            <a:r>
              <a:rPr lang="en-US" dirty="0"/>
              <a:t> </a:t>
            </a:r>
            <a:r>
              <a:rPr lang="en-US" dirty="0" err="1"/>
              <a:t>похожую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— </a:t>
            </a:r>
            <a:r>
              <a:rPr lang="en-US" dirty="0" err="1"/>
              <a:t>передачу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UART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самым</a:t>
            </a:r>
            <a:r>
              <a:rPr lang="en-US" dirty="0"/>
              <a:t> </a:t>
            </a:r>
            <a:r>
              <a:rPr lang="en-US" dirty="0" err="1"/>
              <a:t>простым</a:t>
            </a:r>
            <a:r>
              <a:rPr lang="en-US" dirty="0"/>
              <a:t> </a:t>
            </a:r>
            <a:r>
              <a:rPr lang="en-US" dirty="0" err="1"/>
              <a:t>интерфейсом</a:t>
            </a:r>
            <a:r>
              <a:rPr lang="en-US" dirty="0"/>
              <a:t>.</a:t>
            </a:r>
          </a:p>
          <a:p>
            <a:r>
              <a:rPr lang="en-US" dirty="0"/>
              <a:t>SPI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.</a:t>
            </a:r>
          </a:p>
          <a:p>
            <a:r>
              <a:rPr lang="en-US" dirty="0"/>
              <a:t>I²C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подключать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к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микроконтроллерах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присутствуют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35013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UART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периферийный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реализующий</a:t>
            </a:r>
            <a:r>
              <a:rPr lang="en-US" dirty="0"/>
              <a:t> </a:t>
            </a:r>
            <a:r>
              <a:rPr lang="en-US" dirty="0" err="1"/>
              <a:t>асинхронную</a:t>
            </a:r>
            <a:r>
              <a:rPr lang="en-US" dirty="0"/>
              <a:t> </a:t>
            </a:r>
            <a:r>
              <a:rPr lang="en-US" dirty="0" err="1"/>
              <a:t>последовательную</a:t>
            </a:r>
            <a:r>
              <a:rPr lang="en-US" dirty="0"/>
              <a:t> </a:t>
            </a:r>
            <a:r>
              <a:rPr lang="en-US" dirty="0" err="1"/>
              <a:t>передачу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"UART-</a:t>
            </a:r>
            <a:r>
              <a:rPr lang="en-US" dirty="0" err="1"/>
              <a:t>интерфейсом</a:t>
            </a:r>
            <a:r>
              <a:rPr lang="en-US" dirty="0"/>
              <a:t>" </a:t>
            </a:r>
            <a:r>
              <a:rPr lang="en-US" dirty="0" err="1"/>
              <a:t>понимают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используемый</a:t>
            </a:r>
            <a:r>
              <a:rPr lang="en-US" dirty="0"/>
              <a:t> </a:t>
            </a:r>
            <a:r>
              <a:rPr lang="en-US" dirty="0" err="1"/>
              <a:t>им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UART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старых</a:t>
            </a:r>
            <a:r>
              <a:rPr lang="en-US" dirty="0"/>
              <a:t> и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распространённых</a:t>
            </a:r>
            <a:r>
              <a:rPr lang="en-US" dirty="0"/>
              <a:t> </a:t>
            </a:r>
            <a:r>
              <a:rPr lang="en-US" dirty="0" err="1"/>
              <a:t>интерфейсов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линий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TX — </a:t>
            </a:r>
            <a:r>
              <a:rPr lang="en-US" dirty="0" err="1"/>
              <a:t>передача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RX — </a:t>
            </a:r>
            <a:r>
              <a:rPr lang="en-US" dirty="0" err="1"/>
              <a:t>приём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Особенность</a:t>
            </a:r>
            <a:r>
              <a:rPr lang="en-US" dirty="0"/>
              <a:t> UART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асинхронным</a:t>
            </a:r>
            <a:r>
              <a:rPr lang="en-US" dirty="0"/>
              <a:t> </a:t>
            </a:r>
            <a:r>
              <a:rPr lang="en-US" dirty="0" err="1"/>
              <a:t>интерфейсом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 </a:t>
            </a:r>
            <a:r>
              <a:rPr lang="en-US" dirty="0" err="1"/>
              <a:t>тактирования</a:t>
            </a:r>
            <a:r>
              <a:rPr lang="en-US" dirty="0"/>
              <a:t> </a:t>
            </a:r>
            <a:r>
              <a:rPr lang="en-US" dirty="0" err="1"/>
              <a:t>отсутствует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Передатчик</a:t>
            </a:r>
            <a:r>
              <a:rPr lang="en-US" dirty="0"/>
              <a:t> и </a:t>
            </a:r>
            <a:r>
              <a:rPr lang="en-US" dirty="0" err="1"/>
              <a:t>приёмник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договариваются</a:t>
            </a:r>
            <a:r>
              <a:rPr lang="en-US" dirty="0"/>
              <a:t> о </a:t>
            </a:r>
            <a:r>
              <a:rPr lang="en-US" dirty="0" err="1"/>
              <a:t>скорости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9600 </a:t>
            </a:r>
            <a:r>
              <a:rPr lang="en-US" dirty="0" err="1"/>
              <a:t>или</a:t>
            </a:r>
            <a:r>
              <a:rPr lang="en-US" dirty="0"/>
              <a:t> 115200 </a:t>
            </a:r>
            <a:r>
              <a:rPr lang="en-US" dirty="0" err="1"/>
              <a:t>бит</a:t>
            </a:r>
            <a:r>
              <a:rPr lang="en-US" dirty="0"/>
              <a:t> в </a:t>
            </a:r>
            <a:r>
              <a:rPr lang="en-US" dirty="0" err="1"/>
              <a:t>секунду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UART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связи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компьютером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USB-UART </a:t>
            </a:r>
            <a:r>
              <a:rPr lang="en-US" dirty="0" err="1"/>
              <a:t>преобразователь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5685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подробнее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UART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endParaRPr lang="ru-RU" dirty="0"/>
          </a:p>
          <a:p>
            <a:r>
              <a:rPr lang="en-US" dirty="0"/>
              <a:t>.</a:t>
            </a:r>
          </a:p>
          <a:p>
            <a:r>
              <a:rPr lang="en-US" dirty="0" err="1"/>
              <a:t>Линия</a:t>
            </a:r>
            <a:r>
              <a:rPr lang="en-US" dirty="0"/>
              <a:t> UART </a:t>
            </a:r>
            <a:r>
              <a:rPr lang="en-US" dirty="0" err="1"/>
              <a:t>большую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логической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покоя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передатчик</a:t>
            </a:r>
            <a:r>
              <a:rPr lang="en-US" dirty="0"/>
              <a:t> </a:t>
            </a:r>
            <a:r>
              <a:rPr lang="en-US" dirty="0" err="1"/>
              <a:t>хочет</a:t>
            </a:r>
            <a:r>
              <a:rPr lang="en-US" dirty="0"/>
              <a:t> </a:t>
            </a:r>
            <a:r>
              <a:rPr lang="en-US" dirty="0" err="1"/>
              <a:t>отправить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стартовый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— </a:t>
            </a:r>
            <a:r>
              <a:rPr lang="en-US" dirty="0" err="1"/>
              <a:t>переводит</a:t>
            </a:r>
            <a:r>
              <a:rPr lang="en-US" dirty="0"/>
              <a:t> </a:t>
            </a:r>
            <a:r>
              <a:rPr lang="en-US" dirty="0" err="1"/>
              <a:t>линию</a:t>
            </a:r>
            <a:r>
              <a:rPr lang="en-US" dirty="0"/>
              <a:t> в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переходу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в </a:t>
            </a:r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приёмник</a:t>
            </a:r>
            <a:r>
              <a:rPr lang="en-US" dirty="0"/>
              <a:t> </a:t>
            </a:r>
            <a:r>
              <a:rPr lang="en-US" dirty="0" err="1"/>
              <a:t>понимает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кадр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стартового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UART: </a:t>
            </a:r>
            <a:r>
              <a:rPr lang="en-US" dirty="0" err="1"/>
              <a:t>биты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начиная</a:t>
            </a:r>
            <a:r>
              <a:rPr lang="en-US" dirty="0"/>
              <a:t> с </a:t>
            </a:r>
            <a:r>
              <a:rPr lang="en-US" dirty="0" err="1"/>
              <a:t>младшего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LSB first.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передаваться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чётности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обнаружения</a:t>
            </a:r>
            <a:r>
              <a:rPr lang="en-US" dirty="0"/>
              <a:t>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стоповых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. </a:t>
            </a:r>
            <a:r>
              <a:rPr lang="en-US" dirty="0" err="1"/>
              <a:t>Стоповый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логической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и </a:t>
            </a:r>
            <a:r>
              <a:rPr lang="en-US" dirty="0" err="1"/>
              <a:t>обозначает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Поскольку</a:t>
            </a:r>
            <a:r>
              <a:rPr lang="en-US" dirty="0"/>
              <a:t> UART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асинхронным</a:t>
            </a:r>
            <a:r>
              <a:rPr lang="en-US" dirty="0"/>
              <a:t> </a:t>
            </a:r>
            <a:r>
              <a:rPr lang="en-US" dirty="0" err="1"/>
              <a:t>интерфейсом</a:t>
            </a:r>
            <a:r>
              <a:rPr lang="en-US" dirty="0"/>
              <a:t>, </a:t>
            </a:r>
            <a:r>
              <a:rPr lang="en-US" dirty="0" err="1"/>
              <a:t>отдельной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dirty="0" err="1"/>
              <a:t>тактирования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Передатчик</a:t>
            </a:r>
            <a:r>
              <a:rPr lang="en-US" dirty="0"/>
              <a:t> и </a:t>
            </a:r>
            <a:r>
              <a:rPr lang="en-US" dirty="0" err="1"/>
              <a:t>приёмник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договориться</a:t>
            </a:r>
            <a:r>
              <a:rPr lang="en-US" dirty="0"/>
              <a:t> о </a:t>
            </a:r>
            <a:r>
              <a:rPr lang="en-US" dirty="0" err="1"/>
              <a:t>скорости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r>
              <a:rPr lang="en-US" dirty="0"/>
              <a:t>9600 </a:t>
            </a:r>
            <a:r>
              <a:rPr lang="en-US" dirty="0" err="1"/>
              <a:t>бит</a:t>
            </a:r>
            <a:r>
              <a:rPr lang="en-US" dirty="0"/>
              <a:t>/с; </a:t>
            </a:r>
          </a:p>
          <a:p>
            <a:r>
              <a:rPr lang="en-US" dirty="0"/>
              <a:t>38400 </a:t>
            </a:r>
            <a:r>
              <a:rPr lang="en-US" dirty="0" err="1"/>
              <a:t>бит</a:t>
            </a:r>
            <a:r>
              <a:rPr lang="en-US" dirty="0"/>
              <a:t>/с; </a:t>
            </a:r>
          </a:p>
          <a:p>
            <a:r>
              <a:rPr lang="en-US" dirty="0"/>
              <a:t>115200 </a:t>
            </a:r>
            <a:r>
              <a:rPr lang="en-US" dirty="0" err="1"/>
              <a:t>бит</a:t>
            </a:r>
            <a:r>
              <a:rPr lang="en-US" dirty="0"/>
              <a:t>/с. 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обнаружения</a:t>
            </a:r>
            <a:r>
              <a:rPr lang="en-US" dirty="0"/>
              <a:t> </a:t>
            </a:r>
            <a:r>
              <a:rPr lang="en-US" dirty="0" err="1"/>
              <a:t>стартового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</a:t>
            </a:r>
            <a:r>
              <a:rPr lang="en-US" dirty="0" err="1"/>
              <a:t>приёмник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отсчитывает</a:t>
            </a:r>
            <a:r>
              <a:rPr lang="en-US" dirty="0"/>
              <a:t> </a:t>
            </a:r>
            <a:r>
              <a:rPr lang="en-US" dirty="0" err="1"/>
              <a:t>моменты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в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последующие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корректной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UART </a:t>
            </a:r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одинаковые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скорости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формата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77145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UART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о </a:t>
            </a:r>
            <a:r>
              <a:rPr lang="en-US" dirty="0" err="1"/>
              <a:t>формате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dirty="0" err="1"/>
              <a:t>данными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договориться</a:t>
            </a:r>
            <a:r>
              <a:rPr lang="en-US" dirty="0"/>
              <a:t> о </a:t>
            </a:r>
            <a:r>
              <a:rPr lang="en-US" dirty="0" err="1"/>
              <a:t>параметрах</a:t>
            </a:r>
            <a:r>
              <a:rPr lang="en-US" dirty="0"/>
              <a:t> </a:t>
            </a:r>
            <a:r>
              <a:rPr lang="en-US" dirty="0" err="1"/>
              <a:t>соединения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скорости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количестве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</a:t>
            </a:r>
            <a:r>
              <a:rPr lang="en-US" dirty="0" err="1"/>
              <a:t>чётности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количестве</a:t>
            </a:r>
            <a:r>
              <a:rPr lang="en-US" dirty="0"/>
              <a:t> </a:t>
            </a:r>
            <a:r>
              <a:rPr lang="en-US" dirty="0" err="1"/>
              <a:t>стоповых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распространённой</a:t>
            </a:r>
            <a:r>
              <a:rPr lang="en-US" dirty="0"/>
              <a:t> </a:t>
            </a:r>
            <a:r>
              <a:rPr lang="en-US" dirty="0" err="1"/>
              <a:t>конфигурацией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 8N1.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большинстве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Arduino и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устройствах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передатчика</a:t>
            </a:r>
            <a:r>
              <a:rPr lang="en-US" dirty="0"/>
              <a:t> и </a:t>
            </a:r>
            <a:r>
              <a:rPr lang="en-US" dirty="0" err="1"/>
              <a:t>приёмника</a:t>
            </a:r>
            <a:r>
              <a:rPr lang="en-US" dirty="0"/>
              <a:t> </a:t>
            </a:r>
            <a:r>
              <a:rPr lang="en-US" dirty="0" err="1"/>
              <a:t>отличаются</a:t>
            </a:r>
            <a:r>
              <a:rPr lang="en-US" dirty="0"/>
              <a:t>, </a:t>
            </a:r>
            <a:r>
              <a:rPr lang="en-US" dirty="0" err="1"/>
              <a:t>принимаемая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интерпретироваться</a:t>
            </a:r>
            <a:r>
              <a:rPr lang="en-US" dirty="0"/>
              <a:t> </a:t>
            </a:r>
            <a:r>
              <a:rPr lang="en-US" dirty="0" err="1"/>
              <a:t>неправильно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микроконтроллере</a:t>
            </a:r>
            <a:r>
              <a:rPr lang="en-US" dirty="0"/>
              <a:t> ATmega328P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UART.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Arduino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настройку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капотом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7376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минимальный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UART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настраивается</a:t>
            </a:r>
            <a:r>
              <a:rPr lang="en-US" dirty="0"/>
              <a:t> </a:t>
            </a: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UBRR0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делитель</a:t>
            </a:r>
            <a:r>
              <a:rPr lang="en-US" dirty="0"/>
              <a:t> </a:t>
            </a:r>
            <a:r>
              <a:rPr lang="en-US" dirty="0" err="1"/>
              <a:t>частоты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UART.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частоты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16 </a:t>
            </a:r>
            <a:r>
              <a:rPr lang="en-US" dirty="0" err="1"/>
              <a:t>МГц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103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скорости</a:t>
            </a:r>
            <a:r>
              <a:rPr lang="en-US" dirty="0"/>
              <a:t> 9600 </a:t>
            </a:r>
            <a:r>
              <a:rPr lang="en-US" dirty="0" err="1"/>
              <a:t>бит</a:t>
            </a:r>
            <a:r>
              <a:rPr lang="en-US" dirty="0"/>
              <a:t> в </a:t>
            </a:r>
            <a:r>
              <a:rPr lang="en-US" dirty="0" err="1"/>
              <a:t>секунду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настраивается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устанавливаются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UCSZ01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UCSZ00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формату</a:t>
            </a:r>
            <a:r>
              <a:rPr lang="en-US" dirty="0"/>
              <a:t>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8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бит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данных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без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бита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чётности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стоповый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бит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режиму</a:t>
            </a:r>
            <a:r>
              <a:rPr lang="en-US" dirty="0"/>
              <a:t> 8N1.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UCSR0B</a:t>
            </a:r>
            <a:r>
              <a:rPr lang="en-US" dirty="0"/>
              <a:t> </a:t>
            </a:r>
            <a:r>
              <a:rPr lang="en-US" dirty="0" err="1"/>
              <a:t>включается</a:t>
            </a:r>
            <a:r>
              <a:rPr lang="en-US" dirty="0"/>
              <a:t> </a:t>
            </a:r>
            <a:r>
              <a:rPr lang="en-US" dirty="0" err="1"/>
              <a:t>передатчик</a:t>
            </a:r>
            <a:r>
              <a:rPr lang="en-US" dirty="0"/>
              <a:t> UART.</a:t>
            </a:r>
          </a:p>
          <a:p>
            <a:r>
              <a:rPr lang="en-US" dirty="0"/>
              <a:t>В </a:t>
            </a:r>
            <a:r>
              <a:rPr lang="en-US" dirty="0" err="1"/>
              <a:t>основном</a:t>
            </a:r>
            <a:r>
              <a:rPr lang="en-US" dirty="0"/>
              <a:t> </a:t>
            </a:r>
            <a:r>
              <a:rPr lang="en-US" dirty="0" err="1"/>
              <a:t>цикле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установки</a:t>
            </a:r>
            <a:r>
              <a:rPr lang="en-US" dirty="0"/>
              <a:t> </a:t>
            </a:r>
            <a:r>
              <a:rPr lang="en-US" dirty="0" err="1"/>
              <a:t>флага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UDRE0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пуст</a:t>
            </a:r>
            <a:r>
              <a:rPr lang="en-US" dirty="0"/>
              <a:t> и в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.</a:t>
            </a:r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dirty="0" err="1"/>
              <a:t>установлен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символ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UDR0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UART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передачу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TX.</a:t>
            </a:r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символа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стартовый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, </a:t>
            </a:r>
            <a:r>
              <a:rPr lang="en-US" dirty="0" err="1"/>
              <a:t>стоповый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и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.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UART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настраивает</a:t>
            </a:r>
            <a:r>
              <a:rPr lang="en-US" dirty="0"/>
              <a:t> </a:t>
            </a:r>
            <a:r>
              <a:rPr lang="en-US" dirty="0" err="1"/>
              <a:t>периферию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9592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 —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распространённых</a:t>
            </a:r>
            <a:r>
              <a:rPr lang="en-US" dirty="0"/>
              <a:t> </a:t>
            </a:r>
            <a:r>
              <a:rPr lang="en-US" dirty="0" err="1"/>
              <a:t>интерфейсов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в </a:t>
            </a:r>
            <a:r>
              <a:rPr lang="en-US" dirty="0" err="1"/>
              <a:t>микроконтроллерных</a:t>
            </a:r>
            <a:r>
              <a:rPr lang="en-US" dirty="0"/>
              <a:t> </a:t>
            </a:r>
            <a:r>
              <a:rPr lang="en-US" dirty="0" err="1"/>
              <a:t>системах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UART, SPI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синхронным</a:t>
            </a:r>
            <a:r>
              <a:rPr lang="en-US" dirty="0"/>
              <a:t> </a:t>
            </a:r>
            <a:r>
              <a:rPr lang="en-US" dirty="0" err="1"/>
              <a:t>интерфейсом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тактовый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, </a:t>
            </a:r>
            <a:r>
              <a:rPr lang="en-US" dirty="0" err="1"/>
              <a:t>определяющий</a:t>
            </a:r>
            <a:r>
              <a:rPr lang="en-US" dirty="0"/>
              <a:t> </a:t>
            </a:r>
            <a:r>
              <a:rPr lang="en-US" dirty="0" err="1"/>
              <a:t>моменты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в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считываться</a:t>
            </a:r>
            <a:r>
              <a:rPr lang="en-US" dirty="0"/>
              <a:t> и </a:t>
            </a:r>
            <a:r>
              <a:rPr lang="en-US" dirty="0" err="1"/>
              <a:t>передаваться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Интерфейс</a:t>
            </a:r>
            <a:r>
              <a:rPr lang="en-US" dirty="0"/>
              <a:t> SPI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четыре</a:t>
            </a:r>
            <a:r>
              <a:rPr lang="en-US" dirty="0"/>
              <a:t> </a:t>
            </a:r>
            <a:r>
              <a:rPr lang="en-US" dirty="0" err="1"/>
              <a:t>основных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Линия</a:t>
            </a:r>
            <a:r>
              <a:rPr lang="en-US" dirty="0"/>
              <a:t> MOSI </a:t>
            </a:r>
            <a:r>
              <a:rPr lang="en-US" dirty="0" err="1"/>
              <a:t>предназначена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ведущего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к </a:t>
            </a:r>
            <a:r>
              <a:rPr lang="en-US" dirty="0" err="1"/>
              <a:t>ведомому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Линия</a:t>
            </a:r>
            <a:r>
              <a:rPr lang="en-US" dirty="0"/>
              <a:t> MISO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в </a:t>
            </a:r>
            <a:r>
              <a:rPr lang="en-US" dirty="0" err="1"/>
              <a:t>обратном</a:t>
            </a:r>
            <a:r>
              <a:rPr lang="en-US" dirty="0"/>
              <a:t> </a:t>
            </a:r>
            <a:r>
              <a:rPr lang="en-US" dirty="0" err="1"/>
              <a:t>направлении</a:t>
            </a:r>
            <a:r>
              <a:rPr lang="en-US" dirty="0"/>
              <a:t> —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ведомого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к </a:t>
            </a:r>
            <a:r>
              <a:rPr lang="en-US" dirty="0" err="1"/>
              <a:t>ведущему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Сигнал</a:t>
            </a:r>
            <a:r>
              <a:rPr lang="en-US" dirty="0"/>
              <a:t> SCK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тактовым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 и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ведущим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Сигнал</a:t>
            </a:r>
            <a:r>
              <a:rPr lang="en-US" dirty="0"/>
              <a:t> SS </a:t>
            </a:r>
            <a:r>
              <a:rPr lang="en-US" dirty="0" err="1"/>
              <a:t>или</a:t>
            </a:r>
            <a:r>
              <a:rPr lang="en-US" dirty="0"/>
              <a:t> CS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ведомого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Архитектура</a:t>
            </a:r>
            <a:r>
              <a:rPr lang="en-US" dirty="0"/>
              <a:t> SPI </a:t>
            </a:r>
            <a:r>
              <a:rPr lang="en-US" dirty="0" err="1"/>
              <a:t>предполагает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ведущего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— Master.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. </a:t>
            </a:r>
            <a:r>
              <a:rPr lang="en-US" dirty="0" err="1"/>
              <a:t>Ведомыми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дисплеи</a:t>
            </a:r>
            <a:r>
              <a:rPr lang="en-US" dirty="0"/>
              <a:t>, </a:t>
            </a:r>
            <a:r>
              <a:rPr lang="en-US" dirty="0" err="1"/>
              <a:t>датчики</a:t>
            </a:r>
            <a:r>
              <a:rPr lang="en-US" dirty="0"/>
              <a:t>, </a:t>
            </a:r>
            <a:r>
              <a:rPr lang="en-US" dirty="0" err="1"/>
              <a:t>внешняя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преимуществ</a:t>
            </a:r>
            <a:r>
              <a:rPr lang="en-US" dirty="0"/>
              <a:t> SPI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поддержка</a:t>
            </a:r>
            <a:r>
              <a:rPr lang="en-US" dirty="0"/>
              <a:t> </a:t>
            </a:r>
            <a:r>
              <a:rPr lang="en-US" dirty="0" err="1"/>
              <a:t>полного</a:t>
            </a:r>
            <a:r>
              <a:rPr lang="en-US" dirty="0"/>
              <a:t> </a:t>
            </a:r>
            <a:r>
              <a:rPr lang="en-US" dirty="0" err="1"/>
              <a:t>дуплекса</a:t>
            </a:r>
            <a:r>
              <a:rPr lang="en-US" dirty="0"/>
              <a:t>.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такта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ведущего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к </a:t>
            </a:r>
            <a:r>
              <a:rPr lang="en-US" dirty="0" err="1"/>
              <a:t>ведомому</a:t>
            </a:r>
            <a:r>
              <a:rPr lang="en-US" dirty="0"/>
              <a:t> и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в </a:t>
            </a:r>
            <a:r>
              <a:rPr lang="en-US" dirty="0" err="1"/>
              <a:t>обратном</a:t>
            </a:r>
            <a:r>
              <a:rPr lang="en-US" dirty="0"/>
              <a:t> </a:t>
            </a:r>
            <a:r>
              <a:rPr lang="en-US" dirty="0" err="1"/>
              <a:t>направлении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наличию</a:t>
            </a:r>
            <a:r>
              <a:rPr lang="en-US" dirty="0"/>
              <a:t> </a:t>
            </a:r>
            <a:r>
              <a:rPr lang="en-US" dirty="0" err="1"/>
              <a:t>отдельной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dirty="0" err="1"/>
              <a:t>тактирования</a:t>
            </a:r>
            <a:r>
              <a:rPr lang="en-US" dirty="0"/>
              <a:t> SPI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сравнению</a:t>
            </a:r>
            <a:r>
              <a:rPr lang="en-US" dirty="0"/>
              <a:t> с UART и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высокоскоростной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7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Интерфейс</a:t>
            </a:r>
            <a:r>
              <a:rPr lang="en-US" dirty="0"/>
              <a:t> SPI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«</a:t>
            </a:r>
            <a:r>
              <a:rPr lang="en-US" dirty="0" err="1"/>
              <a:t>ведущий</a:t>
            </a:r>
            <a:r>
              <a:rPr lang="en-US" dirty="0"/>
              <a:t> — </a:t>
            </a:r>
            <a:r>
              <a:rPr lang="en-US" dirty="0" err="1"/>
              <a:t>ведомый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Ведущее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Master,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процессом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. </a:t>
            </a:r>
            <a:r>
              <a:rPr lang="en-US" dirty="0" err="1"/>
              <a:t>Обычно</a:t>
            </a:r>
            <a:r>
              <a:rPr lang="en-US" dirty="0"/>
              <a:t> в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 </a:t>
            </a:r>
            <a:r>
              <a:rPr lang="en-US" dirty="0" err="1"/>
              <a:t>выступает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Master </a:t>
            </a:r>
            <a:r>
              <a:rPr lang="en-US" dirty="0" err="1"/>
              <a:t>генерирует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тактирования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SCK</a:t>
            </a:r>
            <a:r>
              <a:rPr lang="en-US" dirty="0"/>
              <a:t>,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с </a:t>
            </a:r>
            <a:r>
              <a:rPr lang="en-US" dirty="0" err="1"/>
              <a:t>которым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установить</a:t>
            </a:r>
            <a:r>
              <a:rPr lang="en-US" dirty="0"/>
              <a:t> </a:t>
            </a:r>
            <a:r>
              <a:rPr lang="en-US" dirty="0" err="1"/>
              <a:t>связь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ведомого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SS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обозначается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</a:t>
            </a:r>
            <a:r>
              <a:rPr lang="en-US" dirty="0"/>
              <a:t> — Chip Select.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к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подключено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SPI,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тактирования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общими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ведомого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началом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Master </a:t>
            </a:r>
            <a:r>
              <a:rPr lang="en-US" dirty="0" err="1"/>
              <a:t>активирует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SS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выбранное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участвовать</a:t>
            </a:r>
            <a:r>
              <a:rPr lang="en-US" dirty="0"/>
              <a:t> в </a:t>
            </a:r>
            <a:r>
              <a:rPr lang="en-US" dirty="0" err="1"/>
              <a:t>передаче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в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игнорируют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подключать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к </a:t>
            </a:r>
            <a:r>
              <a:rPr lang="en-US" dirty="0" err="1"/>
              <a:t>одному</a:t>
            </a:r>
            <a:r>
              <a:rPr lang="en-US" dirty="0"/>
              <a:t> SPI-</a:t>
            </a:r>
            <a:r>
              <a:rPr lang="en-US" dirty="0" err="1"/>
              <a:t>контроллеру</a:t>
            </a:r>
            <a:r>
              <a:rPr lang="en-US" dirty="0"/>
              <a:t>, </a:t>
            </a:r>
            <a:r>
              <a:rPr lang="en-US" dirty="0" err="1"/>
              <a:t>сохраняя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и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простую</a:t>
            </a:r>
            <a:r>
              <a:rPr lang="en-US" dirty="0"/>
              <a:t> </a:t>
            </a:r>
            <a:r>
              <a:rPr lang="en-US" dirty="0" err="1"/>
              <a:t>аппаратную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336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SPI.</a:t>
            </a:r>
          </a:p>
          <a:p>
            <a:endParaRPr lang="en-US" dirty="0"/>
          </a:p>
          <a:p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dirty="0" err="1"/>
              <a:t>ведущее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хочет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0x53</a:t>
            </a:r>
            <a:r>
              <a:rPr lang="en-US" dirty="0"/>
              <a:t>, а </a:t>
            </a:r>
            <a:r>
              <a:rPr lang="en-US" dirty="0" err="1"/>
              <a:t>ведомое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подготовило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0xA6</a:t>
            </a:r>
            <a:r>
              <a:rPr lang="en-US" dirty="0"/>
              <a:t>.</a:t>
            </a:r>
          </a:p>
          <a:p>
            <a:r>
              <a:rPr lang="en-US" dirty="0" err="1"/>
              <a:t>Когда</a:t>
            </a:r>
            <a:r>
              <a:rPr lang="en-US" dirty="0"/>
              <a:t> Master </a:t>
            </a:r>
            <a:r>
              <a:rPr lang="en-US" dirty="0" err="1"/>
              <a:t>активирует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тактовые</a:t>
            </a:r>
            <a:r>
              <a:rPr lang="en-US" dirty="0"/>
              <a:t> </a:t>
            </a:r>
            <a:r>
              <a:rPr lang="en-US" dirty="0" err="1"/>
              <a:t>импульсы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SCK</a:t>
            </a:r>
            <a:r>
              <a:rPr lang="en-US" dirty="0"/>
              <a:t>,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начинают</a:t>
            </a:r>
            <a:r>
              <a:rPr lang="en-US" dirty="0"/>
              <a:t> </a:t>
            </a:r>
            <a:r>
              <a:rPr lang="en-US" dirty="0" err="1"/>
              <a:t>сдвигать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свои</a:t>
            </a:r>
            <a:r>
              <a:rPr lang="en-US" dirty="0"/>
              <a:t> </a:t>
            </a:r>
            <a:r>
              <a:rPr lang="en-US" dirty="0" err="1"/>
              <a:t>сдвиговые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такте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очередной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MOSI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Master к Slave;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очередной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MISO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Slave к Master. 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восьми</a:t>
            </a:r>
            <a:r>
              <a:rPr lang="en-US" dirty="0"/>
              <a:t> </a:t>
            </a:r>
            <a:r>
              <a:rPr lang="en-US" dirty="0" err="1"/>
              <a:t>тактов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получают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одному</a:t>
            </a:r>
            <a:r>
              <a:rPr lang="en-US" dirty="0"/>
              <a:t> </a:t>
            </a:r>
            <a:r>
              <a:rPr lang="en-US" dirty="0" err="1"/>
              <a:t>байту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Master </a:t>
            </a:r>
            <a:r>
              <a:rPr lang="en-US" dirty="0" err="1"/>
              <a:t>передал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0x53</a:t>
            </a:r>
            <a:r>
              <a:rPr lang="en-US" dirty="0"/>
              <a:t> и </a:t>
            </a:r>
            <a:r>
              <a:rPr lang="en-US" dirty="0" err="1"/>
              <a:t>получил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0xA6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Slave </a:t>
            </a:r>
            <a:r>
              <a:rPr lang="en-US" dirty="0" err="1"/>
              <a:t>передал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0xA6</a:t>
            </a:r>
            <a:r>
              <a:rPr lang="en-US" dirty="0"/>
              <a:t> и </a:t>
            </a:r>
            <a:r>
              <a:rPr lang="en-US" dirty="0" err="1"/>
              <a:t>получил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0x53</a:t>
            </a:r>
            <a:r>
              <a:rPr lang="en-US" dirty="0"/>
              <a:t>. 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SPI </a:t>
            </a:r>
            <a:r>
              <a:rPr lang="en-US" dirty="0" err="1"/>
              <a:t>от</a:t>
            </a:r>
            <a:r>
              <a:rPr lang="en-US" dirty="0"/>
              <a:t> UART.</a:t>
            </a:r>
          </a:p>
          <a:p>
            <a:endParaRPr lang="en-US" dirty="0"/>
          </a:p>
          <a:p>
            <a:r>
              <a:rPr lang="en-US" dirty="0"/>
              <a:t>В UART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говорят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 о </a:t>
            </a:r>
            <a:r>
              <a:rPr lang="en-US" dirty="0" err="1"/>
              <a:t>передаче</a:t>
            </a:r>
            <a:r>
              <a:rPr lang="en-US" dirty="0"/>
              <a:t> и </a:t>
            </a:r>
            <a:r>
              <a:rPr lang="en-US" dirty="0" err="1"/>
              <a:t>приёме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SPI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двусторонним</a:t>
            </a:r>
            <a:r>
              <a:rPr lang="en-US" dirty="0"/>
              <a:t>.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устройству</a:t>
            </a:r>
            <a:r>
              <a:rPr lang="en-US" dirty="0"/>
              <a:t>, в </a:t>
            </a:r>
            <a:r>
              <a:rPr lang="en-US" dirty="0" err="1"/>
              <a:t>обратном</a:t>
            </a:r>
            <a:r>
              <a:rPr lang="en-US" dirty="0"/>
              <a:t> </a:t>
            </a:r>
            <a:r>
              <a:rPr lang="en-US" dirty="0" err="1"/>
              <a:t>направлении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какие-то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говорят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SPI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интерфейсом</a:t>
            </a:r>
            <a:r>
              <a:rPr lang="en-US" dirty="0"/>
              <a:t> с </a:t>
            </a:r>
            <a:r>
              <a:rPr lang="en-US" dirty="0" err="1"/>
              <a:t>полным</a:t>
            </a:r>
            <a:r>
              <a:rPr lang="en-US" dirty="0"/>
              <a:t> </a:t>
            </a:r>
            <a:r>
              <a:rPr lang="en-US" dirty="0" err="1"/>
              <a:t>дуплексом</a:t>
            </a:r>
            <a:r>
              <a:rPr lang="en-US" dirty="0"/>
              <a:t>.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такт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,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приёма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8352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Интерфейс</a:t>
            </a:r>
            <a:r>
              <a:rPr lang="en-US" dirty="0"/>
              <a:t> I²C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разработан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с </a:t>
            </a:r>
            <a:r>
              <a:rPr lang="en-US" dirty="0" err="1"/>
              <a:t>минимальным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проводов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SPI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:</a:t>
            </a:r>
          </a:p>
          <a:p>
            <a:r>
              <a:rPr lang="en-US" dirty="0"/>
              <a:t>SDA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; </a:t>
            </a:r>
          </a:p>
          <a:p>
            <a:r>
              <a:rPr lang="en-US" dirty="0"/>
              <a:t>SCL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en-US" dirty="0" err="1"/>
              <a:t>синхронизации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подключаться</a:t>
            </a:r>
            <a:r>
              <a:rPr lang="en-US" dirty="0"/>
              <a:t> к </a:t>
            </a:r>
            <a:r>
              <a:rPr lang="en-US" dirty="0" err="1"/>
              <a:t>одной</a:t>
            </a:r>
            <a:r>
              <a:rPr lang="en-US" dirty="0"/>
              <a:t> и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в SPI, а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упростить</a:t>
            </a:r>
            <a:r>
              <a:rPr lang="en-US" dirty="0"/>
              <a:t> </a:t>
            </a:r>
            <a:r>
              <a:rPr lang="en-US" dirty="0" err="1"/>
              <a:t>разводку</a:t>
            </a:r>
            <a:r>
              <a:rPr lang="en-US" dirty="0"/>
              <a:t> </a:t>
            </a:r>
            <a:r>
              <a:rPr lang="en-US" dirty="0" err="1"/>
              <a:t>аппаратуры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наличии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72512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I²C </a:t>
            </a:r>
            <a:r>
              <a:rPr lang="en-US" dirty="0" err="1"/>
              <a:t>от</a:t>
            </a:r>
            <a:r>
              <a:rPr lang="en-US" dirty="0"/>
              <a:t> SPI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организации</a:t>
            </a:r>
            <a:r>
              <a:rPr lang="en-US" dirty="0"/>
              <a:t> </a:t>
            </a:r>
            <a:r>
              <a:rPr lang="en-US" dirty="0" err="1"/>
              <a:t>соединений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SPI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ведомого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SS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</a:t>
            </a:r>
            <a:r>
              <a:rPr lang="en-US" dirty="0"/>
              <a:t>.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мере</a:t>
            </a:r>
            <a:r>
              <a:rPr lang="en-US" dirty="0"/>
              <a:t> </a:t>
            </a:r>
            <a:r>
              <a:rPr lang="en-US" dirty="0" err="1"/>
              <a:t>увеличения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растёт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используемых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I²C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подключаются</a:t>
            </a:r>
            <a:r>
              <a:rPr lang="en-US" dirty="0"/>
              <a:t> к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паре</a:t>
            </a:r>
            <a:r>
              <a:rPr lang="en-US" dirty="0"/>
              <a:t> </a:t>
            </a:r>
            <a:r>
              <a:rPr lang="en-US" dirty="0" err="1"/>
              <a:t>линий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SDA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схеме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типичный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. К </a:t>
            </a:r>
            <a:r>
              <a:rPr lang="en-US" dirty="0" err="1"/>
              <a:t>одному</a:t>
            </a:r>
            <a:r>
              <a:rPr lang="en-US" dirty="0"/>
              <a:t>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подключены</a:t>
            </a:r>
            <a:r>
              <a:rPr lang="en-US" dirty="0"/>
              <a:t> </a:t>
            </a:r>
            <a:r>
              <a:rPr lang="en-US" dirty="0" err="1"/>
              <a:t>датчик</a:t>
            </a:r>
            <a:r>
              <a:rPr lang="en-US" dirty="0"/>
              <a:t> </a:t>
            </a:r>
            <a:r>
              <a:rPr lang="en-US" dirty="0" err="1"/>
              <a:t>температуры</a:t>
            </a:r>
            <a:r>
              <a:rPr lang="en-US" dirty="0"/>
              <a:t>, </a:t>
            </a:r>
            <a:r>
              <a:rPr lang="en-US" dirty="0" err="1"/>
              <a:t>микросхема</a:t>
            </a:r>
            <a:r>
              <a:rPr lang="en-US" dirty="0"/>
              <a:t> EEPROM и </a:t>
            </a:r>
            <a:r>
              <a:rPr lang="en-US" dirty="0" err="1"/>
              <a:t>часы</a:t>
            </a:r>
            <a:r>
              <a:rPr lang="en-US" dirty="0"/>
              <a:t> </a:t>
            </a:r>
            <a:r>
              <a:rPr lang="en-US" dirty="0" err="1"/>
              <a:t>реального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одни</a:t>
            </a:r>
            <a:r>
              <a:rPr lang="en-US" dirty="0"/>
              <a:t> и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синхронизации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с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,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устройству</a:t>
            </a:r>
            <a:r>
              <a:rPr lang="en-US" dirty="0"/>
              <a:t> </a:t>
            </a:r>
            <a:r>
              <a:rPr lang="en-US" dirty="0" err="1"/>
              <a:t>назначается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началом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ведущий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с </a:t>
            </a:r>
            <a:r>
              <a:rPr lang="en-US" dirty="0" err="1"/>
              <a:t>адресом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,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участвовать</a:t>
            </a:r>
            <a:r>
              <a:rPr lang="en-US" dirty="0"/>
              <a:t> в </a:t>
            </a:r>
            <a:r>
              <a:rPr lang="en-US" dirty="0" err="1"/>
              <a:t>обмене</a:t>
            </a:r>
            <a:r>
              <a:rPr lang="en-US" dirty="0"/>
              <a:t>.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игнорируют</a:t>
            </a:r>
            <a:r>
              <a:rPr lang="en-US" dirty="0"/>
              <a:t> </a:t>
            </a:r>
            <a:r>
              <a:rPr lang="en-US" dirty="0" err="1"/>
              <a:t>передаваемые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подтягивающие</a:t>
            </a:r>
            <a:r>
              <a:rPr lang="en-US" dirty="0"/>
              <a:t> </a:t>
            </a:r>
            <a:r>
              <a:rPr lang="en-US" dirty="0" err="1"/>
              <a:t>резисторы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обязательной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</a:t>
            </a:r>
            <a:r>
              <a:rPr lang="en-US" dirty="0" err="1"/>
              <a:t>шины</a:t>
            </a:r>
            <a:r>
              <a:rPr lang="en-US" dirty="0"/>
              <a:t> I²C и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формирование</a:t>
            </a:r>
            <a:r>
              <a:rPr lang="en-US" dirty="0"/>
              <a:t> </a:t>
            </a:r>
            <a:r>
              <a:rPr lang="en-US" dirty="0" err="1"/>
              <a:t>логической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линиях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SDA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SCL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подключать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, </a:t>
            </a:r>
            <a:r>
              <a:rPr lang="en-US" dirty="0" err="1"/>
              <a:t>используя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сигнальных</a:t>
            </a:r>
            <a:r>
              <a:rPr lang="en-US" dirty="0"/>
              <a:t> </a:t>
            </a:r>
            <a:r>
              <a:rPr lang="en-US" dirty="0" err="1"/>
              <a:t>провода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причин</a:t>
            </a:r>
            <a:r>
              <a:rPr lang="en-US" dirty="0"/>
              <a:t> </a:t>
            </a:r>
            <a:r>
              <a:rPr lang="en-US" dirty="0" err="1"/>
              <a:t>высокой</a:t>
            </a:r>
            <a:r>
              <a:rPr lang="en-US" dirty="0"/>
              <a:t> </a:t>
            </a:r>
            <a:r>
              <a:rPr lang="en-US" dirty="0" err="1"/>
              <a:t>популярности</a:t>
            </a:r>
            <a:r>
              <a:rPr lang="en-US" dirty="0"/>
              <a:t> I²C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датчиков</a:t>
            </a:r>
            <a:r>
              <a:rPr lang="en-US" dirty="0"/>
              <a:t> и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низкоскоростной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1806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подробнее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 I²C.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инициируется</a:t>
            </a:r>
            <a:r>
              <a:rPr lang="en-US" dirty="0"/>
              <a:t> </a:t>
            </a:r>
            <a:r>
              <a:rPr lang="en-US" dirty="0" err="1"/>
              <a:t>ведущим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 —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микроконтроллером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START.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устройствам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направления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,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в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получения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</a:t>
            </a:r>
            <a:r>
              <a:rPr lang="en-US" dirty="0" err="1"/>
              <a:t>распознавшее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,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сформировать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подтверждения</a:t>
            </a:r>
            <a:r>
              <a:rPr lang="en-US" dirty="0"/>
              <a:t> ACK.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подтверждение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получено</a:t>
            </a:r>
            <a:r>
              <a:rPr lang="en-US" dirty="0"/>
              <a:t>, </a:t>
            </a:r>
            <a:r>
              <a:rPr lang="en-US" dirty="0" err="1"/>
              <a:t>ведущий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готово</a:t>
            </a:r>
            <a:r>
              <a:rPr lang="en-US" dirty="0"/>
              <a:t> к </a:t>
            </a:r>
            <a:r>
              <a:rPr lang="en-US" dirty="0" err="1"/>
              <a:t>обмену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принимающая</a:t>
            </a:r>
            <a:r>
              <a:rPr lang="en-US" dirty="0"/>
              <a:t> </a:t>
            </a:r>
            <a:r>
              <a:rPr lang="en-US" dirty="0" err="1"/>
              <a:t>сторона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ACK.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ведущий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STOP, </a:t>
            </a:r>
            <a:r>
              <a:rPr lang="en-US" dirty="0" err="1"/>
              <a:t>сообщая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устройствам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завершён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SPI, </a:t>
            </a:r>
            <a:r>
              <a:rPr lang="en-US" dirty="0" err="1"/>
              <a:t>протокол</a:t>
            </a:r>
            <a:r>
              <a:rPr lang="en-US" dirty="0"/>
              <a:t> I²C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адресации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и </a:t>
            </a:r>
            <a:r>
              <a:rPr lang="en-US" dirty="0" err="1"/>
              <a:t>подтверждения</a:t>
            </a:r>
            <a:r>
              <a:rPr lang="en-US" dirty="0"/>
              <a:t> </a:t>
            </a:r>
            <a:r>
              <a:rPr lang="en-US" dirty="0" err="1"/>
              <a:t>успешного</a:t>
            </a:r>
            <a:r>
              <a:rPr lang="en-US" dirty="0"/>
              <a:t> </a:t>
            </a:r>
            <a:r>
              <a:rPr lang="en-US" dirty="0" err="1"/>
              <a:t>приёма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надёжным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нескольким</a:t>
            </a:r>
            <a:r>
              <a:rPr lang="en-US" dirty="0"/>
              <a:t> </a:t>
            </a:r>
            <a:r>
              <a:rPr lang="en-US" dirty="0" err="1"/>
              <a:t>устройствам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и </a:t>
            </a:r>
            <a:r>
              <a:rPr lang="en-US" dirty="0" err="1"/>
              <a:t>ту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шину</a:t>
            </a:r>
            <a:r>
              <a:rPr lang="en-US" dirty="0"/>
              <a:t> </a:t>
            </a:r>
            <a:r>
              <a:rPr lang="en-US" dirty="0" err="1"/>
              <a:t>связи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44735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 </a:t>
            </a:r>
            <a:r>
              <a:rPr lang="en-US" dirty="0" err="1"/>
              <a:t>странным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I²C </a:t>
            </a:r>
            <a:r>
              <a:rPr lang="en-US" dirty="0" err="1"/>
              <a:t>требуются</a:t>
            </a:r>
            <a:r>
              <a:rPr lang="en-US" dirty="0"/>
              <a:t> </a:t>
            </a:r>
            <a:r>
              <a:rPr lang="en-US" dirty="0" err="1"/>
              <a:t>дополнительные</a:t>
            </a:r>
            <a:r>
              <a:rPr lang="en-US" dirty="0"/>
              <a:t> </a:t>
            </a:r>
            <a:r>
              <a:rPr lang="en-US" dirty="0" err="1"/>
              <a:t>подтягивающие</a:t>
            </a:r>
            <a:r>
              <a:rPr lang="en-US" dirty="0"/>
              <a:t> </a:t>
            </a:r>
            <a:r>
              <a:rPr lang="en-US" dirty="0" err="1"/>
              <a:t>резисторы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и </a:t>
            </a:r>
            <a:r>
              <a:rPr lang="en-US" dirty="0" err="1"/>
              <a:t>ту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линию</a:t>
            </a:r>
            <a:r>
              <a:rPr lang="en-US" dirty="0"/>
              <a:t> </a:t>
            </a:r>
            <a:r>
              <a:rPr lang="en-US" dirty="0" err="1"/>
              <a:t>связи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Представим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пытаются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 SDA.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логическую</a:t>
            </a:r>
            <a:r>
              <a:rPr lang="en-US" dirty="0"/>
              <a:t> </a:t>
            </a:r>
            <a:r>
              <a:rPr lang="en-US" dirty="0" err="1"/>
              <a:t>единицу</a:t>
            </a:r>
            <a:r>
              <a:rPr lang="en-US" dirty="0"/>
              <a:t>, а </a:t>
            </a:r>
            <a:r>
              <a:rPr lang="en-US" dirty="0" err="1"/>
              <a:t>другое</a:t>
            </a:r>
            <a:r>
              <a:rPr lang="en-US" dirty="0"/>
              <a:t> в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,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электрический</a:t>
            </a:r>
            <a:r>
              <a:rPr lang="en-US" dirty="0"/>
              <a:t> </a:t>
            </a:r>
            <a:r>
              <a:rPr lang="en-US" dirty="0" err="1"/>
              <a:t>конфликт</a:t>
            </a:r>
            <a:r>
              <a:rPr lang="en-US" dirty="0"/>
              <a:t>. В </a:t>
            </a:r>
            <a:r>
              <a:rPr lang="en-US" dirty="0" err="1"/>
              <a:t>лучшем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искажены</a:t>
            </a:r>
            <a:r>
              <a:rPr lang="en-US" dirty="0"/>
              <a:t>, в </a:t>
            </a:r>
            <a:r>
              <a:rPr lang="en-US" dirty="0" err="1"/>
              <a:t>худшем</a:t>
            </a:r>
            <a:r>
              <a:rPr lang="en-US" dirty="0"/>
              <a:t> — </a:t>
            </a:r>
            <a:r>
              <a:rPr lang="en-US" dirty="0" err="1"/>
              <a:t>возможно</a:t>
            </a:r>
            <a:r>
              <a:rPr lang="en-US" dirty="0"/>
              <a:t> </a:t>
            </a:r>
            <a:r>
              <a:rPr lang="en-US" dirty="0" err="1"/>
              <a:t>повреждение</a:t>
            </a:r>
            <a:r>
              <a:rPr lang="en-US" dirty="0"/>
              <a:t> </a:t>
            </a:r>
            <a:r>
              <a:rPr lang="en-US" dirty="0" err="1"/>
              <a:t>оборудования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в I²C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, </a:t>
            </a:r>
            <a:r>
              <a:rPr lang="en-US" dirty="0" err="1"/>
              <a:t>называемый</a:t>
            </a:r>
            <a:r>
              <a:rPr lang="en-US" dirty="0"/>
              <a:t> open-drain.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логическую</a:t>
            </a:r>
            <a:r>
              <a:rPr lang="en-US" dirty="0"/>
              <a:t> </a:t>
            </a:r>
            <a:r>
              <a:rPr lang="en-US" dirty="0" err="1"/>
              <a:t>единицу</a:t>
            </a:r>
            <a:r>
              <a:rPr lang="en-US" dirty="0"/>
              <a:t>.</a:t>
            </a:r>
          </a:p>
          <a:p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установить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отключиться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отпускают</a:t>
            </a:r>
            <a:r>
              <a:rPr lang="en-US" dirty="0"/>
              <a:t> </a:t>
            </a:r>
            <a:r>
              <a:rPr lang="en-US" dirty="0" err="1"/>
              <a:t>линию</a:t>
            </a:r>
            <a:r>
              <a:rPr lang="en-US" dirty="0"/>
              <a:t>, </a:t>
            </a:r>
            <a:r>
              <a:rPr lang="en-US" dirty="0" err="1"/>
              <a:t>подтягивающий</a:t>
            </a:r>
            <a:r>
              <a:rPr lang="en-US" dirty="0"/>
              <a:t> </a:t>
            </a:r>
            <a:r>
              <a:rPr lang="en-US" dirty="0" err="1"/>
              <a:t>резистор</a:t>
            </a:r>
            <a:r>
              <a:rPr lang="en-US" dirty="0"/>
              <a:t> </a:t>
            </a:r>
            <a:r>
              <a:rPr lang="en-US" dirty="0" err="1"/>
              <a:t>поднимает</a:t>
            </a:r>
            <a:r>
              <a:rPr lang="en-US" dirty="0"/>
              <a:t> </a:t>
            </a:r>
            <a:r>
              <a:rPr lang="en-US" dirty="0" err="1"/>
              <a:t>напряжение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логической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, </a:t>
            </a:r>
            <a:r>
              <a:rPr lang="en-US" dirty="0" err="1"/>
              <a:t>напряжение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низким</a:t>
            </a:r>
            <a:r>
              <a:rPr lang="en-US" dirty="0"/>
              <a:t> и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наблюдают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удобное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логическая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никто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безопасно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и </a:t>
            </a:r>
            <a:r>
              <a:rPr lang="en-US" dirty="0" err="1"/>
              <a:t>ту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линию</a:t>
            </a:r>
            <a:r>
              <a:rPr lang="en-US" dirty="0"/>
              <a:t> </a:t>
            </a:r>
            <a:r>
              <a:rPr lang="en-US" dirty="0" err="1"/>
              <a:t>связи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риска</a:t>
            </a:r>
            <a:r>
              <a:rPr lang="en-US" dirty="0"/>
              <a:t> </a:t>
            </a:r>
            <a:r>
              <a:rPr lang="en-US" dirty="0" err="1"/>
              <a:t>возникновения</a:t>
            </a:r>
            <a:r>
              <a:rPr lang="en-US" dirty="0"/>
              <a:t> </a:t>
            </a:r>
            <a:r>
              <a:rPr lang="en-US" dirty="0" err="1"/>
              <a:t>конфликтов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3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рассмотренных</a:t>
            </a:r>
            <a:r>
              <a:rPr lang="en-US" dirty="0"/>
              <a:t> </a:t>
            </a:r>
            <a:r>
              <a:rPr lang="en-US" dirty="0" err="1"/>
              <a:t>интерфейсов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свою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UART </a:t>
            </a:r>
            <a:r>
              <a:rPr lang="en-US" dirty="0" err="1"/>
              <a:t>прост</a:t>
            </a:r>
            <a:r>
              <a:rPr lang="en-US" dirty="0"/>
              <a:t> и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связи</a:t>
            </a:r>
            <a:r>
              <a:rPr lang="en-US" dirty="0"/>
              <a:t> с </a:t>
            </a:r>
            <a:r>
              <a:rPr lang="en-US" dirty="0" err="1"/>
              <a:t>компьютером</a:t>
            </a:r>
            <a:r>
              <a:rPr lang="en-US" dirty="0"/>
              <a:t> и </a:t>
            </a:r>
            <a:r>
              <a:rPr lang="en-US" dirty="0" err="1"/>
              <a:t>отладки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SPI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и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дисплеями</a:t>
            </a:r>
            <a:r>
              <a:rPr lang="en-US" dirty="0"/>
              <a:t>, </a:t>
            </a:r>
            <a:r>
              <a:rPr lang="en-US" dirty="0" err="1"/>
              <a:t>памятью</a:t>
            </a:r>
            <a:r>
              <a:rPr lang="en-US" dirty="0"/>
              <a:t>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производительными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I²C </a:t>
            </a:r>
            <a:r>
              <a:rPr lang="en-US" dirty="0" err="1"/>
              <a:t>ориентирован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подключение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с </a:t>
            </a:r>
            <a:r>
              <a:rPr lang="en-US" dirty="0" err="1"/>
              <a:t>минимальным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проводов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микроконтроллерных</a:t>
            </a:r>
            <a:r>
              <a:rPr lang="en-US" dirty="0"/>
              <a:t> 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отладочная</a:t>
            </a:r>
            <a:r>
              <a:rPr lang="en-US" dirty="0"/>
              <a:t> </a:t>
            </a:r>
            <a:r>
              <a:rPr lang="en-US" dirty="0" err="1"/>
              <a:t>консоль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UART, </a:t>
            </a:r>
            <a:r>
              <a:rPr lang="en-US" dirty="0" err="1"/>
              <a:t>дисплей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SPI, а </a:t>
            </a:r>
            <a:r>
              <a:rPr lang="en-US" dirty="0" err="1"/>
              <a:t>датчики</a:t>
            </a:r>
            <a:r>
              <a:rPr lang="en-US" dirty="0"/>
              <a:t> </a:t>
            </a:r>
            <a:r>
              <a:rPr lang="en-US" dirty="0" err="1"/>
              <a:t>температуры</a:t>
            </a:r>
            <a:r>
              <a:rPr lang="en-US" dirty="0"/>
              <a:t> и </a:t>
            </a:r>
            <a:r>
              <a:rPr lang="en-US" dirty="0" err="1"/>
              <a:t>давления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I²C.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0971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величин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непрерывными</a:t>
            </a:r>
            <a:r>
              <a:rPr lang="en-US" dirty="0"/>
              <a:t>. </a:t>
            </a:r>
            <a:r>
              <a:rPr lang="en-US" dirty="0" err="1"/>
              <a:t>Температура</a:t>
            </a:r>
            <a:r>
              <a:rPr lang="en-US" dirty="0"/>
              <a:t>, </a:t>
            </a:r>
            <a:r>
              <a:rPr lang="en-US" dirty="0" err="1"/>
              <a:t>освещённость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напряжение</a:t>
            </a:r>
            <a:r>
              <a:rPr lang="en-US" dirty="0"/>
              <a:t> </a:t>
            </a:r>
            <a:r>
              <a:rPr lang="en-US" dirty="0" err="1"/>
              <a:t>батареи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единицу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величины</a:t>
            </a:r>
            <a:r>
              <a:rPr lang="en-US" dirty="0"/>
              <a:t>,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аналого-цифровой</a:t>
            </a:r>
            <a:r>
              <a:rPr lang="en-US" dirty="0"/>
              <a:t> </a:t>
            </a:r>
            <a:r>
              <a:rPr lang="en-US" dirty="0" err="1"/>
              <a:t>преобразователь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ADC.</a:t>
            </a:r>
          </a:p>
          <a:p>
            <a:endParaRPr lang="ru-RU" dirty="0"/>
          </a:p>
          <a:p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преобразовании</a:t>
            </a:r>
            <a:r>
              <a:rPr lang="en-US" dirty="0"/>
              <a:t> </a:t>
            </a:r>
            <a:r>
              <a:rPr lang="en-US" dirty="0" err="1"/>
              <a:t>аналогового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 в </a:t>
            </a:r>
            <a:r>
              <a:rPr lang="en-US" dirty="0" err="1"/>
              <a:t>числовое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обработано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35154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ADC </a:t>
            </a:r>
            <a:r>
              <a:rPr lang="en-US" dirty="0" err="1"/>
              <a:t>сравнивает</a:t>
            </a:r>
            <a:r>
              <a:rPr lang="en-US" dirty="0"/>
              <a:t> </a:t>
            </a:r>
            <a:r>
              <a:rPr lang="en-US" dirty="0" err="1"/>
              <a:t>входное</a:t>
            </a:r>
            <a:r>
              <a:rPr lang="en-US" dirty="0"/>
              <a:t> </a:t>
            </a:r>
            <a:r>
              <a:rPr lang="en-US" dirty="0" err="1"/>
              <a:t>напряжение</a:t>
            </a:r>
            <a:r>
              <a:rPr lang="en-US" dirty="0"/>
              <a:t> с </a:t>
            </a:r>
            <a:r>
              <a:rPr lang="en-US" dirty="0" err="1"/>
              <a:t>опорным</a:t>
            </a:r>
            <a:r>
              <a:rPr lang="en-US" dirty="0"/>
              <a:t> </a:t>
            </a:r>
            <a:r>
              <a:rPr lang="en-US" dirty="0" err="1"/>
              <a:t>напряжением</a:t>
            </a:r>
            <a:r>
              <a:rPr lang="en-US" dirty="0"/>
              <a:t> VREF.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напряжение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входе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,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входное</a:t>
            </a:r>
            <a:r>
              <a:rPr lang="en-US" dirty="0"/>
              <a:t> </a:t>
            </a:r>
            <a:r>
              <a:rPr lang="en-US" dirty="0" err="1"/>
              <a:t>напряжение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с </a:t>
            </a:r>
            <a:r>
              <a:rPr lang="en-US" dirty="0" err="1"/>
              <a:t>опорным</a:t>
            </a:r>
            <a:r>
              <a:rPr lang="en-US" dirty="0"/>
              <a:t>,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получено</a:t>
            </a:r>
            <a:r>
              <a:rPr lang="en-US" dirty="0"/>
              <a:t> </a:t>
            </a:r>
            <a:r>
              <a:rPr lang="en-US" dirty="0" err="1"/>
              <a:t>максимальное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</a:p>
          <a:p>
            <a:r>
              <a:rPr lang="en-US" dirty="0"/>
              <a:t>В ATmega328P </a:t>
            </a:r>
            <a:r>
              <a:rPr lang="en-US" dirty="0" err="1"/>
              <a:t>используется</a:t>
            </a:r>
            <a:r>
              <a:rPr lang="en-US" dirty="0"/>
              <a:t> 10-битный ADC,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лежит</a:t>
            </a:r>
            <a:r>
              <a:rPr lang="en-US" dirty="0"/>
              <a:t> в </a:t>
            </a:r>
            <a:r>
              <a:rPr lang="en-US" dirty="0" err="1"/>
              <a:t>диапазоне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0 </a:t>
            </a:r>
            <a:r>
              <a:rPr lang="en-US" dirty="0" err="1"/>
              <a:t>до</a:t>
            </a:r>
            <a:r>
              <a:rPr lang="en-US" dirty="0"/>
              <a:t> 1023.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опорном</a:t>
            </a:r>
            <a:r>
              <a:rPr lang="en-US" dirty="0"/>
              <a:t> </a:t>
            </a:r>
            <a:r>
              <a:rPr lang="en-US" dirty="0" err="1"/>
              <a:t>напряжении</a:t>
            </a:r>
            <a:r>
              <a:rPr lang="en-US" dirty="0"/>
              <a:t> 5 В и </a:t>
            </a:r>
            <a:r>
              <a:rPr lang="en-US" dirty="0" err="1"/>
              <a:t>входном</a:t>
            </a:r>
            <a:r>
              <a:rPr lang="en-US" dirty="0"/>
              <a:t> </a:t>
            </a:r>
            <a:r>
              <a:rPr lang="en-US" dirty="0" err="1"/>
              <a:t>напряжении</a:t>
            </a:r>
            <a:r>
              <a:rPr lang="en-US" dirty="0"/>
              <a:t> 2.5 В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512.</a:t>
            </a:r>
          </a:p>
          <a:p>
            <a:endParaRPr lang="ru-RU" dirty="0"/>
          </a:p>
          <a:p>
            <a:r>
              <a:rPr lang="en-US" dirty="0"/>
              <a:t>В Arduino Nano </a:t>
            </a:r>
            <a:r>
              <a:rPr lang="en-US" dirty="0" err="1"/>
              <a:t>аналоговые</a:t>
            </a:r>
            <a:r>
              <a:rPr lang="en-US" dirty="0"/>
              <a:t> </a:t>
            </a:r>
            <a:r>
              <a:rPr lang="en-US" dirty="0" err="1"/>
              <a:t>входы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обозначаются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A0–A5.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в </a:t>
            </a:r>
            <a:r>
              <a:rPr lang="en-US" dirty="0" err="1"/>
              <a:t>регистры</a:t>
            </a:r>
            <a:r>
              <a:rPr lang="en-US" dirty="0"/>
              <a:t> ADCL и ADCH.</a:t>
            </a:r>
          </a:p>
          <a:p>
            <a:r>
              <a:rPr lang="en-US" dirty="0"/>
              <a:t>В </a:t>
            </a:r>
            <a:r>
              <a:rPr lang="en-US" dirty="0" err="1"/>
              <a:t>библиотеке</a:t>
            </a:r>
            <a:r>
              <a:rPr lang="en-US" dirty="0"/>
              <a:t> AVR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удобное</a:t>
            </a:r>
            <a:r>
              <a:rPr lang="en-US" dirty="0"/>
              <a:t> </a:t>
            </a:r>
            <a:r>
              <a:rPr lang="en-US" dirty="0" err="1"/>
              <a:t>обозначение</a:t>
            </a:r>
            <a:r>
              <a:rPr lang="en-US" dirty="0"/>
              <a:t> ADC, </a:t>
            </a:r>
            <a:r>
              <a:rPr lang="en-US" dirty="0" err="1"/>
              <a:t>позволяющее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единое</a:t>
            </a:r>
            <a:r>
              <a:rPr lang="en-US" dirty="0"/>
              <a:t> 16-битное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6601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использованием</a:t>
            </a:r>
            <a:r>
              <a:rPr lang="en-US" dirty="0"/>
              <a:t> ADC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настройку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регистре</a:t>
            </a:r>
            <a:r>
              <a:rPr lang="en-US" dirty="0"/>
              <a:t> ADMUX </a:t>
            </a:r>
            <a:r>
              <a:rPr lang="en-US" dirty="0" err="1"/>
              <a:t>выбирается</a:t>
            </a:r>
            <a:r>
              <a:rPr lang="en-US" dirty="0"/>
              <a:t> </a:t>
            </a:r>
            <a:r>
              <a:rPr lang="en-US" dirty="0" err="1"/>
              <a:t>источник</a:t>
            </a:r>
            <a:r>
              <a:rPr lang="en-US" dirty="0"/>
              <a:t> </a:t>
            </a:r>
            <a:r>
              <a:rPr lang="en-US" dirty="0" err="1"/>
              <a:t>опорного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 и </a:t>
            </a:r>
            <a:r>
              <a:rPr lang="en-US" dirty="0" err="1"/>
              <a:t>входной</a:t>
            </a:r>
            <a:r>
              <a:rPr lang="en-US" dirty="0"/>
              <a:t> </a:t>
            </a:r>
            <a:r>
              <a:rPr lang="en-US" dirty="0" err="1"/>
              <a:t>канал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AVCC,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напряжение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в </a:t>
            </a:r>
            <a:r>
              <a:rPr lang="en-US" dirty="0" err="1"/>
              <a:t>регистре</a:t>
            </a:r>
            <a:r>
              <a:rPr lang="en-US" dirty="0"/>
              <a:t> ADCSRA </a:t>
            </a:r>
            <a:r>
              <a:rPr lang="en-US" dirty="0" err="1"/>
              <a:t>включается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преобразователь</a:t>
            </a:r>
            <a:r>
              <a:rPr lang="en-US" dirty="0"/>
              <a:t> и </a:t>
            </a:r>
            <a:r>
              <a:rPr lang="en-US" dirty="0" err="1"/>
              <a:t>настраивается</a:t>
            </a:r>
            <a:r>
              <a:rPr lang="en-US" dirty="0"/>
              <a:t> </a:t>
            </a:r>
            <a:r>
              <a:rPr lang="en-US" dirty="0" err="1"/>
              <a:t>делитель</a:t>
            </a:r>
            <a:r>
              <a:rPr lang="en-US" dirty="0"/>
              <a:t> </a:t>
            </a:r>
            <a:r>
              <a:rPr lang="en-US" dirty="0" err="1"/>
              <a:t>частоты</a:t>
            </a:r>
            <a:r>
              <a:rPr lang="en-US" dirty="0"/>
              <a:t>.</a:t>
            </a:r>
          </a:p>
          <a:p>
            <a:r>
              <a:rPr lang="en-US" dirty="0" err="1"/>
              <a:t>Поскольку</a:t>
            </a:r>
            <a:r>
              <a:rPr lang="en-US" dirty="0"/>
              <a:t> ADC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медленнее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, </a:t>
            </a:r>
            <a:r>
              <a:rPr lang="en-US" dirty="0" err="1"/>
              <a:t>тактовую</a:t>
            </a:r>
            <a:r>
              <a:rPr lang="en-US" dirty="0"/>
              <a:t> </a:t>
            </a:r>
            <a:r>
              <a:rPr lang="en-US" dirty="0" err="1"/>
              <a:t>частоту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дополнительно</a:t>
            </a:r>
            <a:r>
              <a:rPr lang="en-US" dirty="0"/>
              <a:t> </a:t>
            </a:r>
            <a:r>
              <a:rPr lang="en-US" dirty="0" err="1"/>
              <a:t>уменьшать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8761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входной</a:t>
            </a:r>
            <a:r>
              <a:rPr lang="en-US" dirty="0"/>
              <a:t> </a:t>
            </a:r>
            <a:r>
              <a:rPr lang="en-US" dirty="0" err="1"/>
              <a:t>канал</a:t>
            </a:r>
            <a:r>
              <a:rPr lang="en-US" dirty="0"/>
              <a:t> и </a:t>
            </a:r>
            <a:r>
              <a:rPr lang="en-US" dirty="0" err="1"/>
              <a:t>установить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ADSC.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ADC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, </a:t>
            </a:r>
            <a:r>
              <a:rPr lang="en-US" dirty="0" err="1"/>
              <a:t>бит</a:t>
            </a:r>
            <a:r>
              <a:rPr lang="en-US" dirty="0"/>
              <a:t> ADSC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установленным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сбрасывается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</a:p>
          <a:p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дождаться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и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ADC.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35222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Широтно-импульсная</a:t>
            </a:r>
            <a:r>
              <a:rPr lang="en-US" dirty="0"/>
              <a:t> </a:t>
            </a:r>
            <a:r>
              <a:rPr lang="en-US" dirty="0" err="1"/>
              <a:t>модуляция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PWM,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цифровой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: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и </a:t>
            </a:r>
            <a:r>
              <a:rPr lang="en-US" dirty="0" err="1"/>
              <a:t>логическую</a:t>
            </a:r>
            <a:r>
              <a:rPr lang="en-US" dirty="0"/>
              <a:t> </a:t>
            </a:r>
            <a:r>
              <a:rPr lang="en-US" dirty="0" err="1"/>
              <a:t>единицу</a:t>
            </a:r>
            <a:r>
              <a:rPr lang="en-US" dirty="0"/>
              <a:t>.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быстрого</a:t>
            </a:r>
            <a:r>
              <a:rPr lang="en-US" dirty="0"/>
              <a:t> </a:t>
            </a:r>
            <a:r>
              <a:rPr lang="en-US" dirty="0" err="1"/>
              <a:t>переключения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этими</a:t>
            </a:r>
            <a:r>
              <a:rPr lang="en-US" dirty="0"/>
              <a:t> </a:t>
            </a:r>
            <a:r>
              <a:rPr lang="en-US" dirty="0" err="1"/>
              <a:t>состояниями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, </a:t>
            </a:r>
            <a:r>
              <a:rPr lang="en-US" dirty="0" err="1"/>
              <a:t>поступающей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нагрузку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PWM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период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постоянным</a:t>
            </a:r>
            <a:r>
              <a:rPr lang="en-US" dirty="0"/>
              <a:t>, а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длительность</a:t>
            </a:r>
            <a:r>
              <a:rPr lang="en-US" dirty="0"/>
              <a:t> </a:t>
            </a:r>
            <a:r>
              <a:rPr lang="en-US" dirty="0" err="1"/>
              <a:t>активного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Отношение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в </a:t>
            </a:r>
            <a:r>
              <a:rPr lang="en-US" dirty="0" err="1"/>
              <a:t>течение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логической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, к </a:t>
            </a:r>
            <a:r>
              <a:rPr lang="en-US" dirty="0" err="1"/>
              <a:t>полному</a:t>
            </a:r>
            <a:r>
              <a:rPr lang="en-US" dirty="0"/>
              <a:t> </a:t>
            </a:r>
            <a:r>
              <a:rPr lang="en-US" dirty="0" err="1"/>
              <a:t>периоду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</a:t>
            </a:r>
            <a:r>
              <a:rPr lang="en-US" dirty="0" err="1"/>
              <a:t>коэффициентом</a:t>
            </a:r>
            <a:r>
              <a:rPr lang="en-US" dirty="0"/>
              <a:t> </a:t>
            </a:r>
            <a:r>
              <a:rPr lang="en-US" dirty="0" err="1"/>
              <a:t>заполнения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Duty Cycle.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коэффициенте</a:t>
            </a:r>
            <a:r>
              <a:rPr lang="en-US" dirty="0"/>
              <a:t> </a:t>
            </a:r>
            <a:r>
              <a:rPr lang="en-US" dirty="0" err="1"/>
              <a:t>заполнения</a:t>
            </a:r>
            <a:r>
              <a:rPr lang="en-US" dirty="0"/>
              <a:t> 25%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активном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четверть</a:t>
            </a:r>
            <a:r>
              <a:rPr lang="en-US" dirty="0"/>
              <a:t> </a:t>
            </a:r>
            <a:r>
              <a:rPr lang="en-US" dirty="0" err="1"/>
              <a:t>периода</a:t>
            </a:r>
            <a:r>
              <a:rPr lang="en-US" dirty="0"/>
              <a:t>, а </a:t>
            </a:r>
            <a:r>
              <a:rPr lang="en-US" dirty="0" err="1"/>
              <a:t>оставшиеся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четверти</a:t>
            </a:r>
            <a:r>
              <a:rPr lang="en-US" dirty="0"/>
              <a:t> </a:t>
            </a:r>
            <a:r>
              <a:rPr lang="en-US" dirty="0" err="1"/>
              <a:t>периода</a:t>
            </a:r>
            <a:r>
              <a:rPr lang="en-US" dirty="0"/>
              <a:t> — в </a:t>
            </a:r>
            <a:r>
              <a:rPr lang="en-US" dirty="0" err="1"/>
              <a:t>неактивном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коэффициент</a:t>
            </a:r>
            <a:r>
              <a:rPr lang="en-US" dirty="0"/>
              <a:t> </a:t>
            </a:r>
            <a:r>
              <a:rPr lang="en-US" dirty="0" err="1"/>
              <a:t>заполнения</a:t>
            </a:r>
            <a:r>
              <a:rPr lang="en-US" dirty="0"/>
              <a:t> </a:t>
            </a:r>
            <a:r>
              <a:rPr lang="en-US" dirty="0" err="1"/>
              <a:t>увеличить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75%, </a:t>
            </a:r>
            <a:r>
              <a:rPr lang="en-US" dirty="0" err="1"/>
              <a:t>средняя</a:t>
            </a:r>
            <a:r>
              <a:rPr lang="en-US" dirty="0"/>
              <a:t> </a:t>
            </a:r>
            <a:r>
              <a:rPr lang="en-US" dirty="0" err="1"/>
              <a:t>мощность</a:t>
            </a:r>
            <a:r>
              <a:rPr lang="en-US" dirty="0"/>
              <a:t>, </a:t>
            </a:r>
            <a:r>
              <a:rPr lang="en-US" dirty="0" err="1"/>
              <a:t>поступающая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нагрузку</a:t>
            </a:r>
            <a:r>
              <a:rPr lang="en-US" dirty="0"/>
              <a:t>,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увеличится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светодиода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восприниматься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электродвигателя</a:t>
            </a:r>
            <a:r>
              <a:rPr lang="en-US" dirty="0"/>
              <a:t> —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скорости</a:t>
            </a:r>
            <a:r>
              <a:rPr lang="en-US" dirty="0"/>
              <a:t> </a:t>
            </a:r>
            <a:r>
              <a:rPr lang="en-US" dirty="0" err="1"/>
              <a:t>вращения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микроконтроллерах</a:t>
            </a:r>
            <a:r>
              <a:rPr lang="en-US" dirty="0"/>
              <a:t> AVR </a:t>
            </a:r>
            <a:r>
              <a:rPr lang="en-US" dirty="0" err="1"/>
              <a:t>генерация</a:t>
            </a:r>
            <a:r>
              <a:rPr lang="en-US" dirty="0"/>
              <a:t> PWM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с </a:t>
            </a:r>
            <a:r>
              <a:rPr lang="en-US" dirty="0" err="1"/>
              <a:t>использованием</a:t>
            </a:r>
            <a:r>
              <a:rPr lang="en-US" dirty="0"/>
              <a:t> </a:t>
            </a:r>
            <a:r>
              <a:rPr lang="en-US" dirty="0" err="1"/>
              <a:t>таймеров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в </a:t>
            </a:r>
            <a:r>
              <a:rPr lang="en-US" dirty="0" err="1"/>
              <a:t>формировании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получать</a:t>
            </a:r>
            <a:r>
              <a:rPr lang="en-US" dirty="0"/>
              <a:t> </a:t>
            </a:r>
            <a:r>
              <a:rPr lang="en-US" dirty="0" err="1"/>
              <a:t>стабильный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PWM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затрат</a:t>
            </a:r>
            <a:r>
              <a:rPr lang="en-US" dirty="0"/>
              <a:t> </a:t>
            </a:r>
            <a:r>
              <a:rPr lang="en-US" dirty="0" err="1"/>
              <a:t>процессорного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6030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настольных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завершается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подачи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инициализацию</a:t>
            </a:r>
            <a:r>
              <a:rPr lang="en-US" dirty="0"/>
              <a:t> </a:t>
            </a:r>
            <a:r>
              <a:rPr lang="en-US" dirty="0" err="1"/>
              <a:t>оборудования</a:t>
            </a:r>
            <a:r>
              <a:rPr lang="en-US" dirty="0"/>
              <a:t> и </a:t>
            </a:r>
            <a:r>
              <a:rPr lang="en-US" dirty="0" err="1"/>
              <a:t>переходит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, </a:t>
            </a:r>
            <a:r>
              <a:rPr lang="en-US" dirty="0" err="1"/>
              <a:t>поступающих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мира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большая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с </a:t>
            </a:r>
            <a:r>
              <a:rPr lang="en-US" dirty="0" err="1"/>
              <a:t>вычислениями</a:t>
            </a:r>
            <a:r>
              <a:rPr lang="en-US" dirty="0"/>
              <a:t>, а с </a:t>
            </a:r>
            <a:r>
              <a:rPr lang="en-US" dirty="0" err="1"/>
              <a:t>организацией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 и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3196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распространённой</a:t>
            </a:r>
            <a:r>
              <a:rPr lang="en-US" dirty="0"/>
              <a:t>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называемый</a:t>
            </a:r>
            <a:r>
              <a:rPr lang="en-US" dirty="0"/>
              <a:t> Super Loop.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оборудования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входит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и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подсистем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прост</a:t>
            </a:r>
            <a:r>
              <a:rPr lang="en-US" dirty="0"/>
              <a:t> в </a:t>
            </a:r>
            <a:r>
              <a:rPr lang="en-US" dirty="0" err="1"/>
              <a:t>реализации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базе</a:t>
            </a:r>
            <a:r>
              <a:rPr lang="en-US" dirty="0"/>
              <a:t> AVR 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74453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мере</a:t>
            </a:r>
            <a:r>
              <a:rPr lang="en-US" dirty="0"/>
              <a:t> </a:t>
            </a:r>
            <a:r>
              <a:rPr lang="en-US" dirty="0" err="1"/>
              <a:t>усложнения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нежелательно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ожидать</a:t>
            </a:r>
            <a:r>
              <a:rPr lang="en-US" dirty="0"/>
              <a:t> </a:t>
            </a:r>
            <a:r>
              <a:rPr lang="en-US" dirty="0" err="1"/>
              <a:t>наступления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эффективным</a:t>
            </a:r>
            <a:r>
              <a:rPr lang="en-US" dirty="0"/>
              <a:t> </a:t>
            </a:r>
            <a:r>
              <a:rPr lang="en-US" dirty="0" err="1"/>
              <a:t>решением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.</a:t>
            </a:r>
          </a:p>
          <a:p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минимальную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: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в </a:t>
            </a:r>
            <a:r>
              <a:rPr lang="en-US" dirty="0" err="1"/>
              <a:t>главном</a:t>
            </a:r>
            <a:r>
              <a:rPr lang="en-US" dirty="0"/>
              <a:t> </a:t>
            </a:r>
            <a:r>
              <a:rPr lang="en-US" dirty="0" err="1"/>
              <a:t>цикле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хорошую</a:t>
            </a:r>
            <a:r>
              <a:rPr lang="en-US" dirty="0"/>
              <a:t> </a:t>
            </a:r>
            <a:r>
              <a:rPr lang="en-US" dirty="0" err="1"/>
              <a:t>отзывчивость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длительных</a:t>
            </a:r>
            <a:r>
              <a:rPr lang="en-US" dirty="0"/>
              <a:t> </a:t>
            </a:r>
            <a:r>
              <a:rPr lang="en-US" dirty="0" err="1"/>
              <a:t>блокировок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37667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представлять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конечный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состояний</a:t>
            </a:r>
            <a:r>
              <a:rPr lang="en-US" dirty="0"/>
              <a:t>. </a:t>
            </a:r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к </a:t>
            </a:r>
            <a:r>
              <a:rPr lang="en-US" dirty="0" err="1"/>
              <a:t>выполнению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к </a:t>
            </a:r>
            <a:r>
              <a:rPr lang="en-US" dirty="0" err="1"/>
              <a:t>переходу</a:t>
            </a:r>
            <a:r>
              <a:rPr lang="en-US" dirty="0"/>
              <a:t> в </a:t>
            </a:r>
            <a:r>
              <a:rPr lang="en-US" dirty="0" err="1"/>
              <a:t>другое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промышленной</a:t>
            </a:r>
            <a:r>
              <a:rPr lang="en-US" dirty="0"/>
              <a:t> embedded-</a:t>
            </a:r>
            <a:r>
              <a:rPr lang="en-US" dirty="0" err="1"/>
              <a:t>разработке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проектировать</a:t>
            </a:r>
            <a:r>
              <a:rPr lang="en-US" dirty="0"/>
              <a:t> </a:t>
            </a:r>
            <a:r>
              <a:rPr lang="en-US" dirty="0" err="1"/>
              <a:t>сложные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понятных</a:t>
            </a:r>
            <a:r>
              <a:rPr lang="en-US" dirty="0"/>
              <a:t> </a:t>
            </a:r>
            <a:r>
              <a:rPr lang="en-US" dirty="0" err="1"/>
              <a:t>состояний</a:t>
            </a:r>
            <a:r>
              <a:rPr lang="en-US" dirty="0"/>
              <a:t> и </a:t>
            </a:r>
            <a:r>
              <a:rPr lang="en-US" dirty="0" err="1"/>
              <a:t>переходов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86654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рамках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темы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познакомились</a:t>
            </a:r>
            <a:r>
              <a:rPr lang="en-US" dirty="0"/>
              <a:t> с </a:t>
            </a:r>
            <a:r>
              <a:rPr lang="en-US" dirty="0" err="1"/>
              <a:t>базовыми</a:t>
            </a:r>
            <a:r>
              <a:rPr lang="en-US" dirty="0"/>
              <a:t> </a:t>
            </a:r>
            <a:r>
              <a:rPr lang="en-US" dirty="0" err="1"/>
              <a:t>принципами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семейства</a:t>
            </a:r>
            <a:r>
              <a:rPr lang="en-US" dirty="0"/>
              <a:t> AVR и </a:t>
            </a:r>
            <a:r>
              <a:rPr lang="en-US" dirty="0" err="1"/>
              <a:t>микроконтроллера</a:t>
            </a:r>
            <a:r>
              <a:rPr lang="en-US" dirty="0"/>
              <a:t> ATmega328P.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рассмотрели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, </a:t>
            </a:r>
            <a:r>
              <a:rPr lang="en-US" dirty="0" err="1"/>
              <a:t>таймерами</a:t>
            </a:r>
            <a:r>
              <a:rPr lang="en-US" dirty="0"/>
              <a:t>, </a:t>
            </a:r>
            <a:r>
              <a:rPr lang="en-US" dirty="0" err="1"/>
              <a:t>прерываниями</a:t>
            </a:r>
            <a:r>
              <a:rPr lang="en-US" dirty="0"/>
              <a:t> и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интерфейсами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увидели</a:t>
            </a:r>
            <a:r>
              <a:rPr lang="en-US" dirty="0"/>
              <a:t>,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аналоговым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ADC и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  <a:r>
              <a:rPr lang="en-US" dirty="0" err="1"/>
              <a:t>посредством</a:t>
            </a:r>
            <a:r>
              <a:rPr lang="en-US" dirty="0"/>
              <a:t> PWM.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отличается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и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ней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и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разработчик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язык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принципы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интерфейсов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промежуточное</a:t>
            </a:r>
            <a:r>
              <a:rPr lang="en-US" dirty="0"/>
              <a:t> </a:t>
            </a:r>
            <a:r>
              <a:rPr lang="en-US" dirty="0" err="1"/>
              <a:t>звено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 и </a:t>
            </a:r>
            <a:r>
              <a:rPr lang="en-US" dirty="0" err="1"/>
              <a:t>физическим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.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датчики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окружающей</a:t>
            </a:r>
            <a:r>
              <a:rPr lang="en-US" dirty="0"/>
              <a:t> </a:t>
            </a:r>
            <a:r>
              <a:rPr lang="en-US" dirty="0" err="1"/>
              <a:t>среде</a:t>
            </a:r>
            <a:r>
              <a:rPr lang="en-US" dirty="0"/>
              <a:t>, а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исполнительные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воздействовать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неё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Изученные</a:t>
            </a:r>
            <a:r>
              <a:rPr lang="en-US" dirty="0"/>
              <a:t> </a:t>
            </a:r>
            <a:r>
              <a:rPr lang="en-US" dirty="0" err="1"/>
              <a:t>сегодня</a:t>
            </a:r>
            <a:r>
              <a:rPr lang="en-US" dirty="0"/>
              <a:t> </a:t>
            </a:r>
            <a:r>
              <a:rPr lang="en-US" dirty="0" err="1"/>
              <a:t>принципы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основой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встроенных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: </a:t>
            </a:r>
            <a:r>
              <a:rPr lang="en-US" dirty="0" err="1"/>
              <a:t>измерительных</a:t>
            </a:r>
            <a:r>
              <a:rPr lang="en-US" dirty="0"/>
              <a:t> </a:t>
            </a:r>
            <a:r>
              <a:rPr lang="en-US" dirty="0" err="1"/>
              <a:t>приборов</a:t>
            </a:r>
            <a:r>
              <a:rPr lang="en-US" dirty="0"/>
              <a:t>, 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автоматизации</a:t>
            </a:r>
            <a:r>
              <a:rPr lang="en-US" dirty="0"/>
              <a:t>, </a:t>
            </a:r>
            <a:r>
              <a:rPr lang="en-US" dirty="0" err="1"/>
              <a:t>робототехнических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, </a:t>
            </a:r>
            <a:r>
              <a:rPr lang="en-US" dirty="0" err="1"/>
              <a:t>бытовой</a:t>
            </a:r>
            <a:r>
              <a:rPr lang="en-US" dirty="0"/>
              <a:t> </a:t>
            </a:r>
            <a:r>
              <a:rPr lang="en-US" dirty="0" err="1"/>
              <a:t>электроники</a:t>
            </a:r>
            <a:r>
              <a:rPr lang="en-US" dirty="0"/>
              <a:t> и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, </a:t>
            </a:r>
            <a:r>
              <a:rPr lang="en-US" dirty="0" err="1"/>
              <a:t>окружающих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в </a:t>
            </a:r>
            <a:r>
              <a:rPr lang="en-US" dirty="0" err="1"/>
              <a:t>повседневной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4FC61-F602-CA9C-5CCA-DD150DD63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2682E4-9A95-F74E-00CC-DA57DE789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29AE7-5C71-9FD6-5735-473647CBE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96DF0-49B7-122B-4B3C-0683EC2BC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F789C-060A-524C-E5EC-2D522502C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534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4F2F-6EBC-19C9-967F-59FCA22C2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C4F4E-BE75-132F-62A9-05DF580E9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5E8A5-54D0-51C2-D7D8-8A23D2815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54E31-682F-7E5C-EF6E-2729BF8D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D029A-B157-1E83-2216-D30014DE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75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BED8-7E98-3248-C9A2-C31743615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73DCB0-A717-6167-6164-9F0E9DAB7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A6B19-6EF7-9A82-5680-210BAD746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759E7D-B399-275F-6164-044CCB83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2C777-2336-B4C7-8558-7274578F7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158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9BB6-01F3-5B25-7715-AAC60B5EE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A22A-4D90-F150-701B-EDC6C73031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8203B-A9CE-CF0E-2F6A-20B0360D25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56069E-6CF8-5563-2671-98C41BA65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58646C-D3F0-28B1-3077-413E6EBA2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DE8FC-1827-4186-377E-1FAAA4D22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00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37E01-226A-7134-70FB-180F1D5D7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26D64-61BF-2826-1D1B-CCB41E7B1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343F85-682B-9773-724F-E55B97567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05741A-EB75-123B-D313-70AA50223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5C422C-A4C7-7D06-E211-9B7249BFE6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9817E-C44B-22BA-4A8D-08B005DB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057A90-973A-B41A-BB24-729555C6F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29E560-E7D8-38D7-1663-79EA7BC8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47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BA9EC-44B2-4F01-4798-14F75355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164D97-BEDD-B8AD-C2CC-1BB2B462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D2CD9E-7E55-E4E7-E97B-59FF0837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58CA-3FA6-86B7-4536-301EC0CB2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066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89AEA-2B71-87DC-A179-6F8631378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7072E1-0AEB-1C89-0420-0F7615BED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8A29B-E51B-DC16-1222-A996D4D3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12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AF581-3F48-26CA-897A-EEF983E7C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B410A-F909-6133-46E1-066BC6B98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7C9F1E-9C97-FAD5-90B9-9E90E0FDF7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6F511-05AD-EFA5-0B4C-214C4016D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54CD03-A122-F7D2-96A5-4A982958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5C3E7D-B345-8729-91FA-BFC16D251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42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4B2E7-AF48-F4E6-FD25-257EEC6F5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9A9BC0-5D24-7939-0A86-81758F6C10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41890-9654-E2BC-CCC2-4943D9D13A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22620-86D9-3C98-D8D1-099EDA643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4924-32D8-D720-D017-45E061BE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E9EF7-99A6-EFC0-BA55-85C310EB4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287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355A-9301-C030-1CB3-29E7EB034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41E97B-39BB-53E9-CB8B-F85C3E6EC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86EB9-EC46-EC9D-BA3B-7754B742E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3FCBF-D387-2234-C86F-80C210C68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20672-FCE4-A8D0-494B-9C481717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971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5627BF-8B9C-3AD7-F953-D51CB84269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252628-FAA1-F6F2-1663-B58B5809E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3BBBEE-2FD9-3B05-92D3-C455057EB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79947-8BEC-5539-42C7-0AFC2143F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30CBD-5673-5BA3-3A50-97EA409EA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2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845E2C-E929-98A9-1689-4B85AF635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7620-5793-D941-BCEE-0CD327D97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7DE1A-48EE-2713-24CD-CB014CE6CA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600B82-0A15-446D-88EA-592A7911FFA6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52EA0-315F-CA1F-063D-AABD504A2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202205-1B3B-4C00-0109-93B39DD7E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74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C054F-29D4-092E-2E3B-50959AEE2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Программирование микроконтроллеров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2598A4-FA46-411F-3831-A90E8AAB10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495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788B8-1F50-FA02-8D32-CF4DE13D6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Встраиваемые системы (</a:t>
            </a:r>
            <a:r>
              <a:rPr lang="en-US" dirty="0"/>
              <a:t>embedded systems)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6CC33-4E7C-AA2E-66D5-8199C0694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Встраиваемые системы</a:t>
            </a:r>
            <a:r>
              <a:rPr lang="en-US" dirty="0"/>
              <a:t> – </a:t>
            </a:r>
            <a:r>
              <a:rPr lang="ru-RU" dirty="0"/>
              <a:t>вычислительная система, встроенная внутрь других устройств для выполнения конкретных задач</a:t>
            </a:r>
          </a:p>
          <a:p>
            <a:r>
              <a:rPr lang="ru-RU" dirty="0"/>
              <a:t>Использование:</a:t>
            </a:r>
          </a:p>
          <a:p>
            <a:pPr lvl="1"/>
            <a:r>
              <a:rPr lang="ru-RU" dirty="0"/>
              <a:t>Бытовая техника, автомобили, роутеры, медицинское оборудование, дроны, роботы, </a:t>
            </a:r>
            <a:r>
              <a:rPr lang="en-US" dirty="0"/>
              <a:t>IoT</a:t>
            </a:r>
          </a:p>
          <a:p>
            <a:r>
              <a:rPr lang="ru-RU" dirty="0"/>
              <a:t>Основой большинства встраиваемых систем являются </a:t>
            </a:r>
            <a:r>
              <a:rPr lang="ru-RU" b="1" dirty="0"/>
              <a:t>микроконтроллеры</a:t>
            </a:r>
          </a:p>
          <a:p>
            <a:pPr lvl="1"/>
            <a:r>
              <a:rPr lang="ru-RU" dirty="0"/>
              <a:t>Процессор + память + периферия в одном чипе</a:t>
            </a:r>
          </a:p>
        </p:txBody>
      </p:sp>
    </p:spTree>
    <p:extLst>
      <p:ext uri="{BB962C8B-B14F-4D97-AF65-F5344CB8AC3E}">
        <p14:creationId xmlns:p14="http://schemas.microsoft.com/office/powerpoint/2010/main" val="19296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3E738-BF26-B0C4-4E17-75470F526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52B72-DA59-E05E-2382-E2F88B93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Микроконтроллер</a:t>
            </a:r>
            <a:r>
              <a:rPr lang="en-US" dirty="0"/>
              <a:t> (MCU, Microcontroller Unit) —</a:t>
            </a:r>
            <a:r>
              <a:rPr lang="ru-RU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</a:t>
            </a:r>
          </a:p>
          <a:p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процессор</a:t>
            </a:r>
            <a:r>
              <a:rPr lang="en-US" dirty="0"/>
              <a:t> (CPU) </a:t>
            </a:r>
          </a:p>
          <a:p>
            <a:pPr lvl="1"/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(SRAM) </a:t>
            </a:r>
          </a:p>
          <a:p>
            <a:pPr lvl="1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(Flash) </a:t>
            </a:r>
          </a:p>
          <a:p>
            <a:pPr lvl="1"/>
            <a:r>
              <a:rPr lang="en-US" dirty="0" err="1"/>
              <a:t>периферию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GPIO</a:t>
            </a:r>
          </a:p>
          <a:p>
            <a:pPr lvl="2"/>
            <a:r>
              <a:rPr lang="en-US" dirty="0" err="1"/>
              <a:t>таймеры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UART/SPI/I2C</a:t>
            </a:r>
          </a:p>
          <a:p>
            <a:pPr lvl="2"/>
            <a:r>
              <a:rPr lang="en-US" dirty="0"/>
              <a:t>ADC </a:t>
            </a:r>
          </a:p>
          <a:p>
            <a:r>
              <a:rPr lang="en-US" dirty="0" err="1"/>
              <a:t>Предназначен</a:t>
            </a:r>
            <a:r>
              <a:rPr lang="ru-RU" dirty="0" err="1"/>
              <a:t>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управлени</a:t>
            </a:r>
            <a:r>
              <a:rPr lang="ru-RU" dirty="0"/>
              <a:t>е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обработк</a:t>
            </a:r>
            <a:r>
              <a:rPr lang="ru-RU" dirty="0"/>
              <a:t>а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взаимодействи</a:t>
            </a:r>
            <a:r>
              <a:rPr lang="ru-RU" dirty="0"/>
              <a:t>е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496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F53FD-E5C0-5A9F-C697-FB987830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F57F-B894-2509-944E-D78D9C4CF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CPU –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r>
              <a:rPr lang="en-US" dirty="0"/>
              <a:t>Flash memory –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</a:p>
          <a:p>
            <a:r>
              <a:rPr lang="en-US" dirty="0"/>
              <a:t>SRAM -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</a:p>
          <a:p>
            <a:r>
              <a:rPr lang="en-US" dirty="0"/>
              <a:t>EEPROM -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</a:p>
          <a:p>
            <a:r>
              <a:rPr lang="en-US" dirty="0" err="1"/>
              <a:t>Периферия</a:t>
            </a:r>
            <a:endParaRPr lang="en-US" dirty="0"/>
          </a:p>
          <a:p>
            <a:pPr lvl="1"/>
            <a:r>
              <a:rPr lang="en-US" dirty="0"/>
              <a:t>GPIO</a:t>
            </a:r>
            <a:r>
              <a:rPr lang="ru-RU" dirty="0"/>
              <a:t>, </a:t>
            </a:r>
            <a:r>
              <a:rPr lang="en-US" dirty="0"/>
              <a:t>UART</a:t>
            </a:r>
            <a:r>
              <a:rPr lang="ru-RU" dirty="0"/>
              <a:t>, </a:t>
            </a:r>
            <a:r>
              <a:rPr lang="en-US" dirty="0"/>
              <a:t>SPI/I2C</a:t>
            </a:r>
            <a:r>
              <a:rPr lang="ru-RU" dirty="0"/>
              <a:t>, </a:t>
            </a:r>
            <a:r>
              <a:rPr lang="en-US" dirty="0"/>
              <a:t>ADC</a:t>
            </a:r>
            <a:r>
              <a:rPr lang="ru-RU" dirty="0"/>
              <a:t>, </a:t>
            </a:r>
            <a:r>
              <a:rPr lang="en-US" dirty="0" err="1"/>
              <a:t>таймеры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5746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1D55A-CD36-269E-4606-906F7236E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F9303-A655-A1E2-B164-F082D64D1F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CPU </a:t>
            </a:r>
            <a:r>
              <a:rPr lang="en-US" dirty="0" err="1"/>
              <a:t>микроконтроллера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стеком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частота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проще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сложной</a:t>
            </a:r>
            <a:r>
              <a:rPr lang="en-US" dirty="0"/>
              <a:t> ОС </a:t>
            </a:r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ATmega328P</a:t>
            </a:r>
          </a:p>
          <a:p>
            <a:pPr lvl="1"/>
            <a:r>
              <a:rPr lang="en-US" dirty="0"/>
              <a:t>16 MHz </a:t>
            </a:r>
          </a:p>
          <a:p>
            <a:pPr lvl="1"/>
            <a:r>
              <a:rPr lang="en-US" dirty="0"/>
              <a:t>2 KB SRAM </a:t>
            </a:r>
          </a:p>
          <a:p>
            <a:pPr lvl="1"/>
            <a:r>
              <a:rPr lang="en-US" dirty="0"/>
              <a:t>32 KB Flash</a:t>
            </a:r>
          </a:p>
          <a:p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2D438AC-0D84-F965-2D48-E75B34EB750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05" t="25798" r="27181" b="21765"/>
          <a:stretch>
            <a:fillRect/>
          </a:stretch>
        </p:blipFill>
        <p:spPr bwMode="auto">
          <a:xfrm>
            <a:off x="6724650" y="1826419"/>
            <a:ext cx="4648200" cy="3577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8E4520-DE58-9190-4846-1F60425F7875}"/>
              </a:ext>
            </a:extLst>
          </p:cNvPr>
          <p:cNvSpPr txBox="1"/>
          <p:nvPr/>
        </p:nvSpPr>
        <p:spPr>
          <a:xfrm>
            <a:off x="7696200" y="5403665"/>
            <a:ext cx="2705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ATmega328P</a:t>
            </a:r>
          </a:p>
        </p:txBody>
      </p:sp>
    </p:spTree>
    <p:extLst>
      <p:ext uri="{BB962C8B-B14F-4D97-AF65-F5344CB8AC3E}">
        <p14:creationId xmlns:p14="http://schemas.microsoft.com/office/powerpoint/2010/main" val="2476273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22229-3E3E-4901-F0C7-FDC27ADC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68DBD-76F3-5543-53A2-1075D8E27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и </a:t>
            </a:r>
            <a:r>
              <a:rPr lang="en-US" dirty="0" err="1"/>
              <a:t>физическими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.</a:t>
            </a:r>
            <a:endParaRPr lang="ru-RU" dirty="0"/>
          </a:p>
          <a:p>
            <a:pPr lvl="1"/>
            <a:r>
              <a:rPr lang="en-US" dirty="0"/>
              <a:t>GPIO (General Purpose Input/Output)</a:t>
            </a:r>
            <a:r>
              <a:rPr lang="ru-RU" dirty="0"/>
              <a:t> -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UART (Universal Asynchronous Receiver-Transmitter)</a:t>
            </a:r>
            <a:r>
              <a:rPr lang="ru-RU" dirty="0"/>
              <a:t> – </a:t>
            </a:r>
            <a:r>
              <a:rPr lang="en-US" dirty="0" err="1"/>
              <a:t>последовательная</a:t>
            </a:r>
            <a:r>
              <a:rPr lang="ru-RU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SPI / I2C</a:t>
            </a:r>
            <a:r>
              <a:rPr lang="ru-RU" dirty="0"/>
              <a:t> -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Timers/Counters</a:t>
            </a:r>
            <a:r>
              <a:rPr lang="ru-RU" dirty="0"/>
              <a:t> – </a:t>
            </a:r>
            <a:r>
              <a:rPr lang="en-US" dirty="0" err="1"/>
              <a:t>измерение</a:t>
            </a:r>
            <a:r>
              <a:rPr lang="ru-RU" dirty="0"/>
              <a:t> </a:t>
            </a:r>
            <a:r>
              <a:rPr lang="en-US" dirty="0" err="1"/>
              <a:t>времени</a:t>
            </a:r>
            <a:r>
              <a:rPr lang="en-US" dirty="0"/>
              <a:t> и </a:t>
            </a:r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en-US" dirty="0" err="1"/>
              <a:t>периодических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ADC (Analog-to-Digital Converter)</a:t>
            </a:r>
            <a:r>
              <a:rPr lang="ru-RU" dirty="0"/>
              <a:t> – </a:t>
            </a:r>
            <a:r>
              <a:rPr lang="en-US" dirty="0" err="1"/>
              <a:t>преобразование</a:t>
            </a:r>
            <a:r>
              <a:rPr lang="ru-RU" dirty="0"/>
              <a:t> </a:t>
            </a:r>
            <a:r>
              <a:rPr lang="en-US" dirty="0" err="1"/>
              <a:t>аналоговых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в </a:t>
            </a:r>
            <a:r>
              <a:rPr lang="en-US" dirty="0" err="1"/>
              <a:t>цифровую</a:t>
            </a:r>
            <a:r>
              <a:rPr lang="en-US" dirty="0"/>
              <a:t> </a:t>
            </a:r>
            <a:r>
              <a:rPr lang="en-US" dirty="0" err="1"/>
              <a:t>форму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PWM (Pulse Width Modulation)</a:t>
            </a:r>
            <a:r>
              <a:rPr lang="ru-RU" dirty="0"/>
              <a:t> -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endParaRPr lang="ru-RU" dirty="0"/>
          </a:p>
          <a:p>
            <a:r>
              <a:rPr lang="ru-RU" dirty="0"/>
              <a:t>Взаимодействие с периферией выполняется через аппаратные регистры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97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29783-7D58-C48D-989C-92B89059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кристалле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6E5BF-F220-DA6C-E0E8-B5D7F1CE6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интегрированную</a:t>
            </a:r>
            <a:r>
              <a:rPr lang="en-US" dirty="0"/>
              <a:t> </a:t>
            </a:r>
            <a:r>
              <a:rPr lang="en-US" dirty="0" err="1"/>
              <a:t>вычислительную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, </a:t>
            </a:r>
            <a:r>
              <a:rPr lang="en-US" dirty="0" err="1"/>
              <a:t>реализованную</a:t>
            </a:r>
            <a:r>
              <a:rPr lang="en-US" dirty="0"/>
              <a:t> в </a:t>
            </a:r>
            <a:r>
              <a:rPr lang="en-US" dirty="0" err="1"/>
              <a:t>пределах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кристалла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CPU, Flash, SRAM, </a:t>
            </a:r>
            <a:r>
              <a:rPr lang="ru-RU" dirty="0"/>
              <a:t>периферия, системные шины, контроллеры тактирования и прерываний</a:t>
            </a:r>
            <a:endParaRPr lang="en-US" dirty="0"/>
          </a:p>
          <a:p>
            <a:r>
              <a:rPr lang="en-US" dirty="0" err="1"/>
              <a:t>Преимущества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endParaRPr lang="en-US" dirty="0"/>
          </a:p>
          <a:p>
            <a:pPr lvl="1"/>
            <a:r>
              <a:rPr lang="en-US" dirty="0" err="1"/>
              <a:t>компактность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невысокая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минимальное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 </a:t>
            </a:r>
          </a:p>
          <a:p>
            <a:r>
              <a:rPr lang="en-US" dirty="0" err="1"/>
              <a:t>Ограничения</a:t>
            </a:r>
            <a:endParaRPr lang="en-US" dirty="0"/>
          </a:p>
          <a:p>
            <a:pPr lvl="1"/>
            <a:r>
              <a:rPr lang="en-US" dirty="0" err="1"/>
              <a:t>ограниченный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невысокая</a:t>
            </a:r>
            <a:r>
              <a:rPr lang="en-US" dirty="0"/>
              <a:t> </a:t>
            </a:r>
            <a:r>
              <a:rPr lang="en-US" dirty="0" err="1"/>
              <a:t>вычислительная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26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CDD772-A7E4-7EA6-4896-A74876FA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Микроконтроллеры </a:t>
            </a:r>
            <a:r>
              <a:rPr lang="en-US" dirty="0"/>
              <a:t>AVR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E00B3A-02F8-9316-C131-1AAB393A8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91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5B256-8C6D-C0E4-4129-34EEA2BF5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</a:t>
            </a:r>
            <a:r>
              <a:rPr lang="en-US" dirty="0"/>
              <a:t>AVR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1C6F25-99F8-8F3F-0E01-F2157E40A3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AVR — </a:t>
            </a:r>
            <a:r>
              <a:rPr lang="en-US" dirty="0" err="1"/>
              <a:t>семейство</a:t>
            </a:r>
            <a:r>
              <a:rPr lang="en-US" dirty="0"/>
              <a:t> 8-битных RISC-</a:t>
            </a:r>
            <a:r>
              <a:rPr lang="en-US" dirty="0" err="1"/>
              <a:t>микроконтроллеров</a:t>
            </a:r>
            <a:r>
              <a:rPr lang="ru-RU" dirty="0"/>
              <a:t> компании </a:t>
            </a:r>
            <a:r>
              <a:rPr lang="en-US" dirty="0"/>
              <a:t>Atmel</a:t>
            </a:r>
          </a:p>
          <a:p>
            <a:pPr lvl="1"/>
            <a:r>
              <a:rPr lang="en-US" dirty="0"/>
              <a:t>RISC – Reduced Instruction Set Computer – </a:t>
            </a:r>
            <a:r>
              <a:rPr lang="ru-RU" dirty="0"/>
              <a:t>архитектура процессора с относительно небольшим и простым набором инструкций</a:t>
            </a:r>
            <a:endParaRPr lang="en-US" dirty="0"/>
          </a:p>
          <a:p>
            <a:r>
              <a:rPr lang="en-US" dirty="0" err="1"/>
              <a:t>Характерные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Harvard architecture </a:t>
            </a:r>
          </a:p>
          <a:p>
            <a:pPr lvl="1"/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простая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ориентация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встраиваемые системы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 ATmega328P (Arduino Nano)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557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D329-B668-347D-F91F-33BAB4772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Гарвардская архитектура </a:t>
            </a:r>
            <a:r>
              <a:rPr lang="en-US" dirty="0"/>
              <a:t>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BFF52-7CA8-C52C-D5E1-8D56DE285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64994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AVR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ru-RU" dirty="0"/>
              <a:t>гарвардскую архитектуру</a:t>
            </a:r>
            <a:endParaRPr lang="en-US" dirty="0"/>
          </a:p>
          <a:p>
            <a:pPr lvl="1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разделены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шины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одновременный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инструкциям</a:t>
            </a:r>
            <a:r>
              <a:rPr lang="en-US" dirty="0"/>
              <a:t> и </a:t>
            </a:r>
            <a:r>
              <a:rPr lang="en-US" dirty="0" err="1"/>
              <a:t>данным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упрощение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повышение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EDC47A-A80B-6922-BEF8-EA5A3BF515FF}"/>
              </a:ext>
            </a:extLst>
          </p:cNvPr>
          <p:cNvSpPr/>
          <p:nvPr/>
        </p:nvSpPr>
        <p:spPr>
          <a:xfrm>
            <a:off x="8559857" y="3628708"/>
            <a:ext cx="1569206" cy="81366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Устройство управления</a:t>
            </a:r>
            <a:endParaRPr lang="en-US" sz="16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315D08-0D00-4A8D-5E5E-AEACD3C3690B}"/>
              </a:ext>
            </a:extLst>
          </p:cNvPr>
          <p:cNvSpPr/>
          <p:nvPr/>
        </p:nvSpPr>
        <p:spPr>
          <a:xfrm>
            <a:off x="6738803" y="3628708"/>
            <a:ext cx="1317359" cy="81366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Память инструкций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C172C-D6AA-4AAC-D5DD-4D396B9B6D3A}"/>
              </a:ext>
            </a:extLst>
          </p:cNvPr>
          <p:cNvSpPr/>
          <p:nvPr/>
        </p:nvSpPr>
        <p:spPr>
          <a:xfrm>
            <a:off x="10632759" y="3628708"/>
            <a:ext cx="1297984" cy="81366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Память данных</a:t>
            </a:r>
            <a:endParaRPr lang="en-US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D28DD-BB61-7E42-CFA4-F2979E89FED4}"/>
              </a:ext>
            </a:extLst>
          </p:cNvPr>
          <p:cNvSpPr/>
          <p:nvPr/>
        </p:nvSpPr>
        <p:spPr>
          <a:xfrm>
            <a:off x="8559857" y="4993187"/>
            <a:ext cx="1569206" cy="81366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dirty="0"/>
              <a:t>Ввод-вывод</a:t>
            </a:r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DD4E85-B09E-D0AC-7EB7-6BADB908D5BA}"/>
              </a:ext>
            </a:extLst>
          </p:cNvPr>
          <p:cNvSpPr/>
          <p:nvPr/>
        </p:nvSpPr>
        <p:spPr>
          <a:xfrm>
            <a:off x="8559857" y="2264229"/>
            <a:ext cx="1569206" cy="813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ALU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2AA48B5F-3AE7-50B6-AFCA-34DE85F2F9FC}"/>
              </a:ext>
            </a:extLst>
          </p:cNvPr>
          <p:cNvSpPr/>
          <p:nvPr/>
        </p:nvSpPr>
        <p:spPr>
          <a:xfrm>
            <a:off x="7968983" y="3895926"/>
            <a:ext cx="678052" cy="370639"/>
          </a:xfrm>
          <a:prstGeom prst="leftRightArrow">
            <a:avLst>
              <a:gd name="adj1" fmla="val 50000"/>
              <a:gd name="adj2" fmla="val 4619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C7F251CB-88C0-32F0-2BFD-E55A01821B36}"/>
              </a:ext>
            </a:extLst>
          </p:cNvPr>
          <p:cNvSpPr/>
          <p:nvPr/>
        </p:nvSpPr>
        <p:spPr>
          <a:xfrm>
            <a:off x="9174898" y="4353276"/>
            <a:ext cx="360870" cy="72900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5" name="Arrow: Up-Down 14">
            <a:extLst>
              <a:ext uri="{FF2B5EF4-FFF2-40B4-BE49-F238E27FC236}">
                <a16:creationId xmlns:a16="http://schemas.microsoft.com/office/drawing/2014/main" id="{4CECC7FD-B229-F0F9-7234-F3283E992373}"/>
              </a:ext>
            </a:extLst>
          </p:cNvPr>
          <p:cNvSpPr/>
          <p:nvPr/>
        </p:nvSpPr>
        <p:spPr>
          <a:xfrm>
            <a:off x="9174898" y="2984359"/>
            <a:ext cx="360870" cy="72900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FA2C459D-4F03-423A-821D-3CEAA204E28A}"/>
              </a:ext>
            </a:extLst>
          </p:cNvPr>
          <p:cNvSpPr/>
          <p:nvPr/>
        </p:nvSpPr>
        <p:spPr>
          <a:xfrm>
            <a:off x="10041885" y="3895925"/>
            <a:ext cx="678052" cy="370639"/>
          </a:xfrm>
          <a:prstGeom prst="leftRightArrow">
            <a:avLst>
              <a:gd name="adj1" fmla="val 50000"/>
              <a:gd name="adj2" fmla="val 4619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1403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468B-E0CA-E433-3008-30F59463E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Память</a:t>
            </a:r>
            <a:r>
              <a:rPr lang="en-US" dirty="0"/>
              <a:t> в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51814-731B-9F70-4E5E-3AB9A75E2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pPr lvl="1"/>
            <a:r>
              <a:rPr lang="en-US" dirty="0"/>
              <a:t>Flash memory –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ru-RU" dirty="0"/>
          </a:p>
          <a:p>
            <a:pPr lvl="2"/>
            <a:r>
              <a:rPr lang="en-US" dirty="0"/>
              <a:t>ATmega328: </a:t>
            </a:r>
            <a:r>
              <a:rPr lang="ru-RU" dirty="0"/>
              <a:t>32</a:t>
            </a:r>
            <a:r>
              <a:rPr lang="en-US" dirty="0"/>
              <a:t>KB</a:t>
            </a:r>
          </a:p>
          <a:p>
            <a:pPr lvl="1"/>
            <a:r>
              <a:rPr lang="en-US" dirty="0"/>
              <a:t>SRAM- </a:t>
            </a:r>
            <a:r>
              <a:rPr lang="en-US" dirty="0" err="1"/>
              <a:t>хранение</a:t>
            </a:r>
            <a:r>
              <a:rPr lang="en-US" dirty="0"/>
              <a:t> 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ATmega328: 2KB</a:t>
            </a:r>
          </a:p>
          <a:p>
            <a:pPr lvl="1"/>
            <a:r>
              <a:rPr lang="en-US" dirty="0"/>
              <a:t>EEPROM – </a:t>
            </a:r>
            <a:r>
              <a:rPr lang="en-US" dirty="0" err="1"/>
              <a:t>энергонезависимое</a:t>
            </a:r>
            <a:r>
              <a:rPr lang="en-US" dirty="0"/>
              <a:t> 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ATmega328: 1KB</a:t>
            </a:r>
          </a:p>
          <a:p>
            <a:r>
              <a:rPr lang="en-US" dirty="0" err="1"/>
              <a:t>Особенности</a:t>
            </a:r>
            <a:endParaRPr lang="en-US" dirty="0"/>
          </a:p>
          <a:p>
            <a:pPr lvl="1"/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виртуальной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прямой</a:t>
            </a:r>
            <a:r>
              <a:rPr lang="en-US" dirty="0"/>
              <a:t>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размещением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77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7B312-B761-3815-672C-79A6E39E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Регистры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3C75B-C39E-D0D6-3E50-61BA46196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4968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AVR </a:t>
            </a:r>
            <a:r>
              <a:rPr lang="en-US" dirty="0" err="1"/>
              <a:t>содержит</a:t>
            </a:r>
            <a:r>
              <a:rPr lang="en-US" dirty="0"/>
              <a:t> 32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: R0–R31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арифметических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1 </a:t>
            </a:r>
            <a:r>
              <a:rPr lang="en-US" dirty="0" err="1"/>
              <a:t>такт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регистры</a:t>
            </a:r>
            <a:r>
              <a:rPr lang="en-US" dirty="0"/>
              <a:t> X, Y, Z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X = R27:R26 </a:t>
            </a:r>
          </a:p>
          <a:p>
            <a:pPr lvl="2"/>
            <a:r>
              <a:rPr lang="en-US" dirty="0"/>
              <a:t>Y = R29:R28 </a:t>
            </a:r>
          </a:p>
          <a:p>
            <a:pPr lvl="2"/>
            <a:r>
              <a:rPr lang="en-US" dirty="0"/>
              <a:t>Z = R31:R30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C92AF09-2B90-4E89-C58B-AFE32DA66F9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942567" y="1855338"/>
            <a:ext cx="3861789" cy="31987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B4B5F3-3495-5A9C-EDDA-5FB26BFB9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107" y="5054053"/>
            <a:ext cx="5150893" cy="180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916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9A04E-4062-E7D9-18B9-26D2025C8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012AF-DF20-98F3-EBBE-FDCA6BEB7A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MOV </a:t>
            </a:r>
          </a:p>
          <a:p>
            <a:pPr lvl="1"/>
            <a:r>
              <a:rPr lang="en-US" dirty="0"/>
              <a:t>LD </a:t>
            </a:r>
          </a:p>
          <a:p>
            <a:pPr lvl="1"/>
            <a:r>
              <a:rPr lang="en-US" dirty="0"/>
              <a:t>ST </a:t>
            </a:r>
          </a:p>
          <a:p>
            <a:pPr lvl="1"/>
            <a:r>
              <a:rPr lang="en-US" dirty="0"/>
              <a:t>LDI </a:t>
            </a:r>
          </a:p>
          <a:p>
            <a:pPr lvl="1"/>
            <a:r>
              <a:rPr lang="en-US" dirty="0"/>
              <a:t>LDS </a:t>
            </a:r>
          </a:p>
          <a:p>
            <a:pPr lvl="1"/>
            <a:r>
              <a:rPr lang="en-US" dirty="0"/>
              <a:t>STS </a:t>
            </a:r>
          </a:p>
          <a:p>
            <a:r>
              <a:rPr lang="en-US" dirty="0" err="1"/>
              <a:t>Арифметические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ADD </a:t>
            </a:r>
          </a:p>
          <a:p>
            <a:pPr lvl="1"/>
            <a:r>
              <a:rPr lang="en-US" dirty="0"/>
              <a:t>ADC </a:t>
            </a:r>
          </a:p>
          <a:p>
            <a:pPr lvl="1"/>
            <a:r>
              <a:rPr lang="en-US" dirty="0"/>
              <a:t>SUB </a:t>
            </a:r>
          </a:p>
          <a:p>
            <a:pPr lvl="1"/>
            <a:r>
              <a:rPr lang="en-US" dirty="0"/>
              <a:t>SBC </a:t>
            </a:r>
          </a:p>
          <a:p>
            <a:pPr lvl="1"/>
            <a:r>
              <a:rPr lang="en-US" dirty="0"/>
              <a:t>INC </a:t>
            </a:r>
          </a:p>
          <a:p>
            <a:pPr lvl="1"/>
            <a:r>
              <a:rPr lang="en-US" dirty="0"/>
              <a:t>DEC </a:t>
            </a:r>
          </a:p>
          <a:p>
            <a:r>
              <a:rPr lang="en-US" dirty="0" err="1"/>
              <a:t>Ввод-вывод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IN </a:t>
            </a:r>
          </a:p>
          <a:p>
            <a:pPr lvl="1"/>
            <a:r>
              <a:rPr lang="en-US" dirty="0"/>
              <a:t>OUT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4E30A5-6522-38F5-1014-245AF1309A1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AND </a:t>
            </a:r>
          </a:p>
          <a:p>
            <a:pPr lvl="1"/>
            <a:r>
              <a:rPr lang="en-US" dirty="0"/>
              <a:t>OR </a:t>
            </a:r>
          </a:p>
          <a:p>
            <a:pPr lvl="1"/>
            <a:r>
              <a:rPr lang="en-US" dirty="0"/>
              <a:t>EOR </a:t>
            </a:r>
          </a:p>
          <a:p>
            <a:pPr lvl="1"/>
            <a:r>
              <a:rPr lang="en-US" dirty="0"/>
              <a:t>COM </a:t>
            </a:r>
          </a:p>
          <a:p>
            <a:pPr lvl="1"/>
            <a:r>
              <a:rPr lang="en-US" dirty="0"/>
              <a:t>TST </a:t>
            </a:r>
          </a:p>
          <a:p>
            <a:r>
              <a:rPr lang="en-US" dirty="0" err="1"/>
              <a:t>Сдвиги</a:t>
            </a:r>
            <a:r>
              <a:rPr lang="en-US" dirty="0"/>
              <a:t> и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битами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LSL </a:t>
            </a:r>
          </a:p>
          <a:p>
            <a:pPr lvl="1"/>
            <a:r>
              <a:rPr lang="en-US" dirty="0"/>
              <a:t>LSR </a:t>
            </a:r>
          </a:p>
          <a:p>
            <a:pPr lvl="1"/>
            <a:r>
              <a:rPr lang="en-US" dirty="0"/>
              <a:t>ROL </a:t>
            </a:r>
          </a:p>
          <a:p>
            <a:pPr lvl="1"/>
            <a:r>
              <a:rPr lang="en-US" dirty="0"/>
              <a:t>ROR </a:t>
            </a:r>
          </a:p>
          <a:p>
            <a:pPr lvl="1"/>
            <a:r>
              <a:rPr lang="en-US" dirty="0"/>
              <a:t>SBI </a:t>
            </a:r>
          </a:p>
          <a:p>
            <a:pPr lvl="1"/>
            <a:r>
              <a:rPr lang="en-US" dirty="0"/>
              <a:t>CBI </a:t>
            </a:r>
          </a:p>
          <a:p>
            <a:r>
              <a:rPr lang="en-US" dirty="0" err="1"/>
              <a:t>Переходы</a:t>
            </a:r>
            <a:r>
              <a:rPr lang="en-US" dirty="0"/>
              <a:t> и </a:t>
            </a:r>
            <a:r>
              <a:rPr lang="en-US" dirty="0" err="1"/>
              <a:t>вызовы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RJMP </a:t>
            </a:r>
          </a:p>
          <a:p>
            <a:pPr lvl="1"/>
            <a:r>
              <a:rPr lang="en-US" dirty="0"/>
              <a:t>BRNE </a:t>
            </a:r>
          </a:p>
          <a:p>
            <a:pPr lvl="1"/>
            <a:r>
              <a:rPr lang="en-US" dirty="0"/>
              <a:t>BREQ </a:t>
            </a:r>
          </a:p>
          <a:p>
            <a:pPr lvl="1"/>
            <a:r>
              <a:rPr lang="en-US" dirty="0"/>
              <a:t>CALL </a:t>
            </a:r>
          </a:p>
          <a:p>
            <a:pPr lvl="1"/>
            <a:r>
              <a:rPr lang="en-US" dirty="0"/>
              <a:t>RET </a:t>
            </a:r>
          </a:p>
        </p:txBody>
      </p:sp>
    </p:spTree>
    <p:extLst>
      <p:ext uri="{BB962C8B-B14F-4D97-AF65-F5344CB8AC3E}">
        <p14:creationId xmlns:p14="http://schemas.microsoft.com/office/powerpoint/2010/main" val="4162326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2506-5B31-13B9-84CA-03161B48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ATmega328P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B5C872-7C85-9294-5928-DC1712121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584371" cy="43513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Особенности</a:t>
            </a:r>
            <a:endParaRPr lang="en-US" dirty="0"/>
          </a:p>
          <a:p>
            <a:pPr lvl="1"/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</a:t>
            </a:r>
            <a:r>
              <a:rPr lang="en-US" dirty="0" err="1"/>
              <a:t>отображены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I/O-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Stack Pointer </a:t>
            </a:r>
            <a:r>
              <a:rPr lang="en-US" dirty="0" err="1"/>
              <a:t>хранится</a:t>
            </a:r>
            <a:r>
              <a:rPr lang="en-US" dirty="0"/>
              <a:t> в </a:t>
            </a:r>
            <a:r>
              <a:rPr lang="en-US" dirty="0" err="1"/>
              <a:t>специальных</a:t>
            </a:r>
            <a:r>
              <a:rPr lang="en-US" dirty="0"/>
              <a:t> I/O-</a:t>
            </a:r>
            <a:r>
              <a:rPr lang="en-US" dirty="0" err="1"/>
              <a:t>регистрах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SPL – 0x003D</a:t>
            </a:r>
          </a:p>
          <a:p>
            <a:pPr lvl="2"/>
            <a:r>
              <a:rPr lang="en-US" dirty="0"/>
              <a:t>SPH </a:t>
            </a:r>
            <a:r>
              <a:rPr lang="ru-RU" dirty="0"/>
              <a:t>– 0</a:t>
            </a:r>
            <a:r>
              <a:rPr lang="en-US" dirty="0"/>
              <a:t>x003E</a:t>
            </a:r>
          </a:p>
          <a:p>
            <a:pPr lvl="1"/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</a:t>
            </a:r>
          </a:p>
          <a:p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14CE2C-04D7-C24E-BB70-CCE628E3FE1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05854835"/>
              </p:ext>
            </p:extLst>
          </p:nvPr>
        </p:nvGraphicFramePr>
        <p:xfrm>
          <a:off x="6716485" y="1825625"/>
          <a:ext cx="5018315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139">
                  <a:extLst>
                    <a:ext uri="{9D8B030D-6E8A-4147-A177-3AD203B41FA5}">
                      <a16:colId xmlns:a16="http://schemas.microsoft.com/office/drawing/2014/main" val="487488085"/>
                    </a:ext>
                  </a:extLst>
                </a:gridCol>
                <a:gridCol w="3131176">
                  <a:extLst>
                    <a:ext uri="{9D8B030D-6E8A-4147-A177-3AD203B41FA5}">
                      <a16:colId xmlns:a16="http://schemas.microsoft.com/office/drawing/2014/main" val="2411742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Адреса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258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0x0000-0x001F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Регистры общего назначения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338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0x0020-0x005F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I/O</a:t>
                      </a:r>
                      <a:r>
                        <a:rPr lang="ru-RU" dirty="0"/>
                        <a:t> регистры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679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0x0060-0x00FF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Extended I/O</a:t>
                      </a:r>
                      <a:r>
                        <a:rPr lang="ru-RU" dirty="0"/>
                        <a:t> регистры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4973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0x0100-…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353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0BAF2-ED6F-6E81-E09D-E6CD3BC4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AVR и embedded-</a:t>
            </a:r>
            <a:r>
              <a:rPr lang="en-US" dirty="0" err="1"/>
              <a:t>разработка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48F08-8817-E51B-0F65-93C3A4560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Особенности</a:t>
            </a:r>
            <a:r>
              <a:rPr lang="en-US" dirty="0"/>
              <a:t> AVR </a:t>
            </a:r>
            <a:r>
              <a:rPr lang="en-US" dirty="0" err="1"/>
              <a:t>как</a:t>
            </a:r>
            <a:r>
              <a:rPr lang="en-US" dirty="0"/>
              <a:t> embedded-</a:t>
            </a:r>
            <a:r>
              <a:rPr lang="en-US" dirty="0" err="1"/>
              <a:t>платформы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предсказуемое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непосредственный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6680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F664-1276-FBBE-EBA9-0039ABDBC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960CF-53AC-256F-5CC7-76A144605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В AVR I/O-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I/O address </a:t>
            </a:r>
          </a:p>
          <a:p>
            <a:pPr lvl="1"/>
            <a:r>
              <a:rPr lang="en-US" dirty="0"/>
              <a:t>Data memory address</a:t>
            </a:r>
            <a:r>
              <a:rPr lang="ru-RU" dirty="0"/>
              <a:t> </a:t>
            </a:r>
            <a:r>
              <a:rPr lang="en-US" dirty="0"/>
              <a:t>= I/O address + 0x20</a:t>
            </a:r>
            <a:endParaRPr lang="ru-RU" dirty="0"/>
          </a:p>
          <a:p>
            <a:r>
              <a:rPr lang="ru-RU" dirty="0"/>
              <a:t>Пример:</a:t>
            </a:r>
          </a:p>
          <a:p>
            <a:pPr lvl="1"/>
            <a:r>
              <a:rPr lang="en-US" dirty="0"/>
              <a:t>SPL – 0x3D (0x5D)</a:t>
            </a:r>
          </a:p>
          <a:p>
            <a:pPr lvl="2"/>
            <a:r>
              <a:rPr lang="en-US" dirty="0"/>
              <a:t>I/O </a:t>
            </a:r>
            <a:r>
              <a:rPr lang="ru-RU" dirty="0"/>
              <a:t>адрес </a:t>
            </a:r>
            <a:r>
              <a:rPr lang="en-US" dirty="0"/>
              <a:t>= 0x3D</a:t>
            </a:r>
          </a:p>
          <a:p>
            <a:pPr lvl="2"/>
            <a:r>
              <a:rPr lang="en-US" dirty="0"/>
              <a:t>Data memory address = 0x5D</a:t>
            </a:r>
          </a:p>
          <a:p>
            <a:r>
              <a:rPr lang="ru-RU" dirty="0"/>
              <a:t>Доступ к регистру:</a:t>
            </a:r>
          </a:p>
          <a:p>
            <a:pPr lvl="1"/>
            <a:r>
              <a:rPr lang="ru-RU" dirty="0"/>
              <a:t>Через </a:t>
            </a:r>
            <a:r>
              <a:rPr lang="en-US" dirty="0"/>
              <a:t>I/O </a:t>
            </a:r>
            <a:r>
              <a:rPr lang="ru-RU" dirty="0"/>
              <a:t>инструкции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in r16, 0x3D</a:t>
            </a:r>
          </a:p>
          <a:p>
            <a:pPr lvl="1"/>
            <a:r>
              <a:rPr lang="ru-RU" dirty="0"/>
              <a:t>Через память данных</a:t>
            </a:r>
          </a:p>
          <a:p>
            <a:pPr lvl="2"/>
            <a:r>
              <a:rPr lang="en-US" dirty="0" err="1"/>
              <a:t>lds</a:t>
            </a:r>
            <a:r>
              <a:rPr lang="en-US" dirty="0"/>
              <a:t> r16, 0x005D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002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8EE57-5DDF-D5AF-8669-E86F6B96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B1F1589-1ED6-59A3-58C1-168B1061D4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69546" y="165099"/>
            <a:ext cx="6123638" cy="669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799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D0537-6CBE-BABC-096F-AE654883F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E6E6-9EC7-D272-4E42-968F007DC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ru-RU" dirty="0"/>
              <a:t> </a:t>
            </a:r>
            <a:r>
              <a:rPr lang="en-US" dirty="0"/>
              <a:t>CPU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reset vector.</a:t>
            </a:r>
          </a:p>
          <a:p>
            <a:pPr lvl="1"/>
            <a:r>
              <a:rPr lang="en-US" dirty="0" err="1"/>
              <a:t>Сброс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reset vector </a:t>
            </a:r>
          </a:p>
          <a:p>
            <a:pPr lvl="1"/>
            <a:r>
              <a:rPr lang="en-US" dirty="0" err="1"/>
              <a:t>Выполнение</a:t>
            </a:r>
            <a:r>
              <a:rPr lang="en-US" dirty="0"/>
              <a:t> startup code </a:t>
            </a:r>
          </a:p>
          <a:p>
            <a:pPr lvl="1"/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Настройка</a:t>
            </a:r>
            <a:r>
              <a:rPr lang="en-US" dirty="0"/>
              <a:t> Stack Pointer </a:t>
            </a:r>
          </a:p>
          <a:p>
            <a:pPr lvl="1"/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глобальных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Вызов</a:t>
            </a:r>
            <a:r>
              <a:rPr lang="en-US" dirty="0"/>
              <a:t> main() </a:t>
            </a:r>
          </a:p>
          <a:p>
            <a:r>
              <a:rPr lang="en-US" dirty="0"/>
              <a:t>Startup code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копирует</a:t>
            </a:r>
            <a:r>
              <a:rPr lang="en-US" dirty="0"/>
              <a:t> .data </a:t>
            </a:r>
            <a:r>
              <a:rPr lang="en-US" dirty="0" err="1"/>
              <a:t>из</a:t>
            </a:r>
            <a:r>
              <a:rPr lang="en-US" dirty="0"/>
              <a:t> Flash в SRAM </a:t>
            </a:r>
            <a:r>
              <a:rPr lang="ru-RU" dirty="0"/>
              <a:t> (инициализированные глобальные переменные)</a:t>
            </a:r>
            <a:endParaRPr lang="en-US" dirty="0"/>
          </a:p>
          <a:p>
            <a:pPr lvl="1"/>
            <a:r>
              <a:rPr lang="en-US" dirty="0" err="1"/>
              <a:t>обнуляет</a:t>
            </a:r>
            <a:r>
              <a:rPr lang="en-US" dirty="0"/>
              <a:t> .</a:t>
            </a:r>
            <a:r>
              <a:rPr lang="en-US" dirty="0" err="1"/>
              <a:t>bss</a:t>
            </a:r>
            <a:r>
              <a:rPr lang="en-US" dirty="0"/>
              <a:t> </a:t>
            </a:r>
            <a:r>
              <a:rPr lang="ru-RU" dirty="0"/>
              <a:t>(глобальные переменные)</a:t>
            </a:r>
            <a:endParaRPr lang="en-US" dirty="0"/>
          </a:p>
          <a:p>
            <a:pPr lvl="1"/>
            <a:r>
              <a:rPr lang="en-US" dirty="0" err="1"/>
              <a:t>инициализирует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подготавливает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218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3411-42FC-D39E-CAF8-E81BADCB9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GPIO: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3B213-3C01-8E24-B308-055905338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GPIO (General Purpose Input/Output) —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/>
              <a:t>GPIO </a:t>
            </a:r>
            <a:r>
              <a:rPr lang="en-US" dirty="0" err="1"/>
              <a:t>позволяют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обмениваться</a:t>
            </a:r>
            <a:r>
              <a:rPr lang="en-US" dirty="0"/>
              <a:t> </a:t>
            </a:r>
            <a:r>
              <a:rPr lang="en-US" dirty="0" err="1"/>
              <a:t>простыми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 </a:t>
            </a:r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кнопки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светодиоды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реле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датчики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дисплеи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192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385A1-AF48-8184-073D-8F6036A4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Режимы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GPIO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6900D-819D-1951-79F5-90C7383D6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GPIO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в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режимах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Input – </a:t>
            </a:r>
            <a:r>
              <a:rPr lang="en-US" dirty="0" err="1"/>
              <a:t>считывание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Output – </a:t>
            </a:r>
            <a:r>
              <a:rPr lang="en-US" dirty="0" err="1"/>
              <a:t>формирование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endParaRPr lang="en-US" dirty="0"/>
          </a:p>
          <a:p>
            <a:r>
              <a:rPr lang="ru-RU" dirty="0"/>
              <a:t>Логические уровни</a:t>
            </a:r>
          </a:p>
          <a:p>
            <a:pPr lvl="1"/>
            <a:r>
              <a:rPr lang="en-US" dirty="0"/>
              <a:t>LOW: </a:t>
            </a:r>
            <a:r>
              <a:rPr lang="ru-RU" dirty="0"/>
              <a:t>около 0</a:t>
            </a:r>
            <a:r>
              <a:rPr lang="en-US" dirty="0"/>
              <a:t>V</a:t>
            </a:r>
          </a:p>
          <a:p>
            <a:pPr lvl="1"/>
            <a:r>
              <a:rPr lang="en-US" dirty="0"/>
              <a:t>HIGH: </a:t>
            </a:r>
            <a:r>
              <a:rPr lang="ru-RU" dirty="0"/>
              <a:t>около 5</a:t>
            </a:r>
            <a:r>
              <a:rPr lang="en-US"/>
              <a:t>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86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E9EE-3E07-A4AC-6845-8F7C8FD8E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D3095-38AF-34BD-496E-F83A8E982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отображены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#define PORTB (*(volatile uint8_t*)0x25)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endParaRPr lang="en-US" dirty="0"/>
          </a:p>
          <a:p>
            <a:pPr lvl="1"/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чтение</a:t>
            </a:r>
            <a:r>
              <a:rPr lang="en-US" dirty="0"/>
              <a:t> и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побочные</a:t>
            </a:r>
            <a:r>
              <a:rPr lang="en-US" dirty="0"/>
              <a:t> </a:t>
            </a:r>
            <a:r>
              <a:rPr lang="en-US" dirty="0" err="1"/>
              <a:t>эффекты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</a:p>
          <a:p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volatile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volatile uint8_t* reg;</a:t>
            </a:r>
          </a:p>
          <a:p>
            <a:pPr lvl="1"/>
            <a:r>
              <a:rPr lang="en-US" dirty="0"/>
              <a:t>volatile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удалять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регистру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кэшировать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403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75F27-4261-5BC3-1EB6-EAA08A40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в ATmega328P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18157-FB57-6E2C-CB27-AB134B2F19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070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GPIO </a:t>
            </a:r>
            <a:r>
              <a:rPr lang="en-US" dirty="0" err="1"/>
              <a:t>организованы</a:t>
            </a:r>
            <a:r>
              <a:rPr lang="en-US" dirty="0"/>
              <a:t> в </a:t>
            </a:r>
            <a:r>
              <a:rPr lang="en-US" dirty="0" err="1"/>
              <a:t>порты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PORTB </a:t>
            </a:r>
          </a:p>
          <a:p>
            <a:pPr lvl="1"/>
            <a:r>
              <a:rPr lang="en-US" dirty="0"/>
              <a:t>PORTC </a:t>
            </a:r>
          </a:p>
          <a:p>
            <a:pPr lvl="1"/>
            <a:r>
              <a:rPr lang="en-US" dirty="0"/>
              <a:t>PORTD 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порт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endParaRPr lang="ru-RU" dirty="0"/>
          </a:p>
          <a:p>
            <a:r>
              <a:rPr lang="en-US" dirty="0" err="1"/>
              <a:t>Режим</a:t>
            </a:r>
            <a:r>
              <a:rPr lang="en-US" dirty="0"/>
              <a:t> output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DDRB |= (1 &lt;&lt; PB5);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PORTB |= (1 &lt;&lt; PB5);</a:t>
            </a:r>
          </a:p>
          <a:p>
            <a:pPr lvl="1"/>
            <a:r>
              <a:rPr lang="en-US" dirty="0"/>
              <a:t>PB5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подаётся</a:t>
            </a:r>
            <a:r>
              <a:rPr lang="en-US" dirty="0"/>
              <a:t> HIGH </a:t>
            </a:r>
          </a:p>
          <a:p>
            <a:r>
              <a:rPr lang="en-US" dirty="0" err="1"/>
              <a:t>Режим</a:t>
            </a:r>
            <a:r>
              <a:rPr lang="en-US" dirty="0"/>
              <a:t> input + pull-up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DDRD &amp;= ~(1 &lt;&lt; PD2);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PORTD |= (1 &lt;&lt; PD2);</a:t>
            </a:r>
          </a:p>
          <a:p>
            <a:pPr lvl="1"/>
            <a:r>
              <a:rPr lang="en-US" dirty="0"/>
              <a:t>PD2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включён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A0618E9-86B2-D35D-DC83-856C43F04E5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14247901"/>
              </p:ext>
            </p:extLst>
          </p:nvPr>
        </p:nvGraphicFramePr>
        <p:xfrm>
          <a:off x="6716354" y="3881741"/>
          <a:ext cx="5181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5385">
                  <a:extLst>
                    <a:ext uri="{9D8B030D-6E8A-4147-A177-3AD203B41FA5}">
                      <a16:colId xmlns:a16="http://schemas.microsoft.com/office/drawing/2014/main" val="4068020681"/>
                    </a:ext>
                  </a:extLst>
                </a:gridCol>
                <a:gridCol w="3656215">
                  <a:extLst>
                    <a:ext uri="{9D8B030D-6E8A-4147-A177-3AD203B41FA5}">
                      <a16:colId xmlns:a16="http://schemas.microsoft.com/office/drawing/2014/main" val="106016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Регистр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239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DDRx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направление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вывода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0369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PORTx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выходное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значение</a:t>
                      </a:r>
                      <a:r>
                        <a:rPr lang="en-US" dirty="0"/>
                        <a:t> / pull-up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8524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PINx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чтение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состояния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вывода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93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60552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60586C-2309-8C48-9AEC-B2EC7334F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AVR Toolchain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E099DE-12FA-79B1-C605-ED1C02FF6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98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A41A-16FD-CB35-9387-B7F83DC4C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Toolchain </a:t>
            </a:r>
            <a:r>
              <a:rPr lang="en-US" dirty="0" err="1"/>
              <a:t>для</a:t>
            </a:r>
            <a:r>
              <a:rPr lang="en-US" dirty="0"/>
              <a:t> AVR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FB1BA6-0F9B-17C6-B087-C4B22C126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Этапы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  <a:p>
            <a:pPr lvl="1"/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</a:t>
            </a:r>
          </a:p>
          <a:p>
            <a:pPr lvl="1"/>
            <a:r>
              <a:rPr lang="en-US" dirty="0" err="1"/>
              <a:t>Компиляция</a:t>
            </a:r>
            <a:r>
              <a:rPr lang="en-US" dirty="0"/>
              <a:t> (</a:t>
            </a:r>
            <a:r>
              <a:rPr lang="en-US" dirty="0" err="1"/>
              <a:t>avr-gcc</a:t>
            </a:r>
            <a:r>
              <a:rPr lang="en-US" dirty="0"/>
              <a:t>) →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endParaRPr lang="en-US" dirty="0"/>
          </a:p>
          <a:p>
            <a:pPr lvl="1"/>
            <a:r>
              <a:rPr lang="en-US" dirty="0" err="1"/>
              <a:t>Линковка</a:t>
            </a:r>
            <a:r>
              <a:rPr lang="en-US" dirty="0"/>
              <a:t> →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(.elf, .hex)</a:t>
            </a:r>
          </a:p>
          <a:p>
            <a:pPr lvl="1"/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(</a:t>
            </a:r>
            <a:r>
              <a:rPr lang="en-US" dirty="0" err="1"/>
              <a:t>avrdude</a:t>
            </a:r>
            <a:r>
              <a:rPr lang="en-US" dirty="0"/>
              <a:t>)</a:t>
            </a:r>
          </a:p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инструменты</a:t>
            </a:r>
            <a:endParaRPr lang="en-US" dirty="0"/>
          </a:p>
          <a:p>
            <a:pPr lvl="1"/>
            <a:r>
              <a:rPr lang="en-US" dirty="0" err="1"/>
              <a:t>avr-gcc</a:t>
            </a:r>
            <a:r>
              <a:rPr lang="en-US" dirty="0"/>
              <a:t> —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</a:t>
            </a:r>
            <a:r>
              <a:rPr lang="en-US" dirty="0"/>
              <a:t>-as — </a:t>
            </a:r>
            <a:r>
              <a:rPr lang="en-US" dirty="0" err="1"/>
              <a:t>ассемблер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avr-ld</a:t>
            </a:r>
            <a:r>
              <a:rPr lang="en-US" dirty="0"/>
              <a:t> — </a:t>
            </a:r>
            <a:r>
              <a:rPr lang="en-US" dirty="0" err="1"/>
              <a:t>линковщик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avr-objdump</a:t>
            </a:r>
            <a:r>
              <a:rPr lang="en-US" dirty="0"/>
              <a:t> — </a:t>
            </a:r>
            <a:r>
              <a:rPr lang="en-US" dirty="0" err="1"/>
              <a:t>дизассемблирование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</a:t>
            </a:r>
            <a:r>
              <a:rPr lang="en-US" dirty="0"/>
              <a:t>-size —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avrdude</a:t>
            </a:r>
            <a:r>
              <a:rPr lang="en-US" dirty="0"/>
              <a:t> —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315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7F6A7-6F71-5C30-D7DF-D266C418E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7E8A2-71D6-6B61-4A24-96F8B6FCC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int main(void)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while (1)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 err="1"/>
              <a:t>Компиляция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avr-gcc</a:t>
            </a:r>
            <a:r>
              <a:rPr lang="en-US" dirty="0">
                <a:latin typeface="Consolas" panose="020B0609020204030204" pitchFamily="49" charset="0"/>
              </a:rPr>
              <a:t> -</a:t>
            </a:r>
            <a:r>
              <a:rPr lang="en-US" dirty="0" err="1">
                <a:latin typeface="Consolas" panose="020B0609020204030204" pitchFamily="49" charset="0"/>
              </a:rPr>
              <a:t>mmcu</a:t>
            </a:r>
            <a:r>
              <a:rPr lang="en-US" dirty="0">
                <a:latin typeface="Consolas" panose="020B0609020204030204" pitchFamily="49" charset="0"/>
              </a:rPr>
              <a:t>=atmega328p </a:t>
            </a:r>
            <a:r>
              <a:rPr lang="en-US" dirty="0" err="1">
                <a:latin typeface="Consolas" panose="020B0609020204030204" pitchFamily="49" charset="0"/>
              </a:rPr>
              <a:t>main.c</a:t>
            </a:r>
            <a:r>
              <a:rPr lang="en-US" dirty="0">
                <a:latin typeface="Consolas" panose="020B0609020204030204" pitchFamily="49" charset="0"/>
              </a:rPr>
              <a:t> -o </a:t>
            </a:r>
            <a:r>
              <a:rPr lang="en-US" dirty="0" err="1">
                <a:latin typeface="Consolas" panose="020B0609020204030204" pitchFamily="49" charset="0"/>
              </a:rPr>
              <a:t>main.elf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avr-objcopy</a:t>
            </a:r>
            <a:r>
              <a:rPr lang="en-US" dirty="0">
                <a:latin typeface="Consolas" panose="020B0609020204030204" pitchFamily="49" charset="0"/>
              </a:rPr>
              <a:t> -O </a:t>
            </a:r>
            <a:r>
              <a:rPr lang="en-US" dirty="0" err="1">
                <a:latin typeface="Consolas" panose="020B0609020204030204" pitchFamily="49" charset="0"/>
              </a:rPr>
              <a:t>ihex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main.elf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main.hex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3201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FCF745-8887-7664-9107-A9CF6EC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Дизассемблирование</a:t>
            </a:r>
            <a:r>
              <a:rPr lang="en-US" dirty="0"/>
              <a:t> AVR-</a:t>
            </a:r>
            <a:r>
              <a:rPr lang="en-US" dirty="0" err="1"/>
              <a:t>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40093C-95BD-7857-2C9E-F5C983A4B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Дизассемблирование</a:t>
            </a:r>
            <a:endParaRPr lang="en-US" dirty="0"/>
          </a:p>
          <a:p>
            <a:pPr lvl="1"/>
            <a:r>
              <a:rPr lang="en-US" dirty="0" err="1"/>
              <a:t>avr-objdump</a:t>
            </a:r>
            <a:r>
              <a:rPr lang="en-US" dirty="0"/>
              <a:t> -d </a:t>
            </a:r>
            <a:r>
              <a:rPr lang="en-US" dirty="0" err="1"/>
              <a:t>main.elf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endParaRPr lang="en-US" dirty="0"/>
          </a:p>
          <a:p>
            <a:pPr lvl="1"/>
            <a:r>
              <a:rPr lang="en-US" dirty="0"/>
              <a:t>00000080 &lt;main&gt;:</a:t>
            </a:r>
            <a:br>
              <a:rPr lang="en-US" dirty="0"/>
            </a:br>
            <a:r>
              <a:rPr lang="en-US" dirty="0"/>
              <a:t>  80:  ff </a:t>
            </a:r>
            <a:r>
              <a:rPr lang="en-US" dirty="0" err="1"/>
              <a:t>cf</a:t>
            </a:r>
            <a:r>
              <a:rPr lang="en-US" dirty="0"/>
              <a:t>    </a:t>
            </a:r>
            <a:r>
              <a:rPr lang="en-US" dirty="0" err="1"/>
              <a:t>rjmp</a:t>
            </a:r>
            <a:r>
              <a:rPr lang="en-US" dirty="0"/>
              <a:t> .-2</a:t>
            </a:r>
          </a:p>
        </p:txBody>
      </p:sp>
    </p:spTree>
    <p:extLst>
      <p:ext uri="{BB962C8B-B14F-4D97-AF65-F5344CB8AC3E}">
        <p14:creationId xmlns:p14="http://schemas.microsoft.com/office/powerpoint/2010/main" val="259923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4DFBD-B431-511E-232B-6B4574A6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A426F-3E6A-4CB9-97BD-58E1C24DF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в MCU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avrdude</a:t>
            </a:r>
            <a:r>
              <a:rPr lang="en-US" dirty="0">
                <a:latin typeface="Consolas" panose="020B0609020204030204" pitchFamily="49" charset="0"/>
              </a:rPr>
              <a:t> -c </a:t>
            </a:r>
            <a:r>
              <a:rPr lang="en-US" dirty="0" err="1">
                <a:latin typeface="Consolas" panose="020B0609020204030204" pitchFamily="49" charset="0"/>
              </a:rPr>
              <a:t>arduino</a:t>
            </a:r>
            <a:r>
              <a:rPr lang="en-US" dirty="0">
                <a:latin typeface="Consolas" panose="020B0609020204030204" pitchFamily="49" charset="0"/>
              </a:rPr>
              <a:t> -p m328p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-P COM3 -b 115200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-U </a:t>
            </a:r>
            <a:r>
              <a:rPr lang="en-US" dirty="0" err="1">
                <a:latin typeface="Consolas" panose="020B0609020204030204" pitchFamily="49" charset="0"/>
              </a:rPr>
              <a:t>flash:w:main.hex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прошивке</a:t>
            </a:r>
            <a:endParaRPr lang="en-US" dirty="0"/>
          </a:p>
          <a:p>
            <a:pPr lvl="1"/>
            <a:r>
              <a:rPr lang="en-US" dirty="0" err="1"/>
              <a:t>установление</a:t>
            </a:r>
            <a:r>
              <a:rPr lang="en-US" dirty="0"/>
              <a:t> </a:t>
            </a:r>
            <a:r>
              <a:rPr lang="en-US" dirty="0" err="1"/>
              <a:t>соединения</a:t>
            </a:r>
            <a:r>
              <a:rPr lang="en-US" dirty="0"/>
              <a:t> с bootloader/programmer </a:t>
            </a:r>
          </a:p>
          <a:p>
            <a:pPr lvl="1"/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 memory </a:t>
            </a:r>
          </a:p>
          <a:p>
            <a:pPr lvl="1"/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содержимого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762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C616F-1358-E0CF-7912-28E1B6B70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Особенности</a:t>
            </a:r>
            <a:r>
              <a:rPr lang="en-US" dirty="0"/>
              <a:t> embedded toolchain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64544-67C2-6B0B-61FD-36EF88FFA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Отличия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desktop-</a:t>
            </a:r>
            <a:r>
              <a:rPr lang="en-US" dirty="0" err="1"/>
              <a:t>разработки</a:t>
            </a:r>
            <a:endParaRPr lang="en-US" dirty="0"/>
          </a:p>
          <a:p>
            <a:pPr lvl="1"/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непосредственная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важность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endParaRPr lang="en-US" dirty="0"/>
          </a:p>
          <a:p>
            <a:pPr lvl="1"/>
            <a:r>
              <a:rPr lang="en-US" dirty="0"/>
              <a:t>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MCU </a:t>
            </a:r>
          </a:p>
          <a:p>
            <a:pPr lvl="1"/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834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D6F244-CDB7-5905-8B24-F654E8B03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: </a:t>
            </a:r>
            <a:r>
              <a:rPr lang="en-US" dirty="0" err="1"/>
              <a:t>мигание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5C8619-5BFD-1D05-3776-0C027EFE3FCE}"/>
              </a:ext>
            </a:extLst>
          </p:cNvPr>
          <p:cNvSpPr txBox="1"/>
          <p:nvPr/>
        </p:nvSpPr>
        <p:spPr>
          <a:xfrm>
            <a:off x="838200" y="169068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avr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util/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delay.h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DDRB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PB5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настраивается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output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PORTB ^=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Инвертируем состояние светодиода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0015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E48DD8-71EC-4CA4-C205-E0895CE5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Таймеры микроконтроллера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457622-666A-871A-153E-EABC229BB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545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2CB759-E413-1CEE-B2DD-6741A515F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54BF28-E1EB-BEFD-C8EA-9E78058C0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Таймер</a:t>
            </a:r>
            <a:r>
              <a:rPr lang="en-US" dirty="0"/>
              <a:t> (timer/counter) —</a:t>
            </a:r>
            <a:r>
              <a:rPr lang="ru-RU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и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r>
              <a:rPr lang="en-US" dirty="0" err="1"/>
              <a:t>Возможност</a:t>
            </a:r>
            <a:r>
              <a:rPr lang="ru-RU" dirty="0"/>
              <a:t>и</a:t>
            </a:r>
            <a:endParaRPr lang="en-US" dirty="0"/>
          </a:p>
          <a:p>
            <a:pPr lvl="1"/>
            <a:r>
              <a:rPr lang="en-US" dirty="0" err="1"/>
              <a:t>измерение</a:t>
            </a:r>
            <a:r>
              <a:rPr lang="en-US" dirty="0"/>
              <a:t> </a:t>
            </a:r>
            <a:r>
              <a:rPr lang="en-US" dirty="0" err="1"/>
              <a:t>временных</a:t>
            </a:r>
            <a:r>
              <a:rPr lang="en-US" dirty="0"/>
              <a:t> </a:t>
            </a:r>
            <a:r>
              <a:rPr lang="en-US" dirty="0" err="1"/>
              <a:t>интервалов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en-US" dirty="0" err="1"/>
              <a:t>периодических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импульсов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PWM (Pulse Width Modulation), </a:t>
            </a:r>
            <a:r>
              <a:rPr lang="en-US" dirty="0" err="1"/>
              <a:t>широтно-импульсная</a:t>
            </a:r>
            <a:r>
              <a:rPr lang="en-US" dirty="0"/>
              <a:t> </a:t>
            </a:r>
            <a:r>
              <a:rPr lang="en-US" dirty="0" err="1"/>
              <a:t>модуляция</a:t>
            </a:r>
            <a:endParaRPr lang="en-US" dirty="0"/>
          </a:p>
          <a:p>
            <a:pPr lvl="2"/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ru-RU" dirty="0"/>
              <a:t>за счёт быстрого</a:t>
            </a:r>
            <a:r>
              <a:rPr lang="en-US" dirty="0"/>
              <a:t> </a:t>
            </a:r>
            <a:r>
              <a:rPr lang="en-US" dirty="0" err="1"/>
              <a:t>переключения</a:t>
            </a:r>
            <a:r>
              <a:rPr lang="en-US" dirty="0"/>
              <a:t> </a:t>
            </a:r>
            <a:r>
              <a:rPr lang="en-US" dirty="0" err="1"/>
              <a:t>цифрового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состояниями</a:t>
            </a:r>
            <a:r>
              <a:rPr lang="en-US" dirty="0"/>
              <a:t> HIGH и LOW.</a:t>
            </a:r>
          </a:p>
          <a:p>
            <a:pPr lvl="1"/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ru-RU" dirty="0"/>
              <a:t>прерываний (</a:t>
            </a:r>
            <a:r>
              <a:rPr lang="en-US" dirty="0"/>
              <a:t>interrupts) </a:t>
            </a:r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CPU.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30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A0D7C-880C-7132-2275-D9599E5F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F1795-D538-7227-169B-9D4233FE0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Упрощённая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endParaRPr lang="en-US" dirty="0"/>
          </a:p>
          <a:p>
            <a:pPr lvl="1"/>
            <a:r>
              <a:rPr lang="en-US" dirty="0"/>
              <a:t>Clock → </a:t>
            </a:r>
            <a:r>
              <a:rPr lang="en-US" dirty="0" err="1"/>
              <a:t>Prescaler</a:t>
            </a:r>
            <a:r>
              <a:rPr lang="en-US" dirty="0"/>
              <a:t> → Counter → Compare Match</a:t>
            </a:r>
          </a:p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endParaRPr lang="en-US" dirty="0"/>
          </a:p>
          <a:p>
            <a:pPr lvl="1"/>
            <a:r>
              <a:rPr lang="en-US" dirty="0"/>
              <a:t>Clock source</a:t>
            </a:r>
            <a:r>
              <a:rPr lang="ru-RU" dirty="0"/>
              <a:t> – </a:t>
            </a:r>
            <a:r>
              <a:rPr lang="en-US" dirty="0" err="1"/>
              <a:t>источник</a:t>
            </a:r>
            <a:r>
              <a:rPr lang="ru-RU" dirty="0"/>
              <a:t> </a:t>
            </a:r>
            <a:r>
              <a:rPr lang="en-US" dirty="0" err="1"/>
              <a:t>такт</a:t>
            </a:r>
            <a:r>
              <a:rPr lang="ru-RU" dirty="0" err="1"/>
              <a:t>овых</a:t>
            </a:r>
            <a:r>
              <a:rPr lang="ru-RU" dirty="0"/>
              <a:t> импульсов</a:t>
            </a:r>
            <a:endParaRPr lang="en-US" dirty="0"/>
          </a:p>
          <a:p>
            <a:pPr lvl="1"/>
            <a:r>
              <a:rPr lang="en-US" dirty="0" err="1"/>
              <a:t>Prescaler</a:t>
            </a:r>
            <a:r>
              <a:rPr lang="ru-RU" dirty="0"/>
              <a:t> – </a:t>
            </a:r>
            <a:r>
              <a:rPr lang="en-US" dirty="0" err="1"/>
              <a:t>делитель</a:t>
            </a:r>
            <a:r>
              <a:rPr lang="ru-RU" dirty="0"/>
              <a:t> </a:t>
            </a:r>
            <a:r>
              <a:rPr lang="en-US" dirty="0" err="1"/>
              <a:t>частоты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Counter</a:t>
            </a:r>
            <a:r>
              <a:rPr lang="ru-RU" dirty="0"/>
              <a:t> – </a:t>
            </a:r>
            <a:r>
              <a:rPr lang="en-US" dirty="0" err="1"/>
              <a:t>аппаратный</a:t>
            </a:r>
            <a:r>
              <a:rPr lang="ru-RU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Compare register</a:t>
            </a:r>
            <a:r>
              <a:rPr lang="ru-RU" dirty="0"/>
              <a:t> – </a:t>
            </a:r>
            <a:r>
              <a:rPr lang="en-US" dirty="0" err="1"/>
              <a:t>значение</a:t>
            </a:r>
            <a:r>
              <a:rPr lang="ru-RU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endParaRPr lang="en-US" dirty="0"/>
          </a:p>
          <a:p>
            <a:r>
              <a:rPr lang="ru-RU" dirty="0"/>
              <a:t>Действия при срабатывания таймера</a:t>
            </a:r>
          </a:p>
          <a:p>
            <a:pPr lvl="1"/>
            <a:r>
              <a:rPr lang="ru-RU" dirty="0"/>
              <a:t>Установка флага</a:t>
            </a:r>
          </a:p>
          <a:p>
            <a:pPr lvl="1"/>
            <a:r>
              <a:rPr lang="ru-RU" dirty="0"/>
              <a:t>Изменение состояние вывода</a:t>
            </a:r>
          </a:p>
          <a:p>
            <a:pPr lvl="1"/>
            <a:r>
              <a:rPr lang="ru-RU" dirty="0"/>
              <a:t>Генерирование прерывания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027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68D07-B83C-C0A1-89F0-A3B60F24C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Прерывания</a:t>
            </a:r>
            <a:r>
              <a:rPr lang="en-US" dirty="0"/>
              <a:t> (Interrupts)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A187D-8275-B459-FDB7-551F70A49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Прерывание </a:t>
            </a:r>
            <a:r>
              <a:rPr lang="en-US" dirty="0"/>
              <a:t>—</a:t>
            </a:r>
            <a:r>
              <a:rPr lang="ru-RU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асинхронного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Источники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endParaRPr lang="en-US" dirty="0"/>
          </a:p>
          <a:p>
            <a:pPr lvl="1"/>
            <a:r>
              <a:rPr lang="en-US" dirty="0" err="1"/>
              <a:t>таймеры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GPIO </a:t>
            </a:r>
          </a:p>
          <a:p>
            <a:pPr lvl="1"/>
            <a:r>
              <a:rPr lang="en-US" dirty="0"/>
              <a:t>UART </a:t>
            </a:r>
          </a:p>
          <a:p>
            <a:pPr lvl="1"/>
            <a:r>
              <a:rPr lang="en-US" dirty="0"/>
              <a:t>ADC </a:t>
            </a:r>
          </a:p>
          <a:p>
            <a:pPr lvl="1"/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ru-RU" dirty="0"/>
              <a:t>прерывания</a:t>
            </a:r>
            <a:endParaRPr lang="en-US" dirty="0"/>
          </a:p>
          <a:p>
            <a:pPr lvl="1"/>
            <a:r>
              <a:rPr lang="en-US" dirty="0"/>
              <a:t>CPU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переходит</a:t>
            </a:r>
            <a:r>
              <a:rPr lang="en-US" dirty="0"/>
              <a:t> к ISR (interrupt service routine) 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возвращается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7937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B654E-002A-9299-C354-EE6D1C989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Polling vs 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862D9-43A7-6C63-F6FB-D466A5364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Polling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while (!(TIFR0 &amp; (1 &lt;&lt; OCF0A)))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CPU </a:t>
            </a:r>
            <a:r>
              <a:rPr lang="ru-RU" dirty="0"/>
              <a:t>постоянно проверяет флаг</a:t>
            </a:r>
            <a:r>
              <a:rPr lang="en-US" dirty="0"/>
              <a:t> </a:t>
            </a:r>
            <a:r>
              <a:rPr lang="ru-RU" dirty="0"/>
              <a:t>события (</a:t>
            </a:r>
            <a:r>
              <a:rPr lang="en-US" dirty="0"/>
              <a:t>TIFR0 Timer 0 Interrupt Flag Register)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#define TIFR0 (*(volatile uint8_t*)0x35) </a:t>
            </a:r>
          </a:p>
          <a:p>
            <a:pPr lvl="1"/>
            <a:r>
              <a:rPr lang="en-US" dirty="0"/>
              <a:t>OCF0A — Output Compare Flag Timer0 A</a:t>
            </a:r>
          </a:p>
          <a:p>
            <a:pPr lvl="1"/>
            <a:r>
              <a:rPr lang="ru-RU" dirty="0"/>
              <a:t>флаг устанавливается таймером при </a:t>
            </a:r>
            <a:r>
              <a:rPr lang="en-US" dirty="0"/>
              <a:t>compare match</a:t>
            </a:r>
          </a:p>
          <a:p>
            <a:r>
              <a:rPr lang="ru-RU" dirty="0"/>
              <a:t>В случае прерываний </a:t>
            </a:r>
            <a:r>
              <a:rPr lang="en-US" dirty="0"/>
              <a:t>CPU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7026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020F-545F-68C7-F06C-BA118066C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Service Routine (ISR)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9282B-2EFE-482C-E4FB-62B7F99081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Пример</a:t>
            </a:r>
            <a:r>
              <a:rPr lang="en-US" dirty="0"/>
              <a:t> ISR</a:t>
            </a:r>
          </a:p>
          <a:p>
            <a:pPr lvl="1"/>
            <a:r>
              <a:rPr lang="en-US" dirty="0"/>
              <a:t>ISR(TIMER0_COMPA_vect) {</a:t>
            </a:r>
            <a:br>
              <a:rPr lang="en-US" dirty="0"/>
            </a:br>
            <a:r>
              <a:rPr lang="en-US" dirty="0"/>
              <a:t>    PORTB ^= (1 &lt;&lt; PB5);</a:t>
            </a:r>
            <a:br>
              <a:rPr lang="en-US" dirty="0"/>
            </a:br>
            <a:r>
              <a:rPr lang="en-US" dirty="0"/>
              <a:t>}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 ISR</a:t>
            </a:r>
          </a:p>
          <a:p>
            <a:pPr lvl="1"/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короткой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прервать</a:t>
            </a:r>
            <a:r>
              <a:rPr lang="en-US" dirty="0"/>
              <a:t> </a:t>
            </a:r>
            <a:r>
              <a:rPr lang="en-US" dirty="0" err="1"/>
              <a:t>основную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990ADC-C6B9-7251-0DDD-7C407F31A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555875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 err="1"/>
              <a:t>Макрос</a:t>
            </a:r>
            <a:r>
              <a:rPr lang="en-US" b="1" dirty="0"/>
              <a:t> ISR(...)</a:t>
            </a:r>
          </a:p>
          <a:p>
            <a:pPr lvl="1"/>
            <a:r>
              <a:rPr lang="en-US" dirty="0" err="1"/>
              <a:t>связывает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с interrupt vector </a:t>
            </a:r>
          </a:p>
          <a:p>
            <a:pPr lvl="1"/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корректный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специальную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ru-RU" dirty="0"/>
              <a:t>команд </a:t>
            </a:r>
            <a:r>
              <a:rPr lang="en-US" dirty="0" err="1"/>
              <a:t>возврата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3606BD-B60B-B791-9694-61F2735F7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900249"/>
              </p:ext>
            </p:extLst>
          </p:nvPr>
        </p:nvGraphicFramePr>
        <p:xfrm>
          <a:off x="6172200" y="4516437"/>
          <a:ext cx="584835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175">
                  <a:extLst>
                    <a:ext uri="{9D8B030D-6E8A-4147-A177-3AD203B41FA5}">
                      <a16:colId xmlns:a16="http://schemas.microsoft.com/office/drawing/2014/main" val="234980313"/>
                    </a:ext>
                  </a:extLst>
                </a:gridCol>
                <a:gridCol w="2924175">
                  <a:extLst>
                    <a:ext uri="{9D8B030D-6E8A-4147-A177-3AD203B41FA5}">
                      <a16:colId xmlns:a16="http://schemas.microsoft.com/office/drawing/2014/main" val="612482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Обычная функция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87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Вызывается программой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Вызывается аппаратурой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251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579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reti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646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Обычный поток выполнения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Асинхронное выполнение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876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67000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0FDA-E8F7-38C0-07D2-22901E64C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volatile и 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07CA-BE7E-8652-9652-8F10DAD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Проблема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while (!flag)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 err="1"/>
              <a:t>Если</a:t>
            </a:r>
            <a:r>
              <a:rPr lang="en-US" dirty="0"/>
              <a:t> flag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ISR: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volatile uint8_t flag;</a:t>
            </a:r>
          </a:p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volatile</a:t>
            </a:r>
          </a:p>
          <a:p>
            <a:pPr lvl="1"/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измениться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ru-RU" dirty="0"/>
              <a:t>или внутри прерывания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288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8EA4-2F14-E6AA-5F99-B55514BB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Таблица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B9382-CF0F-9E53-292F-142D97F047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12476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ru-RU" dirty="0"/>
              <a:t>прерывания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, </a:t>
            </a:r>
            <a:r>
              <a:rPr lang="en-US" dirty="0" err="1"/>
              <a:t>соответствующему</a:t>
            </a:r>
            <a:r>
              <a:rPr lang="en-US" dirty="0"/>
              <a:t> </a:t>
            </a:r>
            <a:r>
              <a:rPr lang="en-US" dirty="0" err="1"/>
              <a:t>источнику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.</a:t>
            </a:r>
            <a:endParaRPr lang="ru-RU" dirty="0"/>
          </a:p>
          <a:p>
            <a:r>
              <a:rPr lang="ru-RU" b="1" dirty="0"/>
              <a:t>Вектор прерываний</a:t>
            </a:r>
            <a:r>
              <a:rPr lang="ru-RU" dirty="0"/>
              <a:t> (</a:t>
            </a:r>
            <a:r>
              <a:rPr lang="en-US" dirty="0"/>
              <a:t>Interrupt vector</a:t>
            </a:r>
            <a:r>
              <a:rPr lang="ru-RU" dirty="0"/>
              <a:t>)</a:t>
            </a:r>
            <a:r>
              <a:rPr lang="en-US" dirty="0"/>
              <a:t> —</a:t>
            </a:r>
            <a:r>
              <a:rPr lang="ru-RU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точка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r>
              <a:rPr lang="ru-RU" dirty="0"/>
              <a:t>Связывание </a:t>
            </a:r>
            <a:r>
              <a:rPr lang="en-US" dirty="0"/>
              <a:t>ISR</a:t>
            </a:r>
            <a:r>
              <a:rPr lang="ru-RU" dirty="0"/>
              <a:t> с вектором прерываний</a:t>
            </a:r>
          </a:p>
          <a:p>
            <a:pPr lvl="1"/>
            <a:r>
              <a:rPr lang="en-US" dirty="0"/>
              <a:t>ISR(TIMER1_COMPA_vect) {</a:t>
            </a:r>
            <a:br>
              <a:rPr lang="en-US" dirty="0"/>
            </a:br>
            <a:r>
              <a:rPr lang="en-US" dirty="0"/>
              <a:t>//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C753D820-53E1-DD58-FBB8-DDFA4E1A96F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14543648"/>
              </p:ext>
            </p:extLst>
          </p:nvPr>
        </p:nvGraphicFramePr>
        <p:xfrm>
          <a:off x="6583680" y="1825625"/>
          <a:ext cx="540327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9702">
                  <a:extLst>
                    <a:ext uri="{9D8B030D-6E8A-4147-A177-3AD203B41FA5}">
                      <a16:colId xmlns:a16="http://schemas.microsoft.com/office/drawing/2014/main" val="1035490236"/>
                    </a:ext>
                  </a:extLst>
                </a:gridCol>
                <a:gridCol w="2593570">
                  <a:extLst>
                    <a:ext uri="{9D8B030D-6E8A-4147-A177-3AD203B41FA5}">
                      <a16:colId xmlns:a16="http://schemas.microsoft.com/office/drawing/2014/main" val="2106244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Пример </a:t>
                      </a:r>
                      <a:r>
                        <a:rPr lang="en-US" dirty="0"/>
                        <a:t>С</a:t>
                      </a:r>
                      <a:r>
                        <a:rPr lang="ru-RU" dirty="0" err="1"/>
                        <a:t>обытия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Vector 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8526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Timer1 Compare Match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TIMER1_COMPA_vect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239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Timer1 Overflow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TIMER1_OVF_vect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40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UART Receive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USART_RX_vect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508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External Interrupt INT0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INT0_vect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3239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5810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3F968-744B-3F17-06D5-238DDE84F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: </a:t>
            </a:r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таймеру</a:t>
            </a:r>
            <a:r>
              <a:rPr lang="ru-RU" dirty="0"/>
              <a:t> (начало)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7A1E51-E10F-673B-DDF8-6DEFC1E5D84B}"/>
              </a:ext>
            </a:extLst>
          </p:cNvPr>
          <p:cNvSpPr txBox="1"/>
          <p:nvPr/>
        </p:nvSpPr>
        <p:spPr>
          <a:xfrm>
            <a:off x="0" y="1529542"/>
            <a:ext cx="113538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avr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io.h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avr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interrupt.h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avr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sleep.h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TIMER1_COMPA_vect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Обработчик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вызывается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при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совпадении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TCNT1 с OCR1A.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PORTB ^=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cli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временно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запрещаем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прерывани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я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Настраиваем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PB5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как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выход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6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Arduino Uno/Nano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LED_BUILTIN.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DDRB |=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Сбрасываем регистр управления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Timer 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TCCR1A =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Режим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CTC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Clear Timer on Compare Match):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таймер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сбрасывается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совпадении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 OCR1A. 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TCCR1B =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WGM12);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TCNT1 =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395804-E104-9698-66AB-1452617A48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262596"/>
            <a:ext cx="6029055" cy="973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F7F156-8A71-BC73-0E1D-994F185FD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9473" y="3009885"/>
            <a:ext cx="6029055" cy="9566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FEAB650-B079-CED9-ED85-855E2A8964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1" y="5375587"/>
            <a:ext cx="6096000" cy="1482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9413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43C1-1686-B5EA-4A75-842FA3B5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</a:t>
            </a:r>
            <a:r>
              <a:rPr lang="en-US" dirty="0" err="1"/>
              <a:t>рерывание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таймеру</a:t>
            </a:r>
            <a:r>
              <a:rPr lang="ru-RU" dirty="0"/>
              <a:t> (окончание)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4EBE9-5C21-918A-71CE-7309CC3D9FF6}"/>
              </a:ext>
            </a:extLst>
          </p:cNvPr>
          <p:cNvSpPr txBox="1"/>
          <p:nvPr/>
        </p:nvSpPr>
        <p:spPr>
          <a:xfrm>
            <a:off x="838200" y="1779687"/>
            <a:ext cx="10896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с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которым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сравнивается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счётчик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таймера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F_CPU = 16 MHz и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prescaler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1024: 16000000 / 1024 = 15625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тиков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/с.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OCR1A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15625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счётчик принимает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значени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 диапазоне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[0; 15624]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Разрешаем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прерывание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Timer1 Compare Match A.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TIMSK1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OCIE1A);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Запускаем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Timer1 с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делителем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частоты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1024.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CS12 = 1 и CS10 = 1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задают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prescaler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1024.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TCCR1B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CS12) |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CS10);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Глобально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разрешаем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обработку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прерываний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sleep_mode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EA1F6C-1E2F-8F35-CCE1-8A4DC097D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838385"/>
            <a:ext cx="6096000" cy="1019615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0E869D6-C448-C69A-8EB0-1280A9F97D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467890"/>
              </p:ext>
            </p:extLst>
          </p:nvPr>
        </p:nvGraphicFramePr>
        <p:xfrm>
          <a:off x="7581900" y="2929324"/>
          <a:ext cx="44794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764">
                  <a:extLst>
                    <a:ext uri="{9D8B030D-6E8A-4147-A177-3AD203B41FA5}">
                      <a16:colId xmlns:a16="http://schemas.microsoft.com/office/drawing/2014/main" val="3088486684"/>
                    </a:ext>
                  </a:extLst>
                </a:gridCol>
                <a:gridCol w="801773">
                  <a:extLst>
                    <a:ext uri="{9D8B030D-6E8A-4147-A177-3AD203B41FA5}">
                      <a16:colId xmlns:a16="http://schemas.microsoft.com/office/drawing/2014/main" val="1987897287"/>
                    </a:ext>
                  </a:extLst>
                </a:gridCol>
                <a:gridCol w="784343">
                  <a:extLst>
                    <a:ext uri="{9D8B030D-6E8A-4147-A177-3AD203B41FA5}">
                      <a16:colId xmlns:a16="http://schemas.microsoft.com/office/drawing/2014/main" val="1193213743"/>
                    </a:ext>
                  </a:extLst>
                </a:gridCol>
                <a:gridCol w="2213592">
                  <a:extLst>
                    <a:ext uri="{9D8B030D-6E8A-4147-A177-3AD203B41FA5}">
                      <a16:colId xmlns:a16="http://schemas.microsoft.com/office/drawing/2014/main" val="2209717981"/>
                    </a:ext>
                  </a:extLst>
                </a:gridCol>
              </a:tblGrid>
              <a:tr h="261674">
                <a:tc>
                  <a:txBody>
                    <a:bodyPr/>
                    <a:lstStyle/>
                    <a:p>
                      <a:r>
                        <a:rPr lang="en-US" sz="1400" dirty="0"/>
                        <a:t>CS12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Частота тиков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1093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Таймер остановлен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339262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clc</a:t>
                      </a:r>
                      <a:r>
                        <a:rPr lang="en-US" sz="1400" dirty="0"/>
                        <a:t>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7594514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clc</a:t>
                      </a:r>
                      <a:r>
                        <a:rPr lang="en-US" sz="1400" dirty="0"/>
                        <a:t>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076683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clc</a:t>
                      </a:r>
                      <a:r>
                        <a:rPr lang="en-US" sz="1400" dirty="0"/>
                        <a:t>/64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53847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clc</a:t>
                      </a:r>
                      <a:r>
                        <a:rPr lang="en-US" sz="1400" dirty="0"/>
                        <a:t>/256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825533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clc</a:t>
                      </a:r>
                      <a:r>
                        <a:rPr lang="en-US" sz="1400" dirty="0"/>
                        <a:t>/1024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229128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T1 pin falling 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114866"/>
                  </a:ext>
                </a:extLst>
              </a:tr>
              <a:tr h="261674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T1 pin rising 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867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833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8374D-E8EE-F5B0-9692-4FC9774F6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 же программа в </a:t>
            </a:r>
            <a:r>
              <a:rPr lang="en-US" dirty="0"/>
              <a:t>Arduino 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242D50-FF4F-6266-5F43-EC654D1DD152}"/>
              </a:ext>
            </a:extLst>
          </p:cNvPr>
          <p:cNvSpPr txBox="1"/>
          <p:nvPr/>
        </p:nvSpPr>
        <p:spPr>
          <a:xfrm>
            <a:off x="838201" y="1690687"/>
            <a:ext cx="52578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728E0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avr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400" b="0" dirty="0" err="1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sleep.h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ISR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TIMER1_COMPA_vect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PORTB ^=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&lt;&lt; PB5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979D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cli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DDRB |=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&lt;&lt; PB5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TCCR1A = 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TCNT1 = 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TCCR1B =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&lt;&lt; WGM12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OCR1A = 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15624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TCCR1B |=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&lt;&lt; CS12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&lt;&lt; CS10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TIMSK1 |=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&lt;&lt; OCIE1A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sei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979D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sleep_mode</a:t>
            </a: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400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5204E4-92E6-D6EC-FE93-D69E2F590722}"/>
              </a:ext>
            </a:extLst>
          </p:cNvPr>
          <p:cNvSpPr txBox="1"/>
          <p:nvPr/>
        </p:nvSpPr>
        <p:spPr>
          <a:xfrm>
            <a:off x="6096001" y="2779061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Arduino IDE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генерирует следующий код:</a:t>
            </a: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init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444013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47FD6B-EB4F-0E6D-8D82-F7075944D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Заглянем внутрь полученного образа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FDE217-95AB-BF2D-D6EA-A346A1BE8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avr-objdump</a:t>
            </a:r>
            <a:r>
              <a:rPr lang="en-US" dirty="0"/>
              <a:t> –S light-</a:t>
            </a:r>
            <a:r>
              <a:rPr lang="en-US" dirty="0" err="1"/>
              <a:t>flicker.ino.elf</a:t>
            </a:r>
            <a:r>
              <a:rPr lang="en-US" dirty="0"/>
              <a:t> &gt; light-flicker.ino.asm</a:t>
            </a:r>
          </a:p>
        </p:txBody>
      </p:sp>
    </p:spTree>
    <p:extLst>
      <p:ext uri="{BB962C8B-B14F-4D97-AF65-F5344CB8AC3E}">
        <p14:creationId xmlns:p14="http://schemas.microsoft.com/office/powerpoint/2010/main" val="16599349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826FD-1C93-1020-B1D1-919B2D96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Вектор прерываний программы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B942D0-FA0B-B27E-D79B-BAA567804C51}"/>
              </a:ext>
            </a:extLst>
          </p:cNvPr>
          <p:cNvSpPr txBox="1"/>
          <p:nvPr/>
        </p:nvSpPr>
        <p:spPr>
          <a:xfrm>
            <a:off x="838200" y="1524000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00000000 &lt;__vectors&gt;: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0:	0c 94 34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0x68	; 0x68 &lt;__</a:t>
            </a:r>
            <a:r>
              <a:rPr lang="en-US" sz="1200" dirty="0" err="1">
                <a:latin typeface="Consolas" panose="020B0609020204030204" pitchFamily="49" charset="0"/>
              </a:rPr>
              <a:t>ctors_end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4: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8: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c: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10: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14: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18: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1c: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20: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24: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28: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2c:	0c 94 92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0x124	; 0x124 &lt;__vector_11&gt;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30: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34: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38: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3c: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40:	0c 94 48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0x90	; 0x90 &lt;__vector_16&gt;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44: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48: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4c: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50: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54: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58: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5c: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60: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64:	0c 94 46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0x8c	; 0x8c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6601598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24397-98AD-8F7C-B3E1-5E93B6CD4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C4847-8DBA-88C6-51FC-083ED19C2C49}"/>
              </a:ext>
            </a:extLst>
          </p:cNvPr>
          <p:cNvSpPr txBox="1"/>
          <p:nvPr/>
        </p:nvSpPr>
        <p:spPr>
          <a:xfrm>
            <a:off x="828502" y="1690688"/>
            <a:ext cx="105156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00000068 &lt;__</a:t>
            </a:r>
            <a:r>
              <a:rPr lang="en-US" sz="1200" dirty="0" err="1">
                <a:latin typeface="Consolas" panose="020B0609020204030204" pitchFamily="49" charset="0"/>
              </a:rPr>
              <a:t>ctors_end</a:t>
            </a:r>
            <a:r>
              <a:rPr lang="en-US" sz="1200" dirty="0">
                <a:latin typeface="Consolas" panose="020B0609020204030204" pitchFamily="49" charset="0"/>
              </a:rPr>
              <a:t>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68:	11 24       	</a:t>
            </a:r>
            <a:r>
              <a:rPr lang="en-US" sz="1200" dirty="0" err="1">
                <a:latin typeface="Consolas" panose="020B0609020204030204" pitchFamily="49" charset="0"/>
              </a:rPr>
              <a:t>eor</a:t>
            </a:r>
            <a:r>
              <a:rPr lang="en-US" sz="1200" dirty="0">
                <a:latin typeface="Consolas" panose="020B0609020204030204" pitchFamily="49" charset="0"/>
              </a:rPr>
              <a:t>	r1, r1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6a:	1f be       	out	0x3f, r1	; 63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6c:	</a:t>
            </a:r>
            <a:r>
              <a:rPr lang="en-US" sz="1200" dirty="0" err="1">
                <a:latin typeface="Consolas" panose="020B0609020204030204" pitchFamily="49" charset="0"/>
              </a:rPr>
              <a:t>cf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ef</a:t>
            </a:r>
            <a:r>
              <a:rPr lang="en-US" sz="1200" dirty="0">
                <a:latin typeface="Consolas" panose="020B0609020204030204" pitchFamily="49" charset="0"/>
              </a:rPr>
              <a:t>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r28, 0xFF	; 255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6e:	d8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r29, 0x08	; 8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70:	de bf       	out	0x3e, r29	; 62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72:	cd bf       	out	0x3d, r28	; 61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00000074 &lt;__</a:t>
            </a:r>
            <a:r>
              <a:rPr lang="en-US" sz="1200" dirty="0" err="1">
                <a:latin typeface="Consolas" panose="020B0609020204030204" pitchFamily="49" charset="0"/>
              </a:rPr>
              <a:t>do_clear_bss</a:t>
            </a:r>
            <a:r>
              <a:rPr lang="en-US" sz="1200" dirty="0">
                <a:latin typeface="Consolas" panose="020B0609020204030204" pitchFamily="49" charset="0"/>
              </a:rPr>
              <a:t>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74:	21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r18, 0x01	; 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76:	a0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r26, 0x00	; 0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78:	b1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r27, 0x01	; 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7a:	01 c0       	</a:t>
            </a:r>
            <a:r>
              <a:rPr lang="en-US" sz="1200" dirty="0" err="1">
                <a:latin typeface="Consolas" panose="020B0609020204030204" pitchFamily="49" charset="0"/>
              </a:rPr>
              <a:t>rjmp</a:t>
            </a:r>
            <a:r>
              <a:rPr lang="en-US" sz="1200" dirty="0">
                <a:latin typeface="Consolas" panose="020B0609020204030204" pitchFamily="49" charset="0"/>
              </a:rPr>
              <a:t>	.+2      	; 0x7e &lt;.</a:t>
            </a:r>
            <a:r>
              <a:rPr lang="en-US" sz="1200" dirty="0" err="1">
                <a:latin typeface="Consolas" panose="020B0609020204030204" pitchFamily="49" charset="0"/>
              </a:rPr>
              <a:t>do_clear_bss_start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0000007c &lt;.</a:t>
            </a:r>
            <a:r>
              <a:rPr lang="en-US" sz="1200" dirty="0" err="1">
                <a:latin typeface="Consolas" panose="020B0609020204030204" pitchFamily="49" charset="0"/>
              </a:rPr>
              <a:t>do_clear_bss_loop</a:t>
            </a:r>
            <a:r>
              <a:rPr lang="en-US" sz="1200" dirty="0">
                <a:latin typeface="Consolas" panose="020B0609020204030204" pitchFamily="49" charset="0"/>
              </a:rPr>
              <a:t>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7c:	1d 92       	st	X+, r1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0000007e &lt;.</a:t>
            </a:r>
            <a:r>
              <a:rPr lang="en-US" sz="1200" dirty="0" err="1">
                <a:latin typeface="Consolas" panose="020B0609020204030204" pitchFamily="49" charset="0"/>
              </a:rPr>
              <a:t>do_clear_bss_start</a:t>
            </a:r>
            <a:r>
              <a:rPr lang="en-US" sz="1200" dirty="0">
                <a:latin typeface="Consolas" panose="020B0609020204030204" pitchFamily="49" charset="0"/>
              </a:rPr>
              <a:t>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7e:	a9 30       	cpi	r26, 0x09	; 9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80:	b2 07       	</a:t>
            </a:r>
            <a:r>
              <a:rPr lang="en-US" sz="1200" dirty="0" err="1">
                <a:latin typeface="Consolas" panose="020B0609020204030204" pitchFamily="49" charset="0"/>
              </a:rPr>
              <a:t>cpc</a:t>
            </a:r>
            <a:r>
              <a:rPr lang="en-US" sz="1200" dirty="0">
                <a:latin typeface="Consolas" panose="020B0609020204030204" pitchFamily="49" charset="0"/>
              </a:rPr>
              <a:t>	r27, r18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82:	e1 f7       	</a:t>
            </a:r>
            <a:r>
              <a:rPr lang="en-US" sz="1200" dirty="0" err="1">
                <a:latin typeface="Consolas" panose="020B0609020204030204" pitchFamily="49" charset="0"/>
              </a:rPr>
              <a:t>brne</a:t>
            </a:r>
            <a:r>
              <a:rPr lang="en-US" sz="1200" dirty="0">
                <a:latin typeface="Consolas" panose="020B0609020204030204" pitchFamily="49" charset="0"/>
              </a:rPr>
              <a:t>	.-8      	; 0x7c &lt;.</a:t>
            </a:r>
            <a:r>
              <a:rPr lang="en-US" sz="1200" dirty="0" err="1">
                <a:latin typeface="Consolas" panose="020B0609020204030204" pitchFamily="49" charset="0"/>
              </a:rPr>
              <a:t>do_clear_bss_loop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84:	0e 94 a4 00 	call	0x148	; 0x148 &lt;main&gt;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88:	0c 94 17 01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0x22e	; 0x22e &lt;_exit&gt;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0000008c &lt;__</a:t>
            </a:r>
            <a:r>
              <a:rPr lang="en-US" sz="1200" dirty="0" err="1">
                <a:latin typeface="Consolas" panose="020B0609020204030204" pitchFamily="49" charset="0"/>
              </a:rPr>
              <a:t>bad_interrupt</a:t>
            </a:r>
            <a:r>
              <a:rPr lang="en-US" sz="1200" dirty="0">
                <a:latin typeface="Consolas" panose="020B0609020204030204" pitchFamily="49" charset="0"/>
              </a:rPr>
              <a:t>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8c:	0c 94 00 00 	</a:t>
            </a:r>
            <a:r>
              <a:rPr lang="en-US" sz="1200" dirty="0" err="1">
                <a:latin typeface="Consolas" panose="020B0609020204030204" pitchFamily="49" charset="0"/>
              </a:rPr>
              <a:t>jmp</a:t>
            </a:r>
            <a:r>
              <a:rPr lang="en-US" sz="1200" dirty="0">
                <a:latin typeface="Consolas" panose="020B0609020204030204" pitchFamily="49" charset="0"/>
              </a:rPr>
              <a:t>	0	; 0x0 &lt;__vectors&gt;</a:t>
            </a:r>
          </a:p>
        </p:txBody>
      </p:sp>
    </p:spTree>
    <p:extLst>
      <p:ext uri="{BB962C8B-B14F-4D97-AF65-F5344CB8AC3E}">
        <p14:creationId xmlns:p14="http://schemas.microsoft.com/office/powerpoint/2010/main" val="10055558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694C-5210-84BD-E027-E1667BFF3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Обработчик прерывания таймера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F1DFE5-CD5E-4C28-E3B0-43B1DB1FDEB3}"/>
              </a:ext>
            </a:extLst>
          </p:cNvPr>
          <p:cNvSpPr txBox="1"/>
          <p:nvPr/>
        </p:nvSpPr>
        <p:spPr>
          <a:xfrm>
            <a:off x="838199" y="1690688"/>
            <a:ext cx="10515599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ISR(TIMER1_COMPA_vect)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124:	1f 92       	push	r1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126:	0f 92       	push	r0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128:	0f b6       	in	r0, 0x3f	; 63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12a:	0f 92       	push	r0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12c:	11 24       	</a:t>
            </a:r>
            <a:r>
              <a:rPr lang="en-US" sz="1400" dirty="0" err="1">
                <a:latin typeface="Consolas" panose="020B0609020204030204" pitchFamily="49" charset="0"/>
              </a:rPr>
              <a:t>eor</a:t>
            </a:r>
            <a:r>
              <a:rPr lang="en-US" sz="1400" dirty="0">
                <a:latin typeface="Consolas" panose="020B0609020204030204" pitchFamily="49" charset="0"/>
              </a:rPr>
              <a:t>	r1, r1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12e:	8f 93       	push	r24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130:	9f 93       	push	r25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// </a:t>
            </a:r>
            <a:r>
              <a:rPr lang="en-US" sz="1400" dirty="0" err="1">
                <a:latin typeface="Consolas" panose="020B0609020204030204" pitchFamily="49" charset="0"/>
              </a:rPr>
              <a:t>Обработчик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вызывается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при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совпадении</a:t>
            </a:r>
            <a:r>
              <a:rPr lang="en-US" sz="1400" dirty="0">
                <a:latin typeface="Consolas" panose="020B0609020204030204" pitchFamily="49" charset="0"/>
              </a:rPr>
              <a:t> TCNT1 с OCR1A.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// </a:t>
            </a:r>
            <a:r>
              <a:rPr lang="en-US" sz="1400" dirty="0" err="1">
                <a:latin typeface="Consolas" panose="020B0609020204030204" pitchFamily="49" charset="0"/>
              </a:rPr>
              <a:t>Переключаем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состояние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вывода</a:t>
            </a:r>
            <a:r>
              <a:rPr lang="en-US" sz="1400" dirty="0">
                <a:latin typeface="Consolas" panose="020B0609020204030204" pitchFamily="49" charset="0"/>
              </a:rPr>
              <a:t> PB5.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PORTB ^= (1 &lt;&lt; PB5);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132:	85 b1       	in	r24, 0x05	; 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134:	90 e2       	</a:t>
            </a:r>
            <a:r>
              <a:rPr lang="en-US" sz="1400" dirty="0" err="1">
                <a:latin typeface="Consolas" panose="020B0609020204030204" pitchFamily="49" charset="0"/>
              </a:rPr>
              <a:t>ldi</a:t>
            </a:r>
            <a:r>
              <a:rPr lang="en-US" sz="1400" dirty="0">
                <a:latin typeface="Consolas" panose="020B0609020204030204" pitchFamily="49" charset="0"/>
              </a:rPr>
              <a:t>	r25, 0x20	; 32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136:	89 27       	</a:t>
            </a:r>
            <a:r>
              <a:rPr lang="en-US" sz="1400" dirty="0" err="1">
                <a:latin typeface="Consolas" panose="020B0609020204030204" pitchFamily="49" charset="0"/>
              </a:rPr>
              <a:t>eor</a:t>
            </a:r>
            <a:r>
              <a:rPr lang="en-US" sz="1400" dirty="0">
                <a:latin typeface="Consolas" panose="020B0609020204030204" pitchFamily="49" charset="0"/>
              </a:rPr>
              <a:t>	r24, r25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138:	85 b9       	out	0x05, r24	; 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13a:	9f 91       	pop	r25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13c:	8f 91       	pop	r24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13e:	0f 90       	pop	r0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140:	0f be       	out	0x3f, r0	; 63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142:	0f 90       	pop	r0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144:	1f 90       	pop	r1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146:	18 95       	</a:t>
            </a:r>
            <a:r>
              <a:rPr lang="en-US" sz="1400" dirty="0" err="1">
                <a:latin typeface="Consolas" panose="020B0609020204030204" pitchFamily="49" charset="0"/>
              </a:rPr>
              <a:t>reti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3474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21860-692E-CDD7-4387-0C93DDE5A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Код функции </a:t>
            </a:r>
            <a:r>
              <a:rPr lang="en-US" dirty="0"/>
              <a:t>setup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F9C9B-8D35-6BAC-B674-B59D9B308CFC}"/>
              </a:ext>
            </a:extLst>
          </p:cNvPr>
          <p:cNvSpPr txBox="1"/>
          <p:nvPr/>
        </p:nvSpPr>
        <p:spPr>
          <a:xfrm>
            <a:off x="838200" y="1690689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void setup()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cli();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1ce:	f8 94       	cli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DDRB |= (1 &lt;&lt; PB5);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1d0:	25 9a       	</a:t>
            </a:r>
            <a:r>
              <a:rPr lang="en-US" sz="1200" dirty="0" err="1">
                <a:latin typeface="Consolas" panose="020B0609020204030204" pitchFamily="49" charset="0"/>
              </a:rPr>
              <a:t>sbi</a:t>
            </a:r>
            <a:r>
              <a:rPr lang="en-US" sz="1200" dirty="0">
                <a:latin typeface="Consolas" panose="020B0609020204030204" pitchFamily="49" charset="0"/>
              </a:rPr>
              <a:t>	0x04, 5	; 4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TCCR1A = 0;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1d2:	10 92 80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0x0080, r1	; 0x800080 &lt;__DATA_REGION_ORIGIN__+0x20&gt;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TCNT1 = 0;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1d6:	10 92 85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0x0085, r1	; 0x800085 &lt;__DATA_REGION_ORIGIN__+0x25&gt;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1da:	10 92 84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0x0084, r1	; 0x800084 &lt;__DATA_REGION_ORIGIN__+0x24&gt;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TCCR1B = (1 &lt;&lt; WGM12);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1de:	88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r24, 0x08	; 8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1e0:	80 93 81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0x0081, r24	; 0x800081 &lt;__DATA_REGION_ORIGIN__+0x21&gt;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OCR1A = 15624;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1e4:	88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r24, 0x08	; 8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1e6:	9d e3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r25, 0x3D	; 61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1e8:	90 93 89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0x0089, r25	; 0x800089 &lt;__DATA_REGION_ORIGIN__+0x29&gt;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1ec:	80 93 88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0x0088, r24	; 0x800088 &lt;__DATA_REGION_ORIGIN__+0x28&gt;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TCCR1B |= (1 &lt;&lt; CS12) | (1 &lt;&lt; CS10);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1f0:	80 91 81 00 	</a:t>
            </a:r>
            <a:r>
              <a:rPr lang="en-US" sz="1200" dirty="0" err="1">
                <a:latin typeface="Consolas" panose="020B0609020204030204" pitchFamily="49" charset="0"/>
              </a:rPr>
              <a:t>lds</a:t>
            </a:r>
            <a:r>
              <a:rPr lang="en-US" sz="1200" dirty="0">
                <a:latin typeface="Consolas" panose="020B0609020204030204" pitchFamily="49" charset="0"/>
              </a:rPr>
              <a:t>	r24, 0x0081	; 0x800081 &lt;__DATA_REGION_ORIGIN__+0x21&gt;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1f4:	85 60       	</a:t>
            </a:r>
            <a:r>
              <a:rPr lang="en-US" sz="1200" dirty="0" err="1">
                <a:latin typeface="Consolas" panose="020B0609020204030204" pitchFamily="49" charset="0"/>
              </a:rPr>
              <a:t>ori</a:t>
            </a:r>
            <a:r>
              <a:rPr lang="en-US" sz="1200" dirty="0">
                <a:latin typeface="Consolas" panose="020B0609020204030204" pitchFamily="49" charset="0"/>
              </a:rPr>
              <a:t>	r24, 0x05	; 5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1f6:	80 93 81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0x0081, r24	; 0x800081 &lt;__DATA_REGION_ORIGIN__+0x21&gt;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TIMSK1 |= (1 &lt;&lt; OCIE1A);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1fa:	80 91 6f 00 	</a:t>
            </a:r>
            <a:r>
              <a:rPr lang="en-US" sz="1200" dirty="0" err="1">
                <a:latin typeface="Consolas" panose="020B0609020204030204" pitchFamily="49" charset="0"/>
              </a:rPr>
              <a:t>lds</a:t>
            </a:r>
            <a:r>
              <a:rPr lang="en-US" sz="1200" dirty="0">
                <a:latin typeface="Consolas" panose="020B0609020204030204" pitchFamily="49" charset="0"/>
              </a:rPr>
              <a:t>	r24, 0x006F	; 0x80006f &lt;__DATA_REGION_ORIGIN__+0xf&gt;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1fe:	82 60       	</a:t>
            </a:r>
            <a:r>
              <a:rPr lang="en-US" sz="1200" dirty="0" err="1">
                <a:latin typeface="Consolas" panose="020B0609020204030204" pitchFamily="49" charset="0"/>
              </a:rPr>
              <a:t>ori</a:t>
            </a:r>
            <a:r>
              <a:rPr lang="en-US" sz="1200" dirty="0">
                <a:latin typeface="Consolas" panose="020B0609020204030204" pitchFamily="49" charset="0"/>
              </a:rPr>
              <a:t>	r24, 0x02	; 2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200:	80 93 6f 00 	</a:t>
            </a:r>
            <a:r>
              <a:rPr lang="en-US" sz="1200" dirty="0" err="1">
                <a:latin typeface="Consolas" panose="020B0609020204030204" pitchFamily="49" charset="0"/>
              </a:rPr>
              <a:t>sts</a:t>
            </a:r>
            <a:r>
              <a:rPr lang="en-US" sz="1200" dirty="0">
                <a:latin typeface="Consolas" panose="020B0609020204030204" pitchFamily="49" charset="0"/>
              </a:rPr>
              <a:t>	0x006F, r24	; 0x80006f &lt;__DATA_REGION_ORIGIN__+0xf&gt;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sei();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204:	78 94       	sei</a:t>
            </a:r>
          </a:p>
        </p:txBody>
      </p:sp>
    </p:spTree>
    <p:extLst>
      <p:ext uri="{BB962C8B-B14F-4D97-AF65-F5344CB8AC3E}">
        <p14:creationId xmlns:p14="http://schemas.microsoft.com/office/powerpoint/2010/main" val="3553098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64E2F-B765-0B67-0C79-60258B8F9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Главный цикл программы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A4DFB-3DF9-8D47-AC4B-2E05AE87DB7E}"/>
              </a:ext>
            </a:extLst>
          </p:cNvPr>
          <p:cNvSpPr txBox="1"/>
          <p:nvPr/>
        </p:nvSpPr>
        <p:spPr>
          <a:xfrm>
            <a:off x="838200" y="1690688"/>
            <a:ext cx="105156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	for (;;)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		loop();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		if (</a:t>
            </a:r>
            <a:r>
              <a:rPr lang="en-US" sz="1200" dirty="0" err="1">
                <a:latin typeface="Consolas" panose="020B0609020204030204" pitchFamily="49" charset="0"/>
              </a:rPr>
              <a:t>serialEventRun</a:t>
            </a:r>
            <a:r>
              <a:rPr lang="en-US" sz="1200" dirty="0">
                <a:latin typeface="Consolas" panose="020B0609020204030204" pitchFamily="49" charset="0"/>
              </a:rPr>
              <a:t>) </a:t>
            </a:r>
            <a:r>
              <a:rPr lang="en-US" sz="1200" dirty="0" err="1">
                <a:latin typeface="Consolas" panose="020B0609020204030204" pitchFamily="49" charset="0"/>
              </a:rPr>
              <a:t>serialEventRun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206:	c0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r28, 0x00	; 0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208:	d0 e0       	</a:t>
            </a:r>
            <a:r>
              <a:rPr lang="en-US" sz="1200" dirty="0" err="1">
                <a:latin typeface="Consolas" panose="020B0609020204030204" pitchFamily="49" charset="0"/>
              </a:rPr>
              <a:t>ldi</a:t>
            </a:r>
            <a:r>
              <a:rPr lang="en-US" sz="1200" dirty="0">
                <a:latin typeface="Consolas" panose="020B0609020204030204" pitchFamily="49" charset="0"/>
              </a:rPr>
              <a:t>	r29, 0x00	; 0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}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void loop()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// put your main code here, to run repeatedly: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dirty="0" err="1">
                <a:latin typeface="Consolas" panose="020B0609020204030204" pitchFamily="49" charset="0"/>
              </a:rPr>
              <a:t>sleep_mode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20a:	83 b7       	in	r24, 0x33	; 51</a:t>
            </a:r>
            <a:r>
              <a:rPr lang="ru-RU" sz="1200" dirty="0">
                <a:latin typeface="Consolas" panose="020B0609020204030204" pitchFamily="49" charset="0"/>
              </a:rPr>
              <a:t> Обращение к </a:t>
            </a:r>
            <a:r>
              <a:rPr lang="en-US" sz="1200" dirty="0"/>
              <a:t>Sleep Mode Control Register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 20c:	81 60       	</a:t>
            </a:r>
            <a:r>
              <a:rPr lang="en-US" sz="1200" dirty="0" err="1">
                <a:latin typeface="Consolas" panose="020B0609020204030204" pitchFamily="49" charset="0"/>
              </a:rPr>
              <a:t>ori</a:t>
            </a:r>
            <a:r>
              <a:rPr lang="en-US" sz="1200" dirty="0">
                <a:latin typeface="Consolas" panose="020B0609020204030204" pitchFamily="49" charset="0"/>
              </a:rPr>
              <a:t>	r24, 0x01	; 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20e:	83 bf       	out	0x33, r24	; 51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210:	88 95       	sleep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212:	83 b7       	in	r24, 0x33	; 51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214:	8e 7f       	</a:t>
            </a:r>
            <a:r>
              <a:rPr lang="en-US" sz="1200" dirty="0" err="1">
                <a:latin typeface="Consolas" panose="020B0609020204030204" pitchFamily="49" charset="0"/>
              </a:rPr>
              <a:t>andi</a:t>
            </a:r>
            <a:r>
              <a:rPr lang="en-US" sz="1200" dirty="0">
                <a:latin typeface="Consolas" panose="020B0609020204030204" pitchFamily="49" charset="0"/>
              </a:rPr>
              <a:t>	r24, 0xFE	; 254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216:	83 bf       	out	0x33, r24	; 51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218:	20 97       	</a:t>
            </a:r>
            <a:r>
              <a:rPr lang="en-US" sz="1200" dirty="0" err="1">
                <a:latin typeface="Consolas" panose="020B0609020204030204" pitchFamily="49" charset="0"/>
              </a:rPr>
              <a:t>sbiw</a:t>
            </a:r>
            <a:r>
              <a:rPr lang="en-US" sz="1200" dirty="0">
                <a:latin typeface="Consolas" panose="020B0609020204030204" pitchFamily="49" charset="0"/>
              </a:rPr>
              <a:t>	r28, 0x00	; 0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21a:	b9 f3       	</a:t>
            </a:r>
            <a:r>
              <a:rPr lang="en-US" sz="1200" dirty="0" err="1">
                <a:latin typeface="Consolas" panose="020B0609020204030204" pitchFamily="49" charset="0"/>
              </a:rPr>
              <a:t>breq</a:t>
            </a:r>
            <a:r>
              <a:rPr lang="en-US" sz="1200" dirty="0">
                <a:latin typeface="Consolas" panose="020B0609020204030204" pitchFamily="49" charset="0"/>
              </a:rPr>
              <a:t>	.-18     	; 0x20a &lt;main+0xc2&gt;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21c:	0e 94 00 00 	call	0	; 0x0 &lt;__vectors&gt;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220:	f4 </a:t>
            </a:r>
            <a:r>
              <a:rPr lang="en-US" sz="1200" dirty="0" err="1">
                <a:latin typeface="Consolas" panose="020B0609020204030204" pitchFamily="49" charset="0"/>
              </a:rPr>
              <a:t>cf</a:t>
            </a:r>
            <a:r>
              <a:rPr lang="en-US" sz="1200" dirty="0">
                <a:latin typeface="Consolas" panose="020B0609020204030204" pitchFamily="49" charset="0"/>
              </a:rPr>
              <a:t>       	</a:t>
            </a:r>
            <a:r>
              <a:rPr lang="en-US" sz="1200" dirty="0" err="1">
                <a:latin typeface="Consolas" panose="020B0609020204030204" pitchFamily="49" charset="0"/>
              </a:rPr>
              <a:t>rjmp</a:t>
            </a:r>
            <a:r>
              <a:rPr lang="en-US" sz="1200" dirty="0">
                <a:latin typeface="Consolas" panose="020B0609020204030204" pitchFamily="49" charset="0"/>
              </a:rPr>
              <a:t>	.-24     	; 0x20a &lt;main+0xc2&gt;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00000222 &lt;_exit&gt;: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222:	f8 94       	cli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00000224 &lt;__</a:t>
            </a:r>
            <a:r>
              <a:rPr lang="en-US" sz="1200" dirty="0" err="1">
                <a:latin typeface="Consolas" panose="020B0609020204030204" pitchFamily="49" charset="0"/>
              </a:rPr>
              <a:t>stop_program</a:t>
            </a:r>
            <a:r>
              <a:rPr lang="en-US" sz="1200" dirty="0">
                <a:latin typeface="Consolas" panose="020B0609020204030204" pitchFamily="49" charset="0"/>
              </a:rPr>
              <a:t>&gt;: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224:	ff </a:t>
            </a:r>
            <a:r>
              <a:rPr lang="en-US" sz="1200" dirty="0" err="1">
                <a:latin typeface="Consolas" panose="020B0609020204030204" pitchFamily="49" charset="0"/>
              </a:rPr>
              <a:t>cf</a:t>
            </a:r>
            <a:r>
              <a:rPr lang="en-US" sz="1200" dirty="0">
                <a:latin typeface="Consolas" panose="020B0609020204030204" pitchFamily="49" charset="0"/>
              </a:rPr>
              <a:t>       	</a:t>
            </a:r>
            <a:r>
              <a:rPr lang="en-US" sz="1200" dirty="0" err="1">
                <a:latin typeface="Consolas" panose="020B0609020204030204" pitchFamily="49" charset="0"/>
              </a:rPr>
              <a:t>rjmp</a:t>
            </a:r>
            <a:r>
              <a:rPr lang="en-US" sz="1200" dirty="0">
                <a:latin typeface="Consolas" panose="020B0609020204030204" pitchFamily="49" charset="0"/>
              </a:rPr>
              <a:t>	.-2      	; 0x224 &lt;__</a:t>
            </a:r>
            <a:r>
              <a:rPr lang="en-US" sz="1200" dirty="0" err="1">
                <a:latin typeface="Consolas" panose="020B0609020204030204" pitchFamily="49" charset="0"/>
              </a:rPr>
              <a:t>stop_program</a:t>
            </a:r>
            <a:r>
              <a:rPr lang="en-US" sz="1200" dirty="0"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838212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2E838-34F1-C60D-F8CA-3696B023B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примера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19289-53F3-CA9F-3334-6F6C7F9565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Embedded-</a:t>
            </a:r>
            <a:r>
              <a:rPr lang="en-US" dirty="0" err="1"/>
              <a:t>программа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interrupts и </a:t>
            </a:r>
            <a:r>
              <a:rPr lang="en-US" dirty="0" err="1"/>
              <a:t>периферия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memory-mapped I/O </a:t>
            </a:r>
          </a:p>
          <a:p>
            <a:pPr lvl="1"/>
            <a:r>
              <a:rPr lang="en-US" dirty="0" err="1"/>
              <a:t>взаимодействие</a:t>
            </a:r>
            <a:r>
              <a:rPr lang="en-US" dirty="0"/>
              <a:t> software и hardware 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увидели</a:t>
            </a:r>
            <a:endParaRPr lang="en-US" dirty="0"/>
          </a:p>
          <a:p>
            <a:pPr lvl="1"/>
            <a:r>
              <a:rPr lang="en-US" dirty="0"/>
              <a:t>startup code и </a:t>
            </a:r>
            <a:r>
              <a:rPr lang="en-US" dirty="0" err="1"/>
              <a:t>инициализацию</a:t>
            </a:r>
            <a:r>
              <a:rPr lang="en-US" dirty="0"/>
              <a:t> runtime </a:t>
            </a:r>
          </a:p>
          <a:p>
            <a:pPr lvl="1"/>
            <a:r>
              <a:rPr lang="en-US" dirty="0" err="1"/>
              <a:t>таблицу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работу</a:t>
            </a:r>
            <a:r>
              <a:rPr lang="en-US" dirty="0"/>
              <a:t> ISR </a:t>
            </a:r>
          </a:p>
          <a:p>
            <a:pPr lvl="1"/>
            <a:r>
              <a:rPr lang="en-US" dirty="0" err="1"/>
              <a:t>настройку</a:t>
            </a:r>
            <a:r>
              <a:rPr lang="en-US" dirty="0"/>
              <a:t> timer peripheral </a:t>
            </a:r>
          </a:p>
          <a:p>
            <a:pPr lvl="1"/>
            <a:r>
              <a:rPr lang="en-US" dirty="0"/>
              <a:t>sleep mode </a:t>
            </a:r>
          </a:p>
          <a:p>
            <a:pPr lvl="1"/>
            <a:r>
              <a:rPr lang="en-US" dirty="0" err="1"/>
              <a:t>работу</a:t>
            </a:r>
            <a:r>
              <a:rPr lang="en-US" dirty="0"/>
              <a:t> compiler-generated machine code 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D5981C-0201-9834-C94E-6316414829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Важные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endParaRPr lang="en-US" dirty="0"/>
          </a:p>
          <a:p>
            <a:pPr lvl="1"/>
            <a:r>
              <a:rPr lang="en-US" dirty="0"/>
              <a:t>volatile </a:t>
            </a:r>
            <a:r>
              <a:rPr lang="en-US" dirty="0" err="1"/>
              <a:t>критически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peripheral registers </a:t>
            </a:r>
          </a:p>
          <a:p>
            <a:pPr lvl="1"/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в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C-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управляют</a:t>
            </a:r>
            <a:r>
              <a:rPr lang="en-US" dirty="0"/>
              <a:t> </a:t>
            </a:r>
            <a:r>
              <a:rPr lang="en-US" dirty="0" err="1"/>
              <a:t>выполнением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r>
              <a:rPr lang="en-US" dirty="0" err="1"/>
              <a:t>Архитектура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  <a:p>
            <a:pPr lvl="1"/>
            <a:r>
              <a:rPr lang="en-US" dirty="0"/>
              <a:t>Timer interrupt → ISR → GPIO toggle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большую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sleep mode.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685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3161F-664F-2BB6-C03C-E72D6AEF4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396EC-23A6-D0E4-617E-822A8102C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Interrupt latency —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возникновением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и </a:t>
            </a:r>
            <a:r>
              <a:rPr lang="en-US" dirty="0" err="1"/>
              <a:t>началом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ISR.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должен</a:t>
            </a:r>
            <a:r>
              <a:rPr lang="ru-RU" dirty="0"/>
              <a:t> </a:t>
            </a:r>
            <a:r>
              <a:rPr lang="en-US" dirty="0" err="1"/>
              <a:t>завершить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ru-RU" dirty="0"/>
              <a:t> </a:t>
            </a:r>
            <a:r>
              <a:rPr lang="en-US" dirty="0"/>
              <a:t>→</a:t>
            </a:r>
            <a:r>
              <a:rPr lang="ru-RU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→</a:t>
            </a:r>
            <a:r>
              <a:rPr lang="ru-RU" dirty="0"/>
              <a:t> </a:t>
            </a:r>
            <a:r>
              <a:rPr lang="en-US" dirty="0" err="1"/>
              <a:t>перейти</a:t>
            </a:r>
            <a:r>
              <a:rPr lang="en-US" dirty="0"/>
              <a:t> к interrupt vector</a:t>
            </a:r>
            <a:r>
              <a:rPr lang="ru-RU" dirty="0"/>
              <a:t> </a:t>
            </a:r>
            <a:r>
              <a:rPr lang="en-US" dirty="0"/>
              <a:t>→</a:t>
            </a:r>
            <a:r>
              <a:rPr lang="ru-RU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пролог</a:t>
            </a:r>
            <a:r>
              <a:rPr lang="en-US" dirty="0"/>
              <a:t> ISR</a:t>
            </a:r>
          </a:p>
          <a:p>
            <a:r>
              <a:rPr lang="en-US" dirty="0"/>
              <a:t>Latency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endParaRPr lang="en-US" dirty="0"/>
          </a:p>
          <a:p>
            <a:pPr lvl="1"/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CPU, </a:t>
            </a:r>
            <a:r>
              <a:rPr lang="en-US" dirty="0" err="1"/>
              <a:t>состояния</a:t>
            </a:r>
            <a:r>
              <a:rPr lang="ru-RU" dirty="0"/>
              <a:t> прерываний, </a:t>
            </a:r>
            <a:r>
              <a:rPr lang="en-US" dirty="0" err="1"/>
              <a:t>длины</a:t>
            </a:r>
            <a:r>
              <a:rPr lang="en-US" dirty="0"/>
              <a:t> ISR</a:t>
            </a:r>
          </a:p>
          <a:p>
            <a:pPr lvl="1"/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endParaRPr lang="en-US" dirty="0"/>
          </a:p>
          <a:p>
            <a:r>
              <a:rPr lang="en-US" dirty="0" err="1"/>
              <a:t>Большая</a:t>
            </a:r>
            <a:r>
              <a:rPr lang="en-US" dirty="0"/>
              <a:t> latency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</a:t>
            </a:r>
            <a:endParaRPr lang="ru-RU" dirty="0"/>
          </a:p>
          <a:p>
            <a:pPr lvl="1"/>
            <a:r>
              <a:rPr lang="en-US" dirty="0" err="1"/>
              <a:t>потере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ru-RU" dirty="0"/>
              <a:t>, </a:t>
            </a:r>
            <a:r>
              <a:rPr lang="en-US" dirty="0"/>
              <a:t>jitter</a:t>
            </a:r>
            <a:r>
              <a:rPr lang="ru-RU" dirty="0"/>
              <a:t>, </a:t>
            </a:r>
            <a:r>
              <a:rPr lang="en-US" dirty="0" err="1"/>
              <a:t>нарушению</a:t>
            </a:r>
            <a:r>
              <a:rPr lang="en-US" dirty="0"/>
              <a:t> timing constraints</a:t>
            </a:r>
            <a:r>
              <a:rPr lang="ru-RU" dirty="0"/>
              <a:t>, </a:t>
            </a:r>
            <a:r>
              <a:rPr lang="en-US" dirty="0" err="1"/>
              <a:t>нестабильной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real-time </a:t>
            </a:r>
            <a:r>
              <a:rPr lang="en-US" dirty="0" err="1"/>
              <a:t>систем</a:t>
            </a:r>
            <a:endParaRPr lang="ru-RU" dirty="0"/>
          </a:p>
          <a:p>
            <a:r>
              <a:rPr lang="en-US" dirty="0"/>
              <a:t>ISR </a:t>
            </a:r>
            <a:r>
              <a:rPr lang="ru-RU" dirty="0"/>
              <a:t>должна быть короткой и предсказуемой по времени выполнения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13706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13BE4-36DC-43FF-966A-BA562D226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nesting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16CF-FB9B-C673-7D85-3FC720EB2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Interrupt nesting — </a:t>
            </a:r>
            <a:r>
              <a:rPr lang="en-US" dirty="0" err="1"/>
              <a:t>ситуация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ISR </a:t>
            </a:r>
            <a:r>
              <a:rPr lang="en-US" dirty="0" err="1"/>
              <a:t>прерывается</a:t>
            </a:r>
            <a:r>
              <a:rPr lang="en-US" dirty="0"/>
              <a:t> </a:t>
            </a:r>
            <a:r>
              <a:rPr lang="en-US" dirty="0" err="1"/>
              <a:t>другим</a:t>
            </a:r>
            <a:r>
              <a:rPr lang="en-US" dirty="0"/>
              <a:t> interrupt</a:t>
            </a:r>
          </a:p>
          <a:p>
            <a:r>
              <a:rPr lang="ru-RU" dirty="0"/>
              <a:t>На </a:t>
            </a:r>
            <a:r>
              <a:rPr lang="en-US" dirty="0"/>
              <a:t>AVR </a:t>
            </a:r>
            <a:r>
              <a:rPr lang="ru-RU" dirty="0"/>
              <a:t>умолчанию во время обработки прерывания </a:t>
            </a:r>
            <a:r>
              <a:rPr lang="ru-RU" dirty="0" err="1"/>
              <a:t>прерывания</a:t>
            </a:r>
            <a:r>
              <a:rPr lang="ru-RU" dirty="0"/>
              <a:t> запрещаются и другие прерыванию ждут завершения </a:t>
            </a:r>
            <a:r>
              <a:rPr lang="en-US" dirty="0"/>
              <a:t>ISR</a:t>
            </a:r>
          </a:p>
          <a:p>
            <a:r>
              <a:rPr lang="ru-RU" dirty="0"/>
              <a:t>Инструкция </a:t>
            </a:r>
            <a:r>
              <a:rPr lang="en-US" dirty="0"/>
              <a:t>RETI</a:t>
            </a:r>
            <a:r>
              <a:rPr lang="ru-RU" dirty="0"/>
              <a:t> возвращает управление и разрешает прерывания</a:t>
            </a:r>
          </a:p>
          <a:p>
            <a:r>
              <a:rPr lang="ru-RU" dirty="0"/>
              <a:t>Длинная </a:t>
            </a:r>
            <a:r>
              <a:rPr lang="en-US" dirty="0"/>
              <a:t>ISR</a:t>
            </a:r>
            <a:r>
              <a:rPr lang="ru-RU" dirty="0"/>
              <a:t> задерживает обработку других прерываний</a:t>
            </a:r>
          </a:p>
          <a:p>
            <a:r>
              <a:rPr lang="ru-RU" dirty="0"/>
              <a:t>Вложенные прерывания возможны, если внутри </a:t>
            </a:r>
            <a:r>
              <a:rPr lang="en-US" dirty="0"/>
              <a:t>ISR</a:t>
            </a:r>
            <a:r>
              <a:rPr lang="ru-RU" dirty="0"/>
              <a:t> выполнить инструкцию </a:t>
            </a:r>
            <a:r>
              <a:rPr lang="en-US" dirty="0"/>
              <a:t>SEI</a:t>
            </a:r>
          </a:p>
        </p:txBody>
      </p:sp>
    </p:spTree>
    <p:extLst>
      <p:ext uri="{BB962C8B-B14F-4D97-AF65-F5344CB8AC3E}">
        <p14:creationId xmlns:p14="http://schemas.microsoft.com/office/powerpoint/2010/main" val="10400168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98D7F-6F92-648F-F497-E812FC8C4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Состояние гонки (</a:t>
            </a:r>
            <a:r>
              <a:rPr lang="en-US" dirty="0"/>
              <a:t>Race Condition)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45372-630C-ADE9-A397-61C8EE442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96150" cy="4351338"/>
          </a:xfrm>
        </p:spPr>
        <p:txBody>
          <a:bodyPr>
            <a:normAutofit/>
          </a:bodyPr>
          <a:lstStyle/>
          <a:p>
            <a:r>
              <a:rPr lang="en-US" dirty="0"/>
              <a:t>Race condition — </a:t>
            </a:r>
            <a:r>
              <a:rPr lang="en-US" dirty="0" err="1"/>
              <a:t>ситуация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взаимного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endParaRPr lang="en-US" dirty="0"/>
          </a:p>
          <a:p>
            <a:pPr lvl="1"/>
            <a:r>
              <a:rPr lang="ru-RU" dirty="0"/>
              <a:t>Чтение и запись 16-битного значения на 8-битном процессоре – не атомарная операция</a:t>
            </a:r>
          </a:p>
          <a:p>
            <a:pPr lvl="2"/>
            <a:r>
              <a:rPr lang="en-US" dirty="0"/>
              <a:t>loop: read low byte</a:t>
            </a:r>
            <a:br>
              <a:rPr lang="en-US" dirty="0"/>
            </a:br>
            <a:r>
              <a:rPr lang="en-US" dirty="0"/>
              <a:t>ISR: </a:t>
            </a:r>
            <a:r>
              <a:rPr lang="ru-RU" dirty="0"/>
              <a:t>++</a:t>
            </a:r>
            <a:r>
              <a:rPr lang="en-US" dirty="0"/>
              <a:t>counter</a:t>
            </a:r>
            <a:br>
              <a:rPr lang="en-US" dirty="0"/>
            </a:br>
            <a:r>
              <a:rPr lang="en-US" dirty="0"/>
              <a:t>loop: read high byte</a:t>
            </a:r>
            <a:endParaRPr lang="ru-RU" dirty="0"/>
          </a:p>
          <a:p>
            <a:r>
              <a:rPr lang="en-US" b="1" dirty="0"/>
              <a:t>volatile</a:t>
            </a:r>
            <a:r>
              <a:rPr lang="en-US" dirty="0"/>
              <a:t> </a:t>
            </a:r>
            <a:r>
              <a:rPr lang="ru-RU" dirty="0"/>
              <a:t>запрещает оптимизации, но не делает операции атомарными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E7BE74-3F90-788E-42CC-B56F94FF177F}"/>
              </a:ext>
            </a:extLst>
          </p:cNvPr>
          <p:cNvSpPr txBox="1"/>
          <p:nvPr/>
        </p:nvSpPr>
        <p:spPr>
          <a:xfrm>
            <a:off x="8877301" y="1242943"/>
            <a:ext cx="3314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counter;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TIMER1_COMPA_vect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++counter;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counter;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Используем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cnt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89FB56-E612-C9ED-E7ED-19C7B122FF84}"/>
              </a:ext>
            </a:extLst>
          </p:cNvPr>
          <p:cNvGrpSpPr/>
          <p:nvPr/>
        </p:nvGrpSpPr>
        <p:grpSpPr>
          <a:xfrm>
            <a:off x="8877300" y="3530620"/>
            <a:ext cx="3314700" cy="3314700"/>
            <a:chOff x="7752079" y="1735138"/>
            <a:chExt cx="4075545" cy="407554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1C1288A-759E-97AA-4A57-00B07E8551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52079" y="1735138"/>
              <a:ext cx="4075545" cy="4075545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5543ED6-DA8F-9F4F-9E41-23FBBD38FB82}"/>
                </a:ext>
              </a:extLst>
            </p:cNvPr>
            <p:cNvSpPr txBox="1"/>
            <p:nvPr/>
          </p:nvSpPr>
          <p:spPr>
            <a:xfrm>
              <a:off x="8221151" y="2077615"/>
              <a:ext cx="1987801" cy="9202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>
                  <a:latin typeface="Comic Sans MS" panose="030F0702030302020204" pitchFamily="66" charset="0"/>
                </a:rPr>
                <a:t>Помоги найти состояние гонки!</a:t>
              </a:r>
              <a:endParaRPr lang="en-US" sz="1200" dirty="0">
                <a:latin typeface="Comic Sans MS" panose="030F0702030302020204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8423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C90BE-AA20-4C5A-E734-90C6EDEC1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– запретить прерывания при доступе к 16-битной переменной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35605-C0A8-BFD2-52E9-1B52D481AEFF}"/>
              </a:ext>
            </a:extLst>
          </p:cNvPr>
          <p:cNvSpPr txBox="1"/>
          <p:nvPr/>
        </p:nvSpPr>
        <p:spPr>
          <a:xfrm>
            <a:off x="838200" y="1924049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counter;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TIMER1_COMPA_vect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counter++;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Начало критической секции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counter;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Конец критической секции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cnt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52905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F6F6F2-1514-E234-7988-14722E1D6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Инструкции </a:t>
            </a:r>
            <a:r>
              <a:rPr lang="en-US" dirty="0"/>
              <a:t>cli </a:t>
            </a:r>
            <a:r>
              <a:rPr lang="ru-RU" dirty="0"/>
              <a:t>и </a:t>
            </a:r>
            <a:r>
              <a:rPr lang="en-US" dirty="0"/>
              <a:t>sei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62AC0F-8994-C596-6592-AF2D7EE5AD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Служат для управления обработкой прерываний</a:t>
            </a:r>
            <a:endParaRPr lang="en-US" dirty="0"/>
          </a:p>
          <a:p>
            <a:pPr lvl="1"/>
            <a:r>
              <a:rPr lang="ru-RU" dirty="0"/>
              <a:t>Инструкция</a:t>
            </a:r>
            <a:r>
              <a:rPr lang="en-US" dirty="0"/>
              <a:t> cli</a:t>
            </a:r>
            <a:r>
              <a:rPr lang="ru-RU" dirty="0"/>
              <a:t> запрещает реакцию на прерывания</a:t>
            </a:r>
          </a:p>
          <a:p>
            <a:pPr lvl="1"/>
            <a:r>
              <a:rPr lang="ru-RU" dirty="0"/>
              <a:t>Инструкция </a:t>
            </a:r>
            <a:r>
              <a:rPr lang="en-US" dirty="0"/>
              <a:t>sei</a:t>
            </a:r>
            <a:r>
              <a:rPr lang="ru-RU" dirty="0"/>
              <a:t> разрешает</a:t>
            </a:r>
          </a:p>
          <a:p>
            <a:r>
              <a:rPr lang="ru-RU" dirty="0"/>
              <a:t>Зачем временно запрещать прерывания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en-US" dirty="0" err="1"/>
              <a:t>защита</a:t>
            </a:r>
            <a:r>
              <a:rPr lang="en-US" dirty="0"/>
              <a:t> </a:t>
            </a:r>
            <a:r>
              <a:rPr lang="ru-RU" dirty="0"/>
              <a:t>общих данных</a:t>
            </a:r>
            <a:endParaRPr lang="en-US" dirty="0"/>
          </a:p>
          <a:p>
            <a:pPr lvl="1"/>
            <a:r>
              <a:rPr lang="ru-RU" dirty="0"/>
              <a:t>«Атомарное» выполнение операций</a:t>
            </a:r>
            <a:endParaRPr lang="en-US" dirty="0"/>
          </a:p>
          <a:p>
            <a:pPr lvl="1"/>
            <a:r>
              <a:rPr lang="ru-RU" dirty="0"/>
              <a:t>Критические секции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49D0F3-55E9-14F5-F21D-87B91AE4E2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Пока прерывания запрещены</a:t>
            </a:r>
          </a:p>
          <a:p>
            <a:pPr lvl="1"/>
            <a:r>
              <a:rPr lang="en-US" dirty="0"/>
              <a:t>ISR</a:t>
            </a:r>
            <a:r>
              <a:rPr lang="ru-RU" dirty="0"/>
              <a:t> не выполняются</a:t>
            </a:r>
          </a:p>
          <a:p>
            <a:pPr lvl="1"/>
            <a:r>
              <a:rPr lang="ru-RU" dirty="0"/>
              <a:t>Растут задержки прерываний</a:t>
            </a:r>
          </a:p>
          <a:p>
            <a:pPr lvl="1"/>
            <a:r>
              <a:rPr lang="ru-RU" dirty="0"/>
              <a:t>Возможна потеря событий</a:t>
            </a:r>
          </a:p>
          <a:p>
            <a:pPr lvl="1"/>
            <a:r>
              <a:rPr lang="ru-RU" dirty="0"/>
              <a:t>Нарушаются тайминги</a:t>
            </a:r>
          </a:p>
          <a:p>
            <a:r>
              <a:rPr lang="ru-RU" dirty="0"/>
              <a:t>Правило </a:t>
            </a:r>
            <a:r>
              <a:rPr lang="en-US" dirty="0"/>
              <a:t>embedded-</a:t>
            </a:r>
            <a:r>
              <a:rPr lang="ru-RU" dirty="0"/>
              <a:t>разработки</a:t>
            </a:r>
          </a:p>
          <a:p>
            <a:pPr lvl="1"/>
            <a:r>
              <a:rPr lang="ru-RU" dirty="0"/>
              <a:t>Прерывания должны запрещаться как можно реже и на минимальное время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2922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F47BD-395C-EC29-9250-B4769EF1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Флаги и разрешение прерываний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DBCD4-2FC4-8B96-C579-A7810BD19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1095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 err="1"/>
              <a:t>Прерывание</a:t>
            </a:r>
            <a:r>
              <a:rPr lang="en-US" dirty="0"/>
              <a:t> —</a:t>
            </a:r>
            <a:r>
              <a:rPr lang="ru-RU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аппаратное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ru-RU" dirty="0"/>
              <a:t>, а реакция на него</a:t>
            </a:r>
          </a:p>
          <a:p>
            <a:pPr lvl="1"/>
            <a:r>
              <a:rPr lang="en-US" dirty="0"/>
              <a:t>hardware event</a:t>
            </a:r>
            <a:r>
              <a:rPr lang="ru-RU" dirty="0"/>
              <a:t> </a:t>
            </a:r>
            <a:r>
              <a:rPr lang="en-US" dirty="0"/>
              <a:t>→ </a:t>
            </a:r>
            <a:r>
              <a:rPr lang="ru-RU" dirty="0"/>
              <a:t> </a:t>
            </a:r>
            <a:r>
              <a:rPr lang="en-US" dirty="0"/>
              <a:t>interrupt flag</a:t>
            </a:r>
            <a:r>
              <a:rPr lang="ru-RU" dirty="0"/>
              <a:t> </a:t>
            </a:r>
            <a:r>
              <a:rPr lang="en-US" dirty="0"/>
              <a:t>→</a:t>
            </a:r>
            <a:r>
              <a:rPr lang="ru-RU" dirty="0"/>
              <a:t> </a:t>
            </a:r>
            <a:r>
              <a:rPr lang="en-US" dirty="0"/>
              <a:t>interrupt request</a:t>
            </a:r>
            <a:r>
              <a:rPr lang="ru-RU" dirty="0"/>
              <a:t> </a:t>
            </a:r>
            <a:r>
              <a:rPr lang="en-US" dirty="0"/>
              <a:t>→</a:t>
            </a:r>
            <a:r>
              <a:rPr lang="ru-RU" dirty="0"/>
              <a:t> </a:t>
            </a:r>
            <a:r>
              <a:rPr lang="en-US" dirty="0"/>
              <a:t>global interrupts enabled?</a:t>
            </a:r>
            <a:r>
              <a:rPr lang="ru-RU" dirty="0"/>
              <a:t> </a:t>
            </a:r>
            <a:r>
              <a:rPr lang="en-US" dirty="0"/>
              <a:t>→ ISR</a:t>
            </a:r>
            <a:endParaRPr lang="ru-RU" dirty="0"/>
          </a:p>
          <a:p>
            <a:r>
              <a:rPr lang="ru-RU" dirty="0"/>
              <a:t>Регистры таймера</a:t>
            </a:r>
          </a:p>
          <a:p>
            <a:pPr lvl="1"/>
            <a:r>
              <a:rPr lang="en-US" dirty="0"/>
              <a:t>TIFR1 – </a:t>
            </a:r>
            <a:r>
              <a:rPr lang="ru-RU" dirty="0"/>
              <a:t>флаги прерываний</a:t>
            </a:r>
          </a:p>
          <a:p>
            <a:pPr lvl="1"/>
            <a:r>
              <a:rPr lang="en-US" dirty="0"/>
              <a:t>TIMSK1 – </a:t>
            </a:r>
            <a:r>
              <a:rPr lang="ru-RU" dirty="0"/>
              <a:t>разрешение прерываний</a:t>
            </a:r>
          </a:p>
          <a:p>
            <a:r>
              <a:rPr lang="ru-RU" dirty="0"/>
              <a:t>Для вызова </a:t>
            </a:r>
            <a:r>
              <a:rPr lang="en-US" dirty="0"/>
              <a:t>ISR </a:t>
            </a:r>
            <a:r>
              <a:rPr lang="ru-RU" dirty="0"/>
              <a:t>обычно должны выполниться несколько условий</a:t>
            </a:r>
          </a:p>
          <a:p>
            <a:pPr lvl="1"/>
            <a:r>
              <a:rPr lang="ru-RU" dirty="0"/>
              <a:t>Произошло аппаратное событие (</a:t>
            </a:r>
            <a:r>
              <a:rPr lang="en-US" dirty="0"/>
              <a:t>Compare Match)</a:t>
            </a:r>
          </a:p>
          <a:p>
            <a:pPr lvl="1"/>
            <a:r>
              <a:rPr lang="ru-RU" dirty="0"/>
              <a:t>Установлен флаг прерываний </a:t>
            </a:r>
            <a:r>
              <a:rPr lang="en-US" dirty="0"/>
              <a:t>(OCF1A = 1)</a:t>
            </a:r>
          </a:p>
          <a:p>
            <a:pPr lvl="1"/>
            <a:r>
              <a:rPr lang="ru-RU" dirty="0"/>
              <a:t>Разрешено конкретное прерывание (</a:t>
            </a:r>
            <a:r>
              <a:rPr lang="en-US" dirty="0"/>
              <a:t>OCIE1A = 1)</a:t>
            </a:r>
          </a:p>
          <a:p>
            <a:pPr lvl="1"/>
            <a:r>
              <a:rPr lang="ru-RU" dirty="0"/>
              <a:t>Глобально разрешены прерывания (</a:t>
            </a:r>
            <a:r>
              <a:rPr lang="en-US" dirty="0"/>
              <a:t>sei)</a:t>
            </a:r>
            <a:endParaRPr lang="ru-RU" dirty="0"/>
          </a:p>
          <a:p>
            <a:r>
              <a:rPr lang="ru-RU" dirty="0"/>
              <a:t>Следствия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События могут накапливаться</a:t>
            </a:r>
          </a:p>
          <a:p>
            <a:pPr lvl="1"/>
            <a:r>
              <a:rPr lang="ru-RU" dirty="0"/>
              <a:t>Вызов </a:t>
            </a:r>
            <a:r>
              <a:rPr lang="en-US" dirty="0"/>
              <a:t>ISR </a:t>
            </a:r>
            <a:r>
              <a:rPr lang="ru-RU" dirty="0"/>
              <a:t>может быть отложен</a:t>
            </a:r>
          </a:p>
          <a:p>
            <a:pPr lvl="1"/>
            <a:r>
              <a:rPr lang="ru-RU" dirty="0"/>
              <a:t>Возможна потеря событий</a:t>
            </a:r>
            <a:endParaRPr lang="en-US" dirty="0"/>
          </a:p>
          <a:p>
            <a:endParaRPr lang="ru-RU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D83D4B-DBC2-D761-DFE9-54B5C11DE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150" y="1820184"/>
            <a:ext cx="6042852" cy="9619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25A9F2-88DF-D86D-93DA-C47C157BB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091" y="3113883"/>
            <a:ext cx="5884970" cy="961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6504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3E848-9B70-E073-6FBC-03B656C75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</a:t>
            </a:r>
            <a:r>
              <a:rPr lang="en-US" dirty="0" err="1"/>
              <a:t>аблица</a:t>
            </a:r>
            <a:r>
              <a:rPr lang="en-US" dirty="0"/>
              <a:t> </a:t>
            </a:r>
            <a:r>
              <a:rPr lang="en-US" dirty="0" err="1"/>
              <a:t>векторов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E7546-AD92-D6F0-438D-71CF98BC8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Interrupt vector table</a:t>
            </a:r>
          </a:p>
          <a:p>
            <a:pPr lvl="1"/>
            <a:r>
              <a:rPr lang="en-US" dirty="0" err="1"/>
              <a:t>располагается</a:t>
            </a:r>
            <a:r>
              <a:rPr lang="en-US" dirty="0"/>
              <a:t> в </a:t>
            </a:r>
            <a:r>
              <a:rPr lang="en-US" dirty="0" err="1"/>
              <a:t>начале</a:t>
            </a:r>
            <a:r>
              <a:rPr lang="en-US" dirty="0"/>
              <a:t> Flash memory</a:t>
            </a:r>
          </a:p>
          <a:p>
            <a:pPr lvl="1"/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interrupts </a:t>
            </a:r>
          </a:p>
          <a:p>
            <a:pPr lvl="1"/>
            <a:r>
              <a:rPr lang="en-US" dirty="0"/>
              <a:t>reset vector —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endParaRPr lang="en-US" dirty="0"/>
          </a:p>
          <a:p>
            <a:r>
              <a:rPr lang="ru-RU" dirty="0"/>
              <a:t>На </a:t>
            </a:r>
            <a:r>
              <a:rPr lang="en-US" dirty="0"/>
              <a:t>AVR</a:t>
            </a:r>
            <a:r>
              <a:rPr lang="ru-RU" dirty="0"/>
              <a:t> это обычный машинный код (каждая запись – 4 байта)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0x0000: </a:t>
            </a:r>
            <a:r>
              <a:rPr lang="en-US" dirty="0" err="1">
                <a:latin typeface="Consolas" panose="020B0609020204030204" pitchFamily="49" charset="0"/>
              </a:rPr>
              <a:t>jmp</a:t>
            </a:r>
            <a:r>
              <a:rPr lang="en-US" dirty="0">
                <a:latin typeface="Consolas" panose="020B0609020204030204" pitchFamily="49" charset="0"/>
              </a:rPr>
              <a:t> __startup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0x0004: </a:t>
            </a:r>
            <a:r>
              <a:rPr lang="en-US" dirty="0" err="1">
                <a:latin typeface="Consolas" panose="020B0609020204030204" pitchFamily="49" charset="0"/>
              </a:rPr>
              <a:t>jmp</a:t>
            </a:r>
            <a:r>
              <a:rPr lang="en-US" dirty="0">
                <a:latin typeface="Consolas" panose="020B0609020204030204" pitchFamily="49" charset="0"/>
              </a:rPr>
              <a:t> __</a:t>
            </a:r>
            <a:r>
              <a:rPr lang="en-US" dirty="0" err="1">
                <a:latin typeface="Consolas" panose="020B0609020204030204" pitchFamily="49" charset="0"/>
              </a:rPr>
              <a:t>bad_interrupt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0x0008: </a:t>
            </a:r>
            <a:r>
              <a:rPr lang="en-US" dirty="0" err="1">
                <a:latin typeface="Consolas" panose="020B0609020204030204" pitchFamily="49" charset="0"/>
              </a:rPr>
              <a:t>jmp</a:t>
            </a:r>
            <a:r>
              <a:rPr lang="en-US" dirty="0">
                <a:latin typeface="Consolas" panose="020B0609020204030204" pitchFamily="49" charset="0"/>
              </a:rPr>
              <a:t> __vector_2...</a:t>
            </a:r>
          </a:p>
          <a:p>
            <a:r>
              <a:rPr lang="en-US" b="1" dirty="0" err="1"/>
              <a:t>Особенности</a:t>
            </a:r>
            <a:endParaRPr lang="en-US" b="1" dirty="0"/>
          </a:p>
          <a:p>
            <a:pPr lvl="1"/>
            <a:r>
              <a:rPr lang="ru-RU" dirty="0"/>
              <a:t>В</a:t>
            </a:r>
            <a:r>
              <a:rPr lang="en-US" dirty="0"/>
              <a:t>о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endParaRPr lang="ru-RU" dirty="0"/>
          </a:p>
          <a:p>
            <a:pPr lvl="2"/>
            <a:r>
              <a:rPr lang="ru-RU" dirty="0"/>
              <a:t>Происходит переход по фиксированному адресу</a:t>
            </a:r>
          </a:p>
          <a:p>
            <a:pPr lvl="1"/>
            <a:r>
              <a:rPr lang="ru-RU" dirty="0"/>
              <a:t>Внутри </a:t>
            </a:r>
            <a:r>
              <a:rPr lang="en-US" dirty="0"/>
              <a:t>ISR </a:t>
            </a:r>
            <a:r>
              <a:rPr lang="ru-RU" dirty="0"/>
              <a:t>возможна динамическая логика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1248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9DAD9-5B9E-E2FF-4732-52486E795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Ещё раз о гарвардской архитектуре </a:t>
            </a:r>
            <a:r>
              <a:rPr lang="en-US" dirty="0"/>
              <a:t>AVR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1B82E2-1B39-F3F1-0553-6F2D44808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AVR </a:t>
            </a:r>
            <a:r>
              <a:rPr lang="ru-RU" dirty="0"/>
              <a:t>использует разные адресные пространства</a:t>
            </a:r>
          </a:p>
          <a:p>
            <a:pPr lvl="1"/>
            <a:r>
              <a:rPr lang="en-US" dirty="0"/>
              <a:t>Program Space</a:t>
            </a:r>
          </a:p>
          <a:p>
            <a:pPr lvl="2"/>
            <a:r>
              <a:rPr lang="ru-RU" dirty="0"/>
              <a:t>Внутри </a:t>
            </a:r>
            <a:r>
              <a:rPr lang="en-US" dirty="0"/>
              <a:t>Flash</a:t>
            </a:r>
            <a:r>
              <a:rPr lang="ru-RU" dirty="0"/>
              <a:t> памяти хранятся инструкции</a:t>
            </a:r>
          </a:p>
          <a:p>
            <a:pPr lvl="1"/>
            <a:r>
              <a:rPr lang="en-US" dirty="0"/>
              <a:t>Data Space</a:t>
            </a:r>
          </a:p>
          <a:p>
            <a:pPr lvl="2"/>
            <a:r>
              <a:rPr lang="ru-RU" dirty="0"/>
              <a:t>Регистры, </a:t>
            </a:r>
            <a:r>
              <a:rPr lang="en-US" dirty="0"/>
              <a:t>I/O, SRAM</a:t>
            </a:r>
          </a:p>
          <a:p>
            <a:r>
              <a:rPr lang="en-US" dirty="0"/>
              <a:t>Program address 0x0000 ≠ Data address 0x0000</a:t>
            </a:r>
          </a:p>
          <a:p>
            <a:r>
              <a:rPr lang="ru-RU" dirty="0"/>
              <a:t>Следствие:</a:t>
            </a:r>
          </a:p>
          <a:p>
            <a:pPr lvl="1"/>
            <a:r>
              <a:rPr lang="ru-RU" dirty="0"/>
              <a:t>Таблица вектор прерываний находится в </a:t>
            </a:r>
            <a:r>
              <a:rPr lang="en-US" dirty="0"/>
              <a:t>Flash</a:t>
            </a:r>
            <a:endParaRPr lang="ru-RU" dirty="0"/>
          </a:p>
          <a:p>
            <a:pPr lvl="1"/>
            <a:r>
              <a:rPr lang="ru-RU" dirty="0"/>
              <a:t>Регистровый файл и </a:t>
            </a:r>
            <a:r>
              <a:rPr lang="en-US" dirty="0"/>
              <a:t>I/O – </a:t>
            </a:r>
            <a:r>
              <a:rPr lang="ru-RU" dirty="0"/>
              <a:t>в </a:t>
            </a:r>
            <a:r>
              <a:rPr lang="en-US" dirty="0"/>
              <a:t>Data Space</a:t>
            </a:r>
          </a:p>
        </p:txBody>
      </p:sp>
    </p:spTree>
    <p:extLst>
      <p:ext uri="{BB962C8B-B14F-4D97-AF65-F5344CB8AC3E}">
        <p14:creationId xmlns:p14="http://schemas.microsoft.com/office/powerpoint/2010/main" val="37411508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FD02-4D04-AD1B-82FF-CD65F535E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Интерфейсы передачи данных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F48710-AEFD-1B5E-E320-9D09B2703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89111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76FAA0-C2FB-D57B-06F6-B1DA74CA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243AF2-0F2E-3870-BB3F-89D514FEF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редко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одиночку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с:</a:t>
            </a:r>
          </a:p>
          <a:p>
            <a:pPr lvl="1"/>
            <a:r>
              <a:rPr lang="en-US" dirty="0" err="1"/>
              <a:t>компьютером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датчиками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дисплеями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картами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микроконтроллерами</a:t>
            </a:r>
            <a:r>
              <a:rPr lang="en-US" dirty="0"/>
              <a:t> </a:t>
            </a:r>
          </a:p>
          <a:p>
            <a:r>
              <a:rPr lang="en-US" dirty="0" err="1"/>
              <a:t>Проблема</a:t>
            </a:r>
            <a:endParaRPr lang="en-US" dirty="0"/>
          </a:p>
          <a:p>
            <a:pPr lvl="1"/>
            <a:r>
              <a:rPr lang="en-US" dirty="0"/>
              <a:t>GPIO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</a:t>
            </a:r>
          </a:p>
          <a:p>
            <a:pPr lvl="1"/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протоколы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распространённые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endParaRPr lang="en-US" dirty="0"/>
          </a:p>
          <a:p>
            <a:pPr lvl="1"/>
            <a:r>
              <a:rPr lang="en-US" dirty="0"/>
              <a:t>UART </a:t>
            </a:r>
          </a:p>
          <a:p>
            <a:pPr lvl="1"/>
            <a:r>
              <a:rPr lang="en-US" dirty="0"/>
              <a:t>SPI </a:t>
            </a:r>
          </a:p>
          <a:p>
            <a:pPr lvl="1"/>
            <a:r>
              <a:rPr lang="en-US" dirty="0"/>
              <a:t>I²C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2060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67639-234F-C0D6-718D-6E7A0EE88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Сравнение</a:t>
            </a:r>
            <a:r>
              <a:rPr lang="en-US" dirty="0"/>
              <a:t> UART, SPI и I²C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A8AC818-CC11-CB47-D90A-841BF2AADE6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293966510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309202834"/>
                    </a:ext>
                  </a:extLst>
                </a:gridCol>
                <a:gridCol w="2539538">
                  <a:extLst>
                    <a:ext uri="{9D8B030D-6E8A-4147-A177-3AD203B41FA5}">
                      <a16:colId xmlns:a16="http://schemas.microsoft.com/office/drawing/2014/main" val="1244631982"/>
                    </a:ext>
                  </a:extLst>
                </a:gridCol>
                <a:gridCol w="4470862">
                  <a:extLst>
                    <a:ext uri="{9D8B030D-6E8A-4147-A177-3AD203B41FA5}">
                      <a16:colId xmlns:a16="http://schemas.microsoft.com/office/drawing/2014/main" val="4186834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Интерфейс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Линии связи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Особенности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809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TX, RX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Простота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504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MOSI, MISO, SCK, 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 скорость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4430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I²C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SDA, SCL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несколько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устройств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на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одной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шине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5617931"/>
                  </a:ext>
                </a:extLst>
              </a:tr>
            </a:tbl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BF2B53-9C7F-3F3D-BE46-2B5FFB24E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740727"/>
            <a:ext cx="10515600" cy="2436235"/>
          </a:xfrm>
        </p:spPr>
        <p:txBody>
          <a:bodyPr/>
          <a:lstStyle/>
          <a:p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endParaRPr lang="en-US" dirty="0"/>
          </a:p>
          <a:p>
            <a:pPr lvl="1"/>
            <a:r>
              <a:rPr lang="en-US" dirty="0"/>
              <a:t>UART — </a:t>
            </a:r>
            <a:r>
              <a:rPr lang="en-US" dirty="0" err="1"/>
              <a:t>связь</a:t>
            </a:r>
            <a:r>
              <a:rPr lang="en-US" dirty="0"/>
              <a:t> с </a:t>
            </a:r>
            <a:r>
              <a:rPr lang="en-US" dirty="0" err="1"/>
              <a:t>компьютером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SPI — </a:t>
            </a:r>
            <a:r>
              <a:rPr lang="en-US" dirty="0" err="1"/>
              <a:t>быстрые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I²C —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8250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F22295-6B32-02AA-4A31-D7628B2B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UART: Universal Asynchronous Receiver Transmitter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7F9523-B8AB-F291-D954-57759953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dirty="0" err="1"/>
              <a:t>связи</a:t>
            </a:r>
            <a:endParaRPr lang="en-US" dirty="0"/>
          </a:p>
          <a:p>
            <a:pPr lvl="1"/>
            <a:r>
              <a:rPr lang="en-US" dirty="0"/>
              <a:t>TX →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br>
              <a:rPr lang="en-US" dirty="0"/>
            </a:br>
            <a:r>
              <a:rPr lang="en-US" dirty="0"/>
              <a:t>RX → </a:t>
            </a:r>
            <a:r>
              <a:rPr lang="en-US" dirty="0" err="1"/>
              <a:t>приём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r>
              <a:rPr lang="en-US" dirty="0" err="1"/>
              <a:t>Особенности</a:t>
            </a:r>
            <a:endParaRPr lang="en-US" dirty="0"/>
          </a:p>
          <a:p>
            <a:pPr lvl="1"/>
            <a:r>
              <a:rPr lang="en-US" dirty="0" err="1"/>
              <a:t>асинхронный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тактирования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одинаковую</a:t>
            </a:r>
            <a:r>
              <a:rPr lang="en-US" dirty="0"/>
              <a:t> </a:t>
            </a: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</a:p>
          <a:p>
            <a:r>
              <a:rPr lang="en-US" dirty="0" err="1"/>
              <a:t>Применение</a:t>
            </a:r>
            <a:endParaRPr lang="en-US" dirty="0"/>
          </a:p>
          <a:p>
            <a:pPr lvl="1"/>
            <a:r>
              <a:rPr lang="en-US" dirty="0" err="1"/>
              <a:t>связь</a:t>
            </a:r>
            <a:r>
              <a:rPr lang="en-US" dirty="0"/>
              <a:t> с </a:t>
            </a:r>
            <a:r>
              <a:rPr lang="en-US" dirty="0" err="1"/>
              <a:t>компьютером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отладка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микроконтроллерами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504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50A2C-2FF2-040F-46CE-A048A877F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UART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07366-53D1-1AC9-1FB0-70D9E7C7B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Линия </a:t>
            </a:r>
            <a:r>
              <a:rPr lang="en-US" dirty="0"/>
              <a:t>UART</a:t>
            </a:r>
            <a:r>
              <a:rPr lang="ru-RU" dirty="0"/>
              <a:t> в состоянии покоя находится в состоянии логической единицы</a:t>
            </a:r>
          </a:p>
          <a:p>
            <a:r>
              <a:rPr lang="ru-RU" dirty="0"/>
              <a:t>Формат кадра </a:t>
            </a:r>
            <a:r>
              <a:rPr lang="en-US" dirty="0"/>
              <a:t>UART</a:t>
            </a:r>
            <a:endParaRPr lang="ru-RU" dirty="0"/>
          </a:p>
          <a:p>
            <a:pPr lvl="1"/>
            <a:r>
              <a:rPr lang="ru-RU" dirty="0"/>
              <a:t>Передатчик отправляет </a:t>
            </a:r>
            <a:r>
              <a:rPr lang="ru-RU" b="1" dirty="0"/>
              <a:t>стартовый бит</a:t>
            </a:r>
            <a:r>
              <a:rPr lang="ru-RU" dirty="0"/>
              <a:t> (логический 0)</a:t>
            </a:r>
          </a:p>
          <a:p>
            <a:pPr lvl="1"/>
            <a:r>
              <a:rPr lang="ru-RU" dirty="0"/>
              <a:t>Биты данных (начиная с младшего бита) 5..9 бит</a:t>
            </a:r>
          </a:p>
          <a:p>
            <a:pPr lvl="1"/>
            <a:r>
              <a:rPr lang="ru-RU" dirty="0"/>
              <a:t>Необязательный бит чётности</a:t>
            </a:r>
          </a:p>
          <a:p>
            <a:pPr lvl="1"/>
            <a:r>
              <a:rPr lang="ru-RU" dirty="0"/>
              <a:t>1-2 стоповых бита (логическая единица)</a:t>
            </a:r>
          </a:p>
          <a:p>
            <a:r>
              <a:rPr lang="ru-RU" dirty="0"/>
              <a:t>Приемник и передатчик должны заранее договориться о скорости передачи данных</a:t>
            </a:r>
          </a:p>
          <a:p>
            <a:pPr lvl="1"/>
            <a:r>
              <a:rPr lang="ru-RU" dirty="0"/>
              <a:t>Пример: 9600</a:t>
            </a:r>
            <a:r>
              <a:rPr lang="en-US" dirty="0"/>
              <a:t> bit/s</a:t>
            </a:r>
            <a:r>
              <a:rPr lang="ru-RU" dirty="0"/>
              <a:t>, </a:t>
            </a:r>
            <a:r>
              <a:rPr lang="en-US" dirty="0"/>
              <a:t>38400 bit/s, 115200 bit/s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95318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70AE5-5F2F-290B-6F06-83CB66183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Настройка</a:t>
            </a:r>
            <a:r>
              <a:rPr lang="en-US" dirty="0"/>
              <a:t> </a:t>
            </a:r>
            <a:r>
              <a:rPr lang="en-US" dirty="0" err="1"/>
              <a:t>формата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 UART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7130F-C67C-416C-A9E3-F6FA8E6FE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Передатчик</a:t>
            </a:r>
            <a:r>
              <a:rPr lang="en-US" dirty="0"/>
              <a:t> и </a:t>
            </a:r>
            <a:r>
              <a:rPr lang="en-US" dirty="0" err="1"/>
              <a:t>приёмник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одинаковые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endParaRPr lang="ru-RU" dirty="0"/>
          </a:p>
          <a:p>
            <a:pPr lvl="1"/>
            <a:r>
              <a:rPr lang="ru-RU" dirty="0"/>
              <a:t>Например:</a:t>
            </a:r>
            <a:endParaRPr lang="en-US" dirty="0"/>
          </a:p>
          <a:p>
            <a:pPr lvl="2"/>
            <a:r>
              <a:rPr lang="en-US" dirty="0"/>
              <a:t>115200 8N1 (115200 bit/s</a:t>
            </a:r>
            <a:r>
              <a:rPr lang="ru-RU" dirty="0"/>
              <a:t>, 8 бит данных, </a:t>
            </a:r>
            <a:r>
              <a:rPr lang="en-US" dirty="0"/>
              <a:t>N (None) – </a:t>
            </a:r>
            <a:r>
              <a:rPr lang="ru-RU" dirty="0"/>
              <a:t>без бита чётности, 1 стоповый бит)</a:t>
            </a:r>
            <a:endParaRPr lang="en-US" dirty="0"/>
          </a:p>
          <a:p>
            <a:pPr lvl="2"/>
            <a:r>
              <a:rPr lang="en-US" dirty="0"/>
              <a:t>9600 7E1</a:t>
            </a:r>
            <a:r>
              <a:rPr lang="ru-RU" dirty="0"/>
              <a:t> (</a:t>
            </a:r>
            <a:r>
              <a:rPr lang="en-US" dirty="0"/>
              <a:t>9600 bit/s, </a:t>
            </a:r>
            <a:r>
              <a:rPr lang="ru-RU" dirty="0"/>
              <a:t>7 бит данных</a:t>
            </a:r>
            <a:r>
              <a:rPr lang="en-US" dirty="0"/>
              <a:t>, Even parity, 1 </a:t>
            </a:r>
            <a:r>
              <a:rPr lang="ru-RU" dirty="0"/>
              <a:t>стоповый бит)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настройки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совпадают</a:t>
            </a:r>
            <a:endParaRPr lang="en-US" dirty="0"/>
          </a:p>
          <a:p>
            <a:pPr lvl="1"/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читаются</a:t>
            </a:r>
            <a:r>
              <a:rPr lang="en-US" dirty="0"/>
              <a:t> </a:t>
            </a:r>
            <a:r>
              <a:rPr lang="en-US" dirty="0" err="1"/>
              <a:t>неверно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возникают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возможны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контроля</a:t>
            </a:r>
            <a:r>
              <a:rPr lang="en-US" dirty="0"/>
              <a:t> </a:t>
            </a:r>
            <a:r>
              <a:rPr lang="en-US" dirty="0" err="1"/>
              <a:t>чётности</a:t>
            </a:r>
            <a:endParaRPr lang="ru-RU" dirty="0"/>
          </a:p>
          <a:p>
            <a:r>
              <a:rPr lang="ru-RU" dirty="0"/>
              <a:t>На </a:t>
            </a:r>
            <a:r>
              <a:rPr lang="en-US" dirty="0"/>
              <a:t>ATmega328P</a:t>
            </a:r>
            <a:r>
              <a:rPr lang="ru-RU" dirty="0"/>
              <a:t>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кадра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UART:</a:t>
            </a:r>
          </a:p>
          <a:p>
            <a:pPr lvl="1"/>
            <a:r>
              <a:rPr lang="en-US" dirty="0"/>
              <a:t>UCSR0C</a:t>
            </a:r>
            <a:endParaRPr lang="ru-RU" dirty="0"/>
          </a:p>
          <a:p>
            <a:pPr lvl="1"/>
            <a:r>
              <a:rPr lang="en-US" dirty="0"/>
              <a:t>UCSR0B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618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5BF59-7583-4579-F9ED-17E8EC61F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Настройка</a:t>
            </a:r>
            <a:r>
              <a:rPr lang="en-US" dirty="0"/>
              <a:t> UART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AVR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9659FF-90FA-F838-58E5-46AAD2485BCF}"/>
              </a:ext>
            </a:extLst>
          </p:cNvPr>
          <p:cNvSpPr txBox="1"/>
          <p:nvPr/>
        </p:nvSpPr>
        <p:spPr>
          <a:xfrm>
            <a:off x="652548" y="1690688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Скорость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9600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/с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F_CPU = 16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МГц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UBRR0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16000000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Формат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кадра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8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данных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чётности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1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стоповый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UCSR0C 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UCSZ01) |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UCSZ00);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Разрешаем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передатчик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UCSR0B 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TXEN0);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пока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буфер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передачи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готов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приёму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нового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байта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(!(UCSR0A &amp;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UDRE0)))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Отправляем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символ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'A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UDR0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63B264-A13C-969F-9AB1-67A6C8AB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327" y="5684614"/>
            <a:ext cx="4646372" cy="8082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BEDB7-04AD-131D-97CC-2FD226D4F3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1450" y="1690688"/>
            <a:ext cx="4620125" cy="7947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400ABB5-C8DA-BA52-4BAA-9D962EA528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1450" y="3575559"/>
            <a:ext cx="4620125" cy="79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5539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2B72-6066-22E6-ADAE-1ADBDE7F4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</a:t>
            </a:r>
            <a:r>
              <a:rPr lang="ru-RU" dirty="0" err="1"/>
              <a:t>эховвод</a:t>
            </a:r>
            <a:r>
              <a:rPr lang="ru-RU" dirty="0"/>
              <a:t> с инверсией регистра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02483-F1D8-0180-9FC1-BFCC6D52D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Компьютер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ru-RU" dirty="0"/>
              <a:t>символы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Hello, UART!</a:t>
            </a:r>
          </a:p>
          <a:p>
            <a:r>
              <a:rPr lang="en-US" dirty="0" err="1"/>
              <a:t>Микроконтроллер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символ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буква</a:t>
            </a:r>
            <a:r>
              <a:rPr lang="en-US" dirty="0"/>
              <a:t>: </a:t>
            </a:r>
          </a:p>
          <a:p>
            <a:pPr lvl="2"/>
            <a:r>
              <a:rPr lang="en-US" dirty="0" err="1"/>
              <a:t>меняет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ru-RU" dirty="0"/>
              <a:t> на противоположный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отправляет</a:t>
            </a:r>
            <a:r>
              <a:rPr lang="en-US" dirty="0"/>
              <a:t> </a:t>
            </a:r>
            <a:r>
              <a:rPr lang="en-US" dirty="0" err="1"/>
              <a:t>символ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20587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E48BF4-53E1-738F-6209-296BDE786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</a:t>
            </a:r>
            <a:r>
              <a:rPr lang="en-US" dirty="0"/>
              <a:t>UART</a:t>
            </a:r>
            <a:r>
              <a:rPr lang="ru-RU" dirty="0"/>
              <a:t> на приём и передачу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5932A1-6C4F-A992-3B6F-BC3F7982C5A3}"/>
              </a:ext>
            </a:extLst>
          </p:cNvPr>
          <p:cNvSpPr txBox="1"/>
          <p:nvPr/>
        </p:nvSpPr>
        <p:spPr>
          <a:xfrm>
            <a:off x="838200" y="2061556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UART_Init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Скорость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передачи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данных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9600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/с.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F_CPU = 16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МГц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UBRR0 = 103.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UBRR0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Включаем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приёмник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(RX) и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передатчик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(TX).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UCSR0B 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RXEN0) |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TXEN0);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Формат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кадра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8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данных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чётности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1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стоповый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режим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8N1).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UCSR0C 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UCSZ01) |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UCSZ00);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622475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A6C79-7207-FD4F-9DAD-6CFA1670D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и запись символа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F50C86-CAB8-94FE-D9F7-0B2FC62D5077}"/>
              </a:ext>
            </a:extLst>
          </p:cNvPr>
          <p:cNvSpPr txBox="1"/>
          <p:nvPr/>
        </p:nvSpPr>
        <p:spPr>
          <a:xfrm>
            <a:off x="838200" y="1878676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UART_ReadChar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Ожидаем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появления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принятого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байта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Флаг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RXC0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устанавливается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аппаратурой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UART.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(!(UCSR0A &amp;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RXC0)))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регистра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данных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UART.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UDR0;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UART_WriteChar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Ожидаем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освобождения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регистра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передачи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Флаг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UDRE0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означает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записывать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новый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байт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(!(UCSR0A &amp;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UDRE0)))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Записываем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байт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регистр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данных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UART.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Аппаратный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модуль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UART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начнёт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передачу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автоматически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UDR0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3950412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C5C95-0FA7-1AC7-9884-7EA519076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Меняем регистр символа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21411-D939-A802-3C0E-240BC4385968}"/>
              </a:ext>
            </a:extLst>
          </p:cNvPr>
          <p:cNvSpPr txBox="1"/>
          <p:nvPr/>
        </p:nvSpPr>
        <p:spPr>
          <a:xfrm>
            <a:off x="838200" y="2044931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UART_Init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UART_ReadChar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Меняем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регистр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символа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противоположный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UART_WriteChar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F1C627-A30E-184F-13FF-5B664082445A}"/>
              </a:ext>
            </a:extLst>
          </p:cNvPr>
          <p:cNvSpPr txBox="1"/>
          <p:nvPr/>
        </p:nvSpPr>
        <p:spPr>
          <a:xfrm>
            <a:off x="8462356" y="4954385"/>
            <a:ext cx="312558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nsolas" panose="020B0609020204030204" pitchFamily="49" charset="0"/>
              </a:rPr>
              <a:t>Hello, Arduino!</a:t>
            </a:r>
          </a:p>
          <a:p>
            <a:r>
              <a:rPr lang="en-US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Consolas" panose="020B0609020204030204" pitchFamily="49" charset="0"/>
              </a:rPr>
              <a:t>hELLO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Consolas" panose="020B0609020204030204" pitchFamily="49" charset="0"/>
              </a:rPr>
              <a:t>aRDUINO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anose="020B0609020204030204" pitchFamily="49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4207436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2DDF7-722E-6467-F5C3-CB1155CA6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SPI: Serial Peripheral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462CB-B10F-8827-1499-56F8F682E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SPI — </a:t>
            </a:r>
            <a:r>
              <a:rPr lang="en-US" dirty="0" err="1"/>
              <a:t>синхронный</a:t>
            </a:r>
            <a:r>
              <a:rPr lang="en-US" dirty="0"/>
              <a:t> </a:t>
            </a:r>
            <a:r>
              <a:rPr lang="en-US" dirty="0" err="1"/>
              <a:t>последовательный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endParaRPr lang="en-US" dirty="0"/>
          </a:p>
          <a:p>
            <a:pPr lvl="1"/>
            <a:r>
              <a:rPr lang="en-US" dirty="0" err="1"/>
              <a:t>Предназначен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дисплеями</a:t>
            </a:r>
            <a:r>
              <a:rPr lang="en-US" dirty="0"/>
              <a:t>; </a:t>
            </a:r>
          </a:p>
          <a:p>
            <a:pPr lvl="2"/>
            <a:r>
              <a:rPr lang="en-US" dirty="0"/>
              <a:t>Flash-</a:t>
            </a:r>
            <a:r>
              <a:rPr lang="en-US" dirty="0" err="1"/>
              <a:t>памятью</a:t>
            </a:r>
            <a:r>
              <a:rPr lang="en-US" dirty="0"/>
              <a:t>; </a:t>
            </a:r>
          </a:p>
          <a:p>
            <a:pPr lvl="2"/>
            <a:r>
              <a:rPr lang="en-US" dirty="0"/>
              <a:t>SD-</a:t>
            </a:r>
            <a:r>
              <a:rPr lang="en-US" dirty="0" err="1"/>
              <a:t>картами</a:t>
            </a:r>
            <a:r>
              <a:rPr lang="en-US" dirty="0"/>
              <a:t>; </a:t>
            </a:r>
          </a:p>
          <a:p>
            <a:pPr lvl="2"/>
            <a:r>
              <a:rPr lang="en-US" dirty="0" err="1"/>
              <a:t>датчиками</a:t>
            </a:r>
            <a:r>
              <a:rPr lang="en-US" dirty="0"/>
              <a:t>; </a:t>
            </a:r>
          </a:p>
          <a:p>
            <a:pPr lvl="2"/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микроконтроллерами</a:t>
            </a:r>
            <a:r>
              <a:rPr lang="en-US" dirty="0"/>
              <a:t>.</a:t>
            </a:r>
          </a:p>
          <a:p>
            <a:r>
              <a:rPr lang="ru-RU" dirty="0"/>
              <a:t>Основные сигналы</a:t>
            </a:r>
          </a:p>
          <a:p>
            <a:pPr lvl="1"/>
            <a:r>
              <a:rPr lang="en-US" dirty="0"/>
              <a:t>MOSI: Master Out Slave In – </a:t>
            </a:r>
            <a:r>
              <a:rPr lang="ru-RU" dirty="0"/>
              <a:t>передача от ведущего ведомому</a:t>
            </a:r>
            <a:endParaRPr lang="en-US" dirty="0"/>
          </a:p>
          <a:p>
            <a:pPr lvl="1"/>
            <a:r>
              <a:rPr lang="en-US" dirty="0"/>
              <a:t>MISO: Master In Slave Out</a:t>
            </a:r>
            <a:r>
              <a:rPr lang="ru-RU" dirty="0"/>
              <a:t> – передача от ведомого ведущему</a:t>
            </a:r>
            <a:endParaRPr lang="en-US" dirty="0"/>
          </a:p>
          <a:p>
            <a:pPr lvl="1"/>
            <a:r>
              <a:rPr lang="en-US" dirty="0"/>
              <a:t>SCK: Serial Clock</a:t>
            </a:r>
            <a:r>
              <a:rPr lang="ru-RU" dirty="0"/>
              <a:t> – передача тактового сигнала для ведомых устройств</a:t>
            </a:r>
            <a:endParaRPr lang="en-US" dirty="0"/>
          </a:p>
          <a:p>
            <a:pPr lvl="1"/>
            <a:r>
              <a:rPr lang="en-US" dirty="0"/>
              <a:t>SS (CS) slave Select (chip select)</a:t>
            </a:r>
            <a:r>
              <a:rPr lang="ru-RU" dirty="0"/>
              <a:t> – выбор микросхемы</a:t>
            </a:r>
            <a:endParaRPr lang="en-US" dirty="0"/>
          </a:p>
          <a:p>
            <a:r>
              <a:rPr lang="en-US" dirty="0" err="1"/>
              <a:t>Особенности</a:t>
            </a:r>
            <a:r>
              <a:rPr lang="en-US" dirty="0"/>
              <a:t> SPI</a:t>
            </a:r>
          </a:p>
          <a:p>
            <a:pPr lvl="1"/>
            <a:r>
              <a:rPr lang="en-US" dirty="0" err="1"/>
              <a:t>синхронный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полный</a:t>
            </a:r>
            <a:r>
              <a:rPr lang="en-US" dirty="0"/>
              <a:t> </a:t>
            </a:r>
            <a:r>
              <a:rPr lang="en-US" dirty="0" err="1"/>
              <a:t>дуплекс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ведущий</a:t>
            </a:r>
            <a:r>
              <a:rPr lang="en-US" dirty="0"/>
              <a:t> (Master),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ведомых</a:t>
            </a:r>
            <a:r>
              <a:rPr lang="en-US" dirty="0"/>
              <a:t> (Slave).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9383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826B5-CE7E-8420-9B2B-8FD7BA8C3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SPI: master и slave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D3F46-DD6E-1DA8-4934-46A5E33F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961611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 err="1"/>
              <a:t>Роли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в SPI</a:t>
            </a:r>
          </a:p>
          <a:p>
            <a:pPr lvl="1"/>
            <a:r>
              <a:rPr lang="en-US" dirty="0"/>
              <a:t>Master (</a:t>
            </a:r>
            <a:r>
              <a:rPr lang="en-US" dirty="0" err="1"/>
              <a:t>ведущее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)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обменом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Slave (</a:t>
            </a:r>
            <a:r>
              <a:rPr lang="en-US" dirty="0" err="1"/>
              <a:t>ведомое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)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запросы</a:t>
            </a:r>
            <a:r>
              <a:rPr lang="en-US" dirty="0"/>
              <a:t> </a:t>
            </a:r>
            <a:r>
              <a:rPr lang="en-US" dirty="0" err="1"/>
              <a:t>ведущего</a:t>
            </a:r>
            <a:r>
              <a:rPr lang="en-US" dirty="0"/>
              <a:t> </a:t>
            </a:r>
          </a:p>
          <a:p>
            <a:r>
              <a:rPr lang="en-US" dirty="0" err="1"/>
              <a:t>Обязанности</a:t>
            </a:r>
            <a:r>
              <a:rPr lang="en-US" dirty="0"/>
              <a:t> Master</a:t>
            </a:r>
          </a:p>
          <a:p>
            <a:pPr lvl="1"/>
            <a:r>
              <a:rPr lang="en-US" dirty="0" err="1"/>
              <a:t>формирование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en-US" dirty="0" err="1"/>
              <a:t>тактирования</a:t>
            </a:r>
            <a:r>
              <a:rPr lang="en-US" dirty="0"/>
              <a:t> SCK </a:t>
            </a:r>
          </a:p>
          <a:p>
            <a:pPr lvl="1"/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активного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SS (CS) </a:t>
            </a:r>
          </a:p>
          <a:p>
            <a:pPr lvl="1"/>
            <a:r>
              <a:rPr lang="en-US" dirty="0" err="1"/>
              <a:t>инициирование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ru-RU" dirty="0"/>
          </a:p>
          <a:p>
            <a:r>
              <a:rPr lang="en-US" dirty="0" err="1"/>
              <a:t>Особенность</a:t>
            </a:r>
            <a:r>
              <a:rPr lang="en-US" dirty="0"/>
              <a:t> SPI</a:t>
            </a:r>
          </a:p>
          <a:p>
            <a:pPr lvl="1"/>
            <a:r>
              <a:rPr lang="en-US" dirty="0" err="1"/>
              <a:t>Линии</a:t>
            </a:r>
            <a:r>
              <a:rPr lang="en-US" dirty="0"/>
              <a:t> MOSI, MISO и SCK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общими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ведомого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SS (CS).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F2AA20-3955-5737-6119-43DDC6D4CF80}"/>
              </a:ext>
            </a:extLst>
          </p:cNvPr>
          <p:cNvSpPr/>
          <p:nvPr/>
        </p:nvSpPr>
        <p:spPr>
          <a:xfrm>
            <a:off x="7265324" y="2194560"/>
            <a:ext cx="1296785" cy="5320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D5ACC5-FA7B-20DA-29DD-22C5D1C94D59}"/>
              </a:ext>
            </a:extLst>
          </p:cNvPr>
          <p:cNvSpPr/>
          <p:nvPr/>
        </p:nvSpPr>
        <p:spPr>
          <a:xfrm>
            <a:off x="9027623" y="2194560"/>
            <a:ext cx="1296785" cy="5320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Slave 1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193C88-7183-8726-7A17-B9B4972FC2FC}"/>
              </a:ext>
            </a:extLst>
          </p:cNvPr>
          <p:cNvCxnSpPr>
            <a:stCxn id="4" idx="0"/>
            <a:endCxn id="5" idx="0"/>
          </p:cNvCxnSpPr>
          <p:nvPr/>
        </p:nvCxnSpPr>
        <p:spPr>
          <a:xfrm rot="5400000" flipH="1" flipV="1">
            <a:off x="8794866" y="1313411"/>
            <a:ext cx="12700" cy="1762299"/>
          </a:xfrm>
          <a:prstGeom prst="bentConnector3">
            <a:avLst>
              <a:gd name="adj1" fmla="val 40254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E4E515D-B0D7-5C3F-220D-6B56F467E8D2}"/>
              </a:ext>
            </a:extLst>
          </p:cNvPr>
          <p:cNvSpPr txBox="1"/>
          <p:nvPr/>
        </p:nvSpPr>
        <p:spPr>
          <a:xfrm>
            <a:off x="7920066" y="1263534"/>
            <a:ext cx="1762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MOSI</a:t>
            </a:r>
          </a:p>
        </p:txBody>
      </p:sp>
      <p:cxnSp>
        <p:nvCxnSpPr>
          <p:cNvPr id="10" name="Straight Arrow Connector 6">
            <a:extLst>
              <a:ext uri="{FF2B5EF4-FFF2-40B4-BE49-F238E27FC236}">
                <a16:creationId xmlns:a16="http://schemas.microsoft.com/office/drawing/2014/main" id="{69C47589-9726-59A6-4E0E-7D3045A38DBB}"/>
              </a:ext>
            </a:extLst>
          </p:cNvPr>
          <p:cNvCxnSpPr>
            <a:cxnSpLocks/>
            <a:stCxn id="5" idx="2"/>
            <a:endCxn id="4" idx="2"/>
          </p:cNvCxnSpPr>
          <p:nvPr/>
        </p:nvCxnSpPr>
        <p:spPr>
          <a:xfrm rot="5400000">
            <a:off x="8794867" y="1845426"/>
            <a:ext cx="12700" cy="1762299"/>
          </a:xfrm>
          <a:prstGeom prst="bentConnector3">
            <a:avLst>
              <a:gd name="adj1" fmla="val 481090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AFBD6D1-BCBF-B080-AB76-62BFAE5472F1}"/>
              </a:ext>
            </a:extLst>
          </p:cNvPr>
          <p:cNvSpPr txBox="1"/>
          <p:nvPr/>
        </p:nvSpPr>
        <p:spPr>
          <a:xfrm>
            <a:off x="7913714" y="3442450"/>
            <a:ext cx="1762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2838550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75E17-495D-20F4-8773-8B3D3A05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SPI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91826-672E-EF31-7E33-9E2AF3407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Передача одного байта</a:t>
            </a:r>
            <a:endParaRPr lang="en-US" dirty="0"/>
          </a:p>
          <a:p>
            <a:pPr lvl="1"/>
            <a:r>
              <a:rPr lang="en-US" dirty="0"/>
              <a:t>Master </a:t>
            </a:r>
            <a:r>
              <a:rPr lang="en-US" dirty="0" err="1"/>
              <a:t>хочет</a:t>
            </a:r>
            <a:r>
              <a:rPr lang="en-US" dirty="0"/>
              <a:t> </a:t>
            </a:r>
            <a:r>
              <a:rPr lang="en-US" dirty="0" err="1"/>
              <a:t>отправить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0x53 = 01010011₂</a:t>
            </a:r>
          </a:p>
          <a:p>
            <a:pPr lvl="1"/>
            <a:r>
              <a:rPr lang="en-US" dirty="0"/>
              <a:t>Slave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отправляет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0xA6 = 10100110₂</a:t>
            </a:r>
          </a:p>
          <a:p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Такты</a:t>
            </a:r>
            <a:r>
              <a:rPr lang="en-US" dirty="0">
                <a:latin typeface="Consolas" panose="020B0609020204030204" pitchFamily="49" charset="0"/>
              </a:rPr>
              <a:t> SCK: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↓ ↓ ↓ ↓ ↓ ↓ ↓ ↓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MOSI:  0 1 0 1 0 0 1 1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MISO:  1 0 1 0 0 1 1 0</a:t>
            </a:r>
          </a:p>
          <a:p>
            <a:r>
              <a:rPr lang="en-US" dirty="0" err="1"/>
              <a:t>Результат</a:t>
            </a:r>
            <a:endParaRPr lang="en-US" dirty="0"/>
          </a:p>
          <a:p>
            <a:pPr lvl="1"/>
            <a:r>
              <a:rPr lang="en-US" dirty="0"/>
              <a:t>Master </a:t>
            </a:r>
            <a:r>
              <a:rPr lang="en-US" dirty="0" err="1"/>
              <a:t>передал</a:t>
            </a:r>
            <a:r>
              <a:rPr lang="en-US" dirty="0"/>
              <a:t> 0x53</a:t>
            </a:r>
            <a:br>
              <a:rPr lang="en-US" dirty="0"/>
            </a:br>
            <a:r>
              <a:rPr lang="en-US" dirty="0"/>
              <a:t>Master </a:t>
            </a:r>
            <a:r>
              <a:rPr lang="en-US" dirty="0" err="1"/>
              <a:t>получил</a:t>
            </a:r>
            <a:r>
              <a:rPr lang="en-US" dirty="0"/>
              <a:t> 0xA6</a:t>
            </a:r>
            <a:br>
              <a:rPr lang="en-US" dirty="0"/>
            </a:br>
            <a:r>
              <a:rPr lang="en-US" dirty="0"/>
              <a:t>Slave </a:t>
            </a:r>
            <a:r>
              <a:rPr lang="en-US" dirty="0" err="1"/>
              <a:t>передал</a:t>
            </a:r>
            <a:r>
              <a:rPr lang="en-US" dirty="0"/>
              <a:t> 0xA6</a:t>
            </a:r>
            <a:br>
              <a:rPr lang="en-US" dirty="0"/>
            </a:br>
            <a:r>
              <a:rPr lang="en-US" dirty="0"/>
              <a:t>Slave </a:t>
            </a:r>
            <a:r>
              <a:rPr lang="en-US" dirty="0" err="1"/>
              <a:t>получил</a:t>
            </a:r>
            <a:r>
              <a:rPr lang="en-US" dirty="0"/>
              <a:t> 0x53</a:t>
            </a:r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и </a:t>
            </a:r>
            <a:r>
              <a:rPr lang="en-US" dirty="0" err="1"/>
              <a:t>приёмом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1937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CBD3B-F8A4-123E-4AD8-7D63DFFF4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I²C: Inter-Integrated Circuit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AB2A3-DC35-171C-E58F-48CBFF957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I²C — </a:t>
            </a:r>
            <a:r>
              <a:rPr lang="en-US" dirty="0" err="1"/>
              <a:t>синхронный</a:t>
            </a:r>
            <a:r>
              <a:rPr lang="en-US" dirty="0"/>
              <a:t> </a:t>
            </a:r>
            <a:r>
              <a:rPr lang="en-US" dirty="0" err="1"/>
              <a:t>последовательный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ru-RU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к </a:t>
            </a:r>
            <a:r>
              <a:rPr lang="en-US" dirty="0" err="1"/>
              <a:t>микроконтроллеру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датчик</a:t>
            </a:r>
            <a:r>
              <a:rPr lang="ru-RU" dirty="0"/>
              <a:t>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час</a:t>
            </a:r>
            <a:r>
              <a:rPr lang="ru-RU" dirty="0"/>
              <a:t>ы</a:t>
            </a:r>
            <a:r>
              <a:rPr lang="en-US" dirty="0"/>
              <a:t> </a:t>
            </a:r>
            <a:r>
              <a:rPr lang="en-US" dirty="0" err="1"/>
              <a:t>реального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EEPROM; </a:t>
            </a:r>
          </a:p>
          <a:p>
            <a:pPr lvl="1"/>
            <a:r>
              <a:rPr lang="en-US" dirty="0" err="1"/>
              <a:t>диспле</a:t>
            </a:r>
            <a:r>
              <a:rPr lang="ru-RU" dirty="0"/>
              <a:t>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расширите</a:t>
            </a:r>
            <a:r>
              <a:rPr lang="ru-RU" dirty="0"/>
              <a:t>ли</a:t>
            </a:r>
            <a:r>
              <a:rPr lang="en-US" dirty="0"/>
              <a:t> </a:t>
            </a:r>
            <a:r>
              <a:rPr lang="en-US" dirty="0" err="1"/>
              <a:t>ввода-вывода</a:t>
            </a:r>
            <a:endParaRPr lang="ru-RU" dirty="0"/>
          </a:p>
          <a:p>
            <a:r>
              <a:rPr lang="ru-RU" dirty="0"/>
              <a:t>Основные сигналы</a:t>
            </a:r>
          </a:p>
          <a:p>
            <a:pPr lvl="1"/>
            <a:r>
              <a:rPr lang="en-US" dirty="0"/>
              <a:t>SDA – </a:t>
            </a:r>
            <a:r>
              <a:rPr lang="ru-RU" dirty="0"/>
              <a:t>передача данных</a:t>
            </a:r>
          </a:p>
          <a:p>
            <a:pPr lvl="1"/>
            <a:r>
              <a:rPr lang="en-US" dirty="0"/>
              <a:t>SCL – </a:t>
            </a:r>
            <a:r>
              <a:rPr lang="ru-RU" dirty="0"/>
              <a:t>сигнал синхронизации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 I²C</a:t>
            </a:r>
          </a:p>
          <a:p>
            <a:pPr lvl="1"/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</a:t>
            </a:r>
            <a:r>
              <a:rPr lang="en-US" dirty="0" err="1"/>
              <a:t>связи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поддержка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шине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адресация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режим</a:t>
            </a:r>
            <a:r>
              <a:rPr lang="en-US" dirty="0"/>
              <a:t> Master/Slave.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329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625FA-AD2F-7E1D-C7B4-B90A73D0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Подключение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I²C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D0BED0-6F20-E4C3-5F34-37057F9D18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общие</a:t>
            </a:r>
            <a:r>
              <a:rPr lang="en-US" dirty="0"/>
              <a:t> </a:t>
            </a:r>
            <a:r>
              <a:rPr lang="en-US" dirty="0" err="1"/>
              <a:t>линии</a:t>
            </a:r>
            <a:r>
              <a:rPr lang="en-US" dirty="0"/>
              <a:t> SDA и SCL; </a:t>
            </a:r>
          </a:p>
          <a:p>
            <a:r>
              <a:rPr lang="ru-RU" dirty="0"/>
              <a:t>К</a:t>
            </a:r>
            <a:r>
              <a:rPr lang="en-US" dirty="0" err="1"/>
              <a:t>аждая</a:t>
            </a:r>
            <a:r>
              <a:rPr lang="en-US" dirty="0"/>
              <a:t> </a:t>
            </a:r>
            <a:r>
              <a:rPr lang="en-US" dirty="0" err="1"/>
              <a:t>микросхема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; </a:t>
            </a:r>
          </a:p>
          <a:p>
            <a:r>
              <a:rPr lang="ru-RU" dirty="0"/>
              <a:t>В</a:t>
            </a:r>
            <a:r>
              <a:rPr lang="en-US" dirty="0" err="1"/>
              <a:t>едущий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 </a:t>
            </a:r>
            <a:r>
              <a:rPr lang="en-US" dirty="0" err="1"/>
              <a:t>инициирует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; </a:t>
            </a:r>
          </a:p>
          <a:p>
            <a:r>
              <a:rPr lang="ru-RU" dirty="0"/>
              <a:t>О</a:t>
            </a:r>
            <a:r>
              <a:rPr lang="en-US" dirty="0" err="1"/>
              <a:t>дновременно</a:t>
            </a:r>
            <a:r>
              <a:rPr lang="en-US" dirty="0"/>
              <a:t> </a:t>
            </a:r>
            <a:r>
              <a:rPr lang="en-US" dirty="0" err="1"/>
              <a:t>активным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адресованное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C5C4E005-83D9-3490-04A5-CFF1B130CE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379533"/>
            <a:ext cx="5181600" cy="3243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50034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9522E-8F25-ADB2-EF71-6B78EBCDF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I²C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5D6C3A-E65B-D53E-9857-1CA553AA1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Последовательность обмена</a:t>
            </a:r>
          </a:p>
          <a:p>
            <a:pPr lvl="1"/>
            <a:r>
              <a:rPr lang="en-US" dirty="0"/>
              <a:t>START -&gt; Address -&gt; ACK -&gt; Data byte -&gt;ACK -&gt; … STOP</a:t>
            </a:r>
          </a:p>
          <a:p>
            <a:r>
              <a:rPr lang="ru-RU" dirty="0"/>
              <a:t>Основные элементы протокола</a:t>
            </a:r>
          </a:p>
          <a:p>
            <a:pPr lvl="1"/>
            <a:r>
              <a:rPr lang="en-US" dirty="0"/>
              <a:t>START: </a:t>
            </a:r>
            <a:r>
              <a:rPr lang="ru-RU" dirty="0"/>
              <a:t>начало обмена</a:t>
            </a:r>
          </a:p>
          <a:p>
            <a:pPr lvl="1"/>
            <a:r>
              <a:rPr lang="en-US" dirty="0"/>
              <a:t>Address: </a:t>
            </a:r>
            <a:r>
              <a:rPr lang="ru-RU" dirty="0"/>
              <a:t>выбор устройства</a:t>
            </a:r>
          </a:p>
          <a:p>
            <a:pPr lvl="1"/>
            <a:r>
              <a:rPr lang="en-US" dirty="0"/>
              <a:t>R/W: </a:t>
            </a:r>
            <a:r>
              <a:rPr lang="ru-RU" dirty="0"/>
              <a:t>чтение или запись</a:t>
            </a:r>
          </a:p>
          <a:p>
            <a:pPr lvl="1"/>
            <a:r>
              <a:rPr lang="en-US" dirty="0"/>
              <a:t>ACK: </a:t>
            </a:r>
            <a:r>
              <a:rPr lang="ru-RU" dirty="0"/>
              <a:t>подтверждение приёма</a:t>
            </a:r>
          </a:p>
          <a:p>
            <a:pPr lvl="1"/>
            <a:r>
              <a:rPr lang="en-US" dirty="0"/>
              <a:t>Data: </a:t>
            </a:r>
            <a:r>
              <a:rPr lang="ru-RU" dirty="0"/>
              <a:t>передаваемый байт</a:t>
            </a:r>
          </a:p>
          <a:p>
            <a:pPr lvl="1"/>
            <a:r>
              <a:rPr lang="en-US" dirty="0"/>
              <a:t>STOP: </a:t>
            </a:r>
            <a:r>
              <a:rPr lang="ru-RU" dirty="0"/>
              <a:t>завершение обмена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принимающая</a:t>
            </a:r>
            <a:r>
              <a:rPr lang="en-US" dirty="0"/>
              <a:t> </a:t>
            </a:r>
            <a:r>
              <a:rPr lang="en-US" dirty="0" err="1"/>
              <a:t>сторона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подтвердить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 ACK</a:t>
            </a:r>
          </a:p>
        </p:txBody>
      </p:sp>
    </p:spTree>
    <p:extLst>
      <p:ext uri="{BB962C8B-B14F-4D97-AF65-F5344CB8AC3E}">
        <p14:creationId xmlns:p14="http://schemas.microsoft.com/office/powerpoint/2010/main" val="36401962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3E688-234C-6919-4FAD-B41BFB1E7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Open-Drain и </a:t>
            </a:r>
            <a:r>
              <a:rPr lang="en-US" dirty="0" err="1"/>
              <a:t>подтягивающие</a:t>
            </a:r>
            <a:r>
              <a:rPr lang="en-US" dirty="0"/>
              <a:t> </a:t>
            </a:r>
            <a:r>
              <a:rPr lang="en-US" dirty="0" err="1"/>
              <a:t>резисторы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C42EE-9B52-3CF5-B3EE-94769AA91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Проблема</a:t>
            </a:r>
            <a:r>
              <a:rPr lang="en-US" b="1" dirty="0"/>
              <a:t> </a:t>
            </a:r>
            <a:r>
              <a:rPr lang="en-US" b="1" dirty="0" err="1"/>
              <a:t>общей</a:t>
            </a:r>
            <a:r>
              <a:rPr lang="en-US" b="1" dirty="0"/>
              <a:t> </a:t>
            </a:r>
            <a:r>
              <a:rPr lang="en-US" b="1" dirty="0" err="1"/>
              <a:t>линии</a:t>
            </a:r>
            <a:r>
              <a:rPr lang="en-US" b="1" dirty="0"/>
              <a:t> </a:t>
            </a:r>
            <a:r>
              <a:rPr lang="en-US" b="1" dirty="0" err="1"/>
              <a:t>связи</a:t>
            </a:r>
            <a:endParaRPr lang="en-US" b="1" dirty="0"/>
          </a:p>
          <a:p>
            <a:pPr lvl="1"/>
            <a:r>
              <a:rPr lang="en-US" dirty="0"/>
              <a:t>В I²C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одни</a:t>
            </a:r>
            <a:r>
              <a:rPr lang="en-US" dirty="0"/>
              <a:t> и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ru-RU" dirty="0"/>
              <a:t> </a:t>
            </a:r>
            <a:r>
              <a:rPr lang="en-US" dirty="0"/>
              <a:t>SDA </a:t>
            </a:r>
            <a:r>
              <a:rPr lang="ru-RU" dirty="0"/>
              <a:t>и </a:t>
            </a:r>
            <a:r>
              <a:rPr lang="en-US" dirty="0"/>
              <a:t>SCL</a:t>
            </a:r>
          </a:p>
          <a:p>
            <a:r>
              <a:rPr lang="ru-RU" dirty="0"/>
              <a:t>Что произойдёт при конфликте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Устройство </a:t>
            </a:r>
            <a:r>
              <a:rPr lang="en-US" dirty="0"/>
              <a:t>A </a:t>
            </a:r>
            <a:r>
              <a:rPr lang="ru-RU" dirty="0"/>
              <a:t>передаёт 1</a:t>
            </a:r>
          </a:p>
          <a:p>
            <a:pPr lvl="1"/>
            <a:r>
              <a:rPr lang="ru-RU" dirty="0"/>
              <a:t>Устройство </a:t>
            </a:r>
            <a:r>
              <a:rPr lang="en-US" dirty="0"/>
              <a:t>B</a:t>
            </a:r>
            <a:r>
              <a:rPr lang="ru-RU" dirty="0"/>
              <a:t> передаёт 0</a:t>
            </a:r>
          </a:p>
          <a:p>
            <a:pPr lvl="1"/>
            <a:r>
              <a:rPr lang="ru-RU" dirty="0"/>
              <a:t>Какое значение будет на линии</a:t>
            </a:r>
            <a:r>
              <a:rPr lang="en-US" dirty="0"/>
              <a:t>?</a:t>
            </a:r>
          </a:p>
          <a:p>
            <a:r>
              <a:rPr lang="ru-RU" dirty="0"/>
              <a:t>Решение:</a:t>
            </a:r>
            <a:r>
              <a:rPr lang="en-US" dirty="0"/>
              <a:t>Open Drain</a:t>
            </a:r>
          </a:p>
          <a:p>
            <a:pPr lvl="1"/>
            <a:r>
              <a:rPr lang="ru-RU" dirty="0"/>
              <a:t>Устройство может либо передавать 0, либо не управлять линией</a:t>
            </a:r>
          </a:p>
          <a:p>
            <a:pPr lvl="1"/>
            <a:r>
              <a:rPr lang="ru-RU" dirty="0"/>
              <a:t>Логическая единица формируется подтягивающим резистором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82619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1A436-0DC7-07AF-0F38-8EDD609CF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Сравнение</a:t>
            </a:r>
            <a:r>
              <a:rPr lang="en-US" dirty="0"/>
              <a:t> UART, SPI и I²C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29834B8-2D7A-4969-74E7-C9C3FB375F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0594504"/>
              </p:ext>
            </p:extLst>
          </p:nvPr>
        </p:nvGraphicFramePr>
        <p:xfrm>
          <a:off x="838200" y="1825625"/>
          <a:ext cx="10515600" cy="313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07120112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7797695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6813547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37950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I²C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3845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Число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линий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4+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453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Тактирование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Отдельная линия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Отдельная линия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392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Адресация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устройств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Через </a:t>
                      </a:r>
                      <a:r>
                        <a:rPr lang="en-US" dirty="0"/>
                        <a:t>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Встроенная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6681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Несколько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устройств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Неудобно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Возможно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Предусмотрено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905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Скорость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Средняя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Низкая-средняя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148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Области применения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Связь с компьютером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Высокоскоростная периферия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Датчики и управляющая периферия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748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04114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E70C9F-44E9-F2EA-B569-54A967643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Аналого-цифровой преобразователь (АЦП)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0CB102-0C61-D99A-170C-2FA69B7A4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645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E98ED-AA00-212F-4128-54E61DC0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ADC?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ECD21E-5FF6-EC87-54F2-D0FBC5696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Реальный</a:t>
            </a:r>
            <a:r>
              <a:rPr lang="en-US" dirty="0"/>
              <a:t> </a:t>
            </a:r>
            <a:r>
              <a:rPr lang="en-US" dirty="0" err="1"/>
              <a:t>мир</a:t>
            </a:r>
            <a:r>
              <a:rPr lang="en-US" dirty="0"/>
              <a:t> — </a:t>
            </a:r>
            <a:r>
              <a:rPr lang="en-US" dirty="0" err="1"/>
              <a:t>аналоговый</a:t>
            </a:r>
            <a:endParaRPr lang="en-US" dirty="0"/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аналоговых</a:t>
            </a:r>
            <a:r>
              <a:rPr lang="en-US" dirty="0"/>
              <a:t> </a:t>
            </a:r>
            <a:r>
              <a:rPr lang="en-US" dirty="0" err="1"/>
              <a:t>величин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напряжение</a:t>
            </a:r>
            <a:r>
              <a:rPr lang="en-US" dirty="0"/>
              <a:t> </a:t>
            </a:r>
            <a:r>
              <a:rPr lang="en-US" dirty="0" err="1"/>
              <a:t>батареи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температура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освещённость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потенциометра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звука</a:t>
            </a:r>
            <a:r>
              <a:rPr lang="en-US" dirty="0"/>
              <a:t>. </a:t>
            </a:r>
          </a:p>
          <a:p>
            <a:r>
              <a:rPr lang="en-US" dirty="0" err="1"/>
              <a:t>Проблема</a:t>
            </a:r>
            <a:endParaRPr lang="en-US" dirty="0"/>
          </a:p>
          <a:p>
            <a:pPr lvl="1"/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0 и 1</a:t>
            </a:r>
          </a:p>
          <a:p>
            <a:r>
              <a:rPr lang="en-US" dirty="0" err="1"/>
              <a:t>Решение</a:t>
            </a:r>
            <a:endParaRPr lang="en-US" dirty="0"/>
          </a:p>
          <a:p>
            <a:pPr lvl="1"/>
            <a:r>
              <a:rPr lang="en-US" dirty="0"/>
              <a:t>ADC (Analog-to-Digital Converter)</a:t>
            </a:r>
          </a:p>
          <a:p>
            <a:pPr lvl="1"/>
            <a:r>
              <a:rPr lang="en-US" dirty="0" err="1"/>
              <a:t>Преобразует</a:t>
            </a:r>
            <a:r>
              <a:rPr lang="ru-RU" dirty="0"/>
              <a:t> </a:t>
            </a:r>
            <a:r>
              <a:rPr lang="en-US" dirty="0" err="1"/>
              <a:t>напряжение</a:t>
            </a:r>
            <a:r>
              <a:rPr lang="ru-RU" dirty="0"/>
              <a:t> в цифровое значение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0287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C1E04-7A95-FE2C-5ACD-0F776D4AD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ADC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3D06B-EA7C-B927-F12E-A8B7440B38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 err="1"/>
                  <a:t>Аналоговое</a:t>
                </a:r>
                <a:r>
                  <a:rPr lang="en-US" dirty="0"/>
                  <a:t> </a:t>
                </a:r>
                <a:r>
                  <a:rPr lang="ru-RU" dirty="0"/>
                  <a:t>входное </a:t>
                </a:r>
                <a:r>
                  <a:rPr lang="en-US" dirty="0" err="1"/>
                  <a:t>напряжение</a:t>
                </a:r>
                <a:r>
                  <a:rPr lang="ru-RU" dirty="0"/>
                  <a:t> сравнивается с опорным </a:t>
                </a:r>
                <a:r>
                  <a:rPr lang="en-US" dirty="0"/>
                  <a:t>VREF</a:t>
                </a:r>
                <a:endParaRPr lang="ru-RU" dirty="0"/>
              </a:p>
              <a:p>
                <a:r>
                  <a:rPr lang="ru-RU" dirty="0"/>
                  <a:t>Формула: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𝐴𝐷𝐶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𝑉𝐼𝑁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𝑉𝑅𝐸𝐹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</a:rPr>
                      <m:t>​​×(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−1) 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где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— </a:t>
                </a:r>
                <a:r>
                  <a:rPr lang="en-US" dirty="0" err="1"/>
                  <a:t>разрядность</a:t>
                </a:r>
                <a:r>
                  <a:rPr lang="en-US" dirty="0"/>
                  <a:t> ADC.</a:t>
                </a:r>
              </a:p>
              <a:p>
                <a:r>
                  <a:rPr lang="ru-RU" dirty="0"/>
                  <a:t>В </a:t>
                </a:r>
                <a:r>
                  <a:rPr lang="en-US" dirty="0"/>
                  <a:t>ATmega328P </a:t>
                </a:r>
                <a:r>
                  <a:rPr lang="ru-RU" dirty="0"/>
                  <a:t>10 битный </a:t>
                </a:r>
                <a:r>
                  <a:rPr lang="en-US" dirty="0"/>
                  <a:t>ADC</a:t>
                </a:r>
                <a:r>
                  <a:rPr lang="ru-RU" dirty="0"/>
                  <a:t> возвращает результат в диапазоне от 0 до 102</a:t>
                </a:r>
                <a:r>
                  <a:rPr lang="en-US" dirty="0"/>
                  <a:t>3</a:t>
                </a:r>
                <a:endParaRPr lang="ru-RU" dirty="0"/>
              </a:p>
              <a:p>
                <a:pPr lvl="1"/>
                <a:r>
                  <a:rPr lang="ru-RU" dirty="0"/>
                  <a:t>Регистр </a:t>
                </a:r>
                <a:r>
                  <a:rPr lang="en-US" dirty="0"/>
                  <a:t>ADC</a:t>
                </a:r>
                <a:r>
                  <a:rPr lang="ru-RU" dirty="0"/>
                  <a:t> (</a:t>
                </a:r>
                <a:r>
                  <a:rPr lang="en-US" dirty="0"/>
                  <a:t>ADCL </a:t>
                </a:r>
                <a:r>
                  <a:rPr lang="ru-RU" dirty="0"/>
                  <a:t>и </a:t>
                </a:r>
                <a:r>
                  <a:rPr lang="en-US" dirty="0"/>
                  <a:t>ADCH)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3D06B-EA7C-B927-F12E-A8B7440B38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413594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3D9CE-EB49-FF96-ED19-58F8D0A57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Настройка</a:t>
            </a:r>
            <a:r>
              <a:rPr lang="en-US" dirty="0"/>
              <a:t> ADC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18D11-0669-AAAD-3CE6-0B0B7D843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ru-RU" dirty="0"/>
              <a:t>Регистры</a:t>
            </a:r>
          </a:p>
          <a:p>
            <a:pPr lvl="1"/>
            <a:r>
              <a:rPr lang="en-US" dirty="0"/>
              <a:t>ADMUX – </a:t>
            </a:r>
            <a:r>
              <a:rPr lang="ru-RU" dirty="0"/>
              <a:t>выбор входа и опорного напряжения</a:t>
            </a:r>
          </a:p>
          <a:p>
            <a:pPr lvl="1"/>
            <a:r>
              <a:rPr lang="en-US" dirty="0"/>
              <a:t>ADCSRA – </a:t>
            </a:r>
            <a:r>
              <a:rPr lang="ru-RU" dirty="0"/>
              <a:t>управление </a:t>
            </a:r>
            <a:r>
              <a:rPr lang="en-US" dirty="0"/>
              <a:t>ADC</a:t>
            </a:r>
          </a:p>
          <a:p>
            <a:pPr lvl="1"/>
            <a:r>
              <a:rPr lang="en-US" dirty="0"/>
              <a:t>ADC – </a:t>
            </a:r>
            <a:r>
              <a:rPr lang="ru-RU" dirty="0"/>
              <a:t>результат преобразования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BFFDD-4824-DA49-CC98-5BCC621EF957}"/>
              </a:ext>
            </a:extLst>
          </p:cNvPr>
          <p:cNvSpPr txBox="1"/>
          <p:nvPr/>
        </p:nvSpPr>
        <p:spPr>
          <a:xfrm>
            <a:off x="6096000" y="1825625"/>
            <a:ext cx="49363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ADC_Init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Опорное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напряжение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AVCC.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ADMUX 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REFS0);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Включаем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ADC.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Делитель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частоты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128.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ADCSRA =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ADEN)  |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ADPS2) |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ADPS1) |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ADPS0);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222865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1A455-3987-BAC4-5CC4-0E31895CE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аналогового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E81DE8-0B58-B8C6-1758-20C604BE5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05003"/>
            <a:ext cx="10515600" cy="1471959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Алгоритм</a:t>
            </a:r>
            <a:endParaRPr lang="en-US" dirty="0"/>
          </a:p>
          <a:p>
            <a:pPr lvl="1"/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канал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запустить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дождаться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BD15B6-14E2-E848-A62B-91A187FA5867}"/>
              </a:ext>
            </a:extLst>
          </p:cNvPr>
          <p:cNvSpPr txBox="1"/>
          <p:nvPr/>
        </p:nvSpPr>
        <p:spPr>
          <a:xfrm>
            <a:off x="838200" y="1690688"/>
            <a:ext cx="830164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ADC_Read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channel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ADMUX =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(ADMUX &amp;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0xF0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|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channel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0x0F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ADCSRA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ADSC);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(ADCSRA &amp;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ADSC))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ADC;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58124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58C368-F030-6628-D759-D383EC70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PWM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22B044-57E2-20EF-BBF9-4B098D65D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72247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A82FC0-EA1D-E24E-DD08-0C707D617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PWM: Pulse Width Modulation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65A3A52-675A-6D5F-0C81-4E0F26B489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876011" cy="43513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PWM — </a:t>
                </a:r>
                <a:r>
                  <a:rPr lang="en-US" dirty="0" err="1"/>
                  <a:t>широтно-импульсная</a:t>
                </a:r>
                <a:r>
                  <a:rPr lang="en-US" dirty="0"/>
                  <a:t> </a:t>
                </a:r>
                <a:r>
                  <a:rPr lang="en-US" dirty="0" err="1"/>
                  <a:t>модуляция</a:t>
                </a:r>
                <a:endParaRPr lang="en-US" dirty="0"/>
              </a:p>
              <a:p>
                <a:pPr lvl="1"/>
                <a:r>
                  <a:rPr lang="en-US" dirty="0" err="1"/>
                  <a:t>Метод</a:t>
                </a:r>
                <a:r>
                  <a:rPr lang="en-US" dirty="0"/>
                  <a:t> </a:t>
                </a:r>
                <a:r>
                  <a:rPr lang="en-US" dirty="0" err="1"/>
                  <a:t>управления</a:t>
                </a:r>
                <a:r>
                  <a:rPr lang="en-US" dirty="0"/>
                  <a:t> </a:t>
                </a:r>
                <a:r>
                  <a:rPr lang="en-US" dirty="0" err="1"/>
                  <a:t>средней</a:t>
                </a:r>
                <a:r>
                  <a:rPr lang="en-US" dirty="0"/>
                  <a:t> </a:t>
                </a:r>
                <a:r>
                  <a:rPr lang="en-US" dirty="0" err="1"/>
                  <a:t>мощностью</a:t>
                </a:r>
                <a:r>
                  <a:rPr lang="en-US" dirty="0"/>
                  <a:t>, </a:t>
                </a:r>
                <a:r>
                  <a:rPr lang="en-US" dirty="0" err="1"/>
                  <a:t>подводимой</a:t>
                </a:r>
                <a:r>
                  <a:rPr lang="en-US" dirty="0"/>
                  <a:t> к </a:t>
                </a:r>
                <a:r>
                  <a:rPr lang="en-US" dirty="0" err="1"/>
                  <a:t>нагрузке</a:t>
                </a:r>
                <a:r>
                  <a:rPr lang="en-US" dirty="0"/>
                  <a:t>, </a:t>
                </a:r>
                <a:r>
                  <a:rPr lang="en-US" dirty="0" err="1"/>
                  <a:t>путём</a:t>
                </a:r>
                <a:r>
                  <a:rPr lang="en-US" dirty="0"/>
                  <a:t> </a:t>
                </a:r>
                <a:r>
                  <a:rPr lang="en-US" dirty="0" err="1"/>
                  <a:t>изменения</a:t>
                </a:r>
                <a:r>
                  <a:rPr lang="en-US" dirty="0"/>
                  <a:t> </a:t>
                </a:r>
                <a:r>
                  <a:rPr lang="en-US" dirty="0" err="1"/>
                  <a:t>длительности</a:t>
                </a:r>
                <a:r>
                  <a:rPr lang="en-US" dirty="0"/>
                  <a:t> </a:t>
                </a:r>
                <a:r>
                  <a:rPr lang="en-US" dirty="0" err="1"/>
                  <a:t>импульсов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Коэффициент</a:t>
                </a:r>
                <a:r>
                  <a:rPr lang="en-US" dirty="0"/>
                  <a:t> </a:t>
                </a:r>
                <a:r>
                  <a:rPr lang="en-US" dirty="0" err="1"/>
                  <a:t>заполнения</a:t>
                </a:r>
                <a:r>
                  <a:rPr lang="en-US" dirty="0"/>
                  <a:t> (Duty Cycle)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𝐷𝑢𝑡𝑦𝐶𝑦𝑐𝑙𝑒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𝑂𝑁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𝑃𝐸𝑅𝐼𝑂𝐷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×100%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Применение</a:t>
                </a:r>
                <a:r>
                  <a:rPr lang="en-US" dirty="0"/>
                  <a:t> PWM</a:t>
                </a:r>
              </a:p>
              <a:p>
                <a:pPr lvl="1"/>
                <a:r>
                  <a:rPr lang="en-US" dirty="0" err="1"/>
                  <a:t>регулировка</a:t>
                </a:r>
                <a:r>
                  <a:rPr lang="en-US" dirty="0"/>
                  <a:t> </a:t>
                </a:r>
                <a:r>
                  <a:rPr lang="en-US" dirty="0" err="1"/>
                  <a:t>яркости</a:t>
                </a:r>
                <a:r>
                  <a:rPr lang="en-US" dirty="0"/>
                  <a:t> </a:t>
                </a:r>
                <a:r>
                  <a:rPr lang="en-US" dirty="0" err="1"/>
                  <a:t>светодиодов</a:t>
                </a:r>
                <a:r>
                  <a:rPr lang="en-US" dirty="0"/>
                  <a:t>; </a:t>
                </a:r>
              </a:p>
              <a:p>
                <a:pPr lvl="1"/>
                <a:r>
                  <a:rPr lang="en-US" dirty="0" err="1"/>
                  <a:t>управление</a:t>
                </a:r>
                <a:r>
                  <a:rPr lang="en-US" dirty="0"/>
                  <a:t> </a:t>
                </a:r>
                <a:r>
                  <a:rPr lang="en-US" dirty="0" err="1"/>
                  <a:t>скоростью</a:t>
                </a:r>
                <a:r>
                  <a:rPr lang="en-US" dirty="0"/>
                  <a:t> </a:t>
                </a:r>
                <a:r>
                  <a:rPr lang="en-US" dirty="0" err="1"/>
                  <a:t>электродвигателей</a:t>
                </a:r>
                <a:r>
                  <a:rPr lang="en-US" dirty="0"/>
                  <a:t>; </a:t>
                </a:r>
              </a:p>
              <a:p>
                <a:pPr lvl="1"/>
                <a:r>
                  <a:rPr lang="en-US" dirty="0" err="1"/>
                  <a:t>генерация</a:t>
                </a:r>
                <a:r>
                  <a:rPr lang="en-US" dirty="0"/>
                  <a:t> </a:t>
                </a:r>
                <a:r>
                  <a:rPr lang="en-US" dirty="0" err="1"/>
                  <a:t>аналогоподобных</a:t>
                </a:r>
                <a:r>
                  <a:rPr lang="en-US" dirty="0"/>
                  <a:t> </a:t>
                </a:r>
                <a:r>
                  <a:rPr lang="en-US" dirty="0" err="1"/>
                  <a:t>сигналов</a:t>
                </a:r>
                <a:r>
                  <a:rPr lang="en-US" dirty="0"/>
                  <a:t>; </a:t>
                </a:r>
              </a:p>
              <a:p>
                <a:pPr lvl="1"/>
                <a:r>
                  <a:rPr lang="en-US" dirty="0" err="1"/>
                  <a:t>управление</a:t>
                </a:r>
                <a:r>
                  <a:rPr lang="en-US" dirty="0"/>
                  <a:t> </a:t>
                </a:r>
                <a:r>
                  <a:rPr lang="en-US" dirty="0" err="1"/>
                  <a:t>мощностью</a:t>
                </a:r>
                <a:r>
                  <a:rPr lang="en-US" dirty="0"/>
                  <a:t> </a:t>
                </a:r>
                <a:r>
                  <a:rPr lang="en-US" dirty="0" err="1"/>
                  <a:t>нагрузки</a:t>
                </a:r>
                <a:r>
                  <a:rPr lang="en-US" dirty="0"/>
                  <a:t>.</a:t>
                </a:r>
              </a:p>
              <a:p>
                <a:r>
                  <a:rPr lang="ru-RU" dirty="0"/>
                  <a:t>В микроконтроллерах </a:t>
                </a:r>
                <a:r>
                  <a:rPr lang="en-US" dirty="0"/>
                  <a:t>AVR </a:t>
                </a:r>
                <a:r>
                  <a:rPr lang="ru-RU" dirty="0"/>
                  <a:t>генерация </a:t>
                </a:r>
                <a:r>
                  <a:rPr lang="en-US" dirty="0"/>
                  <a:t>PWM </a:t>
                </a:r>
                <a:r>
                  <a:rPr lang="ru-RU" dirty="0"/>
                  <a:t>выполняется </a:t>
                </a:r>
                <a:r>
                  <a:rPr lang="ru-RU" dirty="0" err="1"/>
                  <a:t>аппаратно</a:t>
                </a:r>
                <a:r>
                  <a:rPr lang="ru-RU" dirty="0"/>
                  <a:t> с использованием таймеров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65A3A52-675A-6D5F-0C81-4E0F26B489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876011" cy="4351338"/>
              </a:xfrm>
              <a:blipFill>
                <a:blip r:embed="rId3"/>
                <a:stretch>
                  <a:fillRect l="-1242" t="-308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01E8A26-F12E-6F79-9175-29734CC29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6844" y="1825625"/>
            <a:ext cx="4379520" cy="276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471434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142F7-34BD-9D27-5AC4-809C5D6CF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Особенности</a:t>
            </a:r>
            <a:r>
              <a:rPr lang="en-US" dirty="0"/>
              <a:t> embedded-</a:t>
            </a:r>
            <a:r>
              <a:rPr lang="en-US" dirty="0" err="1"/>
              <a:t>программ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A4AE45-0473-1096-23CD-971A30C555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13847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9CB7EF-C1BC-FCD6-146E-BCE2E9CED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Особенности</a:t>
            </a:r>
            <a:r>
              <a:rPr lang="en-US" dirty="0"/>
              <a:t> embedded-</a:t>
            </a:r>
            <a:r>
              <a:rPr lang="en-US" dirty="0" err="1"/>
              <a:t>программ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8922D2-DCAA-17A6-4B56-EC959B251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Особенности работы:</a:t>
            </a:r>
          </a:p>
          <a:p>
            <a:pPr lvl="1"/>
            <a:r>
              <a:rPr lang="ru-RU" dirty="0"/>
              <a:t>З</a:t>
            </a:r>
            <a:r>
              <a:rPr lang="en-US" dirty="0" err="1"/>
              <a:t>апуск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включения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; </a:t>
            </a:r>
          </a:p>
          <a:p>
            <a:pPr lvl="1"/>
            <a:r>
              <a:rPr lang="ru-RU" dirty="0"/>
              <a:t>Непрерывная работа</a:t>
            </a:r>
          </a:p>
          <a:p>
            <a:pPr lvl="1"/>
            <a:r>
              <a:rPr lang="ru-RU" dirty="0"/>
              <a:t>Взаимодействие </a:t>
            </a:r>
            <a:r>
              <a:rPr lang="en-US" dirty="0"/>
              <a:t>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; </a:t>
            </a:r>
          </a:p>
          <a:p>
            <a:pPr lvl="1"/>
            <a:r>
              <a:rPr lang="ru-RU" dirty="0"/>
              <a:t>Реакция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в </a:t>
            </a:r>
            <a:r>
              <a:rPr lang="en-US" dirty="0" err="1"/>
              <a:t>реальном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r>
              <a:rPr lang="en-US" dirty="0" err="1"/>
              <a:t>Источники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endParaRPr lang="en-US" dirty="0"/>
          </a:p>
          <a:p>
            <a:pPr lvl="1"/>
            <a:r>
              <a:rPr lang="en-US" dirty="0"/>
              <a:t>GPIO; </a:t>
            </a:r>
          </a:p>
          <a:p>
            <a:pPr lvl="1"/>
            <a:r>
              <a:rPr lang="en-US" dirty="0" err="1"/>
              <a:t>таймеры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UART; </a:t>
            </a:r>
          </a:p>
          <a:p>
            <a:pPr lvl="1"/>
            <a:r>
              <a:rPr lang="en-US" dirty="0"/>
              <a:t>SPI / I²C; </a:t>
            </a:r>
          </a:p>
          <a:p>
            <a:pPr lvl="1"/>
            <a:r>
              <a:rPr lang="en-US" dirty="0"/>
              <a:t>ADC; </a:t>
            </a:r>
          </a:p>
          <a:p>
            <a:pPr lvl="1"/>
            <a:r>
              <a:rPr lang="en-US" dirty="0" err="1"/>
              <a:t>прерывания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12001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F5451-39D2-6B86-2F16-AB0463D02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Super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D218C-BC9D-8EB8-F1D2-0E0B2C412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60869" cy="4351338"/>
          </a:xfrm>
        </p:spPr>
        <p:txBody>
          <a:bodyPr>
            <a:normAutofit/>
          </a:bodyPr>
          <a:lstStyle/>
          <a:p>
            <a:r>
              <a:rPr lang="en-US"/>
              <a:t>Принцип работы</a:t>
            </a:r>
          </a:p>
          <a:p>
            <a:pPr lvl="1"/>
            <a:r>
              <a:rPr lang="en-US"/>
              <a:t>главный цикл никогда не завершается; </a:t>
            </a:r>
          </a:p>
          <a:p>
            <a:pPr lvl="1"/>
            <a:r>
              <a:rPr lang="en-US"/>
              <a:t>подсистемы опрашиваются по очереди; </a:t>
            </a:r>
          </a:p>
          <a:p>
            <a:pPr lvl="1"/>
            <a:r>
              <a:rPr lang="en-US"/>
              <a:t>каждая функция должна быстро возвращать управление. </a:t>
            </a:r>
          </a:p>
          <a:p>
            <a:r>
              <a:rPr lang="en-US"/>
              <a:t>Преимущества</a:t>
            </a:r>
          </a:p>
          <a:p>
            <a:pPr lvl="1"/>
            <a:r>
              <a:rPr lang="en-US"/>
              <a:t>простота; </a:t>
            </a:r>
          </a:p>
          <a:p>
            <a:pPr lvl="1"/>
            <a:r>
              <a:rPr lang="en-US"/>
              <a:t>предсказуемость; </a:t>
            </a:r>
          </a:p>
          <a:p>
            <a:pPr lvl="1"/>
            <a:r>
              <a:rPr lang="en-US"/>
              <a:t>отсутствие операционной системы.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5E7654-F592-D328-3755-81CACD459F3F}"/>
              </a:ext>
            </a:extLst>
          </p:cNvPr>
          <p:cNvSpPr txBox="1"/>
          <p:nvPr/>
        </p:nvSpPr>
        <p:spPr>
          <a:xfrm>
            <a:off x="7635240" y="1825625"/>
            <a:ext cx="35204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ProcessButtons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ProcessUART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ProcessADC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UpdateDisplay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6118422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8D5B1-EB1E-18DC-18E1-0FBDCD829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Прерывания</a:t>
            </a:r>
            <a:r>
              <a:rPr lang="en-US" dirty="0"/>
              <a:t> и </a:t>
            </a:r>
            <a:r>
              <a:rPr lang="en-US" dirty="0" err="1"/>
              <a:t>события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60B71-7305-E079-B0C9-812502463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Нежелательно:</a:t>
            </a:r>
          </a:p>
          <a:p>
            <a:pPr lvl="1"/>
            <a:r>
              <a:rPr lang="en-US" dirty="0"/>
              <a:t>while (!(UCSR0A &amp; (1 &lt;&lt; RXC0)))</a:t>
            </a:r>
          </a:p>
          <a:p>
            <a:pPr lvl="1"/>
            <a:r>
              <a:rPr lang="en-US" dirty="0"/>
              <a:t>    ;</a:t>
            </a:r>
            <a:endParaRPr lang="ru-RU" dirty="0"/>
          </a:p>
          <a:p>
            <a:r>
              <a:rPr lang="ru-RU" dirty="0"/>
              <a:t>Предпочтительно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Аппаратное событие -</a:t>
            </a:r>
            <a:r>
              <a:rPr lang="en-US" dirty="0"/>
              <a:t>&gt; ISR -&gt;</a:t>
            </a:r>
            <a:r>
              <a:rPr lang="ru-RU" dirty="0"/>
              <a:t> Установка флага -</a:t>
            </a:r>
            <a:r>
              <a:rPr lang="en-US" dirty="0"/>
              <a:t>&gt;</a:t>
            </a:r>
            <a:r>
              <a:rPr lang="ru-RU" dirty="0"/>
              <a:t> Обработка в </a:t>
            </a:r>
            <a:r>
              <a:rPr lang="en-US" dirty="0"/>
              <a:t>main()</a:t>
            </a:r>
            <a:endParaRPr lang="ru-RU" dirty="0"/>
          </a:p>
          <a:p>
            <a:r>
              <a:rPr lang="ru-RU" dirty="0"/>
              <a:t>Принцип</a:t>
            </a:r>
          </a:p>
          <a:p>
            <a:pPr lvl="1"/>
            <a:r>
              <a:rPr lang="en-US" dirty="0"/>
              <a:t>ISR </a:t>
            </a:r>
            <a:r>
              <a:rPr lang="ru-RU" dirty="0"/>
              <a:t>должна быть короткой</a:t>
            </a:r>
          </a:p>
          <a:p>
            <a:pPr lvl="1"/>
            <a:r>
              <a:rPr lang="ru-RU" dirty="0"/>
              <a:t>Длительная обработка выполняется в главном цикле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02124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0ABC9-68CF-74E8-96CE-C350D9F41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Конечный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31BB0-E9CD-0BC8-17FB-165F7AA9E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текущим</a:t>
            </a:r>
            <a:r>
              <a:rPr lang="en-US" dirty="0"/>
              <a:t> </a:t>
            </a:r>
            <a:r>
              <a:rPr lang="en-US" dirty="0" err="1"/>
              <a:t>состоянием</a:t>
            </a:r>
            <a:endParaRPr lang="en-US" dirty="0"/>
          </a:p>
          <a:p>
            <a:pPr lvl="1"/>
            <a:r>
              <a:rPr lang="en-US" dirty="0"/>
              <a:t>IDLE → MEASURING → PROCESSING → DISPLAYING → IDLE</a:t>
            </a:r>
          </a:p>
          <a:p>
            <a:r>
              <a:rPr lang="en-US" dirty="0" err="1"/>
              <a:t>Идея</a:t>
            </a:r>
            <a:endParaRPr lang="en-US" dirty="0"/>
          </a:p>
          <a:p>
            <a:pPr lvl="1"/>
            <a:r>
              <a:rPr lang="en-US" dirty="0" err="1"/>
              <a:t>Реакция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</a:p>
          <a:p>
            <a:r>
              <a:rPr lang="en-US" dirty="0" err="1"/>
              <a:t>Преимущества</a:t>
            </a:r>
            <a:endParaRPr lang="en-US" dirty="0"/>
          </a:p>
          <a:p>
            <a:pPr lvl="1"/>
            <a:r>
              <a:rPr lang="en-US" dirty="0" err="1"/>
              <a:t>понятная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удобство</a:t>
            </a:r>
            <a:r>
              <a:rPr lang="en-US" dirty="0"/>
              <a:t> </a:t>
            </a:r>
            <a:r>
              <a:rPr lang="en-US" dirty="0" err="1"/>
              <a:t>сопровождения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предсказуемое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309709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FB69D-EEB8-1365-572F-68794A444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7BF04-97DB-CF69-4C9A-525857CC2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познакомились</a:t>
            </a:r>
            <a:r>
              <a:rPr lang="en-US" dirty="0"/>
              <a:t> с </a:t>
            </a:r>
            <a:r>
              <a:rPr lang="en-US" dirty="0" err="1"/>
              <a:t>основными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  <a:p>
            <a:pPr lvl="1"/>
            <a:r>
              <a:rPr lang="ru-RU" dirty="0"/>
              <a:t>Процессор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данных</a:t>
            </a:r>
            <a:r>
              <a:rPr lang="en-US" dirty="0"/>
              <a:t>, GPIO, </a:t>
            </a:r>
            <a:r>
              <a:rPr lang="en-US" dirty="0" err="1"/>
              <a:t>таймер</a:t>
            </a:r>
            <a:r>
              <a:rPr lang="ru-RU" dirty="0"/>
              <a:t>ы, </a:t>
            </a:r>
            <a:r>
              <a:rPr lang="en-US" dirty="0" err="1"/>
              <a:t>прерывани</a:t>
            </a:r>
            <a:r>
              <a:rPr lang="ru-RU" dirty="0"/>
              <a:t>я, </a:t>
            </a:r>
            <a:r>
              <a:rPr lang="en-US" dirty="0" err="1"/>
              <a:t>интерфейс</a:t>
            </a:r>
            <a:r>
              <a:rPr lang="ru-RU" dirty="0"/>
              <a:t>ы</a:t>
            </a:r>
            <a:r>
              <a:rPr lang="en-US" dirty="0"/>
              <a:t> UART, SPI и I²C</a:t>
            </a:r>
            <a:r>
              <a:rPr lang="ru-RU" dirty="0"/>
              <a:t>, </a:t>
            </a:r>
            <a:r>
              <a:rPr lang="en-US" dirty="0"/>
              <a:t>ADC и PWM.</a:t>
            </a:r>
          </a:p>
          <a:p>
            <a:r>
              <a:rPr lang="en-US" dirty="0" err="1"/>
              <a:t>Ключевая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endParaRPr lang="en-US" dirty="0"/>
          </a:p>
          <a:p>
            <a:pPr lvl="1"/>
            <a:r>
              <a:rPr lang="en-US" dirty="0" err="1"/>
              <a:t>Микроконтроллер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в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программное</a:t>
            </a:r>
            <a:r>
              <a:rPr lang="en-US" dirty="0"/>
              <a:t> </a:t>
            </a:r>
            <a:r>
              <a:rPr lang="en-US" dirty="0" err="1"/>
              <a:t>обеспечение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</a:t>
            </a:r>
          </a:p>
          <a:p>
            <a:r>
              <a:rPr lang="en-US" dirty="0" err="1"/>
              <a:t>Важные</a:t>
            </a:r>
            <a:r>
              <a:rPr lang="en-US" dirty="0"/>
              <a:t> </a:t>
            </a:r>
            <a:r>
              <a:rPr lang="en-US" dirty="0" err="1"/>
              <a:t>принципы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endParaRPr lang="en-US" dirty="0"/>
          </a:p>
          <a:p>
            <a:pPr lvl="1"/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аппаратуры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регистрами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учёт</a:t>
            </a:r>
            <a:r>
              <a:rPr lang="en-US" dirty="0"/>
              <a:t> </a:t>
            </a:r>
            <a:r>
              <a:rPr lang="en-US" dirty="0" err="1"/>
              <a:t>ограниченности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предсказуемость</a:t>
            </a:r>
            <a:r>
              <a:rPr lang="en-US" dirty="0"/>
              <a:t> </a:t>
            </a:r>
            <a:r>
              <a:rPr lang="en-US" dirty="0" err="1"/>
              <a:t>поведения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41559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2910</TotalTime>
  <Words>19294</Words>
  <Application>Microsoft Office PowerPoint</Application>
  <PresentationFormat>Widescreen</PresentationFormat>
  <Paragraphs>2821</Paragraphs>
  <Slides>87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4" baseType="lpstr">
      <vt:lpstr>Aptos</vt:lpstr>
      <vt:lpstr>Aptos Display</vt:lpstr>
      <vt:lpstr>Arial</vt:lpstr>
      <vt:lpstr>Cambria Math</vt:lpstr>
      <vt:lpstr>Comic Sans MS</vt:lpstr>
      <vt:lpstr>Consolas</vt:lpstr>
      <vt:lpstr>Office Theme</vt:lpstr>
      <vt:lpstr>Программирование микроконтроллеров</vt:lpstr>
      <vt:lpstr>Встраиваемые системы (embedded systems)</vt:lpstr>
      <vt:lpstr>Что такое микроконтроллер</vt:lpstr>
      <vt:lpstr>Из чего состоит микроконтроллер</vt:lpstr>
      <vt:lpstr>CPU внутри микроконтроллера</vt:lpstr>
      <vt:lpstr>Периферия микроконтроллера</vt:lpstr>
      <vt:lpstr>Микроконтроллер как система на кристалле</vt:lpstr>
      <vt:lpstr>Микроконтроллеры AVR</vt:lpstr>
      <vt:lpstr>Архитектура AVR</vt:lpstr>
      <vt:lpstr>Гарвардская архитектура AVR</vt:lpstr>
      <vt:lpstr>Память в AVR</vt:lpstr>
      <vt:lpstr>Регистры AVR</vt:lpstr>
      <vt:lpstr>Система команд AVR</vt:lpstr>
      <vt:lpstr>Адресное пространство ATmega328P</vt:lpstr>
      <vt:lpstr>AVR и embedded-разработка</vt:lpstr>
      <vt:lpstr>Два пространства адресов для I/O-регистров</vt:lpstr>
      <vt:lpstr>PowerPoint Presentation</vt:lpstr>
      <vt:lpstr>Что происходит после загрузки программы</vt:lpstr>
      <vt:lpstr>GPIO: цифровые выводы микроконтроллера</vt:lpstr>
      <vt:lpstr>Режимы работы GPIO</vt:lpstr>
      <vt:lpstr>Работа с аппаратными регистрами</vt:lpstr>
      <vt:lpstr>GPIO в ATmega328P</vt:lpstr>
      <vt:lpstr>AVR Toolchain</vt:lpstr>
      <vt:lpstr>Toolchain для AVR</vt:lpstr>
      <vt:lpstr>Компиляция программы для AVR</vt:lpstr>
      <vt:lpstr>Дизассемблирование AVR-программы</vt:lpstr>
      <vt:lpstr>Прошивка микроконтроллера</vt:lpstr>
      <vt:lpstr>Особенности embedded toolchain</vt:lpstr>
      <vt:lpstr>Пример программы: мигание светодиодом</vt:lpstr>
      <vt:lpstr>Таймеры микроконтроллера</vt:lpstr>
      <vt:lpstr>Таймеры микроконтроллера</vt:lpstr>
      <vt:lpstr>Принцип работы таймера</vt:lpstr>
      <vt:lpstr>Прерывания (Interrupts)</vt:lpstr>
      <vt:lpstr>Polling vs Interrupts</vt:lpstr>
      <vt:lpstr>Interrupt Service Routine (ISR)</vt:lpstr>
      <vt:lpstr>volatile и interrupts</vt:lpstr>
      <vt:lpstr>Таблица векторов прерываний</vt:lpstr>
      <vt:lpstr>Пример: прерывание по таймеру (начало)</vt:lpstr>
      <vt:lpstr>Прерывание по таймеру (окончание)</vt:lpstr>
      <vt:lpstr>Эта же программа в Arduino IDE</vt:lpstr>
      <vt:lpstr>Заглянем внутрь полученного образа</vt:lpstr>
      <vt:lpstr>Вектор прерываний программы</vt:lpstr>
      <vt:lpstr>Инициализация</vt:lpstr>
      <vt:lpstr>Обработчик прерывания таймера</vt:lpstr>
      <vt:lpstr>Код функции setup</vt:lpstr>
      <vt:lpstr>Главный цикл программы</vt:lpstr>
      <vt:lpstr>Что важно понять из этого примера</vt:lpstr>
      <vt:lpstr>Interrupt latency</vt:lpstr>
      <vt:lpstr>Interrupt nesting</vt:lpstr>
      <vt:lpstr>Состояние гонки (Race Condition)</vt:lpstr>
      <vt:lpstr>Решение – запретить прерывания при доступе к 16-битной переменной</vt:lpstr>
      <vt:lpstr>Инструкции cli и sei</vt:lpstr>
      <vt:lpstr>Флаги и разрешение прерываний</vt:lpstr>
      <vt:lpstr>Таблица векторов прерываний</vt:lpstr>
      <vt:lpstr>Ещё раз о гарвардской архитектуре AVR</vt:lpstr>
      <vt:lpstr>Интерфейсы передачи данных</vt:lpstr>
      <vt:lpstr>Зачем нужны интерфейсы передачи данных?</vt:lpstr>
      <vt:lpstr>Сравнение UART, SPI и I²C</vt:lpstr>
      <vt:lpstr>UART: Universal Asynchronous Receiver Transmitter</vt:lpstr>
      <vt:lpstr>Передача байта по UART</vt:lpstr>
      <vt:lpstr>Настройка формата кадра UART</vt:lpstr>
      <vt:lpstr>Настройка UART через регистры AVR</vt:lpstr>
      <vt:lpstr>Пример: эховвод с инверсией регистра</vt:lpstr>
      <vt:lpstr>Инициализация UART на приём и передачу</vt:lpstr>
      <vt:lpstr>Чтение и запись символа</vt:lpstr>
      <vt:lpstr>Меняем регистр символа</vt:lpstr>
      <vt:lpstr>SPI: Serial Peripheral Interface</vt:lpstr>
      <vt:lpstr>SPI: master и slave</vt:lpstr>
      <vt:lpstr>Пример обмена данными по SPI</vt:lpstr>
      <vt:lpstr>I²C: Inter-Integrated Circuit</vt:lpstr>
      <vt:lpstr>Подключение устройств по I²C</vt:lpstr>
      <vt:lpstr>Передача данных по I²C</vt:lpstr>
      <vt:lpstr>Open-Drain и подтягивающие резисторы</vt:lpstr>
      <vt:lpstr>Сравнение UART, SPI и I²C</vt:lpstr>
      <vt:lpstr>Аналого-цифровой преобразователь (АЦП)</vt:lpstr>
      <vt:lpstr>Зачем нужен ADC?</vt:lpstr>
      <vt:lpstr>Принцип работы ADC</vt:lpstr>
      <vt:lpstr>Настройка ADC</vt:lpstr>
      <vt:lpstr>Чтение аналогового значения</vt:lpstr>
      <vt:lpstr>PWM</vt:lpstr>
      <vt:lpstr>PWM: Pulse Width Modulation</vt:lpstr>
      <vt:lpstr>Особенности embedded-программ</vt:lpstr>
      <vt:lpstr>Особенности embedded-программ</vt:lpstr>
      <vt:lpstr>Архитектура Super Loop</vt:lpstr>
      <vt:lpstr>Прерывания и события</vt:lpstr>
      <vt:lpstr>Конечный автомат</vt:lpstr>
      <vt:lpstr>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150</cp:revision>
  <dcterms:created xsi:type="dcterms:W3CDTF">2026-05-19T02:55:18Z</dcterms:created>
  <dcterms:modified xsi:type="dcterms:W3CDTF">2026-05-30T10:34:44Z</dcterms:modified>
</cp:coreProperties>
</file>