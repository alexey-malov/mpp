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2" r:id="rId15"/>
    <p:sldId id="271" r:id="rId16"/>
    <p:sldId id="273" r:id="rId17"/>
    <p:sldId id="268" r:id="rId18"/>
    <p:sldId id="276" r:id="rId19"/>
    <p:sldId id="277" r:id="rId20"/>
    <p:sldId id="278" r:id="rId21"/>
    <p:sldId id="280" r:id="rId22"/>
    <p:sldId id="279" r:id="rId23"/>
    <p:sldId id="274" r:id="rId24"/>
    <p:sldId id="281" r:id="rId25"/>
    <p:sldId id="282" r:id="rId26"/>
    <p:sldId id="275" r:id="rId27"/>
    <p:sldId id="283" r:id="rId28"/>
    <p:sldId id="284" r:id="rId29"/>
    <p:sldId id="285" r:id="rId30"/>
    <p:sldId id="287" r:id="rId31"/>
    <p:sldId id="288" r:id="rId32"/>
    <p:sldId id="289" r:id="rId33"/>
    <p:sldId id="290" r:id="rId34"/>
    <p:sldId id="292" r:id="rId35"/>
    <p:sldId id="293" r:id="rId36"/>
    <p:sldId id="294" r:id="rId37"/>
    <p:sldId id="296" r:id="rId38"/>
    <p:sldId id="295" r:id="rId39"/>
    <p:sldId id="297" r:id="rId40"/>
    <p:sldId id="301" r:id="rId41"/>
    <p:sldId id="307" r:id="rId42"/>
    <p:sldId id="298" r:id="rId43"/>
    <p:sldId id="299" r:id="rId44"/>
    <p:sldId id="300" r:id="rId45"/>
    <p:sldId id="302" r:id="rId46"/>
    <p:sldId id="303" r:id="rId47"/>
    <p:sldId id="304" r:id="rId48"/>
    <p:sldId id="305" r:id="rId49"/>
    <p:sldId id="306" r:id="rId50"/>
    <p:sldId id="308" r:id="rId51"/>
    <p:sldId id="309" r:id="rId52"/>
    <p:sldId id="310" r:id="rId53"/>
    <p:sldId id="311" r:id="rId54"/>
    <p:sldId id="312" r:id="rId55"/>
    <p:sldId id="313" r:id="rId56"/>
    <p:sldId id="29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637" autoAdjust="0"/>
  </p:normalViewPr>
  <p:slideViewPr>
    <p:cSldViewPr snapToGrid="0" showGuides="1">
      <p:cViewPr varScale="1">
        <p:scale>
          <a:sx n="58" d="100"/>
          <a:sy n="58" d="100"/>
        </p:scale>
        <p:origin x="96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0DF67-43DD-4C69-A81D-1BCF90B7192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77F0E-5212-47C6-B88A-D2005084B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5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 о </a:t>
            </a:r>
            <a:r>
              <a:rPr lang="en-US" dirty="0" err="1"/>
              <a:t>процессорах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— </a:t>
            </a:r>
            <a:r>
              <a:rPr lang="en-US" dirty="0" err="1"/>
              <a:t>таких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x86-64 в </a:t>
            </a:r>
            <a:r>
              <a:rPr lang="en-US" dirty="0" err="1"/>
              <a:t>настольных</a:t>
            </a:r>
            <a:r>
              <a:rPr lang="en-US" dirty="0"/>
              <a:t> </a:t>
            </a:r>
            <a:r>
              <a:rPr lang="en-US" dirty="0" err="1"/>
              <a:t>компьютерах</a:t>
            </a:r>
            <a:r>
              <a:rPr lang="en-US" dirty="0"/>
              <a:t> и </a:t>
            </a:r>
            <a:r>
              <a:rPr lang="en-US" dirty="0" err="1"/>
              <a:t>серверах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переходим</a:t>
            </a:r>
            <a:r>
              <a:rPr lang="en-US" dirty="0"/>
              <a:t> к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классу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— embedded systems,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встраиваемым</a:t>
            </a:r>
            <a:r>
              <a:rPr lang="en-US" dirty="0"/>
              <a:t> </a:t>
            </a:r>
            <a:r>
              <a:rPr lang="en-US" dirty="0" err="1"/>
              <a:t>системам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Embedded system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, </a:t>
            </a:r>
            <a:r>
              <a:rPr lang="en-US" dirty="0" err="1"/>
              <a:t>встроенный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какого-то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выполняющий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ПК,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предназначена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произвольных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пользователем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embedded systems </a:t>
            </a:r>
            <a:r>
              <a:rPr lang="en-US" dirty="0" err="1"/>
              <a:t>окружают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повсюду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в </a:t>
            </a:r>
            <a:r>
              <a:rPr lang="en-US" dirty="0" err="1"/>
              <a:t>стиральных</a:t>
            </a:r>
            <a:r>
              <a:rPr lang="en-US" dirty="0"/>
              <a:t> </a:t>
            </a:r>
            <a:r>
              <a:rPr lang="en-US" dirty="0" err="1"/>
              <a:t>машинах</a:t>
            </a:r>
            <a:r>
              <a:rPr lang="en-US" dirty="0"/>
              <a:t>, </a:t>
            </a:r>
            <a:r>
              <a:rPr lang="en-US" dirty="0" err="1"/>
              <a:t>микроволновках</a:t>
            </a:r>
            <a:r>
              <a:rPr lang="en-US" dirty="0"/>
              <a:t>, </a:t>
            </a:r>
            <a:r>
              <a:rPr lang="en-US" dirty="0" err="1"/>
              <a:t>автомобилях</a:t>
            </a:r>
            <a:r>
              <a:rPr lang="en-US" dirty="0"/>
              <a:t>, </a:t>
            </a:r>
            <a:r>
              <a:rPr lang="en-US" dirty="0" err="1"/>
              <a:t>роутерах</a:t>
            </a:r>
            <a:r>
              <a:rPr lang="en-US" dirty="0"/>
              <a:t>, </a:t>
            </a:r>
            <a:r>
              <a:rPr lang="en-US" dirty="0" err="1"/>
              <a:t>клавиатурах</a:t>
            </a:r>
            <a:r>
              <a:rPr lang="en-US" dirty="0"/>
              <a:t>, </a:t>
            </a:r>
            <a:r>
              <a:rPr lang="en-US" dirty="0" err="1"/>
              <a:t>принтерах</a:t>
            </a:r>
            <a:r>
              <a:rPr lang="en-US" dirty="0"/>
              <a:t>, </a:t>
            </a:r>
            <a:r>
              <a:rPr lang="en-US" dirty="0" err="1"/>
              <a:t>датчиках</a:t>
            </a:r>
            <a:r>
              <a:rPr lang="en-US" dirty="0"/>
              <a:t>, </a:t>
            </a:r>
            <a:r>
              <a:rPr lang="en-US" dirty="0" err="1"/>
              <a:t>медицинском</a:t>
            </a:r>
            <a:r>
              <a:rPr lang="en-US" dirty="0"/>
              <a:t> </a:t>
            </a:r>
            <a:r>
              <a:rPr lang="en-US" dirty="0" err="1"/>
              <a:t>оборудовании</a:t>
            </a:r>
            <a:r>
              <a:rPr lang="en-US" dirty="0"/>
              <a:t>, </a:t>
            </a:r>
            <a:r>
              <a:rPr lang="en-US" dirty="0" err="1"/>
              <a:t>дронах</a:t>
            </a:r>
            <a:r>
              <a:rPr lang="en-US" dirty="0"/>
              <a:t> и </a:t>
            </a:r>
            <a:r>
              <a:rPr lang="en-US" dirty="0" err="1"/>
              <a:t>огромном</a:t>
            </a:r>
            <a:r>
              <a:rPr lang="en-US" dirty="0"/>
              <a:t> </a:t>
            </a:r>
            <a:r>
              <a:rPr lang="en-US" dirty="0" err="1"/>
              <a:t>количестве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основой</a:t>
            </a:r>
            <a:r>
              <a:rPr lang="en-US" dirty="0"/>
              <a:t> embedded system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.</a:t>
            </a:r>
          </a:p>
          <a:p>
            <a:r>
              <a:rPr lang="en-US" dirty="0" err="1"/>
              <a:t>Микроконтроллер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модули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чипа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ПК, </a:t>
            </a:r>
            <a:r>
              <a:rPr lang="en-US" dirty="0" err="1"/>
              <a:t>микроконтроллеру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чипсет</a:t>
            </a:r>
            <a:r>
              <a:rPr lang="en-US" dirty="0"/>
              <a:t>, </a:t>
            </a:r>
            <a:r>
              <a:rPr lang="en-US" dirty="0" err="1"/>
              <a:t>внешняя</a:t>
            </a:r>
            <a:r>
              <a:rPr lang="en-US" dirty="0"/>
              <a:t> RAM и </a:t>
            </a:r>
            <a:r>
              <a:rPr lang="en-US" dirty="0" err="1"/>
              <a:t>сложная</a:t>
            </a:r>
            <a:r>
              <a:rPr lang="en-US" dirty="0"/>
              <a:t> </a:t>
            </a:r>
            <a:r>
              <a:rPr lang="en-US" dirty="0" err="1"/>
              <a:t>инфраструктура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embedded-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ближе</a:t>
            </a:r>
            <a:r>
              <a:rPr lang="en-US" dirty="0"/>
              <a:t> к </a:t>
            </a:r>
            <a:r>
              <a:rPr lang="en-US" dirty="0" err="1"/>
              <a:t>железу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привычной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абстракций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,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выводами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и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темы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изучали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—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указатели</a:t>
            </a:r>
            <a:r>
              <a:rPr lang="en-US" dirty="0"/>
              <a:t>, </a:t>
            </a:r>
            <a:r>
              <a:rPr lang="en-US" dirty="0" err="1"/>
              <a:t>ассемблер</a:t>
            </a:r>
            <a:r>
              <a:rPr lang="en-US" dirty="0"/>
              <a:t>, ABI,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и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—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важными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44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маленький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, </a:t>
            </a:r>
            <a:r>
              <a:rPr lang="en-US" dirty="0" err="1"/>
              <a:t>собранный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чипа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настольном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контроллеры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и </a:t>
            </a:r>
            <a:r>
              <a:rPr lang="en-US" dirty="0" err="1"/>
              <a:t>периферия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в </a:t>
            </a:r>
            <a:r>
              <a:rPr lang="en-US" dirty="0" err="1"/>
              <a:t>микроконтроллере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объединено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,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и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модулей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оборудованием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мотором</a:t>
            </a:r>
            <a:r>
              <a:rPr lang="en-US" dirty="0"/>
              <a:t>,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температуру</a:t>
            </a:r>
            <a:r>
              <a:rPr lang="en-US" dirty="0"/>
              <a:t>,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UART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светодиодами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физическим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89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r>
              <a:rPr lang="en-US" dirty="0" err="1"/>
              <a:t>Центральный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CPU,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—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x86-64,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изучали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и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производительны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Flash memory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энергонезависимая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выключения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flash </a:t>
            </a:r>
            <a:r>
              <a:rPr lang="en-US" dirty="0" err="1"/>
              <a:t>сохраняется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SRAM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</a:t>
            </a:r>
            <a:r>
              <a:rPr lang="en-US" dirty="0" err="1"/>
              <a:t>глобальные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, </a:t>
            </a:r>
            <a:r>
              <a:rPr lang="en-US" dirty="0" err="1"/>
              <a:t>стек</a:t>
            </a:r>
            <a:r>
              <a:rPr lang="en-US" dirty="0"/>
              <a:t>, </a:t>
            </a: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выделенная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EEPROM —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энергонезависимой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небольших</a:t>
            </a:r>
            <a:r>
              <a:rPr lang="en-US" dirty="0"/>
              <a:t> </a:t>
            </a:r>
            <a:r>
              <a:rPr lang="en-US" dirty="0" err="1"/>
              <a:t>объёмов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перезагрузками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настроек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калибровочных</a:t>
            </a:r>
            <a:r>
              <a:rPr lang="en-US" dirty="0"/>
              <a:t> </a:t>
            </a:r>
            <a:r>
              <a:rPr lang="en-US" dirty="0" err="1"/>
              <a:t>коэффициентов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периферию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полезным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embedded systems. </a:t>
            </a:r>
            <a:r>
              <a:rPr lang="en-US" dirty="0" err="1"/>
              <a:t>Периферийные</a:t>
            </a:r>
            <a:r>
              <a:rPr lang="en-US" dirty="0"/>
              <a:t> </a:t>
            </a:r>
            <a:r>
              <a:rPr lang="en-US" dirty="0" err="1"/>
              <a:t>модули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с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r>
              <a:rPr lang="en-US" dirty="0"/>
              <a:t> — </a:t>
            </a:r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,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генерировать</a:t>
            </a:r>
            <a:r>
              <a:rPr lang="en-US" dirty="0"/>
              <a:t> </a:t>
            </a:r>
            <a:r>
              <a:rPr lang="en-US" dirty="0" err="1"/>
              <a:t>таймеры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выводами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7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микроконтроллерами</a:t>
            </a:r>
            <a:r>
              <a:rPr lang="en-US" dirty="0"/>
              <a:t> и </a:t>
            </a:r>
            <a:r>
              <a:rPr lang="en-US" dirty="0" err="1"/>
              <a:t>современными</a:t>
            </a:r>
            <a:r>
              <a:rPr lang="en-US" dirty="0"/>
              <a:t> </a:t>
            </a:r>
            <a:r>
              <a:rPr lang="en-US" dirty="0" err="1"/>
              <a:t>процессорами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ПК, </a:t>
            </a:r>
            <a:r>
              <a:rPr lang="en-US" dirty="0" err="1"/>
              <a:t>фундаментальные</a:t>
            </a:r>
            <a:r>
              <a:rPr lang="en-US" dirty="0"/>
              <a:t> </a:t>
            </a:r>
            <a:r>
              <a:rPr lang="en-US" dirty="0" err="1"/>
              <a:t>принципы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CPU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машинные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стек</a:t>
            </a:r>
            <a:r>
              <a:rPr lang="en-US" dirty="0"/>
              <a:t>,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и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концепции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изучали</a:t>
            </a:r>
            <a:r>
              <a:rPr lang="en-US" dirty="0"/>
              <a:t> — </a:t>
            </a:r>
            <a:r>
              <a:rPr lang="en-US" dirty="0" err="1"/>
              <a:t>стековые</a:t>
            </a:r>
            <a:r>
              <a:rPr lang="en-US" dirty="0"/>
              <a:t> </a:t>
            </a:r>
            <a:r>
              <a:rPr lang="en-US" dirty="0" err="1"/>
              <a:t>кадры</a:t>
            </a:r>
            <a:r>
              <a:rPr lang="en-US" dirty="0"/>
              <a:t>, </a:t>
            </a:r>
            <a:r>
              <a:rPr lang="en-US" dirty="0" err="1"/>
              <a:t>указатели</a:t>
            </a:r>
            <a:r>
              <a:rPr lang="en-US" dirty="0"/>
              <a:t>, layout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ассемблерные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—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актуальными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: </a:t>
            </a:r>
            <a:r>
              <a:rPr lang="en-US" dirty="0" err="1"/>
              <a:t>микроконтроллеры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ATmega328P,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Arduino Nano,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частоте</a:t>
            </a:r>
            <a:r>
              <a:rPr lang="en-US" dirty="0"/>
              <a:t> 16 </a:t>
            </a:r>
            <a:r>
              <a:rPr lang="en-US" dirty="0" err="1"/>
              <a:t>MHz.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сравнения</a:t>
            </a:r>
            <a:r>
              <a:rPr lang="en-US" dirty="0"/>
              <a:t>: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x86-64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частотах</a:t>
            </a:r>
            <a:r>
              <a:rPr lang="en-US" dirty="0"/>
              <a:t> в </a:t>
            </a:r>
            <a:r>
              <a:rPr lang="en-US" dirty="0" err="1"/>
              <a:t>несколько</a:t>
            </a:r>
            <a:r>
              <a:rPr lang="en-US" dirty="0"/>
              <a:t> GHz.</a:t>
            </a:r>
            <a:endParaRPr lang="ru-RU" dirty="0"/>
          </a:p>
          <a:p>
            <a:endParaRPr lang="en-US" dirty="0"/>
          </a:p>
          <a:p>
            <a:r>
              <a:rPr lang="en-US" dirty="0"/>
              <a:t>Объём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маленький</a:t>
            </a:r>
            <a:r>
              <a:rPr lang="en-US" dirty="0"/>
              <a:t>. В ATmega328P </a:t>
            </a:r>
            <a:r>
              <a:rPr lang="en-US" dirty="0" err="1"/>
              <a:t>всего</a:t>
            </a:r>
            <a:r>
              <a:rPr lang="en-US" dirty="0"/>
              <a:t> 2 KB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32 KB flash-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ограничений</a:t>
            </a:r>
            <a:r>
              <a:rPr lang="en-US" dirty="0"/>
              <a:t> embedded-</a:t>
            </a:r>
            <a:r>
              <a:rPr lang="en-US" dirty="0" err="1"/>
              <a:t>разработчику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 </a:t>
            </a:r>
            <a:r>
              <a:rPr lang="en-US" dirty="0" err="1"/>
              <a:t>относиться</a:t>
            </a:r>
            <a:r>
              <a:rPr lang="en-US" dirty="0"/>
              <a:t> к </a:t>
            </a:r>
            <a:r>
              <a:rPr lang="en-US" dirty="0" err="1"/>
              <a:t>размеру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количеству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эффективности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6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ключевых</a:t>
            </a:r>
            <a:r>
              <a:rPr lang="en-US" dirty="0"/>
              <a:t> </a:t>
            </a:r>
            <a:r>
              <a:rPr lang="en-US" dirty="0" err="1"/>
              <a:t>особенностей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встроенной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—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модулей</a:t>
            </a:r>
            <a:r>
              <a:rPr lang="en-US" dirty="0"/>
              <a:t>, </a:t>
            </a:r>
            <a:r>
              <a:rPr lang="en-US" dirty="0" err="1"/>
              <a:t>предназначенных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 и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физических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,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ограничивается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 </a:t>
            </a:r>
            <a:r>
              <a:rPr lang="en-US" dirty="0" err="1"/>
              <a:t>Значительная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функциональности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управлением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 и </a:t>
            </a:r>
            <a:r>
              <a:rPr lang="en-US" dirty="0" err="1"/>
              <a:t>обменом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с </a:t>
            </a:r>
            <a:r>
              <a:rPr lang="en-US" dirty="0" err="1"/>
              <a:t>окружающей</a:t>
            </a:r>
            <a:r>
              <a:rPr lang="en-US" dirty="0"/>
              <a:t> </a:t>
            </a:r>
            <a:r>
              <a:rPr lang="en-US" dirty="0" err="1"/>
              <a:t>средой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базовым</a:t>
            </a:r>
            <a:r>
              <a:rPr lang="en-US" dirty="0"/>
              <a:t> </a:t>
            </a:r>
            <a:r>
              <a:rPr lang="en-US" dirty="0" err="1"/>
              <a:t>видом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модули</a:t>
            </a:r>
            <a:r>
              <a:rPr lang="en-US" dirty="0"/>
              <a:t> GPIO — General Purpose Input/Output.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программно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цифровых</a:t>
            </a:r>
            <a:r>
              <a:rPr lang="en-US" dirty="0"/>
              <a:t> </a:t>
            </a:r>
            <a:r>
              <a:rPr lang="en-US" dirty="0" err="1"/>
              <a:t>выводов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. С </a:t>
            </a:r>
            <a:r>
              <a:rPr lang="en-US" dirty="0" err="1"/>
              <a:t>помощью</a:t>
            </a:r>
            <a:r>
              <a:rPr lang="en-US" dirty="0"/>
              <a:t> GPIO </a:t>
            </a:r>
            <a:r>
              <a:rPr lang="en-US" dirty="0" err="1"/>
              <a:t>можно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светодиодами</a:t>
            </a:r>
            <a:r>
              <a:rPr lang="en-US" dirty="0"/>
              <a:t>, </a:t>
            </a:r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с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цифровыми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UART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последовательной</a:t>
            </a:r>
            <a:r>
              <a:rPr lang="en-US" dirty="0"/>
              <a:t> </a:t>
            </a:r>
            <a:r>
              <a:rPr lang="en-US" dirty="0" err="1"/>
              <a:t>асинхронной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информацией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микроконтроллером</a:t>
            </a:r>
            <a:r>
              <a:rPr lang="en-US" dirty="0"/>
              <a:t> и </a:t>
            </a:r>
            <a:r>
              <a:rPr lang="en-US" dirty="0" err="1"/>
              <a:t>компьютером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различными</a:t>
            </a:r>
            <a:r>
              <a:rPr lang="en-US" dirty="0"/>
              <a:t> </a:t>
            </a:r>
            <a:r>
              <a:rPr lang="en-US" dirty="0" err="1"/>
              <a:t>электронными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Интерфейсы</a:t>
            </a:r>
            <a:r>
              <a:rPr lang="en-US" dirty="0"/>
              <a:t> SPI и I2C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подключения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микросхем</a:t>
            </a:r>
            <a:r>
              <a:rPr lang="en-US" dirty="0"/>
              <a:t> и </a:t>
            </a:r>
            <a:r>
              <a:rPr lang="en-US" dirty="0" err="1"/>
              <a:t>периферийных</a:t>
            </a:r>
            <a:r>
              <a:rPr lang="en-US" dirty="0"/>
              <a:t> </a:t>
            </a:r>
            <a:r>
              <a:rPr lang="en-US" dirty="0" err="1"/>
              <a:t>модулей</a:t>
            </a:r>
            <a:r>
              <a:rPr lang="en-US" dirty="0"/>
              <a:t>,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датчики</a:t>
            </a:r>
            <a:r>
              <a:rPr lang="en-US" dirty="0"/>
              <a:t>, </a:t>
            </a:r>
            <a:r>
              <a:rPr lang="en-US" dirty="0" err="1"/>
              <a:t>дисплеи</a:t>
            </a:r>
            <a:r>
              <a:rPr lang="en-US" dirty="0"/>
              <a:t>, </a:t>
            </a:r>
            <a:r>
              <a:rPr lang="en-US" dirty="0" err="1"/>
              <a:t>энергонезависимая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Таймеры</a:t>
            </a:r>
            <a:r>
              <a:rPr lang="en-US" dirty="0"/>
              <a:t> и </a:t>
            </a:r>
            <a:r>
              <a:rPr lang="en-US" dirty="0" err="1"/>
              <a:t>счётчики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аппаратно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,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dirty="0" err="1"/>
              <a:t>периодические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,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участия</a:t>
            </a:r>
            <a:r>
              <a:rPr lang="en-US" dirty="0"/>
              <a:t> </a:t>
            </a:r>
            <a:r>
              <a:rPr lang="en-US" dirty="0" err="1"/>
              <a:t>центрального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ADC — analog-to-digital converter —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аналоговых</a:t>
            </a:r>
            <a:r>
              <a:rPr lang="en-US" dirty="0"/>
              <a:t> </a:t>
            </a:r>
            <a:r>
              <a:rPr lang="en-US" dirty="0" err="1"/>
              <a:t>электрических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в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, </a:t>
            </a:r>
            <a:r>
              <a:rPr lang="en-US" dirty="0" err="1"/>
              <a:t>пригодные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датчиками</a:t>
            </a:r>
            <a:r>
              <a:rPr lang="en-US" dirty="0"/>
              <a:t> </a:t>
            </a:r>
            <a:r>
              <a:rPr lang="en-US" dirty="0" err="1"/>
              <a:t>температуры</a:t>
            </a:r>
            <a:r>
              <a:rPr lang="en-US" dirty="0"/>
              <a:t>, </a:t>
            </a:r>
            <a:r>
              <a:rPr lang="en-US" dirty="0" err="1"/>
              <a:t>освещённости</a:t>
            </a:r>
            <a:r>
              <a:rPr lang="en-US" dirty="0"/>
              <a:t>, </a:t>
            </a:r>
            <a:r>
              <a:rPr lang="en-US" dirty="0" err="1"/>
              <a:t>напряжения</a:t>
            </a:r>
            <a:r>
              <a:rPr lang="en-US" dirty="0"/>
              <a:t> и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аналоговыми</a:t>
            </a:r>
            <a:r>
              <a:rPr lang="en-US" dirty="0"/>
              <a:t> </a:t>
            </a:r>
            <a:r>
              <a:rPr lang="en-US" dirty="0" err="1"/>
              <a:t>источниками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PWM — pulse width modulation —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средней</a:t>
            </a:r>
            <a:r>
              <a:rPr lang="en-US" dirty="0"/>
              <a:t> </a:t>
            </a:r>
            <a:r>
              <a:rPr lang="en-US" dirty="0" err="1"/>
              <a:t>мощностью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регулировке</a:t>
            </a:r>
            <a:r>
              <a:rPr lang="en-US" dirty="0"/>
              <a:t> </a:t>
            </a:r>
            <a:r>
              <a:rPr lang="en-US" dirty="0" err="1"/>
              <a:t>яркости</a:t>
            </a:r>
            <a:r>
              <a:rPr lang="en-US" dirty="0"/>
              <a:t> </a:t>
            </a:r>
            <a:r>
              <a:rPr lang="en-US" dirty="0" err="1"/>
              <a:t>светодиодов</a:t>
            </a:r>
            <a:r>
              <a:rPr lang="en-US" dirty="0"/>
              <a:t>, </a:t>
            </a:r>
            <a:r>
              <a:rPr lang="en-US" dirty="0" err="1"/>
              <a:t>управлении</a:t>
            </a:r>
            <a:r>
              <a:rPr lang="en-US" dirty="0"/>
              <a:t> </a:t>
            </a:r>
            <a:r>
              <a:rPr lang="en-US" dirty="0" err="1"/>
              <a:t>скоростью</a:t>
            </a:r>
            <a:r>
              <a:rPr lang="en-US" dirty="0"/>
              <a:t> </a:t>
            </a:r>
            <a:r>
              <a:rPr lang="en-US" dirty="0" err="1"/>
              <a:t>электродвигателей</a:t>
            </a:r>
            <a:r>
              <a:rPr lang="en-US" dirty="0"/>
              <a:t> и </a:t>
            </a:r>
            <a:r>
              <a:rPr lang="en-US" dirty="0" err="1"/>
              <a:t>генерации</a:t>
            </a:r>
            <a:r>
              <a:rPr lang="en-US" dirty="0"/>
              <a:t> </a:t>
            </a:r>
            <a:r>
              <a:rPr lang="en-US" dirty="0" err="1"/>
              <a:t>аналогоподобных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периферийные</a:t>
            </a:r>
            <a:r>
              <a:rPr lang="en-US" dirty="0"/>
              <a:t> </a:t>
            </a:r>
            <a:r>
              <a:rPr lang="en-US" dirty="0" err="1"/>
              <a:t>модули</a:t>
            </a:r>
            <a:r>
              <a:rPr lang="en-US" dirty="0"/>
              <a:t> </a:t>
            </a:r>
            <a:r>
              <a:rPr lang="en-US" dirty="0" err="1"/>
              <a:t>управляются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.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в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периферией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концепциями</a:t>
            </a:r>
            <a:r>
              <a:rPr lang="en-US" dirty="0"/>
              <a:t> </a:t>
            </a:r>
            <a:r>
              <a:rPr lang="en-US" dirty="0" err="1"/>
              <a:t>указателей</a:t>
            </a:r>
            <a:r>
              <a:rPr lang="en-US" dirty="0"/>
              <a:t>, </a:t>
            </a:r>
            <a:r>
              <a:rPr lang="en-US" dirty="0" err="1"/>
              <a:t>адресации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низкоуровневого</a:t>
            </a:r>
            <a:r>
              <a:rPr lang="en-US" dirty="0"/>
              <a:t> </a:t>
            </a:r>
            <a:r>
              <a:rPr lang="en-US" dirty="0" err="1"/>
              <a:t>программирования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рассматривались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03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полноценную</a:t>
            </a:r>
            <a:r>
              <a:rPr lang="en-US" dirty="0"/>
              <a:t> </a:t>
            </a:r>
            <a:r>
              <a:rPr lang="en-US" dirty="0" err="1"/>
              <a:t>вычислительную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</a:t>
            </a:r>
            <a:r>
              <a:rPr lang="en-US" dirty="0" err="1"/>
              <a:t>интегрированную</a:t>
            </a:r>
            <a:r>
              <a:rPr lang="en-US" dirty="0"/>
              <a:t> в </a:t>
            </a:r>
            <a:r>
              <a:rPr lang="en-US" dirty="0" err="1"/>
              <a:t>пределах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полупроводникового</a:t>
            </a:r>
            <a:r>
              <a:rPr lang="en-US" dirty="0"/>
              <a:t> </a:t>
            </a:r>
            <a:r>
              <a:rPr lang="en-US" dirty="0" err="1"/>
              <a:t>кристалла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традиционных</a:t>
            </a:r>
            <a:r>
              <a:rPr lang="en-US" dirty="0"/>
              <a:t> </a:t>
            </a:r>
            <a:r>
              <a:rPr lang="en-US" dirty="0" err="1"/>
              <a:t>компьютерных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контроллеры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</a:t>
            </a:r>
            <a:r>
              <a:rPr lang="en-US" dirty="0" err="1"/>
              <a:t>представлены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, в </a:t>
            </a:r>
            <a:r>
              <a:rPr lang="en-US" dirty="0" err="1"/>
              <a:t>микроконтроллере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объединены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Типичный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периферийных</a:t>
            </a:r>
            <a:r>
              <a:rPr lang="en-US" dirty="0"/>
              <a:t> </a:t>
            </a:r>
            <a:r>
              <a:rPr lang="en-US" dirty="0" err="1"/>
              <a:t>модулей</a:t>
            </a:r>
            <a:r>
              <a:rPr lang="en-US" dirty="0"/>
              <a:t> и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контроллеров</a:t>
            </a:r>
            <a:r>
              <a:rPr lang="en-US" dirty="0"/>
              <a:t>.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 </a:t>
            </a:r>
            <a:r>
              <a:rPr lang="en-US" dirty="0" err="1"/>
              <a:t>осуществляется</a:t>
            </a:r>
            <a:r>
              <a:rPr lang="en-US" dirty="0"/>
              <a:t> </a:t>
            </a:r>
            <a:r>
              <a:rPr lang="en-US" dirty="0" err="1"/>
              <a:t>посредством</a:t>
            </a:r>
            <a:r>
              <a:rPr lang="en-US" dirty="0"/>
              <a:t>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шин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адресации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степень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ряд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преимуществ</a:t>
            </a:r>
            <a:r>
              <a:rPr lang="en-US" dirty="0"/>
              <a:t>. </a:t>
            </a:r>
            <a:r>
              <a:rPr lang="en-US" dirty="0" err="1"/>
              <a:t>Микроконтроллеры</a:t>
            </a:r>
            <a:r>
              <a:rPr lang="en-US" dirty="0"/>
              <a:t> </a:t>
            </a:r>
            <a:r>
              <a:rPr lang="en-US" dirty="0" err="1"/>
              <a:t>обладают</a:t>
            </a:r>
            <a:r>
              <a:rPr lang="en-US" dirty="0"/>
              <a:t> </a:t>
            </a:r>
            <a:r>
              <a:rPr lang="en-US" dirty="0" err="1"/>
              <a:t>малыми</a:t>
            </a:r>
            <a:r>
              <a:rPr lang="en-US" dirty="0"/>
              <a:t> </a:t>
            </a:r>
            <a:r>
              <a:rPr lang="en-US" dirty="0" err="1"/>
              <a:t>размерами</a:t>
            </a:r>
            <a:r>
              <a:rPr lang="en-US" dirty="0"/>
              <a:t>, </a:t>
            </a:r>
            <a:r>
              <a:rPr lang="en-US" dirty="0" err="1"/>
              <a:t>низким</a:t>
            </a:r>
            <a:r>
              <a:rPr lang="en-US" dirty="0"/>
              <a:t> </a:t>
            </a:r>
            <a:r>
              <a:rPr lang="en-US" dirty="0" err="1"/>
              <a:t>энергопотреблением</a:t>
            </a:r>
            <a:r>
              <a:rPr lang="en-US" dirty="0"/>
              <a:t> и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невысокой</a:t>
            </a:r>
            <a:r>
              <a:rPr lang="en-US" dirty="0"/>
              <a:t> </a:t>
            </a:r>
            <a:r>
              <a:rPr lang="en-US" dirty="0" err="1"/>
              <a:t>стоимостью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работающего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минимальное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микроконтроллеры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применяются</a:t>
            </a:r>
            <a:r>
              <a:rPr lang="en-US" dirty="0"/>
              <a:t> в </a:t>
            </a:r>
            <a:r>
              <a:rPr lang="en-US" dirty="0" err="1"/>
              <a:t>устройствах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компактность</a:t>
            </a:r>
            <a:r>
              <a:rPr lang="en-US" dirty="0"/>
              <a:t>, </a:t>
            </a:r>
            <a:r>
              <a:rPr lang="en-US" dirty="0" err="1"/>
              <a:t>автономность</a:t>
            </a:r>
            <a:r>
              <a:rPr lang="en-US" dirty="0"/>
              <a:t> и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непосредственного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интеграция</a:t>
            </a:r>
            <a:r>
              <a:rPr lang="en-US" dirty="0"/>
              <a:t> </a:t>
            </a:r>
            <a:r>
              <a:rPr lang="en-US" dirty="0" err="1"/>
              <a:t>сопровождается</a:t>
            </a:r>
            <a:r>
              <a:rPr lang="en-US" dirty="0"/>
              <a:t> и </a:t>
            </a:r>
            <a:r>
              <a:rPr lang="en-US" dirty="0" err="1"/>
              <a:t>рядом</a:t>
            </a:r>
            <a:r>
              <a:rPr lang="en-US" dirty="0"/>
              <a:t> </a:t>
            </a:r>
            <a:r>
              <a:rPr lang="en-US" dirty="0" err="1"/>
              <a:t>ограничений</a:t>
            </a:r>
            <a:r>
              <a:rPr lang="en-US" dirty="0"/>
              <a:t>. Объём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невелик</a:t>
            </a:r>
            <a:r>
              <a:rPr lang="en-US" dirty="0"/>
              <a:t>, </a:t>
            </a:r>
            <a:r>
              <a:rPr lang="en-US" dirty="0" err="1"/>
              <a:t>вычислительная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ниже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процессорами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, а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ограничены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разработке</a:t>
            </a:r>
            <a:r>
              <a:rPr lang="en-US" dirty="0"/>
              <a:t> </a:t>
            </a:r>
            <a:r>
              <a:rPr lang="en-US" dirty="0" err="1"/>
              <a:t>программного</a:t>
            </a:r>
            <a:r>
              <a:rPr lang="en-US" dirty="0"/>
              <a:t> </a:t>
            </a:r>
            <a:r>
              <a:rPr lang="en-US" dirty="0" err="1"/>
              <a:t>обеспечения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 </a:t>
            </a:r>
            <a:r>
              <a:rPr lang="en-US" dirty="0" err="1"/>
              <a:t>особое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приобретают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понимание</a:t>
            </a:r>
            <a:r>
              <a:rPr lang="en-US" dirty="0"/>
              <a:t>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96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качестве</a:t>
            </a:r>
            <a:r>
              <a:rPr lang="en-US" dirty="0"/>
              <a:t> </a:t>
            </a:r>
            <a:r>
              <a:rPr lang="en-US" dirty="0" err="1"/>
              <a:t>платформы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дальнейшего</a:t>
            </a:r>
            <a:r>
              <a:rPr lang="en-US" dirty="0"/>
              <a:t> </a:t>
            </a:r>
            <a:r>
              <a:rPr lang="en-US" dirty="0" err="1"/>
              <a:t>изучения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AVR.</a:t>
            </a:r>
            <a:endParaRPr lang="ru-RU" dirty="0"/>
          </a:p>
          <a:p>
            <a:endParaRPr lang="en-US" dirty="0"/>
          </a:p>
          <a:p>
            <a:r>
              <a:rPr lang="en-US" dirty="0"/>
              <a:t>AVR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семейство</a:t>
            </a:r>
            <a:r>
              <a:rPr lang="en-US" dirty="0"/>
              <a:t> 8-битных </a:t>
            </a:r>
            <a:r>
              <a:rPr lang="en-US" dirty="0" err="1"/>
              <a:t>микроконтроллеров</a:t>
            </a:r>
            <a:r>
              <a:rPr lang="en-US" dirty="0"/>
              <a:t>, </a:t>
            </a:r>
            <a:r>
              <a:rPr lang="en-US" dirty="0" err="1"/>
              <a:t>первоначально</a:t>
            </a:r>
            <a:r>
              <a:rPr lang="en-US" dirty="0"/>
              <a:t> </a:t>
            </a:r>
            <a:r>
              <a:rPr lang="en-US" dirty="0" err="1"/>
              <a:t>разработанное</a:t>
            </a:r>
            <a:r>
              <a:rPr lang="en-US" dirty="0"/>
              <a:t> </a:t>
            </a:r>
            <a:r>
              <a:rPr lang="en-US" dirty="0" err="1"/>
              <a:t>компанией</a:t>
            </a:r>
            <a:r>
              <a:rPr lang="en-US" dirty="0"/>
              <a:t> Atmel,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Microchip Technology.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Микроконтроллеры</a:t>
            </a:r>
            <a:r>
              <a:rPr lang="en-US" dirty="0"/>
              <a:t> AVR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широкое</a:t>
            </a:r>
            <a:r>
              <a:rPr lang="en-US" dirty="0"/>
              <a:t> </a:t>
            </a:r>
            <a:r>
              <a:rPr lang="en-US" dirty="0" err="1"/>
              <a:t>распространение</a:t>
            </a:r>
            <a:r>
              <a:rPr lang="en-US" dirty="0"/>
              <a:t>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, </a:t>
            </a:r>
            <a:r>
              <a:rPr lang="en-US" dirty="0" err="1"/>
              <a:t>доступности</a:t>
            </a:r>
            <a:r>
              <a:rPr lang="en-US" dirty="0"/>
              <a:t> и </a:t>
            </a:r>
            <a:r>
              <a:rPr lang="en-US" dirty="0" err="1"/>
              <a:t>большому</a:t>
            </a:r>
            <a:r>
              <a:rPr lang="en-US" dirty="0"/>
              <a:t> </a:t>
            </a:r>
            <a:r>
              <a:rPr lang="en-US" dirty="0" err="1"/>
              <a:t>количеству</a:t>
            </a:r>
            <a:r>
              <a:rPr lang="en-US" dirty="0"/>
              <a:t> </a:t>
            </a:r>
            <a:r>
              <a:rPr lang="en-US" dirty="0" err="1"/>
              <a:t>учебных</a:t>
            </a:r>
            <a:r>
              <a:rPr lang="en-US" dirty="0"/>
              <a:t> </a:t>
            </a:r>
            <a:r>
              <a:rPr lang="en-US" dirty="0" err="1"/>
              <a:t>платформ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Arduino.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Архитектура</a:t>
            </a:r>
            <a:r>
              <a:rPr lang="en-US" dirty="0"/>
              <a:t> AVR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классу</a:t>
            </a:r>
            <a:r>
              <a:rPr lang="en-US" dirty="0"/>
              <a:t> RISC — Reduced Instruction Set Computer.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невелик</a:t>
            </a:r>
            <a:r>
              <a:rPr lang="en-US" dirty="0"/>
              <a:t> и </a:t>
            </a:r>
            <a:r>
              <a:rPr lang="en-US" dirty="0" err="1"/>
              <a:t>ориентирован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быстрое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характерных</a:t>
            </a:r>
            <a:r>
              <a:rPr lang="en-US" dirty="0"/>
              <a:t> </a:t>
            </a:r>
            <a:r>
              <a:rPr lang="en-US" dirty="0" err="1"/>
              <a:t>особенностей</a:t>
            </a:r>
            <a:r>
              <a:rPr lang="en-US" dirty="0"/>
              <a:t> AVR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AVR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embedded systems,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низкое</a:t>
            </a:r>
            <a:r>
              <a:rPr lang="en-US" dirty="0"/>
              <a:t> </a:t>
            </a:r>
            <a:r>
              <a:rPr lang="en-US" dirty="0" err="1"/>
              <a:t>энергопотребление</a:t>
            </a:r>
            <a:r>
              <a:rPr lang="en-US" dirty="0"/>
              <a:t>, </a:t>
            </a:r>
            <a:r>
              <a:rPr lang="en-US" dirty="0" err="1"/>
              <a:t>предсказуемость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и </a:t>
            </a:r>
            <a:r>
              <a:rPr lang="en-US" dirty="0" err="1"/>
              <a:t>простота</a:t>
            </a:r>
            <a:r>
              <a:rPr lang="en-US" dirty="0"/>
              <a:t>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63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ключевых</a:t>
            </a:r>
            <a:r>
              <a:rPr lang="en-US" dirty="0"/>
              <a:t> </a:t>
            </a:r>
            <a:r>
              <a:rPr lang="en-US" dirty="0" err="1"/>
              <a:t>особенностей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Harvard architecture.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фон</a:t>
            </a:r>
            <a:r>
              <a:rPr lang="en-US" dirty="0"/>
              <a:t> </a:t>
            </a:r>
            <a:r>
              <a:rPr lang="en-US" dirty="0" err="1"/>
              <a:t>Неймана</a:t>
            </a:r>
            <a:r>
              <a:rPr lang="en-US" dirty="0"/>
              <a:t>, </a:t>
            </a:r>
            <a:r>
              <a:rPr lang="en-US" dirty="0" err="1"/>
              <a:t>характерной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большинства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и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в </a:t>
            </a:r>
            <a:r>
              <a:rPr lang="en-US" dirty="0" err="1"/>
              <a:t>едином</a:t>
            </a:r>
            <a:r>
              <a:rPr lang="en-US" dirty="0"/>
              <a:t> </a:t>
            </a:r>
            <a:r>
              <a:rPr lang="en-US" dirty="0" err="1"/>
              <a:t>адресном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Harvard architecture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и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разделены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шины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очередную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данными</a:t>
            </a:r>
            <a:r>
              <a:rPr lang="en-US" dirty="0"/>
              <a:t> в SRAM.</a:t>
            </a:r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упрощает</a:t>
            </a:r>
            <a:r>
              <a:rPr lang="en-US" dirty="0"/>
              <a:t> </a:t>
            </a:r>
            <a:r>
              <a:rPr lang="en-US" dirty="0" err="1"/>
              <a:t>аппаратную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и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повысить</a:t>
            </a:r>
            <a:r>
              <a:rPr lang="en-US" dirty="0"/>
              <a:t>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embedded-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микроконтроллеры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в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ограниченных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31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AVR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предназначенных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Flash memory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SRAM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</a:t>
            </a:r>
            <a:r>
              <a:rPr lang="en-US" dirty="0" err="1"/>
              <a:t>глобальные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, </a:t>
            </a:r>
            <a:r>
              <a:rPr lang="en-US" dirty="0" err="1"/>
              <a:t>стек</a:t>
            </a:r>
            <a:r>
              <a:rPr lang="en-US" dirty="0"/>
              <a:t>,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выделяемая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EEPROM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энергонезависимой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предназначенный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небольших</a:t>
            </a:r>
            <a:r>
              <a:rPr lang="en-US" dirty="0"/>
              <a:t> </a:t>
            </a:r>
            <a:r>
              <a:rPr lang="en-US" dirty="0" err="1"/>
              <a:t>объёмов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перезагрузками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, </a:t>
            </a:r>
            <a:r>
              <a:rPr lang="en-US" dirty="0" err="1"/>
              <a:t>микроконтроллеры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виртуальную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с </a:t>
            </a:r>
            <a:r>
              <a:rPr lang="en-US" dirty="0" err="1"/>
              <a:t>физической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ограниченного</a:t>
            </a:r>
            <a:r>
              <a:rPr lang="en-US" dirty="0"/>
              <a:t> </a:t>
            </a:r>
            <a:r>
              <a:rPr lang="en-US" dirty="0" err="1"/>
              <a:t>объёма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embedded-</a:t>
            </a:r>
            <a:r>
              <a:rPr lang="en-US" dirty="0" err="1"/>
              <a:t>разработчику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внимательно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и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и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размещаются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95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AVR </a:t>
            </a:r>
            <a:r>
              <a:rPr lang="en-US" dirty="0" err="1"/>
              <a:t>содержит</a:t>
            </a:r>
            <a:r>
              <a:rPr lang="en-US" dirty="0"/>
              <a:t> 32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, </a:t>
            </a:r>
            <a:r>
              <a:rPr lang="en-US" dirty="0" err="1"/>
              <a:t>обозначаемых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R0–R31.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8-битного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, и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причин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эффективности</a:t>
            </a:r>
            <a:r>
              <a:rPr lang="en-US" dirty="0"/>
              <a:t> AVR.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арифметических</a:t>
            </a:r>
            <a:r>
              <a:rPr lang="en-US" dirty="0"/>
              <a:t> и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такт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пары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16-битные </a:t>
            </a:r>
            <a:r>
              <a:rPr lang="en-US" dirty="0" err="1"/>
              <a:t>указатели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регистры</a:t>
            </a:r>
            <a:r>
              <a:rPr lang="en-US" dirty="0"/>
              <a:t> X, Y и Z </a:t>
            </a:r>
            <a:r>
              <a:rPr lang="en-US" dirty="0" err="1"/>
              <a:t>применяются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адресации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массивами</a:t>
            </a:r>
            <a:r>
              <a:rPr lang="en-US" dirty="0"/>
              <a:t>, </a:t>
            </a:r>
            <a:r>
              <a:rPr lang="en-US" dirty="0" err="1"/>
              <a:t>строками</a:t>
            </a:r>
            <a:r>
              <a:rPr lang="en-US" dirty="0"/>
              <a:t> и </a:t>
            </a:r>
            <a:r>
              <a:rPr lang="en-US" dirty="0" err="1"/>
              <a:t>структурами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AVR </a:t>
            </a:r>
            <a:r>
              <a:rPr lang="en-US" dirty="0" err="1"/>
              <a:t>ориентированы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ru-RU" dirty="0"/>
              <a:t>указателей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заметить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с </a:t>
            </a:r>
            <a:r>
              <a:rPr lang="en-US" dirty="0" err="1"/>
              <a:t>темами</a:t>
            </a:r>
            <a:r>
              <a:rPr lang="en-US" dirty="0"/>
              <a:t> </a:t>
            </a:r>
            <a:r>
              <a:rPr lang="en-US" dirty="0" err="1"/>
              <a:t>указателей</a:t>
            </a:r>
            <a:r>
              <a:rPr lang="en-US" dirty="0"/>
              <a:t> и </a:t>
            </a:r>
            <a:r>
              <a:rPr lang="en-US" dirty="0" err="1"/>
              <a:t>адресной</a:t>
            </a:r>
            <a:r>
              <a:rPr lang="en-US" dirty="0"/>
              <a:t> </a:t>
            </a:r>
            <a:r>
              <a:rPr lang="en-US" dirty="0" err="1"/>
              <a:t>арифметики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изучались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02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AVR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компактна</a:t>
            </a:r>
            <a:r>
              <a:rPr lang="en-US" dirty="0"/>
              <a:t> и </a:t>
            </a:r>
            <a:r>
              <a:rPr lang="en-US" dirty="0" err="1"/>
              <a:t>ориентирована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характерных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embedded-</a:t>
            </a:r>
            <a:r>
              <a:rPr lang="en-US" dirty="0" err="1"/>
              <a:t>систем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Инструкции</a:t>
            </a:r>
            <a:r>
              <a:rPr lang="en-US" dirty="0"/>
              <a:t> AVR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условно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групп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значений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и </a:t>
            </a:r>
            <a:r>
              <a:rPr lang="en-US" dirty="0" err="1"/>
              <a:t>памятью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загрузку</a:t>
            </a:r>
            <a:r>
              <a:rPr lang="en-US" dirty="0"/>
              <a:t> и </a:t>
            </a:r>
            <a:r>
              <a:rPr lang="en-US" dirty="0" err="1"/>
              <a:t>сохранение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ru-RU" dirty="0"/>
              <a:t>регистры-указатели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загрузить</a:t>
            </a:r>
            <a:r>
              <a:rPr lang="en-US" dirty="0"/>
              <a:t> </a:t>
            </a:r>
            <a:r>
              <a:rPr lang="en-US" dirty="0" err="1"/>
              <a:t>непосредственное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Арифметические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сложение</a:t>
            </a:r>
            <a:r>
              <a:rPr lang="en-US" dirty="0"/>
              <a:t>, </a:t>
            </a:r>
            <a:r>
              <a:rPr lang="en-US" dirty="0" err="1"/>
              <a:t>вычитание</a:t>
            </a:r>
            <a:r>
              <a:rPr lang="en-US" dirty="0"/>
              <a:t>, </a:t>
            </a:r>
            <a:r>
              <a:rPr lang="en-US" dirty="0" err="1"/>
              <a:t>инкремент</a:t>
            </a:r>
            <a:r>
              <a:rPr lang="en-US" dirty="0"/>
              <a:t> и </a:t>
            </a:r>
            <a:r>
              <a:rPr lang="en-US" dirty="0" err="1"/>
              <a:t>декремент</a:t>
            </a:r>
            <a:r>
              <a:rPr lang="en-US" dirty="0"/>
              <a:t>.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Логические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побитовые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AND, OR и XOR. 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и </a:t>
            </a:r>
            <a:r>
              <a:rPr lang="en-US" dirty="0" err="1"/>
              <a:t>управлении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битами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сдвига</a:t>
            </a:r>
            <a:r>
              <a:rPr lang="en-US" dirty="0"/>
              <a:t> и </a:t>
            </a:r>
            <a:r>
              <a:rPr lang="en-US" dirty="0" err="1"/>
              <a:t>битовых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побитовые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устанавливать</a:t>
            </a:r>
            <a:r>
              <a:rPr lang="en-US" dirty="0"/>
              <a:t> и </a:t>
            </a:r>
            <a:r>
              <a:rPr lang="en-US" dirty="0" err="1"/>
              <a:t>сбрасывать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биты</a:t>
            </a:r>
            <a:r>
              <a:rPr lang="en-US" dirty="0"/>
              <a:t> в I/O-</a:t>
            </a:r>
            <a:r>
              <a:rPr lang="en-US" dirty="0" err="1"/>
              <a:t>регистрах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SBI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CBI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установки</a:t>
            </a:r>
            <a:r>
              <a:rPr lang="en-US" dirty="0"/>
              <a:t> и </a:t>
            </a:r>
            <a:r>
              <a:rPr lang="en-US" dirty="0" err="1"/>
              <a:t>очистки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битов</a:t>
            </a:r>
            <a:r>
              <a:rPr lang="en-US" dirty="0"/>
              <a:t> в </a:t>
            </a:r>
            <a:r>
              <a:rPr lang="en-US" dirty="0" err="1"/>
              <a:t>регистрах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переходов</a:t>
            </a:r>
            <a:r>
              <a:rPr lang="en-US" dirty="0"/>
              <a:t> и </a:t>
            </a:r>
            <a:r>
              <a:rPr lang="en-US" dirty="0" err="1"/>
              <a:t>вызовов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—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условий</a:t>
            </a:r>
            <a:r>
              <a:rPr lang="en-US" dirty="0"/>
              <a:t>, </a:t>
            </a:r>
            <a:r>
              <a:rPr lang="en-US" dirty="0" err="1"/>
              <a:t>циклов</a:t>
            </a:r>
            <a:r>
              <a:rPr lang="en-US" dirty="0"/>
              <a:t> и </a:t>
            </a:r>
            <a:r>
              <a:rPr lang="en-US" dirty="0" err="1"/>
              <a:t>подпрограмм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I/O-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и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периферийными</a:t>
            </a:r>
            <a:r>
              <a:rPr lang="en-US" dirty="0"/>
              <a:t> </a:t>
            </a:r>
            <a:r>
              <a:rPr lang="en-US" dirty="0" err="1"/>
              <a:t>модулями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приведёт</a:t>
            </a:r>
            <a:r>
              <a:rPr lang="en-US" dirty="0"/>
              <a:t> к </a:t>
            </a:r>
            <a:r>
              <a:rPr lang="en-US" dirty="0" err="1"/>
              <a:t>изменению</a:t>
            </a:r>
            <a:r>
              <a:rPr lang="en-US" dirty="0"/>
              <a:t> </a:t>
            </a:r>
            <a:r>
              <a:rPr lang="en-US" dirty="0" err="1"/>
              <a:t>электрических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выводах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относительную</a:t>
            </a:r>
            <a:r>
              <a:rPr lang="en-US" dirty="0"/>
              <a:t> </a:t>
            </a:r>
            <a:r>
              <a:rPr lang="en-US" dirty="0" err="1"/>
              <a:t>простоту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AVR,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базовые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, </a:t>
            </a:r>
            <a:r>
              <a:rPr lang="en-US" dirty="0" err="1"/>
              <a:t>характерные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архитектур</a:t>
            </a:r>
            <a:r>
              <a:rPr lang="en-US" dirty="0"/>
              <a:t>: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,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и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3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особенностей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архитектур</a:t>
            </a:r>
            <a:r>
              <a:rPr lang="en-US" dirty="0"/>
              <a:t>, </a:t>
            </a:r>
            <a:r>
              <a:rPr lang="en-US" dirty="0" err="1"/>
              <a:t>регистровый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AVR </a:t>
            </a:r>
            <a:r>
              <a:rPr lang="en-US" dirty="0" err="1"/>
              <a:t>отображён</a:t>
            </a:r>
            <a:r>
              <a:rPr lang="en-US" dirty="0"/>
              <a:t> в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Первые</a:t>
            </a:r>
            <a:r>
              <a:rPr lang="en-US" dirty="0"/>
              <a:t> 32 </a:t>
            </a:r>
            <a:r>
              <a:rPr lang="en-US" dirty="0" err="1"/>
              <a:t>байта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соответствуют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R0–R31.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арифметическими</a:t>
            </a:r>
            <a:r>
              <a:rPr lang="en-US" dirty="0"/>
              <a:t> </a:t>
            </a:r>
            <a:r>
              <a:rPr lang="en-US" dirty="0" err="1"/>
              <a:t>инструкциями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адресоваться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I/O-</a:t>
            </a:r>
            <a:r>
              <a:rPr lang="en-US" dirty="0" err="1"/>
              <a:t>регистры</a:t>
            </a:r>
            <a:r>
              <a:rPr lang="en-US" dirty="0"/>
              <a:t> —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периферийными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GPIO, </a:t>
            </a:r>
            <a:r>
              <a:rPr lang="en-US" dirty="0" err="1"/>
              <a:t>таймерами</a:t>
            </a:r>
            <a:r>
              <a:rPr lang="en-US" dirty="0"/>
              <a:t>, UART, ADC и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модулями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 PORTB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логические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выводах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Часть</a:t>
            </a:r>
            <a:r>
              <a:rPr lang="en-US" dirty="0"/>
              <a:t> I/O-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доступна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IN и OUT, </a:t>
            </a:r>
            <a:r>
              <a:rPr lang="en-US" dirty="0" err="1"/>
              <a:t>предназначенные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быстрого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периферией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в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отметить</a:t>
            </a:r>
            <a:r>
              <a:rPr lang="en-US" dirty="0"/>
              <a:t> </a:t>
            </a:r>
            <a:r>
              <a:rPr lang="en-US" dirty="0" err="1"/>
              <a:t>организацию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.</a:t>
            </a:r>
          </a:p>
          <a:p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в SRAM, а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</a:t>
            </a:r>
            <a:r>
              <a:rPr lang="en-US" dirty="0" err="1"/>
              <a:t>регистром</a:t>
            </a:r>
            <a:r>
              <a:rPr lang="en-US" dirty="0"/>
              <a:t> Stack Pointer. В </a:t>
            </a:r>
            <a:r>
              <a:rPr lang="en-US" dirty="0" err="1"/>
              <a:t>архитектуре</a:t>
            </a:r>
            <a:r>
              <a:rPr lang="en-US" dirty="0"/>
              <a:t> AVR Stack Pointer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8-битных </a:t>
            </a:r>
            <a:r>
              <a:rPr lang="en-US" dirty="0" err="1"/>
              <a:t>регистров</a:t>
            </a:r>
            <a:r>
              <a:rPr lang="en-US" dirty="0"/>
              <a:t> — SPL и SPH.</a:t>
            </a:r>
          </a:p>
          <a:p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Stack Pointer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I/O-</a:t>
            </a:r>
            <a:r>
              <a:rPr lang="en-US" dirty="0" err="1"/>
              <a:t>регистрами</a:t>
            </a:r>
            <a:r>
              <a:rPr lang="en-US" dirty="0"/>
              <a:t> и </a:t>
            </a:r>
            <a:r>
              <a:rPr lang="en-US" dirty="0" err="1"/>
              <a:t>располагаются</a:t>
            </a:r>
            <a:r>
              <a:rPr lang="en-US" dirty="0"/>
              <a:t> в </a:t>
            </a:r>
            <a:r>
              <a:rPr lang="en-US" dirty="0" err="1"/>
              <a:t>адресном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в AVR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сущностей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регистровый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периферией</a:t>
            </a:r>
            <a:r>
              <a:rPr lang="en-US" dirty="0"/>
              <a:t> и </a:t>
            </a:r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характерной</a:t>
            </a:r>
            <a:r>
              <a:rPr lang="en-US" dirty="0"/>
              <a:t> </a:t>
            </a:r>
            <a:r>
              <a:rPr lang="en-US" dirty="0" err="1"/>
              <a:t>особенностью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микроконтроллерных</a:t>
            </a:r>
            <a:r>
              <a:rPr lang="en-US" dirty="0"/>
              <a:t> </a:t>
            </a:r>
            <a:r>
              <a:rPr lang="en-US" dirty="0" err="1"/>
              <a:t>архитектур</a:t>
            </a:r>
            <a:r>
              <a:rPr lang="en-US" dirty="0"/>
              <a:t> и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концепцией</a:t>
            </a:r>
            <a:r>
              <a:rPr lang="en-US" dirty="0"/>
              <a:t> memory-mapped I/O.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3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AVR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демонстрирует</a:t>
            </a:r>
            <a:r>
              <a:rPr lang="en-US" dirty="0"/>
              <a:t> </a:t>
            </a:r>
            <a:r>
              <a:rPr lang="en-US" dirty="0" err="1"/>
              <a:t>ключевые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embedded-</a:t>
            </a:r>
            <a:r>
              <a:rPr lang="en-US" dirty="0" err="1"/>
              <a:t>разработки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высокопроизводительных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, </a:t>
            </a:r>
            <a:r>
              <a:rPr lang="en-US" dirty="0" err="1"/>
              <a:t>архитектура</a:t>
            </a:r>
            <a:r>
              <a:rPr lang="en-US" dirty="0"/>
              <a:t> AVR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предсказуема</a:t>
            </a:r>
            <a:r>
              <a:rPr lang="en-US" dirty="0"/>
              <a:t>.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известно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, а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осуществляется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непосредственный</a:t>
            </a:r>
            <a:r>
              <a:rPr lang="en-US" dirty="0"/>
              <a:t> </a:t>
            </a: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регистрами</a:t>
            </a:r>
            <a:r>
              <a:rPr lang="en-US" dirty="0"/>
              <a:t> и </a:t>
            </a:r>
            <a:r>
              <a:rPr lang="en-US" dirty="0" err="1"/>
              <a:t>периферийными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связанной</a:t>
            </a:r>
            <a:r>
              <a:rPr lang="en-US" dirty="0"/>
              <a:t> с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платформой</a:t>
            </a:r>
            <a:r>
              <a:rPr lang="en-US" dirty="0"/>
              <a:t>. </a:t>
            </a:r>
            <a:r>
              <a:rPr lang="en-US" dirty="0" err="1"/>
              <a:t>Разработчику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и </a:t>
            </a:r>
            <a:r>
              <a:rPr lang="en-US" dirty="0" err="1"/>
              <a:t>характеристики</a:t>
            </a:r>
            <a:r>
              <a:rPr lang="en-US" dirty="0"/>
              <a:t> </a:t>
            </a:r>
            <a:r>
              <a:rPr lang="en-US" dirty="0" err="1"/>
              <a:t>используемого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embedded-</a:t>
            </a:r>
            <a:r>
              <a:rPr lang="en-US" dirty="0" err="1"/>
              <a:t>программирование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хорошего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и </a:t>
            </a:r>
            <a:r>
              <a:rPr lang="en-US" dirty="0" err="1"/>
              <a:t>низкоуровневых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42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архитектуре</a:t>
            </a:r>
            <a:r>
              <a:rPr lang="en-US" dirty="0"/>
              <a:t> AVR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адресоваться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различными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специальное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I/O-</a:t>
            </a:r>
            <a:r>
              <a:rPr lang="en-US" dirty="0" err="1"/>
              <a:t>адресов</a:t>
            </a:r>
            <a:r>
              <a:rPr lang="en-US" dirty="0"/>
              <a:t>, </a:t>
            </a:r>
            <a:r>
              <a:rPr lang="en-US" dirty="0" err="1"/>
              <a:t>используемое</a:t>
            </a:r>
            <a:r>
              <a:rPr lang="en-US" dirty="0"/>
              <a:t> </a:t>
            </a:r>
            <a:r>
              <a:rPr lang="en-US" dirty="0" err="1"/>
              <a:t>инструкциями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.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в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I/O-</a:t>
            </a:r>
            <a:r>
              <a:rPr lang="en-US" dirty="0" err="1"/>
              <a:t>регистров</a:t>
            </a:r>
            <a:r>
              <a:rPr lang="en-US" dirty="0"/>
              <a:t> в </a:t>
            </a:r>
            <a:r>
              <a:rPr lang="en-US" dirty="0" err="1"/>
              <a:t>документации</a:t>
            </a:r>
            <a:r>
              <a:rPr lang="en-US" dirty="0"/>
              <a:t> </a:t>
            </a:r>
            <a:r>
              <a:rPr lang="en-US" dirty="0" err="1"/>
              <a:t>указываются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</a:t>
            </a:r>
            <a:r>
              <a:rPr lang="en-US" dirty="0"/>
              <a:t>, </a:t>
            </a:r>
            <a:r>
              <a:rPr lang="en-US" dirty="0" err="1"/>
              <a:t>содержащего</a:t>
            </a:r>
            <a:r>
              <a:rPr lang="en-US" dirty="0"/>
              <a:t> </a:t>
            </a:r>
            <a:r>
              <a:rPr lang="en-US" dirty="0" err="1"/>
              <a:t>младший</a:t>
            </a:r>
            <a:r>
              <a:rPr lang="en-US" dirty="0"/>
              <a:t> </a:t>
            </a:r>
            <a:r>
              <a:rPr lang="en-US" dirty="0" err="1"/>
              <a:t>байт</a:t>
            </a:r>
            <a:r>
              <a:rPr lang="en-US" dirty="0"/>
              <a:t> </a:t>
            </a:r>
            <a:r>
              <a:rPr lang="en-US" dirty="0" err="1"/>
              <a:t>указателя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 – 0x3D (0x5D)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0x3D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I/O-</a:t>
            </a:r>
            <a:r>
              <a:rPr lang="en-US" dirty="0" err="1"/>
              <a:t>пространству</a:t>
            </a:r>
            <a:r>
              <a:rPr lang="en-US" dirty="0"/>
              <a:t> и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инструкциями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.</a:t>
            </a:r>
          </a:p>
          <a:p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0x5D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в </a:t>
            </a:r>
            <a:r>
              <a:rPr lang="en-US" dirty="0" err="1"/>
              <a:t>общем</a:t>
            </a:r>
            <a:r>
              <a:rPr lang="en-US" dirty="0"/>
              <a:t> </a:t>
            </a:r>
            <a:r>
              <a:rPr lang="en-US" dirty="0" err="1"/>
              <a:t>адресном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Связь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адресами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 </a:t>
            </a:r>
            <a:r>
              <a:rPr lang="en-US" dirty="0" err="1"/>
              <a:t>соотношением</a:t>
            </a:r>
            <a:r>
              <a:rPr lang="en-US" dirty="0"/>
              <a:t>: </a:t>
            </a:r>
            <a:r>
              <a:rPr lang="en-US" dirty="0" err="1"/>
              <a:t>адрес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I/O-</a:t>
            </a:r>
            <a:r>
              <a:rPr lang="en-US" dirty="0" err="1"/>
              <a:t>адресу</a:t>
            </a:r>
            <a:r>
              <a:rPr lang="en-US" dirty="0"/>
              <a:t> </a:t>
            </a:r>
            <a:r>
              <a:rPr lang="en-US" dirty="0" err="1"/>
              <a:t>плюс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0x20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AVR </a:t>
            </a:r>
            <a:r>
              <a:rPr lang="en-US" dirty="0" err="1"/>
              <a:t>заняты</a:t>
            </a:r>
            <a:r>
              <a:rPr lang="en-US" dirty="0"/>
              <a:t> </a:t>
            </a:r>
            <a:r>
              <a:rPr lang="en-US" dirty="0" err="1"/>
              <a:t>регистровым</a:t>
            </a:r>
            <a:r>
              <a:rPr lang="en-US" dirty="0"/>
              <a:t> </a:t>
            </a:r>
            <a:r>
              <a:rPr lang="en-US" dirty="0" err="1"/>
              <a:t>файло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I/O-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компактное</a:t>
            </a:r>
            <a:r>
              <a:rPr lang="en-US" dirty="0"/>
              <a:t> </a:t>
            </a:r>
            <a:r>
              <a:rPr lang="en-US" dirty="0" err="1"/>
              <a:t>кодирование</a:t>
            </a:r>
            <a:r>
              <a:rPr lang="en-US" dirty="0"/>
              <a:t> и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периферийными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I/O-</a:t>
            </a:r>
            <a:r>
              <a:rPr lang="en-US" dirty="0" err="1"/>
              <a:t>регистров</a:t>
            </a:r>
            <a:r>
              <a:rPr lang="en-US" dirty="0"/>
              <a:t> в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к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используя</a:t>
            </a:r>
            <a:r>
              <a:rPr lang="en-US" dirty="0"/>
              <a:t> </a:t>
            </a:r>
            <a:r>
              <a:rPr lang="en-US" dirty="0" err="1"/>
              <a:t>стандартные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и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характерных</a:t>
            </a:r>
            <a:r>
              <a:rPr lang="en-US" dirty="0"/>
              <a:t> </a:t>
            </a:r>
            <a:r>
              <a:rPr lang="en-US" dirty="0" err="1"/>
              <a:t>особенностей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 и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memory-mapped I/O.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57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71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подачи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сброса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с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называемого</a:t>
            </a:r>
            <a:r>
              <a:rPr lang="en-US" dirty="0"/>
              <a:t> reset vector.</a:t>
            </a:r>
          </a:p>
          <a:p>
            <a:r>
              <a:rPr lang="en-US" dirty="0"/>
              <a:t>Reset vector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начальную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к startup code — </a:t>
            </a:r>
            <a:r>
              <a:rPr lang="en-US" dirty="0" err="1"/>
              <a:t>специальному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 </a:t>
            </a:r>
            <a:r>
              <a:rPr lang="en-US" dirty="0" err="1"/>
              <a:t>среды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к </a:t>
            </a:r>
            <a:r>
              <a:rPr lang="en-US" dirty="0" err="1"/>
              <a:t>моменту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оперативная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подготовлена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ряд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Во-первых</a:t>
            </a:r>
            <a:r>
              <a:rPr lang="en-US" dirty="0"/>
              <a:t>, startup code </a:t>
            </a:r>
            <a:r>
              <a:rPr lang="en-US" dirty="0" err="1"/>
              <a:t>настраивает</a:t>
            </a:r>
            <a:r>
              <a:rPr lang="en-US" dirty="0"/>
              <a:t> Stack Pointer —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.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в SRAM,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начальный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используемой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стековых</a:t>
            </a:r>
            <a:r>
              <a:rPr lang="en-US" dirty="0"/>
              <a:t> </a:t>
            </a:r>
            <a:r>
              <a:rPr lang="en-US" dirty="0" err="1"/>
              <a:t>кадров</a:t>
            </a:r>
            <a:r>
              <a:rPr lang="en-US" dirty="0"/>
              <a:t> и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адресов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инициализация</a:t>
            </a:r>
            <a:r>
              <a:rPr lang="en-US" dirty="0"/>
              <a:t> </a:t>
            </a:r>
            <a:r>
              <a:rPr lang="en-US" dirty="0" err="1"/>
              <a:t>глобальных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Глобальные</a:t>
            </a:r>
            <a:r>
              <a:rPr lang="en-US" dirty="0"/>
              <a:t> и </a:t>
            </a:r>
            <a:r>
              <a:rPr lang="en-US" dirty="0" err="1"/>
              <a:t>статические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с </a:t>
            </a:r>
            <a:r>
              <a:rPr lang="en-US" dirty="0" err="1"/>
              <a:t>ненулевой</a:t>
            </a:r>
            <a:r>
              <a:rPr lang="en-US" dirty="0"/>
              <a:t> </a:t>
            </a:r>
            <a:r>
              <a:rPr lang="en-US" dirty="0" err="1"/>
              <a:t>инициализацией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в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.data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начальные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хранятся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flash-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запуске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копируются</a:t>
            </a:r>
            <a:r>
              <a:rPr lang="en-US" dirty="0"/>
              <a:t> в SRAM.</a:t>
            </a:r>
          </a:p>
          <a:p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явной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в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bss</a:t>
            </a:r>
            <a:r>
              <a:rPr lang="en-US" dirty="0"/>
              <a:t>. </a:t>
            </a:r>
            <a:r>
              <a:rPr lang="en-US" dirty="0" err="1"/>
              <a:t>Согласно</a:t>
            </a:r>
            <a:r>
              <a:rPr lang="en-US" dirty="0"/>
              <a:t> </a:t>
            </a:r>
            <a:r>
              <a:rPr lang="en-US" dirty="0" err="1"/>
              <a:t>правилам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C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инициализированы</a:t>
            </a:r>
            <a:r>
              <a:rPr lang="en-US" dirty="0"/>
              <a:t> </a:t>
            </a:r>
            <a:r>
              <a:rPr lang="en-US" dirty="0" err="1"/>
              <a:t>нулём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startup code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очистку</a:t>
            </a:r>
            <a:r>
              <a:rPr lang="en-US" dirty="0"/>
              <a:t> </a:t>
            </a:r>
            <a:r>
              <a:rPr lang="en-US" dirty="0" err="1"/>
              <a:t>соответствующей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 embedded-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, а с </a:t>
            </a:r>
            <a:r>
              <a:rPr lang="en-US" dirty="0" err="1"/>
              <a:t>низкоуровневого</a:t>
            </a:r>
            <a:r>
              <a:rPr lang="en-US" dirty="0"/>
              <a:t> startup code,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подготавливает</a:t>
            </a:r>
            <a:r>
              <a:rPr lang="en-US" dirty="0"/>
              <a:t> </a:t>
            </a:r>
            <a:r>
              <a:rPr lang="en-US" dirty="0" err="1"/>
              <a:t>аппаратную</a:t>
            </a:r>
            <a:r>
              <a:rPr lang="en-US" dirty="0"/>
              <a:t> и </a:t>
            </a:r>
            <a:r>
              <a:rPr lang="en-US" dirty="0" err="1"/>
              <a:t>программную</a:t>
            </a:r>
            <a:r>
              <a:rPr lang="en-US" dirty="0"/>
              <a:t> </a:t>
            </a:r>
            <a:r>
              <a:rPr lang="en-US" dirty="0" err="1"/>
              <a:t>среду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демонстрирует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embedded-</a:t>
            </a:r>
            <a:r>
              <a:rPr lang="en-US" dirty="0" err="1"/>
              <a:t>программирование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архитектурой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организацией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устройством</a:t>
            </a:r>
            <a:r>
              <a:rPr lang="en-US" dirty="0"/>
              <a:t> runtime-</a:t>
            </a:r>
            <a:r>
              <a:rPr lang="en-US" dirty="0" err="1"/>
              <a:t>среды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29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с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GPIO — General Purpose Input/Output.</a:t>
            </a:r>
          </a:p>
          <a:p>
            <a:endParaRPr lang="en-US" dirty="0"/>
          </a:p>
          <a:p>
            <a:r>
              <a:rPr lang="en-US" dirty="0"/>
              <a:t>GPIO </a:t>
            </a:r>
            <a:r>
              <a:rPr lang="en-US" dirty="0" err="1"/>
              <a:t>представляют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универсальные</a:t>
            </a:r>
            <a:r>
              <a:rPr lang="en-US" dirty="0"/>
              <a:t>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,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программно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считываться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помощью</a:t>
            </a:r>
            <a:r>
              <a:rPr lang="en-US" dirty="0"/>
              <a:t> GPIO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включать</a:t>
            </a:r>
            <a:r>
              <a:rPr lang="en-US" dirty="0"/>
              <a:t> </a:t>
            </a:r>
            <a:r>
              <a:rPr lang="en-US" dirty="0" err="1"/>
              <a:t>светодиоды</a:t>
            </a:r>
            <a:r>
              <a:rPr lang="en-US" dirty="0"/>
              <a:t>, </a:t>
            </a:r>
            <a:r>
              <a:rPr lang="en-US" dirty="0" err="1"/>
              <a:t>переключать</a:t>
            </a:r>
            <a:r>
              <a:rPr lang="en-US" dirty="0"/>
              <a:t> </a:t>
            </a:r>
            <a:r>
              <a:rPr lang="en-US" dirty="0" err="1"/>
              <a:t>реле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Одновременно</a:t>
            </a:r>
            <a:r>
              <a:rPr lang="en-US" dirty="0"/>
              <a:t> GPIO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считывания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цифровых</a:t>
            </a:r>
            <a:r>
              <a:rPr lang="en-US" dirty="0"/>
              <a:t> </a:t>
            </a:r>
            <a:r>
              <a:rPr lang="en-US" dirty="0" err="1"/>
              <a:t>датчиков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GPIO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с </a:t>
            </a:r>
            <a:r>
              <a:rPr lang="en-US" dirty="0" err="1"/>
              <a:t>физическим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выводами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базовых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embedded-</a:t>
            </a:r>
            <a:r>
              <a:rPr lang="en-US" dirty="0" err="1"/>
              <a:t>программирования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94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Каждый</a:t>
            </a:r>
            <a:r>
              <a:rPr lang="en-US" dirty="0"/>
              <a:t> GPIO-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настроен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считывает</a:t>
            </a:r>
            <a:r>
              <a:rPr lang="en-US" dirty="0"/>
              <a:t> </a:t>
            </a:r>
            <a:r>
              <a:rPr lang="en-US" dirty="0" err="1"/>
              <a:t>электрический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с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подключении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, </a:t>
            </a:r>
            <a:r>
              <a:rPr lang="en-US" dirty="0" err="1"/>
              <a:t>датчиков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логический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выводе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: LOW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напряжению</a:t>
            </a:r>
            <a:r>
              <a:rPr lang="en-US" dirty="0"/>
              <a:t>, </a:t>
            </a:r>
            <a:r>
              <a:rPr lang="en-US" dirty="0" err="1"/>
              <a:t>близкому</a:t>
            </a:r>
            <a:r>
              <a:rPr lang="en-US" dirty="0"/>
              <a:t> к </a:t>
            </a:r>
            <a:r>
              <a:rPr lang="en-US" dirty="0" err="1"/>
              <a:t>нулю</a:t>
            </a:r>
            <a:r>
              <a:rPr lang="en-US" dirty="0"/>
              <a:t> </a:t>
            </a:r>
            <a:r>
              <a:rPr lang="en-US" dirty="0" err="1"/>
              <a:t>вольт</a:t>
            </a:r>
            <a:r>
              <a:rPr lang="en-US" dirty="0"/>
              <a:t>, а HIGH — </a:t>
            </a:r>
            <a:r>
              <a:rPr lang="en-US" dirty="0" err="1"/>
              <a:t>напряжению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ATmega328P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питании</a:t>
            </a:r>
            <a:r>
              <a:rPr lang="en-US" dirty="0"/>
              <a:t> 5 V </a:t>
            </a:r>
            <a:r>
              <a:rPr lang="en-US" dirty="0" err="1"/>
              <a:t>логическая</a:t>
            </a:r>
            <a:r>
              <a:rPr lang="en-US" dirty="0"/>
              <a:t> </a:t>
            </a:r>
            <a:r>
              <a:rPr lang="en-US" dirty="0" err="1"/>
              <a:t>единица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напряжению</a:t>
            </a:r>
            <a:r>
              <a:rPr lang="en-US" dirty="0"/>
              <a:t>, </a:t>
            </a:r>
            <a:r>
              <a:rPr lang="en-US" dirty="0" err="1"/>
              <a:t>близкому</a:t>
            </a:r>
            <a:r>
              <a:rPr lang="en-US" dirty="0"/>
              <a:t> к 5 </a:t>
            </a:r>
            <a:r>
              <a:rPr lang="en-US" dirty="0" err="1"/>
              <a:t>вольтам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GPIO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цифровыми</a:t>
            </a:r>
            <a:r>
              <a:rPr lang="en-US" dirty="0"/>
              <a:t> </a:t>
            </a:r>
            <a:r>
              <a:rPr lang="en-US" dirty="0" err="1"/>
              <a:t>сигналами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непосредственной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токов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мощной</a:t>
            </a:r>
            <a:r>
              <a:rPr lang="en-US" dirty="0"/>
              <a:t> </a:t>
            </a:r>
            <a:r>
              <a:rPr lang="en-US" dirty="0" err="1"/>
              <a:t>нагрузкой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24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GPIO,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архитектуре</a:t>
            </a:r>
            <a:r>
              <a:rPr lang="en-US" dirty="0"/>
              <a:t> AVR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периферийных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в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ячейка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определённому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представлен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фиксированному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выполняемого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побочные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запись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GPIO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изменению</a:t>
            </a:r>
            <a:r>
              <a:rPr lang="en-US" dirty="0"/>
              <a:t> </a:t>
            </a:r>
            <a:r>
              <a:rPr lang="en-US" dirty="0" err="1"/>
              <a:t>электрического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выводов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ключевое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</a:t>
            </a:r>
          </a:p>
          <a:p>
            <a:r>
              <a:rPr lang="en-US" dirty="0" err="1"/>
              <a:t>Квалификатор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видимыми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.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обращение</a:t>
            </a:r>
            <a:r>
              <a:rPr lang="en-US" dirty="0"/>
              <a:t> к </a:t>
            </a:r>
            <a:r>
              <a:rPr lang="en-US" dirty="0" err="1"/>
              <a:t>такому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записано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временном</a:t>
            </a:r>
            <a:r>
              <a:rPr lang="en-US" dirty="0"/>
              <a:t> </a:t>
            </a:r>
            <a:r>
              <a:rPr lang="en-US" dirty="0" err="1"/>
              <a:t>регистре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удалить</a:t>
            </a:r>
            <a:r>
              <a:rPr lang="en-US" dirty="0"/>
              <a:t> «</a:t>
            </a:r>
            <a:r>
              <a:rPr lang="en-US" dirty="0" err="1"/>
              <a:t>лишние</a:t>
            </a:r>
            <a:r>
              <a:rPr lang="en-US" dirty="0"/>
              <a:t>»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преобразовать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в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</a:t>
            </a:r>
            <a:r>
              <a:rPr lang="en-US" dirty="0" err="1"/>
              <a:t>корректны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нарушить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взаимодействии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фундаментальным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memory-mapped I/O и </a:t>
            </a:r>
            <a:r>
              <a:rPr lang="en-US" dirty="0" err="1"/>
              <a:t>периферийными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84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микроконтроллере</a:t>
            </a:r>
            <a:r>
              <a:rPr lang="en-US" dirty="0"/>
              <a:t> ATmega328P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 </a:t>
            </a:r>
            <a:r>
              <a:rPr lang="en-US" dirty="0" err="1"/>
              <a:t>организованы</a:t>
            </a:r>
            <a:r>
              <a:rPr lang="en-US" dirty="0"/>
              <a:t> в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портов</a:t>
            </a:r>
            <a:r>
              <a:rPr lang="en-US" dirty="0"/>
              <a:t>: PORTB, PORTC и PORTD.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порт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группу</a:t>
            </a:r>
            <a:r>
              <a:rPr lang="en-US" dirty="0"/>
              <a:t> </a:t>
            </a:r>
            <a:r>
              <a:rPr lang="en-US" dirty="0" err="1"/>
              <a:t>физических</a:t>
            </a:r>
            <a:r>
              <a:rPr lang="en-US" dirty="0"/>
              <a:t> </a:t>
            </a:r>
            <a:r>
              <a:rPr lang="en-US" dirty="0" err="1"/>
              <a:t>выводов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выводами</a:t>
            </a:r>
            <a:r>
              <a:rPr lang="en-US" dirty="0"/>
              <a:t> </a:t>
            </a:r>
            <a:r>
              <a:rPr lang="en-US" dirty="0" err="1"/>
              <a:t>осуществляется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I/O-</a:t>
            </a:r>
            <a:r>
              <a:rPr lang="en-US" dirty="0" err="1"/>
              <a:t>регистры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DDRx</a:t>
            </a:r>
            <a:r>
              <a:rPr lang="en-US" dirty="0"/>
              <a:t> — Data Direction Register —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dirty="0" err="1"/>
              <a:t>установлен</a:t>
            </a:r>
            <a:r>
              <a:rPr lang="en-US" dirty="0"/>
              <a:t> в </a:t>
            </a:r>
            <a:r>
              <a:rPr lang="en-US" dirty="0" err="1"/>
              <a:t>единицу</a:t>
            </a:r>
            <a:r>
              <a:rPr lang="en-US" dirty="0"/>
              <a:t>,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,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Регистр</a:t>
            </a:r>
            <a:r>
              <a:rPr lang="en-US" dirty="0"/>
              <a:t> PORTx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логическим</a:t>
            </a:r>
            <a:r>
              <a:rPr lang="en-US" dirty="0"/>
              <a:t>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в </a:t>
            </a:r>
            <a:r>
              <a:rPr lang="en-US" dirty="0" err="1"/>
              <a:t>режиме</a:t>
            </a:r>
            <a:r>
              <a:rPr lang="en-US" dirty="0"/>
              <a:t> output.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единицы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напряжения</a:t>
            </a:r>
            <a:r>
              <a:rPr lang="en-US" dirty="0"/>
              <a:t>, а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 — </a:t>
            </a:r>
            <a:r>
              <a:rPr lang="en-US" dirty="0" err="1"/>
              <a:t>низкий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настроен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, </a:t>
            </a:r>
            <a:r>
              <a:rPr lang="en-US" dirty="0" err="1"/>
              <a:t>регистр</a:t>
            </a:r>
            <a:r>
              <a:rPr lang="en-US" dirty="0"/>
              <a:t> PORTx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: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единицы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встроенный</a:t>
            </a:r>
            <a:r>
              <a:rPr lang="en-US" dirty="0"/>
              <a:t> pull-up </a:t>
            </a:r>
            <a:r>
              <a:rPr lang="en-US" dirty="0" err="1"/>
              <a:t>резистор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PINx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приведённом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PB5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выход</a:t>
            </a:r>
            <a:r>
              <a:rPr lang="en-US" dirty="0"/>
              <a:t> и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логический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PD2 </a:t>
            </a:r>
            <a:r>
              <a:rPr lang="en-US" dirty="0" err="1"/>
              <a:t>переводится</a:t>
            </a:r>
            <a:r>
              <a:rPr lang="en-US" dirty="0"/>
              <a:t> в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включается</a:t>
            </a:r>
            <a:r>
              <a:rPr lang="en-US" dirty="0"/>
              <a:t> </a:t>
            </a:r>
            <a:r>
              <a:rPr lang="en-US" dirty="0" err="1"/>
              <a:t>встроенный</a:t>
            </a:r>
            <a:r>
              <a:rPr lang="en-US" dirty="0"/>
              <a:t> pull-up </a:t>
            </a:r>
            <a:r>
              <a:rPr lang="en-US" dirty="0" err="1"/>
              <a:t>резистор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Pull-up </a:t>
            </a:r>
            <a:r>
              <a:rPr lang="en-US" dirty="0" err="1"/>
              <a:t>резистор</a:t>
            </a:r>
            <a:r>
              <a:rPr lang="en-US" dirty="0"/>
              <a:t> </a:t>
            </a:r>
            <a:r>
              <a:rPr lang="en-US" dirty="0" err="1"/>
              <a:t>необходим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предотвращения</a:t>
            </a:r>
            <a:r>
              <a:rPr lang="en-US" dirty="0"/>
              <a:t> </a:t>
            </a:r>
            <a:r>
              <a:rPr lang="en-US" dirty="0" err="1"/>
              <a:t>неопределённого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. </a:t>
            </a:r>
            <a:r>
              <a:rPr lang="en-US" dirty="0" err="1"/>
              <a:t>Неподключённый</a:t>
            </a:r>
            <a:r>
              <a:rPr lang="en-US" dirty="0"/>
              <a:t>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воспринимать</a:t>
            </a:r>
            <a:r>
              <a:rPr lang="en-US" dirty="0"/>
              <a:t> </a:t>
            </a:r>
            <a:r>
              <a:rPr lang="en-US" dirty="0" err="1"/>
              <a:t>электрические</a:t>
            </a:r>
            <a:r>
              <a:rPr lang="en-US" dirty="0"/>
              <a:t> </a:t>
            </a:r>
            <a:r>
              <a:rPr lang="en-US" dirty="0" err="1"/>
              <a:t>помехи</a:t>
            </a:r>
            <a:r>
              <a:rPr lang="en-US" dirty="0"/>
              <a:t> и </a:t>
            </a:r>
            <a:r>
              <a:rPr lang="en-US" dirty="0" err="1"/>
              <a:t>случайным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логическое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 err="1"/>
              <a:t>Встроенный</a:t>
            </a:r>
            <a:r>
              <a:rPr lang="en-US" dirty="0"/>
              <a:t> pull-up </a:t>
            </a:r>
            <a:r>
              <a:rPr lang="en-US" dirty="0" err="1"/>
              <a:t>резистор</a:t>
            </a:r>
            <a:r>
              <a:rPr lang="en-US" dirty="0"/>
              <a:t> </a:t>
            </a:r>
            <a:r>
              <a:rPr lang="en-US" dirty="0" err="1"/>
              <a:t>подтягивает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 к </a:t>
            </a:r>
            <a:r>
              <a:rPr lang="en-US" dirty="0" err="1"/>
              <a:t>высокому</a:t>
            </a:r>
            <a:r>
              <a:rPr lang="en-US" dirty="0"/>
              <a:t> </a:t>
            </a:r>
            <a:r>
              <a:rPr lang="en-US" dirty="0" err="1"/>
              <a:t>уровню</a:t>
            </a:r>
            <a:r>
              <a:rPr lang="en-US" dirty="0"/>
              <a:t> </a:t>
            </a:r>
            <a:r>
              <a:rPr lang="en-US" dirty="0" err="1"/>
              <a:t>напряжения</a:t>
            </a:r>
            <a:r>
              <a:rPr lang="en-US" dirty="0"/>
              <a:t> и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стабильное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воздействия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Подобная</a:t>
            </a:r>
            <a:r>
              <a:rPr lang="en-US" dirty="0"/>
              <a:t> </a:t>
            </a:r>
            <a:r>
              <a:rPr lang="en-US" dirty="0" err="1"/>
              <a:t>конфигурация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подключении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: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HIGH,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нажатии</a:t>
            </a:r>
            <a:r>
              <a:rPr lang="en-US" dirty="0"/>
              <a:t>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замыкает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землю</a:t>
            </a:r>
            <a:r>
              <a:rPr lang="en-US" dirty="0"/>
              <a:t>, </a:t>
            </a:r>
            <a:r>
              <a:rPr lang="en-US" dirty="0" err="1"/>
              <a:t>формируя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LOW.</a:t>
            </a:r>
          </a:p>
          <a:p>
            <a:endParaRPr lang="ru-RU" dirty="0"/>
          </a:p>
          <a:p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обратить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с GPIO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сводится</a:t>
            </a:r>
            <a:r>
              <a:rPr lang="en-US" dirty="0"/>
              <a:t> к </a:t>
            </a:r>
            <a:r>
              <a:rPr lang="en-US" dirty="0" err="1"/>
              <a:t>чтению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битов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побитовые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и </a:t>
            </a:r>
            <a:r>
              <a:rPr lang="en-US" dirty="0" err="1"/>
              <a:t>понимание</a:t>
            </a:r>
            <a:r>
              <a:rPr lang="en-US" dirty="0"/>
              <a:t> </a:t>
            </a:r>
            <a:r>
              <a:rPr lang="en-US" dirty="0" err="1"/>
              <a:t>двоичного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играют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в embedded-</a:t>
            </a:r>
            <a:r>
              <a:rPr lang="en-US" dirty="0" err="1"/>
              <a:t>программировании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552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AVR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специализированный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 — toolchain</a:t>
            </a:r>
          </a:p>
          <a:p>
            <a:r>
              <a:rPr lang="en-US" dirty="0"/>
              <a:t>.</a:t>
            </a:r>
          </a:p>
          <a:p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C: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компилируется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объектные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</a:t>
            </a:r>
            <a:r>
              <a:rPr lang="en-US" dirty="0" err="1"/>
              <a:t>связываются</a:t>
            </a:r>
            <a:r>
              <a:rPr lang="en-US" dirty="0"/>
              <a:t> </a:t>
            </a:r>
            <a:r>
              <a:rPr lang="en-US" dirty="0" err="1"/>
              <a:t>линковщиком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исполняемый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 </a:t>
            </a:r>
            <a:r>
              <a:rPr lang="en-US" dirty="0" err="1"/>
              <a:t>результатом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исполняемый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а </a:t>
            </a:r>
            <a:r>
              <a:rPr lang="en-US" dirty="0" err="1"/>
              <a:t>прошивка</a:t>
            </a:r>
            <a:r>
              <a:rPr lang="en-US" dirty="0"/>
              <a:t> —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машинных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, </a:t>
            </a:r>
            <a:r>
              <a:rPr lang="en-US" dirty="0" err="1"/>
              <a:t>предназначенный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flash-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avr-gcc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C в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AVR.</a:t>
            </a:r>
          </a:p>
          <a:p>
            <a:r>
              <a:rPr lang="en-US" dirty="0" err="1"/>
              <a:t>Ассемблер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-as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сборки</a:t>
            </a:r>
            <a:r>
              <a:rPr lang="en-US" dirty="0"/>
              <a:t> </a:t>
            </a:r>
            <a:r>
              <a:rPr lang="en-US" dirty="0" err="1"/>
              <a:t>ассемблерных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.</a:t>
            </a:r>
          </a:p>
          <a:p>
            <a:r>
              <a:rPr lang="en-US" dirty="0" err="1"/>
              <a:t>Линковщик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объектные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ELF-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avr-objdump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дизассемблировать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и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сгенерированный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— </a:t>
            </a:r>
            <a:r>
              <a:rPr lang="en-US" dirty="0" err="1"/>
              <a:t>аналогично</a:t>
            </a:r>
            <a:r>
              <a:rPr lang="en-US" dirty="0"/>
              <a:t>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использовались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en-US" dirty="0"/>
              <a:t> и Compiler Explorer </a:t>
            </a:r>
            <a:r>
              <a:rPr lang="en-US" dirty="0" err="1"/>
              <a:t>для</a:t>
            </a:r>
            <a:r>
              <a:rPr lang="en-US" dirty="0"/>
              <a:t> x86-64.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-size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оценить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используемой</a:t>
            </a:r>
            <a:r>
              <a:rPr lang="en-US" dirty="0"/>
              <a:t> flash-</a:t>
            </a:r>
            <a:r>
              <a:rPr lang="en-US" dirty="0" err="1"/>
              <a:t>памяти</a:t>
            </a:r>
            <a:r>
              <a:rPr lang="en-US" dirty="0"/>
              <a:t> и SRAM,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 с </a:t>
            </a:r>
            <a:r>
              <a:rPr lang="en-US" dirty="0" err="1"/>
              <a:t>ограниченными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сборки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утилита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avrdude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прошивки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52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минимальный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AVR.</a:t>
            </a:r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простейшая</a:t>
            </a:r>
            <a:r>
              <a:rPr lang="en-US" dirty="0"/>
              <a:t> embedded-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устройством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указать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 </a:t>
            </a:r>
            <a:r>
              <a:rPr lang="en-US" dirty="0" err="1"/>
              <a:t>Параметр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mmcu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=atmega328p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 </a:t>
            </a:r>
            <a:r>
              <a:rPr lang="en-US" dirty="0" err="1"/>
              <a:t>целевой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: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и </a:t>
            </a:r>
            <a:r>
              <a:rPr lang="en-US" dirty="0" err="1"/>
              <a:t>допустимые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</a:t>
            </a:r>
          </a:p>
          <a:p>
            <a:r>
              <a:rPr lang="en-US" dirty="0" err="1"/>
              <a:t>Результатом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ELF-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содержащий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символов</a:t>
            </a:r>
            <a:r>
              <a:rPr lang="en-US" dirty="0"/>
              <a:t> и </a:t>
            </a:r>
            <a:r>
              <a:rPr lang="en-US" dirty="0" err="1"/>
              <a:t>служебную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прошивки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Intel HEX.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дополнительное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ELF-</a:t>
            </a:r>
            <a:r>
              <a:rPr lang="en-US" dirty="0" err="1"/>
              <a:t>файла</a:t>
            </a:r>
            <a:r>
              <a:rPr lang="en-US" dirty="0"/>
              <a:t> в HEX-</a:t>
            </a:r>
            <a:r>
              <a:rPr lang="en-US" dirty="0" err="1"/>
              <a:t>файл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avr-objcopy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Полученный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предназначенные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flash-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43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и в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x86-64, </a:t>
            </a:r>
            <a:r>
              <a:rPr lang="en-US" dirty="0" err="1"/>
              <a:t>для</a:t>
            </a:r>
            <a:r>
              <a:rPr lang="en-US" dirty="0"/>
              <a:t> AVR </a:t>
            </a:r>
            <a:r>
              <a:rPr lang="en-US" dirty="0" err="1"/>
              <a:t>крайне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сгенерированный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avr-objdump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дизассемблирование</a:t>
            </a:r>
            <a:r>
              <a:rPr lang="en-US" dirty="0"/>
              <a:t> ELF-</a:t>
            </a:r>
            <a:r>
              <a:rPr lang="en-US" dirty="0" err="1"/>
              <a:t>файла</a:t>
            </a:r>
            <a:r>
              <a:rPr lang="en-US" dirty="0"/>
              <a:t> и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ассемблерное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приведённом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C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преобразован</a:t>
            </a:r>
            <a:r>
              <a:rPr lang="en-US" dirty="0"/>
              <a:t> в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RJMP</a:t>
            </a:r>
            <a:r>
              <a:rPr lang="en-US" dirty="0"/>
              <a:t>, </a:t>
            </a:r>
            <a:r>
              <a:rPr lang="en-US" dirty="0" err="1"/>
              <a:t>выполняющую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в embedded-</a:t>
            </a:r>
            <a:r>
              <a:rPr lang="en-US" dirty="0" err="1"/>
              <a:t>разработке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компилятора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ограниченных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 embedded-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дизассемблированным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разработке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84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сборки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flash-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утилита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avrdude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прошивки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соединение</a:t>
            </a:r>
            <a:r>
              <a:rPr lang="en-US" dirty="0"/>
              <a:t> с </a:t>
            </a:r>
            <a:r>
              <a:rPr lang="en-US" dirty="0" err="1"/>
              <a:t>микроконтроллером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программатор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bootloader.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HEX-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устройству</a:t>
            </a:r>
            <a:r>
              <a:rPr lang="en-US" dirty="0"/>
              <a:t> и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flash-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корректности</a:t>
            </a:r>
            <a:r>
              <a:rPr lang="en-US" dirty="0"/>
              <a:t> </a:t>
            </a:r>
            <a:r>
              <a:rPr lang="en-US" dirty="0" err="1"/>
              <a:t>содержимого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, embedded-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размещается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и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сброса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подачи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23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Toolchain </a:t>
            </a:r>
            <a:r>
              <a:rPr lang="en-US" dirty="0" err="1"/>
              <a:t>для</a:t>
            </a:r>
            <a:r>
              <a:rPr lang="en-US" dirty="0"/>
              <a:t> embedded-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многом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toolchain </a:t>
            </a:r>
            <a:r>
              <a:rPr lang="en-US" dirty="0" err="1"/>
              <a:t>языка</a:t>
            </a:r>
            <a:r>
              <a:rPr lang="en-US" dirty="0"/>
              <a:t> C,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и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отличия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 </a:t>
            </a:r>
            <a:r>
              <a:rPr lang="en-US" dirty="0" err="1"/>
              <a:t>разработчика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целевой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cross-compilation.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embedded-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ограниченных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особое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приобретают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используемой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embedded-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</a:t>
            </a:r>
            <a:r>
              <a:rPr lang="en-US" dirty="0" err="1"/>
              <a:t>высокого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, </a:t>
            </a:r>
            <a:r>
              <a:rPr lang="en-US" dirty="0" err="1"/>
              <a:t>организацию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сгенерированного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590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embedded-</a:t>
            </a:r>
            <a:r>
              <a:rPr lang="en-US" dirty="0" err="1"/>
              <a:t>программы</a:t>
            </a:r>
            <a:r>
              <a:rPr lang="en-US" dirty="0"/>
              <a:t> — </a:t>
            </a:r>
            <a:r>
              <a:rPr lang="en-US" dirty="0" err="1"/>
              <a:t>мигание</a:t>
            </a:r>
            <a:r>
              <a:rPr lang="en-US" dirty="0"/>
              <a:t> </a:t>
            </a:r>
            <a:r>
              <a:rPr lang="en-US" dirty="0" err="1"/>
              <a:t>светодиодом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простоту</a:t>
            </a:r>
            <a:r>
              <a:rPr lang="en-US" dirty="0"/>
              <a:t>,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демонстрирует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фундаментальных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микроконтроллеров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управление</a:t>
            </a:r>
            <a:r>
              <a:rPr lang="en-US" dirty="0"/>
              <a:t> GPIO,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и </a:t>
            </a:r>
            <a:r>
              <a:rPr lang="en-US" dirty="0" err="1"/>
              <a:t>организацию</a:t>
            </a:r>
            <a:r>
              <a:rPr lang="en-US" dirty="0"/>
              <a:t> </a:t>
            </a:r>
            <a:r>
              <a:rPr lang="en-US" dirty="0" err="1"/>
              <a:t>бесконечного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подключаются</a:t>
            </a:r>
            <a:r>
              <a:rPr lang="en-US" dirty="0"/>
              <a:t> </a:t>
            </a:r>
            <a:r>
              <a:rPr lang="en-US" dirty="0" err="1"/>
              <a:t>заголовочные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AVR.</a:t>
            </a:r>
          </a:p>
          <a:p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io.h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и </a:t>
            </a:r>
            <a:r>
              <a:rPr lang="en-US" dirty="0" err="1"/>
              <a:t>констант</a:t>
            </a:r>
            <a:r>
              <a:rPr lang="en-US" dirty="0"/>
              <a:t>,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выводам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util/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delay.h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dirty="0" err="1"/>
              <a:t>программной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delay_ms</a:t>
            </a:r>
            <a:r>
              <a:rPr lang="en-US" dirty="0"/>
              <a:t>.</a:t>
            </a:r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настройка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PB5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.</a:t>
            </a:r>
          </a:p>
          <a:p>
            <a:r>
              <a:rPr lang="en-US" dirty="0" err="1"/>
              <a:t>Операция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DDRB |= (1 &lt;&lt; PB5);</a:t>
            </a:r>
          </a:p>
          <a:p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DDRB, </a:t>
            </a:r>
            <a:r>
              <a:rPr lang="en-US" dirty="0" err="1"/>
              <a:t>переводя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PB5 в </a:t>
            </a:r>
            <a:r>
              <a:rPr lang="en-US" dirty="0" err="1"/>
              <a:t>режим</a:t>
            </a:r>
            <a:r>
              <a:rPr lang="en-US" dirty="0"/>
              <a:t> output.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 PORTB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единица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PB5,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логический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выводе</a:t>
            </a:r>
            <a:r>
              <a:rPr lang="en-US" dirty="0"/>
              <a:t> и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светодиод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 </a:t>
            </a:r>
            <a:r>
              <a:rPr lang="en-US" dirty="0" err="1"/>
              <a:t>длительностью</a:t>
            </a:r>
            <a:r>
              <a:rPr lang="en-US" dirty="0"/>
              <a:t> 500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PB5 </a:t>
            </a:r>
            <a:r>
              <a:rPr lang="en-US" dirty="0" err="1"/>
              <a:t>очищается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выводе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низкий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и </a:t>
            </a:r>
            <a:r>
              <a:rPr lang="en-US" dirty="0" err="1"/>
              <a:t>светодиод</a:t>
            </a:r>
            <a:r>
              <a:rPr lang="en-US" dirty="0"/>
              <a:t> </a:t>
            </a:r>
            <a:r>
              <a:rPr lang="en-US" dirty="0" err="1"/>
              <a:t>выключается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обратить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embedded-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содержат</a:t>
            </a:r>
            <a:r>
              <a:rPr lang="en-US" dirty="0"/>
              <a:t>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,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устройством</a:t>
            </a:r>
            <a:r>
              <a:rPr lang="en-US" dirty="0"/>
              <a:t> и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бита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PORTB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непосредственному</a:t>
            </a:r>
            <a:r>
              <a:rPr lang="en-US" dirty="0"/>
              <a:t> </a:t>
            </a:r>
            <a:r>
              <a:rPr lang="en-US" dirty="0" err="1"/>
              <a:t>изменению</a:t>
            </a:r>
            <a:r>
              <a:rPr lang="en-US" dirty="0"/>
              <a:t> </a:t>
            </a:r>
            <a:r>
              <a:rPr lang="en-US" dirty="0" err="1"/>
              <a:t>электрического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ru-RU" dirty="0" err="1"/>
              <a:t>ти</a:t>
            </a:r>
            <a:r>
              <a:rPr lang="en-US" dirty="0" err="1"/>
              <a:t>ичным</a:t>
            </a:r>
            <a:r>
              <a:rPr lang="en-US" dirty="0"/>
              <a:t> </a:t>
            </a:r>
            <a:r>
              <a:rPr lang="en-US" dirty="0" err="1"/>
              <a:t>примером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memory-mapped I/O.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571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Таймеры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периферий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, </a:t>
            </a:r>
            <a:r>
              <a:rPr lang="en-US" dirty="0" err="1"/>
              <a:t>способный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,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,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увеличивается</a:t>
            </a:r>
            <a:r>
              <a:rPr lang="en-US" dirty="0"/>
              <a:t> с </a:t>
            </a:r>
            <a:r>
              <a:rPr lang="en-US" dirty="0" err="1"/>
              <a:t>заданной</a:t>
            </a:r>
            <a:r>
              <a:rPr lang="en-US" dirty="0"/>
              <a:t> </a:t>
            </a:r>
            <a:r>
              <a:rPr lang="en-US" dirty="0" err="1"/>
              <a:t>частотой</a:t>
            </a:r>
            <a:r>
              <a:rPr lang="en-US" dirty="0"/>
              <a:t>.</a:t>
            </a:r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,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dirty="0" err="1"/>
              <a:t>периодические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генерировать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 PWM и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 с CPU.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таймеры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эффективным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измерения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программные</a:t>
            </a:r>
            <a:r>
              <a:rPr lang="en-US" dirty="0"/>
              <a:t> </a:t>
            </a:r>
            <a:r>
              <a:rPr lang="en-US" dirty="0" err="1"/>
              <a:t>циклы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078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тактовый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поступлением</a:t>
            </a:r>
            <a:r>
              <a:rPr lang="en-US" dirty="0"/>
              <a:t> в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частота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проходить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prescaler</a:t>
            </a:r>
            <a:r>
              <a:rPr lang="en-US" dirty="0"/>
              <a:t> —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делитель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частоте</a:t>
            </a:r>
            <a:r>
              <a:rPr lang="en-US" dirty="0"/>
              <a:t> 16 MHz, </a:t>
            </a:r>
            <a:r>
              <a:rPr lang="en-US" dirty="0" err="1"/>
              <a:t>prescaler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частоту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в 8, 64, 256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увеличивать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режимах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сравнивать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специальным</a:t>
            </a:r>
            <a:r>
              <a:rPr lang="en-US" dirty="0"/>
              <a:t> compare register.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,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:</a:t>
            </a:r>
          </a:p>
          <a:p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; </a:t>
            </a:r>
          </a:p>
          <a:p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; </a:t>
            </a:r>
          </a:p>
          <a:p>
            <a:r>
              <a:rPr lang="en-US" dirty="0" err="1"/>
              <a:t>сгенерировать</a:t>
            </a:r>
            <a:r>
              <a:rPr lang="en-US" dirty="0"/>
              <a:t> </a:t>
            </a:r>
            <a:r>
              <a:rPr lang="ru-RU" dirty="0"/>
              <a:t>прерывание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аппаратно</a:t>
            </a:r>
            <a:r>
              <a:rPr lang="en-US" dirty="0"/>
              <a:t>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dirty="0" err="1"/>
              <a:t>периодические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участия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394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Interrupts,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фундаментальных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embedded-</a:t>
            </a:r>
            <a:r>
              <a:rPr lang="en-US" dirty="0" err="1"/>
              <a:t>систем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аппаратуре</a:t>
            </a:r>
            <a:r>
              <a:rPr lang="en-US" dirty="0"/>
              <a:t> </a:t>
            </a:r>
            <a:r>
              <a:rPr lang="en-US" dirty="0" err="1"/>
              <a:t>асинхронно</a:t>
            </a:r>
            <a:r>
              <a:rPr lang="en-US" dirty="0"/>
              <a:t> </a:t>
            </a:r>
            <a:r>
              <a:rPr lang="en-US" dirty="0" err="1"/>
              <a:t>уведомить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о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таймеры</a:t>
            </a:r>
            <a:r>
              <a:rPr lang="en-US" dirty="0"/>
              <a:t>,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GPIO,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UART, </a:t>
            </a:r>
            <a:r>
              <a:rPr lang="en-US" dirty="0" err="1"/>
              <a:t>окончание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ADC и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ru-RU" dirty="0"/>
              <a:t> прерывание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в </a:t>
            </a:r>
            <a:r>
              <a:rPr lang="en-US" dirty="0" err="1"/>
              <a:t>стек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специальной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— interrupt service routine, </a:t>
            </a:r>
            <a:r>
              <a:rPr lang="en-US" dirty="0" err="1"/>
              <a:t>или</a:t>
            </a:r>
            <a:r>
              <a:rPr lang="en-US" dirty="0"/>
              <a:t> ISR.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ISR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возврат</a:t>
            </a:r>
            <a:r>
              <a:rPr lang="en-US" dirty="0"/>
              <a:t> к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, и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прервано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interrupts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микроконтроллеру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опрашивать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90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примере</a:t>
            </a:r>
            <a:r>
              <a:rPr lang="en-US" dirty="0"/>
              <a:t> polling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OCF0A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регистре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TIFR0</a:t>
            </a:r>
            <a:r>
              <a:rPr lang="en-US" dirty="0"/>
              <a:t> — Timer Interrupt Flag Register.</a:t>
            </a:r>
          </a:p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OCF0A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Output Compare Flag </a:t>
            </a:r>
            <a:r>
              <a:rPr lang="en-US" dirty="0" err="1"/>
              <a:t>для</a:t>
            </a:r>
            <a:r>
              <a:rPr lang="en-US" dirty="0"/>
              <a:t> Timer0 Compare Unit A.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compare register.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наступления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читая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 в </a:t>
            </a:r>
            <a:r>
              <a:rPr lang="en-US" dirty="0" err="1"/>
              <a:t>цикле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прост</a:t>
            </a:r>
            <a:r>
              <a:rPr lang="en-US" dirty="0"/>
              <a:t> в </a:t>
            </a:r>
            <a:r>
              <a:rPr lang="en-US" dirty="0" err="1"/>
              <a:t>реализации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бесполезным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</a:t>
            </a:r>
            <a:r>
              <a:rPr lang="ru-RU" dirty="0"/>
              <a:t>прерываний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опроса</a:t>
            </a:r>
            <a:r>
              <a:rPr lang="en-US" dirty="0"/>
              <a:t> </a:t>
            </a:r>
            <a:r>
              <a:rPr lang="en-US" dirty="0" err="1"/>
              <a:t>флага</a:t>
            </a:r>
            <a:r>
              <a:rPr lang="en-US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interrupt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наступлении</a:t>
            </a:r>
            <a:r>
              <a:rPr lang="en-US" dirty="0"/>
              <a:t> compare match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ISR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возникновения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interrupts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эффективнее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и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периферией</a:t>
            </a:r>
            <a:r>
              <a:rPr lang="en-US" dirty="0"/>
              <a:t> в embedded-</a:t>
            </a:r>
            <a:r>
              <a:rPr lang="en-US" dirty="0" err="1"/>
              <a:t>системах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785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Interrupt Service Routine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,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вызываемая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ru-RU" dirty="0"/>
              <a:t>прерывания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AVR </a:t>
            </a:r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объявляются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макроса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ISR(...)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ISR(TIMER0_COMPA_vect)</a:t>
            </a:r>
          </a:p>
          <a:p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данная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обработчиком</a:t>
            </a:r>
            <a:r>
              <a:rPr lang="en-US" dirty="0"/>
              <a:t> interrupt-</a:t>
            </a:r>
            <a:r>
              <a:rPr lang="en-US" dirty="0" err="1"/>
              <a:t>события</a:t>
            </a:r>
            <a:r>
              <a:rPr lang="en-US" dirty="0"/>
              <a:t> Timer0 Compare Match A.</a:t>
            </a:r>
          </a:p>
          <a:p>
            <a:endParaRPr lang="en-US" dirty="0"/>
          </a:p>
          <a:p>
            <a:r>
              <a:rPr lang="en-US" dirty="0" err="1"/>
              <a:t>Макрос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</a:t>
            </a:r>
            <a:r>
              <a:rPr lang="en-US" dirty="0"/>
              <a:t> </a:t>
            </a:r>
            <a:r>
              <a:rPr lang="en-US" dirty="0" err="1"/>
              <a:t>необходим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отличается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логически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инструкцией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dirty="0"/>
              <a:t> и </a:t>
            </a:r>
            <a:r>
              <a:rPr lang="en-US" dirty="0" err="1"/>
              <a:t>завершается</a:t>
            </a:r>
            <a:r>
              <a:rPr lang="en-US" dirty="0"/>
              <a:t> </a:t>
            </a:r>
            <a:r>
              <a:rPr lang="en-US" dirty="0" err="1"/>
              <a:t>инструкцией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Interrupt Service Routine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interrupt-</a:t>
            </a:r>
            <a:r>
              <a:rPr lang="en-US" dirty="0" err="1"/>
              <a:t>события</a:t>
            </a:r>
            <a:r>
              <a:rPr lang="en-US" dirty="0"/>
              <a:t>. </a:t>
            </a:r>
            <a:r>
              <a:rPr lang="en-US" dirty="0" err="1"/>
              <a:t>Возврат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ISR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специальной</a:t>
            </a:r>
            <a:r>
              <a:rPr lang="en-US" dirty="0"/>
              <a:t> </a:t>
            </a:r>
            <a:r>
              <a:rPr lang="en-US" dirty="0" err="1"/>
              <a:t>инструкцией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RETI</a:t>
            </a:r>
            <a:r>
              <a:rPr lang="en-US" dirty="0"/>
              <a:t> — Return from Interrupt.</a:t>
            </a:r>
          </a:p>
          <a:p>
            <a:endParaRPr lang="en-US" dirty="0"/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RETI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ru-RU" dirty="0"/>
              <a:t>прерываний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сгенерировать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пролог</a:t>
            </a:r>
            <a:r>
              <a:rPr lang="en-US" dirty="0"/>
              <a:t> и </a:t>
            </a:r>
            <a:r>
              <a:rPr lang="en-US" dirty="0" err="1"/>
              <a:t>эпилог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используемые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стеком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безопасный</a:t>
            </a:r>
            <a:r>
              <a:rPr lang="en-US" dirty="0"/>
              <a:t> </a:t>
            </a:r>
            <a:r>
              <a:rPr lang="en-US" dirty="0" err="1"/>
              <a:t>возврат</a:t>
            </a:r>
            <a:r>
              <a:rPr lang="en-US" dirty="0"/>
              <a:t> к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Макрос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данная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обработчиком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и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специальной</a:t>
            </a:r>
            <a:r>
              <a:rPr lang="en-US" dirty="0"/>
              <a:t> </a:t>
            </a:r>
            <a:r>
              <a:rPr lang="en-US" dirty="0" err="1"/>
              <a:t>генерации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приведённом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ISR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совпадении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Timer0 с compare register.</a:t>
            </a:r>
          </a:p>
          <a:p>
            <a:endParaRPr lang="en-US" dirty="0"/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PB5,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мигания</a:t>
            </a:r>
            <a:r>
              <a:rPr lang="en-US" dirty="0"/>
              <a:t> </a:t>
            </a:r>
            <a:r>
              <a:rPr lang="en-US" dirty="0" err="1"/>
              <a:t>светодиодом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ISR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асинхронно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Interrupt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короткими</a:t>
            </a:r>
            <a:r>
              <a:rPr lang="en-US" dirty="0"/>
              <a:t>, </a:t>
            </a:r>
            <a:r>
              <a:rPr lang="en-US" dirty="0" err="1"/>
              <a:t>эффективными</a:t>
            </a:r>
            <a:r>
              <a:rPr lang="en-US" dirty="0"/>
              <a:t> и </a:t>
            </a:r>
            <a:r>
              <a:rPr lang="en-US" dirty="0" err="1"/>
              <a:t>аккуратно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62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ru-RU" dirty="0"/>
              <a:t>прерываниями</a:t>
            </a:r>
            <a:r>
              <a:rPr lang="en-US" dirty="0"/>
              <a:t> </a:t>
            </a:r>
            <a:r>
              <a:rPr lang="ru-RU" dirty="0"/>
              <a:t>важно использовать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ISR.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объявлена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,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предположить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загрузить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и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превратив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в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ISR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асинхронно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Квалификатор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и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фундаментальных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взаимодействии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с </a:t>
            </a:r>
            <a:r>
              <a:rPr lang="en-US" dirty="0" err="1"/>
              <a:t>обработчиками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и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219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ru-RU" dirty="0"/>
              <a:t>прерывания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— interrupt vector table.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, </a:t>
            </a:r>
            <a:r>
              <a:rPr lang="en-US" dirty="0" err="1"/>
              <a:t>называемая</a:t>
            </a:r>
            <a:r>
              <a:rPr lang="en-US" dirty="0"/>
              <a:t> Interrupt vector.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отдельные</a:t>
            </a:r>
            <a:r>
              <a:rPr lang="en-US" dirty="0"/>
              <a:t> vectors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таймеров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UART;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внешних</a:t>
            </a:r>
            <a:r>
              <a:rPr lang="en-US" dirty="0"/>
              <a:t> GPIO interrupts;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ADC;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периферийных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ru-RU" dirty="0"/>
              <a:t>прерывание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переходит</a:t>
            </a:r>
            <a:r>
              <a:rPr lang="en-US" dirty="0"/>
              <a:t> к </a:t>
            </a:r>
            <a:r>
              <a:rPr lang="en-US" dirty="0" err="1"/>
              <a:t>обработчику</a:t>
            </a:r>
            <a:r>
              <a:rPr lang="en-US" dirty="0"/>
              <a:t>, </a:t>
            </a:r>
            <a:r>
              <a:rPr lang="en-US" dirty="0" err="1"/>
              <a:t>связанному</a:t>
            </a:r>
            <a:r>
              <a:rPr lang="en-US" dirty="0"/>
              <a:t> с </a:t>
            </a:r>
            <a:r>
              <a:rPr lang="en-US" dirty="0" err="1"/>
              <a:t>соответствующим</a:t>
            </a:r>
            <a:r>
              <a:rPr lang="en-US" dirty="0"/>
              <a:t> vector. </a:t>
            </a:r>
          </a:p>
          <a:p>
            <a:endParaRPr lang="ru-RU" dirty="0"/>
          </a:p>
          <a:p>
            <a:r>
              <a:rPr lang="en-US" dirty="0"/>
              <a:t>В AVR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interrupt vector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специальное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TIMER1_COMPA_vect</a:t>
            </a:r>
          </a:p>
          <a:p>
            <a:r>
              <a:rPr lang="en-US" dirty="0" err="1"/>
              <a:t>обозначает</a:t>
            </a:r>
            <a:r>
              <a:rPr lang="en-US" dirty="0"/>
              <a:t> interrupt vector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Compare Match A </a:t>
            </a:r>
            <a:r>
              <a:rPr lang="en-US" dirty="0" err="1"/>
              <a:t>таймера</a:t>
            </a:r>
            <a:r>
              <a:rPr lang="en-US" dirty="0"/>
              <a:t> Timer1.</a:t>
            </a:r>
          </a:p>
          <a:p>
            <a:endParaRPr lang="ru-RU" dirty="0"/>
          </a:p>
          <a:p>
            <a:r>
              <a:rPr lang="en-US" dirty="0" err="1"/>
              <a:t>Аналогично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USART_RX_vect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завершению</a:t>
            </a:r>
            <a:r>
              <a:rPr lang="en-US" dirty="0"/>
              <a:t> </a:t>
            </a:r>
            <a:r>
              <a:rPr lang="en-US" dirty="0" err="1"/>
              <a:t>приёма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UART.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Макрос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ISR(TIMER1_COMPA_vect)</a:t>
            </a:r>
          </a:p>
          <a:p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данная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interrupt vector.</a:t>
            </a:r>
          </a:p>
          <a:p>
            <a:endParaRPr lang="ru-RU" dirty="0"/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размещает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и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необходимый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interrupts.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interrupt vector table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, </a:t>
            </a:r>
            <a:r>
              <a:rPr lang="en-US" dirty="0" err="1"/>
              <a:t>связывающим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с </a:t>
            </a:r>
            <a:r>
              <a:rPr lang="en-US" dirty="0" err="1"/>
              <a:t>функциями-обработчиками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122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полный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генерации</a:t>
            </a:r>
            <a:r>
              <a:rPr lang="en-US" dirty="0"/>
              <a:t> </a:t>
            </a:r>
            <a:r>
              <a:rPr lang="en-US" dirty="0" err="1"/>
              <a:t>периодических</a:t>
            </a:r>
            <a:r>
              <a:rPr lang="en-US" dirty="0"/>
              <a:t> interrupts.</a:t>
            </a:r>
          </a:p>
          <a:p>
            <a:r>
              <a:rPr lang="en-US" dirty="0"/>
              <a:t>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подключаются</a:t>
            </a:r>
            <a:r>
              <a:rPr lang="en-US" dirty="0"/>
              <a:t> </a:t>
            </a:r>
            <a:r>
              <a:rPr lang="en-US" dirty="0" err="1"/>
              <a:t>заголовочные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AVR.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Файл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подключается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interrupt.h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заголовочный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поддержку</a:t>
            </a:r>
            <a:r>
              <a:rPr lang="en-US" dirty="0"/>
              <a:t> interrupts и </a:t>
            </a:r>
            <a:r>
              <a:rPr lang="en-US" dirty="0" err="1"/>
              <a:t>макрос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Файл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перевода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в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сна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embedded-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sleep mode и </a:t>
            </a:r>
            <a:r>
              <a:rPr lang="en-US" dirty="0" err="1"/>
              <a:t>просыпается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имена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 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обычными</a:t>
            </a:r>
            <a:r>
              <a:rPr lang="en-US" dirty="0"/>
              <a:t> </a:t>
            </a:r>
            <a:r>
              <a:rPr lang="en-US" dirty="0" err="1"/>
              <a:t>переменными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C.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отображённые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фиксированным</a:t>
            </a:r>
            <a:r>
              <a:rPr lang="en-US" dirty="0"/>
              <a:t> </a:t>
            </a:r>
            <a:r>
              <a:rPr lang="en-US" dirty="0" err="1"/>
              <a:t>адресам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Внутри</a:t>
            </a:r>
            <a:r>
              <a:rPr lang="en-US" dirty="0"/>
              <a:t> AVR </a:t>
            </a:r>
            <a:r>
              <a:rPr lang="en-US" dirty="0" err="1"/>
              <a:t>libc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объявлены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чрезвычайно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Квалификатор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произвольно</a:t>
            </a:r>
            <a:r>
              <a:rPr lang="en-US" dirty="0"/>
              <a:t> </a:t>
            </a:r>
            <a:r>
              <a:rPr lang="en-US" dirty="0" err="1"/>
              <a:t>переупорядочивать</a:t>
            </a:r>
            <a:r>
              <a:rPr lang="en-US" dirty="0"/>
              <a:t>. 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периферией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критически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в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сбрасывается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свободно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записей</a:t>
            </a:r>
            <a:r>
              <a:rPr lang="en-US" dirty="0"/>
              <a:t> в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периферия</a:t>
            </a:r>
            <a:r>
              <a:rPr lang="en-US" dirty="0"/>
              <a:t> </a:t>
            </a:r>
            <a:r>
              <a:rPr lang="en-US" dirty="0" err="1"/>
              <a:t>могла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некорректном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привело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к </a:t>
            </a:r>
            <a:r>
              <a:rPr lang="en-US" dirty="0" err="1"/>
              <a:t>неправильной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объявляются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interrupt: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ISR(TIMER1_COMPA_vect)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обсуждалось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TIMER1_COMPA_vect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interrupt vector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Compare Match A </a:t>
            </a:r>
            <a:r>
              <a:rPr lang="en-US" dirty="0" err="1"/>
              <a:t>таймера</a:t>
            </a:r>
            <a:r>
              <a:rPr lang="en-US" dirty="0"/>
              <a:t> Timer1.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TCNT1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, </a:t>
            </a:r>
            <a:r>
              <a:rPr lang="en-US" dirty="0" err="1"/>
              <a:t>аппаратно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данный</a:t>
            </a:r>
            <a:r>
              <a:rPr lang="en-US" dirty="0"/>
              <a:t> ISR.</a:t>
            </a:r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 ^= (1 &lt;&lt; PB5);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переключает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PB5.</a:t>
            </a:r>
          </a:p>
          <a:p>
            <a:r>
              <a:rPr lang="en-US" dirty="0" err="1"/>
              <a:t>На</a:t>
            </a:r>
            <a:r>
              <a:rPr lang="en-US" dirty="0"/>
              <a:t> Arduino Uno и Nano </a:t>
            </a:r>
            <a:r>
              <a:rPr lang="en-US" dirty="0" err="1"/>
              <a:t>вывод</a:t>
            </a:r>
            <a:r>
              <a:rPr lang="en-US" dirty="0"/>
              <a:t> PB5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встроенному</a:t>
            </a:r>
            <a:r>
              <a:rPr lang="en-US" dirty="0"/>
              <a:t> </a:t>
            </a:r>
            <a:r>
              <a:rPr lang="en-US" dirty="0" err="1"/>
              <a:t>светодиоду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настройка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interrupts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запрещаются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cli();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предотвращает</a:t>
            </a:r>
            <a:r>
              <a:rPr lang="en-US" dirty="0"/>
              <a:t> </a:t>
            </a:r>
            <a:r>
              <a:rPr lang="en-US" dirty="0" err="1"/>
              <a:t>возникновение</a:t>
            </a:r>
            <a:r>
              <a:rPr lang="en-US" dirty="0"/>
              <a:t> interrupt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PB5 </a:t>
            </a:r>
            <a:r>
              <a:rPr lang="en-US" dirty="0" err="1"/>
              <a:t>настраивается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output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DDRB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настройка</a:t>
            </a:r>
            <a:r>
              <a:rPr lang="en-US" dirty="0"/>
              <a:t> Timer1.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сбрасывается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 = 0;</a:t>
            </a:r>
          </a:p>
          <a:p>
            <a:r>
              <a:rPr lang="en-US" dirty="0" err="1"/>
              <a:t>Таймер</a:t>
            </a:r>
            <a:r>
              <a:rPr lang="en-US" dirty="0"/>
              <a:t> Timer1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</a:t>
            </a:r>
            <a:r>
              <a:rPr lang="en-US" dirty="0"/>
              <a:t> 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биты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</a:t>
            </a:r>
            <a:r>
              <a:rPr lang="en-US" dirty="0"/>
              <a:t> </a:t>
            </a:r>
            <a:r>
              <a:rPr lang="en-US" dirty="0" err="1"/>
              <a:t>распределены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WGM10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WGM11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</a:t>
            </a:r>
            <a:r>
              <a:rPr lang="en-US" dirty="0"/>
              <a:t>;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WGM12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WGM13</a:t>
            </a:r>
            <a:r>
              <a:rPr lang="en-US" dirty="0"/>
              <a:t> —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Совокупность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битов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CTC — Clear Timer on Compare Match</a:t>
            </a:r>
          </a:p>
          <a:p>
            <a:r>
              <a:rPr lang="en-US" dirty="0" err="1"/>
              <a:t>Согласно</a:t>
            </a:r>
            <a:r>
              <a:rPr lang="en-US" dirty="0"/>
              <a:t>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режимов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CTC </a:t>
            </a:r>
            <a:r>
              <a:rPr lang="en-US" dirty="0" err="1"/>
              <a:t>необходимо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WGM13 = 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WGM12 = 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WGM11 = 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WGM10 = 0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</a:t>
            </a:r>
            <a:r>
              <a:rPr lang="en-US" dirty="0"/>
              <a:t> </a:t>
            </a:r>
            <a:r>
              <a:rPr lang="en-US" dirty="0" err="1"/>
              <a:t>обнуляется</a:t>
            </a:r>
            <a:r>
              <a:rPr lang="en-US" dirty="0"/>
              <a:t>; </a:t>
            </a:r>
          </a:p>
          <a:p>
            <a:r>
              <a:rPr lang="en-US" dirty="0"/>
              <a:t>а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</a:t>
            </a:r>
            <a:r>
              <a:rPr lang="en-US" dirty="0"/>
              <a:t> </a:t>
            </a:r>
            <a:r>
              <a:rPr lang="en-US" dirty="0" err="1"/>
              <a:t>устанавливается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WGM12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TCNT1 = 0;</a:t>
            </a:r>
          </a:p>
          <a:p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настраивается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,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записываться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,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299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шагом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сравнения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 = 15625 - 1;</a:t>
            </a:r>
          </a:p>
          <a:p>
            <a:endParaRPr lang="ru-RU" dirty="0"/>
          </a:p>
          <a:p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верхнее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CTC.</a:t>
            </a:r>
          </a:p>
          <a:p>
            <a:endParaRPr lang="ru-RU" dirty="0"/>
          </a:p>
          <a:p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увеличивает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TCNT1</a:t>
            </a:r>
            <a:r>
              <a:rPr lang="en-US" dirty="0"/>
              <a:t> и </a:t>
            </a:r>
            <a:r>
              <a:rPr lang="en-US" dirty="0" err="1"/>
              <a:t>сравнивает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TCNT1 == OCR1A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Compare Match.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частоте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16 MHz и </a:t>
            </a:r>
            <a:r>
              <a:rPr lang="en-US" dirty="0" err="1"/>
              <a:t>prescaler</a:t>
            </a:r>
            <a:r>
              <a:rPr lang="en-US" dirty="0"/>
              <a:t> 1024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16000000 / 1024 = 15625</a:t>
            </a:r>
          </a:p>
          <a:p>
            <a:r>
              <a:rPr lang="en-US" dirty="0" err="1"/>
              <a:t>тиков</a:t>
            </a:r>
            <a:r>
              <a:rPr lang="en-US" dirty="0"/>
              <a:t> в </a:t>
            </a:r>
            <a:r>
              <a:rPr lang="en-US" dirty="0" err="1"/>
              <a:t>секунду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отсчёт</a:t>
            </a:r>
            <a:r>
              <a:rPr lang="en-US" dirty="0"/>
              <a:t> с </a:t>
            </a:r>
            <a:r>
              <a:rPr lang="en-US" dirty="0" err="1"/>
              <a:t>нуля</a:t>
            </a:r>
            <a:r>
              <a:rPr lang="en-US" dirty="0"/>
              <a:t>, </a:t>
            </a:r>
            <a:r>
              <a:rPr lang="en-US" dirty="0" err="1"/>
              <a:t>значения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0 ... 15624</a:t>
            </a:r>
          </a:p>
          <a:p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15625 </a:t>
            </a:r>
            <a:r>
              <a:rPr lang="en-US" dirty="0" err="1"/>
              <a:t>тиков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15625 - 1</a:t>
            </a:r>
          </a:p>
          <a:p>
            <a:r>
              <a:rPr lang="en-US" dirty="0"/>
              <a:t>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15625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периферией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принципиальное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Периферийное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значений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: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в </a:t>
            </a:r>
            <a:r>
              <a:rPr lang="en-US" dirty="0" err="1"/>
              <a:t>корректный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; 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сбрасывается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; </a:t>
            </a:r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compare register. 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разрешается</a:t>
            </a:r>
            <a:r>
              <a:rPr lang="en-US" dirty="0"/>
              <a:t> interrupt Compare Match A: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 |= (1 &lt;&lt; OCIE1A);</a:t>
            </a:r>
          </a:p>
          <a:p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разрешением</a:t>
            </a:r>
            <a:r>
              <a:rPr lang="en-US" dirty="0"/>
              <a:t> interrupts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OCIE1A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interrupt Compare Match A.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 |= (1 &lt;&lt; CS12) | (1 &lt;&lt; CS10);</a:t>
            </a:r>
          </a:p>
          <a:p>
            <a:r>
              <a:rPr lang="en-US" dirty="0" err="1"/>
              <a:t>Биты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CS12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CS11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CS10</a:t>
            </a:r>
            <a:r>
              <a:rPr lang="en-US" dirty="0"/>
              <a:t> </a:t>
            </a:r>
          </a:p>
          <a:p>
            <a:r>
              <a:rPr lang="en-US" dirty="0" err="1"/>
              <a:t>задают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тактирования</a:t>
            </a:r>
            <a:r>
              <a:rPr lang="en-US" dirty="0"/>
              <a:t> и </a:t>
            </a:r>
            <a:r>
              <a:rPr lang="en-US" dirty="0" err="1"/>
              <a:t>prescaler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справа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соответствие</a:t>
            </a:r>
            <a:r>
              <a:rPr lang="en-US" dirty="0"/>
              <a:t> </a:t>
            </a:r>
            <a:r>
              <a:rPr lang="en-US" dirty="0" err="1"/>
              <a:t>комбинаций</a:t>
            </a:r>
            <a:r>
              <a:rPr lang="en-US" dirty="0"/>
              <a:t> </a:t>
            </a:r>
            <a:r>
              <a:rPr lang="en-US" dirty="0" err="1"/>
              <a:t>битов</a:t>
            </a:r>
            <a:r>
              <a:rPr lang="en-US" dirty="0"/>
              <a:t> и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тиков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r>
              <a:rPr lang="en-US" dirty="0" err="1"/>
              <a:t>Комбинация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CS12 = 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CS11 = 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CS10 = 1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1024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каждые</a:t>
            </a:r>
            <a:r>
              <a:rPr lang="en-US" dirty="0"/>
              <a:t> 1024 </a:t>
            </a:r>
            <a:r>
              <a:rPr lang="en-US" dirty="0" err="1"/>
              <a:t>такта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sei();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dirty="0" err="1"/>
              <a:t>глобально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interrupts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ISR </a:t>
            </a:r>
            <a:r>
              <a:rPr lang="en-US" dirty="0" err="1"/>
              <a:t>возникнет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выполнении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условий</a:t>
            </a:r>
            <a:r>
              <a:rPr lang="en-US" dirty="0"/>
              <a:t>:</a:t>
            </a:r>
          </a:p>
          <a:p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; </a:t>
            </a:r>
          </a:p>
          <a:p>
            <a:r>
              <a:rPr lang="en-US" dirty="0" err="1"/>
              <a:t>установлен</a:t>
            </a:r>
            <a:r>
              <a:rPr lang="en-US" dirty="0"/>
              <a:t> interrupt enable bit; </a:t>
            </a:r>
          </a:p>
          <a:p>
            <a:r>
              <a:rPr lang="en-US" dirty="0" err="1"/>
              <a:t>глобально</a:t>
            </a:r>
            <a:r>
              <a:rPr lang="en-US" dirty="0"/>
              <a:t> </a:t>
            </a:r>
            <a:r>
              <a:rPr lang="en-US" dirty="0" err="1"/>
              <a:t>разрешены</a:t>
            </a:r>
            <a:r>
              <a:rPr lang="en-US" dirty="0"/>
              <a:t> interrupts. 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(1) {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sleep_mode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пустого</a:t>
            </a:r>
            <a:r>
              <a:rPr lang="en-US" dirty="0"/>
              <a:t> busy-wait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в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сна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sleep_mode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CPU </a:t>
            </a:r>
            <a:r>
              <a:rPr lang="en-US" dirty="0" err="1"/>
              <a:t>прекращает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и </a:t>
            </a:r>
            <a:r>
              <a:rPr lang="en-US" dirty="0" err="1"/>
              <a:t>ожидает</a:t>
            </a:r>
            <a:r>
              <a:rPr lang="en-US" dirty="0"/>
              <a:t> interrupt.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Compare Match interrupt:</a:t>
            </a:r>
          </a:p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«</a:t>
            </a:r>
            <a:r>
              <a:rPr lang="en-US" dirty="0" err="1"/>
              <a:t>просыпается</a:t>
            </a:r>
            <a:r>
              <a:rPr lang="en-US" dirty="0"/>
              <a:t>»; </a:t>
            </a:r>
          </a:p>
          <a:p>
            <a:r>
              <a:rPr lang="en-US" dirty="0" err="1"/>
              <a:t>выполняет</a:t>
            </a:r>
            <a:r>
              <a:rPr lang="en-US" dirty="0"/>
              <a:t> ISR; 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цикл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sleep mode. 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event-driven </a:t>
            </a:r>
            <a:r>
              <a:rPr lang="en-US" dirty="0" err="1"/>
              <a:t>архитектуры</a:t>
            </a:r>
            <a:r>
              <a:rPr lang="en-US" dirty="0"/>
              <a:t> embedded-</a:t>
            </a:r>
            <a:r>
              <a:rPr lang="en-US" dirty="0" err="1"/>
              <a:t>систем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постоянными</a:t>
            </a:r>
            <a:r>
              <a:rPr lang="en-US" dirty="0"/>
              <a:t> </a:t>
            </a:r>
            <a:r>
              <a:rPr lang="en-US" dirty="0" err="1"/>
              <a:t>проверками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бесполезные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а CPU </a:t>
            </a:r>
            <a:r>
              <a:rPr lang="en-US" dirty="0" err="1"/>
              <a:t>активируется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879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показана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в </a:t>
            </a:r>
            <a:r>
              <a:rPr lang="en-US" dirty="0" err="1"/>
              <a:t>формате</a:t>
            </a:r>
            <a:r>
              <a:rPr lang="en-US" dirty="0"/>
              <a:t> Arduino IDE.</a:t>
            </a:r>
          </a:p>
          <a:p>
            <a:r>
              <a:rPr lang="en-US" dirty="0"/>
              <a:t>Arduino IDE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низкоуровневой</a:t>
            </a:r>
            <a:r>
              <a:rPr lang="en-US" dirty="0"/>
              <a:t> </a:t>
            </a:r>
            <a:r>
              <a:rPr lang="en-US" dirty="0" err="1"/>
              <a:t>инфраструктуры</a:t>
            </a:r>
            <a:r>
              <a:rPr lang="en-US" dirty="0"/>
              <a:t> и </a:t>
            </a:r>
            <a:r>
              <a:rPr lang="en-US" dirty="0" err="1"/>
              <a:t>упрощает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main(void)</a:t>
            </a:r>
          </a:p>
          <a:p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setup()</a:t>
            </a:r>
          </a:p>
          <a:p>
            <a:r>
              <a:rPr lang="en-US" dirty="0"/>
              <a:t>и: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loop()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setup()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и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:</a:t>
            </a:r>
          </a:p>
          <a:p>
            <a:r>
              <a:rPr lang="en-US" dirty="0" err="1"/>
              <a:t>настройки</a:t>
            </a:r>
            <a:r>
              <a:rPr lang="en-US" dirty="0"/>
              <a:t> GPIO; </a:t>
            </a:r>
          </a:p>
          <a:p>
            <a:r>
              <a:rPr lang="en-US" dirty="0" err="1"/>
              <a:t>конфигурации</a:t>
            </a:r>
            <a:r>
              <a:rPr lang="en-US" dirty="0"/>
              <a:t> </a:t>
            </a:r>
            <a:r>
              <a:rPr lang="en-US" dirty="0" err="1"/>
              <a:t>таймеров</a:t>
            </a:r>
            <a:r>
              <a:rPr lang="en-US" dirty="0"/>
              <a:t>; </a:t>
            </a:r>
          </a:p>
          <a:p>
            <a:r>
              <a:rPr lang="en-US" dirty="0" err="1"/>
              <a:t>инициализации</a:t>
            </a:r>
            <a:r>
              <a:rPr lang="en-US" dirty="0"/>
              <a:t> UART; </a:t>
            </a:r>
          </a:p>
          <a:p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конфигурация</a:t>
            </a:r>
            <a:r>
              <a:rPr lang="en-US" dirty="0"/>
              <a:t> Timer1 и interrupts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.</a:t>
            </a:r>
          </a:p>
          <a:p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loop()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Arduino runtime в </a:t>
            </a:r>
            <a:r>
              <a:rPr lang="en-US" dirty="0" err="1"/>
              <a:t>бесконечном</a:t>
            </a:r>
            <a:r>
              <a:rPr lang="en-US" dirty="0"/>
              <a:t> </a:t>
            </a:r>
            <a:r>
              <a:rPr lang="en-US" dirty="0" err="1"/>
              <a:t>цикле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Фактически</a:t>
            </a:r>
            <a:r>
              <a:rPr lang="en-US" dirty="0"/>
              <a:t> Arduino IDE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эквивалентный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следующему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986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ELF-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дизассемблирован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avr-objdump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__vectors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reset и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interrupts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0: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0x68 &lt;__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ctors_end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 err="1"/>
              <a:t>Это</a:t>
            </a:r>
            <a:r>
              <a:rPr lang="en-US" dirty="0"/>
              <a:t> reset vector — </a:t>
            </a: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сброса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0x0000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к startup code.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vectors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interrupt-</a:t>
            </a:r>
            <a:r>
              <a:rPr lang="en-US" dirty="0" err="1"/>
              <a:t>источников</a:t>
            </a:r>
            <a:r>
              <a:rPr lang="en-US" dirty="0"/>
              <a:t>.</a:t>
            </a:r>
          </a:p>
          <a:p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записей</a:t>
            </a:r>
            <a:r>
              <a:rPr lang="en-US" dirty="0"/>
              <a:t> </a:t>
            </a:r>
            <a:r>
              <a:rPr lang="en-US" dirty="0" err="1"/>
              <a:t>выглядят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0x8c &lt;__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bad_interrupt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interrupt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ISR.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interrupt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возникнет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перейдёт</a:t>
            </a:r>
            <a:r>
              <a:rPr lang="en-US" dirty="0"/>
              <a:t> в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bad_interrupt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указывают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реальные</a:t>
            </a:r>
            <a:r>
              <a:rPr lang="en-US" dirty="0"/>
              <a:t> ISR.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0x90 &lt;__vector_16&gt;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к </a:t>
            </a:r>
            <a:r>
              <a:rPr lang="en-US" dirty="0" err="1"/>
              <a:t>обработчику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ru-RU" dirty="0"/>
              <a:t>прерываний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сюда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передаст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, </a:t>
            </a:r>
            <a:r>
              <a:rPr lang="en-US" dirty="0" err="1"/>
              <a:t>расположенных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фиксированным</a:t>
            </a:r>
            <a:r>
              <a:rPr lang="en-US" dirty="0"/>
              <a:t> </a:t>
            </a:r>
            <a:r>
              <a:rPr lang="en-US" dirty="0" err="1"/>
              <a:t>адресам</a:t>
            </a:r>
            <a:r>
              <a:rPr lang="en-US" dirty="0"/>
              <a:t> flash-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interrupts —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магия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C», а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Макрос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ISR(TIMER1_COMPA_vect)</a:t>
            </a:r>
          </a:p>
          <a:p>
            <a:r>
              <a:rPr lang="en-US" dirty="0"/>
              <a:t>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размещает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соответствующей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в </a:t>
            </a:r>
            <a:r>
              <a:rPr lang="en-US" dirty="0" err="1"/>
              <a:t>нужной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41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reset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, а в startup code,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подготавливает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runtime initialization, </a:t>
            </a:r>
            <a:r>
              <a:rPr lang="en-US" dirty="0" err="1"/>
              <a:t>сгенерированный</a:t>
            </a:r>
            <a:r>
              <a:rPr lang="en-US" dirty="0"/>
              <a:t> </a:t>
            </a:r>
            <a:r>
              <a:rPr lang="en-US" dirty="0" err="1"/>
              <a:t>компилятором</a:t>
            </a:r>
            <a:r>
              <a:rPr lang="en-US" dirty="0"/>
              <a:t> и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 AVR.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шагам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68: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r1, r1</a:t>
            </a:r>
          </a:p>
          <a:p>
            <a:r>
              <a:rPr lang="en-US" dirty="0" err="1"/>
              <a:t>выполняет</a:t>
            </a:r>
            <a:r>
              <a:rPr lang="en-US" dirty="0"/>
              <a:t> XOR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</a:t>
            </a:r>
            <a:r>
              <a:rPr lang="en-US" dirty="0"/>
              <a:t> с </a:t>
            </a:r>
            <a:r>
              <a:rPr lang="en-US" dirty="0" err="1"/>
              <a:t>самим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устанавливая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 = 0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AVR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соглашению</a:t>
            </a:r>
            <a:r>
              <a:rPr lang="en-US" dirty="0"/>
              <a:t> ABI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.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предположение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генерации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6a: out 0x3f, r1</a:t>
            </a:r>
          </a:p>
          <a:p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SREG</a:t>
            </a:r>
            <a:r>
              <a:rPr lang="en-US" dirty="0"/>
              <a:t> — Status Register.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очищаются</a:t>
            </a:r>
            <a:r>
              <a:rPr lang="en-US" dirty="0"/>
              <a:t> </a:t>
            </a:r>
            <a:r>
              <a:rPr lang="en-US" dirty="0" err="1"/>
              <a:t>флаги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и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запрещаются</a:t>
            </a:r>
            <a:r>
              <a:rPr lang="en-US" dirty="0"/>
              <a:t> interrupts.</a:t>
            </a:r>
          </a:p>
          <a:p>
            <a:r>
              <a:rPr lang="en-US" dirty="0" err="1"/>
              <a:t>Далее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6c: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r28, 0xFF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6e: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r29, 0x08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70: out 0x3e, r29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72: out 0x3d, r28</a:t>
            </a:r>
          </a:p>
          <a:p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инициализация</a:t>
            </a:r>
            <a:r>
              <a:rPr lang="en-US" dirty="0"/>
              <a:t> stack pointer.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Регистры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0x3E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SPH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0x3D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</a:t>
            </a:r>
            <a:r>
              <a:rPr lang="en-US" dirty="0"/>
              <a:t> </a:t>
            </a:r>
          </a:p>
          <a:p>
            <a:r>
              <a:rPr lang="en-US" dirty="0" err="1"/>
              <a:t>образуют</a:t>
            </a:r>
            <a:r>
              <a:rPr lang="en-US" dirty="0"/>
              <a:t> Stack Pointer.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устанавливается</a:t>
            </a:r>
            <a:r>
              <a:rPr lang="en-US" dirty="0"/>
              <a:t> в </a:t>
            </a:r>
            <a:r>
              <a:rPr lang="en-US" dirty="0" err="1"/>
              <a:t>адрес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0x08FF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верхней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 SRAM ATmega328P.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логично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стек</a:t>
            </a:r>
            <a:r>
              <a:rPr lang="en-US" dirty="0"/>
              <a:t> в AVR </a:t>
            </a:r>
            <a:r>
              <a:rPr lang="en-US" dirty="0" err="1"/>
              <a:t>растёт</a:t>
            </a:r>
            <a:r>
              <a:rPr lang="en-US" dirty="0"/>
              <a:t> </a:t>
            </a:r>
            <a:r>
              <a:rPr lang="en-US" dirty="0" err="1"/>
              <a:t>вниз</a:t>
            </a:r>
            <a:r>
              <a:rPr lang="en-US" dirty="0"/>
              <a:t>,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адресов</a:t>
            </a:r>
            <a:r>
              <a:rPr lang="en-US" dirty="0"/>
              <a:t> к </a:t>
            </a:r>
            <a:r>
              <a:rPr lang="en-US" dirty="0" err="1"/>
              <a:t>меньшим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очистка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bss</a:t>
            </a:r>
            <a:r>
              <a:rPr lang="en-US" dirty="0"/>
              <a:t>.</a:t>
            </a:r>
          </a:p>
          <a:p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bss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:</a:t>
            </a:r>
          </a:p>
          <a:p>
            <a:r>
              <a:rPr lang="en-US" dirty="0" err="1"/>
              <a:t>глобальные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; </a:t>
            </a:r>
          </a:p>
          <a:p>
            <a:r>
              <a:rPr lang="en-US" dirty="0"/>
              <a:t>static-</a:t>
            </a:r>
            <a:r>
              <a:rPr lang="en-US" dirty="0" err="1"/>
              <a:t>переменные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явной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Согласно</a:t>
            </a:r>
            <a:r>
              <a:rPr lang="en-US" dirty="0"/>
              <a:t> </a:t>
            </a:r>
            <a:r>
              <a:rPr lang="en-US" dirty="0" err="1"/>
              <a:t>стандарту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C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заполнены</a:t>
            </a:r>
            <a:r>
              <a:rPr lang="en-US" dirty="0"/>
              <a:t> </a:t>
            </a:r>
            <a:r>
              <a:rPr lang="en-US" dirty="0" err="1"/>
              <a:t>нулями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началом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74: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r18, 0x01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76: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r26, 0x00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78: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r27, 0x01</a:t>
            </a:r>
          </a:p>
          <a:p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r27:r26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в </a:t>
            </a:r>
            <a:r>
              <a:rPr lang="en-US" dirty="0" err="1"/>
              <a:t>цикле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7c: st X+, r1</a:t>
            </a:r>
          </a:p>
          <a:p>
            <a:r>
              <a:rPr lang="en-US" dirty="0"/>
              <a:t>в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</a:t>
            </a:r>
            <a:r>
              <a:rPr lang="en-US" dirty="0"/>
              <a:t>, а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увеличивается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7e: cpi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80: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cpc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82: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brne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окончания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startup code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очищает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bss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84: call 0x148 &lt;main&gt;</a:t>
            </a:r>
          </a:p>
          <a:p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пользовательской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значительный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runtime initialization.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88: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0x22e &lt;_exit&gt;</a:t>
            </a:r>
          </a:p>
          <a:p>
            <a:r>
              <a:rPr lang="en-US" dirty="0" err="1"/>
              <a:t>Хотя</a:t>
            </a:r>
            <a:r>
              <a:rPr lang="en-US" dirty="0"/>
              <a:t> в embedded-</a:t>
            </a:r>
            <a:r>
              <a:rPr lang="en-US" dirty="0" err="1"/>
              <a:t>программах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Внизу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bad_interrupt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interrupt,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определён</a:t>
            </a:r>
            <a:r>
              <a:rPr lang="en-US" dirty="0"/>
              <a:t> ISR,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сюда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</a:t>
            </a:r>
          </a:p>
          <a:p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reset-</a:t>
            </a:r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к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низкоуровневым</a:t>
            </a:r>
            <a:r>
              <a:rPr lang="en-US" dirty="0"/>
              <a:t> и </a:t>
            </a:r>
            <a:r>
              <a:rPr lang="en-US" dirty="0" err="1"/>
              <a:t>прямолинейным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в </a:t>
            </a:r>
            <a:r>
              <a:rPr lang="en-US" dirty="0" err="1"/>
              <a:t>микроконтроллере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624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interrupt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дизассемблированная</a:t>
            </a:r>
            <a:r>
              <a:rPr lang="en-US" dirty="0"/>
              <a:t> </a:t>
            </a:r>
            <a:r>
              <a:rPr lang="en-US" dirty="0" err="1"/>
              <a:t>версия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ISR(TIMER1_COMPA_vect)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ISR </a:t>
            </a:r>
            <a:r>
              <a:rPr lang="en-US" dirty="0" err="1"/>
              <a:t>отличается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логически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ru-RU" dirty="0"/>
              <a:t>машинного кода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начале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пролог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124: push r1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126: push r0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12e: push r24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130: push r25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сохраняют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в </a:t>
            </a:r>
            <a:r>
              <a:rPr lang="en-US" dirty="0" err="1"/>
              <a:t>стек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Interrupt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ISR </a:t>
            </a:r>
            <a:r>
              <a:rPr lang="en-US" dirty="0" err="1"/>
              <a:t>обязана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разрушить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прерванного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интересна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128: in r0, 0x3f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SREG</a:t>
            </a:r>
            <a:r>
              <a:rPr lang="en-US" dirty="0"/>
              <a:t> — Status Register.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SREG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 в </a:t>
            </a:r>
            <a:r>
              <a:rPr lang="en-US" dirty="0" err="1"/>
              <a:t>стек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12a: push r0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флагов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ISR.</a:t>
            </a:r>
          </a:p>
          <a:p>
            <a:r>
              <a:rPr lang="en-US" dirty="0" err="1"/>
              <a:t>Напомним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 ^= (1 &lt;&lt; PB5);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132: in  r24, 0x05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134: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r25, 0x20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136: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r25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138: out 0x05, r24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.</a:t>
            </a:r>
          </a:p>
          <a:p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r24, 0x05</a:t>
            </a:r>
          </a:p>
          <a:p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обратить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в </a:t>
            </a:r>
            <a:r>
              <a:rPr lang="en-US" dirty="0" err="1"/>
              <a:t>языке</a:t>
            </a:r>
            <a:r>
              <a:rPr lang="en-US" dirty="0"/>
              <a:t> C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 </a:t>
            </a:r>
            <a:r>
              <a:rPr lang="en-US" dirty="0" err="1"/>
              <a:t>выглядел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-</a:t>
            </a:r>
            <a:r>
              <a:rPr lang="en-US" dirty="0" err="1"/>
              <a:t>переменная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I/O-</a:t>
            </a:r>
            <a:r>
              <a:rPr lang="en-US" dirty="0" err="1"/>
              <a:t>регистру</a:t>
            </a:r>
            <a:r>
              <a:rPr lang="en-US" dirty="0"/>
              <a:t> AVR, </a:t>
            </a:r>
            <a:r>
              <a:rPr lang="en-US" dirty="0" err="1"/>
              <a:t>расположенному</a:t>
            </a:r>
            <a:r>
              <a:rPr lang="en-US" dirty="0"/>
              <a:t> в </a:t>
            </a:r>
            <a:r>
              <a:rPr lang="en-US" dirty="0" err="1"/>
              <a:t>специальном</a:t>
            </a:r>
            <a:r>
              <a:rPr lang="en-US" dirty="0"/>
              <a:t> I/O address space.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lds</a:t>
            </a:r>
            <a:r>
              <a:rPr lang="en-US" dirty="0"/>
              <a:t>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dirty="0"/>
              <a:t> 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AVR и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эффективнее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r25, 0x20</a:t>
            </a:r>
          </a:p>
          <a:p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маску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0x20 = 1 &lt;&lt; PB5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r25</a:t>
            </a:r>
          </a:p>
          <a:p>
            <a:r>
              <a:rPr lang="en-US" dirty="0" err="1"/>
              <a:t>выполняет</a:t>
            </a:r>
            <a:r>
              <a:rPr lang="en-US" dirty="0"/>
              <a:t> XOR, </a:t>
            </a:r>
            <a:r>
              <a:rPr lang="en-US" dirty="0" err="1"/>
              <a:t>переключая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PB5.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затем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 0x05, r24</a:t>
            </a:r>
          </a:p>
          <a:p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 ^= (1 &lt;&lt; PB5);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;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бита</a:t>
            </a:r>
            <a:r>
              <a:rPr lang="en-US" dirty="0"/>
              <a:t>;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периферию</a:t>
            </a:r>
            <a:r>
              <a:rPr lang="en-US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</a:t>
            </a:r>
            <a:r>
              <a:rPr lang="en-US" dirty="0" err="1"/>
              <a:t>осле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ISR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эпилог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Инструкции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</a:p>
          <a:p>
            <a:r>
              <a:rPr lang="en-US" dirty="0" err="1"/>
              <a:t>восстанавливают</a:t>
            </a:r>
            <a:r>
              <a:rPr lang="en-US" dirty="0"/>
              <a:t> </a:t>
            </a:r>
            <a:r>
              <a:rPr lang="en-US" dirty="0" err="1"/>
              <a:t>сохранённые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140: out 0x3f, r0</a:t>
            </a:r>
          </a:p>
          <a:p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SREG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146: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reti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возврат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interrupt.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AVR.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</a:t>
            </a:r>
            <a:r>
              <a:rPr lang="en-US" dirty="0"/>
              <a:t>,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reti</a:t>
            </a:r>
            <a:r>
              <a:rPr lang="en-US" dirty="0"/>
              <a:t>:</a:t>
            </a:r>
          </a:p>
          <a:p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; </a:t>
            </a:r>
          </a:p>
          <a:p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interrupts. 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ISR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специальным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,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архитектурой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и </a:t>
            </a:r>
            <a:r>
              <a:rPr lang="en-US" dirty="0" err="1"/>
              <a:t>механизмом</a:t>
            </a:r>
            <a:r>
              <a:rPr lang="en-US" dirty="0"/>
              <a:t> interrupts.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43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превратил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setup()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периферией</a:t>
            </a:r>
            <a:r>
              <a:rPr lang="en-US" dirty="0"/>
              <a:t> </a:t>
            </a:r>
            <a:r>
              <a:rPr lang="en-US" dirty="0" err="1"/>
              <a:t>преобразуются</a:t>
            </a:r>
            <a:r>
              <a:rPr lang="en-US" dirty="0"/>
              <a:t> в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AVR.</a:t>
            </a:r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1ce: cli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вызову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cli();</a:t>
            </a:r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interrupts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1d0: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0x04, 5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DDRB |= (1 &lt;&lt; PB5);</a:t>
            </a:r>
          </a:p>
          <a:p>
            <a:endParaRPr lang="ru-RU" dirty="0"/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sbi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Bit in I/O Register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AVR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установки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бита</a:t>
            </a:r>
            <a:r>
              <a:rPr lang="en-US" dirty="0"/>
              <a:t> в I/O-</a:t>
            </a:r>
            <a:r>
              <a:rPr lang="en-US" dirty="0" err="1"/>
              <a:t>регистре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:</a:t>
            </a:r>
          </a:p>
          <a:p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; </a:t>
            </a:r>
          </a:p>
          <a:p>
            <a:r>
              <a:rPr lang="en-US" dirty="0" err="1"/>
              <a:t>модификацию</a:t>
            </a:r>
            <a:r>
              <a:rPr lang="en-US" dirty="0"/>
              <a:t>; </a:t>
            </a:r>
          </a:p>
          <a:p>
            <a:r>
              <a:rPr lang="en-US" dirty="0" err="1"/>
              <a:t>обратную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использовал</a:t>
            </a:r>
            <a:r>
              <a:rPr lang="en-US" dirty="0"/>
              <a:t> </a:t>
            </a:r>
            <a:r>
              <a:rPr lang="en-US" dirty="0" err="1"/>
              <a:t>специализированную</a:t>
            </a:r>
            <a:r>
              <a:rPr lang="en-US" dirty="0"/>
              <a:t> bit-manipulation instruction </a:t>
            </a:r>
            <a:r>
              <a:rPr lang="en-US" dirty="0" err="1"/>
              <a:t>архитектуры</a:t>
            </a:r>
            <a:r>
              <a:rPr lang="en-US" dirty="0"/>
              <a:t> AVR.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DDRB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в low I/O address space; </a:t>
            </a:r>
          </a:p>
          <a:p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; </a:t>
            </a:r>
          </a:p>
          <a:p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установку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бита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0x0080, r1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 = 0;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— Store Direct to Data Space.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DDRB</a:t>
            </a:r>
            <a:r>
              <a:rPr lang="en-US" dirty="0"/>
              <a:t>,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low I/O area,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AVR.</a:t>
            </a:r>
          </a:p>
          <a:p>
            <a:endParaRPr lang="ru-RU" dirty="0"/>
          </a:p>
          <a:p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:</a:t>
            </a:r>
          </a:p>
          <a:p>
            <a:r>
              <a:rPr lang="en-US" dirty="0"/>
              <a:t>в </a:t>
            </a:r>
            <a:r>
              <a:rPr lang="en-US" dirty="0" err="1"/>
              <a:t>специальном</a:t>
            </a:r>
            <a:r>
              <a:rPr lang="en-US" dirty="0"/>
              <a:t> I/O address space; </a:t>
            </a:r>
          </a:p>
          <a:p>
            <a:r>
              <a:rPr lang="en-US" dirty="0"/>
              <a:t>и </a:t>
            </a:r>
            <a:r>
              <a:rPr lang="en-US" dirty="0" err="1"/>
              <a:t>доступна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быстрые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: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sbi</a:t>
            </a:r>
            <a:r>
              <a:rPr lang="en-US" dirty="0"/>
              <a:t> 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cbi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в memory-mapped </a:t>
            </a:r>
            <a:r>
              <a:rPr lang="en-US" dirty="0" err="1"/>
              <a:t>области</a:t>
            </a:r>
            <a:r>
              <a:rPr lang="en-US" dirty="0"/>
              <a:t> SRAM address space и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memory access instructions: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lds</a:t>
            </a:r>
            <a:r>
              <a:rPr lang="en-US" dirty="0"/>
              <a:t>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C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варианта</a:t>
            </a:r>
            <a:r>
              <a:rPr lang="en-US" dirty="0"/>
              <a:t> </a:t>
            </a:r>
            <a:r>
              <a:rPr lang="en-US" dirty="0" err="1"/>
              <a:t>выглядят</a:t>
            </a:r>
            <a:r>
              <a:rPr lang="en-US" dirty="0"/>
              <a:t> </a:t>
            </a:r>
            <a:r>
              <a:rPr lang="en-US" dirty="0" err="1"/>
              <a:t>одинаково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 = ...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TCCR1A = ...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нужные</a:t>
            </a:r>
            <a:r>
              <a:rPr lang="en-US" dirty="0"/>
              <a:t> </a:t>
            </a:r>
            <a:r>
              <a:rPr lang="en-US" dirty="0" err="1"/>
              <a:t>машинные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0x0085, r1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0x0084, r1</a:t>
            </a:r>
          </a:p>
          <a:p>
            <a:r>
              <a:rPr lang="en-US" dirty="0" err="1"/>
              <a:t>Это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TCNT1 = 0;</a:t>
            </a:r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заметить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TCNT1</a:t>
            </a:r>
            <a:r>
              <a:rPr lang="en-US" dirty="0"/>
              <a:t> — 16-битный </a:t>
            </a:r>
            <a:r>
              <a:rPr lang="en-US" dirty="0" err="1"/>
              <a:t>регистр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младшего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старшего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0x08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0x0081, r24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 = (1 &lt;&lt; WGM12);</a:t>
            </a:r>
          </a:p>
          <a:p>
            <a:endParaRPr lang="ru-RU" dirty="0"/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константу</a:t>
            </a:r>
            <a:r>
              <a:rPr lang="en-US" dirty="0"/>
              <a:t> в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в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 = 15624;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разбивает</a:t>
            </a:r>
            <a:r>
              <a:rPr lang="en-US" dirty="0"/>
              <a:t> 16-битное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0x08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r25, 0x3D</a:t>
            </a:r>
          </a:p>
          <a:p>
            <a:r>
              <a:rPr lang="en-US" dirty="0" err="1"/>
              <a:t>Здесь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0x3D08</a:t>
            </a:r>
            <a:br>
              <a:rPr lang="en-US" dirty="0"/>
            </a:br>
            <a:r>
              <a:rPr lang="en-US" dirty="0"/>
              <a:t>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шестнадцатеричное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15624</a:t>
            </a:r>
            <a:r>
              <a:rPr lang="en-US" dirty="0"/>
              <a:t>. 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 </a:t>
            </a:r>
            <a:r>
              <a:rPr lang="en-US" dirty="0" err="1"/>
              <a:t>записываются</a:t>
            </a:r>
            <a:r>
              <a:rPr lang="en-US" dirty="0"/>
              <a:t> в: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OCR1AH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OCR1AL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0x0081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0x05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0x0081, r24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 |= (1 &lt;&lt; CS12) | (1 &lt;&lt; CS10);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read-modify-write: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нужные</a:t>
            </a:r>
            <a:r>
              <a:rPr lang="en-US" dirty="0"/>
              <a:t> </a:t>
            </a:r>
            <a:r>
              <a:rPr lang="en-US" dirty="0" err="1"/>
              <a:t>биты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-</a:t>
            </a:r>
            <a:r>
              <a:rPr lang="en-US" dirty="0" err="1"/>
              <a:t>регистром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переупорядочить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 </a:t>
            </a:r>
            <a:r>
              <a:rPr lang="en-US" dirty="0" err="1"/>
              <a:t>объявлены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embedded-</a:t>
            </a:r>
            <a:r>
              <a:rPr lang="en-US" dirty="0" err="1"/>
              <a:t>программирования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записей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</a:t>
            </a:r>
            <a:r>
              <a:rPr lang="en-US" dirty="0" err="1"/>
              <a:t>некорректной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</a:t>
            </a:r>
            <a:r>
              <a:rPr lang="en-US" dirty="0" err="1"/>
              <a:t>аппаратуры</a:t>
            </a:r>
            <a:r>
              <a:rPr lang="en-US" dirty="0"/>
              <a:t>.</a:t>
            </a:r>
          </a:p>
          <a:p>
            <a:r>
              <a:rPr lang="en-US" dirty="0" err="1"/>
              <a:t>Аналогично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настройка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204: sei</a:t>
            </a:r>
          </a:p>
          <a:p>
            <a:r>
              <a:rPr lang="en-US" dirty="0" err="1"/>
              <a:t>соответствует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sei();</a:t>
            </a:r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</a:t>
            </a:r>
            <a:r>
              <a:rPr lang="en-US" dirty="0"/>
              <a:t> </a:t>
            </a:r>
            <a:r>
              <a:rPr lang="en-US" dirty="0" err="1"/>
              <a:t>глобально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interrupts.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прямолинейную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констант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модификация</a:t>
            </a:r>
            <a:r>
              <a:rPr lang="en-US" dirty="0"/>
              <a:t> </a:t>
            </a:r>
            <a:r>
              <a:rPr lang="en-US" dirty="0" err="1"/>
              <a:t>битов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значений</a:t>
            </a:r>
            <a:r>
              <a:rPr lang="en-US" dirty="0"/>
              <a:t> в </a:t>
            </a:r>
            <a:r>
              <a:rPr lang="en-US" dirty="0" err="1"/>
              <a:t>периферию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685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Arduino IDE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пишет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loop()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никакой</a:t>
            </a:r>
            <a:r>
              <a:rPr lang="en-US" dirty="0"/>
              <a:t> «</a:t>
            </a:r>
            <a:r>
              <a:rPr lang="en-US" dirty="0" err="1"/>
              <a:t>магии</a:t>
            </a:r>
            <a:r>
              <a:rPr lang="en-US" dirty="0"/>
              <a:t> loop»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Arduino runtime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(;;) {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loop();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serialEventRun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serialEventRun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loop()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loop()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sleep_mode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AVR.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20a: in r24, 0x33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20c: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0x01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20e: out 0x33, r24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регистром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SMCR</a:t>
            </a:r>
            <a:r>
              <a:rPr lang="en-US" dirty="0"/>
              <a:t> — Sleep Mode Control Register.</a:t>
            </a:r>
          </a:p>
          <a:p>
            <a:endParaRPr lang="en-US" dirty="0"/>
          </a:p>
          <a:p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;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</a:t>
            </a:r>
            <a:r>
              <a:rPr lang="en-US" dirty="0"/>
              <a:t> — Sleep Enable;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обновлённое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переходом</a:t>
            </a:r>
            <a:r>
              <a:rPr lang="en-US" dirty="0"/>
              <a:t> в sleep mode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сна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регистр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ключевая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210: sleep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CPU </a:t>
            </a:r>
            <a:r>
              <a:rPr lang="en-US" dirty="0" err="1"/>
              <a:t>прекращает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и </a:t>
            </a:r>
            <a:r>
              <a:rPr lang="en-US" dirty="0" err="1"/>
              <a:t>переходит</a:t>
            </a:r>
            <a:r>
              <a:rPr lang="en-US" dirty="0"/>
              <a:t> в sleep mode.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процессор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перестаёт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периферия</a:t>
            </a:r>
            <a:r>
              <a:rPr lang="en-US" dirty="0"/>
              <a:t>:</a:t>
            </a:r>
          </a:p>
          <a:p>
            <a:r>
              <a:rPr lang="en-US" dirty="0" err="1"/>
              <a:t>таймеры</a:t>
            </a:r>
            <a:r>
              <a:rPr lang="en-US" dirty="0"/>
              <a:t>; </a:t>
            </a:r>
          </a:p>
          <a:p>
            <a:r>
              <a:rPr lang="en-US" dirty="0"/>
              <a:t>interrupts; </a:t>
            </a:r>
          </a:p>
          <a:p>
            <a:r>
              <a:rPr lang="en-US" dirty="0"/>
              <a:t>UART; </a:t>
            </a:r>
          </a:p>
          <a:p>
            <a:r>
              <a:rPr lang="en-US" dirty="0"/>
              <a:t>GPIO </a:t>
            </a:r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ru-RU" dirty="0"/>
              <a:t>прерывание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Timer1: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«</a:t>
            </a:r>
            <a:r>
              <a:rPr lang="en-US" dirty="0" err="1"/>
              <a:t>просыпается</a:t>
            </a:r>
            <a:r>
              <a:rPr lang="en-US" dirty="0"/>
              <a:t>»;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выполняет</a:t>
            </a:r>
            <a:r>
              <a:rPr lang="en-US" dirty="0"/>
              <a:t> ISR;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212: in r24, 0x33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214: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0xFE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216: out 0x33, r24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SMCR</a:t>
            </a:r>
            <a:r>
              <a:rPr lang="en-US" dirty="0"/>
              <a:t>.</a:t>
            </a:r>
          </a:p>
          <a:p>
            <a:r>
              <a:rPr lang="en-US" dirty="0" err="1"/>
              <a:t>Инструкция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r24, 0xFE</a:t>
            </a:r>
          </a:p>
          <a:p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sleep mode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отключается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предотвращает</a:t>
            </a:r>
            <a:r>
              <a:rPr lang="en-US" dirty="0"/>
              <a:t> </a:t>
            </a:r>
            <a:r>
              <a:rPr lang="en-US" dirty="0" err="1"/>
              <a:t>случайный</a:t>
            </a:r>
            <a:r>
              <a:rPr lang="en-US" dirty="0"/>
              <a:t> </a:t>
            </a:r>
            <a:r>
              <a:rPr lang="en-US" dirty="0" err="1"/>
              <a:t>повторный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в sleep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последующих</a:t>
            </a:r>
            <a:r>
              <a:rPr lang="en-US" dirty="0"/>
              <a:t> </a:t>
            </a:r>
            <a:r>
              <a:rPr lang="en-US" dirty="0" err="1"/>
              <a:t>инструкциях</a:t>
            </a:r>
            <a:r>
              <a:rPr lang="en-US" dirty="0"/>
              <a:t>.</a:t>
            </a:r>
          </a:p>
          <a:p>
            <a:r>
              <a:rPr lang="en-US" dirty="0" err="1"/>
              <a:t>Далее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21a: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breq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...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220: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...</a:t>
            </a:r>
          </a:p>
          <a:p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Arduino runtime.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машинного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крайне</a:t>
            </a:r>
            <a:r>
              <a:rPr lang="en-US" dirty="0"/>
              <a:t> </a:t>
            </a:r>
            <a:r>
              <a:rPr lang="en-US" dirty="0" err="1"/>
              <a:t>прямолинейно</a:t>
            </a:r>
            <a:r>
              <a:rPr lang="en-US" dirty="0"/>
              <a:t>:</a:t>
            </a:r>
          </a:p>
          <a:p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установка</a:t>
            </a:r>
            <a:r>
              <a:rPr lang="en-US" dirty="0"/>
              <a:t> </a:t>
            </a:r>
            <a:r>
              <a:rPr lang="en-US" dirty="0" err="1"/>
              <a:t>битов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переходы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Никаких</a:t>
            </a:r>
            <a:r>
              <a:rPr lang="en-US" dirty="0"/>
              <a:t> «</a:t>
            </a:r>
            <a:r>
              <a:rPr lang="en-US" dirty="0" err="1"/>
              <a:t>высокоуровневых</a:t>
            </a:r>
            <a:r>
              <a:rPr lang="en-US" dirty="0"/>
              <a:t>» </a:t>
            </a:r>
            <a:r>
              <a:rPr lang="en-US" dirty="0" err="1"/>
              <a:t>конструкций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Внизу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_exit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когда-либо</a:t>
            </a:r>
            <a:r>
              <a:rPr lang="en-US" dirty="0"/>
              <a:t> </a:t>
            </a:r>
            <a:r>
              <a:rPr lang="en-US" dirty="0" err="1"/>
              <a:t>попытается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, runtime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ru-RU" dirty="0"/>
              <a:t>прерывания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rjmp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.-2</a:t>
            </a:r>
          </a:p>
          <a:p>
            <a:r>
              <a:rPr lang="en-US" dirty="0"/>
              <a:t>Embedded-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завершаются</a:t>
            </a:r>
            <a:r>
              <a:rPr lang="en-US" dirty="0"/>
              <a:t> — </a:t>
            </a:r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предполагается</a:t>
            </a:r>
            <a:r>
              <a:rPr lang="en-US" dirty="0"/>
              <a:t> </a:t>
            </a:r>
            <a:r>
              <a:rPr lang="en-US" dirty="0" err="1"/>
              <a:t>работающим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включения</a:t>
            </a:r>
            <a:r>
              <a:rPr lang="en-US" dirty="0"/>
              <a:t> </a:t>
            </a:r>
            <a:r>
              <a:rPr lang="en-US" dirty="0" err="1"/>
              <a:t>питания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489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embedded-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написана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C,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сводится</a:t>
            </a:r>
            <a:r>
              <a:rPr lang="en-US" dirty="0"/>
              <a:t> 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чтению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взаимодействию</a:t>
            </a:r>
            <a:r>
              <a:rPr lang="en-US" dirty="0"/>
              <a:t> с </a:t>
            </a:r>
            <a:r>
              <a:rPr lang="en-US" dirty="0" err="1"/>
              <a:t>периферийными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полный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от</a:t>
            </a:r>
            <a:r>
              <a:rPr lang="en-US" dirty="0"/>
              <a:t> reset vector;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через</a:t>
            </a:r>
            <a:r>
              <a:rPr lang="en-US" dirty="0"/>
              <a:t> startup code;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к </a:t>
            </a:r>
            <a:r>
              <a:rPr lang="en-US" dirty="0" err="1"/>
              <a:t>инициализации</a:t>
            </a:r>
            <a:r>
              <a:rPr lang="en-US" dirty="0"/>
              <a:t> runtime;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настройке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обработке</a:t>
            </a:r>
            <a:r>
              <a:rPr lang="en-US" dirty="0"/>
              <a:t> interrupts.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PORTB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TCCR1B</a:t>
            </a:r>
            <a:r>
              <a:rPr lang="en-US" dirty="0"/>
              <a:t> </a:t>
            </a:r>
          </a:p>
          <a:p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обычными</a:t>
            </a:r>
            <a:r>
              <a:rPr lang="en-US" dirty="0"/>
              <a:t> </a:t>
            </a:r>
            <a:r>
              <a:rPr lang="en-US" dirty="0" err="1"/>
              <a:t>переменными</a:t>
            </a:r>
            <a:r>
              <a:rPr lang="en-US" dirty="0"/>
              <a:t>, а </a:t>
            </a:r>
            <a:r>
              <a:rPr lang="en-US" dirty="0" err="1"/>
              <a:t>интерфейсом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объявляются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embedded-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с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периферия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значений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высокоуровневый</a:t>
            </a:r>
            <a:r>
              <a:rPr lang="en-US" dirty="0"/>
              <a:t> C-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прямолинейно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машинные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AVR: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,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lds</a:t>
            </a:r>
            <a:r>
              <a:rPr lang="en-US" dirty="0"/>
              <a:t>,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магию</a:t>
            </a:r>
            <a:r>
              <a:rPr lang="en-US" dirty="0"/>
              <a:t>», а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важной</a:t>
            </a:r>
            <a:r>
              <a:rPr lang="en-US" dirty="0"/>
              <a:t> </a:t>
            </a:r>
            <a:r>
              <a:rPr lang="en-US" dirty="0" err="1"/>
              <a:t>особенностью</a:t>
            </a:r>
            <a:r>
              <a:rPr lang="en-US" dirty="0"/>
              <a:t> embedded-</a:t>
            </a:r>
            <a:r>
              <a:rPr lang="en-US" dirty="0" err="1"/>
              <a:t>программирования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event-driven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busy-wait </a:t>
            </a:r>
            <a:r>
              <a:rPr lang="en-US" dirty="0" err="1"/>
              <a:t>циклы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постоянным</a:t>
            </a:r>
            <a:r>
              <a:rPr lang="en-US" dirty="0"/>
              <a:t> polling;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sleep mode. </a:t>
            </a:r>
          </a:p>
          <a:p>
            <a:endParaRPr lang="ru-RU" dirty="0"/>
          </a:p>
          <a:p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событиями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interrupt,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просыпается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ISR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фундаментальных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embedded-</a:t>
            </a:r>
            <a:r>
              <a:rPr lang="en-US" dirty="0" err="1"/>
              <a:t>систем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14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interrupts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обрабатываются</a:t>
            </a:r>
            <a:r>
              <a:rPr lang="en-US" dirty="0"/>
              <a:t> </a:t>
            </a:r>
            <a:r>
              <a:rPr lang="en-US" dirty="0" err="1"/>
              <a:t>мгновенно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возникновением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началом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ISR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, </a:t>
            </a:r>
            <a:r>
              <a:rPr lang="en-US" dirty="0" err="1"/>
              <a:t>называемая</a:t>
            </a:r>
            <a:r>
              <a:rPr lang="en-US" dirty="0"/>
              <a:t> interrupt latency.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ru-RU" dirty="0"/>
              <a:t>периферия</a:t>
            </a:r>
            <a:r>
              <a:rPr lang="en-US" dirty="0"/>
              <a:t> </a:t>
            </a:r>
            <a:r>
              <a:rPr lang="en-US" dirty="0" err="1"/>
              <a:t>генерирует</a:t>
            </a:r>
            <a:r>
              <a:rPr lang="en-US" dirty="0"/>
              <a:t> </a:t>
            </a:r>
            <a:r>
              <a:rPr lang="ru-RU" dirty="0"/>
              <a:t>прерывание,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прервать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посреди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CPU </a:t>
            </a:r>
            <a:r>
              <a:rPr lang="en-US" dirty="0" err="1"/>
              <a:t>должен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interrupt vector;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пролог</a:t>
            </a:r>
            <a:r>
              <a:rPr lang="en-US" dirty="0"/>
              <a:t> ISR и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AVR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невелика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в embedded-</a:t>
            </a:r>
            <a:r>
              <a:rPr lang="en-US" dirty="0" err="1"/>
              <a:t>системах</a:t>
            </a:r>
            <a:r>
              <a:rPr lang="en-US" dirty="0"/>
              <a:t> timing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принципиальное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Latency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факторов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dirty="0" err="1"/>
              <a:t>выполнялась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interrupt;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разрешены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interrupts;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ISR;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занимает</a:t>
            </a:r>
            <a:r>
              <a:rPr lang="en-US" dirty="0"/>
              <a:t> </a:t>
            </a:r>
            <a:r>
              <a:rPr lang="en-US" dirty="0" err="1"/>
              <a:t>сохранение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влияние</a:t>
            </a:r>
            <a:r>
              <a:rPr lang="en-US" dirty="0"/>
              <a:t> </a:t>
            </a:r>
            <a:r>
              <a:rPr lang="en-US" dirty="0" err="1"/>
              <a:t>длинных</a:t>
            </a:r>
            <a:r>
              <a:rPr lang="en-US" dirty="0"/>
              <a:t> ISR.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увеличивается</a:t>
            </a:r>
            <a:r>
              <a:rPr lang="en-US" dirty="0"/>
              <a:t> latency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interrupts;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ухудшается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возрастает</a:t>
            </a:r>
            <a:r>
              <a:rPr lang="en-US" dirty="0"/>
              <a:t> jitter — </a:t>
            </a:r>
            <a:r>
              <a:rPr lang="en-US" dirty="0" err="1"/>
              <a:t>нестабильность</a:t>
            </a:r>
            <a:r>
              <a:rPr lang="en-US" dirty="0"/>
              <a:t> </a:t>
            </a:r>
            <a:r>
              <a:rPr lang="en-US" dirty="0" err="1"/>
              <a:t>временных</a:t>
            </a:r>
            <a:r>
              <a:rPr lang="en-US" dirty="0"/>
              <a:t> </a:t>
            </a:r>
            <a:r>
              <a:rPr lang="en-US" dirty="0" err="1"/>
              <a:t>интервалов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/>
              <a:t>В real-time и embedded-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потере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нарушению</a:t>
            </a:r>
            <a:r>
              <a:rPr lang="en-US" dirty="0"/>
              <a:t> </a:t>
            </a:r>
            <a:r>
              <a:rPr lang="ru-RU" dirty="0"/>
              <a:t>ограничений по 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embedded-</a:t>
            </a:r>
            <a:r>
              <a:rPr lang="en-US" dirty="0" err="1"/>
              <a:t>принцип</a:t>
            </a:r>
            <a:r>
              <a:rPr lang="en-US" dirty="0"/>
              <a:t>:</a:t>
            </a:r>
          </a:p>
          <a:p>
            <a:r>
              <a:rPr lang="en-US" dirty="0"/>
              <a:t>ISR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:</a:t>
            </a:r>
          </a:p>
          <a:p>
            <a:r>
              <a:rPr lang="en-US" dirty="0" err="1"/>
              <a:t>короткой</a:t>
            </a:r>
            <a:r>
              <a:rPr lang="en-US" dirty="0"/>
              <a:t>; </a:t>
            </a:r>
          </a:p>
          <a:p>
            <a:r>
              <a:rPr lang="en-US" dirty="0" err="1"/>
              <a:t>быстрой</a:t>
            </a:r>
            <a:r>
              <a:rPr lang="en-US" dirty="0"/>
              <a:t>; </a:t>
            </a:r>
          </a:p>
          <a:p>
            <a:r>
              <a:rPr lang="en-US" dirty="0" err="1"/>
              <a:t>предсказуемой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Обычно</a:t>
            </a:r>
            <a:r>
              <a:rPr lang="en-US" dirty="0"/>
              <a:t> ISR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фиксирует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:</a:t>
            </a:r>
          </a:p>
          <a:p>
            <a:r>
              <a:rPr lang="en-US" dirty="0" err="1"/>
              <a:t>устанавливает</a:t>
            </a:r>
            <a:r>
              <a:rPr lang="en-US" dirty="0"/>
              <a:t> flag; </a:t>
            </a:r>
          </a:p>
          <a:p>
            <a:r>
              <a:rPr lang="en-US" dirty="0" err="1"/>
              <a:t>копирует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; </a:t>
            </a:r>
          </a:p>
          <a:p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38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interrupts — interrupt nesting.</a:t>
            </a:r>
          </a:p>
          <a:p>
            <a:endParaRPr lang="en-US" dirty="0"/>
          </a:p>
          <a:p>
            <a:r>
              <a:rPr lang="en-US" dirty="0"/>
              <a:t>Interrupt nesting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ISR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interrupt, и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прерывает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ISR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AVR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ISR: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глобальный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interrupts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сбрасывается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interrupts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запрещается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ISR </a:t>
            </a:r>
            <a:r>
              <a:rPr lang="en-US" dirty="0" err="1"/>
              <a:t>остальные</a:t>
            </a:r>
            <a:r>
              <a:rPr lang="en-US" dirty="0"/>
              <a:t> interrupts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.</a:t>
            </a:r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в </a:t>
            </a:r>
            <a:r>
              <a:rPr lang="en-US" dirty="0" err="1"/>
              <a:t>конце</a:t>
            </a:r>
            <a:r>
              <a:rPr lang="en-US" dirty="0"/>
              <a:t> ISR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ru-RU" dirty="0"/>
              <a:t>и п</a:t>
            </a:r>
            <a:r>
              <a:rPr lang="en-US" dirty="0" err="1"/>
              <a:t>овторно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interrupts. 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упрощает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делает</a:t>
            </a:r>
            <a:r>
              <a:rPr lang="en-US" dirty="0"/>
              <a:t> timing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предсказуемым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у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следствие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ISR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остальные</a:t>
            </a:r>
            <a:r>
              <a:rPr lang="en-US" dirty="0"/>
              <a:t> interrupts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обрабатываться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увеличивается</a:t>
            </a:r>
            <a:r>
              <a:rPr lang="en-US" dirty="0"/>
              <a:t> interrupt latency;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накапливаться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нарушаться</a:t>
            </a:r>
            <a:r>
              <a:rPr lang="en-US" dirty="0"/>
              <a:t> timing </a:t>
            </a:r>
            <a:r>
              <a:rPr lang="en-US" dirty="0" err="1"/>
              <a:t>периферии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ISR </a:t>
            </a:r>
            <a:r>
              <a:rPr lang="en-US" dirty="0" err="1"/>
              <a:t>рекомендуется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короткими</a:t>
            </a:r>
            <a:r>
              <a:rPr lang="en-US" dirty="0"/>
              <a:t>.</a:t>
            </a:r>
          </a:p>
          <a:p>
            <a:r>
              <a:rPr lang="en-US" dirty="0" err="1"/>
              <a:t>Технически</a:t>
            </a:r>
            <a:r>
              <a:rPr lang="en-US" dirty="0"/>
              <a:t> nested interrupts </a:t>
            </a:r>
            <a:r>
              <a:rPr lang="en-US" dirty="0" err="1"/>
              <a:t>на</a:t>
            </a:r>
            <a:r>
              <a:rPr lang="en-US" dirty="0"/>
              <a:t> AVR </a:t>
            </a:r>
            <a:r>
              <a:rPr lang="en-US" dirty="0" err="1"/>
              <a:t>возможны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ISR </a:t>
            </a:r>
            <a:r>
              <a:rPr lang="en-US" dirty="0" err="1"/>
              <a:t>вручную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sei();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разрешит</a:t>
            </a:r>
            <a:r>
              <a:rPr lang="en-US" dirty="0"/>
              <a:t> interrupts, и </a:t>
            </a:r>
            <a:r>
              <a:rPr lang="en-US" dirty="0" err="1"/>
              <a:t>один</a:t>
            </a:r>
            <a:r>
              <a:rPr lang="en-US" dirty="0"/>
              <a:t> ISR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прерываться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ru-RU" dirty="0"/>
              <a:t>состояния гонки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возрастает</a:t>
            </a:r>
            <a:r>
              <a:rPr lang="en-US" dirty="0"/>
              <a:t> </a:t>
            </a:r>
            <a:r>
              <a:rPr lang="en-US" dirty="0" err="1"/>
              <a:t>нагрузка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ухудшается</a:t>
            </a:r>
            <a:r>
              <a:rPr lang="en-US" dirty="0"/>
              <a:t> </a:t>
            </a:r>
            <a:r>
              <a:rPr lang="en-US" dirty="0" err="1"/>
              <a:t>предсказуемость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большинстве</a:t>
            </a:r>
            <a:r>
              <a:rPr lang="en-US" dirty="0"/>
              <a:t> embedded-</a:t>
            </a:r>
            <a:r>
              <a:rPr lang="en-US" dirty="0" err="1"/>
              <a:t>программ</a:t>
            </a:r>
            <a:r>
              <a:rPr lang="en-US" dirty="0"/>
              <a:t> nested interrupts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избегаются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осторожно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0516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embedded-</a:t>
            </a:r>
            <a:r>
              <a:rPr lang="en-US" dirty="0" err="1"/>
              <a:t>программирования</a:t>
            </a:r>
            <a:r>
              <a:rPr lang="en-US" dirty="0"/>
              <a:t> — </a:t>
            </a:r>
            <a:r>
              <a:rPr lang="ru-RU" dirty="0"/>
              <a:t>состояние гонки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Состояние гонки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совместной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ISR;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периферии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Пусть</a:t>
            </a:r>
            <a:r>
              <a:rPr lang="en-US" dirty="0"/>
              <a:t> ISR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увеличивает</a:t>
            </a:r>
            <a:r>
              <a:rPr lang="en-US" dirty="0"/>
              <a:t> </a:t>
            </a:r>
            <a:r>
              <a:rPr lang="en-US" dirty="0" err="1"/>
              <a:t>глобальную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 uint16_t counter;</a:t>
            </a:r>
          </a:p>
          <a:p>
            <a:r>
              <a:rPr lang="en-US" dirty="0"/>
              <a:t>а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AVR — </a:t>
            </a:r>
            <a:r>
              <a:rPr lang="en-US" dirty="0" err="1"/>
              <a:t>это</a:t>
            </a:r>
            <a:r>
              <a:rPr lang="en-US" dirty="0"/>
              <a:t> 8-битная </a:t>
            </a:r>
            <a:r>
              <a:rPr lang="en-US" dirty="0" err="1"/>
              <a:t>архитектура</a:t>
            </a:r>
            <a:r>
              <a:rPr lang="en-US" dirty="0"/>
              <a:t>.</a:t>
            </a:r>
          </a:p>
          <a:p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16-битное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инструкцией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= counter;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младшего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; </a:t>
            </a:r>
          </a:p>
          <a:p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старшего</a:t>
            </a:r>
            <a:r>
              <a:rPr lang="en-US" dirty="0"/>
              <a:t> </a:t>
            </a:r>
            <a:r>
              <a:rPr lang="en-US" dirty="0" err="1"/>
              <a:t>байта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interrupt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успела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младший</a:t>
            </a:r>
            <a:r>
              <a:rPr lang="en-US" dirty="0"/>
              <a:t> </a:t>
            </a:r>
            <a:r>
              <a:rPr lang="en-US" dirty="0" err="1"/>
              <a:t>байт</a:t>
            </a:r>
            <a:r>
              <a:rPr lang="en-US" dirty="0"/>
              <a:t>; </a:t>
            </a:r>
          </a:p>
          <a:p>
            <a:r>
              <a:rPr lang="en-US" dirty="0" err="1"/>
              <a:t>затем</a:t>
            </a:r>
            <a:r>
              <a:rPr lang="en-US" dirty="0"/>
              <a:t> ISR </a:t>
            </a:r>
            <a:r>
              <a:rPr lang="en-US" dirty="0" err="1"/>
              <a:t>изменила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en-US" dirty="0"/>
              <a:t>; 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main </a:t>
            </a:r>
            <a:r>
              <a:rPr lang="en-US" dirty="0" err="1"/>
              <a:t>прочитал</a:t>
            </a:r>
            <a:r>
              <a:rPr lang="en-US" dirty="0"/>
              <a:t> </a:t>
            </a:r>
            <a:r>
              <a:rPr lang="en-US" dirty="0" err="1"/>
              <a:t>старший</a:t>
            </a:r>
            <a:r>
              <a:rPr lang="en-US" dirty="0"/>
              <a:t> </a:t>
            </a:r>
            <a:r>
              <a:rPr lang="en-US" dirty="0" err="1"/>
              <a:t>байт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повреждённое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существовало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ru-RU" dirty="0"/>
              <a:t>состояние гонки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</a:t>
            </a:r>
            <a:br>
              <a:rPr lang="en-US" dirty="0"/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ru-RU" dirty="0"/>
              <a:t>состояния гонки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Квалификатор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 </a:t>
            </a:r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кэшировать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atomic;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предотвращает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посреди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083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предотвращения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critical sections.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cli();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= counter;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sei();</a:t>
            </a:r>
          </a:p>
          <a:p>
            <a:r>
              <a:rPr lang="en-US" dirty="0" err="1"/>
              <a:t>Здесь</a:t>
            </a:r>
            <a:r>
              <a:rPr lang="en-US" dirty="0"/>
              <a:t> interrupts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запрещаются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551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AVR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cli()</a:t>
            </a:r>
          </a:p>
          <a:p>
            <a:r>
              <a:rPr lang="en-US" dirty="0"/>
              <a:t>и: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глобальным</a:t>
            </a:r>
            <a:r>
              <a:rPr lang="en-US" dirty="0"/>
              <a:t> </a:t>
            </a:r>
            <a:r>
              <a:rPr lang="en-US" dirty="0" err="1"/>
              <a:t>разрешением</a:t>
            </a:r>
            <a:r>
              <a:rPr lang="en-US" dirty="0"/>
              <a:t> interrupts.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 Interrupt Flag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interrupts </a:t>
            </a:r>
            <a:r>
              <a:rPr lang="en-US" dirty="0" err="1"/>
              <a:t>процессором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Interrupt Flag</a:t>
            </a:r>
          </a:p>
          <a:p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interrupts.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critical sections — </a:t>
            </a:r>
            <a:r>
              <a:rPr lang="en-US" dirty="0" err="1"/>
              <a:t>участков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,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вмешательства</a:t>
            </a:r>
            <a:r>
              <a:rPr lang="en-US" dirty="0"/>
              <a:t> ISR.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race condition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чтении</a:t>
            </a:r>
            <a:r>
              <a:rPr lang="en-US" dirty="0"/>
              <a:t> 16-битной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8-битном AVR.</a:t>
            </a:r>
          </a:p>
          <a:p>
            <a:r>
              <a:rPr lang="en-US" dirty="0" err="1"/>
              <a:t>Решением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cli();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 = counter;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Пока</a:t>
            </a:r>
            <a:r>
              <a:rPr lang="en-US" dirty="0"/>
              <a:t> interrupts </a:t>
            </a:r>
            <a:r>
              <a:rPr lang="en-US" dirty="0" err="1"/>
              <a:t>запрещены</a:t>
            </a:r>
            <a:r>
              <a:rPr lang="en-US" dirty="0"/>
              <a:t>, ISR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dirty="0" err="1"/>
              <a:t>посреди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запрет</a:t>
            </a:r>
            <a:r>
              <a:rPr lang="en-US" dirty="0"/>
              <a:t> </a:t>
            </a:r>
            <a:r>
              <a:rPr lang="ru-RU" dirty="0"/>
              <a:t>прерываний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опасной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ru-RU" dirty="0"/>
              <a:t>они </a:t>
            </a:r>
            <a:r>
              <a:rPr lang="en-US" dirty="0" err="1"/>
              <a:t>запрещены</a:t>
            </a:r>
            <a:r>
              <a:rPr lang="ru-RU" dirty="0"/>
              <a:t>, </a:t>
            </a:r>
            <a:r>
              <a:rPr lang="en-US" dirty="0" err="1"/>
              <a:t>периферия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ru-RU" dirty="0"/>
              <a:t>, аппаратные события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возникать</a:t>
            </a:r>
            <a:r>
              <a:rPr lang="ru-RU" dirty="0"/>
              <a:t>, </a:t>
            </a:r>
            <a:r>
              <a:rPr lang="en-US" dirty="0" err="1"/>
              <a:t>но</a:t>
            </a:r>
            <a:r>
              <a:rPr lang="en-US" dirty="0"/>
              <a:t> ISR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interrupts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запрещёнными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:</a:t>
            </a:r>
          </a:p>
          <a:p>
            <a:r>
              <a:rPr lang="en-US" dirty="0" err="1"/>
              <a:t>увеличивается</a:t>
            </a:r>
            <a:r>
              <a:rPr lang="en-US" dirty="0"/>
              <a:t> interrupt latency; </a:t>
            </a:r>
          </a:p>
          <a:p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теряться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UART; </a:t>
            </a:r>
          </a:p>
          <a:p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пропускаться</a:t>
            </a:r>
            <a:r>
              <a:rPr lang="en-US" dirty="0"/>
              <a:t> timer events; </a:t>
            </a:r>
          </a:p>
          <a:p>
            <a:r>
              <a:rPr lang="en-US" dirty="0" err="1"/>
              <a:t>ухудшается</a:t>
            </a:r>
            <a:r>
              <a:rPr lang="en-US" dirty="0"/>
              <a:t> timing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 </a:t>
            </a:r>
          </a:p>
          <a:p>
            <a:r>
              <a:rPr lang="en-US" dirty="0"/>
              <a:t>В real-time embedded-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нестабильной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embedded-</a:t>
            </a:r>
            <a:r>
              <a:rPr lang="en-US" dirty="0" err="1"/>
              <a:t>принцип</a:t>
            </a:r>
            <a:r>
              <a:rPr lang="en-US" dirty="0"/>
              <a:t>:</a:t>
            </a:r>
          </a:p>
          <a:p>
            <a:r>
              <a:rPr lang="en-US" dirty="0"/>
              <a:t>interrupts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запрещать</a:t>
            </a:r>
            <a:r>
              <a:rPr lang="en-US" dirty="0"/>
              <a:t>:</a:t>
            </a:r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; </a:t>
            </a:r>
          </a:p>
          <a:p>
            <a:r>
              <a:rPr lang="en-US" dirty="0"/>
              <a:t>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минимально</a:t>
            </a:r>
            <a:r>
              <a:rPr lang="en-US" dirty="0"/>
              <a:t> </a:t>
            </a:r>
            <a:r>
              <a:rPr lang="en-US" dirty="0" err="1"/>
              <a:t>возможное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/>
              <a:t>Critical sections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короткими</a:t>
            </a:r>
            <a:r>
              <a:rPr lang="en-US" dirty="0"/>
              <a:t> и </a:t>
            </a:r>
            <a:r>
              <a:rPr lang="en-US" dirty="0" err="1"/>
              <a:t>предсказуемыми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510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а </a:t>
            </a:r>
            <a:r>
              <a:rPr lang="en-US" dirty="0" err="1"/>
              <a:t>реакция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ru-RU" dirty="0"/>
              <a:t>прерываний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стадий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достигает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OCR1A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ru-RU" dirty="0"/>
              <a:t>периферия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interrupt flag —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OCF1A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установка</a:t>
            </a:r>
            <a:r>
              <a:rPr lang="en-US" dirty="0"/>
              <a:t> </a:t>
            </a:r>
            <a:r>
              <a:rPr lang="en-US" dirty="0" err="1"/>
              <a:t>флага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ISR.</a:t>
            </a:r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аппаратная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:</a:t>
            </a:r>
          </a:p>
          <a:p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</a:t>
            </a:r>
            <a:r>
              <a:rPr lang="en-US" dirty="0"/>
              <a:t>; </a:t>
            </a:r>
          </a:p>
          <a:p>
            <a:r>
              <a:rPr lang="en-US" dirty="0"/>
              <a:t>и </a:t>
            </a:r>
            <a:r>
              <a:rPr lang="en-US" dirty="0" err="1"/>
              <a:t>глобально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разрешены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sei()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ISR.</a:t>
            </a:r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:</a:t>
            </a:r>
          </a:p>
          <a:p>
            <a:r>
              <a:rPr lang="en-US" dirty="0"/>
              <a:t>interrupt flags; </a:t>
            </a:r>
          </a:p>
          <a:p>
            <a:r>
              <a:rPr lang="en-US" dirty="0"/>
              <a:t>и interrupt enable bits. </a:t>
            </a:r>
          </a:p>
          <a:p>
            <a:r>
              <a:rPr lang="en-US" dirty="0"/>
              <a:t>В Timer1:</a:t>
            </a:r>
          </a:p>
          <a:p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TIFR1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флаги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;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TIMSK1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разрешением</a:t>
            </a:r>
            <a:r>
              <a:rPr lang="en-US" dirty="0"/>
              <a:t>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 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фундаментальная</a:t>
            </a:r>
            <a:r>
              <a:rPr lang="en-US" dirty="0"/>
              <a:t> embedded-</a:t>
            </a:r>
            <a:r>
              <a:rPr lang="en-US" dirty="0" err="1"/>
              <a:t>концепция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Аппаратура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установить</a:t>
            </a:r>
            <a:r>
              <a:rPr lang="en-US" dirty="0"/>
              <a:t> interrupt flag, </a:t>
            </a:r>
            <a:r>
              <a:rPr lang="en-US" dirty="0" err="1"/>
              <a:t>но</a:t>
            </a:r>
            <a:r>
              <a:rPr lang="en-US" dirty="0"/>
              <a:t> ISR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вызван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запрещено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:</a:t>
            </a:r>
          </a:p>
          <a:p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накапливаться</a:t>
            </a:r>
            <a:r>
              <a:rPr lang="en-US" dirty="0"/>
              <a:t>; </a:t>
            </a:r>
          </a:p>
          <a:p>
            <a:r>
              <a:rPr lang="en-US" dirty="0"/>
              <a:t>ISR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отложен</a:t>
            </a:r>
            <a:r>
              <a:rPr lang="en-US" dirty="0"/>
              <a:t>; </a:t>
            </a:r>
          </a:p>
          <a:p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неправильной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флагами</a:t>
            </a:r>
            <a:r>
              <a:rPr lang="en-US" dirty="0"/>
              <a:t> </a:t>
            </a:r>
            <a:r>
              <a:rPr lang="en-US" dirty="0" err="1"/>
              <a:t>возможна</a:t>
            </a:r>
            <a:r>
              <a:rPr lang="en-US" dirty="0"/>
              <a:t> </a:t>
            </a:r>
            <a:r>
              <a:rPr lang="en-US" dirty="0" err="1"/>
              <a:t>потеря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636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в </a:t>
            </a:r>
            <a:r>
              <a:rPr lang="en-US" dirty="0" err="1"/>
              <a:t>начале</a:t>
            </a:r>
            <a:r>
              <a:rPr lang="en-US" dirty="0"/>
              <a:t> Flash-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с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0x0000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reset.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— reset vector —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к startup code.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соответствуют</a:t>
            </a:r>
            <a:r>
              <a:rPr lang="en-US" dirty="0"/>
              <a:t> </a:t>
            </a:r>
            <a:r>
              <a:rPr lang="en-US" dirty="0" err="1"/>
              <a:t>различным</a:t>
            </a:r>
            <a:r>
              <a:rPr lang="en-US" dirty="0"/>
              <a:t> </a:t>
            </a:r>
            <a:r>
              <a:rPr lang="en-US" dirty="0" err="1"/>
              <a:t>аппаратным</a:t>
            </a:r>
            <a:r>
              <a:rPr lang="en-US" dirty="0"/>
              <a:t> </a:t>
            </a:r>
            <a:r>
              <a:rPr lang="en-US" dirty="0" err="1"/>
              <a:t>событиям</a:t>
            </a:r>
            <a:r>
              <a:rPr lang="en-US" dirty="0"/>
              <a:t>:</a:t>
            </a:r>
          </a:p>
          <a:p>
            <a:r>
              <a:rPr lang="en-US" dirty="0" err="1"/>
              <a:t>таймерам</a:t>
            </a:r>
            <a:r>
              <a:rPr lang="en-US" dirty="0"/>
              <a:t>; </a:t>
            </a:r>
          </a:p>
          <a:p>
            <a:r>
              <a:rPr lang="en-US" dirty="0"/>
              <a:t>UART; </a:t>
            </a:r>
          </a:p>
          <a:p>
            <a:r>
              <a:rPr lang="en-US" dirty="0"/>
              <a:t>GPIO; </a:t>
            </a:r>
          </a:p>
          <a:p>
            <a:r>
              <a:rPr lang="en-US" dirty="0"/>
              <a:t>ADC; </a:t>
            </a:r>
          </a:p>
          <a:p>
            <a:r>
              <a:rPr lang="en-US" dirty="0"/>
              <a:t>и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ru-RU" dirty="0"/>
              <a:t>периферийным устройствам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AVR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массив</a:t>
            </a:r>
            <a:r>
              <a:rPr lang="en-US" dirty="0"/>
              <a:t> </a:t>
            </a:r>
            <a:r>
              <a:rPr lang="en-US" dirty="0" err="1"/>
              <a:t>адресов</a:t>
            </a:r>
            <a:r>
              <a:rPr lang="en-US" dirty="0"/>
              <a:t>, а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dirty="0"/>
              <a:t>.</a:t>
            </a:r>
          </a:p>
          <a:p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AVR </a:t>
            </a:r>
            <a:r>
              <a:rPr lang="en-US" dirty="0" err="1"/>
              <a:t>занимает</a:t>
            </a:r>
            <a:r>
              <a:rPr lang="en-US" dirty="0"/>
              <a:t> 4 </a:t>
            </a:r>
            <a:r>
              <a:rPr lang="en-US" dirty="0" err="1"/>
              <a:t>байта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занимает</a:t>
            </a:r>
            <a:r>
              <a:rPr lang="en-US" dirty="0"/>
              <a:t> 4 </a:t>
            </a:r>
            <a:r>
              <a:rPr lang="en-US" dirty="0" err="1"/>
              <a:t>байта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в </a:t>
            </a:r>
            <a:r>
              <a:rPr lang="en-US" dirty="0" err="1"/>
              <a:t>дизассемблированном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Поскольку</a:t>
            </a:r>
            <a:r>
              <a:rPr lang="en-US" dirty="0"/>
              <a:t> vector table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 memory,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hardware-</a:t>
            </a:r>
            <a:r>
              <a:rPr lang="en-US" dirty="0" err="1"/>
              <a:t>маршрутизация</a:t>
            </a:r>
            <a:r>
              <a:rPr lang="en-US" dirty="0"/>
              <a:t> interrupts </a:t>
            </a:r>
            <a:r>
              <a:rPr lang="en-US" dirty="0" err="1"/>
              <a:t>фиксируется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обязана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статической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в ISR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произвольный</a:t>
            </a:r>
            <a:r>
              <a:rPr lang="en-US" dirty="0"/>
              <a:t> </a:t>
            </a:r>
            <a:r>
              <a:rPr lang="en-US" dirty="0" err="1"/>
              <a:t>программный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:</a:t>
            </a:r>
          </a:p>
          <a:p>
            <a:r>
              <a:rPr lang="en-US" dirty="0"/>
              <a:t>state machines; </a:t>
            </a:r>
          </a:p>
          <a:p>
            <a:r>
              <a:rPr lang="en-US" dirty="0"/>
              <a:t>dispatching; </a:t>
            </a:r>
          </a:p>
          <a:p>
            <a:r>
              <a:rPr lang="en-US" dirty="0"/>
              <a:t>function pointers; </a:t>
            </a:r>
          </a:p>
          <a:p>
            <a:r>
              <a:rPr lang="en-US" dirty="0"/>
              <a:t>callback-</a:t>
            </a:r>
            <a:r>
              <a:rPr lang="en-US" dirty="0" err="1"/>
              <a:t>механизмы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hardware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фиксированную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software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динамическое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463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Напомним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AVR — </a:t>
            </a:r>
            <a:r>
              <a:rPr lang="en-US" dirty="0" err="1"/>
              <a:t>это</a:t>
            </a:r>
            <a:r>
              <a:rPr lang="en-US" dirty="0"/>
              <a:t> Harvard architecture.</a:t>
            </a:r>
          </a:p>
          <a:p>
            <a:r>
              <a:rPr lang="en-US" dirty="0" err="1"/>
              <a:t>Программа</a:t>
            </a:r>
            <a:r>
              <a:rPr lang="en-US" dirty="0"/>
              <a:t> и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располагаются</a:t>
            </a:r>
            <a:r>
              <a:rPr lang="en-US" dirty="0"/>
              <a:t>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адресных</a:t>
            </a:r>
            <a:r>
              <a:rPr lang="en-US" dirty="0"/>
              <a:t> </a:t>
            </a:r>
            <a:r>
              <a:rPr lang="en-US" dirty="0" err="1"/>
              <a:t>пространствах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0x0000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interrupt vector table и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0x0000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register file,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конфликт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memory spaces:</a:t>
            </a:r>
          </a:p>
          <a:p>
            <a:r>
              <a:rPr lang="en-US" dirty="0"/>
              <a:t>program space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Flash; </a:t>
            </a:r>
          </a:p>
          <a:p>
            <a:r>
              <a:rPr lang="en-US" dirty="0"/>
              <a:t>data space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, I/O и SRAM. 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jmp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Flash;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lds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sts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</a:t>
            </a:r>
            <a:r>
              <a:rPr lang="en-US" dirty="0"/>
              <a:t> — с data space. 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объясняет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Flash, а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77F0E-5212-47C6-B88A-D2005084B0E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4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FC61-F602-CA9C-5CCA-DD150DD63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682E4-9A95-F74E-00CC-DA57DE789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29AE7-5C71-9FD6-5735-473647CB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96DF0-49B7-122B-4B3C-0683EC2B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F789C-060A-524C-E5EC-2D522502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4F2F-6EBC-19C9-967F-59FCA22C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C4F4E-BE75-132F-62A9-05DF580E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5E8A5-54D0-51C2-D7D8-8A23D281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54E31-682F-7E5C-EF6E-2729BF8D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D029A-B157-1E83-2216-D30014DE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7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BED8-7E98-3248-C9A2-C3174361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3DCB0-A717-6167-6164-9F0E9DAB7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A6B19-6EF7-9A82-5680-210BAD74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59E7D-B399-275F-6164-044CCB83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2C777-2336-B4C7-8558-7274578F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5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9BB6-01F3-5B25-7715-AAC60B5E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A22A-4D90-F150-701B-EDC6C7303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8203B-A9CE-CF0E-2F6A-20B0360D2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6069E-6CF8-5563-2671-98C41BA6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8646C-D3F0-28B1-3077-413E6EBA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DE8FC-1827-4186-377E-1FAAA4D2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0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7E01-226A-7134-70FB-180F1D5D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26D64-61BF-2826-1D1B-CCB41E7B1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43F85-682B-9773-724F-E55B97567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05741A-EB75-123B-D313-70AA50223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C422C-A4C7-7D06-E211-9B7249BFE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9817E-C44B-22BA-4A8D-08B005DB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57A90-973A-B41A-BB24-729555C6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9E560-E7D8-38D7-1663-79EA7BC8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4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A9EC-44B2-4F01-4798-14F75355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64D97-BEDD-B8AD-C2CC-1BB2B462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2CD9E-7E55-E4E7-E97B-59FF0837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458CA-3FA6-86B7-4536-301EC0CB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6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89AEA-2B71-87DC-A179-6F863137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072E1-0AEB-1C89-0420-0F7615BE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8A29B-E51B-DC16-1222-A996D4D3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1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F581-3F48-26CA-897A-EEF983E7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410A-F909-6133-46E1-066BC6B98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C9F1E-9C97-FAD5-90B9-9E90E0FDF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6F511-05AD-EFA5-0B4C-214C4016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4CD03-A122-F7D2-96A5-4A982958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C3E7D-B345-8729-91FA-BFC16D25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4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B2E7-AF48-F4E6-FD25-257EEC6F5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A9BC0-5D24-7939-0A86-81758F6C1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41890-9654-E2BC-CCC2-4943D9D13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22620-86D9-3C98-D8D1-099EDA64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4924-32D8-D720-D017-45E061BE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E9EF7-99A6-EFC0-BA55-85C310EB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8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355A-9301-C030-1CB3-29E7EB03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1E97B-39BB-53E9-CB8B-F85C3E6EC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86EB9-EC46-EC9D-BA3B-7754B742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3FCBF-D387-2234-C86F-80C210C6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20672-FCE4-A8D0-494B-9C481717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7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627BF-8B9C-3AD7-F953-D51CB8426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52628-FAA1-F6F2-1663-B58B5809E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BBBEE-2FD9-3B05-92D3-C455057E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79947-8BEC-5539-42C7-0AFC2143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0CBD-5673-5BA3-3A50-97EA409E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2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45E2C-E929-98A9-1689-4B85AF63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57620-5793-D941-BCEE-0CD327D97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DE1A-48EE-2713-24CD-CB014CE6C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00B82-0A15-446D-88EA-592A7911FFA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52EA0-315F-CA1F-063D-AABD504A2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02205-1B3B-4C00-0109-93B39DD7E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EA73C-5F25-4BA6-86FC-08B87251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7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054F-29D4-092E-2E3B-50959AEE2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микроконтроллеров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598A4-FA46-411F-3831-A90E8AAB1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9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88B8-1F50-FA02-8D32-CF4DE13D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Встраиваемые системы (</a:t>
            </a:r>
            <a:r>
              <a:rPr lang="en-US" dirty="0"/>
              <a:t>embedded systems)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6CC33-4E7C-AA2E-66D5-8199C069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Встраиваемые системы</a:t>
            </a:r>
            <a:r>
              <a:rPr lang="en-US" dirty="0"/>
              <a:t> – </a:t>
            </a:r>
            <a:r>
              <a:rPr lang="ru-RU" dirty="0"/>
              <a:t>вычислительная система, встроенная внутрь других устройств для выполнения конкретных задач</a:t>
            </a:r>
          </a:p>
          <a:p>
            <a:r>
              <a:rPr lang="ru-RU" dirty="0"/>
              <a:t>Использование:</a:t>
            </a:r>
          </a:p>
          <a:p>
            <a:pPr lvl="1"/>
            <a:r>
              <a:rPr lang="ru-RU" dirty="0"/>
              <a:t>Бытовая техника, автомобили, роутеры, медицинское оборудование, дроны, роботы, </a:t>
            </a:r>
            <a:r>
              <a:rPr lang="en-US" dirty="0"/>
              <a:t>IoT</a:t>
            </a:r>
          </a:p>
          <a:p>
            <a:r>
              <a:rPr lang="ru-RU" dirty="0"/>
              <a:t>Основой большинства встраиваемых систем являются </a:t>
            </a:r>
            <a:r>
              <a:rPr lang="ru-RU" b="1" dirty="0"/>
              <a:t>микроконтроллеры</a:t>
            </a:r>
          </a:p>
          <a:p>
            <a:pPr lvl="1"/>
            <a:r>
              <a:rPr lang="ru-RU" dirty="0"/>
              <a:t>Процессор + память + периферия в одном чипе</a:t>
            </a:r>
          </a:p>
        </p:txBody>
      </p:sp>
    </p:spTree>
    <p:extLst>
      <p:ext uri="{BB962C8B-B14F-4D97-AF65-F5344CB8AC3E}">
        <p14:creationId xmlns:p14="http://schemas.microsoft.com/office/powerpoint/2010/main" val="192966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E738-BF26-B0C4-4E17-75470F52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2B72-DA59-E05E-2382-E2F88B93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Микроконтроллер</a:t>
            </a:r>
            <a:r>
              <a:rPr lang="en-US" dirty="0"/>
              <a:t> (MCU, Microcontroller Unit) —</a:t>
            </a:r>
            <a:r>
              <a:rPr lang="ru-RU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чипа</a:t>
            </a:r>
            <a:r>
              <a:rPr lang="en-US" dirty="0"/>
              <a:t>.</a:t>
            </a:r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процессор</a:t>
            </a:r>
            <a:r>
              <a:rPr lang="en-US" dirty="0"/>
              <a:t> (CPU) </a:t>
            </a:r>
          </a:p>
          <a:p>
            <a:pPr lvl="1"/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(SRAM) </a:t>
            </a:r>
          </a:p>
          <a:p>
            <a:pPr lvl="1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(Flash) </a:t>
            </a:r>
          </a:p>
          <a:p>
            <a:pPr lvl="1"/>
            <a:r>
              <a:rPr lang="en-US" dirty="0" err="1"/>
              <a:t>периферию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GPIO</a:t>
            </a:r>
          </a:p>
          <a:p>
            <a:pPr lvl="2"/>
            <a:r>
              <a:rPr lang="en-US" dirty="0" err="1"/>
              <a:t>таймеры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UART/SPI/I2C</a:t>
            </a:r>
          </a:p>
          <a:p>
            <a:pPr lvl="2"/>
            <a:r>
              <a:rPr lang="en-US" dirty="0"/>
              <a:t>ADC </a:t>
            </a:r>
          </a:p>
          <a:p>
            <a:r>
              <a:rPr lang="en-US" dirty="0" err="1"/>
              <a:t>Предназначен</a:t>
            </a:r>
            <a:r>
              <a:rPr lang="ru-RU" dirty="0" err="1"/>
              <a:t>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управлени</a:t>
            </a:r>
            <a:r>
              <a:rPr lang="ru-RU" dirty="0"/>
              <a:t>е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обработк</a:t>
            </a:r>
            <a:r>
              <a:rPr lang="ru-RU" dirty="0"/>
              <a:t>а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взаимодействи</a:t>
            </a:r>
            <a:r>
              <a:rPr lang="ru-RU" dirty="0"/>
              <a:t>е</a:t>
            </a:r>
            <a:r>
              <a:rPr lang="en-US" dirty="0"/>
              <a:t> с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миром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9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53FD-E5C0-5A9F-C697-FB987830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микроконтроллер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F57F-B894-2509-944E-D78D9C4CF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CPU –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</a:p>
          <a:p>
            <a:r>
              <a:rPr lang="en-US" dirty="0"/>
              <a:t>Flash memory –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</a:p>
          <a:p>
            <a:r>
              <a:rPr lang="en-US" dirty="0"/>
              <a:t>SRAM -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</a:p>
          <a:p>
            <a:r>
              <a:rPr lang="en-US" dirty="0"/>
              <a:t>EEPROM - </a:t>
            </a:r>
            <a:r>
              <a:rPr lang="en-US" dirty="0" err="1"/>
              <a:t>хранение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перезагрузками</a:t>
            </a:r>
            <a:r>
              <a:rPr lang="en-US" dirty="0"/>
              <a:t> </a:t>
            </a:r>
          </a:p>
          <a:p>
            <a:r>
              <a:rPr lang="en-US" dirty="0" err="1"/>
              <a:t>Периферия</a:t>
            </a:r>
            <a:endParaRPr lang="en-US" dirty="0"/>
          </a:p>
          <a:p>
            <a:pPr lvl="1"/>
            <a:r>
              <a:rPr lang="en-US" dirty="0"/>
              <a:t>GPIO</a:t>
            </a:r>
            <a:r>
              <a:rPr lang="ru-RU" dirty="0"/>
              <a:t>, </a:t>
            </a:r>
            <a:r>
              <a:rPr lang="en-US" dirty="0"/>
              <a:t>UART</a:t>
            </a:r>
            <a:r>
              <a:rPr lang="ru-RU" dirty="0"/>
              <a:t>, </a:t>
            </a:r>
            <a:r>
              <a:rPr lang="en-US" dirty="0"/>
              <a:t>SPI/I2C</a:t>
            </a:r>
            <a:r>
              <a:rPr lang="ru-RU" dirty="0"/>
              <a:t>, </a:t>
            </a:r>
            <a:r>
              <a:rPr lang="en-US" dirty="0"/>
              <a:t>ADC</a:t>
            </a:r>
            <a:r>
              <a:rPr lang="ru-RU" dirty="0"/>
              <a:t>, </a:t>
            </a:r>
            <a:r>
              <a:rPr lang="en-US" dirty="0" err="1"/>
              <a:t>таймеры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4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D55A-CD36-269E-4606-906F7236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F9303-A655-A1E2-B164-F082D64D1F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CPU </a:t>
            </a:r>
            <a:r>
              <a:rPr lang="en-US" dirty="0" err="1"/>
              <a:t>микроконтроллера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машинные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стеком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ниже</a:t>
            </a:r>
            <a:r>
              <a:rPr lang="en-US" dirty="0"/>
              <a:t> </a:t>
            </a:r>
            <a:r>
              <a:rPr lang="en-US" dirty="0" err="1"/>
              <a:t>частота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 ОС </a:t>
            </a:r>
          </a:p>
          <a:p>
            <a:r>
              <a:rPr lang="en-US" dirty="0" err="1"/>
              <a:t>Пример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ATmega328P</a:t>
            </a:r>
          </a:p>
          <a:p>
            <a:pPr lvl="1"/>
            <a:r>
              <a:rPr lang="en-US" dirty="0"/>
              <a:t>16 MHz </a:t>
            </a:r>
          </a:p>
          <a:p>
            <a:pPr lvl="1"/>
            <a:r>
              <a:rPr lang="en-US" dirty="0"/>
              <a:t>2 KB SRAM </a:t>
            </a:r>
          </a:p>
          <a:p>
            <a:pPr lvl="1"/>
            <a:r>
              <a:rPr lang="en-US" dirty="0"/>
              <a:t>32 KB Flash</a:t>
            </a:r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2D438AC-0D84-F965-2D48-E75B34EB75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5" t="25798" r="27181" b="21765"/>
          <a:stretch>
            <a:fillRect/>
          </a:stretch>
        </p:blipFill>
        <p:spPr bwMode="auto">
          <a:xfrm>
            <a:off x="6724650" y="1826419"/>
            <a:ext cx="4648200" cy="357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E4520-DE58-9190-4846-1F60425F7875}"/>
              </a:ext>
            </a:extLst>
          </p:cNvPr>
          <p:cNvSpPr txBox="1"/>
          <p:nvPr/>
        </p:nvSpPr>
        <p:spPr>
          <a:xfrm>
            <a:off x="7696200" y="5403665"/>
            <a:ext cx="270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ATmega328P</a:t>
            </a:r>
          </a:p>
        </p:txBody>
      </p:sp>
    </p:spTree>
    <p:extLst>
      <p:ext uri="{BB962C8B-B14F-4D97-AF65-F5344CB8AC3E}">
        <p14:creationId xmlns:p14="http://schemas.microsoft.com/office/powerpoint/2010/main" val="247627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2229-3E3E-4901-F0C7-FDC27ADC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Периферия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8DBD-76F3-5543-53A2-1075D8E27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Периферийные</a:t>
            </a:r>
            <a:r>
              <a:rPr lang="en-US" dirty="0"/>
              <a:t> </a:t>
            </a:r>
            <a:r>
              <a:rPr lang="en-US" dirty="0" err="1"/>
              <a:t>модули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с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 и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сигналами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en-US" dirty="0"/>
              <a:t>GPIO (General Purpose Input/Output)</a:t>
            </a:r>
            <a:r>
              <a:rPr lang="ru-RU" dirty="0"/>
              <a:t> -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цифровыми</a:t>
            </a:r>
            <a:r>
              <a:rPr lang="en-US" dirty="0"/>
              <a:t> </a:t>
            </a:r>
            <a:r>
              <a:rPr lang="en-US" dirty="0" err="1"/>
              <a:t>выводами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UART (Universal Asynchronous Receiver-Transmitter)</a:t>
            </a:r>
            <a:r>
              <a:rPr lang="ru-RU" dirty="0"/>
              <a:t> – </a:t>
            </a:r>
            <a:r>
              <a:rPr lang="en-US" dirty="0" err="1"/>
              <a:t>последовательная</a:t>
            </a:r>
            <a:r>
              <a:rPr lang="ru-RU" dirty="0"/>
              <a:t>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SPI / I2C</a:t>
            </a:r>
            <a:r>
              <a:rPr lang="ru-RU" dirty="0"/>
              <a:t> -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подключения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Timers/Counters</a:t>
            </a:r>
            <a:r>
              <a:rPr lang="ru-RU" dirty="0"/>
              <a:t> – </a:t>
            </a:r>
            <a:r>
              <a:rPr lang="en-US" dirty="0" err="1"/>
              <a:t>измерение</a:t>
            </a:r>
            <a:r>
              <a:rPr lang="ru-RU" dirty="0"/>
              <a:t> </a:t>
            </a:r>
            <a:r>
              <a:rPr lang="en-US" dirty="0" err="1"/>
              <a:t>времени</a:t>
            </a:r>
            <a:r>
              <a:rPr lang="en-US" dirty="0"/>
              <a:t> и </a:t>
            </a:r>
            <a:r>
              <a:rPr lang="en-US" dirty="0" err="1"/>
              <a:t>генерация</a:t>
            </a:r>
            <a:r>
              <a:rPr lang="en-US" dirty="0"/>
              <a:t> </a:t>
            </a:r>
            <a:r>
              <a:rPr lang="en-US" dirty="0" err="1"/>
              <a:t>периодических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ADC (Analog-to-Digital Converter)</a:t>
            </a:r>
            <a:r>
              <a:rPr lang="ru-RU" dirty="0"/>
              <a:t> – </a:t>
            </a:r>
            <a:r>
              <a:rPr lang="en-US" dirty="0" err="1"/>
              <a:t>преобразование</a:t>
            </a:r>
            <a:r>
              <a:rPr lang="ru-RU" dirty="0"/>
              <a:t> </a:t>
            </a:r>
            <a:r>
              <a:rPr lang="en-US" dirty="0" err="1"/>
              <a:t>аналоговых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в </a:t>
            </a:r>
            <a:r>
              <a:rPr lang="en-US" dirty="0" err="1"/>
              <a:t>цифровую</a:t>
            </a:r>
            <a:r>
              <a:rPr lang="en-US" dirty="0"/>
              <a:t> </a:t>
            </a:r>
            <a:r>
              <a:rPr lang="en-US" dirty="0" err="1"/>
              <a:t>форму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PWM (Pulse Width Modulation)</a:t>
            </a:r>
            <a:r>
              <a:rPr lang="ru-RU" dirty="0"/>
              <a:t> -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средней</a:t>
            </a:r>
            <a:r>
              <a:rPr lang="en-US" dirty="0"/>
              <a:t> </a:t>
            </a:r>
            <a:r>
              <a:rPr lang="en-US" dirty="0" err="1"/>
              <a:t>мощностью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endParaRPr lang="ru-RU" dirty="0"/>
          </a:p>
          <a:p>
            <a:r>
              <a:rPr lang="ru-RU" dirty="0"/>
              <a:t>Взаимодействие с периферией выполняется через аппаратные регистры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97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9783-7D58-C48D-989C-92B89059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кристалле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6E5BF-F220-DA6C-E0E8-B5D7F1CE6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Микроконтроллер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интегрированную</a:t>
            </a:r>
            <a:r>
              <a:rPr lang="en-US" dirty="0"/>
              <a:t> </a:t>
            </a:r>
            <a:r>
              <a:rPr lang="en-US" dirty="0" err="1"/>
              <a:t>вычислительную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</a:t>
            </a:r>
            <a:r>
              <a:rPr lang="en-US" dirty="0" err="1"/>
              <a:t>реализованную</a:t>
            </a:r>
            <a:r>
              <a:rPr lang="en-US" dirty="0"/>
              <a:t> в </a:t>
            </a:r>
            <a:r>
              <a:rPr lang="en-US" dirty="0" err="1"/>
              <a:t>пределах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кристалла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CPU, Flash, SRAM, </a:t>
            </a:r>
            <a:r>
              <a:rPr lang="ru-RU" dirty="0"/>
              <a:t>периферия, системные шины, контроллеры тактирования и прерываний</a:t>
            </a:r>
            <a:endParaRPr lang="en-US" dirty="0"/>
          </a:p>
          <a:p>
            <a:r>
              <a:rPr lang="en-US" dirty="0" err="1"/>
              <a:t>Преимущества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endParaRPr lang="en-US" dirty="0"/>
          </a:p>
          <a:p>
            <a:pPr lvl="1"/>
            <a:r>
              <a:rPr lang="en-US" dirty="0" err="1"/>
              <a:t>компактность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низкое</a:t>
            </a:r>
            <a:r>
              <a:rPr lang="en-US" dirty="0"/>
              <a:t> </a:t>
            </a:r>
            <a:r>
              <a:rPr lang="en-US" dirty="0" err="1"/>
              <a:t>энергопотребление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невысокая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минимальное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 </a:t>
            </a:r>
          </a:p>
          <a:p>
            <a:r>
              <a:rPr lang="en-US" dirty="0" err="1"/>
              <a:t>Ограничения</a:t>
            </a:r>
            <a:endParaRPr lang="en-US" dirty="0"/>
          </a:p>
          <a:p>
            <a:pPr lvl="1"/>
            <a:r>
              <a:rPr lang="en-US" dirty="0" err="1"/>
              <a:t>ограниченный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невысокая</a:t>
            </a:r>
            <a:r>
              <a:rPr lang="en-US" dirty="0"/>
              <a:t> </a:t>
            </a:r>
            <a:r>
              <a:rPr lang="en-US" dirty="0" err="1"/>
              <a:t>вычислительная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2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CDD772-A7E4-7EA6-4896-A74876FA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Микроконтроллеры </a:t>
            </a:r>
            <a:r>
              <a:rPr lang="en-US" dirty="0"/>
              <a:t>AVR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00B3A-02F8-9316-C131-1AAB393A8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91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75B256-8C6D-C0E4-4129-34EEA2BF5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AVR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1C6F25-99F8-8F3F-0E01-F2157E40A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AVR — </a:t>
            </a:r>
            <a:r>
              <a:rPr lang="en-US" dirty="0" err="1"/>
              <a:t>семейство</a:t>
            </a:r>
            <a:r>
              <a:rPr lang="en-US" dirty="0"/>
              <a:t> 8-битных RISC-</a:t>
            </a:r>
            <a:r>
              <a:rPr lang="en-US" dirty="0" err="1"/>
              <a:t>микроконтроллеров</a:t>
            </a:r>
            <a:r>
              <a:rPr lang="ru-RU" dirty="0"/>
              <a:t> компании </a:t>
            </a:r>
            <a:r>
              <a:rPr lang="en-US" dirty="0"/>
              <a:t>Atmel</a:t>
            </a:r>
          </a:p>
          <a:p>
            <a:pPr lvl="1"/>
            <a:r>
              <a:rPr lang="en-US" dirty="0"/>
              <a:t>RISC – Reduced Instruction Set Computer – </a:t>
            </a:r>
            <a:r>
              <a:rPr lang="ru-RU" dirty="0"/>
              <a:t>архитектура процессора с относительно небольшим и простым набором инструкций</a:t>
            </a:r>
            <a:endParaRPr lang="en-US" dirty="0"/>
          </a:p>
          <a:p>
            <a:r>
              <a:rPr lang="en-US" dirty="0" err="1"/>
              <a:t>Характерные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Harvard architecture </a:t>
            </a:r>
          </a:p>
          <a:p>
            <a:pPr lvl="1"/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низкое</a:t>
            </a:r>
            <a:r>
              <a:rPr lang="en-US" dirty="0"/>
              <a:t> </a:t>
            </a:r>
            <a:r>
              <a:rPr lang="en-US" dirty="0" err="1"/>
              <a:t>энергопотребление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ориентация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встраиваемые системы</a:t>
            </a:r>
            <a:endParaRPr lang="en-US" dirty="0"/>
          </a:p>
          <a:p>
            <a:r>
              <a:rPr lang="en-US" dirty="0" err="1"/>
              <a:t>Пример</a:t>
            </a:r>
            <a:r>
              <a:rPr lang="en-US" dirty="0"/>
              <a:t>: ATmega328P (Arduino Nano)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5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D329-B668-347D-F91F-33BAB477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Гарвардская архитектура </a:t>
            </a:r>
            <a:r>
              <a:rPr lang="en-US" dirty="0"/>
              <a:t>AVR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BFF52-7CA8-C52C-D5E1-8D56DE285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6499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AVR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ru-RU" dirty="0"/>
              <a:t>гарвардскую архитектуру</a:t>
            </a:r>
            <a:endParaRPr lang="en-US" dirty="0"/>
          </a:p>
          <a:p>
            <a:pPr lvl="1"/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и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разделены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шины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</a:p>
          <a:p>
            <a:r>
              <a:rPr lang="en-US" dirty="0" err="1"/>
              <a:t>Следствие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одновременный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инструкциям</a:t>
            </a:r>
            <a:r>
              <a:rPr lang="en-US" dirty="0"/>
              <a:t> и </a:t>
            </a:r>
            <a:r>
              <a:rPr lang="en-US" dirty="0" err="1"/>
              <a:t>данным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упрощение</a:t>
            </a:r>
            <a:r>
              <a:rPr lang="en-US" dirty="0"/>
              <a:t>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повышение</a:t>
            </a:r>
            <a:r>
              <a:rPr lang="en-US" dirty="0"/>
              <a:t> </a:t>
            </a:r>
            <a:r>
              <a:rPr lang="en-US" dirty="0" err="1"/>
              <a:t>эффективности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EDC47A-A80B-6922-BEF8-EA5A3BF515FF}"/>
              </a:ext>
            </a:extLst>
          </p:cNvPr>
          <p:cNvSpPr/>
          <p:nvPr/>
        </p:nvSpPr>
        <p:spPr>
          <a:xfrm>
            <a:off x="8559857" y="3628708"/>
            <a:ext cx="1569206" cy="81366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Устройство управления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15D08-0D00-4A8D-5E5E-AEACD3C3690B}"/>
              </a:ext>
            </a:extLst>
          </p:cNvPr>
          <p:cNvSpPr/>
          <p:nvPr/>
        </p:nvSpPr>
        <p:spPr>
          <a:xfrm>
            <a:off x="6738803" y="3628708"/>
            <a:ext cx="1317359" cy="8136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Память инструкций</a:t>
            </a:r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C172C-D6AA-4AAC-D5DD-4D396B9B6D3A}"/>
              </a:ext>
            </a:extLst>
          </p:cNvPr>
          <p:cNvSpPr/>
          <p:nvPr/>
        </p:nvSpPr>
        <p:spPr>
          <a:xfrm>
            <a:off x="10632759" y="3628708"/>
            <a:ext cx="1297984" cy="81366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Память данных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D28DD-BB61-7E42-CFA4-F2979E89FED4}"/>
              </a:ext>
            </a:extLst>
          </p:cNvPr>
          <p:cNvSpPr/>
          <p:nvPr/>
        </p:nvSpPr>
        <p:spPr>
          <a:xfrm>
            <a:off x="8559857" y="4993187"/>
            <a:ext cx="1569206" cy="8136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Ввод-вывод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DD4E85-B09E-D0AC-7EB7-6BADB908D5BA}"/>
              </a:ext>
            </a:extLst>
          </p:cNvPr>
          <p:cNvSpPr/>
          <p:nvPr/>
        </p:nvSpPr>
        <p:spPr>
          <a:xfrm>
            <a:off x="8559857" y="2264229"/>
            <a:ext cx="1569206" cy="81366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ALU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2AA48B5F-3AE7-50B6-AFCA-34DE85F2F9FC}"/>
              </a:ext>
            </a:extLst>
          </p:cNvPr>
          <p:cNvSpPr/>
          <p:nvPr/>
        </p:nvSpPr>
        <p:spPr>
          <a:xfrm>
            <a:off x="7968983" y="3895926"/>
            <a:ext cx="678052" cy="370639"/>
          </a:xfrm>
          <a:prstGeom prst="leftRightArrow">
            <a:avLst>
              <a:gd name="adj1" fmla="val 50000"/>
              <a:gd name="adj2" fmla="val 461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C7F251CB-88C0-32F0-2BFD-E55A01821B36}"/>
              </a:ext>
            </a:extLst>
          </p:cNvPr>
          <p:cNvSpPr/>
          <p:nvPr/>
        </p:nvSpPr>
        <p:spPr>
          <a:xfrm>
            <a:off x="9174898" y="4353276"/>
            <a:ext cx="360870" cy="7290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4CECC7FD-B229-F0F9-7234-F3283E992373}"/>
              </a:ext>
            </a:extLst>
          </p:cNvPr>
          <p:cNvSpPr/>
          <p:nvPr/>
        </p:nvSpPr>
        <p:spPr>
          <a:xfrm>
            <a:off x="9174898" y="2984359"/>
            <a:ext cx="360870" cy="72900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FA2C459D-4F03-423A-821D-3CEAA204E28A}"/>
              </a:ext>
            </a:extLst>
          </p:cNvPr>
          <p:cNvSpPr/>
          <p:nvPr/>
        </p:nvSpPr>
        <p:spPr>
          <a:xfrm>
            <a:off x="10041885" y="3895925"/>
            <a:ext cx="678052" cy="370639"/>
          </a:xfrm>
          <a:prstGeom prst="leftRightArrow">
            <a:avLst>
              <a:gd name="adj1" fmla="val 50000"/>
              <a:gd name="adj2" fmla="val 461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4032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468B-E0CA-E433-3008-30F59463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Память</a:t>
            </a:r>
            <a:r>
              <a:rPr lang="en-US" dirty="0"/>
              <a:t> в AVR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1814-731B-9F70-4E5E-3AB9A75E2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endParaRPr lang="en-US" dirty="0"/>
          </a:p>
          <a:p>
            <a:pPr lvl="1"/>
            <a:r>
              <a:rPr lang="en-US" dirty="0"/>
              <a:t>Flash memory – </a:t>
            </a:r>
            <a:r>
              <a:rPr lang="en-US" dirty="0" err="1"/>
              <a:t>хранение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ru-RU" dirty="0"/>
          </a:p>
          <a:p>
            <a:pPr lvl="2"/>
            <a:r>
              <a:rPr lang="en-US" dirty="0"/>
              <a:t>ATmega328: </a:t>
            </a:r>
            <a:r>
              <a:rPr lang="ru-RU" dirty="0"/>
              <a:t>32</a:t>
            </a:r>
            <a:r>
              <a:rPr lang="en-US" dirty="0"/>
              <a:t>KB</a:t>
            </a:r>
          </a:p>
          <a:p>
            <a:pPr lvl="1"/>
            <a:r>
              <a:rPr lang="en-US" dirty="0"/>
              <a:t>SRAM- </a:t>
            </a:r>
            <a:r>
              <a:rPr lang="en-US" dirty="0" err="1"/>
              <a:t>хранение</a:t>
            </a:r>
            <a:r>
              <a:rPr lang="en-US" dirty="0"/>
              <a:t> 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ATmega328: 2KB</a:t>
            </a:r>
          </a:p>
          <a:p>
            <a:pPr lvl="1"/>
            <a:r>
              <a:rPr lang="en-US" dirty="0"/>
              <a:t>EEPROM – </a:t>
            </a:r>
            <a:r>
              <a:rPr lang="en-US" dirty="0" err="1"/>
              <a:t>энергонезависимое</a:t>
            </a:r>
            <a:r>
              <a:rPr lang="en-US" dirty="0"/>
              <a:t>  </a:t>
            </a:r>
            <a:r>
              <a:rPr lang="en-US" dirty="0" err="1"/>
              <a:t>хранение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ATmega328: 1KB</a:t>
            </a:r>
          </a:p>
          <a:p>
            <a:r>
              <a:rPr lang="en-US" dirty="0" err="1"/>
              <a:t>Особенности</a:t>
            </a:r>
            <a:endParaRPr lang="en-US" dirty="0"/>
          </a:p>
          <a:p>
            <a:pPr lvl="1"/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виртуальной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прямой</a:t>
            </a:r>
            <a:r>
              <a:rPr lang="en-US" dirty="0"/>
              <a:t> </a:t>
            </a: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размещением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77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B312-B761-3815-672C-79A6E39E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Регистры</a:t>
            </a:r>
            <a:r>
              <a:rPr lang="en-US" dirty="0"/>
              <a:t> AVR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C75B-C39E-D0D6-3E50-61BA46196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496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AVR </a:t>
            </a:r>
            <a:r>
              <a:rPr lang="en-US" dirty="0" err="1"/>
              <a:t>содержит</a:t>
            </a:r>
            <a:r>
              <a:rPr lang="en-US" dirty="0"/>
              <a:t> 32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: R0–R31</a:t>
            </a:r>
          </a:p>
          <a:p>
            <a:r>
              <a:rPr lang="en-US" dirty="0" err="1"/>
              <a:t>Особенности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арифметических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1 </a:t>
            </a:r>
            <a:r>
              <a:rPr lang="en-US" dirty="0" err="1"/>
              <a:t>такт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регистры</a:t>
            </a:r>
            <a:r>
              <a:rPr lang="en-US" dirty="0"/>
              <a:t> X, Y, Z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указатели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X = R27:R26 </a:t>
            </a:r>
          </a:p>
          <a:p>
            <a:pPr lvl="2"/>
            <a:r>
              <a:rPr lang="en-US" dirty="0"/>
              <a:t>Y = R29:R28 </a:t>
            </a:r>
          </a:p>
          <a:p>
            <a:pPr lvl="2"/>
            <a:r>
              <a:rPr lang="en-US" dirty="0"/>
              <a:t>Z = R31:R30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92AF09-2B90-4E89-C58B-AFE32DA66F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42567" y="1855338"/>
            <a:ext cx="3861789" cy="3198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B4B5F3-3495-5A9C-EDDA-5FB26BFB9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107" y="5054053"/>
            <a:ext cx="5150893" cy="18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1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A04E-4062-E7D9-18B9-26D2025C8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AVR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012AF-DF20-98F3-EBBE-FDCA6BEB7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MOV </a:t>
            </a:r>
          </a:p>
          <a:p>
            <a:pPr lvl="1"/>
            <a:r>
              <a:rPr lang="en-US" dirty="0"/>
              <a:t>LD </a:t>
            </a:r>
          </a:p>
          <a:p>
            <a:pPr lvl="1"/>
            <a:r>
              <a:rPr lang="en-US" dirty="0"/>
              <a:t>ST </a:t>
            </a:r>
          </a:p>
          <a:p>
            <a:pPr lvl="1"/>
            <a:r>
              <a:rPr lang="en-US" dirty="0"/>
              <a:t>LDI </a:t>
            </a:r>
          </a:p>
          <a:p>
            <a:pPr lvl="1"/>
            <a:r>
              <a:rPr lang="en-US" dirty="0"/>
              <a:t>LDS </a:t>
            </a:r>
          </a:p>
          <a:p>
            <a:pPr lvl="1"/>
            <a:r>
              <a:rPr lang="en-US" dirty="0"/>
              <a:t>STS </a:t>
            </a:r>
          </a:p>
          <a:p>
            <a:r>
              <a:rPr lang="en-US" dirty="0" err="1"/>
              <a:t>Арифметические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ADD </a:t>
            </a:r>
          </a:p>
          <a:p>
            <a:pPr lvl="1"/>
            <a:r>
              <a:rPr lang="en-US" dirty="0"/>
              <a:t>ADC </a:t>
            </a:r>
          </a:p>
          <a:p>
            <a:pPr lvl="1"/>
            <a:r>
              <a:rPr lang="en-US" dirty="0"/>
              <a:t>SUB </a:t>
            </a:r>
          </a:p>
          <a:p>
            <a:pPr lvl="1"/>
            <a:r>
              <a:rPr lang="en-US" dirty="0"/>
              <a:t>SBC </a:t>
            </a:r>
          </a:p>
          <a:p>
            <a:pPr lvl="1"/>
            <a:r>
              <a:rPr lang="en-US" dirty="0"/>
              <a:t>INC </a:t>
            </a:r>
          </a:p>
          <a:p>
            <a:pPr lvl="1"/>
            <a:r>
              <a:rPr lang="en-US" dirty="0"/>
              <a:t>DEC </a:t>
            </a:r>
          </a:p>
          <a:p>
            <a:r>
              <a:rPr lang="en-US" dirty="0" err="1"/>
              <a:t>Ввод-вывод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 </a:t>
            </a:r>
          </a:p>
          <a:p>
            <a:pPr lvl="1"/>
            <a:r>
              <a:rPr lang="en-US" dirty="0"/>
              <a:t>OUT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E30A5-6522-38F5-1014-245AF1309A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Логические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AND </a:t>
            </a:r>
          </a:p>
          <a:p>
            <a:pPr lvl="1"/>
            <a:r>
              <a:rPr lang="en-US" dirty="0"/>
              <a:t>OR </a:t>
            </a:r>
          </a:p>
          <a:p>
            <a:pPr lvl="1"/>
            <a:r>
              <a:rPr lang="en-US" dirty="0"/>
              <a:t>EOR </a:t>
            </a:r>
          </a:p>
          <a:p>
            <a:pPr lvl="1"/>
            <a:r>
              <a:rPr lang="en-US" dirty="0"/>
              <a:t>COM </a:t>
            </a:r>
          </a:p>
          <a:p>
            <a:pPr lvl="1"/>
            <a:r>
              <a:rPr lang="en-US" dirty="0"/>
              <a:t>TST </a:t>
            </a:r>
          </a:p>
          <a:p>
            <a:r>
              <a:rPr lang="en-US" dirty="0" err="1"/>
              <a:t>Сдвиги</a:t>
            </a:r>
            <a:r>
              <a:rPr lang="en-US" dirty="0"/>
              <a:t> и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битами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LSL </a:t>
            </a:r>
          </a:p>
          <a:p>
            <a:pPr lvl="1"/>
            <a:r>
              <a:rPr lang="en-US" dirty="0"/>
              <a:t>LSR </a:t>
            </a:r>
          </a:p>
          <a:p>
            <a:pPr lvl="1"/>
            <a:r>
              <a:rPr lang="en-US" dirty="0"/>
              <a:t>ROL </a:t>
            </a:r>
          </a:p>
          <a:p>
            <a:pPr lvl="1"/>
            <a:r>
              <a:rPr lang="en-US" dirty="0"/>
              <a:t>ROR </a:t>
            </a:r>
          </a:p>
          <a:p>
            <a:pPr lvl="1"/>
            <a:r>
              <a:rPr lang="en-US" dirty="0"/>
              <a:t>SBI </a:t>
            </a:r>
          </a:p>
          <a:p>
            <a:pPr lvl="1"/>
            <a:r>
              <a:rPr lang="en-US" dirty="0"/>
              <a:t>CBI </a:t>
            </a:r>
          </a:p>
          <a:p>
            <a:r>
              <a:rPr lang="en-US" dirty="0" err="1"/>
              <a:t>Переходы</a:t>
            </a:r>
            <a:r>
              <a:rPr lang="en-US" dirty="0"/>
              <a:t> и </a:t>
            </a:r>
            <a:r>
              <a:rPr lang="en-US" dirty="0" err="1"/>
              <a:t>вызовы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RJMP </a:t>
            </a:r>
          </a:p>
          <a:p>
            <a:pPr lvl="1"/>
            <a:r>
              <a:rPr lang="en-US" dirty="0"/>
              <a:t>BRNE </a:t>
            </a:r>
          </a:p>
          <a:p>
            <a:pPr lvl="1"/>
            <a:r>
              <a:rPr lang="en-US" dirty="0"/>
              <a:t>BREQ </a:t>
            </a:r>
          </a:p>
          <a:p>
            <a:pPr lvl="1"/>
            <a:r>
              <a:rPr lang="en-US" dirty="0"/>
              <a:t>CALL </a:t>
            </a:r>
          </a:p>
          <a:p>
            <a:pPr lvl="1"/>
            <a:r>
              <a:rPr lang="en-US" dirty="0"/>
              <a:t>RET </a:t>
            </a:r>
          </a:p>
        </p:txBody>
      </p:sp>
    </p:spTree>
    <p:extLst>
      <p:ext uri="{BB962C8B-B14F-4D97-AF65-F5344CB8AC3E}">
        <p14:creationId xmlns:p14="http://schemas.microsoft.com/office/powerpoint/2010/main" val="416232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2506-5B31-13B9-84CA-03161B48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ATmega328P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5C872-7C85-9294-5928-DC1712121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584371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Особенности</a:t>
            </a:r>
            <a:endParaRPr lang="en-US" dirty="0"/>
          </a:p>
          <a:p>
            <a:pPr lvl="1"/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</a:t>
            </a:r>
            <a:r>
              <a:rPr lang="en-US" dirty="0" err="1"/>
              <a:t>отображены</a:t>
            </a:r>
            <a:r>
              <a:rPr lang="en-US" dirty="0"/>
              <a:t> в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I/O-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так</a:t>
            </a:r>
            <a:r>
              <a:rPr lang="en-US" dirty="0"/>
              <a:t> и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Stack Pointer </a:t>
            </a:r>
            <a:r>
              <a:rPr lang="en-US" dirty="0" err="1"/>
              <a:t>хранится</a:t>
            </a:r>
            <a:r>
              <a:rPr lang="en-US" dirty="0"/>
              <a:t> в </a:t>
            </a:r>
            <a:r>
              <a:rPr lang="en-US" dirty="0" err="1"/>
              <a:t>специальных</a:t>
            </a:r>
            <a:r>
              <a:rPr lang="en-US" dirty="0"/>
              <a:t> I/O-</a:t>
            </a:r>
            <a:r>
              <a:rPr lang="en-US" dirty="0" err="1"/>
              <a:t>регистрах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SPL – 0x003D</a:t>
            </a:r>
          </a:p>
          <a:p>
            <a:pPr lvl="2"/>
            <a:r>
              <a:rPr lang="en-US" dirty="0"/>
              <a:t>SPH </a:t>
            </a:r>
            <a:r>
              <a:rPr lang="ru-RU" dirty="0"/>
              <a:t>– 0</a:t>
            </a:r>
            <a:r>
              <a:rPr lang="en-US" dirty="0"/>
              <a:t>x003E</a:t>
            </a:r>
          </a:p>
          <a:p>
            <a:pPr lvl="1"/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в SRAM</a:t>
            </a:r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14CE2C-04D7-C24E-BB70-CCE628E3FE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5854835"/>
              </p:ext>
            </p:extLst>
          </p:nvPr>
        </p:nvGraphicFramePr>
        <p:xfrm>
          <a:off x="6716485" y="1825625"/>
          <a:ext cx="501831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139">
                  <a:extLst>
                    <a:ext uri="{9D8B030D-6E8A-4147-A177-3AD203B41FA5}">
                      <a16:colId xmlns:a16="http://schemas.microsoft.com/office/drawing/2014/main" val="487488085"/>
                    </a:ext>
                  </a:extLst>
                </a:gridCol>
                <a:gridCol w="3131176">
                  <a:extLst>
                    <a:ext uri="{9D8B030D-6E8A-4147-A177-3AD203B41FA5}">
                      <a16:colId xmlns:a16="http://schemas.microsoft.com/office/drawing/2014/main" val="2411742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Адреса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58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0x0000-0x001F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Регистры общего назначения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33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0x0020-0x005F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I/O</a:t>
                      </a:r>
                      <a:r>
                        <a:rPr lang="ru-RU" dirty="0"/>
                        <a:t> регистры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67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0x0060-0x00FF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Extended I/O</a:t>
                      </a:r>
                      <a:r>
                        <a:rPr lang="ru-RU" dirty="0"/>
                        <a:t> регистры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97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0x0100-…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35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88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BAF2-ED6F-6E81-E09D-E6CD3BC4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и embedded-</a:t>
            </a:r>
            <a:r>
              <a:rPr lang="en-US" dirty="0" err="1"/>
              <a:t>разработка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48F08-8817-E51B-0F65-93C3A4560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Особенности</a:t>
            </a:r>
            <a:r>
              <a:rPr lang="en-US" dirty="0"/>
              <a:t> AVR </a:t>
            </a:r>
            <a:r>
              <a:rPr lang="en-US" dirty="0" err="1"/>
              <a:t>как</a:t>
            </a:r>
            <a:r>
              <a:rPr lang="en-US" dirty="0"/>
              <a:t> embedded-</a:t>
            </a:r>
            <a:r>
              <a:rPr lang="en-US" dirty="0" err="1"/>
              <a:t>платформы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предсказуемое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низкое</a:t>
            </a:r>
            <a:r>
              <a:rPr lang="en-US" dirty="0"/>
              <a:t> </a:t>
            </a:r>
            <a:r>
              <a:rPr lang="en-US" dirty="0" err="1"/>
              <a:t>энергопотребление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непосредственный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периферии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</a:p>
          <a:p>
            <a:r>
              <a:rPr lang="en-US" dirty="0" err="1"/>
              <a:t>Следствие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6680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F664-1276-FBBE-EBA9-0039ABDB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адресов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I/O-</a:t>
            </a:r>
            <a:r>
              <a:rPr lang="en-US" dirty="0" err="1"/>
              <a:t>регистров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960CF-53AC-256F-5CC7-76A144605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В AVR I/O-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I/O address </a:t>
            </a:r>
          </a:p>
          <a:p>
            <a:pPr lvl="1"/>
            <a:r>
              <a:rPr lang="en-US" dirty="0"/>
              <a:t>Data memory address</a:t>
            </a:r>
            <a:r>
              <a:rPr lang="ru-RU" dirty="0"/>
              <a:t> </a:t>
            </a:r>
            <a:r>
              <a:rPr lang="en-US" dirty="0"/>
              <a:t>= I/O address + 0x20</a:t>
            </a:r>
            <a:endParaRPr lang="ru-RU" dirty="0"/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/>
              <a:t>SPL – 0x3D (0x5D)</a:t>
            </a:r>
          </a:p>
          <a:p>
            <a:pPr lvl="2"/>
            <a:r>
              <a:rPr lang="en-US" dirty="0"/>
              <a:t>I/O </a:t>
            </a:r>
            <a:r>
              <a:rPr lang="ru-RU" dirty="0"/>
              <a:t>адрес </a:t>
            </a:r>
            <a:r>
              <a:rPr lang="en-US" dirty="0"/>
              <a:t>= 0x3D</a:t>
            </a:r>
          </a:p>
          <a:p>
            <a:pPr lvl="2"/>
            <a:r>
              <a:rPr lang="en-US" dirty="0"/>
              <a:t>Data memory address = 0x5D</a:t>
            </a:r>
          </a:p>
          <a:p>
            <a:r>
              <a:rPr lang="ru-RU" dirty="0"/>
              <a:t>Доступ к регистру:</a:t>
            </a:r>
          </a:p>
          <a:p>
            <a:pPr lvl="1"/>
            <a:r>
              <a:rPr lang="ru-RU" dirty="0"/>
              <a:t>Через </a:t>
            </a:r>
            <a:r>
              <a:rPr lang="en-US" dirty="0"/>
              <a:t>I/O </a:t>
            </a:r>
            <a:r>
              <a:rPr lang="ru-RU" dirty="0"/>
              <a:t>инструкции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in r16, 0x3D</a:t>
            </a:r>
          </a:p>
          <a:p>
            <a:pPr lvl="1"/>
            <a:r>
              <a:rPr lang="ru-RU" dirty="0"/>
              <a:t>Через память данных</a:t>
            </a:r>
          </a:p>
          <a:p>
            <a:pPr lvl="2"/>
            <a:r>
              <a:rPr lang="en-US" dirty="0" err="1"/>
              <a:t>lds</a:t>
            </a:r>
            <a:r>
              <a:rPr lang="en-US" dirty="0"/>
              <a:t> r16, 0x005D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02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EE57-5DDF-D5AF-8669-E86F6B96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1F1589-1ED6-59A3-58C1-168B1061D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9546" y="165099"/>
            <a:ext cx="6123638" cy="66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9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0537-6CBE-BABC-096F-AE654883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9E6E6-9EC7-D272-4E42-968F007DC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сброса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ru-RU" dirty="0"/>
              <a:t> </a:t>
            </a:r>
            <a:r>
              <a:rPr lang="en-US" dirty="0"/>
              <a:t>CPU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с reset vector.</a:t>
            </a:r>
          </a:p>
          <a:p>
            <a:pPr lvl="1"/>
            <a:r>
              <a:rPr lang="en-US" dirty="0" err="1"/>
              <a:t>Сброс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reset vector </a:t>
            </a:r>
          </a:p>
          <a:p>
            <a:pPr lvl="1"/>
            <a:r>
              <a:rPr lang="en-US" dirty="0" err="1"/>
              <a:t>Выполнение</a:t>
            </a:r>
            <a:r>
              <a:rPr lang="en-US" dirty="0"/>
              <a:t> startup code </a:t>
            </a:r>
          </a:p>
          <a:p>
            <a:pPr lvl="1"/>
            <a:r>
              <a:rPr lang="en-US" dirty="0" err="1"/>
              <a:t>Инициализация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Настройка</a:t>
            </a:r>
            <a:r>
              <a:rPr lang="en-US" dirty="0"/>
              <a:t> Stack Pointer </a:t>
            </a:r>
          </a:p>
          <a:p>
            <a:pPr lvl="1"/>
            <a:r>
              <a:rPr lang="en-US" dirty="0" err="1"/>
              <a:t>Инициализация</a:t>
            </a:r>
            <a:r>
              <a:rPr lang="en-US" dirty="0"/>
              <a:t> </a:t>
            </a:r>
            <a:r>
              <a:rPr lang="en-US" dirty="0" err="1"/>
              <a:t>глобальных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Вызов</a:t>
            </a:r>
            <a:r>
              <a:rPr lang="en-US" dirty="0"/>
              <a:t> main() </a:t>
            </a:r>
          </a:p>
          <a:p>
            <a:r>
              <a:rPr lang="en-US" dirty="0"/>
              <a:t>Startup code </a:t>
            </a:r>
            <a:r>
              <a:rPr lang="en-US" dirty="0" err="1"/>
              <a:t>обычно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копирует</a:t>
            </a:r>
            <a:r>
              <a:rPr lang="en-US" dirty="0"/>
              <a:t> .data </a:t>
            </a:r>
            <a:r>
              <a:rPr lang="en-US" dirty="0" err="1"/>
              <a:t>из</a:t>
            </a:r>
            <a:r>
              <a:rPr lang="en-US" dirty="0"/>
              <a:t> Flash в SRAM </a:t>
            </a:r>
            <a:r>
              <a:rPr lang="ru-RU" dirty="0"/>
              <a:t> (инициализированные глобальные переменные)</a:t>
            </a:r>
            <a:endParaRPr lang="en-US" dirty="0"/>
          </a:p>
          <a:p>
            <a:pPr lvl="1"/>
            <a:r>
              <a:rPr lang="en-US" dirty="0" err="1"/>
              <a:t>обнуляет</a:t>
            </a:r>
            <a:r>
              <a:rPr lang="en-US" dirty="0"/>
              <a:t> .</a:t>
            </a:r>
            <a:r>
              <a:rPr lang="en-US" dirty="0" err="1"/>
              <a:t>bss</a:t>
            </a:r>
            <a:r>
              <a:rPr lang="en-US" dirty="0"/>
              <a:t> </a:t>
            </a:r>
            <a:r>
              <a:rPr lang="ru-RU" dirty="0"/>
              <a:t>(глобальные переменные)</a:t>
            </a:r>
            <a:endParaRPr lang="en-US" dirty="0"/>
          </a:p>
          <a:p>
            <a:pPr lvl="1"/>
            <a:r>
              <a:rPr lang="en-US" dirty="0" err="1"/>
              <a:t>инициализирует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подготавливает</a:t>
            </a:r>
            <a:r>
              <a:rPr lang="en-US" dirty="0"/>
              <a:t> </a:t>
            </a:r>
            <a:r>
              <a:rPr lang="en-US" dirty="0" err="1"/>
              <a:t>среду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1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3411-42FC-D39E-CAF8-E81BADCB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GPIO: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B213-3C01-8E24-B308-055905338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GPIO (General Purpose Input/Output) — </a:t>
            </a:r>
            <a:r>
              <a:rPr lang="en-US" dirty="0" err="1"/>
              <a:t>универсальные</a:t>
            </a:r>
            <a:r>
              <a:rPr lang="en-US" dirty="0"/>
              <a:t>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.</a:t>
            </a:r>
          </a:p>
          <a:p>
            <a:r>
              <a:rPr lang="en-US" dirty="0"/>
              <a:t>GPIO </a:t>
            </a:r>
            <a:r>
              <a:rPr lang="en-US" dirty="0" err="1"/>
              <a:t>позволяют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считывать</a:t>
            </a:r>
            <a:r>
              <a:rPr lang="en-US" dirty="0"/>
              <a:t> </a:t>
            </a:r>
            <a:r>
              <a:rPr lang="en-US" dirty="0" err="1"/>
              <a:t>цифровые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обмениваться</a:t>
            </a:r>
            <a:r>
              <a:rPr lang="en-US" dirty="0"/>
              <a:t> </a:t>
            </a:r>
            <a:r>
              <a:rPr lang="en-US" dirty="0" err="1"/>
              <a:t>простыми</a:t>
            </a:r>
            <a:r>
              <a:rPr lang="en-US" dirty="0"/>
              <a:t> </a:t>
            </a:r>
            <a:r>
              <a:rPr lang="en-US" dirty="0" err="1"/>
              <a:t>сигналами</a:t>
            </a:r>
            <a:r>
              <a:rPr lang="en-US" dirty="0"/>
              <a:t> </a:t>
            </a:r>
          </a:p>
          <a:p>
            <a:r>
              <a:rPr lang="en-US" dirty="0" err="1"/>
              <a:t>Примеры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кнопки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светодиоды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реле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датчики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дисплеи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92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85A1-AF48-8184-073D-8F6036A4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Режимы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GPIO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6900D-819D-1951-79F5-90C7383D6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GPIO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в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режимах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Input – </a:t>
            </a:r>
            <a:r>
              <a:rPr lang="en-US" dirty="0" err="1"/>
              <a:t>считывание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Output – </a:t>
            </a:r>
            <a:r>
              <a:rPr lang="en-US" dirty="0" err="1"/>
              <a:t>формирование</a:t>
            </a:r>
            <a:r>
              <a:rPr lang="en-US" dirty="0"/>
              <a:t> </a:t>
            </a:r>
            <a:r>
              <a:rPr lang="en-US" dirty="0" err="1"/>
              <a:t>выходного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endParaRPr lang="en-US" dirty="0"/>
          </a:p>
          <a:p>
            <a:r>
              <a:rPr lang="ru-RU" dirty="0"/>
              <a:t>Логические уровни</a:t>
            </a:r>
          </a:p>
          <a:p>
            <a:pPr lvl="1"/>
            <a:r>
              <a:rPr lang="en-US" dirty="0"/>
              <a:t>LOW: </a:t>
            </a:r>
            <a:r>
              <a:rPr lang="ru-RU" dirty="0"/>
              <a:t>около 0</a:t>
            </a:r>
            <a:r>
              <a:rPr lang="en-US" dirty="0"/>
              <a:t>V</a:t>
            </a:r>
          </a:p>
          <a:p>
            <a:pPr lvl="1"/>
            <a:r>
              <a:rPr lang="en-US" dirty="0"/>
              <a:t>HIGH: </a:t>
            </a:r>
            <a:r>
              <a:rPr lang="ru-RU" dirty="0"/>
              <a:t>около 5</a:t>
            </a:r>
            <a:r>
              <a:rPr lang="en-US"/>
              <a:t>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86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E9EE-3E07-A4AC-6845-8F7C8FD8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D3095-38AF-34BD-496E-F83A8E982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</a:t>
            </a:r>
            <a:r>
              <a:rPr lang="en-US" dirty="0" err="1"/>
              <a:t>отображены</a:t>
            </a:r>
            <a:r>
              <a:rPr lang="en-US" dirty="0"/>
              <a:t> в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#define PORTB (*(volatile uint8_t*)0x25)</a:t>
            </a:r>
          </a:p>
          <a:p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endParaRPr lang="en-US" dirty="0"/>
          </a:p>
          <a:p>
            <a:pPr lvl="1"/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аппаратурой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чтение</a:t>
            </a:r>
            <a:r>
              <a:rPr lang="en-US" dirty="0"/>
              <a:t> и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побочные</a:t>
            </a:r>
            <a:r>
              <a:rPr lang="en-US" dirty="0"/>
              <a:t> </a:t>
            </a:r>
            <a:r>
              <a:rPr lang="en-US" dirty="0" err="1"/>
              <a:t>эффекты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регистр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</a:p>
          <a:p>
            <a:r>
              <a:rPr lang="en-US" dirty="0" err="1"/>
              <a:t>Ключевое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volatile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volatile uint8_t* reg;</a:t>
            </a:r>
          </a:p>
          <a:p>
            <a:pPr lvl="1"/>
            <a:r>
              <a:rPr lang="en-US" dirty="0"/>
              <a:t>volatile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компилятору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регистру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кэшировать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403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5F27-4261-5BC3-1EB6-EAA08A40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в ATmega328P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18157-FB57-6E2C-CB27-AB134B2F1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70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GPIO </a:t>
            </a:r>
            <a:r>
              <a:rPr lang="en-US" dirty="0" err="1"/>
              <a:t>организованы</a:t>
            </a:r>
            <a:r>
              <a:rPr lang="en-US" dirty="0"/>
              <a:t> в </a:t>
            </a:r>
            <a:r>
              <a:rPr lang="en-US" dirty="0" err="1"/>
              <a:t>порты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PORTB </a:t>
            </a:r>
          </a:p>
          <a:p>
            <a:pPr lvl="1"/>
            <a:r>
              <a:rPr lang="en-US" dirty="0"/>
              <a:t>PORTC </a:t>
            </a:r>
          </a:p>
          <a:p>
            <a:pPr lvl="1"/>
            <a:r>
              <a:rPr lang="en-US" dirty="0"/>
              <a:t>PORTD 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порт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выводов</a:t>
            </a:r>
            <a:endParaRPr lang="ru-RU" dirty="0"/>
          </a:p>
          <a:p>
            <a:r>
              <a:rPr lang="en-US" dirty="0" err="1"/>
              <a:t>Режим</a:t>
            </a:r>
            <a:r>
              <a:rPr lang="en-US" dirty="0"/>
              <a:t> output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DDRB |= (1 &lt;&lt; PB5);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PORTB |= (1 &lt;&lt; PB5);</a:t>
            </a:r>
          </a:p>
          <a:p>
            <a:pPr lvl="1"/>
            <a:r>
              <a:rPr lang="en-US" dirty="0"/>
              <a:t>PB5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выход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подаётся</a:t>
            </a:r>
            <a:r>
              <a:rPr lang="en-US" dirty="0"/>
              <a:t> HIGH </a:t>
            </a:r>
          </a:p>
          <a:p>
            <a:r>
              <a:rPr lang="en-US" dirty="0" err="1"/>
              <a:t>Режим</a:t>
            </a:r>
            <a:r>
              <a:rPr lang="en-US" dirty="0"/>
              <a:t> input + pull-up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DDRD &amp;= ~(1 &lt;&lt; PD2);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PORTD |= (1 &lt;&lt; PD2);</a:t>
            </a:r>
          </a:p>
          <a:p>
            <a:pPr lvl="1"/>
            <a:r>
              <a:rPr lang="en-US" dirty="0"/>
              <a:t>PD2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включён</a:t>
            </a:r>
            <a:r>
              <a:rPr lang="en-US" dirty="0"/>
              <a:t> </a:t>
            </a:r>
            <a:r>
              <a:rPr lang="en-US" dirty="0" err="1"/>
              <a:t>встроенный</a:t>
            </a:r>
            <a:r>
              <a:rPr lang="en-US" dirty="0"/>
              <a:t> pull-up </a:t>
            </a:r>
            <a:r>
              <a:rPr lang="en-US" dirty="0" err="1"/>
              <a:t>резистор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A0618E9-86B2-D35D-DC83-856C43F04E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14247901"/>
              </p:ext>
            </p:extLst>
          </p:nvPr>
        </p:nvGraphicFramePr>
        <p:xfrm>
          <a:off x="6716354" y="3881741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385">
                  <a:extLst>
                    <a:ext uri="{9D8B030D-6E8A-4147-A177-3AD203B41FA5}">
                      <a16:colId xmlns:a16="http://schemas.microsoft.com/office/drawing/2014/main" val="4068020681"/>
                    </a:ext>
                  </a:extLst>
                </a:gridCol>
                <a:gridCol w="3656215">
                  <a:extLst>
                    <a:ext uri="{9D8B030D-6E8A-4147-A177-3AD203B41FA5}">
                      <a16:colId xmlns:a16="http://schemas.microsoft.com/office/drawing/2014/main" val="106016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Регистр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2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DDRx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направление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вывода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36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выходное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значение</a:t>
                      </a:r>
                      <a:r>
                        <a:rPr lang="en-US" dirty="0"/>
                        <a:t> / pull-up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52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PINx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чтение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состояния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вывода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93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055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60586C-2309-8C48-9AEC-B2EC7334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AVR Toolchain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099DE-12FA-79B1-C605-ED1C02FF6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98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A41A-16FD-CB35-9387-B7F83DC4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Toolchain </a:t>
            </a:r>
            <a:r>
              <a:rPr lang="en-US" dirty="0" err="1"/>
              <a:t>для</a:t>
            </a:r>
            <a:r>
              <a:rPr lang="en-US" dirty="0"/>
              <a:t> AVR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FB1BA6-0F9B-17C6-B087-C4B22C126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Этапы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  <a:p>
            <a:pPr lvl="1"/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</a:t>
            </a:r>
          </a:p>
          <a:p>
            <a:pPr lvl="1"/>
            <a:r>
              <a:rPr lang="en-US" dirty="0" err="1"/>
              <a:t>Компиляция</a:t>
            </a:r>
            <a:r>
              <a:rPr lang="en-US" dirty="0"/>
              <a:t> (</a:t>
            </a:r>
            <a:r>
              <a:rPr lang="en-US" dirty="0" err="1"/>
              <a:t>avr-gcc</a:t>
            </a:r>
            <a:r>
              <a:rPr lang="en-US" dirty="0"/>
              <a:t>) → </a:t>
            </a:r>
            <a:r>
              <a:rPr lang="en-US" dirty="0" err="1"/>
              <a:t>Объектные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endParaRPr lang="en-US" dirty="0"/>
          </a:p>
          <a:p>
            <a:pPr lvl="1"/>
            <a:r>
              <a:rPr lang="en-US" dirty="0" err="1"/>
              <a:t>Линковка</a:t>
            </a:r>
            <a:r>
              <a:rPr lang="en-US" dirty="0"/>
              <a:t> →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(.elf, .hex)</a:t>
            </a:r>
          </a:p>
          <a:p>
            <a:pPr lvl="1"/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r>
              <a:rPr lang="en-US" dirty="0"/>
              <a:t> (</a:t>
            </a:r>
            <a:r>
              <a:rPr lang="en-US" dirty="0" err="1"/>
              <a:t>avrdude</a:t>
            </a:r>
            <a:r>
              <a:rPr lang="en-US" dirty="0"/>
              <a:t>)</a:t>
            </a:r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endParaRPr lang="en-US" dirty="0"/>
          </a:p>
          <a:p>
            <a:pPr lvl="1"/>
            <a:r>
              <a:rPr lang="en-US" dirty="0" err="1"/>
              <a:t>avr-gcc</a:t>
            </a:r>
            <a:r>
              <a:rPr lang="en-US" dirty="0"/>
              <a:t> —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avr</a:t>
            </a:r>
            <a:r>
              <a:rPr lang="en-US" dirty="0"/>
              <a:t>-as — </a:t>
            </a:r>
            <a:r>
              <a:rPr lang="en-US" dirty="0" err="1"/>
              <a:t>ассемблер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avr-ld</a:t>
            </a:r>
            <a:r>
              <a:rPr lang="en-US" dirty="0"/>
              <a:t> — </a:t>
            </a:r>
            <a:r>
              <a:rPr lang="en-US" dirty="0" err="1"/>
              <a:t>линковщик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avr-objdump</a:t>
            </a:r>
            <a:r>
              <a:rPr lang="en-US" dirty="0"/>
              <a:t> — </a:t>
            </a:r>
            <a:r>
              <a:rPr lang="en-US" dirty="0" err="1"/>
              <a:t>дизассемблирование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avr</a:t>
            </a:r>
            <a:r>
              <a:rPr lang="en-US" dirty="0"/>
              <a:t>-size —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avrdude</a:t>
            </a:r>
            <a:r>
              <a:rPr lang="en-US" dirty="0"/>
              <a:t> — </a:t>
            </a:r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31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6A7-6F71-5C30-D7DF-D266C418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AVR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7E8A2-71D6-6B61-4A24-96F8B6FCC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int main(void)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while (1)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 err="1"/>
              <a:t>Компиляция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avr-gcc</a:t>
            </a:r>
            <a:r>
              <a:rPr lang="en-US" dirty="0">
                <a:latin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</a:rPr>
              <a:t>mmcu</a:t>
            </a:r>
            <a:r>
              <a:rPr lang="en-US" dirty="0">
                <a:latin typeface="Consolas" panose="020B0609020204030204" pitchFamily="49" charset="0"/>
              </a:rPr>
              <a:t>=atmega328p </a:t>
            </a:r>
            <a:r>
              <a:rPr lang="en-US" dirty="0" err="1">
                <a:latin typeface="Consolas" panose="020B0609020204030204" pitchFamily="49" charset="0"/>
              </a:rPr>
              <a:t>main.c</a:t>
            </a:r>
            <a:r>
              <a:rPr lang="en-US" dirty="0">
                <a:latin typeface="Consolas" panose="020B0609020204030204" pitchFamily="49" charset="0"/>
              </a:rPr>
              <a:t> -o </a:t>
            </a:r>
            <a:r>
              <a:rPr lang="en-US" dirty="0" err="1">
                <a:latin typeface="Consolas" panose="020B0609020204030204" pitchFamily="49" charset="0"/>
              </a:rPr>
              <a:t>main.elf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прошивки</a:t>
            </a:r>
            <a:endParaRPr lang="en-US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avr-objcopy</a:t>
            </a:r>
            <a:r>
              <a:rPr lang="en-US" dirty="0">
                <a:latin typeface="Consolas" panose="020B0609020204030204" pitchFamily="49" charset="0"/>
              </a:rPr>
              <a:t> -O </a:t>
            </a:r>
            <a:r>
              <a:rPr lang="en-US" dirty="0" err="1">
                <a:latin typeface="Consolas" panose="020B0609020204030204" pitchFamily="49" charset="0"/>
              </a:rPr>
              <a:t>ihex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main.elf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main.hex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32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FCF745-8887-7664-9107-A9CF6EC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Дизассемблирование</a:t>
            </a:r>
            <a:r>
              <a:rPr lang="en-US" dirty="0"/>
              <a:t> AVR-</a:t>
            </a:r>
            <a:r>
              <a:rPr lang="en-US" dirty="0" err="1"/>
              <a:t>программы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40093C-95BD-7857-2C9E-F5C983A4B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Дизассемблирование</a:t>
            </a:r>
            <a:endParaRPr lang="en-US" dirty="0"/>
          </a:p>
          <a:p>
            <a:pPr lvl="1"/>
            <a:r>
              <a:rPr lang="en-US" dirty="0" err="1"/>
              <a:t>avr-objdump</a:t>
            </a:r>
            <a:r>
              <a:rPr lang="en-US" dirty="0"/>
              <a:t> -d </a:t>
            </a:r>
            <a:r>
              <a:rPr lang="en-US" dirty="0" err="1"/>
              <a:t>main.elf</a:t>
            </a:r>
            <a:endParaRPr lang="en-US" dirty="0"/>
          </a:p>
          <a:p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endParaRPr lang="en-US" dirty="0"/>
          </a:p>
          <a:p>
            <a:pPr lvl="1"/>
            <a:r>
              <a:rPr lang="en-US" dirty="0"/>
              <a:t>00000080 &lt;main&gt;:</a:t>
            </a:r>
            <a:br>
              <a:rPr lang="en-US" dirty="0"/>
            </a:br>
            <a:r>
              <a:rPr lang="en-US" dirty="0"/>
              <a:t>  80:  ff </a:t>
            </a:r>
            <a:r>
              <a:rPr lang="en-US" dirty="0" err="1"/>
              <a:t>cf</a:t>
            </a:r>
            <a:r>
              <a:rPr lang="en-US" dirty="0"/>
              <a:t>    </a:t>
            </a:r>
            <a:r>
              <a:rPr lang="en-US" dirty="0" err="1"/>
              <a:t>rjmp</a:t>
            </a:r>
            <a:r>
              <a:rPr lang="en-US" dirty="0"/>
              <a:t> .-2</a:t>
            </a:r>
          </a:p>
        </p:txBody>
      </p:sp>
    </p:spTree>
    <p:extLst>
      <p:ext uri="{BB962C8B-B14F-4D97-AF65-F5344CB8AC3E}">
        <p14:creationId xmlns:p14="http://schemas.microsoft.com/office/powerpoint/2010/main" val="2599234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4DFBD-B431-511E-232B-6B4574A6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Прошивка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426F-3E6A-4CB9-97BD-58E1C24DF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в MCU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avrdude</a:t>
            </a:r>
            <a:r>
              <a:rPr lang="en-US" dirty="0">
                <a:latin typeface="Consolas" panose="020B0609020204030204" pitchFamily="49" charset="0"/>
              </a:rPr>
              <a:t> -c </a:t>
            </a:r>
            <a:r>
              <a:rPr lang="en-US" dirty="0" err="1">
                <a:latin typeface="Consolas" panose="020B0609020204030204" pitchFamily="49" charset="0"/>
              </a:rPr>
              <a:t>arduino</a:t>
            </a:r>
            <a:r>
              <a:rPr lang="en-US" dirty="0">
                <a:latin typeface="Consolas" panose="020B0609020204030204" pitchFamily="49" charset="0"/>
              </a:rPr>
              <a:t> -p m328p \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-P COM3 -b 115200 \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-U </a:t>
            </a:r>
            <a:r>
              <a:rPr lang="en-US" dirty="0" err="1">
                <a:latin typeface="Consolas" panose="020B0609020204030204" pitchFamily="49" charset="0"/>
              </a:rPr>
              <a:t>flash:w:main.hex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прошивке</a:t>
            </a:r>
            <a:endParaRPr lang="en-US" dirty="0"/>
          </a:p>
          <a:p>
            <a:pPr lvl="1"/>
            <a:r>
              <a:rPr lang="en-US" dirty="0" err="1"/>
              <a:t>установление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с bootloader/programmer </a:t>
            </a:r>
          </a:p>
          <a:p>
            <a:pPr lvl="1"/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flash memory </a:t>
            </a:r>
          </a:p>
          <a:p>
            <a:pPr lvl="1"/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содержимого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762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616F-1358-E0CF-7912-28E1B6B7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Особенности</a:t>
            </a:r>
            <a:r>
              <a:rPr lang="en-US" dirty="0"/>
              <a:t> embedded toolchain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4544-67C2-6B0B-61FD-36EF88FFA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Отличия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desktop-</a:t>
            </a:r>
            <a:r>
              <a:rPr lang="en-US" dirty="0" err="1"/>
              <a:t>разработки</a:t>
            </a:r>
            <a:endParaRPr lang="en-US" dirty="0"/>
          </a:p>
          <a:p>
            <a:pPr lvl="1"/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непосредственная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важность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</a:p>
          <a:p>
            <a:r>
              <a:rPr lang="en-US" dirty="0" err="1"/>
              <a:t>Следствие</a:t>
            </a:r>
            <a:endParaRPr lang="en-US" dirty="0"/>
          </a:p>
          <a:p>
            <a:pPr lvl="1"/>
            <a:r>
              <a:rPr lang="en-US" dirty="0"/>
              <a:t>Embedded-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MCU </a:t>
            </a:r>
          </a:p>
          <a:p>
            <a:pPr lvl="1"/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машинный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834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D6F244-CDB7-5905-8B24-F654E8B0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: </a:t>
            </a:r>
            <a:r>
              <a:rPr lang="en-US" dirty="0" err="1"/>
              <a:t>мигание</a:t>
            </a:r>
            <a:r>
              <a:rPr lang="en-US" dirty="0"/>
              <a:t> </a:t>
            </a:r>
            <a:r>
              <a:rPr lang="en-US" dirty="0" err="1"/>
              <a:t>светодиодом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C8619-5BFD-1D05-3776-0C027EFE3FCE}"/>
              </a:ext>
            </a:extLst>
          </p:cNvPr>
          <p:cNvSpPr txBox="1"/>
          <p:nvPr/>
        </p:nvSpPr>
        <p:spPr>
          <a:xfrm>
            <a:off x="838200" y="1690688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avr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util/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delay.h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DDRB |=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PB5);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PB5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настраивается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output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PORTB ^=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PB5);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Инвертируем состояние светодиода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delay_ms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0015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E48DD8-71EC-4CA4-C205-E0895CE5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Таймеры микроконтроллера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57622-666A-871A-153E-EABC229BB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54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2CB759-E413-1CEE-B2DD-6741A515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Таймеры</a:t>
            </a:r>
            <a:r>
              <a:rPr lang="en-US" dirty="0"/>
              <a:t> </a:t>
            </a:r>
            <a:r>
              <a:rPr lang="en-US" dirty="0" err="1"/>
              <a:t>микроконтроллера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54BF28-E1EB-BEFD-C8EA-9E78058C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Таймер</a:t>
            </a:r>
            <a:r>
              <a:rPr lang="en-US" dirty="0"/>
              <a:t> (timer/counter) —</a:t>
            </a:r>
            <a:r>
              <a:rPr lang="ru-RU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модуль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измерения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и </a:t>
            </a:r>
            <a:r>
              <a:rPr lang="en-US" dirty="0" err="1"/>
              <a:t>генерации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Возможност</a:t>
            </a:r>
            <a:r>
              <a:rPr lang="ru-RU" dirty="0"/>
              <a:t>и</a:t>
            </a:r>
            <a:endParaRPr lang="en-US" dirty="0"/>
          </a:p>
          <a:p>
            <a:pPr lvl="1"/>
            <a:r>
              <a:rPr lang="en-US" dirty="0" err="1"/>
              <a:t>измерение</a:t>
            </a:r>
            <a:r>
              <a:rPr lang="en-US" dirty="0"/>
              <a:t> </a:t>
            </a:r>
            <a:r>
              <a:rPr lang="en-US" dirty="0" err="1"/>
              <a:t>временных</a:t>
            </a:r>
            <a:r>
              <a:rPr lang="en-US" dirty="0"/>
              <a:t> </a:t>
            </a:r>
            <a:r>
              <a:rPr lang="en-US" dirty="0" err="1"/>
              <a:t>интервалов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генерация</a:t>
            </a:r>
            <a:r>
              <a:rPr lang="en-US" dirty="0"/>
              <a:t> </a:t>
            </a:r>
            <a:r>
              <a:rPr lang="en-US" dirty="0" err="1"/>
              <a:t>периодических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импульсов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PWM (Pulse Width Modulation), </a:t>
            </a:r>
            <a:r>
              <a:rPr lang="en-US" dirty="0" err="1"/>
              <a:t>широтно-импульсная</a:t>
            </a:r>
            <a:r>
              <a:rPr lang="en-US" dirty="0"/>
              <a:t> </a:t>
            </a:r>
            <a:r>
              <a:rPr lang="en-US" dirty="0" err="1"/>
              <a:t>модуляция</a:t>
            </a:r>
            <a:endParaRPr lang="en-US" dirty="0"/>
          </a:p>
          <a:p>
            <a:pPr lvl="2"/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средней</a:t>
            </a:r>
            <a:r>
              <a:rPr lang="en-US" dirty="0"/>
              <a:t> </a:t>
            </a:r>
            <a:r>
              <a:rPr lang="en-US" dirty="0" err="1"/>
              <a:t>мощностью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  <a:r>
              <a:rPr lang="ru-RU" dirty="0"/>
              <a:t>за счёт быстрого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цифрового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 HIGH и LOW.</a:t>
            </a:r>
          </a:p>
          <a:p>
            <a:pPr lvl="1"/>
            <a:r>
              <a:rPr lang="en-US" dirty="0" err="1"/>
              <a:t>генерация</a:t>
            </a:r>
            <a:r>
              <a:rPr lang="en-US" dirty="0"/>
              <a:t> </a:t>
            </a:r>
            <a:r>
              <a:rPr lang="ru-RU" dirty="0"/>
              <a:t>прерываний (</a:t>
            </a:r>
            <a:r>
              <a:rPr lang="en-US" dirty="0"/>
              <a:t>interrupts) </a:t>
            </a:r>
          </a:p>
          <a:p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CPU.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09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0D7C-880C-7132-2275-D9599E5F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1795-D538-7227-169B-9D4233FE0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Упрощённая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endParaRPr lang="en-US" dirty="0"/>
          </a:p>
          <a:p>
            <a:pPr lvl="1"/>
            <a:r>
              <a:rPr lang="en-US" dirty="0"/>
              <a:t>Clock → </a:t>
            </a:r>
            <a:r>
              <a:rPr lang="en-US" dirty="0" err="1"/>
              <a:t>Prescaler</a:t>
            </a:r>
            <a:r>
              <a:rPr lang="en-US" dirty="0"/>
              <a:t> → Counter → Compare Match</a:t>
            </a:r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endParaRPr lang="en-US" dirty="0"/>
          </a:p>
          <a:p>
            <a:pPr lvl="1"/>
            <a:r>
              <a:rPr lang="en-US" dirty="0"/>
              <a:t>Clock source</a:t>
            </a:r>
            <a:r>
              <a:rPr lang="ru-RU" dirty="0"/>
              <a:t> – </a:t>
            </a:r>
            <a:r>
              <a:rPr lang="en-US" dirty="0" err="1"/>
              <a:t>источник</a:t>
            </a:r>
            <a:r>
              <a:rPr lang="ru-RU" dirty="0"/>
              <a:t> </a:t>
            </a:r>
            <a:r>
              <a:rPr lang="en-US" dirty="0" err="1"/>
              <a:t>такт</a:t>
            </a:r>
            <a:r>
              <a:rPr lang="ru-RU" dirty="0" err="1"/>
              <a:t>овых</a:t>
            </a:r>
            <a:r>
              <a:rPr lang="ru-RU" dirty="0"/>
              <a:t> импульсов</a:t>
            </a:r>
            <a:endParaRPr lang="en-US" dirty="0"/>
          </a:p>
          <a:p>
            <a:pPr lvl="1"/>
            <a:r>
              <a:rPr lang="en-US" dirty="0" err="1"/>
              <a:t>Prescaler</a:t>
            </a:r>
            <a:r>
              <a:rPr lang="ru-RU" dirty="0"/>
              <a:t> – </a:t>
            </a:r>
            <a:r>
              <a:rPr lang="en-US" dirty="0" err="1"/>
              <a:t>делитель</a:t>
            </a:r>
            <a:r>
              <a:rPr lang="ru-RU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Counter</a:t>
            </a:r>
            <a:r>
              <a:rPr lang="ru-RU" dirty="0"/>
              <a:t> – </a:t>
            </a:r>
            <a:r>
              <a:rPr lang="en-US" dirty="0" err="1"/>
              <a:t>аппаратный</a:t>
            </a:r>
            <a:r>
              <a:rPr lang="ru-RU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Compare register</a:t>
            </a:r>
            <a:r>
              <a:rPr lang="ru-RU" dirty="0"/>
              <a:t> – </a:t>
            </a:r>
            <a:r>
              <a:rPr lang="en-US" dirty="0" err="1"/>
              <a:t>значение</a:t>
            </a:r>
            <a:r>
              <a:rPr lang="ru-RU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сравнения</a:t>
            </a:r>
            <a:endParaRPr lang="en-US" dirty="0"/>
          </a:p>
          <a:p>
            <a:r>
              <a:rPr lang="ru-RU" dirty="0"/>
              <a:t>Действия при срабатывания таймера</a:t>
            </a:r>
          </a:p>
          <a:p>
            <a:pPr lvl="1"/>
            <a:r>
              <a:rPr lang="ru-RU" dirty="0"/>
              <a:t>Установка флага</a:t>
            </a:r>
          </a:p>
          <a:p>
            <a:pPr lvl="1"/>
            <a:r>
              <a:rPr lang="ru-RU" dirty="0"/>
              <a:t>Изменение состояние вывода</a:t>
            </a:r>
          </a:p>
          <a:p>
            <a:pPr lvl="1"/>
            <a:r>
              <a:rPr lang="ru-RU" dirty="0"/>
              <a:t>Генерирование прерывания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27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8D07-B83C-C0A1-89F0-A3B60F24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Прерывания</a:t>
            </a:r>
            <a:r>
              <a:rPr lang="en-US" dirty="0"/>
              <a:t> (Interrupts)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A187D-8275-B459-FDB7-551F70A49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Прерывание </a:t>
            </a:r>
            <a:r>
              <a:rPr lang="en-US" dirty="0"/>
              <a:t>—</a:t>
            </a:r>
            <a:r>
              <a:rPr lang="ru-RU" dirty="0"/>
              <a:t> </a:t>
            </a:r>
            <a:r>
              <a:rPr lang="en-US" dirty="0" err="1"/>
              <a:t>аппаратный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асинхронного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ru-RU" dirty="0"/>
              <a:t>прерываний</a:t>
            </a:r>
            <a:endParaRPr lang="en-US" dirty="0"/>
          </a:p>
          <a:p>
            <a:pPr lvl="1"/>
            <a:r>
              <a:rPr lang="en-US" dirty="0" err="1"/>
              <a:t>таймеры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GPIO </a:t>
            </a:r>
          </a:p>
          <a:p>
            <a:pPr lvl="1"/>
            <a:r>
              <a:rPr lang="en-US" dirty="0"/>
              <a:t>UART </a:t>
            </a:r>
          </a:p>
          <a:p>
            <a:pPr lvl="1"/>
            <a:r>
              <a:rPr lang="en-US" dirty="0"/>
              <a:t>ADC </a:t>
            </a:r>
          </a:p>
          <a:p>
            <a:pPr lvl="1"/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ru-RU" dirty="0"/>
              <a:t>прерывания</a:t>
            </a:r>
            <a:endParaRPr lang="en-US" dirty="0"/>
          </a:p>
          <a:p>
            <a:pPr lvl="1"/>
            <a:r>
              <a:rPr lang="en-US" dirty="0"/>
              <a:t>CPU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переходит</a:t>
            </a:r>
            <a:r>
              <a:rPr lang="en-US" dirty="0"/>
              <a:t> к ISR (interrupt service routine) </a:t>
            </a:r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возвращается</a:t>
            </a:r>
            <a:r>
              <a:rPr lang="en-US" dirty="0"/>
              <a:t> к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793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654E-002A-9299-C354-EE6D1C98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vs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62D9-43A7-6C63-F6FB-D466A5364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Polling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while (!(TIFR0 &amp; (1 &lt;&lt; OCF0A)))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CPU </a:t>
            </a:r>
            <a:r>
              <a:rPr lang="ru-RU" dirty="0"/>
              <a:t>постоянно проверяет флаг</a:t>
            </a:r>
            <a:r>
              <a:rPr lang="en-US" dirty="0"/>
              <a:t> </a:t>
            </a:r>
            <a:r>
              <a:rPr lang="ru-RU" dirty="0"/>
              <a:t>события (</a:t>
            </a:r>
            <a:r>
              <a:rPr lang="en-US" dirty="0"/>
              <a:t>TIFR0 Timer 0 Interrupt Flag Register)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#define TIFR0 (*(volatile uint8_t*)0x35) </a:t>
            </a:r>
          </a:p>
          <a:p>
            <a:pPr lvl="1"/>
            <a:r>
              <a:rPr lang="en-US" dirty="0"/>
              <a:t>OCF0A — Output Compare Flag Timer0 A</a:t>
            </a:r>
          </a:p>
          <a:p>
            <a:pPr lvl="1"/>
            <a:r>
              <a:rPr lang="ru-RU" dirty="0"/>
              <a:t>флаг устанавливается таймером при </a:t>
            </a:r>
            <a:r>
              <a:rPr lang="en-US" dirty="0"/>
              <a:t>compare match</a:t>
            </a:r>
          </a:p>
          <a:p>
            <a:r>
              <a:rPr lang="ru-RU" dirty="0"/>
              <a:t>В случае прерываний </a:t>
            </a:r>
            <a:r>
              <a:rPr lang="en-US" dirty="0"/>
              <a:t>CPU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702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020F-545F-68C7-F06C-BA118066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Service Routine (ISR)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9282B-2EFE-482C-E4FB-62B7F99081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Пример</a:t>
            </a:r>
            <a:r>
              <a:rPr lang="en-US" dirty="0"/>
              <a:t> ISR</a:t>
            </a:r>
          </a:p>
          <a:p>
            <a:pPr lvl="1"/>
            <a:r>
              <a:rPr lang="en-US" dirty="0"/>
              <a:t>ISR(TIMER0_COMPA_vect) {</a:t>
            </a:r>
            <a:br>
              <a:rPr lang="en-US" dirty="0"/>
            </a:br>
            <a:r>
              <a:rPr lang="en-US" dirty="0"/>
              <a:t>    PORTB ^= (1 &lt;&lt; PB5);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 err="1"/>
              <a:t>Особенности</a:t>
            </a:r>
            <a:r>
              <a:rPr lang="en-US" dirty="0"/>
              <a:t> ISR</a:t>
            </a:r>
          </a:p>
          <a:p>
            <a:pPr lvl="1"/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асинхронно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короткой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прервать</a:t>
            </a:r>
            <a:r>
              <a:rPr lang="en-US" dirty="0"/>
              <a:t> </a:t>
            </a:r>
            <a:r>
              <a:rPr lang="en-US" dirty="0" err="1"/>
              <a:t>основную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90ADC-C6B9-7251-0DDD-7C407F31A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558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Макрос</a:t>
            </a:r>
            <a:r>
              <a:rPr lang="en-US" b="1" dirty="0"/>
              <a:t> ISR(...)</a:t>
            </a:r>
          </a:p>
          <a:p>
            <a:pPr lvl="1"/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с interrupt vector </a:t>
            </a:r>
          </a:p>
          <a:p>
            <a:pPr lvl="1"/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корректный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специальную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ru-RU" dirty="0"/>
              <a:t>команд </a:t>
            </a:r>
            <a:r>
              <a:rPr lang="en-US" dirty="0" err="1"/>
              <a:t>возврата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3606BD-B60B-B791-9694-61F2735F7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900249"/>
              </p:ext>
            </p:extLst>
          </p:nvPr>
        </p:nvGraphicFramePr>
        <p:xfrm>
          <a:off x="6172200" y="4516437"/>
          <a:ext cx="584835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175">
                  <a:extLst>
                    <a:ext uri="{9D8B030D-6E8A-4147-A177-3AD203B41FA5}">
                      <a16:colId xmlns:a16="http://schemas.microsoft.com/office/drawing/2014/main" val="234980313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612482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Обычная функция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87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Вызывается программой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Вызывается аппаратурой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25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Interrupt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57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reti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4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Обычный поток выполнения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Асинхронное выполнение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876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700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0FDA-E8F7-38C0-07D2-22901E64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 и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07CA-BE7E-8652-9652-8F10DADD5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Проблема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while (!flag)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en-US" dirty="0" err="1"/>
              <a:t>Если</a:t>
            </a:r>
            <a:r>
              <a:rPr lang="en-US" dirty="0"/>
              <a:t> flag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ISR: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volatile uint8_t flag;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volatile</a:t>
            </a:r>
          </a:p>
          <a:p>
            <a:pPr lvl="1"/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 </a:t>
            </a:r>
            <a:r>
              <a:rPr lang="en-US" dirty="0" err="1"/>
              <a:t>аппаратно</a:t>
            </a:r>
            <a:r>
              <a:rPr lang="en-US" dirty="0"/>
              <a:t> </a:t>
            </a:r>
            <a:r>
              <a:rPr lang="ru-RU" dirty="0"/>
              <a:t>или внутри прерывания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88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8EA4-2F14-E6AA-5F99-B55514BB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9382-CF0F-9E53-292F-142D97F04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12476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ru-RU" dirty="0"/>
              <a:t>прерывания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, </a:t>
            </a:r>
            <a:r>
              <a:rPr lang="en-US" dirty="0" err="1"/>
              <a:t>соответствующему</a:t>
            </a:r>
            <a:r>
              <a:rPr lang="en-US" dirty="0"/>
              <a:t>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  <a:endParaRPr lang="ru-RU" dirty="0"/>
          </a:p>
          <a:p>
            <a:r>
              <a:rPr lang="ru-RU" b="1" dirty="0"/>
              <a:t>Вектор прерываний</a:t>
            </a:r>
            <a:r>
              <a:rPr lang="ru-RU" dirty="0"/>
              <a:t> (</a:t>
            </a:r>
            <a:r>
              <a:rPr lang="en-US" dirty="0"/>
              <a:t>Interrupt vector</a:t>
            </a:r>
            <a:r>
              <a:rPr lang="ru-RU" dirty="0"/>
              <a:t>)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interrupt-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r>
              <a:rPr lang="ru-RU" dirty="0"/>
              <a:t>Связывание </a:t>
            </a:r>
            <a:r>
              <a:rPr lang="en-US" dirty="0"/>
              <a:t>ISR</a:t>
            </a:r>
            <a:r>
              <a:rPr lang="ru-RU" dirty="0"/>
              <a:t> с вектором прерываний</a:t>
            </a:r>
          </a:p>
          <a:p>
            <a:pPr lvl="1"/>
            <a:r>
              <a:rPr lang="en-US" dirty="0"/>
              <a:t>ISR(TIMER1_COMPA_vect) {</a:t>
            </a:r>
            <a:br>
              <a:rPr lang="en-US" dirty="0"/>
            </a:br>
            <a:r>
              <a:rPr lang="en-US" dirty="0"/>
              <a:t>//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753D820-53E1-DD58-FBB8-DDFA4E1A96F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4543648"/>
              </p:ext>
            </p:extLst>
          </p:nvPr>
        </p:nvGraphicFramePr>
        <p:xfrm>
          <a:off x="6583680" y="1825625"/>
          <a:ext cx="54032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702">
                  <a:extLst>
                    <a:ext uri="{9D8B030D-6E8A-4147-A177-3AD203B41FA5}">
                      <a16:colId xmlns:a16="http://schemas.microsoft.com/office/drawing/2014/main" val="1035490236"/>
                    </a:ext>
                  </a:extLst>
                </a:gridCol>
                <a:gridCol w="2593570">
                  <a:extLst>
                    <a:ext uri="{9D8B030D-6E8A-4147-A177-3AD203B41FA5}">
                      <a16:colId xmlns:a16="http://schemas.microsoft.com/office/drawing/2014/main" val="2106244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Пример </a:t>
                      </a:r>
                      <a:r>
                        <a:rPr lang="en-US" dirty="0"/>
                        <a:t>С</a:t>
                      </a:r>
                      <a:r>
                        <a:rPr lang="ru-RU" dirty="0" err="1"/>
                        <a:t>обытия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Vector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52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Timer1 Compare Match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TIMER1_COMPA_vect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23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Timer1 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TIMER1_OVF_vect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4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UART Receive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USART_RX_vect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50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External Interrupt INT0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INT0_vect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23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581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F968-744B-3F17-06D5-238DDE84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Пример</a:t>
            </a:r>
            <a:r>
              <a:rPr lang="en-US" dirty="0"/>
              <a:t>: </a:t>
            </a:r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таймеру</a:t>
            </a:r>
            <a:r>
              <a:rPr lang="ru-RU" dirty="0"/>
              <a:t> (начало)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A1E51-E10F-673B-DDF8-6DEFC1E5D84B}"/>
              </a:ext>
            </a:extLst>
          </p:cNvPr>
          <p:cNvSpPr txBox="1"/>
          <p:nvPr/>
        </p:nvSpPr>
        <p:spPr>
          <a:xfrm>
            <a:off x="0" y="1529542"/>
            <a:ext cx="11353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avr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avr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interrupt.h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avr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sleep.h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TIMER1_COMPA_vect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Обработчик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вызывается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при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совпадении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TCNT1 с OCR1A.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PORTB ^=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PB5);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cli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временно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запрещаем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прерывани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Настраиваем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PB5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выход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Arduino Uno/Nano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LED_BUILTIN.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DDRB |=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PB5);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Сбрасываем регистр управления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Timer 1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TCCR1A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Режим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CTC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Clear Timer on Compare Match):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таймер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сбрасывается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совпадении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 OCR1A.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TCCR1B =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WGM12);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TCNT1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95804-E104-9698-66AB-1452617A4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62596"/>
            <a:ext cx="6029055" cy="973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F7F156-8A71-BC73-0E1D-994F185FD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473" y="3009885"/>
            <a:ext cx="6029055" cy="956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EAB650-B079-CED9-ED85-855E2A896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5375587"/>
            <a:ext cx="6096000" cy="148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41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43C1-1686-B5EA-4A75-842FA3B5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en-US" dirty="0" err="1"/>
              <a:t>рерывание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таймеру</a:t>
            </a:r>
            <a:r>
              <a:rPr lang="ru-RU" dirty="0"/>
              <a:t> (окончание)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4EBE9-5C21-918A-71CE-7309CC3D9FF6}"/>
              </a:ext>
            </a:extLst>
          </p:cNvPr>
          <p:cNvSpPr txBox="1"/>
          <p:nvPr/>
        </p:nvSpPr>
        <p:spPr>
          <a:xfrm>
            <a:off x="838200" y="1779687"/>
            <a:ext cx="10896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Значение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с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которым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сравнивается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счётчик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таймера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F_CPU = 16 MHz и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prescaler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1024: 16000000 / 1024 = 15625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тиков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/с.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OCR1A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15625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счётчик принимает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значени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в диапазоне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[0; 15624]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Разрешаем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прерывание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Timer1 Compare Match A.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TIMSK1 |=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OCIE1A);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Запускаем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Timer1 с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делителем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частоты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1024.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CS12 = 1 и CS10 = 1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задают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prescaler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1024.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TCCR1B |=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CS12) |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CS10);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Глобально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разрешаем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обработку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прерываний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sleep_mode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EA1F6C-1E2F-8F35-CCE1-8A4DC097D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38385"/>
            <a:ext cx="6096000" cy="101961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0E869D6-C448-C69A-8EB0-1280A9F97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59148"/>
              </p:ext>
            </p:extLst>
          </p:nvPr>
        </p:nvGraphicFramePr>
        <p:xfrm>
          <a:off x="7581900" y="2929324"/>
          <a:ext cx="461010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587">
                  <a:extLst>
                    <a:ext uri="{9D8B030D-6E8A-4147-A177-3AD203B41FA5}">
                      <a16:colId xmlns:a16="http://schemas.microsoft.com/office/drawing/2014/main" val="3088486684"/>
                    </a:ext>
                  </a:extLst>
                </a:gridCol>
                <a:gridCol w="825154">
                  <a:extLst>
                    <a:ext uri="{9D8B030D-6E8A-4147-A177-3AD203B41FA5}">
                      <a16:colId xmlns:a16="http://schemas.microsoft.com/office/drawing/2014/main" val="1987897287"/>
                    </a:ext>
                  </a:extLst>
                </a:gridCol>
                <a:gridCol w="807216">
                  <a:extLst>
                    <a:ext uri="{9D8B030D-6E8A-4147-A177-3AD203B41FA5}">
                      <a16:colId xmlns:a16="http://schemas.microsoft.com/office/drawing/2014/main" val="1193213743"/>
                    </a:ext>
                  </a:extLst>
                </a:gridCol>
                <a:gridCol w="2278145">
                  <a:extLst>
                    <a:ext uri="{9D8B030D-6E8A-4147-A177-3AD203B41FA5}">
                      <a16:colId xmlns:a16="http://schemas.microsoft.com/office/drawing/2014/main" val="2209717981"/>
                    </a:ext>
                  </a:extLst>
                </a:gridCol>
              </a:tblGrid>
              <a:tr h="261674">
                <a:tc>
                  <a:txBody>
                    <a:bodyPr/>
                    <a:lstStyle/>
                    <a:p>
                      <a:r>
                        <a:rPr lang="en-US" sz="1400" dirty="0"/>
                        <a:t>CS12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Частота тиков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1093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Таймер остановлен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9262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clc</a:t>
                      </a:r>
                      <a:r>
                        <a:rPr lang="en-US" sz="1400" dirty="0"/>
                        <a:t>/1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94514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clc</a:t>
                      </a:r>
                      <a:r>
                        <a:rPr lang="en-US" sz="1400" dirty="0"/>
                        <a:t>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076683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clc</a:t>
                      </a:r>
                      <a:r>
                        <a:rPr lang="en-US" sz="1400" dirty="0"/>
                        <a:t>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53847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clc</a:t>
                      </a:r>
                      <a:r>
                        <a:rPr lang="en-US" sz="1400" dirty="0"/>
                        <a:t>/256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825533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clc</a:t>
                      </a:r>
                      <a:r>
                        <a:rPr lang="en-US" sz="1400" dirty="0"/>
                        <a:t>/1024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229128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T1 pin falling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114866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T1 pin rising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86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83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374D-E8EE-F5B0-9692-4FC9774F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 же программа в </a:t>
            </a:r>
            <a:r>
              <a:rPr lang="en-US" dirty="0"/>
              <a:t>Arduino 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42D50-FF4F-6266-5F43-EC654D1DD152}"/>
              </a:ext>
            </a:extLst>
          </p:cNvPr>
          <p:cNvSpPr txBox="1"/>
          <p:nvPr/>
        </p:nvSpPr>
        <p:spPr>
          <a:xfrm>
            <a:off x="838201" y="1690687"/>
            <a:ext cx="52578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728E0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avr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sleep.h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ISR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TIMER1_COMPA_vect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PORTB ^=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&lt;&lt; PB5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cli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DDRB |=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&lt;&lt; PB5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TCCR1A = 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TCNT1 = 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TCCR1B =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&lt;&lt; WGM12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OCR1A = 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15624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TCCR1B |=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&lt;&lt; CS12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&lt;&lt; CS10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TIMSK1 |=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&lt;&lt; OCIE1A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sei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D35400"/>
                </a:solidFill>
                <a:effectLst/>
                <a:latin typeface="Consolas" panose="020B0609020204030204" pitchFamily="49" charset="0"/>
              </a:rPr>
              <a:t>sleep_mode</a:t>
            </a: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4E5B6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4E5B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204E4-92E6-D6EC-FE93-D69E2F590722}"/>
              </a:ext>
            </a:extLst>
          </p:cNvPr>
          <p:cNvSpPr txBox="1"/>
          <p:nvPr/>
        </p:nvSpPr>
        <p:spPr>
          <a:xfrm>
            <a:off x="6096001" y="2779061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Arduino IDE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генерирует следующий код:</a:t>
            </a: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init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4401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47FD6B-EB4F-0E6D-8D82-F7075944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Заглянем внутрь полученного образа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DE217-95AB-BF2D-D6EA-A346A1BE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avr-objdump</a:t>
            </a:r>
            <a:r>
              <a:rPr lang="en-US" dirty="0"/>
              <a:t> –S light-</a:t>
            </a:r>
            <a:r>
              <a:rPr lang="en-US" dirty="0" err="1"/>
              <a:t>flicker.ino.elf</a:t>
            </a:r>
            <a:r>
              <a:rPr lang="en-US" dirty="0"/>
              <a:t> &gt; light-flicker.ino.asm</a:t>
            </a:r>
          </a:p>
        </p:txBody>
      </p:sp>
    </p:spTree>
    <p:extLst>
      <p:ext uri="{BB962C8B-B14F-4D97-AF65-F5344CB8AC3E}">
        <p14:creationId xmlns:p14="http://schemas.microsoft.com/office/powerpoint/2010/main" val="16599349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26FD-1C93-1020-B1D1-919B2D96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 прерываний программы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942D0-FA0B-B27E-D79B-BAA567804C51}"/>
              </a:ext>
            </a:extLst>
          </p:cNvPr>
          <p:cNvSpPr txBox="1"/>
          <p:nvPr/>
        </p:nvSpPr>
        <p:spPr>
          <a:xfrm>
            <a:off x="838200" y="1524000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00000000 &lt;__vectors&gt;: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0:	0c 94 34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0x68	; 0x68 &lt;__</a:t>
            </a:r>
            <a:r>
              <a:rPr lang="en-US" sz="1200" dirty="0" err="1">
                <a:latin typeface="Consolas" panose="020B0609020204030204" pitchFamily="49" charset="0"/>
              </a:rPr>
              <a:t>ctors_end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8: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c: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10: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14: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18: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1c: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20: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24: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28: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2c:	0c 94 92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0x124	; 0x124 &lt;__vector_11&gt;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30: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34: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38: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3c: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40:	0c 94 48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0x90	; 0x90 &lt;__vector_16&gt;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44: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48: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4c: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50: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54: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58: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5c: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60: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64:	0c 94 46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0x8c	; 0x8c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60159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4397-98AD-8F7C-B3E1-5E93B6CD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C4847-8DBA-88C6-51FC-083ED19C2C49}"/>
              </a:ext>
            </a:extLst>
          </p:cNvPr>
          <p:cNvSpPr txBox="1"/>
          <p:nvPr/>
        </p:nvSpPr>
        <p:spPr>
          <a:xfrm>
            <a:off x="828502" y="1690688"/>
            <a:ext cx="10515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00000068 &lt;__</a:t>
            </a:r>
            <a:r>
              <a:rPr lang="en-US" sz="1200" dirty="0" err="1">
                <a:latin typeface="Consolas" panose="020B0609020204030204" pitchFamily="49" charset="0"/>
              </a:rPr>
              <a:t>ctors_end</a:t>
            </a:r>
            <a:r>
              <a:rPr lang="en-US" sz="1200" dirty="0">
                <a:latin typeface="Consolas" panose="020B0609020204030204" pitchFamily="49" charset="0"/>
              </a:rPr>
              <a:t>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68:	11 24       	</a:t>
            </a:r>
            <a:r>
              <a:rPr lang="en-US" sz="1200" dirty="0" err="1">
                <a:latin typeface="Consolas" panose="020B0609020204030204" pitchFamily="49" charset="0"/>
              </a:rPr>
              <a:t>eor</a:t>
            </a:r>
            <a:r>
              <a:rPr lang="en-US" sz="1200" dirty="0">
                <a:latin typeface="Consolas" panose="020B0609020204030204" pitchFamily="49" charset="0"/>
              </a:rPr>
              <a:t>	r1, r1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6a:	1f be       	out	0x3f, r1	; 63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6c:	</a:t>
            </a:r>
            <a:r>
              <a:rPr lang="en-US" sz="1200" dirty="0" err="1">
                <a:latin typeface="Consolas" panose="020B0609020204030204" pitchFamily="49" charset="0"/>
              </a:rPr>
              <a:t>cf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ef</a:t>
            </a:r>
            <a:r>
              <a:rPr lang="en-US" sz="1200" dirty="0">
                <a:latin typeface="Consolas" panose="020B0609020204030204" pitchFamily="49" charset="0"/>
              </a:rPr>
              <a:t>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r28, 0xFF	; 255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6e:	d8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r29, 0x08	; 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70:	de bf       	out	0x3e, r29	; 62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72:	cd bf       	out	0x3d, r28	; 61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00000074 &lt;__</a:t>
            </a:r>
            <a:r>
              <a:rPr lang="en-US" sz="1200" dirty="0" err="1">
                <a:latin typeface="Consolas" panose="020B0609020204030204" pitchFamily="49" charset="0"/>
              </a:rPr>
              <a:t>do_clear_bss</a:t>
            </a:r>
            <a:r>
              <a:rPr lang="en-US" sz="1200" dirty="0">
                <a:latin typeface="Consolas" panose="020B0609020204030204" pitchFamily="49" charset="0"/>
              </a:rPr>
              <a:t>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74:	21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r18, 0x01	; 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76:	a0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r26, 0x00	; 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78:	b1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r27, 0x01	; 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7a:	01 c0       	</a:t>
            </a:r>
            <a:r>
              <a:rPr lang="en-US" sz="1200" dirty="0" err="1">
                <a:latin typeface="Consolas" panose="020B0609020204030204" pitchFamily="49" charset="0"/>
              </a:rPr>
              <a:t>rjmp</a:t>
            </a:r>
            <a:r>
              <a:rPr lang="en-US" sz="1200" dirty="0">
                <a:latin typeface="Consolas" panose="020B0609020204030204" pitchFamily="49" charset="0"/>
              </a:rPr>
              <a:t>	.+2      	; 0x7e &lt;.</a:t>
            </a:r>
            <a:r>
              <a:rPr lang="en-US" sz="1200" dirty="0" err="1">
                <a:latin typeface="Consolas" panose="020B0609020204030204" pitchFamily="49" charset="0"/>
              </a:rPr>
              <a:t>do_clear_bss_start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0000007c &lt;.</a:t>
            </a:r>
            <a:r>
              <a:rPr lang="en-US" sz="1200" dirty="0" err="1">
                <a:latin typeface="Consolas" panose="020B0609020204030204" pitchFamily="49" charset="0"/>
              </a:rPr>
              <a:t>do_clear_bss_loop</a:t>
            </a:r>
            <a:r>
              <a:rPr lang="en-US" sz="1200" dirty="0">
                <a:latin typeface="Consolas" panose="020B0609020204030204" pitchFamily="49" charset="0"/>
              </a:rPr>
              <a:t>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7c:	1d 92       	st	X+, r1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0000007e &lt;.</a:t>
            </a:r>
            <a:r>
              <a:rPr lang="en-US" sz="1200" dirty="0" err="1">
                <a:latin typeface="Consolas" panose="020B0609020204030204" pitchFamily="49" charset="0"/>
              </a:rPr>
              <a:t>do_clear_bss_start</a:t>
            </a:r>
            <a:r>
              <a:rPr lang="en-US" sz="1200" dirty="0">
                <a:latin typeface="Consolas" panose="020B0609020204030204" pitchFamily="49" charset="0"/>
              </a:rPr>
              <a:t>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7e:	a9 30       	cpi	r26, 0x09	; 9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80:	b2 07       	</a:t>
            </a:r>
            <a:r>
              <a:rPr lang="en-US" sz="1200" dirty="0" err="1">
                <a:latin typeface="Consolas" panose="020B0609020204030204" pitchFamily="49" charset="0"/>
              </a:rPr>
              <a:t>cpc</a:t>
            </a:r>
            <a:r>
              <a:rPr lang="en-US" sz="1200" dirty="0">
                <a:latin typeface="Consolas" panose="020B0609020204030204" pitchFamily="49" charset="0"/>
              </a:rPr>
              <a:t>	r27, r18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82:	e1 f7       	</a:t>
            </a:r>
            <a:r>
              <a:rPr lang="en-US" sz="1200" dirty="0" err="1">
                <a:latin typeface="Consolas" panose="020B0609020204030204" pitchFamily="49" charset="0"/>
              </a:rPr>
              <a:t>brne</a:t>
            </a:r>
            <a:r>
              <a:rPr lang="en-US" sz="1200" dirty="0">
                <a:latin typeface="Consolas" panose="020B0609020204030204" pitchFamily="49" charset="0"/>
              </a:rPr>
              <a:t>	.-8      	; 0x7c &lt;.</a:t>
            </a:r>
            <a:r>
              <a:rPr lang="en-US" sz="1200" dirty="0" err="1">
                <a:latin typeface="Consolas" panose="020B0609020204030204" pitchFamily="49" charset="0"/>
              </a:rPr>
              <a:t>do_clear_bss_loop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84:	0e 94 a4 00 	call	0x148	; 0x148 &lt;main&gt;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88:	0c 94 17 01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0x22e	; 0x22e &lt;_exit&gt;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0000008c &lt;__</a:t>
            </a:r>
            <a:r>
              <a:rPr lang="en-US" sz="1200" dirty="0" err="1">
                <a:latin typeface="Consolas" panose="020B0609020204030204" pitchFamily="49" charset="0"/>
              </a:rPr>
              <a:t>bad_interrupt</a:t>
            </a:r>
            <a:r>
              <a:rPr lang="en-US" sz="1200" dirty="0">
                <a:latin typeface="Consolas" panose="020B0609020204030204" pitchFamily="49" charset="0"/>
              </a:rPr>
              <a:t>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8c:	0c 94 00 00 	</a:t>
            </a:r>
            <a:r>
              <a:rPr lang="en-US" sz="1200" dirty="0" err="1">
                <a:latin typeface="Consolas" panose="020B0609020204030204" pitchFamily="49" charset="0"/>
              </a:rPr>
              <a:t>jmp</a:t>
            </a:r>
            <a:r>
              <a:rPr lang="en-US" sz="1200" dirty="0">
                <a:latin typeface="Consolas" panose="020B0609020204030204" pitchFamily="49" charset="0"/>
              </a:rPr>
              <a:t>	0	; 0x0 &lt;__vectors&gt;</a:t>
            </a:r>
          </a:p>
        </p:txBody>
      </p:sp>
    </p:spTree>
    <p:extLst>
      <p:ext uri="{BB962C8B-B14F-4D97-AF65-F5344CB8AC3E}">
        <p14:creationId xmlns:p14="http://schemas.microsoft.com/office/powerpoint/2010/main" val="1005555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694C-5210-84BD-E027-E1667BFF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 прерывания таймера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1DFE5-CD5E-4C28-E3B0-43B1DB1FDEB3}"/>
              </a:ext>
            </a:extLst>
          </p:cNvPr>
          <p:cNvSpPr txBox="1"/>
          <p:nvPr/>
        </p:nvSpPr>
        <p:spPr>
          <a:xfrm>
            <a:off x="838199" y="1690688"/>
            <a:ext cx="1051559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ISR(TIMER1_COMPA_vect) {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124:	1f 92       	push	r1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126:	0f 92       	push	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128:	0f b6       	in	r0, 0x3f	; 63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12a:	0f 92       	push	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12c:	11 24       	</a:t>
            </a:r>
            <a:r>
              <a:rPr lang="en-US" sz="1400" dirty="0" err="1">
                <a:latin typeface="Consolas" panose="020B0609020204030204" pitchFamily="49" charset="0"/>
              </a:rPr>
              <a:t>eor</a:t>
            </a:r>
            <a:r>
              <a:rPr lang="en-US" sz="1400" dirty="0">
                <a:latin typeface="Consolas" panose="020B0609020204030204" pitchFamily="49" charset="0"/>
              </a:rPr>
              <a:t>	r1, r1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12e:	8f 93       	push	r24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130:	9f 93       	push	r25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// </a:t>
            </a:r>
            <a:r>
              <a:rPr lang="en-US" sz="1400" dirty="0" err="1">
                <a:latin typeface="Consolas" panose="020B0609020204030204" pitchFamily="49" charset="0"/>
              </a:rPr>
              <a:t>Обработчик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вызывается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при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совпадении</a:t>
            </a:r>
            <a:r>
              <a:rPr lang="en-US" sz="1400" dirty="0">
                <a:latin typeface="Consolas" panose="020B0609020204030204" pitchFamily="49" charset="0"/>
              </a:rPr>
              <a:t> TCNT1 с OCR1A.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// </a:t>
            </a:r>
            <a:r>
              <a:rPr lang="en-US" sz="1400" dirty="0" err="1">
                <a:latin typeface="Consolas" panose="020B0609020204030204" pitchFamily="49" charset="0"/>
              </a:rPr>
              <a:t>Переключаем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состояние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вывода</a:t>
            </a:r>
            <a:r>
              <a:rPr lang="en-US" sz="1400" dirty="0">
                <a:latin typeface="Consolas" panose="020B0609020204030204" pitchFamily="49" charset="0"/>
              </a:rPr>
              <a:t> PB5.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PORTB ^= (1 &lt;&lt; PB5);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132:	85 b1       	in	r24, 0x05	; 5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134:	90 e2       	</a:t>
            </a:r>
            <a:r>
              <a:rPr lang="en-US" sz="1400" dirty="0" err="1">
                <a:latin typeface="Consolas" panose="020B0609020204030204" pitchFamily="49" charset="0"/>
              </a:rPr>
              <a:t>ldi</a:t>
            </a:r>
            <a:r>
              <a:rPr lang="en-US" sz="1400" dirty="0">
                <a:latin typeface="Consolas" panose="020B0609020204030204" pitchFamily="49" charset="0"/>
              </a:rPr>
              <a:t>	r25, 0x20	; 32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136:	89 27       	</a:t>
            </a:r>
            <a:r>
              <a:rPr lang="en-US" sz="1400" dirty="0" err="1">
                <a:latin typeface="Consolas" panose="020B0609020204030204" pitchFamily="49" charset="0"/>
              </a:rPr>
              <a:t>eor</a:t>
            </a:r>
            <a:r>
              <a:rPr lang="en-US" sz="1400" dirty="0">
                <a:latin typeface="Consolas" panose="020B0609020204030204" pitchFamily="49" charset="0"/>
              </a:rPr>
              <a:t>	r24, r25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138:	85 b9       	out	0x05, r24	; 5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13a:	9f 91       	pop	r25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13c:	8f 91       	pop	r24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13e:	0f 90       	pop	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140:	0f be       	out	0x3f, r0	; 63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142:	0f 90       	pop	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144:	1f 90       	pop	r1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146:	18 95       	</a:t>
            </a:r>
            <a:r>
              <a:rPr lang="en-US" sz="1400" dirty="0" err="1">
                <a:latin typeface="Consolas" panose="020B0609020204030204" pitchFamily="49" charset="0"/>
              </a:rPr>
              <a:t>reti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47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1860-692E-CDD7-4387-0C93DDE5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функции </a:t>
            </a:r>
            <a:r>
              <a:rPr lang="en-US" dirty="0"/>
              <a:t>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F9C9B-8D35-6BAC-B674-B59D9B308CFC}"/>
              </a:ext>
            </a:extLst>
          </p:cNvPr>
          <p:cNvSpPr txBox="1"/>
          <p:nvPr/>
        </p:nvSpPr>
        <p:spPr>
          <a:xfrm>
            <a:off x="838200" y="1690689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void setup()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cli();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1ce:	f8 94       	cli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DDRB |= (1 &lt;&lt; PB5);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1d0:	25 9a       	</a:t>
            </a:r>
            <a:r>
              <a:rPr lang="en-US" sz="1200" dirty="0" err="1">
                <a:latin typeface="Consolas" panose="020B0609020204030204" pitchFamily="49" charset="0"/>
              </a:rPr>
              <a:t>sbi</a:t>
            </a:r>
            <a:r>
              <a:rPr lang="en-US" sz="1200" dirty="0">
                <a:latin typeface="Consolas" panose="020B0609020204030204" pitchFamily="49" charset="0"/>
              </a:rPr>
              <a:t>	0x04, 5	; 4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TCCR1A = 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1d2:	10 92 80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0x0080, r1	; 0x800080 &lt;__DATA_REGION_ORIGIN__+0x20&gt;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TCNT1 = 0;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1d6:	10 92 85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0x0085, r1	; 0x800085 &lt;__DATA_REGION_ORIGIN__+0x25&gt;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1da:	10 92 84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0x0084, r1	; 0x800084 &lt;__DATA_REGION_ORIGIN__+0x24&gt;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TCCR1B = (1 &lt;&lt; WGM12);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1de:	88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r24, 0x08	; 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1e0:	80 93 81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0x0081, r24	; 0x800081 &lt;__DATA_REGION_ORIGIN__+0x21&gt;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OCR1A = 15624;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1e4:	88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r24, 0x08	; 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1e6:	9d e3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r25, 0x3D	; 61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1e8:	90 93 89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0x0089, r25	; 0x800089 &lt;__DATA_REGION_ORIGIN__+0x29&gt;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1ec:	80 93 88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0x0088, r24	; 0x800088 &lt;__DATA_REGION_ORIGIN__+0x28&gt;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TCCR1B |= (1 &lt;&lt; CS12) | (1 &lt;&lt; CS10);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1f0:	80 91 81 00 	</a:t>
            </a:r>
            <a:r>
              <a:rPr lang="en-US" sz="1200" dirty="0" err="1">
                <a:latin typeface="Consolas" panose="020B0609020204030204" pitchFamily="49" charset="0"/>
              </a:rPr>
              <a:t>lds</a:t>
            </a:r>
            <a:r>
              <a:rPr lang="en-US" sz="1200" dirty="0">
                <a:latin typeface="Consolas" panose="020B0609020204030204" pitchFamily="49" charset="0"/>
              </a:rPr>
              <a:t>	r24, 0x0081	; 0x800081 &lt;__DATA_REGION_ORIGIN__+0x21&gt;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1f4:	85 60       	</a:t>
            </a:r>
            <a:r>
              <a:rPr lang="en-US" sz="1200" dirty="0" err="1">
                <a:latin typeface="Consolas" panose="020B0609020204030204" pitchFamily="49" charset="0"/>
              </a:rPr>
              <a:t>ori</a:t>
            </a:r>
            <a:r>
              <a:rPr lang="en-US" sz="1200" dirty="0">
                <a:latin typeface="Consolas" panose="020B0609020204030204" pitchFamily="49" charset="0"/>
              </a:rPr>
              <a:t>	r24, 0x05	; 5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1f6:	80 93 81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0x0081, r24	; 0x800081 &lt;__DATA_REGION_ORIGIN__+0x21&gt;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TIMSK1 |= (1 &lt;&lt; OCIE1A);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1fa:	80 91 6f 00 	</a:t>
            </a:r>
            <a:r>
              <a:rPr lang="en-US" sz="1200" dirty="0" err="1">
                <a:latin typeface="Consolas" panose="020B0609020204030204" pitchFamily="49" charset="0"/>
              </a:rPr>
              <a:t>lds</a:t>
            </a:r>
            <a:r>
              <a:rPr lang="en-US" sz="1200" dirty="0">
                <a:latin typeface="Consolas" panose="020B0609020204030204" pitchFamily="49" charset="0"/>
              </a:rPr>
              <a:t>	r24, 0x006F	; 0x80006f &lt;__DATA_REGION_ORIGIN__+0xf&gt;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1fe:	82 60       	</a:t>
            </a:r>
            <a:r>
              <a:rPr lang="en-US" sz="1200" dirty="0" err="1">
                <a:latin typeface="Consolas" panose="020B0609020204030204" pitchFamily="49" charset="0"/>
              </a:rPr>
              <a:t>ori</a:t>
            </a:r>
            <a:r>
              <a:rPr lang="en-US" sz="1200" dirty="0">
                <a:latin typeface="Consolas" panose="020B0609020204030204" pitchFamily="49" charset="0"/>
              </a:rPr>
              <a:t>	r24, 0x02	; 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200:	80 93 6f 00 	</a:t>
            </a:r>
            <a:r>
              <a:rPr lang="en-US" sz="1200" dirty="0" err="1">
                <a:latin typeface="Consolas" panose="020B0609020204030204" pitchFamily="49" charset="0"/>
              </a:rPr>
              <a:t>sts</a:t>
            </a:r>
            <a:r>
              <a:rPr lang="en-US" sz="1200" dirty="0">
                <a:latin typeface="Consolas" panose="020B0609020204030204" pitchFamily="49" charset="0"/>
              </a:rPr>
              <a:t>	0x006F, r24	; 0x80006f &lt;__DATA_REGION_ORIGIN__+0xf&gt;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sei();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204:	78 94       	sei</a:t>
            </a:r>
          </a:p>
        </p:txBody>
      </p:sp>
    </p:spTree>
    <p:extLst>
      <p:ext uri="{BB962C8B-B14F-4D97-AF65-F5344CB8AC3E}">
        <p14:creationId xmlns:p14="http://schemas.microsoft.com/office/powerpoint/2010/main" val="3553098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64E2F-B765-0B67-0C79-60258B8F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Главный цикл программы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A4DFB-3DF9-8D47-AC4B-2E05AE87DB7E}"/>
              </a:ext>
            </a:extLst>
          </p:cNvPr>
          <p:cNvSpPr txBox="1"/>
          <p:nvPr/>
        </p:nvSpPr>
        <p:spPr>
          <a:xfrm>
            <a:off x="838200" y="1690688"/>
            <a:ext cx="10515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	for (;;)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	loop();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	if (</a:t>
            </a:r>
            <a:r>
              <a:rPr lang="en-US" sz="1200" dirty="0" err="1">
                <a:latin typeface="Consolas" panose="020B0609020204030204" pitchFamily="49" charset="0"/>
              </a:rPr>
              <a:t>serialEventRun</a:t>
            </a:r>
            <a:r>
              <a:rPr lang="en-US" sz="1200" dirty="0">
                <a:latin typeface="Consolas" panose="020B0609020204030204" pitchFamily="49" charset="0"/>
              </a:rPr>
              <a:t>) </a:t>
            </a:r>
            <a:r>
              <a:rPr lang="en-US" sz="1200" dirty="0" err="1">
                <a:latin typeface="Consolas" panose="020B0609020204030204" pitchFamily="49" charset="0"/>
              </a:rPr>
              <a:t>serialEventRun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206:	c0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r28, 0x00	; 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208:	d0 e0       	</a:t>
            </a:r>
            <a:r>
              <a:rPr lang="en-US" sz="1200" dirty="0" err="1">
                <a:latin typeface="Consolas" panose="020B0609020204030204" pitchFamily="49" charset="0"/>
              </a:rPr>
              <a:t>ldi</a:t>
            </a:r>
            <a:r>
              <a:rPr lang="en-US" sz="1200" dirty="0">
                <a:latin typeface="Consolas" panose="020B0609020204030204" pitchFamily="49" charset="0"/>
              </a:rPr>
              <a:t>	r29, 0x00	; 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void loop()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// put your main code here, to run repeatedly: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</a:rPr>
              <a:t>sleep_mode</a:t>
            </a:r>
            <a:r>
              <a:rPr lang="en-US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20a:	83 b7       	in	r24, 0x33	; 51</a:t>
            </a:r>
            <a:r>
              <a:rPr lang="ru-RU" sz="1200" dirty="0">
                <a:latin typeface="Consolas" panose="020B0609020204030204" pitchFamily="49" charset="0"/>
              </a:rPr>
              <a:t> Обращение к </a:t>
            </a:r>
            <a:r>
              <a:rPr lang="en-US" sz="1200" dirty="0"/>
              <a:t>Sleep Mode Control Register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20c:	81 60       	</a:t>
            </a:r>
            <a:r>
              <a:rPr lang="en-US" sz="1200" dirty="0" err="1">
                <a:latin typeface="Consolas" panose="020B0609020204030204" pitchFamily="49" charset="0"/>
              </a:rPr>
              <a:t>ori</a:t>
            </a:r>
            <a:r>
              <a:rPr lang="en-US" sz="1200" dirty="0">
                <a:latin typeface="Consolas" panose="020B0609020204030204" pitchFamily="49" charset="0"/>
              </a:rPr>
              <a:t>	r24, 0x01	; 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20e:	83 bf       	out	0x33, r24	; 51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210:	88 95       	sleep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212:	83 b7       	in	r24, 0x33	; 51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214:	8e 7f       	</a:t>
            </a:r>
            <a:r>
              <a:rPr lang="en-US" sz="1200" dirty="0" err="1">
                <a:latin typeface="Consolas" panose="020B0609020204030204" pitchFamily="49" charset="0"/>
              </a:rPr>
              <a:t>andi</a:t>
            </a:r>
            <a:r>
              <a:rPr lang="en-US" sz="1200" dirty="0">
                <a:latin typeface="Consolas" panose="020B0609020204030204" pitchFamily="49" charset="0"/>
              </a:rPr>
              <a:t>	r24, 0xFE	; 254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216:	83 bf       	out	0x33, r24	; 51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218:	20 97       	</a:t>
            </a:r>
            <a:r>
              <a:rPr lang="en-US" sz="1200" dirty="0" err="1">
                <a:latin typeface="Consolas" panose="020B0609020204030204" pitchFamily="49" charset="0"/>
              </a:rPr>
              <a:t>sbiw</a:t>
            </a:r>
            <a:r>
              <a:rPr lang="en-US" sz="1200" dirty="0">
                <a:latin typeface="Consolas" panose="020B0609020204030204" pitchFamily="49" charset="0"/>
              </a:rPr>
              <a:t>	r28, 0x00	; 0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21a:	b9 f3       	</a:t>
            </a:r>
            <a:r>
              <a:rPr lang="en-US" sz="1200" dirty="0" err="1">
                <a:latin typeface="Consolas" panose="020B0609020204030204" pitchFamily="49" charset="0"/>
              </a:rPr>
              <a:t>breq</a:t>
            </a:r>
            <a:r>
              <a:rPr lang="en-US" sz="1200" dirty="0">
                <a:latin typeface="Consolas" panose="020B0609020204030204" pitchFamily="49" charset="0"/>
              </a:rPr>
              <a:t>	.-18     	; 0x20a &lt;main+0xc2&gt;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21c:	0e 94 00 00 	call	0	; 0x0 &lt;__vectors&gt;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220:	f4 </a:t>
            </a:r>
            <a:r>
              <a:rPr lang="en-US" sz="1200" dirty="0" err="1">
                <a:latin typeface="Consolas" panose="020B0609020204030204" pitchFamily="49" charset="0"/>
              </a:rPr>
              <a:t>cf</a:t>
            </a:r>
            <a:r>
              <a:rPr lang="en-US" sz="1200" dirty="0">
                <a:latin typeface="Consolas" panose="020B0609020204030204" pitchFamily="49" charset="0"/>
              </a:rPr>
              <a:t>       	</a:t>
            </a:r>
            <a:r>
              <a:rPr lang="en-US" sz="1200" dirty="0" err="1">
                <a:latin typeface="Consolas" panose="020B0609020204030204" pitchFamily="49" charset="0"/>
              </a:rPr>
              <a:t>rjmp</a:t>
            </a:r>
            <a:r>
              <a:rPr lang="en-US" sz="1200" dirty="0">
                <a:latin typeface="Consolas" panose="020B0609020204030204" pitchFamily="49" charset="0"/>
              </a:rPr>
              <a:t>	.-24     	; 0x20a &lt;main+0xc2&gt;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00000222 &lt;_exit&gt;: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222:	f8 94       	cli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00000224 &lt;__</a:t>
            </a:r>
            <a:r>
              <a:rPr lang="en-US" sz="1200" dirty="0" err="1">
                <a:latin typeface="Consolas" panose="020B0609020204030204" pitchFamily="49" charset="0"/>
              </a:rPr>
              <a:t>stop_program</a:t>
            </a:r>
            <a:r>
              <a:rPr lang="en-US" sz="1200" dirty="0">
                <a:latin typeface="Consolas" panose="020B0609020204030204" pitchFamily="49" charset="0"/>
              </a:rPr>
              <a:t>&gt;: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224:	ff </a:t>
            </a:r>
            <a:r>
              <a:rPr lang="en-US" sz="1200" dirty="0" err="1">
                <a:latin typeface="Consolas" panose="020B0609020204030204" pitchFamily="49" charset="0"/>
              </a:rPr>
              <a:t>cf</a:t>
            </a:r>
            <a:r>
              <a:rPr lang="en-US" sz="1200" dirty="0">
                <a:latin typeface="Consolas" panose="020B0609020204030204" pitchFamily="49" charset="0"/>
              </a:rPr>
              <a:t>       	</a:t>
            </a:r>
            <a:r>
              <a:rPr lang="en-US" sz="1200" dirty="0" err="1">
                <a:latin typeface="Consolas" panose="020B0609020204030204" pitchFamily="49" charset="0"/>
              </a:rPr>
              <a:t>rjmp</a:t>
            </a:r>
            <a:r>
              <a:rPr lang="en-US" sz="1200" dirty="0">
                <a:latin typeface="Consolas" panose="020B0609020204030204" pitchFamily="49" charset="0"/>
              </a:rPr>
              <a:t>	.-2      	; 0x224 &lt;__</a:t>
            </a:r>
            <a:r>
              <a:rPr lang="en-US" sz="1200" dirty="0" err="1">
                <a:latin typeface="Consolas" panose="020B0609020204030204" pitchFamily="49" charset="0"/>
              </a:rPr>
              <a:t>stop_program</a:t>
            </a:r>
            <a:r>
              <a:rPr lang="en-US" sz="1200" dirty="0"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838212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E838-34F1-C60D-F8CA-3696B023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9289-53F3-CA9F-3334-6F6C7F9565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Embedded-</a:t>
            </a:r>
            <a:r>
              <a:rPr lang="en-US" dirty="0" err="1"/>
              <a:t>программа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регистрами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interrupts и </a:t>
            </a:r>
            <a:r>
              <a:rPr lang="en-US" dirty="0" err="1"/>
              <a:t>периферия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memory-mapped I/O </a:t>
            </a:r>
          </a:p>
          <a:p>
            <a:pPr lvl="1"/>
            <a:r>
              <a:rPr lang="en-US" dirty="0" err="1"/>
              <a:t>взаимодействие</a:t>
            </a:r>
            <a:r>
              <a:rPr lang="en-US" dirty="0"/>
              <a:t> software и hardware 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endParaRPr lang="en-US" dirty="0"/>
          </a:p>
          <a:p>
            <a:pPr lvl="1"/>
            <a:r>
              <a:rPr lang="en-US" dirty="0"/>
              <a:t>startup code и </a:t>
            </a:r>
            <a:r>
              <a:rPr lang="en-US" dirty="0" err="1"/>
              <a:t>инициализацию</a:t>
            </a:r>
            <a:r>
              <a:rPr lang="en-US" dirty="0"/>
              <a:t> runtime </a:t>
            </a:r>
          </a:p>
          <a:p>
            <a:pPr lvl="1"/>
            <a:r>
              <a:rPr lang="en-US" dirty="0" err="1"/>
              <a:t>таблицу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работу</a:t>
            </a:r>
            <a:r>
              <a:rPr lang="en-US" dirty="0"/>
              <a:t> ISR </a:t>
            </a:r>
          </a:p>
          <a:p>
            <a:pPr lvl="1"/>
            <a:r>
              <a:rPr lang="en-US" dirty="0" err="1"/>
              <a:t>настройку</a:t>
            </a:r>
            <a:r>
              <a:rPr lang="en-US" dirty="0"/>
              <a:t> timer peripheral </a:t>
            </a:r>
          </a:p>
          <a:p>
            <a:pPr lvl="1"/>
            <a:r>
              <a:rPr lang="en-US" dirty="0"/>
              <a:t>sleep mode </a:t>
            </a:r>
          </a:p>
          <a:p>
            <a:pPr lvl="1"/>
            <a:r>
              <a:rPr lang="en-US" dirty="0" err="1"/>
              <a:t>работу</a:t>
            </a:r>
            <a:r>
              <a:rPr lang="en-US" dirty="0"/>
              <a:t> compiler-generated machine code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5981C-0201-9834-C94E-6316414829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endParaRPr lang="en-US" dirty="0"/>
          </a:p>
          <a:p>
            <a:pPr lvl="1"/>
            <a:r>
              <a:rPr lang="en-US" dirty="0"/>
              <a:t>volatile </a:t>
            </a:r>
            <a:r>
              <a:rPr lang="en-US" dirty="0" err="1"/>
              <a:t>критически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peripheral registers </a:t>
            </a:r>
          </a:p>
          <a:p>
            <a:pPr lvl="1"/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в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C-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машинные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  <a:p>
            <a:pPr lvl="1"/>
            <a:r>
              <a:rPr lang="en-US" dirty="0"/>
              <a:t>Timer interrupt → ISR → GPIO toggle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sleep mode.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685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161F-664F-2BB6-C03C-E72D6AEF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396EC-23A6-D0E4-617E-822A8102C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Interrupt latency —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возникновением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началом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ISR.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должен</a:t>
            </a:r>
            <a:r>
              <a:rPr lang="ru-RU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ru-RU" dirty="0"/>
              <a:t>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→</a:t>
            </a:r>
            <a:r>
              <a:rPr lang="ru-RU" dirty="0"/>
              <a:t> </a:t>
            </a:r>
            <a:r>
              <a:rPr lang="en-US" dirty="0" err="1"/>
              <a:t>перейти</a:t>
            </a:r>
            <a:r>
              <a:rPr lang="en-US" dirty="0"/>
              <a:t> к interrupt vector</a:t>
            </a:r>
            <a:r>
              <a:rPr lang="ru-RU" dirty="0"/>
              <a:t>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пролог</a:t>
            </a:r>
            <a:r>
              <a:rPr lang="en-US" dirty="0"/>
              <a:t> ISR</a:t>
            </a:r>
          </a:p>
          <a:p>
            <a:r>
              <a:rPr lang="en-US" dirty="0"/>
              <a:t>Latency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endParaRPr lang="en-US" dirty="0"/>
          </a:p>
          <a:p>
            <a:pPr lvl="1"/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CPU, </a:t>
            </a:r>
            <a:r>
              <a:rPr lang="en-US" dirty="0" err="1"/>
              <a:t>состояния</a:t>
            </a:r>
            <a:r>
              <a:rPr lang="ru-RU" dirty="0"/>
              <a:t> прерываний, </a:t>
            </a:r>
            <a:r>
              <a:rPr lang="en-US" dirty="0" err="1"/>
              <a:t>длины</a:t>
            </a:r>
            <a:r>
              <a:rPr lang="en-US" dirty="0"/>
              <a:t> ISR</a:t>
            </a:r>
          </a:p>
          <a:p>
            <a:pPr lvl="1"/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endParaRPr lang="en-US" dirty="0"/>
          </a:p>
          <a:p>
            <a:r>
              <a:rPr lang="en-US" dirty="0" err="1"/>
              <a:t>Большая</a:t>
            </a:r>
            <a:r>
              <a:rPr lang="en-US" dirty="0"/>
              <a:t> latency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</a:t>
            </a:r>
            <a:endParaRPr lang="ru-RU" dirty="0"/>
          </a:p>
          <a:p>
            <a:pPr lvl="1"/>
            <a:r>
              <a:rPr lang="en-US" dirty="0" err="1"/>
              <a:t>потере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ru-RU" dirty="0"/>
              <a:t>, </a:t>
            </a:r>
            <a:r>
              <a:rPr lang="en-US" dirty="0"/>
              <a:t>jitter</a:t>
            </a:r>
            <a:r>
              <a:rPr lang="ru-RU" dirty="0"/>
              <a:t>, </a:t>
            </a:r>
            <a:r>
              <a:rPr lang="en-US" dirty="0" err="1"/>
              <a:t>нарушению</a:t>
            </a:r>
            <a:r>
              <a:rPr lang="en-US" dirty="0"/>
              <a:t> timing constraints</a:t>
            </a:r>
            <a:r>
              <a:rPr lang="ru-RU" dirty="0"/>
              <a:t>, </a:t>
            </a:r>
            <a:r>
              <a:rPr lang="en-US" dirty="0" err="1"/>
              <a:t>нестабильной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real-time </a:t>
            </a:r>
            <a:r>
              <a:rPr lang="en-US" dirty="0" err="1"/>
              <a:t>систем</a:t>
            </a:r>
            <a:endParaRPr lang="ru-RU" dirty="0"/>
          </a:p>
          <a:p>
            <a:r>
              <a:rPr lang="en-US" dirty="0"/>
              <a:t>ISR </a:t>
            </a:r>
            <a:r>
              <a:rPr lang="ru-RU" dirty="0"/>
              <a:t>должна быть короткой и предсказуемой по времени выполнения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370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3BE4-36DC-43FF-966A-BA562D22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nesting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16CF-FB9B-C673-7D85-3FC720EB2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Interrupt nesting — </a:t>
            </a:r>
            <a:r>
              <a:rPr lang="en-US" dirty="0" err="1"/>
              <a:t>ситуация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ISR </a:t>
            </a:r>
            <a:r>
              <a:rPr lang="en-US" dirty="0" err="1"/>
              <a:t>прерывается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interrupt</a:t>
            </a:r>
          </a:p>
          <a:p>
            <a:r>
              <a:rPr lang="ru-RU" dirty="0"/>
              <a:t>На </a:t>
            </a:r>
            <a:r>
              <a:rPr lang="en-US" dirty="0"/>
              <a:t>AVR </a:t>
            </a:r>
            <a:r>
              <a:rPr lang="ru-RU" dirty="0"/>
              <a:t>умолчанию во время обработки прерывания </a:t>
            </a:r>
            <a:r>
              <a:rPr lang="ru-RU" dirty="0" err="1"/>
              <a:t>прерывания</a:t>
            </a:r>
            <a:r>
              <a:rPr lang="ru-RU" dirty="0"/>
              <a:t> запрещаются и другие прерыванию ждут завершения </a:t>
            </a:r>
            <a:r>
              <a:rPr lang="en-US" dirty="0"/>
              <a:t>ISR</a:t>
            </a:r>
          </a:p>
          <a:p>
            <a:r>
              <a:rPr lang="ru-RU" dirty="0"/>
              <a:t>Инструкция </a:t>
            </a:r>
            <a:r>
              <a:rPr lang="en-US" dirty="0"/>
              <a:t>RETI</a:t>
            </a:r>
            <a:r>
              <a:rPr lang="ru-RU" dirty="0"/>
              <a:t> возвращает управление и разрешает прерывания</a:t>
            </a:r>
          </a:p>
          <a:p>
            <a:r>
              <a:rPr lang="ru-RU" dirty="0"/>
              <a:t>Длинная </a:t>
            </a:r>
            <a:r>
              <a:rPr lang="en-US" dirty="0"/>
              <a:t>ISR</a:t>
            </a:r>
            <a:r>
              <a:rPr lang="ru-RU" dirty="0"/>
              <a:t> задерживает обработку других прерываний</a:t>
            </a:r>
          </a:p>
          <a:p>
            <a:r>
              <a:rPr lang="ru-RU" dirty="0"/>
              <a:t>Вложенные прерывания возможны, если внутри </a:t>
            </a:r>
            <a:r>
              <a:rPr lang="en-US" dirty="0"/>
              <a:t>ISR</a:t>
            </a:r>
            <a:r>
              <a:rPr lang="ru-RU" dirty="0"/>
              <a:t> выполнить инструкцию </a:t>
            </a:r>
            <a:r>
              <a:rPr lang="en-US" dirty="0"/>
              <a:t>SEI</a:t>
            </a:r>
          </a:p>
        </p:txBody>
      </p:sp>
    </p:spTree>
    <p:extLst>
      <p:ext uri="{BB962C8B-B14F-4D97-AF65-F5344CB8AC3E}">
        <p14:creationId xmlns:p14="http://schemas.microsoft.com/office/powerpoint/2010/main" val="10400168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8D7F-6F92-648F-F497-E812FC8C4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Состояние гонки (</a:t>
            </a:r>
            <a:r>
              <a:rPr lang="en-US" dirty="0"/>
              <a:t>Race Condition)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5372-630C-ADE9-A397-61C8EE442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96150" cy="4351338"/>
          </a:xfrm>
        </p:spPr>
        <p:txBody>
          <a:bodyPr>
            <a:normAutofit/>
          </a:bodyPr>
          <a:lstStyle/>
          <a:p>
            <a:r>
              <a:rPr lang="en-US" dirty="0"/>
              <a:t>Race condition — </a:t>
            </a:r>
            <a:r>
              <a:rPr lang="en-US" dirty="0" err="1"/>
              <a:t>ситуация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endParaRPr lang="en-US" dirty="0"/>
          </a:p>
          <a:p>
            <a:pPr lvl="1"/>
            <a:r>
              <a:rPr lang="ru-RU" dirty="0"/>
              <a:t>Чтение и запись 16-битного значения на 8-битном процессоре – не атомарная операция</a:t>
            </a:r>
          </a:p>
          <a:p>
            <a:pPr lvl="2"/>
            <a:r>
              <a:rPr lang="en-US" dirty="0"/>
              <a:t>loop: read low byte</a:t>
            </a:r>
            <a:br>
              <a:rPr lang="en-US" dirty="0"/>
            </a:br>
            <a:r>
              <a:rPr lang="en-US" dirty="0"/>
              <a:t>ISR: </a:t>
            </a:r>
            <a:r>
              <a:rPr lang="ru-RU" dirty="0"/>
              <a:t>++</a:t>
            </a:r>
            <a:r>
              <a:rPr lang="en-US" dirty="0"/>
              <a:t>counter</a:t>
            </a:r>
            <a:br>
              <a:rPr lang="en-US" dirty="0"/>
            </a:br>
            <a:r>
              <a:rPr lang="en-US" dirty="0"/>
              <a:t>loop: read high byte</a:t>
            </a:r>
            <a:endParaRPr lang="ru-RU" dirty="0"/>
          </a:p>
          <a:p>
            <a:r>
              <a:rPr lang="en-US" b="1" dirty="0"/>
              <a:t>volatile</a:t>
            </a:r>
            <a:r>
              <a:rPr lang="en-US" dirty="0"/>
              <a:t> </a:t>
            </a:r>
            <a:r>
              <a:rPr lang="ru-RU" dirty="0"/>
              <a:t>запрещает оптимизации, но не делает операции атомарными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7BE74-3F90-788E-42CC-B56F94FF177F}"/>
              </a:ext>
            </a:extLst>
          </p:cNvPr>
          <p:cNvSpPr txBox="1"/>
          <p:nvPr/>
        </p:nvSpPr>
        <p:spPr>
          <a:xfrm>
            <a:off x="8877301" y="1242943"/>
            <a:ext cx="33147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TIMER1_COMPA_vect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++counter;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counter;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Используем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cnt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89FB56-E612-C9ED-E7ED-19C7B122FF84}"/>
              </a:ext>
            </a:extLst>
          </p:cNvPr>
          <p:cNvGrpSpPr/>
          <p:nvPr/>
        </p:nvGrpSpPr>
        <p:grpSpPr>
          <a:xfrm>
            <a:off x="8877300" y="3530620"/>
            <a:ext cx="3314700" cy="3314700"/>
            <a:chOff x="7752079" y="1735138"/>
            <a:chExt cx="4075545" cy="40755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C1288A-759E-97AA-4A57-00B07E855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2079" y="1735138"/>
              <a:ext cx="4075545" cy="40755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43ED6-DA8F-9F4F-9E41-23FBBD38FB82}"/>
                </a:ext>
              </a:extLst>
            </p:cNvPr>
            <p:cNvSpPr txBox="1"/>
            <p:nvPr/>
          </p:nvSpPr>
          <p:spPr>
            <a:xfrm>
              <a:off x="8221151" y="2077615"/>
              <a:ext cx="1987801" cy="920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latin typeface="Comic Sans MS" panose="030F0702030302020204" pitchFamily="66" charset="0"/>
                </a:rPr>
                <a:t>Помоги найти состояние гонки!</a:t>
              </a:r>
              <a:endParaRPr lang="en-US" sz="1200" dirty="0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842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90BE-AA20-4C5A-E734-90C6EDEC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– запретить прерывания при доступе к 16-битной переменной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35605-C0A8-BFD2-52E9-1B52D481AEFF}"/>
              </a:ext>
            </a:extLst>
          </p:cNvPr>
          <p:cNvSpPr txBox="1"/>
          <p:nvPr/>
        </p:nvSpPr>
        <p:spPr>
          <a:xfrm>
            <a:off x="838200" y="1924049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TIMER1_COMPA_vect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counter++;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Начало критической секции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counter;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Конец критической секции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290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6F6F2-1514-E234-7988-14722E1D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Инструкции </a:t>
            </a:r>
            <a:r>
              <a:rPr lang="en-US" dirty="0"/>
              <a:t>cli </a:t>
            </a:r>
            <a:r>
              <a:rPr lang="ru-RU" dirty="0"/>
              <a:t>и </a:t>
            </a:r>
            <a:r>
              <a:rPr lang="en-US" dirty="0"/>
              <a:t>sei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2AC0F-8994-C596-6592-AF2D7EE5AD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Служат для управления обработкой прерываний</a:t>
            </a:r>
            <a:endParaRPr lang="en-US" dirty="0"/>
          </a:p>
          <a:p>
            <a:pPr lvl="1"/>
            <a:r>
              <a:rPr lang="ru-RU" dirty="0"/>
              <a:t>Инструкция</a:t>
            </a:r>
            <a:r>
              <a:rPr lang="en-US" dirty="0"/>
              <a:t> cli</a:t>
            </a:r>
            <a:r>
              <a:rPr lang="ru-RU" dirty="0"/>
              <a:t> запрещает реакцию на прерывания</a:t>
            </a:r>
          </a:p>
          <a:p>
            <a:pPr lvl="1"/>
            <a:r>
              <a:rPr lang="ru-RU" dirty="0"/>
              <a:t>Инструкция </a:t>
            </a:r>
            <a:r>
              <a:rPr lang="en-US" dirty="0"/>
              <a:t>sei</a:t>
            </a:r>
            <a:r>
              <a:rPr lang="ru-RU" dirty="0"/>
              <a:t> разрешает</a:t>
            </a:r>
          </a:p>
          <a:p>
            <a:r>
              <a:rPr lang="ru-RU" dirty="0"/>
              <a:t>Зачем временно запрещать прерывания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ru-RU" dirty="0"/>
              <a:t>общих данных</a:t>
            </a:r>
            <a:endParaRPr lang="en-US" dirty="0"/>
          </a:p>
          <a:p>
            <a:pPr lvl="1"/>
            <a:r>
              <a:rPr lang="ru-RU" dirty="0"/>
              <a:t>«Атомарное» выполнение операций</a:t>
            </a:r>
            <a:endParaRPr lang="en-US" dirty="0"/>
          </a:p>
          <a:p>
            <a:pPr lvl="1"/>
            <a:r>
              <a:rPr lang="ru-RU" dirty="0"/>
              <a:t>Критические секции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9D0F3-55E9-14F5-F21D-87B91AE4E2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Пока прерывания запрещены</a:t>
            </a:r>
          </a:p>
          <a:p>
            <a:pPr lvl="1"/>
            <a:r>
              <a:rPr lang="en-US" dirty="0"/>
              <a:t>ISR</a:t>
            </a:r>
            <a:r>
              <a:rPr lang="ru-RU" dirty="0"/>
              <a:t> не выполняются</a:t>
            </a:r>
          </a:p>
          <a:p>
            <a:pPr lvl="1"/>
            <a:r>
              <a:rPr lang="ru-RU" dirty="0"/>
              <a:t>Растут задержки прерываний</a:t>
            </a:r>
          </a:p>
          <a:p>
            <a:pPr lvl="1"/>
            <a:r>
              <a:rPr lang="ru-RU" dirty="0"/>
              <a:t>Возможна потеря событий</a:t>
            </a:r>
          </a:p>
          <a:p>
            <a:pPr lvl="1"/>
            <a:r>
              <a:rPr lang="ru-RU" dirty="0"/>
              <a:t>Нарушаются тайминги</a:t>
            </a:r>
          </a:p>
          <a:p>
            <a:r>
              <a:rPr lang="ru-RU" dirty="0"/>
              <a:t>Правило </a:t>
            </a:r>
            <a:r>
              <a:rPr lang="en-US" dirty="0"/>
              <a:t>embedded-</a:t>
            </a:r>
            <a:r>
              <a:rPr lang="ru-RU" dirty="0"/>
              <a:t>разработки</a:t>
            </a:r>
          </a:p>
          <a:p>
            <a:pPr lvl="1"/>
            <a:r>
              <a:rPr lang="ru-RU" dirty="0"/>
              <a:t>Прерывания должны запрещаться как можно реже и на минимальное время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922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47BD-395C-EC29-9250-B4769EF1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Флаги и разрешение прерываний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DBCD4-2FC4-8B96-C579-A7810BD19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1095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Прерывание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ru-RU" dirty="0"/>
              <a:t>, а реакция на него</a:t>
            </a:r>
          </a:p>
          <a:p>
            <a:pPr lvl="1"/>
            <a:r>
              <a:rPr lang="en-US" dirty="0"/>
              <a:t>hardware event</a:t>
            </a:r>
            <a:r>
              <a:rPr lang="ru-RU" dirty="0"/>
              <a:t> </a:t>
            </a:r>
            <a:r>
              <a:rPr lang="en-US" dirty="0"/>
              <a:t>→ </a:t>
            </a:r>
            <a:r>
              <a:rPr lang="ru-RU" dirty="0"/>
              <a:t> </a:t>
            </a:r>
            <a:r>
              <a:rPr lang="en-US" dirty="0"/>
              <a:t>interrupt flag</a:t>
            </a:r>
            <a:r>
              <a:rPr lang="ru-RU" dirty="0"/>
              <a:t>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/>
              <a:t>interrupt request</a:t>
            </a:r>
            <a:r>
              <a:rPr lang="ru-RU" dirty="0"/>
              <a:t>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/>
              <a:t>global interrupts enabled?</a:t>
            </a:r>
            <a:r>
              <a:rPr lang="ru-RU" dirty="0"/>
              <a:t> </a:t>
            </a:r>
            <a:r>
              <a:rPr lang="en-US" dirty="0"/>
              <a:t>→ ISR</a:t>
            </a:r>
            <a:endParaRPr lang="ru-RU" dirty="0"/>
          </a:p>
          <a:p>
            <a:r>
              <a:rPr lang="ru-RU" dirty="0"/>
              <a:t>Регистры таймера</a:t>
            </a:r>
          </a:p>
          <a:p>
            <a:pPr lvl="1"/>
            <a:r>
              <a:rPr lang="en-US" dirty="0"/>
              <a:t>TIFR1 – </a:t>
            </a:r>
            <a:r>
              <a:rPr lang="ru-RU" dirty="0"/>
              <a:t>флаги прерываний</a:t>
            </a:r>
          </a:p>
          <a:p>
            <a:pPr lvl="1"/>
            <a:r>
              <a:rPr lang="en-US" dirty="0"/>
              <a:t>TIMSK1 – </a:t>
            </a:r>
            <a:r>
              <a:rPr lang="ru-RU" dirty="0"/>
              <a:t>разрешение прерываний</a:t>
            </a:r>
          </a:p>
          <a:p>
            <a:r>
              <a:rPr lang="ru-RU" dirty="0"/>
              <a:t>Для вызова </a:t>
            </a:r>
            <a:r>
              <a:rPr lang="en-US" dirty="0"/>
              <a:t>ISR </a:t>
            </a:r>
            <a:r>
              <a:rPr lang="ru-RU" dirty="0"/>
              <a:t>обычно должны выполниться несколько условий</a:t>
            </a:r>
          </a:p>
          <a:p>
            <a:pPr lvl="1"/>
            <a:r>
              <a:rPr lang="ru-RU" dirty="0"/>
              <a:t>Произошло аппаратное событие (</a:t>
            </a:r>
            <a:r>
              <a:rPr lang="en-US" dirty="0"/>
              <a:t>Compare Match)</a:t>
            </a:r>
          </a:p>
          <a:p>
            <a:pPr lvl="1"/>
            <a:r>
              <a:rPr lang="ru-RU" dirty="0"/>
              <a:t>Установлен флаг прерываний </a:t>
            </a:r>
            <a:r>
              <a:rPr lang="en-US" dirty="0"/>
              <a:t>(OCF1A = 1)</a:t>
            </a:r>
          </a:p>
          <a:p>
            <a:pPr lvl="1"/>
            <a:r>
              <a:rPr lang="ru-RU" dirty="0"/>
              <a:t>Разрешено конкретное прерывание (</a:t>
            </a:r>
            <a:r>
              <a:rPr lang="en-US" dirty="0"/>
              <a:t>OCIE1A = 1)</a:t>
            </a:r>
          </a:p>
          <a:p>
            <a:pPr lvl="1"/>
            <a:r>
              <a:rPr lang="ru-RU" dirty="0"/>
              <a:t>Глобально разрешены прерывания (</a:t>
            </a:r>
            <a:r>
              <a:rPr lang="en-US" dirty="0"/>
              <a:t>sei)</a:t>
            </a:r>
            <a:endParaRPr lang="ru-RU" dirty="0"/>
          </a:p>
          <a:p>
            <a:r>
              <a:rPr lang="ru-RU" dirty="0"/>
              <a:t>Следствия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События могут накапливаться</a:t>
            </a:r>
          </a:p>
          <a:p>
            <a:pPr lvl="1"/>
            <a:r>
              <a:rPr lang="ru-RU" dirty="0"/>
              <a:t>Вызов </a:t>
            </a:r>
            <a:r>
              <a:rPr lang="en-US" dirty="0"/>
              <a:t>ISR </a:t>
            </a:r>
            <a:r>
              <a:rPr lang="ru-RU" dirty="0"/>
              <a:t>может быть отложен</a:t>
            </a:r>
          </a:p>
          <a:p>
            <a:pPr lvl="1"/>
            <a:r>
              <a:rPr lang="ru-RU" dirty="0"/>
              <a:t>Возможна потеря событий</a:t>
            </a:r>
            <a:endParaRPr lang="en-US" dirty="0"/>
          </a:p>
          <a:p>
            <a:endParaRPr lang="ru-RU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83D4B-DBC2-D761-DFE9-54B5C11DE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150" y="1820184"/>
            <a:ext cx="6042852" cy="961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5A9F2-88DF-D86D-93DA-C47C157BB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091" y="3113883"/>
            <a:ext cx="5884970" cy="96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04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E848-9B70-E073-6FBC-03B656C7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</a:t>
            </a:r>
            <a:r>
              <a:rPr lang="en-US" dirty="0" err="1"/>
              <a:t>аблица</a:t>
            </a:r>
            <a:r>
              <a:rPr lang="en-US" dirty="0"/>
              <a:t> </a:t>
            </a:r>
            <a:r>
              <a:rPr lang="en-US" dirty="0" err="1"/>
              <a:t>векторов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E7546-AD92-D6F0-438D-71CF98BC8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Interrupt vector table</a:t>
            </a:r>
          </a:p>
          <a:p>
            <a:pPr lvl="1"/>
            <a:r>
              <a:rPr lang="en-US" dirty="0" err="1"/>
              <a:t>располагается</a:t>
            </a:r>
            <a:r>
              <a:rPr lang="en-US" dirty="0"/>
              <a:t> в </a:t>
            </a:r>
            <a:r>
              <a:rPr lang="en-US" dirty="0" err="1"/>
              <a:t>начале</a:t>
            </a:r>
            <a:r>
              <a:rPr lang="en-US" dirty="0"/>
              <a:t> Flash memory</a:t>
            </a:r>
          </a:p>
          <a:p>
            <a:pPr lvl="1"/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interrupts </a:t>
            </a:r>
          </a:p>
          <a:p>
            <a:pPr lvl="1"/>
            <a:r>
              <a:rPr lang="en-US" dirty="0"/>
              <a:t>reset vector —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endParaRPr lang="en-US" dirty="0"/>
          </a:p>
          <a:p>
            <a:r>
              <a:rPr lang="ru-RU" dirty="0"/>
              <a:t>На </a:t>
            </a:r>
            <a:r>
              <a:rPr lang="en-US" dirty="0"/>
              <a:t>AVR</a:t>
            </a:r>
            <a:r>
              <a:rPr lang="ru-RU" dirty="0"/>
              <a:t> это обычный машинный код (каждая запись – 4 байта)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0x0000: </a:t>
            </a:r>
            <a:r>
              <a:rPr lang="en-US" dirty="0" err="1">
                <a:latin typeface="Consolas" panose="020B0609020204030204" pitchFamily="49" charset="0"/>
              </a:rPr>
              <a:t>jmp</a:t>
            </a:r>
            <a:r>
              <a:rPr lang="en-US" dirty="0">
                <a:latin typeface="Consolas" panose="020B0609020204030204" pitchFamily="49" charset="0"/>
              </a:rPr>
              <a:t> __startup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0x0004: </a:t>
            </a:r>
            <a:r>
              <a:rPr lang="en-US" dirty="0" err="1">
                <a:latin typeface="Consolas" panose="020B0609020204030204" pitchFamily="49" charset="0"/>
              </a:rPr>
              <a:t>jmp</a:t>
            </a:r>
            <a:r>
              <a:rPr lang="en-US" dirty="0">
                <a:latin typeface="Consolas" panose="020B0609020204030204" pitchFamily="49" charset="0"/>
              </a:rPr>
              <a:t> __</a:t>
            </a:r>
            <a:r>
              <a:rPr lang="en-US" dirty="0" err="1">
                <a:latin typeface="Consolas" panose="020B0609020204030204" pitchFamily="49" charset="0"/>
              </a:rPr>
              <a:t>bad_interrupt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0x0008: </a:t>
            </a:r>
            <a:r>
              <a:rPr lang="en-US" dirty="0" err="1">
                <a:latin typeface="Consolas" panose="020B0609020204030204" pitchFamily="49" charset="0"/>
              </a:rPr>
              <a:t>jmp</a:t>
            </a:r>
            <a:r>
              <a:rPr lang="en-US" dirty="0">
                <a:latin typeface="Consolas" panose="020B0609020204030204" pitchFamily="49" charset="0"/>
              </a:rPr>
              <a:t> __vector_2...</a:t>
            </a:r>
          </a:p>
          <a:p>
            <a:r>
              <a:rPr lang="en-US" b="1" dirty="0" err="1"/>
              <a:t>Особенности</a:t>
            </a:r>
            <a:endParaRPr lang="en-US" b="1" dirty="0"/>
          </a:p>
          <a:p>
            <a:pPr lvl="1"/>
            <a:r>
              <a:rPr lang="ru-RU" dirty="0"/>
              <a:t>В</a:t>
            </a:r>
            <a:r>
              <a:rPr lang="en-US" dirty="0"/>
              <a:t>о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endParaRPr lang="ru-RU" dirty="0"/>
          </a:p>
          <a:p>
            <a:pPr lvl="2"/>
            <a:r>
              <a:rPr lang="ru-RU" dirty="0"/>
              <a:t>Происходит переход по фиксированному адресу</a:t>
            </a:r>
          </a:p>
          <a:p>
            <a:pPr lvl="1"/>
            <a:r>
              <a:rPr lang="ru-RU" dirty="0"/>
              <a:t>Внутри </a:t>
            </a:r>
            <a:r>
              <a:rPr lang="en-US" dirty="0"/>
              <a:t>ISR </a:t>
            </a:r>
            <a:r>
              <a:rPr lang="ru-RU" dirty="0"/>
              <a:t>возможна динамическая логика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248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DAD9-5B9E-E2FF-4732-52486E79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Ещё раз о гарвардской архитектуре </a:t>
            </a:r>
            <a:r>
              <a:rPr lang="en-US" dirty="0"/>
              <a:t>AVR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B82E2-1B39-F3F1-0553-6F2D4480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AVR </a:t>
            </a:r>
            <a:r>
              <a:rPr lang="ru-RU" dirty="0"/>
              <a:t>использует разные адресные пространства</a:t>
            </a:r>
          </a:p>
          <a:p>
            <a:pPr lvl="1"/>
            <a:r>
              <a:rPr lang="en-US" dirty="0"/>
              <a:t>Program Space</a:t>
            </a:r>
          </a:p>
          <a:p>
            <a:pPr lvl="2"/>
            <a:r>
              <a:rPr lang="ru-RU" dirty="0"/>
              <a:t>Внутри </a:t>
            </a:r>
            <a:r>
              <a:rPr lang="en-US" dirty="0"/>
              <a:t>Flash</a:t>
            </a:r>
            <a:r>
              <a:rPr lang="ru-RU" dirty="0"/>
              <a:t> памяти хранятся инструкции</a:t>
            </a:r>
          </a:p>
          <a:p>
            <a:pPr lvl="1"/>
            <a:r>
              <a:rPr lang="en-US" dirty="0"/>
              <a:t>Data Space</a:t>
            </a:r>
          </a:p>
          <a:p>
            <a:pPr lvl="2"/>
            <a:r>
              <a:rPr lang="ru-RU" dirty="0"/>
              <a:t>Регистры, </a:t>
            </a:r>
            <a:r>
              <a:rPr lang="en-US" dirty="0"/>
              <a:t>I/O, SRAM</a:t>
            </a:r>
          </a:p>
          <a:p>
            <a:r>
              <a:rPr lang="en-US" dirty="0"/>
              <a:t>Program address 0x0000 ≠ Data address 0x0000</a:t>
            </a:r>
          </a:p>
          <a:p>
            <a:r>
              <a:rPr lang="ru-RU" dirty="0"/>
              <a:t>Следствие:</a:t>
            </a:r>
          </a:p>
          <a:p>
            <a:pPr lvl="1"/>
            <a:r>
              <a:rPr lang="ru-RU" dirty="0"/>
              <a:t>Таблица вектор прерываний находится в </a:t>
            </a:r>
            <a:r>
              <a:rPr lang="en-US" dirty="0"/>
              <a:t>Flash</a:t>
            </a:r>
            <a:endParaRPr lang="ru-RU" dirty="0"/>
          </a:p>
          <a:p>
            <a:pPr lvl="1"/>
            <a:r>
              <a:rPr lang="ru-RU" dirty="0"/>
              <a:t>Регистровый файл и </a:t>
            </a:r>
            <a:r>
              <a:rPr lang="en-US" dirty="0"/>
              <a:t>I/O – </a:t>
            </a:r>
            <a:r>
              <a:rPr lang="ru-RU" dirty="0"/>
              <a:t>в </a:t>
            </a:r>
            <a:r>
              <a:rPr lang="en-US" dirty="0"/>
              <a:t>Data Space</a:t>
            </a:r>
          </a:p>
        </p:txBody>
      </p:sp>
    </p:spTree>
    <p:extLst>
      <p:ext uri="{BB962C8B-B14F-4D97-AF65-F5344CB8AC3E}">
        <p14:creationId xmlns:p14="http://schemas.microsoft.com/office/powerpoint/2010/main" val="37411508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BF59-7583-4579-F9ED-17E8EC61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BFBC-50D8-56CC-5C0A-F2C5757A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5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2578</TotalTime>
  <Words>14566</Words>
  <Application>Microsoft Office PowerPoint</Application>
  <PresentationFormat>Widescreen</PresentationFormat>
  <Paragraphs>2124</Paragraphs>
  <Slides>56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Aptos Display</vt:lpstr>
      <vt:lpstr>Arial</vt:lpstr>
      <vt:lpstr>Comic Sans MS</vt:lpstr>
      <vt:lpstr>Consolas</vt:lpstr>
      <vt:lpstr>Office Theme</vt:lpstr>
      <vt:lpstr>Программирование микроконтроллеров</vt:lpstr>
      <vt:lpstr>Встраиваемые системы (embedded systems)</vt:lpstr>
      <vt:lpstr>Что такое микроконтроллер</vt:lpstr>
      <vt:lpstr>Из чего состоит микроконтроллер</vt:lpstr>
      <vt:lpstr>CPU внутри микроконтроллера</vt:lpstr>
      <vt:lpstr>Периферия микроконтроллера</vt:lpstr>
      <vt:lpstr>Микроконтроллер как система на кристалле</vt:lpstr>
      <vt:lpstr>Микроконтроллеры AVR</vt:lpstr>
      <vt:lpstr>Архитектура AVR</vt:lpstr>
      <vt:lpstr>Гарвардская архитектура AVR</vt:lpstr>
      <vt:lpstr>Память в AVR</vt:lpstr>
      <vt:lpstr>Регистры AVR</vt:lpstr>
      <vt:lpstr>Система команд AVR</vt:lpstr>
      <vt:lpstr>Адресное пространство ATmega328P</vt:lpstr>
      <vt:lpstr>AVR и embedded-разработка</vt:lpstr>
      <vt:lpstr>Два пространства адресов для I/O-регистров</vt:lpstr>
      <vt:lpstr>PowerPoint Presentation</vt:lpstr>
      <vt:lpstr>Что происходит после загрузки программы</vt:lpstr>
      <vt:lpstr>GPIO: цифровые выводы микроконтроллера</vt:lpstr>
      <vt:lpstr>Режимы работы GPIO</vt:lpstr>
      <vt:lpstr>Работа с аппаратными регистрами</vt:lpstr>
      <vt:lpstr>GPIO в ATmega328P</vt:lpstr>
      <vt:lpstr>AVR Toolchain</vt:lpstr>
      <vt:lpstr>Toolchain для AVR</vt:lpstr>
      <vt:lpstr>Компиляция программы для AVR</vt:lpstr>
      <vt:lpstr>Дизассемблирование AVR-программы</vt:lpstr>
      <vt:lpstr>Прошивка микроконтроллера</vt:lpstr>
      <vt:lpstr>Особенности embedded toolchain</vt:lpstr>
      <vt:lpstr>Пример программы: мигание светодиодом</vt:lpstr>
      <vt:lpstr>Таймеры микроконтроллера</vt:lpstr>
      <vt:lpstr>Таймеры микроконтроллера</vt:lpstr>
      <vt:lpstr>Принцип работы таймера</vt:lpstr>
      <vt:lpstr>Прерывания (Interrupts)</vt:lpstr>
      <vt:lpstr>Polling vs Interrupts</vt:lpstr>
      <vt:lpstr>Interrupt Service Routine (ISR)</vt:lpstr>
      <vt:lpstr>volatile и interrupts</vt:lpstr>
      <vt:lpstr>Таблица векторов прерываний</vt:lpstr>
      <vt:lpstr>Пример: прерывание по таймеру (начало)</vt:lpstr>
      <vt:lpstr>Прерывание по таймеру (окончание)</vt:lpstr>
      <vt:lpstr>Эта же программа в Arduino IDE</vt:lpstr>
      <vt:lpstr>Заглянем внутрь полученного образа</vt:lpstr>
      <vt:lpstr>Вектор прерываний программы</vt:lpstr>
      <vt:lpstr>Инициализация</vt:lpstr>
      <vt:lpstr>Обработчик прерывания таймера</vt:lpstr>
      <vt:lpstr>Код функции setup</vt:lpstr>
      <vt:lpstr>Главный цикл программы</vt:lpstr>
      <vt:lpstr>Что важно понять из этого примера</vt:lpstr>
      <vt:lpstr>Interrupt latency</vt:lpstr>
      <vt:lpstr>Interrupt nesting</vt:lpstr>
      <vt:lpstr>Состояние гонки (Race Condition)</vt:lpstr>
      <vt:lpstr>Решение – запретить прерывания при доступе к 16-битной переменной</vt:lpstr>
      <vt:lpstr>Инструкции cli и sei</vt:lpstr>
      <vt:lpstr>Флаги и разрешение прерываний</vt:lpstr>
      <vt:lpstr>Таблица векторов прерываний</vt:lpstr>
      <vt:lpstr>Ещё раз о гарвардской архитектуре AVR</vt:lpstr>
      <vt:lpstr>UART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K5 318</cp:lastModifiedBy>
  <cp:revision>147</cp:revision>
  <dcterms:created xsi:type="dcterms:W3CDTF">2026-05-19T02:55:18Z</dcterms:created>
  <dcterms:modified xsi:type="dcterms:W3CDTF">2026-05-27T06:28:19Z</dcterms:modified>
</cp:coreProperties>
</file>