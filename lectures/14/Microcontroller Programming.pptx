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2" r:id="rId15"/>
    <p:sldId id="271" r:id="rId16"/>
    <p:sldId id="273" r:id="rId17"/>
    <p:sldId id="268" r:id="rId18"/>
    <p:sldId id="276" r:id="rId19"/>
    <p:sldId id="277" r:id="rId20"/>
    <p:sldId id="278" r:id="rId21"/>
    <p:sldId id="280" r:id="rId22"/>
    <p:sldId id="279" r:id="rId23"/>
    <p:sldId id="274" r:id="rId24"/>
    <p:sldId id="281" r:id="rId25"/>
    <p:sldId id="282" r:id="rId26"/>
    <p:sldId id="275" r:id="rId27"/>
    <p:sldId id="283" r:id="rId28"/>
    <p:sldId id="284" r:id="rId29"/>
    <p:sldId id="285" r:id="rId30"/>
    <p:sldId id="287" r:id="rId31"/>
    <p:sldId id="288" r:id="rId32"/>
    <p:sldId id="289" r:id="rId33"/>
    <p:sldId id="290" r:id="rId34"/>
    <p:sldId id="292" r:id="rId35"/>
    <p:sldId id="293" r:id="rId36"/>
    <p:sldId id="294" r:id="rId37"/>
    <p:sldId id="291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6877" autoAdjust="0"/>
  </p:normalViewPr>
  <p:slideViewPr>
    <p:cSldViewPr snapToGrid="0" showGuides="1">
      <p:cViewPr>
        <p:scale>
          <a:sx n="75" d="100"/>
          <a:sy n="75" d="100"/>
        </p:scale>
        <p:origin x="1872" y="2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0DF67-43DD-4C69-A81D-1BCF90B7192E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377F0E-5212-47C6-B88A-D2005084B0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50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в </a:t>
            </a:r>
            <a:r>
              <a:rPr lang="en-US" dirty="0" err="1"/>
              <a:t>основном</a:t>
            </a:r>
            <a:r>
              <a:rPr lang="en-US" dirty="0"/>
              <a:t> </a:t>
            </a:r>
            <a:r>
              <a:rPr lang="en-US" dirty="0" err="1"/>
              <a:t>говорили</a:t>
            </a:r>
            <a:r>
              <a:rPr lang="en-US" dirty="0"/>
              <a:t> о </a:t>
            </a:r>
            <a:r>
              <a:rPr lang="en-US" dirty="0" err="1"/>
              <a:t>процессорах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— </a:t>
            </a:r>
            <a:r>
              <a:rPr lang="en-US" dirty="0" err="1"/>
              <a:t>таких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x86-64 в </a:t>
            </a:r>
            <a:r>
              <a:rPr lang="en-US" dirty="0" err="1"/>
              <a:t>настольных</a:t>
            </a:r>
            <a:r>
              <a:rPr lang="en-US" dirty="0"/>
              <a:t> </a:t>
            </a:r>
            <a:r>
              <a:rPr lang="en-US" dirty="0" err="1"/>
              <a:t>компьютерах</a:t>
            </a:r>
            <a:r>
              <a:rPr lang="en-US" dirty="0"/>
              <a:t> и </a:t>
            </a:r>
            <a:r>
              <a:rPr lang="en-US" dirty="0" err="1"/>
              <a:t>серверах</a:t>
            </a:r>
            <a:r>
              <a:rPr lang="en-US" dirty="0"/>
              <a:t>.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переходим</a:t>
            </a:r>
            <a:r>
              <a:rPr lang="en-US" dirty="0"/>
              <a:t> к </a:t>
            </a:r>
            <a:r>
              <a:rPr lang="en-US" dirty="0" err="1"/>
              <a:t>другому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 — embedded systems,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встраиваемым</a:t>
            </a:r>
            <a:r>
              <a:rPr lang="en-US" dirty="0"/>
              <a:t> </a:t>
            </a:r>
            <a:r>
              <a:rPr lang="en-US" dirty="0" err="1"/>
              <a:t>системам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Embedded system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, </a:t>
            </a:r>
            <a:r>
              <a:rPr lang="en-US" dirty="0" err="1"/>
              <a:t>встроенный</a:t>
            </a:r>
            <a:r>
              <a:rPr lang="en-US" dirty="0"/>
              <a:t> </a:t>
            </a:r>
            <a:r>
              <a:rPr lang="en-US" dirty="0" err="1"/>
              <a:t>внутрь</a:t>
            </a:r>
            <a:r>
              <a:rPr lang="en-US" dirty="0"/>
              <a:t> </a:t>
            </a:r>
            <a:r>
              <a:rPr lang="en-US" dirty="0" err="1"/>
              <a:t>какого-то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выполняющий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ПК,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предназначена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произвольных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пользователем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embedded systems </a:t>
            </a:r>
            <a:r>
              <a:rPr lang="en-US" dirty="0" err="1"/>
              <a:t>окружают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повсюду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в </a:t>
            </a:r>
            <a:r>
              <a:rPr lang="en-US" dirty="0" err="1"/>
              <a:t>стиральных</a:t>
            </a:r>
            <a:r>
              <a:rPr lang="en-US" dirty="0"/>
              <a:t> </a:t>
            </a:r>
            <a:r>
              <a:rPr lang="en-US" dirty="0" err="1"/>
              <a:t>машинах</a:t>
            </a:r>
            <a:r>
              <a:rPr lang="en-US" dirty="0"/>
              <a:t>, </a:t>
            </a:r>
            <a:r>
              <a:rPr lang="en-US" dirty="0" err="1"/>
              <a:t>микроволновках</a:t>
            </a:r>
            <a:r>
              <a:rPr lang="en-US" dirty="0"/>
              <a:t>, </a:t>
            </a:r>
            <a:r>
              <a:rPr lang="en-US" dirty="0" err="1"/>
              <a:t>автомобилях</a:t>
            </a:r>
            <a:r>
              <a:rPr lang="en-US" dirty="0"/>
              <a:t>, </a:t>
            </a:r>
            <a:r>
              <a:rPr lang="en-US" dirty="0" err="1"/>
              <a:t>роутерах</a:t>
            </a:r>
            <a:r>
              <a:rPr lang="en-US" dirty="0"/>
              <a:t>, </a:t>
            </a:r>
            <a:r>
              <a:rPr lang="en-US" dirty="0" err="1"/>
              <a:t>клавиатурах</a:t>
            </a:r>
            <a:r>
              <a:rPr lang="en-US" dirty="0"/>
              <a:t>, </a:t>
            </a:r>
            <a:r>
              <a:rPr lang="en-US" dirty="0" err="1"/>
              <a:t>принтерах</a:t>
            </a:r>
            <a:r>
              <a:rPr lang="en-US" dirty="0"/>
              <a:t>, </a:t>
            </a:r>
            <a:r>
              <a:rPr lang="en-US" dirty="0" err="1"/>
              <a:t>датчиках</a:t>
            </a:r>
            <a:r>
              <a:rPr lang="en-US" dirty="0"/>
              <a:t>, </a:t>
            </a:r>
            <a:r>
              <a:rPr lang="en-US" dirty="0" err="1"/>
              <a:t>медицинском</a:t>
            </a:r>
            <a:r>
              <a:rPr lang="en-US" dirty="0"/>
              <a:t> </a:t>
            </a:r>
            <a:r>
              <a:rPr lang="en-US" dirty="0" err="1"/>
              <a:t>оборудовании</a:t>
            </a:r>
            <a:r>
              <a:rPr lang="en-US" dirty="0"/>
              <a:t>, </a:t>
            </a:r>
            <a:r>
              <a:rPr lang="en-US" dirty="0" err="1"/>
              <a:t>дронах</a:t>
            </a:r>
            <a:r>
              <a:rPr lang="en-US" dirty="0"/>
              <a:t> и </a:t>
            </a:r>
            <a:r>
              <a:rPr lang="en-US" dirty="0" err="1"/>
              <a:t>огромном</a:t>
            </a:r>
            <a:r>
              <a:rPr lang="en-US" dirty="0"/>
              <a:t> </a:t>
            </a:r>
            <a:r>
              <a:rPr lang="en-US" dirty="0" err="1"/>
              <a:t>количестве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основой</a:t>
            </a:r>
            <a:r>
              <a:rPr lang="en-US" dirty="0"/>
              <a:t> embedded system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.</a:t>
            </a:r>
          </a:p>
          <a:p>
            <a:r>
              <a:rPr lang="en-US" dirty="0" err="1"/>
              <a:t>Микроконтроллер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ПК,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чипсет</a:t>
            </a:r>
            <a:r>
              <a:rPr lang="en-US" dirty="0"/>
              <a:t>, </a:t>
            </a:r>
            <a:r>
              <a:rPr lang="en-US" dirty="0" err="1"/>
              <a:t>внешняя</a:t>
            </a:r>
            <a:r>
              <a:rPr lang="en-US" dirty="0"/>
              <a:t> RAM и </a:t>
            </a:r>
            <a:r>
              <a:rPr lang="en-US" dirty="0" err="1"/>
              <a:t>сложная</a:t>
            </a:r>
            <a:r>
              <a:rPr lang="en-US" dirty="0"/>
              <a:t> </a:t>
            </a:r>
            <a:r>
              <a:rPr lang="en-US" dirty="0" err="1"/>
              <a:t>инфраструктура</a:t>
            </a:r>
            <a:r>
              <a:rPr lang="en-US" dirty="0"/>
              <a:t> </a:t>
            </a:r>
            <a:r>
              <a:rPr lang="en-US" dirty="0" err="1"/>
              <a:t>вокруг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ближе</a:t>
            </a:r>
            <a:r>
              <a:rPr lang="en-US" dirty="0"/>
              <a:t> к </a:t>
            </a:r>
            <a:r>
              <a:rPr lang="en-US" dirty="0" err="1"/>
              <a:t>железу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привычной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</a:t>
            </a:r>
            <a:r>
              <a:rPr lang="en-US" dirty="0" err="1"/>
              <a:t>виртуальной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абстракций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,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темы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—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указатели</a:t>
            </a:r>
            <a:r>
              <a:rPr lang="en-US" dirty="0"/>
              <a:t>, </a:t>
            </a:r>
            <a:r>
              <a:rPr lang="en-US" dirty="0" err="1"/>
              <a:t>ассемблер</a:t>
            </a:r>
            <a:r>
              <a:rPr lang="en-US" dirty="0"/>
              <a:t>, ABI,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и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—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744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маленький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, </a:t>
            </a:r>
            <a:r>
              <a:rPr lang="en-US" dirty="0" err="1"/>
              <a:t>собранный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в </a:t>
            </a:r>
            <a:r>
              <a:rPr lang="en-US" dirty="0" err="1"/>
              <a:t>настольном</a:t>
            </a:r>
            <a:r>
              <a:rPr lang="en-US" dirty="0"/>
              <a:t> </a:t>
            </a:r>
            <a:r>
              <a:rPr lang="en-US" dirty="0" err="1"/>
              <a:t>компьютере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контроллеры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и </a:t>
            </a:r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в </a:t>
            </a:r>
            <a:r>
              <a:rPr lang="en-US" dirty="0" err="1"/>
              <a:t>микроконтроллере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объединено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оборудованием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мотором</a:t>
            </a:r>
            <a:r>
              <a:rPr lang="en-US" dirty="0"/>
              <a:t>,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температуру</a:t>
            </a:r>
            <a:r>
              <a:rPr lang="en-US" dirty="0"/>
              <a:t>,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UART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светодиодами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физическим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89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подробнее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Центральный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CPU,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x86-64,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производительны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Flash memory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энергонезависимая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в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выключения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flash </a:t>
            </a:r>
            <a:r>
              <a:rPr lang="en-US" dirty="0" err="1"/>
              <a:t>сохраняется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SRAM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</a:t>
            </a:r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динамически</a:t>
            </a:r>
            <a:r>
              <a:rPr lang="en-US" dirty="0"/>
              <a:t> </a:t>
            </a:r>
            <a:r>
              <a:rPr lang="en-US" dirty="0" err="1"/>
              <a:t>выделенная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EEPROM —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энергонезависимой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объёмов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сохраняться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настроек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калибровочных</a:t>
            </a:r>
            <a:r>
              <a:rPr lang="en-US" dirty="0"/>
              <a:t> </a:t>
            </a:r>
            <a:r>
              <a:rPr lang="en-US" dirty="0" err="1"/>
              <a:t>коэффициентов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dirty="0" err="1"/>
              <a:t>периферию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полезным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embedded systems.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—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,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78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различия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микроконтроллерами</a:t>
            </a:r>
            <a:r>
              <a:rPr lang="en-US" dirty="0"/>
              <a:t> и </a:t>
            </a:r>
            <a:r>
              <a:rPr lang="en-US" dirty="0" err="1"/>
              <a:t>современными</a:t>
            </a:r>
            <a:r>
              <a:rPr lang="en-US" dirty="0"/>
              <a:t> </a:t>
            </a:r>
            <a:r>
              <a:rPr lang="en-US" dirty="0" err="1"/>
              <a:t>процессорами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ПК, </a:t>
            </a:r>
            <a:r>
              <a:rPr lang="en-US" dirty="0" err="1"/>
              <a:t>фундаментальные</a:t>
            </a:r>
            <a:r>
              <a:rPr lang="en-US" dirty="0"/>
              <a:t> </a:t>
            </a:r>
            <a:r>
              <a:rPr lang="en-US" dirty="0" err="1"/>
              <a:t>принципы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теми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CPU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и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.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концепции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— </a:t>
            </a:r>
            <a:r>
              <a:rPr lang="en-US" dirty="0" err="1"/>
              <a:t>стековые</a:t>
            </a:r>
            <a:r>
              <a:rPr lang="en-US" dirty="0"/>
              <a:t> </a:t>
            </a:r>
            <a:r>
              <a:rPr lang="en-US" dirty="0" err="1"/>
              <a:t>кадры</a:t>
            </a:r>
            <a:r>
              <a:rPr lang="en-US" dirty="0"/>
              <a:t>, </a:t>
            </a:r>
            <a:r>
              <a:rPr lang="en-US" dirty="0" err="1"/>
              <a:t>указатели</a:t>
            </a:r>
            <a:r>
              <a:rPr lang="en-US" dirty="0"/>
              <a:t>, layout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ассемблерные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—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актуальными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: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ATmega328P,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Arduino Nano,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частоте</a:t>
            </a:r>
            <a:r>
              <a:rPr lang="en-US" dirty="0"/>
              <a:t> 16 </a:t>
            </a:r>
            <a:r>
              <a:rPr lang="en-US" dirty="0" err="1"/>
              <a:t>MHz.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: </a:t>
            </a:r>
            <a:r>
              <a:rPr lang="en-US" dirty="0" err="1"/>
              <a:t>современные</a:t>
            </a:r>
            <a:r>
              <a:rPr lang="en-US" dirty="0"/>
              <a:t> </a:t>
            </a:r>
            <a:r>
              <a:rPr lang="en-US" dirty="0" err="1"/>
              <a:t>процессоры</a:t>
            </a:r>
            <a:r>
              <a:rPr lang="en-US" dirty="0"/>
              <a:t> x86-64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частотах</a:t>
            </a:r>
            <a:r>
              <a:rPr lang="en-US" dirty="0"/>
              <a:t> в </a:t>
            </a:r>
            <a:r>
              <a:rPr lang="en-US" dirty="0" err="1"/>
              <a:t>несколько</a:t>
            </a:r>
            <a:r>
              <a:rPr lang="en-US" dirty="0"/>
              <a:t> GHz.</a:t>
            </a:r>
            <a:endParaRPr lang="ru-RU" dirty="0"/>
          </a:p>
          <a:p>
            <a:endParaRPr lang="en-US" dirty="0"/>
          </a:p>
          <a:p>
            <a:r>
              <a:rPr lang="en-US" dirty="0"/>
              <a:t>Объём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маленький</a:t>
            </a:r>
            <a:r>
              <a:rPr lang="en-US" dirty="0"/>
              <a:t>. В ATmega328P </a:t>
            </a:r>
            <a:r>
              <a:rPr lang="en-US" dirty="0" err="1"/>
              <a:t>всего</a:t>
            </a:r>
            <a:r>
              <a:rPr lang="en-US" dirty="0"/>
              <a:t> 2 KB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32 KB flash-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 embedded-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гораздо</a:t>
            </a:r>
            <a:r>
              <a:rPr lang="en-US" dirty="0"/>
              <a:t> </a:t>
            </a:r>
            <a:r>
              <a:rPr lang="en-US" dirty="0" err="1"/>
              <a:t>внимательнее</a:t>
            </a:r>
            <a:r>
              <a:rPr lang="en-US" dirty="0"/>
              <a:t> </a:t>
            </a:r>
            <a:r>
              <a:rPr lang="en-US" dirty="0" err="1"/>
              <a:t>относиться</a:t>
            </a:r>
            <a:r>
              <a:rPr lang="en-US" dirty="0"/>
              <a:t> к </a:t>
            </a:r>
            <a:r>
              <a:rPr lang="en-US" dirty="0" err="1"/>
              <a:t>размеру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76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встроенной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—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, </a:t>
            </a:r>
            <a:r>
              <a:rPr lang="en-US" dirty="0" err="1"/>
              <a:t>предназначенных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и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ограничивается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выполнением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 </a:t>
            </a:r>
            <a:r>
              <a:rPr lang="en-US" dirty="0" err="1"/>
              <a:t>Значительная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функциональности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управлением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и </a:t>
            </a:r>
            <a:r>
              <a:rPr lang="en-US" dirty="0" err="1"/>
              <a:t>обменом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с </a:t>
            </a:r>
            <a:r>
              <a:rPr lang="en-US" dirty="0" err="1"/>
              <a:t>окружающей</a:t>
            </a:r>
            <a:r>
              <a:rPr lang="en-US" dirty="0"/>
              <a:t> </a:t>
            </a:r>
            <a:r>
              <a:rPr lang="en-US" dirty="0" err="1"/>
              <a:t>средой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базовым</a:t>
            </a:r>
            <a:r>
              <a:rPr lang="en-US" dirty="0"/>
              <a:t> </a:t>
            </a:r>
            <a:r>
              <a:rPr lang="en-US" dirty="0" err="1"/>
              <a:t>видом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GPIO — General Purpose Input/Output.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программно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цифровых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 С </a:t>
            </a:r>
            <a:r>
              <a:rPr lang="en-US" dirty="0" err="1"/>
              <a:t>помощью</a:t>
            </a:r>
            <a:r>
              <a:rPr lang="en-US" dirty="0"/>
              <a:t> GPIO </a:t>
            </a:r>
            <a:r>
              <a:rPr lang="en-US" dirty="0" err="1"/>
              <a:t>можно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светодиодами</a:t>
            </a:r>
            <a:r>
              <a:rPr lang="en-US" dirty="0"/>
              <a:t>,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UART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последовательной</a:t>
            </a:r>
            <a:r>
              <a:rPr lang="en-US" dirty="0"/>
              <a:t> </a:t>
            </a:r>
            <a:r>
              <a:rPr lang="en-US" dirty="0" err="1"/>
              <a:t>асинхронной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информацией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микроконтроллером</a:t>
            </a:r>
            <a:r>
              <a:rPr lang="en-US" dirty="0"/>
              <a:t> и </a:t>
            </a:r>
            <a:r>
              <a:rPr lang="en-US" dirty="0" err="1"/>
              <a:t>компьютером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электронными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Интерфейсы</a:t>
            </a:r>
            <a:r>
              <a:rPr lang="en-US" dirty="0"/>
              <a:t> SPI и I2C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микросхем</a:t>
            </a:r>
            <a:r>
              <a:rPr lang="en-US" dirty="0"/>
              <a:t> и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,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датчики</a:t>
            </a:r>
            <a:r>
              <a:rPr lang="en-US" dirty="0"/>
              <a:t>, </a:t>
            </a:r>
            <a:r>
              <a:rPr lang="en-US" dirty="0" err="1"/>
              <a:t>дисплеи</a:t>
            </a:r>
            <a:r>
              <a:rPr lang="en-US" dirty="0"/>
              <a:t>, </a:t>
            </a:r>
            <a:r>
              <a:rPr lang="en-US" dirty="0" err="1"/>
              <a:t>энергонезависимая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Таймеры</a:t>
            </a:r>
            <a:r>
              <a:rPr lang="en-US" dirty="0"/>
              <a:t> и </a:t>
            </a:r>
            <a:r>
              <a:rPr lang="en-US" dirty="0" err="1"/>
              <a:t>счётчики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,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и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связанные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участия</a:t>
            </a:r>
            <a:r>
              <a:rPr lang="en-US" dirty="0"/>
              <a:t> </a:t>
            </a:r>
            <a:r>
              <a:rPr lang="en-US" dirty="0" err="1"/>
              <a:t>центрального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ADC — analog-to-digital converter —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аналоговых</a:t>
            </a:r>
            <a:r>
              <a:rPr lang="en-US" dirty="0"/>
              <a:t> </a:t>
            </a:r>
            <a:r>
              <a:rPr lang="en-US" dirty="0" err="1"/>
              <a:t>электрических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в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пригодные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датчиками</a:t>
            </a:r>
            <a:r>
              <a:rPr lang="en-US" dirty="0"/>
              <a:t> </a:t>
            </a:r>
            <a:r>
              <a:rPr lang="en-US" dirty="0" err="1"/>
              <a:t>температуры</a:t>
            </a:r>
            <a:r>
              <a:rPr lang="en-US" dirty="0"/>
              <a:t>, </a:t>
            </a:r>
            <a:r>
              <a:rPr lang="en-US" dirty="0" err="1"/>
              <a:t>освещённости</a:t>
            </a:r>
            <a:r>
              <a:rPr lang="en-US" dirty="0"/>
              <a:t>, </a:t>
            </a:r>
            <a:r>
              <a:rPr lang="en-US" dirty="0" err="1"/>
              <a:t>напряжения</a:t>
            </a:r>
            <a:r>
              <a:rPr lang="en-US" dirty="0"/>
              <a:t>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аналоговыми</a:t>
            </a:r>
            <a:r>
              <a:rPr lang="en-US" dirty="0"/>
              <a:t> </a:t>
            </a:r>
            <a:r>
              <a:rPr lang="en-US" dirty="0" err="1"/>
              <a:t>источниками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PWM — pulse width modulation —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регулировке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 </a:t>
            </a:r>
            <a:r>
              <a:rPr lang="en-US" dirty="0" err="1"/>
              <a:t>светодиодов</a:t>
            </a:r>
            <a:r>
              <a:rPr lang="en-US" dirty="0"/>
              <a:t>, </a:t>
            </a:r>
            <a:r>
              <a:rPr lang="en-US" dirty="0" err="1"/>
              <a:t>управлении</a:t>
            </a:r>
            <a:r>
              <a:rPr lang="en-US" dirty="0"/>
              <a:t> </a:t>
            </a:r>
            <a:r>
              <a:rPr lang="en-US" dirty="0" err="1"/>
              <a:t>скоростью</a:t>
            </a:r>
            <a:r>
              <a:rPr lang="en-US" dirty="0"/>
              <a:t> </a:t>
            </a:r>
            <a:r>
              <a:rPr lang="en-US" dirty="0" err="1"/>
              <a:t>электродвигателей</a:t>
            </a:r>
            <a:r>
              <a:rPr lang="en-US" dirty="0"/>
              <a:t> и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аналогоподобных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управляются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.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концепциями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, </a:t>
            </a:r>
            <a:r>
              <a:rPr lang="en-US" dirty="0" err="1"/>
              <a:t>адресации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низкоуровневого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рассматривались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1030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полноценную</a:t>
            </a:r>
            <a:r>
              <a:rPr lang="en-US" dirty="0"/>
              <a:t> </a:t>
            </a:r>
            <a:r>
              <a:rPr lang="en-US" dirty="0" err="1"/>
              <a:t>вычислительную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, </a:t>
            </a:r>
            <a:r>
              <a:rPr lang="en-US" dirty="0" err="1"/>
              <a:t>интегрированную</a:t>
            </a:r>
            <a:r>
              <a:rPr lang="en-US" dirty="0"/>
              <a:t> в </a:t>
            </a:r>
            <a:r>
              <a:rPr lang="en-US" dirty="0" err="1"/>
              <a:t>пределах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полупроводникового</a:t>
            </a:r>
            <a:r>
              <a:rPr lang="en-US" dirty="0"/>
              <a:t> </a:t>
            </a:r>
            <a:r>
              <a:rPr lang="en-US" dirty="0" err="1"/>
              <a:t>кристалла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традиционных</a:t>
            </a:r>
            <a:r>
              <a:rPr lang="en-US" dirty="0"/>
              <a:t> </a:t>
            </a:r>
            <a:r>
              <a:rPr lang="en-US" dirty="0" err="1"/>
              <a:t>компьютерных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контроллеры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представлены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, в </a:t>
            </a:r>
            <a:r>
              <a:rPr lang="en-US" dirty="0" err="1"/>
              <a:t>микроконтроллере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объединены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Типичный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, </a:t>
            </a:r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 и </a:t>
            </a:r>
            <a:r>
              <a:rPr lang="en-US" dirty="0" err="1"/>
              <a:t>внутренних</a:t>
            </a:r>
            <a:r>
              <a:rPr lang="en-US" dirty="0"/>
              <a:t> </a:t>
            </a:r>
            <a:r>
              <a:rPr lang="en-US" dirty="0" err="1"/>
              <a:t>системных</a:t>
            </a:r>
            <a:r>
              <a:rPr lang="en-US" dirty="0"/>
              <a:t> </a:t>
            </a:r>
            <a:r>
              <a:rPr lang="en-US" dirty="0" err="1"/>
              <a:t>контроллеров</a:t>
            </a:r>
            <a:r>
              <a:rPr lang="en-US" dirty="0"/>
              <a:t>.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этими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посредством</a:t>
            </a:r>
            <a:r>
              <a:rPr lang="en-US" dirty="0"/>
              <a:t> </a:t>
            </a:r>
            <a:r>
              <a:rPr lang="en-US" dirty="0" err="1"/>
              <a:t>внутренних</a:t>
            </a:r>
            <a:r>
              <a:rPr lang="en-US" dirty="0"/>
              <a:t> </a:t>
            </a:r>
            <a:r>
              <a:rPr lang="en-US" dirty="0" err="1"/>
              <a:t>шин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адресации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степень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ряд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преимуществ</a:t>
            </a:r>
            <a:r>
              <a:rPr lang="en-US" dirty="0"/>
              <a:t>.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обладают</a:t>
            </a:r>
            <a:r>
              <a:rPr lang="en-US" dirty="0"/>
              <a:t> </a:t>
            </a:r>
            <a:r>
              <a:rPr lang="en-US" dirty="0" err="1"/>
              <a:t>малыми</a:t>
            </a:r>
            <a:r>
              <a:rPr lang="en-US" dirty="0"/>
              <a:t> </a:t>
            </a:r>
            <a:r>
              <a:rPr lang="en-US" dirty="0" err="1"/>
              <a:t>размерами</a:t>
            </a:r>
            <a:r>
              <a:rPr lang="en-US" dirty="0"/>
              <a:t>, </a:t>
            </a:r>
            <a:r>
              <a:rPr lang="en-US" dirty="0" err="1"/>
              <a:t>низким</a:t>
            </a:r>
            <a:r>
              <a:rPr lang="en-US" dirty="0"/>
              <a:t> </a:t>
            </a:r>
            <a:r>
              <a:rPr lang="en-US" dirty="0" err="1"/>
              <a:t>энергопотреблением</a:t>
            </a:r>
            <a:r>
              <a:rPr lang="en-US" dirty="0"/>
              <a:t> и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невысокой</a:t>
            </a:r>
            <a:r>
              <a:rPr lang="en-US" dirty="0"/>
              <a:t> </a:t>
            </a:r>
            <a:r>
              <a:rPr lang="en-US" dirty="0" err="1"/>
              <a:t>стоимостью</a:t>
            </a:r>
            <a:r>
              <a:rPr lang="en-US" dirty="0"/>
              <a:t>. </a:t>
            </a:r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работающего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минимальное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применяются</a:t>
            </a:r>
            <a:r>
              <a:rPr lang="en-US" dirty="0"/>
              <a:t> в </a:t>
            </a:r>
            <a:r>
              <a:rPr lang="en-US" dirty="0" err="1"/>
              <a:t>устройствах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компактность</a:t>
            </a:r>
            <a:r>
              <a:rPr lang="en-US" dirty="0"/>
              <a:t>, </a:t>
            </a:r>
            <a:r>
              <a:rPr lang="en-US" dirty="0" err="1"/>
              <a:t>автономность</a:t>
            </a:r>
            <a:r>
              <a:rPr lang="en-US" dirty="0"/>
              <a:t> и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непосредственного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интеграция</a:t>
            </a:r>
            <a:r>
              <a:rPr lang="en-US" dirty="0"/>
              <a:t> </a:t>
            </a:r>
            <a:r>
              <a:rPr lang="en-US" dirty="0" err="1"/>
              <a:t>сопровождается</a:t>
            </a:r>
            <a:r>
              <a:rPr lang="en-US" dirty="0"/>
              <a:t> и </a:t>
            </a:r>
            <a:r>
              <a:rPr lang="en-US" dirty="0" err="1"/>
              <a:t>рядом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. Объём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невелик</a:t>
            </a:r>
            <a:r>
              <a:rPr lang="en-US" dirty="0"/>
              <a:t>, </a:t>
            </a:r>
            <a:r>
              <a:rPr lang="en-US" dirty="0" err="1"/>
              <a:t>вычислительная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сравнению</a:t>
            </a:r>
            <a:r>
              <a:rPr lang="en-US" dirty="0"/>
              <a:t> с </a:t>
            </a:r>
            <a:r>
              <a:rPr lang="en-US" dirty="0" err="1"/>
              <a:t>процессорами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а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ограничены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программного</a:t>
            </a:r>
            <a:r>
              <a:rPr lang="en-US" dirty="0"/>
              <a:t> </a:t>
            </a:r>
            <a:r>
              <a:rPr lang="en-US" dirty="0" err="1"/>
              <a:t>обеспечения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приобретают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и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496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платформы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дальнейшего</a:t>
            </a:r>
            <a:r>
              <a:rPr lang="en-US" dirty="0"/>
              <a:t> </a:t>
            </a:r>
            <a:r>
              <a:rPr lang="en-US" dirty="0" err="1"/>
              <a:t>изучения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/>
              <a:t>AVR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семейство</a:t>
            </a:r>
            <a:r>
              <a:rPr lang="en-US" dirty="0"/>
              <a:t> 8-битных </a:t>
            </a:r>
            <a:r>
              <a:rPr lang="en-US" dirty="0" err="1"/>
              <a:t>микроконтроллеров</a:t>
            </a:r>
            <a:r>
              <a:rPr lang="en-US" dirty="0"/>
              <a:t>, </a:t>
            </a:r>
            <a:r>
              <a:rPr lang="en-US" dirty="0" err="1"/>
              <a:t>первоначально</a:t>
            </a:r>
            <a:r>
              <a:rPr lang="en-US" dirty="0"/>
              <a:t> </a:t>
            </a:r>
            <a:r>
              <a:rPr lang="en-US" dirty="0" err="1"/>
              <a:t>разработанное</a:t>
            </a:r>
            <a:r>
              <a:rPr lang="en-US" dirty="0"/>
              <a:t> </a:t>
            </a:r>
            <a:r>
              <a:rPr lang="en-US" dirty="0" err="1"/>
              <a:t>компанией</a:t>
            </a:r>
            <a:r>
              <a:rPr lang="en-US" dirty="0"/>
              <a:t> Atmel,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позднее</a:t>
            </a:r>
            <a:r>
              <a:rPr lang="en-US" dirty="0"/>
              <a:t> </a:t>
            </a:r>
            <a:r>
              <a:rPr lang="en-US" dirty="0" err="1"/>
              <a:t>стала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Microchip Technology.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Микроконтроллеры</a:t>
            </a:r>
            <a:r>
              <a:rPr lang="en-US" dirty="0"/>
              <a:t> AVR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широкое</a:t>
            </a:r>
            <a:r>
              <a:rPr lang="en-US" dirty="0"/>
              <a:t> </a:t>
            </a:r>
            <a:r>
              <a:rPr lang="en-US" dirty="0" err="1"/>
              <a:t>распространение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архитектуре</a:t>
            </a:r>
            <a:r>
              <a:rPr lang="en-US" dirty="0"/>
              <a:t>, </a:t>
            </a:r>
            <a:r>
              <a:rPr lang="en-US" dirty="0" err="1"/>
              <a:t>доступности</a:t>
            </a:r>
            <a:r>
              <a:rPr lang="en-US" dirty="0"/>
              <a:t> и </a:t>
            </a:r>
            <a:r>
              <a:rPr lang="en-US" dirty="0" err="1"/>
              <a:t>большому</a:t>
            </a:r>
            <a:r>
              <a:rPr lang="en-US" dirty="0"/>
              <a:t>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учебных</a:t>
            </a:r>
            <a:r>
              <a:rPr lang="en-US" dirty="0"/>
              <a:t> </a:t>
            </a:r>
            <a:r>
              <a:rPr lang="en-US" dirty="0" err="1"/>
              <a:t>платформ</a:t>
            </a:r>
            <a:r>
              <a:rPr lang="en-US" dirty="0"/>
              <a:t>, </a:t>
            </a:r>
            <a:r>
              <a:rPr lang="en-US" dirty="0" err="1"/>
              <a:t>включая</a:t>
            </a:r>
            <a:r>
              <a:rPr lang="en-US" dirty="0"/>
              <a:t> Arduino.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dirty="0" err="1"/>
              <a:t>классу</a:t>
            </a:r>
            <a:r>
              <a:rPr lang="en-US" dirty="0"/>
              <a:t> RISC — Reduced Instruction Set Computer.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сравнительно</a:t>
            </a:r>
            <a:r>
              <a:rPr lang="en-US" dirty="0"/>
              <a:t> </a:t>
            </a:r>
            <a:r>
              <a:rPr lang="en-US" dirty="0" err="1"/>
              <a:t>невелик</a:t>
            </a:r>
            <a:r>
              <a:rPr lang="en-US" dirty="0"/>
              <a:t> и </a:t>
            </a:r>
            <a:r>
              <a:rPr lang="en-US" dirty="0" err="1"/>
              <a:t>ориентирован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быстрое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AVR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embedded systems,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, </a:t>
            </a:r>
            <a:r>
              <a:rPr lang="en-US" dirty="0" err="1"/>
              <a:t>предсказуемость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простота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2639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Harvard architecture.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</a:t>
            </a:r>
            <a:r>
              <a:rPr lang="en-US" dirty="0" err="1"/>
              <a:t>фон</a:t>
            </a:r>
            <a:r>
              <a:rPr lang="en-US" dirty="0"/>
              <a:t> </a:t>
            </a:r>
            <a:r>
              <a:rPr lang="en-US" dirty="0" err="1"/>
              <a:t>Неймана</a:t>
            </a:r>
            <a:r>
              <a:rPr lang="en-US" dirty="0"/>
              <a:t>, </a:t>
            </a:r>
            <a:r>
              <a:rPr lang="en-US" dirty="0" err="1"/>
              <a:t>характерной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и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едином</a:t>
            </a:r>
            <a:r>
              <a:rPr lang="en-US" dirty="0"/>
              <a:t>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Harvard architecture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разделены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шины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очередную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данными</a:t>
            </a:r>
            <a:r>
              <a:rPr lang="en-US" dirty="0"/>
              <a:t> в SRAM.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упрощает</a:t>
            </a:r>
            <a:r>
              <a:rPr lang="en-US" dirty="0"/>
              <a:t> </a:t>
            </a:r>
            <a:r>
              <a:rPr lang="en-US" dirty="0" err="1"/>
              <a:t>аппаратную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повысить</a:t>
            </a:r>
            <a:r>
              <a:rPr lang="en-US" dirty="0"/>
              <a:t>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в </a:t>
            </a:r>
            <a:r>
              <a:rPr lang="en-US" dirty="0" err="1"/>
              <a:t>условиях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31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предназначенных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Flash memory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SRAM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В </a:t>
            </a:r>
            <a:r>
              <a:rPr lang="en-US" dirty="0" err="1"/>
              <a:t>ней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</a:t>
            </a:r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и </a:t>
            </a:r>
            <a:r>
              <a:rPr lang="en-US" dirty="0" err="1"/>
              <a:t>динамически</a:t>
            </a:r>
            <a:r>
              <a:rPr lang="en-US" dirty="0"/>
              <a:t> </a:t>
            </a:r>
            <a:r>
              <a:rPr lang="en-US" dirty="0" err="1"/>
              <a:t>выделяемая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EEPROM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энергонезависимой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объёмов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операционных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виртуальную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защиты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с </a:t>
            </a:r>
            <a:r>
              <a:rPr lang="en-US" dirty="0" err="1"/>
              <a:t>физической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ограниченного</a:t>
            </a:r>
            <a:r>
              <a:rPr lang="en-US" dirty="0"/>
              <a:t> </a:t>
            </a:r>
            <a:r>
              <a:rPr lang="en-US" dirty="0" err="1"/>
              <a:t>объёма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embedded-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внимательно</a:t>
            </a:r>
            <a:r>
              <a:rPr lang="en-US" dirty="0"/>
              <a:t> </a:t>
            </a: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и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и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размещаются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95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содержит</a:t>
            </a:r>
            <a:r>
              <a:rPr lang="en-US" dirty="0"/>
              <a:t> 32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обозначаемых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R0–R31.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8-битного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, и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причин</a:t>
            </a:r>
            <a:r>
              <a:rPr lang="en-US" dirty="0"/>
              <a:t> </a:t>
            </a:r>
            <a:r>
              <a:rPr lang="en-US" dirty="0" err="1"/>
              <a:t>высокой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арифметических</a:t>
            </a:r>
            <a:r>
              <a:rPr lang="en-US" dirty="0"/>
              <a:t> и </a:t>
            </a:r>
            <a:r>
              <a:rPr lang="en-US" dirty="0" err="1"/>
              <a:t>логических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такт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Некоторые</a:t>
            </a:r>
            <a:r>
              <a:rPr lang="en-US" dirty="0"/>
              <a:t> </a:t>
            </a:r>
            <a:r>
              <a:rPr lang="en-US" dirty="0" err="1"/>
              <a:t>пары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16-битные </a:t>
            </a:r>
            <a:r>
              <a:rPr lang="en-US" dirty="0" err="1"/>
              <a:t>указатели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регистры</a:t>
            </a:r>
            <a:r>
              <a:rPr lang="en-US" dirty="0"/>
              <a:t> X, Y и Z </a:t>
            </a:r>
            <a:r>
              <a:rPr lang="en-US" dirty="0" err="1"/>
              <a:t>применяются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адресации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массивами</a:t>
            </a:r>
            <a:r>
              <a:rPr lang="en-US" dirty="0"/>
              <a:t>, </a:t>
            </a:r>
            <a:r>
              <a:rPr lang="en-US" dirty="0" err="1"/>
              <a:t>строками</a:t>
            </a:r>
            <a:r>
              <a:rPr lang="en-US" dirty="0"/>
              <a:t> и </a:t>
            </a:r>
            <a:r>
              <a:rPr lang="en-US" dirty="0" err="1"/>
              <a:t>структурами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AVR </a:t>
            </a:r>
            <a:r>
              <a:rPr lang="en-US" dirty="0" err="1"/>
              <a:t>ориентированы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ru-RU" dirty="0"/>
              <a:t>указателей</a:t>
            </a:r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заметить</a:t>
            </a:r>
            <a:r>
              <a:rPr lang="en-US" dirty="0"/>
              <a:t> </a:t>
            </a:r>
            <a:r>
              <a:rPr lang="en-US" dirty="0" err="1"/>
              <a:t>связь</a:t>
            </a:r>
            <a:r>
              <a:rPr lang="en-US" dirty="0"/>
              <a:t> с </a:t>
            </a:r>
            <a:r>
              <a:rPr lang="en-US" dirty="0" err="1"/>
              <a:t>темами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 и </a:t>
            </a:r>
            <a:r>
              <a:rPr lang="en-US" dirty="0" err="1"/>
              <a:t>адресной</a:t>
            </a:r>
            <a:r>
              <a:rPr lang="en-US" dirty="0"/>
              <a:t> </a:t>
            </a:r>
            <a:r>
              <a:rPr lang="en-US" dirty="0" err="1"/>
              <a:t>арифметики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изучались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020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AVR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компактна</a:t>
            </a:r>
            <a:r>
              <a:rPr lang="en-US" dirty="0"/>
              <a:t> и </a:t>
            </a:r>
            <a:r>
              <a:rPr lang="en-US" dirty="0" err="1"/>
              <a:t>ориентирована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AVR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условно</a:t>
            </a:r>
            <a:r>
              <a:rPr lang="en-US" dirty="0"/>
              <a:t> </a:t>
            </a:r>
            <a:r>
              <a:rPr lang="en-US" dirty="0" err="1"/>
              <a:t>разделить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основных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памятью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загрузку</a:t>
            </a:r>
            <a:r>
              <a:rPr lang="en-US" dirty="0"/>
              <a:t> и </a:t>
            </a:r>
            <a:r>
              <a:rPr lang="en-US" dirty="0" err="1"/>
              <a:t>сохранение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ru-RU" dirty="0"/>
              <a:t>регистры-указатели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</a:t>
            </a:r>
            <a:r>
              <a:rPr lang="en-US" dirty="0" err="1"/>
              <a:t>непосредственное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Арифметические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сложение</a:t>
            </a:r>
            <a:r>
              <a:rPr lang="en-US" dirty="0"/>
              <a:t>, </a:t>
            </a:r>
            <a:r>
              <a:rPr lang="en-US" dirty="0" err="1"/>
              <a:t>вычитание</a:t>
            </a:r>
            <a:r>
              <a:rPr lang="en-US" dirty="0"/>
              <a:t>, </a:t>
            </a:r>
            <a:r>
              <a:rPr lang="en-US" dirty="0" err="1"/>
              <a:t>инкремент</a:t>
            </a:r>
            <a:r>
              <a:rPr lang="en-US" dirty="0"/>
              <a:t> и </a:t>
            </a:r>
            <a:r>
              <a:rPr lang="en-US" dirty="0" err="1"/>
              <a:t>декремент</a:t>
            </a:r>
            <a:r>
              <a:rPr lang="en-US" dirty="0"/>
              <a:t>.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реализуют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AND, OR и XOR. </a:t>
            </a:r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управлении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битами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сдвига</a:t>
            </a:r>
            <a:r>
              <a:rPr lang="en-US" dirty="0"/>
              <a:t> и </a:t>
            </a:r>
            <a:r>
              <a:rPr lang="en-US" dirty="0" err="1"/>
              <a:t>битовых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устанавливать</a:t>
            </a:r>
            <a:r>
              <a:rPr lang="en-US" dirty="0"/>
              <a:t> и </a:t>
            </a:r>
            <a:r>
              <a:rPr lang="en-US" dirty="0" err="1"/>
              <a:t>сбрасывать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в I/O-</a:t>
            </a:r>
            <a:r>
              <a:rPr lang="en-US" dirty="0" err="1"/>
              <a:t>регистрах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SBI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CBI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установки</a:t>
            </a:r>
            <a:r>
              <a:rPr lang="en-US" dirty="0"/>
              <a:t> и </a:t>
            </a:r>
            <a:r>
              <a:rPr lang="en-US" dirty="0" err="1"/>
              <a:t>очистки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в </a:t>
            </a:r>
            <a:r>
              <a:rPr lang="en-US" dirty="0" err="1"/>
              <a:t>регистрах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переходов</a:t>
            </a:r>
            <a:r>
              <a:rPr lang="en-US" dirty="0"/>
              <a:t> и </a:t>
            </a:r>
            <a:r>
              <a:rPr lang="en-US" dirty="0" err="1"/>
              <a:t>вызовов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потоком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, </a:t>
            </a:r>
            <a:r>
              <a:rPr lang="en-US" dirty="0" err="1"/>
              <a:t>циклов</a:t>
            </a:r>
            <a:r>
              <a:rPr lang="en-US" dirty="0"/>
              <a:t> и </a:t>
            </a:r>
            <a:r>
              <a:rPr lang="en-US" dirty="0" err="1"/>
              <a:t>подпрограмм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ввода-вывода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I/O-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модулями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приведёт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выводах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относительную</a:t>
            </a:r>
            <a:r>
              <a:rPr lang="en-US" dirty="0"/>
              <a:t> </a:t>
            </a:r>
            <a:r>
              <a:rPr lang="en-US" dirty="0" err="1"/>
              <a:t>простоту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AVR,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базовые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, </a:t>
            </a:r>
            <a:r>
              <a:rPr lang="en-US" dirty="0" err="1"/>
              <a:t>характерные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процессорных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: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,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,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потоком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43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, </a:t>
            </a:r>
            <a:r>
              <a:rPr lang="en-US" dirty="0" err="1"/>
              <a:t>регистровый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AVR </a:t>
            </a:r>
            <a:r>
              <a:rPr lang="en-US" dirty="0" err="1"/>
              <a:t>отображён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Первые</a:t>
            </a:r>
            <a:r>
              <a:rPr lang="en-US" dirty="0"/>
              <a:t> 32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соответствуют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R0–R31.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арифметическими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в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dirty="0" err="1"/>
              <a:t>адресоваться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I/O-</a:t>
            </a:r>
            <a:r>
              <a:rPr lang="en-US" dirty="0" err="1"/>
              <a:t>регистры</a:t>
            </a:r>
            <a:r>
              <a:rPr lang="en-US" dirty="0"/>
              <a:t> —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GPIO, </a:t>
            </a:r>
            <a:r>
              <a:rPr lang="en-US" dirty="0" err="1"/>
              <a:t>таймерами</a:t>
            </a:r>
            <a:r>
              <a:rPr lang="en-US" dirty="0"/>
              <a:t>, UART, ADC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модулями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PORTB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уровни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выводах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Часть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доступна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IN и OUT, </a:t>
            </a:r>
            <a:r>
              <a:rPr lang="en-US" dirty="0" err="1"/>
              <a:t>предназначенные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быстрого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отметить</a:t>
            </a:r>
            <a:r>
              <a:rPr lang="en-US" dirty="0"/>
              <a:t>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.</a:t>
            </a:r>
          </a:p>
          <a:p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SRAM, а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</a:t>
            </a:r>
            <a:r>
              <a:rPr lang="en-US" dirty="0" err="1"/>
              <a:t>регистром</a:t>
            </a:r>
            <a:r>
              <a:rPr lang="en-US" dirty="0"/>
              <a:t> Stack Pointer. В </a:t>
            </a:r>
            <a:r>
              <a:rPr lang="en-US" dirty="0" err="1"/>
              <a:t>архитектуре</a:t>
            </a:r>
            <a:r>
              <a:rPr lang="en-US" dirty="0"/>
              <a:t> AVR Stack Pointer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8-битных </a:t>
            </a:r>
            <a:r>
              <a:rPr lang="en-US" dirty="0" err="1"/>
              <a:t>регистров</a:t>
            </a:r>
            <a:r>
              <a:rPr lang="en-US" dirty="0"/>
              <a:t> — SPL и SPH.</a:t>
            </a:r>
          </a:p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Stack Pointer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I/O-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в AVR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сущностей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регистровый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периферией</a:t>
            </a:r>
            <a:r>
              <a:rPr lang="en-US" dirty="0"/>
              <a:t> и </a:t>
            </a:r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характерной</a:t>
            </a:r>
            <a:r>
              <a:rPr lang="en-US" dirty="0"/>
              <a:t> </a:t>
            </a:r>
            <a:r>
              <a:rPr lang="en-US" dirty="0" err="1"/>
              <a:t>особенностью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микроконтроллерных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 и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концепцией</a:t>
            </a:r>
            <a:r>
              <a:rPr lang="en-US" dirty="0"/>
              <a:t> memory-mapped I/O.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431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ключевые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, </a:t>
            </a:r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и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предсказуема</a:t>
            </a:r>
            <a:r>
              <a:rPr lang="en-US" dirty="0"/>
              <a:t>.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известно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, а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непосредственный</a:t>
            </a:r>
            <a:r>
              <a:rPr lang="en-US" dirty="0"/>
              <a:t>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,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связанной</a:t>
            </a:r>
            <a:r>
              <a:rPr lang="en-US" dirty="0"/>
              <a:t> с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платформой</a:t>
            </a:r>
            <a:r>
              <a:rPr lang="en-US" dirty="0"/>
              <a:t>. 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используемого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embedded-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хорошего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низкоуровневых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04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AVR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адресоваться</a:t>
            </a:r>
            <a:r>
              <a:rPr lang="en-US" dirty="0"/>
              <a:t> </a:t>
            </a:r>
            <a:r>
              <a:rPr lang="en-US" dirty="0" err="1"/>
              <a:t>двумя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специальное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I/O-</a:t>
            </a:r>
            <a:r>
              <a:rPr lang="en-US" dirty="0" err="1"/>
              <a:t>адресов</a:t>
            </a:r>
            <a:r>
              <a:rPr lang="en-US" dirty="0"/>
              <a:t>, </a:t>
            </a:r>
            <a:r>
              <a:rPr lang="en-US" dirty="0" err="1"/>
              <a:t>используемое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 С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в </a:t>
            </a:r>
            <a:r>
              <a:rPr lang="en-US" dirty="0" err="1"/>
              <a:t>документации</a:t>
            </a:r>
            <a:r>
              <a:rPr lang="en-US" dirty="0"/>
              <a:t> </a:t>
            </a:r>
            <a:r>
              <a:rPr lang="en-US" dirty="0" err="1"/>
              <a:t>указываются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</a:t>
            </a:r>
            <a:r>
              <a:rPr lang="en-US" dirty="0"/>
              <a:t>, </a:t>
            </a:r>
            <a:r>
              <a:rPr lang="en-US" dirty="0" err="1"/>
              <a:t>содержащего</a:t>
            </a:r>
            <a:r>
              <a:rPr lang="en-US" dirty="0"/>
              <a:t> </a:t>
            </a:r>
            <a:r>
              <a:rPr lang="en-US" dirty="0" err="1"/>
              <a:t>младший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</a:t>
            </a:r>
            <a:r>
              <a:rPr lang="en-US" dirty="0" err="1"/>
              <a:t>указателя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 – 0x3D (0x5D)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0x3D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I/O-</a:t>
            </a:r>
            <a:r>
              <a:rPr lang="en-US" dirty="0" err="1"/>
              <a:t>пространству</a:t>
            </a:r>
            <a:r>
              <a:rPr lang="en-US" dirty="0"/>
              <a:t> и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</a:t>
            </a:r>
          </a:p>
          <a:p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0x5D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в </a:t>
            </a:r>
            <a:r>
              <a:rPr lang="en-US" dirty="0" err="1"/>
              <a:t>общем</a:t>
            </a:r>
            <a:r>
              <a:rPr lang="en-US" dirty="0"/>
              <a:t>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Связь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этими</a:t>
            </a:r>
            <a:r>
              <a:rPr lang="en-US" dirty="0"/>
              <a:t> </a:t>
            </a:r>
            <a:r>
              <a:rPr lang="en-US" dirty="0" err="1"/>
              <a:t>адресами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простым</a:t>
            </a:r>
            <a:r>
              <a:rPr lang="en-US" dirty="0"/>
              <a:t> </a:t>
            </a:r>
            <a:r>
              <a:rPr lang="en-US" dirty="0" err="1"/>
              <a:t>соотношением</a:t>
            </a:r>
            <a:r>
              <a:rPr lang="en-US" dirty="0"/>
              <a:t>: </a:t>
            </a:r>
            <a:r>
              <a:rPr lang="en-US" dirty="0" err="1"/>
              <a:t>адрес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I/O-</a:t>
            </a:r>
            <a:r>
              <a:rPr lang="en-US" dirty="0" err="1"/>
              <a:t>адресу</a:t>
            </a:r>
            <a:r>
              <a:rPr lang="en-US" dirty="0"/>
              <a:t> </a:t>
            </a:r>
            <a:r>
              <a:rPr lang="en-US" dirty="0" err="1"/>
              <a:t>плюс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0x20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первые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AVR </a:t>
            </a:r>
            <a:r>
              <a:rPr lang="en-US" dirty="0" err="1"/>
              <a:t>заняты</a:t>
            </a:r>
            <a:r>
              <a:rPr lang="en-US" dirty="0"/>
              <a:t> </a:t>
            </a:r>
            <a:r>
              <a:rPr lang="en-US" dirty="0" err="1"/>
              <a:t>регистровым</a:t>
            </a:r>
            <a:r>
              <a:rPr lang="en-US" dirty="0"/>
              <a:t> </a:t>
            </a:r>
            <a:r>
              <a:rPr lang="en-US" dirty="0" err="1"/>
              <a:t>файло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I/O-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компактное</a:t>
            </a:r>
            <a:r>
              <a:rPr lang="en-US" dirty="0"/>
              <a:t> </a:t>
            </a:r>
            <a:r>
              <a:rPr lang="en-US" dirty="0" err="1"/>
              <a:t>кодирование</a:t>
            </a:r>
            <a:r>
              <a:rPr lang="en-US" dirty="0"/>
              <a:t> и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обращаться</a:t>
            </a:r>
            <a:r>
              <a:rPr lang="en-US" dirty="0"/>
              <a:t> к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к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используя</a:t>
            </a:r>
            <a:r>
              <a:rPr lang="en-US" dirty="0"/>
              <a:t> </a:t>
            </a:r>
            <a:r>
              <a:rPr lang="en-US" dirty="0" err="1"/>
              <a:t>стандартные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и </a:t>
            </a:r>
            <a:r>
              <a:rPr lang="en-US" dirty="0" err="1"/>
              <a:t>сохранения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и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memory-mapped I/O.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579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71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подачи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называемого</a:t>
            </a:r>
            <a:r>
              <a:rPr lang="en-US" dirty="0"/>
              <a:t> reset vector.</a:t>
            </a:r>
          </a:p>
          <a:p>
            <a:r>
              <a:rPr lang="en-US" dirty="0"/>
              <a:t>Reset vector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начальную</a:t>
            </a:r>
            <a:r>
              <a:rPr lang="en-US" dirty="0"/>
              <a:t> </a:t>
            </a:r>
            <a:r>
              <a:rPr lang="en-US" dirty="0" err="1"/>
              <a:t>точку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Обычно</a:t>
            </a:r>
            <a:r>
              <a:rPr lang="en-US" dirty="0"/>
              <a:t>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 к startup code — </a:t>
            </a:r>
            <a:r>
              <a:rPr lang="en-US" dirty="0" err="1"/>
              <a:t>специальному</a:t>
            </a:r>
            <a:r>
              <a:rPr lang="en-US" dirty="0"/>
              <a:t> </a:t>
            </a:r>
            <a:r>
              <a:rPr lang="en-US" dirty="0" err="1"/>
              <a:t>коду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среды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к </a:t>
            </a:r>
            <a:r>
              <a:rPr lang="en-US" dirty="0" err="1"/>
              <a:t>моменту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подготовлена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вызовом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ряд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Во-первых</a:t>
            </a:r>
            <a:r>
              <a:rPr lang="en-US" dirty="0"/>
              <a:t>, startup code </a:t>
            </a:r>
            <a:r>
              <a:rPr lang="en-US" dirty="0" err="1"/>
              <a:t>настраивает</a:t>
            </a:r>
            <a:r>
              <a:rPr lang="en-US" dirty="0"/>
              <a:t> Stack Pointer —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.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начальный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используемой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стековых</a:t>
            </a:r>
            <a:r>
              <a:rPr lang="en-US" dirty="0"/>
              <a:t> </a:t>
            </a:r>
            <a:r>
              <a:rPr lang="en-US" dirty="0" err="1"/>
              <a:t>кадров</a:t>
            </a:r>
            <a:r>
              <a:rPr lang="en-US" dirty="0"/>
              <a:t> и </a:t>
            </a:r>
            <a:r>
              <a:rPr lang="en-US" dirty="0" err="1"/>
              <a:t>сохранения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глобальных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Глобальные</a:t>
            </a:r>
            <a:r>
              <a:rPr lang="en-US" dirty="0"/>
              <a:t> и </a:t>
            </a:r>
            <a:r>
              <a:rPr lang="en-US" dirty="0" err="1"/>
              <a:t>статические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 с </a:t>
            </a:r>
            <a:r>
              <a:rPr lang="en-US" dirty="0" err="1"/>
              <a:t>ненулевой</a:t>
            </a:r>
            <a:r>
              <a:rPr lang="en-US" dirty="0"/>
              <a:t> </a:t>
            </a:r>
            <a:r>
              <a:rPr lang="en-US" dirty="0" err="1"/>
              <a:t>инициализацией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секции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.data</a:t>
            </a:r>
            <a:r>
              <a:rPr lang="en-US" dirty="0"/>
              <a:t>.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начальные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хранятся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запуске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копируются</a:t>
            </a:r>
            <a:r>
              <a:rPr lang="en-US" dirty="0"/>
              <a:t> в SRAM.</a:t>
            </a:r>
          </a:p>
          <a:p>
            <a:r>
              <a:rPr lang="en-US" dirty="0" err="1"/>
              <a:t>Переменные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явной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секции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bss</a:t>
            </a:r>
            <a:r>
              <a:rPr lang="en-US" dirty="0"/>
              <a:t>. </a:t>
            </a:r>
            <a:r>
              <a:rPr lang="en-US" dirty="0" err="1"/>
              <a:t>Согласно</a:t>
            </a:r>
            <a:r>
              <a:rPr lang="en-US" dirty="0"/>
              <a:t> </a:t>
            </a:r>
            <a:r>
              <a:rPr lang="en-US" dirty="0" err="1"/>
              <a:t>правилам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инициализированы</a:t>
            </a:r>
            <a:r>
              <a:rPr lang="en-US" dirty="0"/>
              <a:t> </a:t>
            </a:r>
            <a:r>
              <a:rPr lang="en-US" dirty="0" err="1"/>
              <a:t>нулём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startup code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очистку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простая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, а с </a:t>
            </a:r>
            <a:r>
              <a:rPr lang="en-US" dirty="0" err="1"/>
              <a:t>низкоуровневого</a:t>
            </a:r>
            <a:r>
              <a:rPr lang="en-US" dirty="0"/>
              <a:t> startup code,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подготавливает</a:t>
            </a:r>
            <a:r>
              <a:rPr lang="en-US" dirty="0"/>
              <a:t> </a:t>
            </a:r>
            <a:r>
              <a:rPr lang="en-US" dirty="0" err="1"/>
              <a:t>аппаратную</a:t>
            </a:r>
            <a:r>
              <a:rPr lang="en-US" dirty="0"/>
              <a:t> и </a:t>
            </a:r>
            <a:r>
              <a:rPr lang="en-US" dirty="0" err="1"/>
              <a:t>программную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, </a:t>
            </a:r>
            <a:r>
              <a:rPr lang="en-US" dirty="0" err="1"/>
              <a:t>насколько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embedded-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, </a:t>
            </a:r>
            <a:r>
              <a:rPr lang="en-US" dirty="0" err="1"/>
              <a:t>организацией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устройством</a:t>
            </a:r>
            <a:r>
              <a:rPr lang="en-US" dirty="0"/>
              <a:t> runtime-</a:t>
            </a:r>
            <a:r>
              <a:rPr lang="en-US" dirty="0" err="1"/>
              <a:t>среды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29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GPIO — General Purpose Input/Output.</a:t>
            </a:r>
          </a:p>
          <a:p>
            <a:endParaRPr lang="en-US" dirty="0"/>
          </a:p>
          <a:p>
            <a:r>
              <a:rPr lang="en-US" dirty="0"/>
              <a:t>GPIO </a:t>
            </a:r>
            <a:r>
              <a:rPr lang="en-US" dirty="0" err="1"/>
              <a:t>представляют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программно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считываться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помощью</a:t>
            </a:r>
            <a:r>
              <a:rPr lang="en-US" dirty="0"/>
              <a:t> GPIO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включать</a:t>
            </a:r>
            <a:r>
              <a:rPr lang="en-US" dirty="0"/>
              <a:t> </a:t>
            </a:r>
            <a:r>
              <a:rPr lang="en-US" dirty="0" err="1"/>
              <a:t>светодиоды</a:t>
            </a:r>
            <a:r>
              <a:rPr lang="en-US" dirty="0"/>
              <a:t>, </a:t>
            </a:r>
            <a:r>
              <a:rPr lang="en-US" dirty="0" err="1"/>
              <a:t>переключать</a:t>
            </a:r>
            <a:r>
              <a:rPr lang="en-US" dirty="0"/>
              <a:t> </a:t>
            </a:r>
            <a:r>
              <a:rPr lang="en-US" dirty="0" err="1"/>
              <a:t>реле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GPIO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считывания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цифровых</a:t>
            </a:r>
            <a:r>
              <a:rPr lang="en-US" dirty="0"/>
              <a:t> </a:t>
            </a:r>
            <a:r>
              <a:rPr lang="en-US" dirty="0" err="1"/>
              <a:t>датчиков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GPIO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физическим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embedded-</a:t>
            </a:r>
            <a:r>
              <a:rPr lang="en-US" dirty="0" err="1"/>
              <a:t>программирования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7943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GPIO-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настроен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считывает</a:t>
            </a:r>
            <a:r>
              <a:rPr lang="en-US" dirty="0"/>
              <a:t> </a:t>
            </a:r>
            <a:r>
              <a:rPr lang="en-US" dirty="0" err="1"/>
              <a:t>электрический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с </a:t>
            </a:r>
            <a:r>
              <a:rPr lang="en-US" dirty="0" err="1"/>
              <a:t>вывода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подключении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, </a:t>
            </a:r>
            <a:r>
              <a:rPr lang="en-US" dirty="0" err="1"/>
              <a:t>датчиков</a:t>
            </a:r>
            <a:r>
              <a:rPr lang="en-US" dirty="0"/>
              <a:t> 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источников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логических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: LOW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напряжению</a:t>
            </a:r>
            <a:r>
              <a:rPr lang="en-US" dirty="0"/>
              <a:t>, </a:t>
            </a:r>
            <a:r>
              <a:rPr lang="en-US" dirty="0" err="1"/>
              <a:t>близкому</a:t>
            </a:r>
            <a:r>
              <a:rPr lang="en-US" dirty="0"/>
              <a:t> к </a:t>
            </a:r>
            <a:r>
              <a:rPr lang="en-US" dirty="0" err="1"/>
              <a:t>нулю</a:t>
            </a:r>
            <a:r>
              <a:rPr lang="en-US" dirty="0"/>
              <a:t> </a:t>
            </a:r>
            <a:r>
              <a:rPr lang="en-US" dirty="0" err="1"/>
              <a:t>вольт</a:t>
            </a:r>
            <a:r>
              <a:rPr lang="en-US" dirty="0"/>
              <a:t>, а HIGH — </a:t>
            </a:r>
            <a:r>
              <a:rPr lang="en-US" dirty="0" err="1"/>
              <a:t>напряжению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ATmega328P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питании</a:t>
            </a:r>
            <a:r>
              <a:rPr lang="en-US" dirty="0"/>
              <a:t> 5 V </a:t>
            </a:r>
            <a:r>
              <a:rPr lang="en-US" dirty="0" err="1"/>
              <a:t>логическая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напряжению</a:t>
            </a:r>
            <a:r>
              <a:rPr lang="en-US" dirty="0"/>
              <a:t>, </a:t>
            </a:r>
            <a:r>
              <a:rPr lang="en-US" dirty="0" err="1"/>
              <a:t>близкому</a:t>
            </a:r>
            <a:r>
              <a:rPr lang="en-US" dirty="0"/>
              <a:t> к 5 </a:t>
            </a:r>
            <a:r>
              <a:rPr lang="en-US" dirty="0" err="1"/>
              <a:t>вольтам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GPIO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непосредственной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токов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мощной</a:t>
            </a:r>
            <a:r>
              <a:rPr lang="en-US" dirty="0"/>
              <a:t> </a:t>
            </a:r>
            <a:r>
              <a:rPr lang="en-US" dirty="0" err="1"/>
              <a:t>нагрузкой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дополнительных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241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GPIO,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AVR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ячейка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определённому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представлен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фиксированному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принципиально</a:t>
            </a:r>
            <a:r>
              <a:rPr lang="en-US" dirty="0"/>
              <a:t> </a:t>
            </a:r>
            <a:r>
              <a:rPr lang="en-US" dirty="0" err="1"/>
              <a:t>отличаются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Во-первых</a:t>
            </a:r>
            <a:r>
              <a:rPr lang="en-US" dirty="0"/>
              <a:t>,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выполняемого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побочные</a:t>
            </a:r>
            <a:r>
              <a:rPr lang="en-US" dirty="0"/>
              <a:t> </a:t>
            </a:r>
            <a:r>
              <a:rPr lang="en-US" dirty="0" err="1"/>
              <a:t>эффекты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GPIO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видимыми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 </a:t>
            </a:r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обязан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каждое</a:t>
            </a:r>
            <a:r>
              <a:rPr lang="en-US" dirty="0"/>
              <a:t> </a:t>
            </a:r>
            <a:r>
              <a:rPr lang="en-US" dirty="0" err="1"/>
              <a:t>обращение</a:t>
            </a:r>
            <a:r>
              <a:rPr lang="en-US" dirty="0"/>
              <a:t> к </a:t>
            </a:r>
            <a:r>
              <a:rPr lang="en-US" dirty="0" err="1"/>
              <a:t>такому</a:t>
            </a:r>
            <a:r>
              <a:rPr lang="en-US" dirty="0"/>
              <a:t> </a:t>
            </a:r>
            <a:r>
              <a:rPr lang="en-US" dirty="0" err="1"/>
              <a:t>объекту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записано</a:t>
            </a:r>
            <a:r>
              <a:rPr lang="en-US" dirty="0"/>
              <a:t> в </a:t>
            </a:r>
            <a:r>
              <a:rPr lang="en-US" dirty="0" err="1"/>
              <a:t>программе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временном</a:t>
            </a:r>
            <a:r>
              <a:rPr lang="en-US" dirty="0"/>
              <a:t> </a:t>
            </a:r>
            <a:r>
              <a:rPr lang="en-US" dirty="0" err="1"/>
              <a:t>регистре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удалить</a:t>
            </a:r>
            <a:r>
              <a:rPr lang="en-US" dirty="0"/>
              <a:t> «</a:t>
            </a:r>
            <a:r>
              <a:rPr lang="en-US" dirty="0" err="1"/>
              <a:t>лишние</a:t>
            </a:r>
            <a:r>
              <a:rPr lang="en-US" dirty="0"/>
              <a:t>»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преобразовать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</a:t>
            </a:r>
            <a:r>
              <a:rPr lang="en-US" dirty="0" err="1"/>
              <a:t>корректны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нарушить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взаимодействии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фундаментальным</a:t>
            </a:r>
            <a:r>
              <a:rPr lang="en-US" dirty="0"/>
              <a:t> </a:t>
            </a:r>
            <a:r>
              <a:rPr lang="en-US" dirty="0" err="1"/>
              <a:t>требованием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memory-mapped I/O и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4840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микроконтроллере</a:t>
            </a:r>
            <a:r>
              <a:rPr lang="en-US" dirty="0"/>
              <a:t> ATmega328P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организованы</a:t>
            </a:r>
            <a:r>
              <a:rPr lang="en-US" dirty="0"/>
              <a:t> в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портов</a:t>
            </a:r>
            <a:r>
              <a:rPr lang="en-US" dirty="0"/>
              <a:t>: PORTB, PORTC и PORTD.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порт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группу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I/O-</a:t>
            </a:r>
            <a:r>
              <a:rPr lang="en-US" dirty="0" err="1"/>
              <a:t>регистры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DDRx</a:t>
            </a:r>
            <a:r>
              <a:rPr lang="en-US" dirty="0"/>
              <a:t> — Data Direction Register —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направление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установлен</a:t>
            </a:r>
            <a:r>
              <a:rPr lang="en-US" dirty="0"/>
              <a:t> в </a:t>
            </a:r>
            <a:r>
              <a:rPr lang="en-US" dirty="0" err="1"/>
              <a:t>единицу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Регистр</a:t>
            </a:r>
            <a:r>
              <a:rPr lang="en-US" dirty="0"/>
              <a:t> PORTx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логическим</a:t>
            </a:r>
            <a:r>
              <a:rPr lang="en-US" dirty="0"/>
              <a:t> </a:t>
            </a:r>
            <a:r>
              <a:rPr lang="en-US" dirty="0" err="1"/>
              <a:t>уровнем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output.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, а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нуля</a:t>
            </a:r>
            <a:r>
              <a:rPr lang="en-US" dirty="0"/>
              <a:t> — </a:t>
            </a:r>
            <a:r>
              <a:rPr lang="en-US" dirty="0" err="1"/>
              <a:t>низкий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настроен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, </a:t>
            </a:r>
            <a:r>
              <a:rPr lang="en-US" dirty="0" err="1"/>
              <a:t>регистр</a:t>
            </a:r>
            <a:r>
              <a:rPr lang="en-US" dirty="0"/>
              <a:t> PORTx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: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PINx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настраивает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PB5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</a:t>
            </a:r>
            <a:r>
              <a:rPr lang="en-US" dirty="0"/>
              <a:t> и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втором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PD2 </a:t>
            </a:r>
            <a:r>
              <a:rPr lang="en-US" dirty="0" err="1"/>
              <a:t>переводится</a:t>
            </a:r>
            <a:r>
              <a:rPr lang="en-US" dirty="0"/>
              <a:t> в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включается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/>
              <a:t>Pull-up </a:t>
            </a:r>
            <a:r>
              <a:rPr lang="en-US" dirty="0" err="1"/>
              <a:t>резистор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предотвращения</a:t>
            </a:r>
            <a:r>
              <a:rPr lang="en-US" dirty="0"/>
              <a:t> </a:t>
            </a:r>
            <a:r>
              <a:rPr lang="en-US" dirty="0" err="1"/>
              <a:t>неопределённого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. </a:t>
            </a:r>
            <a:r>
              <a:rPr lang="en-US" dirty="0" err="1"/>
              <a:t>Неподключённый</a:t>
            </a:r>
            <a:r>
              <a:rPr lang="en-US" dirty="0"/>
              <a:t> </a:t>
            </a:r>
            <a:r>
              <a:rPr lang="en-US" dirty="0" err="1"/>
              <a:t>цифровой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воспринимать</a:t>
            </a:r>
            <a:r>
              <a:rPr lang="en-US" dirty="0"/>
              <a:t> </a:t>
            </a:r>
            <a:r>
              <a:rPr lang="en-US" dirty="0" err="1"/>
              <a:t>электрические</a:t>
            </a:r>
            <a:r>
              <a:rPr lang="en-US" dirty="0"/>
              <a:t> </a:t>
            </a:r>
            <a:r>
              <a:rPr lang="en-US" dirty="0" err="1"/>
              <a:t>помехи</a:t>
            </a:r>
            <a:r>
              <a:rPr lang="en-US" dirty="0"/>
              <a:t> и </a:t>
            </a:r>
            <a:r>
              <a:rPr lang="en-US" dirty="0" err="1"/>
              <a:t>случайным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логическое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</a:p>
          <a:p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 </a:t>
            </a:r>
            <a:r>
              <a:rPr lang="en-US" dirty="0" err="1"/>
              <a:t>подтягивает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к </a:t>
            </a:r>
            <a:r>
              <a:rPr lang="en-US" dirty="0" err="1"/>
              <a:t>высокому</a:t>
            </a:r>
            <a:r>
              <a:rPr lang="en-US" dirty="0"/>
              <a:t> </a:t>
            </a:r>
            <a:r>
              <a:rPr lang="en-US" dirty="0" err="1"/>
              <a:t>уровню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 и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стабильное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отсутствии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воздействия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конфигурация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подключении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: в </a:t>
            </a:r>
            <a:r>
              <a:rPr lang="en-US" dirty="0" err="1"/>
              <a:t>обычном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HIGH,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нажатии</a:t>
            </a:r>
            <a:r>
              <a:rPr lang="en-US" dirty="0"/>
              <a:t>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замыкает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землю</a:t>
            </a:r>
            <a:r>
              <a:rPr lang="en-US" dirty="0"/>
              <a:t>, </a:t>
            </a:r>
            <a:r>
              <a:rPr lang="en-US" dirty="0" err="1"/>
              <a:t>формируя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LOW.</a:t>
            </a:r>
          </a:p>
          <a:p>
            <a:endParaRPr lang="ru-RU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GPIO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сводится</a:t>
            </a:r>
            <a:r>
              <a:rPr lang="en-US" dirty="0"/>
              <a:t> к </a:t>
            </a:r>
            <a:r>
              <a:rPr lang="en-US" dirty="0" err="1"/>
              <a:t>чтению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и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двоичного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играют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в embedded-</a:t>
            </a:r>
            <a:r>
              <a:rPr lang="en-US" dirty="0" err="1"/>
              <a:t>программировании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552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AVR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специализированный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инструментов</a:t>
            </a:r>
            <a:r>
              <a:rPr lang="en-US" dirty="0"/>
              <a:t> — toolchain</a:t>
            </a:r>
          </a:p>
          <a:p>
            <a:r>
              <a:rPr lang="en-US" dirty="0"/>
              <a:t>.</a:t>
            </a:r>
          </a:p>
          <a:p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похож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C: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компилируется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</a:t>
            </a:r>
            <a:r>
              <a:rPr lang="en-US" dirty="0" err="1"/>
              <a:t>связываются</a:t>
            </a:r>
            <a:r>
              <a:rPr lang="en-US" dirty="0"/>
              <a:t> </a:t>
            </a:r>
            <a:r>
              <a:rPr lang="en-US" dirty="0" err="1"/>
              <a:t>линковщиком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исполняемый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исполняемый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а </a:t>
            </a:r>
            <a:r>
              <a:rPr lang="en-US" dirty="0" err="1"/>
              <a:t>прошивка</a:t>
            </a:r>
            <a:r>
              <a:rPr lang="en-US" dirty="0"/>
              <a:t> —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машинных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avr-gcc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C в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AVR.</a:t>
            </a:r>
          </a:p>
          <a:p>
            <a:r>
              <a:rPr lang="en-US" dirty="0" err="1"/>
              <a:t>Ассемблер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-as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ассемблерных</a:t>
            </a:r>
            <a:r>
              <a:rPr lang="en-US" dirty="0"/>
              <a:t> </a:t>
            </a:r>
            <a:r>
              <a:rPr lang="en-US" dirty="0" err="1"/>
              <a:t>файлов</a:t>
            </a:r>
            <a:r>
              <a:rPr lang="en-US" dirty="0"/>
              <a:t>.</a:t>
            </a:r>
          </a:p>
          <a:p>
            <a:r>
              <a:rPr lang="en-US" dirty="0" err="1"/>
              <a:t>Линковщик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и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итоговый</a:t>
            </a:r>
            <a:r>
              <a:rPr lang="en-US" dirty="0"/>
              <a:t> ELF-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avr-objdump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дизассемблировать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и </a:t>
            </a: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сгенерированный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— </a:t>
            </a:r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тому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использовались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objdump</a:t>
            </a:r>
            <a:r>
              <a:rPr lang="en-US" dirty="0"/>
              <a:t> и Compiler Explorer </a:t>
            </a:r>
            <a:r>
              <a:rPr lang="en-US" dirty="0" err="1"/>
              <a:t>для</a:t>
            </a:r>
            <a:r>
              <a:rPr lang="en-US" dirty="0"/>
              <a:t> x86-64.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-size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оценить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используемой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 и SRAM,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с </a:t>
            </a:r>
            <a:r>
              <a:rPr lang="en-US" dirty="0" err="1"/>
              <a:t>ограниченными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утилита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avrdude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в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525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минимальный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AVR.</a:t>
            </a:r>
          </a:p>
          <a:p>
            <a:endParaRPr lang="en-US" dirty="0"/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простейшая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mmcu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=atmega328p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целевой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: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допустимые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.</a:t>
            </a:r>
          </a:p>
          <a:p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ELF-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символов</a:t>
            </a:r>
            <a:r>
              <a:rPr lang="en-US" dirty="0"/>
              <a:t> и </a:t>
            </a:r>
            <a:r>
              <a:rPr lang="en-US" dirty="0" err="1"/>
              <a:t>служебную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Intel HEX.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дополнительное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ELF-</a:t>
            </a:r>
            <a:r>
              <a:rPr lang="en-US" dirty="0" err="1"/>
              <a:t>файла</a:t>
            </a:r>
            <a:r>
              <a:rPr lang="en-US" dirty="0"/>
              <a:t> в HEX-</a:t>
            </a:r>
            <a:r>
              <a:rPr lang="en-US" dirty="0" err="1"/>
              <a:t>файл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avr-objcopy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Полученный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предназначенные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7430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и в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x86-64, </a:t>
            </a:r>
            <a:r>
              <a:rPr lang="en-US" dirty="0" err="1"/>
              <a:t>для</a:t>
            </a:r>
            <a:r>
              <a:rPr lang="en-US" dirty="0"/>
              <a:t> AVR </a:t>
            </a:r>
            <a:r>
              <a:rPr lang="en-US" dirty="0" err="1"/>
              <a:t>крайне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сгенерированный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avr-objdump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дизассемблирование</a:t>
            </a:r>
            <a:r>
              <a:rPr lang="en-US" dirty="0"/>
              <a:t> ELF-</a:t>
            </a:r>
            <a:r>
              <a:rPr lang="en-US" dirty="0" err="1"/>
              <a:t>файла</a:t>
            </a:r>
            <a:r>
              <a:rPr lang="en-US" dirty="0"/>
              <a:t> и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ассемблерное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C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преобразован</a:t>
            </a:r>
            <a:r>
              <a:rPr lang="en-US" dirty="0"/>
              <a:t> в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RJMP</a:t>
            </a:r>
            <a:r>
              <a:rPr lang="en-US" dirty="0"/>
              <a:t>, </a:t>
            </a:r>
            <a:r>
              <a:rPr lang="en-US" dirty="0" err="1"/>
              <a:t>выполняющую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саму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 в embedded-</a:t>
            </a:r>
            <a:r>
              <a:rPr lang="en-US" dirty="0" err="1"/>
              <a:t>разработке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реальное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оценивать</a:t>
            </a:r>
            <a:r>
              <a:rPr lang="en-US" dirty="0"/>
              <a:t>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чаще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дизассемблированным</a:t>
            </a:r>
            <a:r>
              <a:rPr lang="en-US" dirty="0"/>
              <a:t> </a:t>
            </a:r>
            <a:r>
              <a:rPr lang="en-US" dirty="0" err="1"/>
              <a:t>кодом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784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утилита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avrdude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соединение</a:t>
            </a:r>
            <a:r>
              <a:rPr lang="en-US" dirty="0"/>
              <a:t> с </a:t>
            </a:r>
            <a:r>
              <a:rPr lang="en-US" dirty="0" err="1"/>
              <a:t>микроконтроллером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программатор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bootloader.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HEX-</a:t>
            </a:r>
            <a:r>
              <a:rPr lang="en-US" dirty="0" err="1"/>
              <a:t>файла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устройству</a:t>
            </a:r>
            <a:r>
              <a:rPr lang="en-US" dirty="0"/>
              <a:t> и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корректности</a:t>
            </a:r>
            <a:r>
              <a:rPr lang="en-US" dirty="0"/>
              <a:t> </a:t>
            </a:r>
            <a:r>
              <a:rPr lang="en-US" dirty="0" err="1"/>
              <a:t>содержимого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операционных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размещается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подачи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233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Toolchain </a:t>
            </a:r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многом</a:t>
            </a:r>
            <a:r>
              <a:rPr lang="en-US" dirty="0"/>
              <a:t> </a:t>
            </a:r>
            <a:r>
              <a:rPr lang="en-US" dirty="0" err="1"/>
              <a:t>похож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toolchain </a:t>
            </a:r>
            <a:r>
              <a:rPr lang="en-US" dirty="0" err="1"/>
              <a:t>языка</a:t>
            </a:r>
            <a:r>
              <a:rPr lang="en-US" dirty="0"/>
              <a:t> C,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и </a:t>
            </a:r>
            <a:r>
              <a:rPr lang="en-US" dirty="0" err="1"/>
              <a:t>важные</a:t>
            </a:r>
            <a:r>
              <a:rPr lang="en-US" dirty="0"/>
              <a:t> </a:t>
            </a:r>
            <a:r>
              <a:rPr lang="en-US" dirty="0" err="1"/>
              <a:t>отличия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компьютера</a:t>
            </a:r>
            <a:r>
              <a:rPr lang="en-US" dirty="0"/>
              <a:t> </a:t>
            </a:r>
            <a:r>
              <a:rPr lang="en-US" dirty="0" err="1"/>
              <a:t>разработчика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целевой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cross-compilation.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и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приобретают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,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используемой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сгенерированного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590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embedded-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мигание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простоту</a:t>
            </a:r>
            <a:r>
              <a:rPr lang="en-US" dirty="0"/>
              <a:t>,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принципов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управление</a:t>
            </a:r>
            <a:r>
              <a:rPr lang="en-US" dirty="0"/>
              <a:t> GPIO,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бесконечного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начале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подключаются</a:t>
            </a:r>
            <a:r>
              <a:rPr lang="en-US" dirty="0"/>
              <a:t> </a:t>
            </a:r>
            <a:r>
              <a:rPr lang="en-US" dirty="0" err="1"/>
              <a:t>заголовочные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AVR.</a:t>
            </a:r>
          </a:p>
          <a:p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io.h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определения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констант</a:t>
            </a:r>
            <a:r>
              <a:rPr lang="en-US" dirty="0"/>
              <a:t>, </a:t>
            </a:r>
            <a:r>
              <a:rPr lang="en-US" dirty="0" err="1"/>
              <a:t>соответствующих</a:t>
            </a:r>
            <a:r>
              <a:rPr lang="en-US" dirty="0"/>
              <a:t> </a:t>
            </a:r>
            <a:r>
              <a:rPr lang="en-US" dirty="0" err="1"/>
              <a:t>выводам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delay.h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dirty="0" err="1"/>
              <a:t>программной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delay_ms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настройка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</a:t>
            </a:r>
          </a:p>
          <a:p>
            <a:r>
              <a:rPr lang="en-US" dirty="0" err="1"/>
              <a:t>Операция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DDRB |= (1 &lt;&lt; PB5);</a:t>
            </a:r>
          </a:p>
          <a:p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DDRB, </a:t>
            </a:r>
            <a:r>
              <a:rPr lang="en-US" dirty="0" err="1"/>
              <a:t>переводя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PB5 в </a:t>
            </a:r>
            <a:r>
              <a:rPr lang="en-US" dirty="0" err="1"/>
              <a:t>режим</a:t>
            </a:r>
            <a:r>
              <a:rPr lang="en-US" dirty="0"/>
              <a:t> output.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входит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PORTB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 и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светодиод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 </a:t>
            </a:r>
            <a:r>
              <a:rPr lang="en-US" dirty="0" err="1"/>
              <a:t>длительностью</a:t>
            </a:r>
            <a:r>
              <a:rPr lang="en-US" dirty="0"/>
              <a:t> 500 </a:t>
            </a:r>
            <a:r>
              <a:rPr lang="en-US" dirty="0" err="1"/>
              <a:t>миллисекунд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PB5 </a:t>
            </a:r>
            <a:r>
              <a:rPr lang="en-US" dirty="0" err="1"/>
              <a:t>очищается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низкий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и </a:t>
            </a:r>
            <a:r>
              <a:rPr lang="en-US" dirty="0" err="1"/>
              <a:t>светодиод</a:t>
            </a:r>
            <a:r>
              <a:rPr lang="en-US" dirty="0"/>
              <a:t> </a:t>
            </a:r>
            <a:r>
              <a:rPr lang="en-US" dirty="0" err="1"/>
              <a:t>выключается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embedded-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содержат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завершать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 и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PORTB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непосредственному</a:t>
            </a:r>
            <a:r>
              <a:rPr lang="en-US" dirty="0"/>
              <a:t>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ru-RU" dirty="0" err="1"/>
              <a:t>ти</a:t>
            </a:r>
            <a:r>
              <a:rPr lang="en-US" dirty="0" err="1"/>
              <a:t>ичным</a:t>
            </a:r>
            <a:r>
              <a:rPr lang="en-US" dirty="0"/>
              <a:t> </a:t>
            </a:r>
            <a:r>
              <a:rPr lang="en-US" dirty="0" err="1"/>
              <a:t>примером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memory-mapped I/O.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4571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периферий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, </a:t>
            </a:r>
            <a:r>
              <a:rPr lang="en-US" dirty="0" err="1"/>
              <a:t>способный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процессором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,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увеличивается</a:t>
            </a:r>
            <a:r>
              <a:rPr lang="en-US" dirty="0"/>
              <a:t> с </a:t>
            </a:r>
            <a:r>
              <a:rPr lang="en-US" dirty="0" err="1"/>
              <a:t>заданной</a:t>
            </a:r>
            <a:r>
              <a:rPr lang="en-US" dirty="0"/>
              <a:t> </a:t>
            </a:r>
            <a:r>
              <a:rPr lang="en-US" dirty="0" err="1"/>
              <a:t>частотой</a:t>
            </a:r>
            <a:r>
              <a:rPr lang="en-US" dirty="0"/>
              <a:t>.</a:t>
            </a:r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,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PWM и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, </a:t>
            </a:r>
            <a:r>
              <a:rPr lang="en-US" dirty="0" err="1"/>
              <a:t>связанных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 с CPU.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программные</a:t>
            </a:r>
            <a:r>
              <a:rPr lang="en-US" dirty="0"/>
              <a:t> </a:t>
            </a:r>
            <a:r>
              <a:rPr lang="en-US" dirty="0" err="1"/>
              <a:t>циклы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7078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Источником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тактовый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поступлением</a:t>
            </a:r>
            <a:r>
              <a:rPr lang="en-US" dirty="0"/>
              <a:t> в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частота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проходить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prescaler</a:t>
            </a:r>
            <a:r>
              <a:rPr lang="en-US" dirty="0"/>
              <a:t> —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делитель</a:t>
            </a:r>
            <a:r>
              <a:rPr lang="en-US" dirty="0"/>
              <a:t> </a:t>
            </a:r>
            <a:r>
              <a:rPr lang="en-US" dirty="0" err="1"/>
              <a:t>частоты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частоте</a:t>
            </a:r>
            <a:r>
              <a:rPr lang="en-US" dirty="0"/>
              <a:t> 16 MHz, </a:t>
            </a:r>
            <a:r>
              <a:rPr lang="en-US" dirty="0" err="1"/>
              <a:t>prescaler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частоту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в 8, 64, 256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увеличивать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режимах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сравнивать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специальным</a:t>
            </a:r>
            <a:r>
              <a:rPr lang="en-US" dirty="0"/>
              <a:t> compare register.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совпадают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:</a:t>
            </a:r>
          </a:p>
          <a:p>
            <a:r>
              <a:rPr lang="en-US" dirty="0" err="1"/>
              <a:t>установить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; </a:t>
            </a:r>
          </a:p>
          <a:p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; </a:t>
            </a:r>
          </a:p>
          <a:p>
            <a:r>
              <a:rPr lang="en-US" dirty="0" err="1"/>
              <a:t>сгенерировать</a:t>
            </a:r>
            <a:r>
              <a:rPr lang="en-US" dirty="0"/>
              <a:t> </a:t>
            </a:r>
            <a:r>
              <a:rPr lang="ru-RU" dirty="0"/>
              <a:t>прерывание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участия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7394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Interrupts,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,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аппаратуре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уведомить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о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r>
              <a:rPr lang="en-US" dirty="0" err="1"/>
              <a:t>Источником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,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GPIO,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UART, </a:t>
            </a:r>
            <a:r>
              <a:rPr lang="en-US" dirty="0" err="1"/>
              <a:t>окончание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ADC 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ru-RU" dirty="0"/>
              <a:t> прерывание</a:t>
            </a:r>
            <a:r>
              <a:rPr lang="en-US" dirty="0"/>
              <a:t>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в </a:t>
            </a:r>
            <a:r>
              <a:rPr lang="en-US" dirty="0" err="1"/>
              <a:t>стек</a:t>
            </a:r>
            <a:r>
              <a:rPr lang="en-US" dirty="0"/>
              <a:t> и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— interrupt service routine, </a:t>
            </a:r>
            <a:r>
              <a:rPr lang="en-US" dirty="0" err="1"/>
              <a:t>или</a:t>
            </a:r>
            <a:r>
              <a:rPr lang="en-US" dirty="0"/>
              <a:t> ISR.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возврат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, и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с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места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прервано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interrupts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реагировать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опрашивать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8690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polling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OCF0A</a:t>
            </a:r>
            <a:r>
              <a:rPr lang="en-US" dirty="0"/>
              <a:t>.</a:t>
            </a:r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регистре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TIFR0</a:t>
            </a:r>
            <a:r>
              <a:rPr lang="en-US" dirty="0"/>
              <a:t> — Timer Interrupt Flag Register.</a:t>
            </a:r>
          </a:p>
          <a:p>
            <a:r>
              <a:rPr lang="en-US" dirty="0" err="1"/>
              <a:t>Название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OCF0A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Output Compare Flag </a:t>
            </a:r>
            <a:r>
              <a:rPr lang="en-US" dirty="0" err="1"/>
              <a:t>для</a:t>
            </a:r>
            <a:r>
              <a:rPr lang="en-US" dirty="0"/>
              <a:t> Timer0 Compare Unit A.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значением</a:t>
            </a:r>
            <a:r>
              <a:rPr lang="en-US" dirty="0"/>
              <a:t> compare register.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наступления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читая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в </a:t>
            </a:r>
            <a:r>
              <a:rPr lang="en-US" dirty="0" err="1"/>
              <a:t>цикле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прост</a:t>
            </a:r>
            <a:r>
              <a:rPr lang="en-US" dirty="0"/>
              <a:t> в </a:t>
            </a:r>
            <a:r>
              <a:rPr lang="en-US" dirty="0" err="1"/>
              <a:t>реализации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занят</a:t>
            </a:r>
            <a:r>
              <a:rPr lang="en-US" dirty="0"/>
              <a:t> </a:t>
            </a:r>
            <a:r>
              <a:rPr lang="en-US" dirty="0" err="1"/>
              <a:t>бесполезным</a:t>
            </a:r>
            <a:r>
              <a:rPr lang="en-US" dirty="0"/>
              <a:t> </a:t>
            </a:r>
            <a:r>
              <a:rPr lang="en-US" dirty="0" err="1"/>
              <a:t>ожиданием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меняется</a:t>
            </a:r>
            <a:r>
              <a:rPr lang="en-US" dirty="0"/>
              <a:t>.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опроса</a:t>
            </a:r>
            <a:r>
              <a:rPr lang="en-US" dirty="0"/>
              <a:t> </a:t>
            </a:r>
            <a:r>
              <a:rPr lang="en-US" dirty="0" err="1"/>
              <a:t>флага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interrupt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наступлении</a:t>
            </a:r>
            <a:r>
              <a:rPr lang="en-US" dirty="0"/>
              <a:t> compare match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аппаратуры</a:t>
            </a:r>
            <a:r>
              <a:rPr lang="en-US" dirty="0"/>
              <a:t>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ISR </a:t>
            </a:r>
            <a:r>
              <a:rPr lang="en-US" dirty="0" err="1"/>
              <a:t>только</a:t>
            </a:r>
            <a:r>
              <a:rPr lang="en-US" dirty="0"/>
              <a:t> в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возникновения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interrupts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и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основным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в embedded-</a:t>
            </a:r>
            <a:r>
              <a:rPr lang="en-US" dirty="0" err="1"/>
              <a:t>системах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0785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Interrupt Service Routine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,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вызываемая</a:t>
            </a:r>
            <a:r>
              <a:rPr lang="en-US" dirty="0"/>
              <a:t> </a:t>
            </a:r>
            <a:r>
              <a:rPr lang="en-US" dirty="0" err="1"/>
              <a:t>процессором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AVR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объявляются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макроса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ISR(...)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ISR(TIMER0_COMPA_vect)</a:t>
            </a:r>
          </a:p>
          <a:p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обработчиком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 Timer0 Compare Match A.</a:t>
            </a:r>
          </a:p>
          <a:p>
            <a:endParaRPr lang="en-US" dirty="0"/>
          </a:p>
          <a:p>
            <a:r>
              <a:rPr lang="en-US" dirty="0" err="1"/>
              <a:t>Макрос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отличается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логически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en-US" dirty="0"/>
              <a:t> и </a:t>
            </a:r>
            <a:r>
              <a:rPr lang="en-US" dirty="0" err="1"/>
              <a:t>завершается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Interrupt Service Routine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. </a:t>
            </a:r>
            <a:r>
              <a:rPr lang="en-US" dirty="0" err="1"/>
              <a:t>Возврат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dirty="0"/>
              <a:t> — Return from Interrupt.</a:t>
            </a:r>
          </a:p>
          <a:p>
            <a:endParaRPr lang="en-US" dirty="0"/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interrupts.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сгенерировать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пролог</a:t>
            </a:r>
            <a:r>
              <a:rPr lang="en-US" dirty="0"/>
              <a:t> и </a:t>
            </a:r>
            <a:r>
              <a:rPr lang="en-US" dirty="0" err="1"/>
              <a:t>эпилог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используемые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; </a:t>
            </a:r>
          </a:p>
          <a:p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стеком</a:t>
            </a:r>
            <a:r>
              <a:rPr lang="en-US" dirty="0"/>
              <a:t>; </a:t>
            </a:r>
          </a:p>
          <a:p>
            <a:r>
              <a:rPr lang="en-US" dirty="0" err="1"/>
              <a:t>обеспечить</a:t>
            </a:r>
            <a:r>
              <a:rPr lang="en-US" dirty="0"/>
              <a:t> </a:t>
            </a:r>
            <a:r>
              <a:rPr lang="en-US" dirty="0" err="1"/>
              <a:t>безопасный</a:t>
            </a:r>
            <a:r>
              <a:rPr lang="en-US" dirty="0"/>
              <a:t> </a:t>
            </a:r>
            <a:r>
              <a:rPr lang="en-US" dirty="0" err="1"/>
              <a:t>возврат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Макрос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обработчиком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и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ISR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совпадении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Timer0 с compare register.</a:t>
            </a:r>
          </a:p>
          <a:p>
            <a:endParaRPr lang="en-US" dirty="0"/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переключение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мигания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Interrupt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возникнуть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короткими</a:t>
            </a:r>
            <a:r>
              <a:rPr lang="en-US" dirty="0"/>
              <a:t>, </a:t>
            </a:r>
            <a:r>
              <a:rPr lang="en-US" dirty="0" err="1"/>
              <a:t>эффективными</a:t>
            </a:r>
            <a:r>
              <a:rPr lang="en-US" dirty="0"/>
              <a:t> и </a:t>
            </a:r>
            <a:r>
              <a:rPr lang="en-US" dirty="0" err="1"/>
              <a:t>аккуратно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общими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9627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interrupts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квалификатора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</a:p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ISR.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объявлена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предположить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и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превратив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ISR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и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взаимодействии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обработчиками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и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21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4FC61-F602-CA9C-5CCA-DD150DD63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2682E4-9A95-F74E-00CC-DA57DE789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29AE7-5C71-9FD6-5735-473647CBE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96DF0-49B7-122B-4B3C-0683EC2BC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F789C-060A-524C-E5EC-2D522502C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534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4F2F-6EBC-19C9-967F-59FCA22C2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C4F4E-BE75-132F-62A9-05DF580E9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5E8A5-54D0-51C2-D7D8-8A23D2815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54E31-682F-7E5C-EF6E-2729BF8D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D029A-B157-1E83-2216-D30014DE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75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BED8-7E98-3248-C9A2-C31743615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73DCB0-A717-6167-6164-9F0E9DAB7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A6B19-6EF7-9A82-5680-210BAD746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759E7D-B399-275F-6164-044CCB83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2C777-2336-B4C7-8558-7274578F7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158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9BB6-01F3-5B25-7715-AAC60B5EE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A22A-4D90-F150-701B-EDC6C73031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8203B-A9CE-CF0E-2F6A-20B0360D25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56069E-6CF8-5563-2671-98C41BA65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58646C-D3F0-28B1-3077-413E6EBA2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DE8FC-1827-4186-377E-1FAAA4D22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00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37E01-226A-7134-70FB-180F1D5D7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26D64-61BF-2826-1D1B-CCB41E7B1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343F85-682B-9773-724F-E55B97567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05741A-EB75-123B-D313-70AA50223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5C422C-A4C7-7D06-E211-9B7249BFE6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9817E-C44B-22BA-4A8D-08B005DB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057A90-973A-B41A-BB24-729555C6F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29E560-E7D8-38D7-1663-79EA7BC8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47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BA9EC-44B2-4F01-4798-14F75355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164D97-BEDD-B8AD-C2CC-1BB2B462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D2CD9E-7E55-E4E7-E97B-59FF0837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58CA-3FA6-86B7-4536-301EC0CB2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066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89AEA-2B71-87DC-A179-6F8631378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7072E1-0AEB-1C89-0420-0F7615BED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8A29B-E51B-DC16-1222-A996D4D3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12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AF581-3F48-26CA-897A-EEF983E7C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B410A-F909-6133-46E1-066BC6B98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7C9F1E-9C97-FAD5-90B9-9E90E0FDF7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6F511-05AD-EFA5-0B4C-214C4016D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54CD03-A122-F7D2-96A5-4A982958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5C3E7D-B345-8729-91FA-BFC16D251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42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4B2E7-AF48-F4E6-FD25-257EEC6F5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9A9BC0-5D24-7939-0A86-81758F6C10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41890-9654-E2BC-CCC2-4943D9D13A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22620-86D9-3C98-D8D1-099EDA643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4924-32D8-D720-D017-45E061BE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E9EF7-99A6-EFC0-BA55-85C310EB4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287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355A-9301-C030-1CB3-29E7EB034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41E97B-39BB-53E9-CB8B-F85C3E6EC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86EB9-EC46-EC9D-BA3B-7754B742E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3FCBF-D387-2234-C86F-80C210C68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20672-FCE4-A8D0-494B-9C481717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971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5627BF-8B9C-3AD7-F953-D51CB84269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252628-FAA1-F6F2-1663-B58B5809E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3BBBEE-2FD9-3B05-92D3-C455057EB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79947-8BEC-5539-42C7-0AFC2143F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30CBD-5673-5BA3-3A50-97EA409EA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2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845E2C-E929-98A9-1689-4B85AF635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7620-5793-D941-BCEE-0CD327D97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7DE1A-48EE-2713-24CD-CB014CE6CA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600B82-0A15-446D-88EA-592A7911FFA6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52EA0-315F-CA1F-063D-AABD504A2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202205-1B3B-4C00-0109-93B39DD7E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74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C054F-29D4-092E-2E3B-50959AEE2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Программирование микроконтроллеров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2598A4-FA46-411F-3831-A90E8AAB10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495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788B8-1F50-FA02-8D32-CF4DE13D6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Встраиваемые системы (</a:t>
            </a:r>
            <a:r>
              <a:rPr lang="en-US" dirty="0"/>
              <a:t>embedded systems)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6CC33-4E7C-AA2E-66D5-8199C0694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Встраиваемые системы</a:t>
            </a:r>
            <a:r>
              <a:rPr lang="en-US" dirty="0"/>
              <a:t> – </a:t>
            </a:r>
            <a:r>
              <a:rPr lang="ru-RU" dirty="0"/>
              <a:t>вычислительная система, встроенная внутрь других устройств для выполнения конкретных задач</a:t>
            </a:r>
          </a:p>
          <a:p>
            <a:r>
              <a:rPr lang="ru-RU" dirty="0"/>
              <a:t>Использование:</a:t>
            </a:r>
          </a:p>
          <a:p>
            <a:pPr lvl="1"/>
            <a:r>
              <a:rPr lang="ru-RU" dirty="0"/>
              <a:t>Бытовая техника, автомобили, роутеры, медицинское оборудование, дроны, роботы, </a:t>
            </a:r>
            <a:r>
              <a:rPr lang="en-US" dirty="0"/>
              <a:t>IoT</a:t>
            </a:r>
          </a:p>
          <a:p>
            <a:r>
              <a:rPr lang="ru-RU" dirty="0"/>
              <a:t>Основой большинства встраиваемых систем являются </a:t>
            </a:r>
            <a:r>
              <a:rPr lang="ru-RU" b="1" dirty="0"/>
              <a:t>микроконтроллеры</a:t>
            </a:r>
          </a:p>
          <a:p>
            <a:pPr lvl="1"/>
            <a:r>
              <a:rPr lang="ru-RU" dirty="0"/>
              <a:t>Процессор + память + периферия в одном чипе</a:t>
            </a:r>
          </a:p>
        </p:txBody>
      </p:sp>
    </p:spTree>
    <p:extLst>
      <p:ext uri="{BB962C8B-B14F-4D97-AF65-F5344CB8AC3E}">
        <p14:creationId xmlns:p14="http://schemas.microsoft.com/office/powerpoint/2010/main" val="19296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3E738-BF26-B0C4-4E17-75470F526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52B72-DA59-E05E-2382-E2F88B93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Микроконтроллер</a:t>
            </a:r>
            <a:r>
              <a:rPr lang="en-US" dirty="0"/>
              <a:t> (MCU, Microcontroller Unit) —</a:t>
            </a:r>
            <a:r>
              <a:rPr lang="ru-RU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</a:t>
            </a:r>
          </a:p>
          <a:p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процессор</a:t>
            </a:r>
            <a:r>
              <a:rPr lang="en-US" dirty="0"/>
              <a:t> (CPU) </a:t>
            </a:r>
          </a:p>
          <a:p>
            <a:pPr lvl="1"/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(SRAM) </a:t>
            </a:r>
          </a:p>
          <a:p>
            <a:pPr lvl="1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(Flash) </a:t>
            </a:r>
          </a:p>
          <a:p>
            <a:pPr lvl="1"/>
            <a:r>
              <a:rPr lang="en-US" dirty="0" err="1"/>
              <a:t>периферию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GPIO</a:t>
            </a:r>
          </a:p>
          <a:p>
            <a:pPr lvl="2"/>
            <a:r>
              <a:rPr lang="en-US" dirty="0" err="1"/>
              <a:t>таймеры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UART/SPI/I2C</a:t>
            </a:r>
          </a:p>
          <a:p>
            <a:pPr lvl="2"/>
            <a:r>
              <a:rPr lang="en-US" dirty="0"/>
              <a:t>ADC </a:t>
            </a:r>
          </a:p>
          <a:p>
            <a:r>
              <a:rPr lang="en-US" dirty="0" err="1"/>
              <a:t>Предназначен</a:t>
            </a:r>
            <a:r>
              <a:rPr lang="ru-RU" dirty="0" err="1"/>
              <a:t>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управлени</a:t>
            </a:r>
            <a:r>
              <a:rPr lang="ru-RU" dirty="0"/>
              <a:t>е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обработк</a:t>
            </a:r>
            <a:r>
              <a:rPr lang="ru-RU" dirty="0"/>
              <a:t>а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взаимодействи</a:t>
            </a:r>
            <a:r>
              <a:rPr lang="ru-RU" dirty="0"/>
              <a:t>е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496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F53FD-E5C0-5A9F-C697-FB987830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F57F-B894-2509-944E-D78D9C4CF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CPU –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r>
              <a:rPr lang="en-US" dirty="0"/>
              <a:t>Flash memory –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</a:p>
          <a:p>
            <a:r>
              <a:rPr lang="en-US" dirty="0"/>
              <a:t>SRAM -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</a:p>
          <a:p>
            <a:r>
              <a:rPr lang="en-US" dirty="0"/>
              <a:t>EEPROM -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</a:p>
          <a:p>
            <a:r>
              <a:rPr lang="en-US" dirty="0" err="1"/>
              <a:t>Периферия</a:t>
            </a:r>
            <a:endParaRPr lang="en-US" dirty="0"/>
          </a:p>
          <a:p>
            <a:pPr lvl="1"/>
            <a:r>
              <a:rPr lang="en-US" dirty="0"/>
              <a:t>GPIO</a:t>
            </a:r>
            <a:r>
              <a:rPr lang="ru-RU" dirty="0"/>
              <a:t>, </a:t>
            </a:r>
            <a:r>
              <a:rPr lang="en-US" dirty="0"/>
              <a:t>UART</a:t>
            </a:r>
            <a:r>
              <a:rPr lang="ru-RU" dirty="0"/>
              <a:t>, </a:t>
            </a:r>
            <a:r>
              <a:rPr lang="en-US" dirty="0"/>
              <a:t>SPI/I2C</a:t>
            </a:r>
            <a:r>
              <a:rPr lang="ru-RU" dirty="0"/>
              <a:t>, </a:t>
            </a:r>
            <a:r>
              <a:rPr lang="en-US" dirty="0"/>
              <a:t>ADC</a:t>
            </a:r>
            <a:r>
              <a:rPr lang="ru-RU" dirty="0"/>
              <a:t>, </a:t>
            </a:r>
            <a:r>
              <a:rPr lang="en-US" dirty="0" err="1"/>
              <a:t>таймеры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5746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1D55A-CD36-269E-4606-906F7236E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F9303-A655-A1E2-B164-F082D64D1F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CPU </a:t>
            </a:r>
            <a:r>
              <a:rPr lang="en-US" dirty="0" err="1"/>
              <a:t>микроконтроллера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стеком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частота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проще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сложной</a:t>
            </a:r>
            <a:r>
              <a:rPr lang="en-US" dirty="0"/>
              <a:t> ОС </a:t>
            </a:r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ATmega328P</a:t>
            </a:r>
          </a:p>
          <a:p>
            <a:pPr lvl="1"/>
            <a:r>
              <a:rPr lang="en-US" dirty="0"/>
              <a:t>16 MHz </a:t>
            </a:r>
          </a:p>
          <a:p>
            <a:pPr lvl="1"/>
            <a:r>
              <a:rPr lang="en-US" dirty="0"/>
              <a:t>2 KB SRAM </a:t>
            </a:r>
          </a:p>
          <a:p>
            <a:pPr lvl="1"/>
            <a:r>
              <a:rPr lang="en-US" dirty="0"/>
              <a:t>32 KB Flash</a:t>
            </a:r>
          </a:p>
          <a:p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2D438AC-0D84-F965-2D48-E75B34EB750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05" t="25798" r="27181" b="21765"/>
          <a:stretch>
            <a:fillRect/>
          </a:stretch>
        </p:blipFill>
        <p:spPr bwMode="auto">
          <a:xfrm>
            <a:off x="6724650" y="1826419"/>
            <a:ext cx="4648200" cy="3577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8E4520-DE58-9190-4846-1F60425F7875}"/>
              </a:ext>
            </a:extLst>
          </p:cNvPr>
          <p:cNvSpPr txBox="1"/>
          <p:nvPr/>
        </p:nvSpPr>
        <p:spPr>
          <a:xfrm>
            <a:off x="7696200" y="5403665"/>
            <a:ext cx="2705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ATmega328P</a:t>
            </a:r>
          </a:p>
        </p:txBody>
      </p:sp>
    </p:spTree>
    <p:extLst>
      <p:ext uri="{BB962C8B-B14F-4D97-AF65-F5344CB8AC3E}">
        <p14:creationId xmlns:p14="http://schemas.microsoft.com/office/powerpoint/2010/main" val="2476273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22229-3E3E-4901-F0C7-FDC27ADC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68DBD-76F3-5543-53A2-1075D8E27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и </a:t>
            </a:r>
            <a:r>
              <a:rPr lang="en-US" dirty="0" err="1"/>
              <a:t>физическими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.</a:t>
            </a:r>
            <a:endParaRPr lang="ru-RU" dirty="0"/>
          </a:p>
          <a:p>
            <a:pPr lvl="1"/>
            <a:r>
              <a:rPr lang="en-US" dirty="0"/>
              <a:t>GPIO (General Purpose Input/Output)</a:t>
            </a:r>
            <a:r>
              <a:rPr lang="ru-RU" dirty="0"/>
              <a:t> -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UART (Universal Asynchronous Receiver-Transmitter)</a:t>
            </a:r>
            <a:r>
              <a:rPr lang="ru-RU" dirty="0"/>
              <a:t> – </a:t>
            </a:r>
            <a:r>
              <a:rPr lang="en-US" dirty="0" err="1"/>
              <a:t>последовательная</a:t>
            </a:r>
            <a:r>
              <a:rPr lang="ru-RU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SPI / I2C</a:t>
            </a:r>
            <a:r>
              <a:rPr lang="ru-RU" dirty="0"/>
              <a:t> -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Timers/Counters</a:t>
            </a:r>
            <a:r>
              <a:rPr lang="ru-RU" dirty="0"/>
              <a:t> – </a:t>
            </a:r>
            <a:r>
              <a:rPr lang="en-US" dirty="0" err="1"/>
              <a:t>измерение</a:t>
            </a:r>
            <a:r>
              <a:rPr lang="ru-RU" dirty="0"/>
              <a:t> </a:t>
            </a:r>
            <a:r>
              <a:rPr lang="en-US" dirty="0" err="1"/>
              <a:t>времени</a:t>
            </a:r>
            <a:r>
              <a:rPr lang="en-US" dirty="0"/>
              <a:t> и </a:t>
            </a:r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en-US" dirty="0" err="1"/>
              <a:t>периодических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ADC (Analog-to-Digital Converter)</a:t>
            </a:r>
            <a:r>
              <a:rPr lang="ru-RU" dirty="0"/>
              <a:t> – </a:t>
            </a:r>
            <a:r>
              <a:rPr lang="en-US" dirty="0" err="1"/>
              <a:t>преобразование</a:t>
            </a:r>
            <a:r>
              <a:rPr lang="ru-RU" dirty="0"/>
              <a:t> </a:t>
            </a:r>
            <a:r>
              <a:rPr lang="en-US" dirty="0" err="1"/>
              <a:t>аналоговых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в </a:t>
            </a:r>
            <a:r>
              <a:rPr lang="en-US" dirty="0" err="1"/>
              <a:t>цифровую</a:t>
            </a:r>
            <a:r>
              <a:rPr lang="en-US" dirty="0"/>
              <a:t> </a:t>
            </a:r>
            <a:r>
              <a:rPr lang="en-US" dirty="0" err="1"/>
              <a:t>форму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PWM (Pulse Width Modulation)</a:t>
            </a:r>
            <a:r>
              <a:rPr lang="ru-RU" dirty="0"/>
              <a:t> -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endParaRPr lang="ru-RU" dirty="0"/>
          </a:p>
          <a:p>
            <a:r>
              <a:rPr lang="ru-RU" dirty="0"/>
              <a:t>Взаимодействие с периферией выполняется через аппаратные регистры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97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29783-7D58-C48D-989C-92B89059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кристалле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6E5BF-F220-DA6C-E0E8-B5D7F1CE6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интегрированную</a:t>
            </a:r>
            <a:r>
              <a:rPr lang="en-US" dirty="0"/>
              <a:t> </a:t>
            </a:r>
            <a:r>
              <a:rPr lang="en-US" dirty="0" err="1"/>
              <a:t>вычислительную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, </a:t>
            </a:r>
            <a:r>
              <a:rPr lang="en-US" dirty="0" err="1"/>
              <a:t>реализованную</a:t>
            </a:r>
            <a:r>
              <a:rPr lang="en-US" dirty="0"/>
              <a:t> в </a:t>
            </a:r>
            <a:r>
              <a:rPr lang="en-US" dirty="0" err="1"/>
              <a:t>пределах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кристалла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CPU, Flash, SRAM, </a:t>
            </a:r>
            <a:r>
              <a:rPr lang="ru-RU" dirty="0"/>
              <a:t>периферия, системные шины, контроллеры тактирования и прерываний</a:t>
            </a:r>
            <a:endParaRPr lang="en-US" dirty="0"/>
          </a:p>
          <a:p>
            <a:r>
              <a:rPr lang="en-US" dirty="0" err="1"/>
              <a:t>Преимущества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endParaRPr lang="en-US" dirty="0"/>
          </a:p>
          <a:p>
            <a:pPr lvl="1"/>
            <a:r>
              <a:rPr lang="en-US" dirty="0" err="1"/>
              <a:t>компактность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невысокая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минимальное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 </a:t>
            </a:r>
          </a:p>
          <a:p>
            <a:r>
              <a:rPr lang="en-US" dirty="0" err="1"/>
              <a:t>Ограничения</a:t>
            </a:r>
            <a:endParaRPr lang="en-US" dirty="0"/>
          </a:p>
          <a:p>
            <a:pPr lvl="1"/>
            <a:r>
              <a:rPr lang="en-US" dirty="0" err="1"/>
              <a:t>ограниченный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невысокая</a:t>
            </a:r>
            <a:r>
              <a:rPr lang="en-US" dirty="0"/>
              <a:t> </a:t>
            </a:r>
            <a:r>
              <a:rPr lang="en-US" dirty="0" err="1"/>
              <a:t>вычислительная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26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CDD772-A7E4-7EA6-4896-A74876FA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Микроконтроллеры </a:t>
            </a:r>
            <a:r>
              <a:rPr lang="en-US" dirty="0"/>
              <a:t>AVR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E00B3A-02F8-9316-C131-1AAB393A8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91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5B256-8C6D-C0E4-4129-34EEA2BF5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</a:t>
            </a:r>
            <a:r>
              <a:rPr lang="en-US" dirty="0"/>
              <a:t>AVR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1C6F25-99F8-8F3F-0E01-F2157E40A3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AVR — </a:t>
            </a:r>
            <a:r>
              <a:rPr lang="en-US" dirty="0" err="1"/>
              <a:t>семейство</a:t>
            </a:r>
            <a:r>
              <a:rPr lang="en-US" dirty="0"/>
              <a:t> 8-битных RISC-</a:t>
            </a:r>
            <a:r>
              <a:rPr lang="en-US" dirty="0" err="1"/>
              <a:t>микроконтроллеров</a:t>
            </a:r>
            <a:r>
              <a:rPr lang="ru-RU" dirty="0"/>
              <a:t> компании </a:t>
            </a:r>
            <a:r>
              <a:rPr lang="en-US" dirty="0"/>
              <a:t>Atmel</a:t>
            </a:r>
          </a:p>
          <a:p>
            <a:pPr lvl="1"/>
            <a:r>
              <a:rPr lang="en-US" dirty="0"/>
              <a:t>RISC – Reduced Instruction Set Computer – </a:t>
            </a:r>
            <a:r>
              <a:rPr lang="ru-RU" dirty="0"/>
              <a:t>архитектура процессора с относительно небольшим и простым набором инструкций</a:t>
            </a:r>
            <a:endParaRPr lang="en-US" dirty="0"/>
          </a:p>
          <a:p>
            <a:r>
              <a:rPr lang="en-US" dirty="0" err="1"/>
              <a:t>Характерные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Harvard architecture </a:t>
            </a:r>
          </a:p>
          <a:p>
            <a:pPr lvl="1"/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простая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ориентация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встраиваемые системы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 ATmega328P (Arduino Nano)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557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D329-B668-347D-F91F-33BAB4772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Гарвардская архитектура </a:t>
            </a:r>
            <a:r>
              <a:rPr lang="en-US" dirty="0"/>
              <a:t>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BFF52-7CA8-C52C-D5E1-8D56DE285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64994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AVR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ru-RU" dirty="0"/>
              <a:t>гарвардскую архитектуру</a:t>
            </a:r>
            <a:endParaRPr lang="en-US" dirty="0"/>
          </a:p>
          <a:p>
            <a:pPr lvl="1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разделены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шины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одновременный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инструкциям</a:t>
            </a:r>
            <a:r>
              <a:rPr lang="en-US" dirty="0"/>
              <a:t> и </a:t>
            </a:r>
            <a:r>
              <a:rPr lang="en-US" dirty="0" err="1"/>
              <a:t>данным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упрощение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повышение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EDC47A-A80B-6922-BEF8-EA5A3BF515FF}"/>
              </a:ext>
            </a:extLst>
          </p:cNvPr>
          <p:cNvSpPr/>
          <p:nvPr/>
        </p:nvSpPr>
        <p:spPr>
          <a:xfrm>
            <a:off x="8559857" y="3628708"/>
            <a:ext cx="1569206" cy="81366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Устройство управления</a:t>
            </a:r>
            <a:endParaRPr lang="en-US" sz="16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315D08-0D00-4A8D-5E5E-AEACD3C3690B}"/>
              </a:ext>
            </a:extLst>
          </p:cNvPr>
          <p:cNvSpPr/>
          <p:nvPr/>
        </p:nvSpPr>
        <p:spPr>
          <a:xfrm>
            <a:off x="6738803" y="3628708"/>
            <a:ext cx="1317359" cy="81366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Память инструкций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C172C-D6AA-4AAC-D5DD-4D396B9B6D3A}"/>
              </a:ext>
            </a:extLst>
          </p:cNvPr>
          <p:cNvSpPr/>
          <p:nvPr/>
        </p:nvSpPr>
        <p:spPr>
          <a:xfrm>
            <a:off x="10632759" y="3628708"/>
            <a:ext cx="1297984" cy="81366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Память данных</a:t>
            </a:r>
            <a:endParaRPr lang="en-US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D28DD-BB61-7E42-CFA4-F2979E89FED4}"/>
              </a:ext>
            </a:extLst>
          </p:cNvPr>
          <p:cNvSpPr/>
          <p:nvPr/>
        </p:nvSpPr>
        <p:spPr>
          <a:xfrm>
            <a:off x="8559857" y="4993187"/>
            <a:ext cx="1569206" cy="81366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dirty="0"/>
              <a:t>Ввод-вывод</a:t>
            </a:r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DD4E85-B09E-D0AC-7EB7-6BADB908D5BA}"/>
              </a:ext>
            </a:extLst>
          </p:cNvPr>
          <p:cNvSpPr/>
          <p:nvPr/>
        </p:nvSpPr>
        <p:spPr>
          <a:xfrm>
            <a:off x="8559857" y="2264229"/>
            <a:ext cx="1569206" cy="813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ALU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2AA48B5F-3AE7-50B6-AFCA-34DE85F2F9FC}"/>
              </a:ext>
            </a:extLst>
          </p:cNvPr>
          <p:cNvSpPr/>
          <p:nvPr/>
        </p:nvSpPr>
        <p:spPr>
          <a:xfrm>
            <a:off x="7968983" y="3895926"/>
            <a:ext cx="678052" cy="370639"/>
          </a:xfrm>
          <a:prstGeom prst="leftRightArrow">
            <a:avLst>
              <a:gd name="adj1" fmla="val 50000"/>
              <a:gd name="adj2" fmla="val 4619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C7F251CB-88C0-32F0-2BFD-E55A01821B36}"/>
              </a:ext>
            </a:extLst>
          </p:cNvPr>
          <p:cNvSpPr/>
          <p:nvPr/>
        </p:nvSpPr>
        <p:spPr>
          <a:xfrm>
            <a:off x="9174898" y="4353276"/>
            <a:ext cx="360870" cy="72900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5" name="Arrow: Up-Down 14">
            <a:extLst>
              <a:ext uri="{FF2B5EF4-FFF2-40B4-BE49-F238E27FC236}">
                <a16:creationId xmlns:a16="http://schemas.microsoft.com/office/drawing/2014/main" id="{4CECC7FD-B229-F0F9-7234-F3283E992373}"/>
              </a:ext>
            </a:extLst>
          </p:cNvPr>
          <p:cNvSpPr/>
          <p:nvPr/>
        </p:nvSpPr>
        <p:spPr>
          <a:xfrm>
            <a:off x="9174898" y="2984359"/>
            <a:ext cx="360870" cy="72900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FA2C459D-4F03-423A-821D-3CEAA204E28A}"/>
              </a:ext>
            </a:extLst>
          </p:cNvPr>
          <p:cNvSpPr/>
          <p:nvPr/>
        </p:nvSpPr>
        <p:spPr>
          <a:xfrm>
            <a:off x="10041885" y="3895925"/>
            <a:ext cx="678052" cy="370639"/>
          </a:xfrm>
          <a:prstGeom prst="leftRightArrow">
            <a:avLst>
              <a:gd name="adj1" fmla="val 50000"/>
              <a:gd name="adj2" fmla="val 4619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1403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468B-E0CA-E433-3008-30F59463E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Память</a:t>
            </a:r>
            <a:r>
              <a:rPr lang="en-US" dirty="0"/>
              <a:t> в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51814-731B-9F70-4E5E-3AB9A75E2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pPr lvl="1"/>
            <a:r>
              <a:rPr lang="en-US" dirty="0"/>
              <a:t>Flash memory –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ru-RU" dirty="0"/>
          </a:p>
          <a:p>
            <a:pPr lvl="2"/>
            <a:r>
              <a:rPr lang="en-US" dirty="0"/>
              <a:t>ATmega328: </a:t>
            </a:r>
            <a:r>
              <a:rPr lang="ru-RU" dirty="0"/>
              <a:t>32</a:t>
            </a:r>
            <a:r>
              <a:rPr lang="en-US" dirty="0"/>
              <a:t>KB</a:t>
            </a:r>
          </a:p>
          <a:p>
            <a:pPr lvl="1"/>
            <a:r>
              <a:rPr lang="en-US" dirty="0"/>
              <a:t>SRAM- </a:t>
            </a:r>
            <a:r>
              <a:rPr lang="en-US" dirty="0" err="1"/>
              <a:t>хранение</a:t>
            </a:r>
            <a:r>
              <a:rPr lang="en-US" dirty="0"/>
              <a:t> 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ATmega328: 2KB</a:t>
            </a:r>
          </a:p>
          <a:p>
            <a:pPr lvl="1"/>
            <a:r>
              <a:rPr lang="en-US" dirty="0"/>
              <a:t>EEPROM – </a:t>
            </a:r>
            <a:r>
              <a:rPr lang="en-US" dirty="0" err="1"/>
              <a:t>энергонезависимое</a:t>
            </a:r>
            <a:r>
              <a:rPr lang="en-US" dirty="0"/>
              <a:t> 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ATmega328: 1KB</a:t>
            </a:r>
          </a:p>
          <a:p>
            <a:r>
              <a:rPr lang="en-US" dirty="0" err="1"/>
              <a:t>Особенности</a:t>
            </a:r>
            <a:endParaRPr lang="en-US" dirty="0"/>
          </a:p>
          <a:p>
            <a:pPr lvl="1"/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виртуальной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прямой</a:t>
            </a:r>
            <a:r>
              <a:rPr lang="en-US" dirty="0"/>
              <a:t>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размещением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77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7B312-B761-3815-672C-79A6E39E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Регистры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3C75B-C39E-D0D6-3E50-61BA46196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4968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AVR </a:t>
            </a:r>
            <a:r>
              <a:rPr lang="en-US" dirty="0" err="1"/>
              <a:t>содержит</a:t>
            </a:r>
            <a:r>
              <a:rPr lang="en-US" dirty="0"/>
              <a:t> 32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: R0–R31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арифметических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1 </a:t>
            </a:r>
            <a:r>
              <a:rPr lang="en-US" dirty="0" err="1"/>
              <a:t>такт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регистры</a:t>
            </a:r>
            <a:r>
              <a:rPr lang="en-US" dirty="0"/>
              <a:t> X, Y, Z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X = R27:R26 </a:t>
            </a:r>
          </a:p>
          <a:p>
            <a:pPr lvl="2"/>
            <a:r>
              <a:rPr lang="en-US" dirty="0"/>
              <a:t>Y = R29:R28 </a:t>
            </a:r>
          </a:p>
          <a:p>
            <a:pPr lvl="2"/>
            <a:r>
              <a:rPr lang="en-US" dirty="0"/>
              <a:t>Z = R31:R30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C92AF09-2B90-4E89-C58B-AFE32DA66F9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942567" y="1855338"/>
            <a:ext cx="3861789" cy="31987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B4B5F3-3495-5A9C-EDDA-5FB26BFB9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107" y="5054053"/>
            <a:ext cx="5150893" cy="180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916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9A04E-4062-E7D9-18B9-26D2025C8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012AF-DF20-98F3-EBBE-FDCA6BEB7A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MOV </a:t>
            </a:r>
          </a:p>
          <a:p>
            <a:pPr lvl="1"/>
            <a:r>
              <a:rPr lang="en-US" dirty="0"/>
              <a:t>LD </a:t>
            </a:r>
          </a:p>
          <a:p>
            <a:pPr lvl="1"/>
            <a:r>
              <a:rPr lang="en-US" dirty="0"/>
              <a:t>ST </a:t>
            </a:r>
          </a:p>
          <a:p>
            <a:pPr lvl="1"/>
            <a:r>
              <a:rPr lang="en-US" dirty="0"/>
              <a:t>LDI </a:t>
            </a:r>
          </a:p>
          <a:p>
            <a:pPr lvl="1"/>
            <a:r>
              <a:rPr lang="en-US" dirty="0"/>
              <a:t>LDS </a:t>
            </a:r>
          </a:p>
          <a:p>
            <a:pPr lvl="1"/>
            <a:r>
              <a:rPr lang="en-US" dirty="0"/>
              <a:t>STS </a:t>
            </a:r>
          </a:p>
          <a:p>
            <a:r>
              <a:rPr lang="en-US" dirty="0" err="1"/>
              <a:t>Арифметические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ADD </a:t>
            </a:r>
          </a:p>
          <a:p>
            <a:pPr lvl="1"/>
            <a:r>
              <a:rPr lang="en-US" dirty="0"/>
              <a:t>ADC </a:t>
            </a:r>
          </a:p>
          <a:p>
            <a:pPr lvl="1"/>
            <a:r>
              <a:rPr lang="en-US" dirty="0"/>
              <a:t>SUB </a:t>
            </a:r>
          </a:p>
          <a:p>
            <a:pPr lvl="1"/>
            <a:r>
              <a:rPr lang="en-US" dirty="0"/>
              <a:t>SBC </a:t>
            </a:r>
          </a:p>
          <a:p>
            <a:pPr lvl="1"/>
            <a:r>
              <a:rPr lang="en-US" dirty="0"/>
              <a:t>INC </a:t>
            </a:r>
          </a:p>
          <a:p>
            <a:pPr lvl="1"/>
            <a:r>
              <a:rPr lang="en-US" dirty="0"/>
              <a:t>DEC </a:t>
            </a:r>
          </a:p>
          <a:p>
            <a:r>
              <a:rPr lang="en-US" dirty="0" err="1"/>
              <a:t>Ввод-вывод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IN </a:t>
            </a:r>
          </a:p>
          <a:p>
            <a:pPr lvl="1"/>
            <a:r>
              <a:rPr lang="en-US" dirty="0"/>
              <a:t>OUT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4E30A5-6522-38F5-1014-245AF1309A1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AND </a:t>
            </a:r>
          </a:p>
          <a:p>
            <a:pPr lvl="1"/>
            <a:r>
              <a:rPr lang="en-US" dirty="0"/>
              <a:t>OR </a:t>
            </a:r>
          </a:p>
          <a:p>
            <a:pPr lvl="1"/>
            <a:r>
              <a:rPr lang="en-US" dirty="0"/>
              <a:t>EOR </a:t>
            </a:r>
          </a:p>
          <a:p>
            <a:pPr lvl="1"/>
            <a:r>
              <a:rPr lang="en-US" dirty="0"/>
              <a:t>COM </a:t>
            </a:r>
          </a:p>
          <a:p>
            <a:pPr lvl="1"/>
            <a:r>
              <a:rPr lang="en-US" dirty="0"/>
              <a:t>TST </a:t>
            </a:r>
          </a:p>
          <a:p>
            <a:r>
              <a:rPr lang="en-US" dirty="0" err="1"/>
              <a:t>Сдвиги</a:t>
            </a:r>
            <a:r>
              <a:rPr lang="en-US" dirty="0"/>
              <a:t> и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битами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LSL </a:t>
            </a:r>
          </a:p>
          <a:p>
            <a:pPr lvl="1"/>
            <a:r>
              <a:rPr lang="en-US" dirty="0"/>
              <a:t>LSR </a:t>
            </a:r>
          </a:p>
          <a:p>
            <a:pPr lvl="1"/>
            <a:r>
              <a:rPr lang="en-US" dirty="0"/>
              <a:t>ROL </a:t>
            </a:r>
          </a:p>
          <a:p>
            <a:pPr lvl="1"/>
            <a:r>
              <a:rPr lang="en-US" dirty="0"/>
              <a:t>ROR </a:t>
            </a:r>
          </a:p>
          <a:p>
            <a:pPr lvl="1"/>
            <a:r>
              <a:rPr lang="en-US" dirty="0"/>
              <a:t>SBI </a:t>
            </a:r>
          </a:p>
          <a:p>
            <a:pPr lvl="1"/>
            <a:r>
              <a:rPr lang="en-US" dirty="0"/>
              <a:t>CBI </a:t>
            </a:r>
          </a:p>
          <a:p>
            <a:r>
              <a:rPr lang="en-US" dirty="0" err="1"/>
              <a:t>Переходы</a:t>
            </a:r>
            <a:r>
              <a:rPr lang="en-US" dirty="0"/>
              <a:t> и </a:t>
            </a:r>
            <a:r>
              <a:rPr lang="en-US" dirty="0" err="1"/>
              <a:t>вызовы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RJMP </a:t>
            </a:r>
          </a:p>
          <a:p>
            <a:pPr lvl="1"/>
            <a:r>
              <a:rPr lang="en-US" dirty="0"/>
              <a:t>BRNE </a:t>
            </a:r>
          </a:p>
          <a:p>
            <a:pPr lvl="1"/>
            <a:r>
              <a:rPr lang="en-US" dirty="0"/>
              <a:t>BREQ </a:t>
            </a:r>
          </a:p>
          <a:p>
            <a:pPr lvl="1"/>
            <a:r>
              <a:rPr lang="en-US" dirty="0"/>
              <a:t>CALL </a:t>
            </a:r>
          </a:p>
          <a:p>
            <a:pPr lvl="1"/>
            <a:r>
              <a:rPr lang="en-US" dirty="0"/>
              <a:t>RET </a:t>
            </a:r>
          </a:p>
        </p:txBody>
      </p:sp>
    </p:spTree>
    <p:extLst>
      <p:ext uri="{BB962C8B-B14F-4D97-AF65-F5344CB8AC3E}">
        <p14:creationId xmlns:p14="http://schemas.microsoft.com/office/powerpoint/2010/main" val="4162326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2506-5B31-13B9-84CA-03161B48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ATmega328P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B5C872-7C85-9294-5928-DC1712121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584371" cy="43513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Особенности</a:t>
            </a:r>
            <a:endParaRPr lang="en-US" dirty="0"/>
          </a:p>
          <a:p>
            <a:pPr lvl="1"/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</a:t>
            </a:r>
            <a:r>
              <a:rPr lang="en-US" dirty="0" err="1"/>
              <a:t>отображены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I/O-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Stack Pointer </a:t>
            </a:r>
            <a:r>
              <a:rPr lang="en-US" dirty="0" err="1"/>
              <a:t>хранится</a:t>
            </a:r>
            <a:r>
              <a:rPr lang="en-US" dirty="0"/>
              <a:t> в </a:t>
            </a:r>
            <a:r>
              <a:rPr lang="en-US" dirty="0" err="1"/>
              <a:t>специальных</a:t>
            </a:r>
            <a:r>
              <a:rPr lang="en-US" dirty="0"/>
              <a:t> I/O-</a:t>
            </a:r>
            <a:r>
              <a:rPr lang="en-US" dirty="0" err="1"/>
              <a:t>регистрах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SPL – 0x003D</a:t>
            </a:r>
          </a:p>
          <a:p>
            <a:pPr lvl="2"/>
            <a:r>
              <a:rPr lang="en-US" dirty="0"/>
              <a:t>SPH </a:t>
            </a:r>
            <a:r>
              <a:rPr lang="ru-RU" dirty="0"/>
              <a:t>– 0</a:t>
            </a:r>
            <a:r>
              <a:rPr lang="en-US" dirty="0"/>
              <a:t>x003E</a:t>
            </a:r>
          </a:p>
          <a:p>
            <a:pPr lvl="1"/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</a:t>
            </a:r>
          </a:p>
          <a:p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14CE2C-04D7-C24E-BB70-CCE628E3FE1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05854835"/>
              </p:ext>
            </p:extLst>
          </p:nvPr>
        </p:nvGraphicFramePr>
        <p:xfrm>
          <a:off x="6716485" y="1825625"/>
          <a:ext cx="5018315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139">
                  <a:extLst>
                    <a:ext uri="{9D8B030D-6E8A-4147-A177-3AD203B41FA5}">
                      <a16:colId xmlns:a16="http://schemas.microsoft.com/office/drawing/2014/main" val="487488085"/>
                    </a:ext>
                  </a:extLst>
                </a:gridCol>
                <a:gridCol w="3131176">
                  <a:extLst>
                    <a:ext uri="{9D8B030D-6E8A-4147-A177-3AD203B41FA5}">
                      <a16:colId xmlns:a16="http://schemas.microsoft.com/office/drawing/2014/main" val="2411742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Адреса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258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0x0000-0x001F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Регистры общего назначения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338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0x0020-0x005F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I/O</a:t>
                      </a:r>
                      <a:r>
                        <a:rPr lang="ru-RU" dirty="0"/>
                        <a:t> регистры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679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0x0060-0x00FF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Extended I/O</a:t>
                      </a:r>
                      <a:r>
                        <a:rPr lang="ru-RU" dirty="0"/>
                        <a:t> регистры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4973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0x0100-…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353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0BAF2-ED6F-6E81-E09D-E6CD3BC4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AVR и embedded-</a:t>
            </a:r>
            <a:r>
              <a:rPr lang="en-US" dirty="0" err="1"/>
              <a:t>разработка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48F08-8817-E51B-0F65-93C3A4560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Особенности</a:t>
            </a:r>
            <a:r>
              <a:rPr lang="en-US" dirty="0"/>
              <a:t> AVR </a:t>
            </a:r>
            <a:r>
              <a:rPr lang="en-US" dirty="0" err="1"/>
              <a:t>как</a:t>
            </a:r>
            <a:r>
              <a:rPr lang="en-US" dirty="0"/>
              <a:t> embedded-</a:t>
            </a:r>
            <a:r>
              <a:rPr lang="en-US" dirty="0" err="1"/>
              <a:t>платформы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предсказуемое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непосредственный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6680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F664-1276-FBBE-EBA9-0039ABDBC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960CF-53AC-256F-5CC7-76A144605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В AVR I/O-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I/O address </a:t>
            </a:r>
          </a:p>
          <a:p>
            <a:pPr lvl="1"/>
            <a:r>
              <a:rPr lang="en-US" dirty="0"/>
              <a:t>Data memory address</a:t>
            </a:r>
            <a:r>
              <a:rPr lang="ru-RU" dirty="0"/>
              <a:t> </a:t>
            </a:r>
            <a:r>
              <a:rPr lang="en-US" dirty="0"/>
              <a:t>= I/O address + 0x20</a:t>
            </a:r>
            <a:endParaRPr lang="ru-RU" dirty="0"/>
          </a:p>
          <a:p>
            <a:r>
              <a:rPr lang="ru-RU" dirty="0"/>
              <a:t>Пример:</a:t>
            </a:r>
          </a:p>
          <a:p>
            <a:pPr lvl="1"/>
            <a:r>
              <a:rPr lang="en-US" dirty="0"/>
              <a:t>SPL – 0x3D (0x5D)</a:t>
            </a:r>
          </a:p>
          <a:p>
            <a:pPr lvl="2"/>
            <a:r>
              <a:rPr lang="en-US" dirty="0"/>
              <a:t>I/O </a:t>
            </a:r>
            <a:r>
              <a:rPr lang="ru-RU" dirty="0"/>
              <a:t>адрес </a:t>
            </a:r>
            <a:r>
              <a:rPr lang="en-US" dirty="0"/>
              <a:t>= 0x3D</a:t>
            </a:r>
          </a:p>
          <a:p>
            <a:pPr lvl="2"/>
            <a:r>
              <a:rPr lang="en-US" dirty="0"/>
              <a:t>Data memory address = 0x5D</a:t>
            </a:r>
          </a:p>
          <a:p>
            <a:r>
              <a:rPr lang="ru-RU" dirty="0"/>
              <a:t>Доступ к регистру:</a:t>
            </a:r>
          </a:p>
          <a:p>
            <a:pPr lvl="1"/>
            <a:r>
              <a:rPr lang="ru-RU" dirty="0"/>
              <a:t>Через </a:t>
            </a:r>
            <a:r>
              <a:rPr lang="en-US" dirty="0"/>
              <a:t>I/O </a:t>
            </a:r>
            <a:r>
              <a:rPr lang="ru-RU" dirty="0"/>
              <a:t>инструкции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in r16, 0x3D</a:t>
            </a:r>
          </a:p>
          <a:p>
            <a:pPr lvl="1"/>
            <a:r>
              <a:rPr lang="ru-RU" dirty="0"/>
              <a:t>Через память данных</a:t>
            </a:r>
          </a:p>
          <a:p>
            <a:pPr lvl="2"/>
            <a:r>
              <a:rPr lang="en-US" dirty="0" err="1"/>
              <a:t>lds</a:t>
            </a:r>
            <a:r>
              <a:rPr lang="en-US" dirty="0"/>
              <a:t> r16, 0x005D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002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8EE57-5DDF-D5AF-8669-E86F6B96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B1F1589-1ED6-59A3-58C1-168B1061D4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69546" y="165099"/>
            <a:ext cx="6123638" cy="669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799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D0537-6CBE-BABC-096F-AE654883F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E6E6-9EC7-D272-4E42-968F007DC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ru-RU" dirty="0"/>
              <a:t> </a:t>
            </a:r>
            <a:r>
              <a:rPr lang="en-US" dirty="0"/>
              <a:t>CPU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reset vector.</a:t>
            </a:r>
          </a:p>
          <a:p>
            <a:pPr lvl="1"/>
            <a:r>
              <a:rPr lang="en-US" dirty="0" err="1"/>
              <a:t>Сброс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reset vector </a:t>
            </a:r>
          </a:p>
          <a:p>
            <a:pPr lvl="1"/>
            <a:r>
              <a:rPr lang="en-US" dirty="0" err="1"/>
              <a:t>Выполнение</a:t>
            </a:r>
            <a:r>
              <a:rPr lang="en-US" dirty="0"/>
              <a:t> startup code </a:t>
            </a:r>
          </a:p>
          <a:p>
            <a:pPr lvl="1"/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Настройка</a:t>
            </a:r>
            <a:r>
              <a:rPr lang="en-US" dirty="0"/>
              <a:t> Stack Pointer </a:t>
            </a:r>
          </a:p>
          <a:p>
            <a:pPr lvl="1"/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глобальных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Вызов</a:t>
            </a:r>
            <a:r>
              <a:rPr lang="en-US" dirty="0"/>
              <a:t> main() </a:t>
            </a:r>
          </a:p>
          <a:p>
            <a:r>
              <a:rPr lang="en-US" dirty="0"/>
              <a:t>Startup code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копирует</a:t>
            </a:r>
            <a:r>
              <a:rPr lang="en-US" dirty="0"/>
              <a:t> .data </a:t>
            </a:r>
            <a:r>
              <a:rPr lang="en-US" dirty="0" err="1"/>
              <a:t>из</a:t>
            </a:r>
            <a:r>
              <a:rPr lang="en-US" dirty="0"/>
              <a:t> Flash в SRAM </a:t>
            </a:r>
            <a:r>
              <a:rPr lang="ru-RU" dirty="0"/>
              <a:t> (инициализированные глобальные переменные)</a:t>
            </a:r>
            <a:endParaRPr lang="en-US" dirty="0"/>
          </a:p>
          <a:p>
            <a:pPr lvl="1"/>
            <a:r>
              <a:rPr lang="en-US" dirty="0" err="1"/>
              <a:t>обнуляет</a:t>
            </a:r>
            <a:r>
              <a:rPr lang="en-US" dirty="0"/>
              <a:t> .</a:t>
            </a:r>
            <a:r>
              <a:rPr lang="en-US" dirty="0" err="1"/>
              <a:t>bss</a:t>
            </a:r>
            <a:r>
              <a:rPr lang="en-US" dirty="0"/>
              <a:t> </a:t>
            </a:r>
            <a:r>
              <a:rPr lang="ru-RU" dirty="0"/>
              <a:t>(глобальные переменные)</a:t>
            </a:r>
            <a:endParaRPr lang="en-US" dirty="0"/>
          </a:p>
          <a:p>
            <a:pPr lvl="1"/>
            <a:r>
              <a:rPr lang="en-US" dirty="0" err="1"/>
              <a:t>инициализирует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подготавливает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218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3411-42FC-D39E-CAF8-E81BADCB9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GPIO: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3B213-3C01-8E24-B308-055905338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GPIO (General Purpose Input/Output) —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/>
              <a:t>GPIO </a:t>
            </a:r>
            <a:r>
              <a:rPr lang="en-US" dirty="0" err="1"/>
              <a:t>позволяют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обмениваться</a:t>
            </a:r>
            <a:r>
              <a:rPr lang="en-US" dirty="0"/>
              <a:t> </a:t>
            </a:r>
            <a:r>
              <a:rPr lang="en-US" dirty="0" err="1"/>
              <a:t>простыми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 </a:t>
            </a:r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кнопки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светодиоды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реле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датчики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дисплеи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192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385A1-AF48-8184-073D-8F6036A4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Режимы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GPIO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6900D-819D-1951-79F5-90C7383D6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GPIO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в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режимах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Input – </a:t>
            </a:r>
            <a:r>
              <a:rPr lang="en-US" dirty="0" err="1"/>
              <a:t>считывание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Output – </a:t>
            </a:r>
            <a:r>
              <a:rPr lang="en-US" dirty="0" err="1"/>
              <a:t>формирование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endParaRPr lang="en-US" dirty="0"/>
          </a:p>
          <a:p>
            <a:r>
              <a:rPr lang="ru-RU" dirty="0"/>
              <a:t>Логические уровни</a:t>
            </a:r>
          </a:p>
          <a:p>
            <a:pPr lvl="1"/>
            <a:r>
              <a:rPr lang="en-US" dirty="0"/>
              <a:t>LOW: </a:t>
            </a:r>
            <a:r>
              <a:rPr lang="ru-RU" dirty="0"/>
              <a:t>около 0</a:t>
            </a:r>
            <a:r>
              <a:rPr lang="en-US" dirty="0"/>
              <a:t>V</a:t>
            </a:r>
          </a:p>
          <a:p>
            <a:pPr lvl="1"/>
            <a:r>
              <a:rPr lang="en-US" dirty="0"/>
              <a:t>HIGH: </a:t>
            </a:r>
            <a:r>
              <a:rPr lang="ru-RU" dirty="0"/>
              <a:t>около 5</a:t>
            </a:r>
            <a:r>
              <a:rPr lang="en-US"/>
              <a:t>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86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E9EE-3E07-A4AC-6845-8F7C8FD8E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D3095-38AF-34BD-496E-F83A8E982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отображены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#define PORTB (*(volatile uint8_t*)0x25)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endParaRPr lang="en-US" dirty="0"/>
          </a:p>
          <a:p>
            <a:pPr lvl="1"/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чтение</a:t>
            </a:r>
            <a:r>
              <a:rPr lang="en-US" dirty="0"/>
              <a:t> и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побочные</a:t>
            </a:r>
            <a:r>
              <a:rPr lang="en-US" dirty="0"/>
              <a:t> </a:t>
            </a:r>
            <a:r>
              <a:rPr lang="en-US" dirty="0" err="1"/>
              <a:t>эффекты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</a:p>
          <a:p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volatile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volatile uint8_t* reg;</a:t>
            </a:r>
          </a:p>
          <a:p>
            <a:pPr lvl="1"/>
            <a:r>
              <a:rPr lang="en-US" dirty="0"/>
              <a:t>volatile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удалять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регистру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кэшировать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403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75F27-4261-5BC3-1EB6-EAA08A40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в ATmega328P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18157-FB57-6E2C-CB27-AB134B2F19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070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GPIO </a:t>
            </a:r>
            <a:r>
              <a:rPr lang="en-US" dirty="0" err="1"/>
              <a:t>организованы</a:t>
            </a:r>
            <a:r>
              <a:rPr lang="en-US" dirty="0"/>
              <a:t> в </a:t>
            </a:r>
            <a:r>
              <a:rPr lang="en-US" dirty="0" err="1"/>
              <a:t>порты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PORTB </a:t>
            </a:r>
          </a:p>
          <a:p>
            <a:pPr lvl="1"/>
            <a:r>
              <a:rPr lang="en-US" dirty="0"/>
              <a:t>PORTC </a:t>
            </a:r>
          </a:p>
          <a:p>
            <a:pPr lvl="1"/>
            <a:r>
              <a:rPr lang="en-US" dirty="0"/>
              <a:t>PORTD 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порт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endParaRPr lang="ru-RU" dirty="0"/>
          </a:p>
          <a:p>
            <a:r>
              <a:rPr lang="en-US" dirty="0" err="1"/>
              <a:t>Режим</a:t>
            </a:r>
            <a:r>
              <a:rPr lang="en-US" dirty="0"/>
              <a:t> output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DDRB |= (1 &lt;&lt; PB5);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PORTB |= (1 &lt;&lt; PB5);</a:t>
            </a:r>
          </a:p>
          <a:p>
            <a:pPr lvl="1"/>
            <a:r>
              <a:rPr lang="en-US" dirty="0"/>
              <a:t>PB5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подаётся</a:t>
            </a:r>
            <a:r>
              <a:rPr lang="en-US" dirty="0"/>
              <a:t> HIGH </a:t>
            </a:r>
          </a:p>
          <a:p>
            <a:r>
              <a:rPr lang="en-US" dirty="0" err="1"/>
              <a:t>Режим</a:t>
            </a:r>
            <a:r>
              <a:rPr lang="en-US" dirty="0"/>
              <a:t> input + pull-up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DDRD &amp;= ~(1 &lt;&lt; PD2);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PORTD |= (1 &lt;&lt; PD2);</a:t>
            </a:r>
          </a:p>
          <a:p>
            <a:pPr lvl="1"/>
            <a:r>
              <a:rPr lang="en-US" dirty="0"/>
              <a:t>PD2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включён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A0618E9-86B2-D35D-DC83-856C43F04E5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14247901"/>
              </p:ext>
            </p:extLst>
          </p:nvPr>
        </p:nvGraphicFramePr>
        <p:xfrm>
          <a:off x="6716354" y="3881741"/>
          <a:ext cx="5181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5385">
                  <a:extLst>
                    <a:ext uri="{9D8B030D-6E8A-4147-A177-3AD203B41FA5}">
                      <a16:colId xmlns:a16="http://schemas.microsoft.com/office/drawing/2014/main" val="4068020681"/>
                    </a:ext>
                  </a:extLst>
                </a:gridCol>
                <a:gridCol w="3656215">
                  <a:extLst>
                    <a:ext uri="{9D8B030D-6E8A-4147-A177-3AD203B41FA5}">
                      <a16:colId xmlns:a16="http://schemas.microsoft.com/office/drawing/2014/main" val="106016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Регистр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239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DDRx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направление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вывода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0369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PORTx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выходное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значение</a:t>
                      </a:r>
                      <a:r>
                        <a:rPr lang="en-US" dirty="0"/>
                        <a:t> / pull-up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8524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PINx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чтение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состояния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вывода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93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60552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60586C-2309-8C48-9AEC-B2EC7334F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AVR Toolchain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E099DE-12FA-79B1-C605-ED1C02FF6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98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A41A-16FD-CB35-9387-B7F83DC4C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Toolchain </a:t>
            </a:r>
            <a:r>
              <a:rPr lang="en-US" dirty="0" err="1"/>
              <a:t>для</a:t>
            </a:r>
            <a:r>
              <a:rPr lang="en-US" dirty="0"/>
              <a:t> AVR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FB1BA6-0F9B-17C6-B087-C4B22C126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Этапы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  <a:p>
            <a:pPr lvl="1"/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</a:t>
            </a:r>
          </a:p>
          <a:p>
            <a:pPr lvl="1"/>
            <a:r>
              <a:rPr lang="en-US" dirty="0" err="1"/>
              <a:t>Компиляция</a:t>
            </a:r>
            <a:r>
              <a:rPr lang="en-US" dirty="0"/>
              <a:t> (</a:t>
            </a:r>
            <a:r>
              <a:rPr lang="en-US" dirty="0" err="1"/>
              <a:t>avr-gcc</a:t>
            </a:r>
            <a:r>
              <a:rPr lang="en-US" dirty="0"/>
              <a:t>) →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endParaRPr lang="en-US" dirty="0"/>
          </a:p>
          <a:p>
            <a:pPr lvl="1"/>
            <a:r>
              <a:rPr lang="en-US" dirty="0" err="1"/>
              <a:t>Линковка</a:t>
            </a:r>
            <a:r>
              <a:rPr lang="en-US" dirty="0"/>
              <a:t> →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(.elf, .hex)</a:t>
            </a:r>
          </a:p>
          <a:p>
            <a:pPr lvl="1"/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(</a:t>
            </a:r>
            <a:r>
              <a:rPr lang="en-US" dirty="0" err="1"/>
              <a:t>avrdude</a:t>
            </a:r>
            <a:r>
              <a:rPr lang="en-US" dirty="0"/>
              <a:t>)</a:t>
            </a:r>
          </a:p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инструменты</a:t>
            </a:r>
            <a:endParaRPr lang="en-US" dirty="0"/>
          </a:p>
          <a:p>
            <a:pPr lvl="1"/>
            <a:r>
              <a:rPr lang="en-US" dirty="0" err="1"/>
              <a:t>avr-gcc</a:t>
            </a:r>
            <a:r>
              <a:rPr lang="en-US" dirty="0"/>
              <a:t> —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</a:t>
            </a:r>
            <a:r>
              <a:rPr lang="en-US" dirty="0"/>
              <a:t>-as — </a:t>
            </a:r>
            <a:r>
              <a:rPr lang="en-US" dirty="0" err="1"/>
              <a:t>ассемблер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avr-ld</a:t>
            </a:r>
            <a:r>
              <a:rPr lang="en-US" dirty="0"/>
              <a:t> — </a:t>
            </a:r>
            <a:r>
              <a:rPr lang="en-US" dirty="0" err="1"/>
              <a:t>линковщик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avr-objdump</a:t>
            </a:r>
            <a:r>
              <a:rPr lang="en-US" dirty="0"/>
              <a:t> — </a:t>
            </a:r>
            <a:r>
              <a:rPr lang="en-US" dirty="0" err="1"/>
              <a:t>дизассемблирование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</a:t>
            </a:r>
            <a:r>
              <a:rPr lang="en-US" dirty="0"/>
              <a:t>-size —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avrdude</a:t>
            </a:r>
            <a:r>
              <a:rPr lang="en-US" dirty="0"/>
              <a:t> —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315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7F6A7-6F71-5C30-D7DF-D266C418E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7E8A2-71D6-6B61-4A24-96F8B6FCC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int main(void)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while (1)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 err="1"/>
              <a:t>Компиляция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avr-gcc</a:t>
            </a:r>
            <a:r>
              <a:rPr lang="en-US" dirty="0">
                <a:latin typeface="Consolas" panose="020B0609020204030204" pitchFamily="49" charset="0"/>
              </a:rPr>
              <a:t> -</a:t>
            </a:r>
            <a:r>
              <a:rPr lang="en-US" dirty="0" err="1">
                <a:latin typeface="Consolas" panose="020B0609020204030204" pitchFamily="49" charset="0"/>
              </a:rPr>
              <a:t>mmcu</a:t>
            </a:r>
            <a:r>
              <a:rPr lang="en-US" dirty="0">
                <a:latin typeface="Consolas" panose="020B0609020204030204" pitchFamily="49" charset="0"/>
              </a:rPr>
              <a:t>=atmega328p </a:t>
            </a:r>
            <a:r>
              <a:rPr lang="en-US" dirty="0" err="1">
                <a:latin typeface="Consolas" panose="020B0609020204030204" pitchFamily="49" charset="0"/>
              </a:rPr>
              <a:t>main.c</a:t>
            </a:r>
            <a:r>
              <a:rPr lang="en-US" dirty="0">
                <a:latin typeface="Consolas" panose="020B0609020204030204" pitchFamily="49" charset="0"/>
              </a:rPr>
              <a:t> -o </a:t>
            </a:r>
            <a:r>
              <a:rPr lang="en-US" dirty="0" err="1">
                <a:latin typeface="Consolas" panose="020B0609020204030204" pitchFamily="49" charset="0"/>
              </a:rPr>
              <a:t>main.elf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avr-objcopy</a:t>
            </a:r>
            <a:r>
              <a:rPr lang="en-US" dirty="0">
                <a:latin typeface="Consolas" panose="020B0609020204030204" pitchFamily="49" charset="0"/>
              </a:rPr>
              <a:t> -O </a:t>
            </a:r>
            <a:r>
              <a:rPr lang="en-US" dirty="0" err="1">
                <a:latin typeface="Consolas" panose="020B0609020204030204" pitchFamily="49" charset="0"/>
              </a:rPr>
              <a:t>ihex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main.elf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main.hex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3201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FCF745-8887-7664-9107-A9CF6EC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Дизассемблирование</a:t>
            </a:r>
            <a:r>
              <a:rPr lang="en-US" dirty="0"/>
              <a:t> AVR-</a:t>
            </a:r>
            <a:r>
              <a:rPr lang="en-US" dirty="0" err="1"/>
              <a:t>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40093C-95BD-7857-2C9E-F5C983A4B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Дизассемблирование</a:t>
            </a:r>
            <a:endParaRPr lang="en-US" dirty="0"/>
          </a:p>
          <a:p>
            <a:pPr lvl="1"/>
            <a:r>
              <a:rPr lang="en-US" dirty="0" err="1"/>
              <a:t>avr-objdump</a:t>
            </a:r>
            <a:r>
              <a:rPr lang="en-US" dirty="0"/>
              <a:t> -d </a:t>
            </a:r>
            <a:r>
              <a:rPr lang="en-US" dirty="0" err="1"/>
              <a:t>main.elf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endParaRPr lang="en-US" dirty="0"/>
          </a:p>
          <a:p>
            <a:pPr lvl="1"/>
            <a:r>
              <a:rPr lang="en-US" dirty="0"/>
              <a:t>00000080 &lt;main&gt;:</a:t>
            </a:r>
            <a:br>
              <a:rPr lang="en-US" dirty="0"/>
            </a:br>
            <a:r>
              <a:rPr lang="en-US" dirty="0"/>
              <a:t>  80:  ff </a:t>
            </a:r>
            <a:r>
              <a:rPr lang="en-US" dirty="0" err="1"/>
              <a:t>cf</a:t>
            </a:r>
            <a:r>
              <a:rPr lang="en-US" dirty="0"/>
              <a:t>    </a:t>
            </a:r>
            <a:r>
              <a:rPr lang="en-US" dirty="0" err="1"/>
              <a:t>rjmp</a:t>
            </a:r>
            <a:r>
              <a:rPr lang="en-US" dirty="0"/>
              <a:t> .-2</a:t>
            </a:r>
          </a:p>
        </p:txBody>
      </p:sp>
    </p:spTree>
    <p:extLst>
      <p:ext uri="{BB962C8B-B14F-4D97-AF65-F5344CB8AC3E}">
        <p14:creationId xmlns:p14="http://schemas.microsoft.com/office/powerpoint/2010/main" val="259923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4DFBD-B431-511E-232B-6B4574A6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A426F-3E6A-4CB9-97BD-58E1C24DF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в MCU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avrdude</a:t>
            </a:r>
            <a:r>
              <a:rPr lang="en-US" dirty="0">
                <a:latin typeface="Consolas" panose="020B0609020204030204" pitchFamily="49" charset="0"/>
              </a:rPr>
              <a:t> -c </a:t>
            </a:r>
            <a:r>
              <a:rPr lang="en-US" dirty="0" err="1">
                <a:latin typeface="Consolas" panose="020B0609020204030204" pitchFamily="49" charset="0"/>
              </a:rPr>
              <a:t>arduino</a:t>
            </a:r>
            <a:r>
              <a:rPr lang="en-US" dirty="0">
                <a:latin typeface="Consolas" panose="020B0609020204030204" pitchFamily="49" charset="0"/>
              </a:rPr>
              <a:t> -p m328p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-P COM3 -b 115200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-U </a:t>
            </a:r>
            <a:r>
              <a:rPr lang="en-US" dirty="0" err="1">
                <a:latin typeface="Consolas" panose="020B0609020204030204" pitchFamily="49" charset="0"/>
              </a:rPr>
              <a:t>flash:w:main.hex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прошивке</a:t>
            </a:r>
            <a:endParaRPr lang="en-US" dirty="0"/>
          </a:p>
          <a:p>
            <a:pPr lvl="1"/>
            <a:r>
              <a:rPr lang="en-US" dirty="0" err="1"/>
              <a:t>установление</a:t>
            </a:r>
            <a:r>
              <a:rPr lang="en-US" dirty="0"/>
              <a:t> </a:t>
            </a:r>
            <a:r>
              <a:rPr lang="en-US" dirty="0" err="1"/>
              <a:t>соединения</a:t>
            </a:r>
            <a:r>
              <a:rPr lang="en-US" dirty="0"/>
              <a:t> с bootloader/programmer </a:t>
            </a:r>
          </a:p>
          <a:p>
            <a:pPr lvl="1"/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 memory </a:t>
            </a:r>
          </a:p>
          <a:p>
            <a:pPr lvl="1"/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содержимого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762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C616F-1358-E0CF-7912-28E1B6B70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Особенности</a:t>
            </a:r>
            <a:r>
              <a:rPr lang="en-US" dirty="0"/>
              <a:t> embedded toolchain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64544-67C2-6B0B-61FD-36EF88FFA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Отличия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desktop-</a:t>
            </a:r>
            <a:r>
              <a:rPr lang="en-US" dirty="0" err="1"/>
              <a:t>разработки</a:t>
            </a:r>
            <a:endParaRPr lang="en-US" dirty="0"/>
          </a:p>
          <a:p>
            <a:pPr lvl="1"/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непосредственная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важность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endParaRPr lang="en-US" dirty="0"/>
          </a:p>
          <a:p>
            <a:pPr lvl="1"/>
            <a:r>
              <a:rPr lang="en-US" dirty="0"/>
              <a:t>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MCU </a:t>
            </a:r>
          </a:p>
          <a:p>
            <a:pPr lvl="1"/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834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D6F244-CDB7-5905-8B24-F654E8B03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: </a:t>
            </a:r>
            <a:r>
              <a:rPr lang="en-US" dirty="0" err="1"/>
              <a:t>мигание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5C8619-5BFD-1D05-3776-0C027EFE3FCE}"/>
              </a:ext>
            </a:extLst>
          </p:cNvPr>
          <p:cNvSpPr txBox="1"/>
          <p:nvPr/>
        </p:nvSpPr>
        <p:spPr>
          <a:xfrm>
            <a:off x="838200" y="169068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avr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util/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delay.h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DDRB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PB5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настраивается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output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PORTB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светодиод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включается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PORTB &amp;= ~(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светодиод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выключается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0015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E48DD8-71EC-4CA4-C205-E0895CE5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Таймеры микроконтроллера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457622-666A-871A-153E-EABC229BB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545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2CB759-E413-1CEE-B2DD-6741A515F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54BF28-E1EB-BEFD-C8EA-9E78058C0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Таймер</a:t>
            </a:r>
            <a:r>
              <a:rPr lang="en-US" dirty="0"/>
              <a:t> (timer/counter) —</a:t>
            </a:r>
            <a:r>
              <a:rPr lang="ru-RU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и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r>
              <a:rPr lang="en-US" dirty="0" err="1"/>
              <a:t>Возможност</a:t>
            </a:r>
            <a:r>
              <a:rPr lang="ru-RU" dirty="0"/>
              <a:t>и</a:t>
            </a:r>
            <a:endParaRPr lang="en-US" dirty="0"/>
          </a:p>
          <a:p>
            <a:pPr lvl="1"/>
            <a:r>
              <a:rPr lang="en-US" dirty="0" err="1"/>
              <a:t>измерение</a:t>
            </a:r>
            <a:r>
              <a:rPr lang="en-US" dirty="0"/>
              <a:t> </a:t>
            </a:r>
            <a:r>
              <a:rPr lang="en-US" dirty="0" err="1"/>
              <a:t>временных</a:t>
            </a:r>
            <a:r>
              <a:rPr lang="en-US" dirty="0"/>
              <a:t> </a:t>
            </a:r>
            <a:r>
              <a:rPr lang="en-US" dirty="0" err="1"/>
              <a:t>интервалов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en-US" dirty="0" err="1"/>
              <a:t>периодических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импульсов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PWM (Pulse Width Modulation, </a:t>
            </a:r>
            <a:r>
              <a:rPr lang="en-US" dirty="0" err="1"/>
              <a:t>широтно-импульсная</a:t>
            </a:r>
            <a:r>
              <a:rPr lang="en-US" dirty="0"/>
              <a:t> </a:t>
            </a:r>
            <a:r>
              <a:rPr lang="en-US" dirty="0" err="1"/>
              <a:t>модуляция</a:t>
            </a:r>
            <a:endParaRPr lang="en-US" dirty="0"/>
          </a:p>
          <a:p>
            <a:pPr lvl="2"/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ru-RU" dirty="0"/>
              <a:t>за счёт быстрого</a:t>
            </a:r>
            <a:r>
              <a:rPr lang="en-US" dirty="0"/>
              <a:t> </a:t>
            </a:r>
            <a:r>
              <a:rPr lang="en-US" dirty="0" err="1"/>
              <a:t>переключения</a:t>
            </a:r>
            <a:r>
              <a:rPr lang="en-US" dirty="0"/>
              <a:t> </a:t>
            </a:r>
            <a:r>
              <a:rPr lang="en-US" dirty="0" err="1"/>
              <a:t>цифрового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состояниями</a:t>
            </a:r>
            <a:r>
              <a:rPr lang="en-US" dirty="0"/>
              <a:t> HIGH и LOW.</a:t>
            </a:r>
          </a:p>
          <a:p>
            <a:pPr lvl="1"/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ru-RU" dirty="0"/>
              <a:t>прерываний (</a:t>
            </a:r>
            <a:r>
              <a:rPr lang="en-US" dirty="0"/>
              <a:t>interrupts) </a:t>
            </a:r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CPU.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30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A0D7C-880C-7132-2275-D9599E5F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F1795-D538-7227-169B-9D4233FE0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Упрощённая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endParaRPr lang="en-US" dirty="0"/>
          </a:p>
          <a:p>
            <a:pPr lvl="1"/>
            <a:r>
              <a:rPr lang="en-US" dirty="0"/>
              <a:t>Clock → </a:t>
            </a:r>
            <a:r>
              <a:rPr lang="en-US" dirty="0" err="1"/>
              <a:t>Prescaler</a:t>
            </a:r>
            <a:r>
              <a:rPr lang="en-US" dirty="0"/>
              <a:t> → Counter → Compare Match</a:t>
            </a:r>
          </a:p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endParaRPr lang="en-US" dirty="0"/>
          </a:p>
          <a:p>
            <a:pPr lvl="1"/>
            <a:r>
              <a:rPr lang="en-US" dirty="0"/>
              <a:t>Clock source</a:t>
            </a:r>
            <a:r>
              <a:rPr lang="ru-RU" dirty="0"/>
              <a:t> – </a:t>
            </a:r>
            <a:r>
              <a:rPr lang="en-US" dirty="0" err="1"/>
              <a:t>источник</a:t>
            </a:r>
            <a:r>
              <a:rPr lang="ru-RU" dirty="0"/>
              <a:t> </a:t>
            </a:r>
            <a:r>
              <a:rPr lang="en-US" dirty="0" err="1"/>
              <a:t>такт</a:t>
            </a:r>
            <a:r>
              <a:rPr lang="ru-RU" dirty="0" err="1"/>
              <a:t>овых</a:t>
            </a:r>
            <a:r>
              <a:rPr lang="ru-RU" dirty="0"/>
              <a:t> импульсов</a:t>
            </a:r>
            <a:endParaRPr lang="en-US" dirty="0"/>
          </a:p>
          <a:p>
            <a:pPr lvl="1"/>
            <a:r>
              <a:rPr lang="en-US" dirty="0" err="1"/>
              <a:t>Prescaler</a:t>
            </a:r>
            <a:r>
              <a:rPr lang="ru-RU" dirty="0"/>
              <a:t> – </a:t>
            </a:r>
            <a:r>
              <a:rPr lang="en-US" dirty="0" err="1"/>
              <a:t>делитель</a:t>
            </a:r>
            <a:r>
              <a:rPr lang="ru-RU" dirty="0"/>
              <a:t> </a:t>
            </a:r>
            <a:r>
              <a:rPr lang="en-US" dirty="0" err="1"/>
              <a:t>частоты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Counter</a:t>
            </a:r>
            <a:r>
              <a:rPr lang="ru-RU" dirty="0"/>
              <a:t> – </a:t>
            </a:r>
            <a:r>
              <a:rPr lang="en-US" dirty="0" err="1"/>
              <a:t>аппаратный</a:t>
            </a:r>
            <a:r>
              <a:rPr lang="ru-RU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Compare register</a:t>
            </a:r>
            <a:r>
              <a:rPr lang="ru-RU" dirty="0"/>
              <a:t> – </a:t>
            </a:r>
            <a:r>
              <a:rPr lang="en-US" dirty="0" err="1"/>
              <a:t>значение</a:t>
            </a:r>
            <a:r>
              <a:rPr lang="ru-RU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endParaRPr lang="en-US" dirty="0"/>
          </a:p>
          <a:p>
            <a:r>
              <a:rPr lang="ru-RU" dirty="0"/>
              <a:t>Действия при срабатывания таймера</a:t>
            </a:r>
          </a:p>
          <a:p>
            <a:pPr lvl="1"/>
            <a:r>
              <a:rPr lang="ru-RU" dirty="0"/>
              <a:t>Установка флага</a:t>
            </a:r>
          </a:p>
          <a:p>
            <a:pPr lvl="1"/>
            <a:r>
              <a:rPr lang="ru-RU" dirty="0"/>
              <a:t>Изменение состояние вывода</a:t>
            </a:r>
          </a:p>
          <a:p>
            <a:pPr lvl="1"/>
            <a:r>
              <a:rPr lang="ru-RU" dirty="0"/>
              <a:t>Генерирование прерывания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027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68D07-B83C-C0A1-89F0-A3B60F24C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Прерывания</a:t>
            </a:r>
            <a:r>
              <a:rPr lang="en-US" dirty="0"/>
              <a:t> (Interrupts)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A187D-8275-B459-FDB7-551F70A49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Interrupt —</a:t>
            </a:r>
            <a:r>
              <a:rPr lang="ru-RU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асинхронного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b="1" dirty="0" err="1"/>
              <a:t>Источники</a:t>
            </a:r>
            <a:r>
              <a:rPr lang="en-US" b="1" dirty="0"/>
              <a:t> interrupts</a:t>
            </a:r>
          </a:p>
          <a:p>
            <a:pPr lvl="1"/>
            <a:r>
              <a:rPr lang="en-US" dirty="0" err="1"/>
              <a:t>таймеры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GPIO </a:t>
            </a:r>
          </a:p>
          <a:p>
            <a:pPr lvl="1"/>
            <a:r>
              <a:rPr lang="en-US" dirty="0"/>
              <a:t>UART </a:t>
            </a:r>
          </a:p>
          <a:p>
            <a:pPr lvl="1"/>
            <a:r>
              <a:rPr lang="en-US" dirty="0"/>
              <a:t>ADC </a:t>
            </a:r>
          </a:p>
          <a:p>
            <a:pPr lvl="1"/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</a:p>
          <a:p>
            <a:r>
              <a:rPr lang="en-US" b="1" dirty="0" err="1"/>
              <a:t>При</a:t>
            </a:r>
            <a:r>
              <a:rPr lang="en-US" b="1" dirty="0"/>
              <a:t> </a:t>
            </a:r>
            <a:r>
              <a:rPr lang="en-US" b="1" dirty="0" err="1"/>
              <a:t>возникновении</a:t>
            </a:r>
            <a:r>
              <a:rPr lang="en-US" b="1" dirty="0"/>
              <a:t> interrupt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переходит</a:t>
            </a:r>
            <a:r>
              <a:rPr lang="en-US" dirty="0"/>
              <a:t> к ISR (interrupt service routine) 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возвращается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7937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B654E-002A-9299-C354-EE6D1C989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Polling vs 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862D9-43A7-6C63-F6FB-D466A5364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Polling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while (!(TIFR0 &amp; (1 &lt;&lt; OCF0A)))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CPU </a:t>
            </a:r>
            <a:r>
              <a:rPr lang="ru-RU" dirty="0"/>
              <a:t>постоянно проверяет флаг</a:t>
            </a:r>
            <a:r>
              <a:rPr lang="en-US" dirty="0"/>
              <a:t> </a:t>
            </a:r>
            <a:r>
              <a:rPr lang="ru-RU" dirty="0"/>
              <a:t>события (</a:t>
            </a:r>
            <a:r>
              <a:rPr lang="en-US" dirty="0"/>
              <a:t>TIFR0 Timer 0 Interrupt Flag Register)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#define TIFR0 (*(volatile uint8_t*)0x35) </a:t>
            </a:r>
          </a:p>
          <a:p>
            <a:pPr lvl="1"/>
            <a:r>
              <a:rPr lang="en-US" dirty="0"/>
              <a:t>OCF0A — Output Compare Flag Timer0 A</a:t>
            </a:r>
          </a:p>
          <a:p>
            <a:pPr lvl="1"/>
            <a:r>
              <a:rPr lang="ru-RU" dirty="0"/>
              <a:t>флаг устанавливается таймером при </a:t>
            </a:r>
            <a:r>
              <a:rPr lang="en-US" dirty="0"/>
              <a:t>compare </a:t>
            </a:r>
            <a:r>
              <a:rPr lang="en-US" dirty="0" err="1"/>
              <a:t>matc</a:t>
            </a:r>
            <a:endParaRPr lang="en-US" dirty="0"/>
          </a:p>
          <a:p>
            <a:r>
              <a:rPr lang="ru-RU" dirty="0"/>
              <a:t>В случае прерываний </a:t>
            </a:r>
            <a:r>
              <a:rPr lang="en-US" dirty="0"/>
              <a:t>CPU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7026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020F-545F-68C7-F06C-BA118066C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Service Routine (ISR)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9282B-2EFE-482C-E4FB-62B7F99081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Пример</a:t>
            </a:r>
            <a:r>
              <a:rPr lang="en-US" dirty="0"/>
              <a:t> ISR</a:t>
            </a:r>
          </a:p>
          <a:p>
            <a:pPr lvl="1"/>
            <a:r>
              <a:rPr lang="en-US" dirty="0"/>
              <a:t>ISR(TIMER0_COMPA_vect) {</a:t>
            </a:r>
            <a:br>
              <a:rPr lang="en-US" dirty="0"/>
            </a:br>
            <a:r>
              <a:rPr lang="en-US" dirty="0"/>
              <a:t>    PORTB ^= (1 &lt;&lt; PB5);</a:t>
            </a:r>
            <a:br>
              <a:rPr lang="en-US" dirty="0"/>
            </a:br>
            <a:r>
              <a:rPr lang="en-US" dirty="0"/>
              <a:t>}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 ISR</a:t>
            </a:r>
          </a:p>
          <a:p>
            <a:pPr lvl="1"/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короткой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прервать</a:t>
            </a:r>
            <a:r>
              <a:rPr lang="en-US" dirty="0"/>
              <a:t> </a:t>
            </a:r>
            <a:r>
              <a:rPr lang="en-US" dirty="0" err="1"/>
              <a:t>основную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990ADC-C6B9-7251-0DDD-7C407F31A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555875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 err="1"/>
              <a:t>Макрос</a:t>
            </a:r>
            <a:r>
              <a:rPr lang="en-US" b="1" dirty="0"/>
              <a:t> ISR(...)</a:t>
            </a:r>
          </a:p>
          <a:p>
            <a:pPr lvl="1"/>
            <a:r>
              <a:rPr lang="en-US" dirty="0" err="1"/>
              <a:t>связывает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с interrupt vector </a:t>
            </a:r>
          </a:p>
          <a:p>
            <a:pPr lvl="1"/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корректный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специальную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ru-RU" dirty="0"/>
              <a:t>команд </a:t>
            </a:r>
            <a:r>
              <a:rPr lang="en-US" dirty="0" err="1"/>
              <a:t>возврата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3606BD-B60B-B791-9694-61F2735F7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900249"/>
              </p:ext>
            </p:extLst>
          </p:nvPr>
        </p:nvGraphicFramePr>
        <p:xfrm>
          <a:off x="6172200" y="4516437"/>
          <a:ext cx="584835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175">
                  <a:extLst>
                    <a:ext uri="{9D8B030D-6E8A-4147-A177-3AD203B41FA5}">
                      <a16:colId xmlns:a16="http://schemas.microsoft.com/office/drawing/2014/main" val="234980313"/>
                    </a:ext>
                  </a:extLst>
                </a:gridCol>
                <a:gridCol w="2924175">
                  <a:extLst>
                    <a:ext uri="{9D8B030D-6E8A-4147-A177-3AD203B41FA5}">
                      <a16:colId xmlns:a16="http://schemas.microsoft.com/office/drawing/2014/main" val="612482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Обычная функция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87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Вызывается программой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Вызывается аппаратурой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251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579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reti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646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Обычный поток выполнения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Асинхронное выполнение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876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67000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0FDA-E8F7-38C0-07D2-22901E64C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volatile и 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07CA-BE7E-8652-9652-8F10DAD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Проблема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while (!flag)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 err="1"/>
              <a:t>Если</a:t>
            </a:r>
            <a:r>
              <a:rPr lang="en-US" dirty="0"/>
              <a:t> flag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ISR: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volatile uint8_t flag;</a:t>
            </a:r>
          </a:p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volatile</a:t>
            </a:r>
          </a:p>
          <a:p>
            <a:pPr lvl="1"/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измениться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ru-RU" dirty="0"/>
              <a:t>или внутри прерывания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288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5BF59-7583-4579-F9ED-17E8EC61F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8BFBC-50D8-56CC-5C0A-F2C5757A7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53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6661</Words>
  <Application>Microsoft Office PowerPoint</Application>
  <PresentationFormat>Widescreen</PresentationFormat>
  <Paragraphs>855</Paragraphs>
  <Slides>37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Программирование микроконтроллеров</vt:lpstr>
      <vt:lpstr>Встраиваемые системы (embedded systems)</vt:lpstr>
      <vt:lpstr>Что такое микроконтроллер</vt:lpstr>
      <vt:lpstr>Из чего состоит микроконтроллер</vt:lpstr>
      <vt:lpstr>CPU внутри микроконтроллера</vt:lpstr>
      <vt:lpstr>Периферия микроконтроллера</vt:lpstr>
      <vt:lpstr>Микроконтроллер как система на кристалле</vt:lpstr>
      <vt:lpstr>Микроконтроллеры AVR</vt:lpstr>
      <vt:lpstr>Архитектура AVR</vt:lpstr>
      <vt:lpstr>Гарвардская архитектура AVR</vt:lpstr>
      <vt:lpstr>Память в AVR</vt:lpstr>
      <vt:lpstr>Регистры AVR</vt:lpstr>
      <vt:lpstr>Система команд AVR</vt:lpstr>
      <vt:lpstr>Адресное пространство ATmega328P</vt:lpstr>
      <vt:lpstr>AVR и embedded-разработка</vt:lpstr>
      <vt:lpstr>Два пространства адресов для I/O-регистров</vt:lpstr>
      <vt:lpstr>PowerPoint Presentation</vt:lpstr>
      <vt:lpstr>Что происходит после загрузки программы</vt:lpstr>
      <vt:lpstr>GPIO: цифровые выводы микроконтроллера</vt:lpstr>
      <vt:lpstr>Режимы работы GPIO</vt:lpstr>
      <vt:lpstr>Работа с аппаратными регистрами</vt:lpstr>
      <vt:lpstr>GPIO в ATmega328P</vt:lpstr>
      <vt:lpstr>AVR Toolchain</vt:lpstr>
      <vt:lpstr>Toolchain для AVR</vt:lpstr>
      <vt:lpstr>Компиляция программы для AVR</vt:lpstr>
      <vt:lpstr>Дизассемблирование AVR-программы</vt:lpstr>
      <vt:lpstr>Прошивка микроконтроллера</vt:lpstr>
      <vt:lpstr>Особенности embedded toolchain</vt:lpstr>
      <vt:lpstr>Пример программы: мигание светодиодом</vt:lpstr>
      <vt:lpstr>Таймеры микроконтроллера</vt:lpstr>
      <vt:lpstr>Таймеры микроконтроллера</vt:lpstr>
      <vt:lpstr>Принцип работы таймера</vt:lpstr>
      <vt:lpstr>Прерывания (Interrupts)</vt:lpstr>
      <vt:lpstr>Polling vs Interrupts</vt:lpstr>
      <vt:lpstr>Interrupt Service Routine (ISR)</vt:lpstr>
      <vt:lpstr>volatile и interrupts</vt:lpstr>
      <vt:lpstr>UART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4</cp:revision>
  <dcterms:created xsi:type="dcterms:W3CDTF">2026-05-19T02:55:18Z</dcterms:created>
  <dcterms:modified xsi:type="dcterms:W3CDTF">2026-05-19T17:24:07Z</dcterms:modified>
</cp:coreProperties>
</file>