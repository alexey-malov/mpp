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9" r:id="rId12"/>
    <p:sldId id="268" r:id="rId13"/>
    <p:sldId id="267" r:id="rId14"/>
    <p:sldId id="270" r:id="rId15"/>
    <p:sldId id="271" r:id="rId16"/>
    <p:sldId id="273" r:id="rId17"/>
    <p:sldId id="274" r:id="rId18"/>
    <p:sldId id="272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89" autoAdjust="0"/>
    <p:restoredTop sz="76877" autoAdjust="0"/>
  </p:normalViewPr>
  <p:slideViewPr>
    <p:cSldViewPr snapToGrid="0" showGuides="1">
      <p:cViewPr varScale="1">
        <p:scale>
          <a:sx n="81" d="100"/>
          <a:sy n="81" d="100"/>
        </p:scale>
        <p:origin x="1746" y="60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C48878-87EC-475B-B3A3-F73BE034A919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F8A247-C9B4-47E1-BD4C-605C98C5FE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990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прошлой лекции мы подробно разобрали архитектуру процессора Intel 8080.</a:t>
            </a:r>
          </a:p>
          <a:p>
            <a:endParaRPr lang="ru-RU" dirty="0"/>
          </a:p>
          <a:p>
            <a:r>
              <a:rPr lang="ru-RU" dirty="0"/>
              <a:t>Это была учебная модель, но на её примере вы увидели все ключевые элементы: регистры, память, инструкции, стек, переходы управления.</a:t>
            </a:r>
          </a:p>
          <a:p>
            <a:endParaRPr lang="ru-RU" dirty="0"/>
          </a:p>
          <a:p>
            <a:r>
              <a:rPr lang="ru-RU" dirty="0"/>
              <a:t>Вы разобрали, как процессор выполняет программу шаг за шагом: выбор инструкции, декодирование, выполнение.</a:t>
            </a:r>
          </a:p>
          <a:p>
            <a:r>
              <a:rPr lang="ru-RU" dirty="0"/>
              <a:t>И это самый важный результат.</a:t>
            </a:r>
          </a:p>
          <a:p>
            <a:endParaRPr lang="ru-RU" dirty="0"/>
          </a:p>
          <a:p>
            <a:r>
              <a:rPr lang="ru-RU" dirty="0"/>
              <a:t>Потому что теперь вы понимаете не просто синтаксис ассемблера, а саму суть: как программа превращается в действия процессора.</a:t>
            </a:r>
          </a:p>
          <a:p>
            <a:endParaRPr lang="ru-RU" dirty="0"/>
          </a:p>
          <a:p>
            <a:r>
              <a:rPr lang="ru-RU" dirty="0"/>
              <a:t>И именно с этим пониманием мы можем двигаться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0353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мы переходим к архитектуре x86-64 — это архитектура, которая используется в современных процессорах персональных компьютеров и серверов. Именно под неё компилируются программы на языке C и других языках высокого уровня.</a:t>
            </a:r>
          </a:p>
          <a:p>
            <a:endParaRPr lang="ru-RU" dirty="0"/>
          </a:p>
          <a:p>
            <a:r>
              <a:rPr lang="ru-RU" dirty="0"/>
              <a:t>Важно подчеркнуть, что при этом не происходит смены парадигмы. Все ключевые элементы, которые мы уже изучили, сохраняются: регистры, память, стек, инструкции и управление потоком выполнения.</a:t>
            </a:r>
          </a:p>
          <a:p>
            <a:endParaRPr lang="ru-RU" dirty="0"/>
          </a:p>
          <a:p>
            <a:r>
              <a:rPr lang="ru-RU" dirty="0"/>
              <a:t>Таким образом, мы не начинаем изучение заново. Мы переносим уже сформированное понимание на более сложную и более реалистичную архитектуру.</a:t>
            </a:r>
          </a:p>
          <a:p>
            <a:endParaRPr lang="ru-RU" dirty="0"/>
          </a:p>
          <a:p>
            <a:r>
              <a:rPr lang="ru-RU" dirty="0"/>
              <a:t>Основное отличие будет заключаться в масштабе и деталях: больше регистров, более развитая система команд, более сложные способы адресации и взаимодействие с операционной системой.</a:t>
            </a:r>
          </a:p>
          <a:p>
            <a:r>
              <a:rPr lang="ru-RU" dirty="0"/>
              <a:t>Именно это мы и будем постепенно разбирать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9319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Архитура</a:t>
            </a:r>
            <a:r>
              <a:rPr lang="ru-RU" dirty="0"/>
              <a:t> x86 принципиально отличается от учебных моделей тем, что она не была спроектирована «с нуля» как единое целое.</a:t>
            </a:r>
          </a:p>
          <a:p>
            <a:endParaRPr lang="ru-RU" dirty="0"/>
          </a:p>
          <a:p>
            <a:r>
              <a:rPr lang="ru-RU" dirty="0"/>
              <a:t>Она формировалась на протяжении десятилетий. Каждое новое поколение процессоров добавляло новые возможности, при этом сохранялась обратная совместимость с ранее написанным программным обеспечением.</a:t>
            </a:r>
          </a:p>
          <a:p>
            <a:r>
              <a:rPr lang="ru-RU" dirty="0"/>
              <a:t>Это означает, что современные процессоры должны уметь выполнять код, написанный десятки лет назад.</a:t>
            </a:r>
          </a:p>
          <a:p>
            <a:endParaRPr lang="ru-RU" dirty="0"/>
          </a:p>
          <a:p>
            <a:r>
              <a:rPr lang="ru-RU" dirty="0"/>
              <a:t>В результате архитектура представляет собой совокупность решений, накопленных со временем. Это приводит к увеличению сложности и появлению особенностей, которые не всегда выглядят логичными с точки зрения чистого проектирования.</a:t>
            </a:r>
          </a:p>
          <a:p>
            <a:endParaRPr lang="ru-RU" dirty="0"/>
          </a:p>
          <a:p>
            <a:r>
              <a:rPr lang="ru-RU" dirty="0"/>
              <a:t>Понимание этого факта важно: многие элементы x86 объясняются не оптимальностью, а историей развития.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931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Архитектура x86 начинается с процессора 8086, который был 16-битным и использовал сегментную модель памяти.</a:t>
            </a:r>
          </a:p>
          <a:p>
            <a:r>
              <a:rPr lang="ru-RU" dirty="0"/>
              <a:t>Эта модель позволяла адресовать больше памяти, чем позволял размер регистра, но была достаточно сложной в использовании.</a:t>
            </a:r>
          </a:p>
          <a:p>
            <a:endParaRPr lang="ru-RU" dirty="0"/>
          </a:p>
          <a:p>
            <a:r>
              <a:rPr lang="ru-RU" dirty="0"/>
              <a:t>Следующим важным шагом стал 80286, в котором появился защищённый режим — важный механизм для операционных систем, обеспечивающий изоляцию процессов.</a:t>
            </a:r>
          </a:p>
          <a:p>
            <a:endParaRPr lang="ru-RU" dirty="0"/>
          </a:p>
          <a:p>
            <a:r>
              <a:rPr lang="ru-RU" dirty="0"/>
              <a:t>Ключевой этап развития — процессор 80386. В нём была реализована полноценная 32-битная архитектура, значительно расширено адресное пространство и заложены основы той модели памяти, которую мы используем сегодня.</a:t>
            </a:r>
          </a:p>
          <a:p>
            <a:endParaRPr lang="ru-RU" dirty="0"/>
          </a:p>
          <a:p>
            <a:r>
              <a:rPr lang="ru-RU" dirty="0"/>
              <a:t>Важно отметить, что в этот период существовали и активно развивались альтернативные архитектуры, такие как MIPS и </a:t>
            </a:r>
            <a:r>
              <a:rPr lang="ru-RU" dirty="0" err="1"/>
              <a:t>PowerPC</a:t>
            </a:r>
            <a:r>
              <a:rPr lang="ru-RU" dirty="0"/>
              <a:t>. Во многих случаях они были более простыми и демонстрировали высокую производительность.</a:t>
            </a:r>
          </a:p>
          <a:p>
            <a:r>
              <a:rPr lang="ru-RU" dirty="0"/>
              <a:t>Тем не менее, архитектура x86 продолжила развитие и заняла доминирующее положение.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01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Дальнейшее развитие архитектуры x86 было направлено прежде всего на повышение производительности.</a:t>
            </a:r>
          </a:p>
          <a:p>
            <a:endParaRPr lang="ru-RU" dirty="0"/>
          </a:p>
          <a:p>
            <a:r>
              <a:rPr lang="ru-RU" dirty="0"/>
              <a:t>В процессоре 80486 произошло объединение компонентов: математический сопроцессор стал частью основного процессора, а также появилась встроенная кэш-память.</a:t>
            </a:r>
          </a:p>
          <a:p>
            <a:endParaRPr lang="ru-RU" dirty="0"/>
          </a:p>
          <a:p>
            <a:r>
              <a:rPr lang="ru-RU" dirty="0"/>
              <a:t>В архитектуре Pentium были реализованы более сложные механизмы, такие как </a:t>
            </a:r>
            <a:r>
              <a:rPr lang="ru-RU" dirty="0" err="1"/>
              <a:t>суперскалярность</a:t>
            </a:r>
            <a:r>
              <a:rPr lang="ru-RU" dirty="0"/>
              <a:t> — возможность выполнять несколько инструкций параллельно.</a:t>
            </a:r>
          </a:p>
          <a:p>
            <a:endParaRPr lang="ru-RU" dirty="0"/>
          </a:p>
          <a:p>
            <a:r>
              <a:rPr lang="ru-RU" dirty="0"/>
              <a:t>При этом важно, что внешняя модель программирования практически не изменилась. Программы продолжали работать без существенных изменений.</a:t>
            </a:r>
          </a:p>
          <a:p>
            <a:endParaRPr lang="ru-RU" dirty="0"/>
          </a:p>
          <a:p>
            <a:r>
              <a:rPr lang="ru-RU" dirty="0"/>
              <a:t>Альтернативные архитектуры, такие как MIPS и </a:t>
            </a:r>
            <a:r>
              <a:rPr lang="ru-RU" dirty="0" err="1"/>
              <a:t>PowerPC</a:t>
            </a:r>
            <a:r>
              <a:rPr lang="ru-RU" dirty="0"/>
              <a:t>, также развивались и нередко превосходили x86 по отдельным характеристикам. Однако за счёт совместимости, широкой экосистемы и распространённости именно x86 смог закрепиться как основной стандарт для персональных компьютеров.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3529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 началу 2000-х годов стало очевидно, что 32-битной архитектуры уже недостаточно. Основное ограничение — это объём адресуемой памяти.</a:t>
            </a:r>
          </a:p>
          <a:p>
            <a:r>
              <a:rPr lang="ru-RU" dirty="0"/>
              <a:t>Перед индустрией встал вопрос: как перейти к 64-битной архитектуре.</a:t>
            </a:r>
          </a:p>
          <a:p>
            <a:endParaRPr lang="ru-RU" dirty="0"/>
          </a:p>
          <a:p>
            <a:r>
              <a:rPr lang="ru-RU" dirty="0"/>
              <a:t>Компания Intel предложила радикальный подход — разработку полностью новой архитектуры IA-64, также известной как Itanium. Эта архитектура не была совместима с x86, что означало необходимость переписывания программного обеспечения.</a:t>
            </a:r>
          </a:p>
          <a:p>
            <a:endParaRPr lang="ru-RU" dirty="0"/>
          </a:p>
          <a:p>
            <a:r>
              <a:rPr lang="ru-RU" dirty="0"/>
              <a:t>Параллельно компания AMD предложила другой путь — эволюционный. </a:t>
            </a:r>
            <a:r>
              <a:rPr lang="ru-RU" dirty="0" err="1"/>
              <a:t>Архиктура</a:t>
            </a:r>
            <a:r>
              <a:rPr lang="ru-RU" dirty="0"/>
              <a:t> x86 была расширена до 64 бит с сохранением обратной совместимости.</a:t>
            </a:r>
          </a:p>
          <a:p>
            <a:r>
              <a:rPr lang="ru-RU" dirty="0"/>
              <a:t>Этот подход оказался более практичным: существующие программы продолжали работать, а новые могли использовать расширенные возможности.</a:t>
            </a:r>
          </a:p>
          <a:p>
            <a:endParaRPr lang="ru-RU" dirty="0"/>
          </a:p>
          <a:p>
            <a:r>
              <a:rPr lang="ru-RU" dirty="0"/>
              <a:t>В результате именно x86-64, или AMD64, стал стандартом. В дальнейшем даже Intel приняла этот подход.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698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следующих этапах курса мы будем последовательно изучать архитектуру x86-64.</a:t>
            </a:r>
          </a:p>
          <a:p>
            <a:endParaRPr lang="ru-RU" dirty="0"/>
          </a:p>
          <a:p>
            <a:r>
              <a:rPr lang="ru-RU" dirty="0"/>
              <a:t>Сначала разберём регистры и базовые инструкции, затем перейдём к более сложным аспектам, таким как режимы адресации и соглашения о вызовах функций.</a:t>
            </a:r>
          </a:p>
          <a:p>
            <a:r>
              <a:rPr lang="ru-RU" dirty="0"/>
              <a:t>Особое внимание будет уделено практической стороне.</a:t>
            </a:r>
          </a:p>
          <a:p>
            <a:endParaRPr lang="ru-RU" dirty="0"/>
          </a:p>
          <a:p>
            <a:r>
              <a:rPr lang="ru-RU" dirty="0"/>
              <a:t>Вы научитесь читать ассемблерный код и понимать, как программы на языке C преобразуются в последовательности инструкций процессора.</a:t>
            </a:r>
          </a:p>
          <a:p>
            <a:r>
              <a:rPr lang="ru-RU" dirty="0"/>
              <a:t>В результате вы сможете анализировать выполнение программы на более глубоком уровне и лучше понимать, что происходит «под капотом» при работе с кодом.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533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Регистры — это самая быстрая память, доступная процессору. Они находятся непосредственно внутри процессора и используются практически в каждой инструкции.</a:t>
            </a:r>
          </a:p>
          <a:p>
            <a:endParaRPr lang="ru-RU" dirty="0"/>
          </a:p>
          <a:p>
            <a:r>
              <a:rPr lang="ru-RU" dirty="0"/>
              <a:t>В отличие от оперативной памяти, доступ к регистрам осуществляется значительно быстрее.</a:t>
            </a:r>
          </a:p>
          <a:p>
            <a:endParaRPr lang="ru-RU" dirty="0"/>
          </a:p>
          <a:p>
            <a:r>
              <a:rPr lang="ru-RU" dirty="0"/>
              <a:t>Именно в регистрах хранятся операнды инструкций, промежуточные результаты вычислений, а также данные, необходимые для управления выполнением программы.</a:t>
            </a:r>
          </a:p>
          <a:p>
            <a:endParaRPr lang="ru-RU" dirty="0"/>
          </a:p>
          <a:p>
            <a:r>
              <a:rPr lang="ru-RU" dirty="0"/>
              <a:t>По сути, регистры — это рабочая область процессора.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0014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архитектуре x86-64 доступно 16 регистров общего назначения. Это существенное отличие от 8080, где регистров было значительно меньше.</a:t>
            </a:r>
          </a:p>
          <a:p>
            <a:r>
              <a:rPr lang="ru-RU" dirty="0"/>
              <a:t>Регистры RAX, RBX, RCX и RDX исторически являются базовыми.</a:t>
            </a:r>
          </a:p>
          <a:p>
            <a:endParaRPr lang="ru-RU" dirty="0"/>
          </a:p>
          <a:p>
            <a:r>
              <a:rPr lang="ru-RU" dirty="0"/>
              <a:t>RSI и RDI часто используются для работы с памятью и передачи аргументов.</a:t>
            </a:r>
          </a:p>
          <a:p>
            <a:r>
              <a:rPr lang="ru-RU" dirty="0"/>
              <a:t>RBP и RSP связаны со стеком.</a:t>
            </a:r>
          </a:p>
          <a:p>
            <a:endParaRPr lang="ru-RU" dirty="0"/>
          </a:p>
          <a:p>
            <a:r>
              <a:rPr lang="ru-RU" dirty="0"/>
              <a:t>Дополнительно введены регистры R8–R15, которые расширяют возможности работы с данными.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3125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Исторически у регистров есть определённые роли.</a:t>
            </a:r>
          </a:p>
          <a:p>
            <a:endParaRPr lang="ru-RU" dirty="0"/>
          </a:p>
          <a:p>
            <a:r>
              <a:rPr lang="ru-RU" dirty="0"/>
              <a:t>Например, RAX часто используется как аккумулятор — для хранения результатов вычислений.</a:t>
            </a:r>
          </a:p>
          <a:p>
            <a:endParaRPr lang="ru-RU" dirty="0"/>
          </a:p>
          <a:p>
            <a:r>
              <a:rPr lang="ru-RU" dirty="0"/>
              <a:t>RCX традиционно используется как счётчик, например, в циклах.</a:t>
            </a:r>
          </a:p>
          <a:p>
            <a:endParaRPr lang="ru-RU" dirty="0"/>
          </a:p>
          <a:p>
            <a:r>
              <a:rPr lang="ru-RU" dirty="0"/>
              <a:t>RSP — это указатель стека, а RBP используется для работы со стековым кадром функции.</a:t>
            </a:r>
          </a:p>
          <a:p>
            <a:endParaRPr lang="ru-RU" dirty="0"/>
          </a:p>
          <a:p>
            <a:r>
              <a:rPr lang="ru-RU" dirty="0"/>
              <a:t>Однако важно понимать, что в современных компиляторах эти роли не являются жёсткими. Большинство регистров можно использовать универсально.</a:t>
            </a:r>
          </a:p>
          <a:p>
            <a:endParaRPr lang="ru-RU" dirty="0"/>
          </a:p>
          <a:p>
            <a:r>
              <a:rPr lang="ru-RU" dirty="0"/>
              <a:t>Тем не менее, соглашения о вызовах функций накладывают определённые ограничения, о которых мы поговорим позже.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4118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Очень важная особенность архитектуры x86 — возможность обращаться к разным частям одного и того же регистра.</a:t>
            </a:r>
          </a:p>
          <a:p>
            <a:endParaRPr lang="ru-RU" dirty="0"/>
          </a:p>
          <a:p>
            <a:r>
              <a:rPr lang="ru-RU" dirty="0"/>
              <a:t>Например, регистр RAX можно использовать как 64-битный, как 32-битный (EAX), как 16-битный (AX) и как 8-битный (AL).</a:t>
            </a:r>
          </a:p>
          <a:p>
            <a:endParaRPr lang="ru-RU" dirty="0"/>
          </a:p>
          <a:p>
            <a:r>
              <a:rPr lang="ru-RU" dirty="0"/>
              <a:t>Это историческое наследие, которое обеспечивает совместимость с предыдущими поколениями процессоров.</a:t>
            </a:r>
          </a:p>
          <a:p>
            <a:endParaRPr lang="ru-RU" dirty="0"/>
          </a:p>
          <a:p>
            <a:r>
              <a:rPr lang="ru-RU" dirty="0"/>
              <a:t>При этом важно помнить, что работа с младшими частями регистра может влиять на старшие биты. Эти детали мы будем рассматривать отдельно.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0816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архитектуре x86-64 один и тот же регистр можно использовать через разные имена: как 64-битный, 32-битный, 16-битный или 8-битный.</a:t>
            </a:r>
          </a:p>
          <a:p>
            <a:r>
              <a:rPr lang="ru-RU" dirty="0"/>
              <a:t>При этом важно понимать, что это не разные регистры, а разные представления одного и того же физического регистра. Их части перекрываются.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Теперь ключевой момент — поведение при записи.</a:t>
            </a:r>
          </a:p>
          <a:p>
            <a:r>
              <a:rPr lang="ru-RU" dirty="0"/>
              <a:t>Если мы записываем значение в 64-битный регистр, например в RAX, то изменяются все 64 бита — это очевидно.</a:t>
            </a:r>
          </a:p>
          <a:p>
            <a:endParaRPr lang="en-US" dirty="0"/>
          </a:p>
          <a:p>
            <a:r>
              <a:rPr lang="ru-RU" dirty="0"/>
              <a:t>Если мы записываем в 32-битный регистр, например в EAX, происходит важная вещь: старшие 32 бита регистра RAX автоматически обнуляются. Это поведение гарантировано архитектурой x86-64 и используется компиляторами.</a:t>
            </a:r>
          </a:p>
          <a:p>
            <a:endParaRPr lang="ru-RU" dirty="0"/>
          </a:p>
          <a:p>
            <a:r>
              <a:rPr lang="ru-RU" dirty="0"/>
              <a:t>А вот если мы записываем в 16-битную или 8-битную часть, например в AX или AL, то изменяется только соответствующая часть регистра, а остальные биты остаются без изменений.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различие принципиально важно и часто становится источником ошибок.</a:t>
            </a:r>
          </a:p>
          <a:p>
            <a:r>
              <a:rPr lang="ru-RU" dirty="0"/>
              <a:t>Отдельно стоит отметить, что новые регистры R8–R15 устроены более регулярно: у них нет “старших байтов” вроде AH или BH, что упрощает работу с ними и делает архитектуру более предсказуемой.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6432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Помимо регистров общего назначения, в архитектуре x86-64 есть регистры, которые напрямую участвуют в управлении выполнением программы.</a:t>
            </a:r>
          </a:p>
          <a:p>
            <a:endParaRPr lang="ru-RU" dirty="0"/>
          </a:p>
          <a:p>
            <a:r>
              <a:rPr lang="ru-RU" dirty="0"/>
              <a:t>Первый из них — RIP, </a:t>
            </a:r>
            <a:r>
              <a:rPr lang="ru-RU" dirty="0" err="1"/>
              <a:t>instruction</a:t>
            </a:r>
            <a:r>
              <a:rPr lang="ru-RU" dirty="0"/>
              <a:t> </a:t>
            </a:r>
            <a:r>
              <a:rPr lang="ru-RU" dirty="0" err="1"/>
              <a:t>pointer</a:t>
            </a:r>
            <a:r>
              <a:rPr lang="ru-RU" dirty="0"/>
              <a:t>. Он хранит адрес следующей инструкции, которая будет выполнена. В обычном режиме он изменяется автоматически после каждой инструкции, но может быть явно изменён командами перехода, вызова функций и возврата.</a:t>
            </a:r>
          </a:p>
          <a:p>
            <a:endParaRPr lang="ru-RU" dirty="0"/>
          </a:p>
          <a:p>
            <a:r>
              <a:rPr lang="ru-RU" dirty="0"/>
              <a:t>Далее, RSP — это указатель стека. Он всегда указывает на вершину стека. Инструкции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 изменяют его значение, добавляя или удаляя данные. Также он используется инструкциями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Регистр RBP — это базовый указатель стекового кадра. Он используется для организации доступа к локальным переменным и параметрам функции. В современных компиляторах его использование может быть оптимизировано, но концептуально он остаётся важным.</a:t>
            </a:r>
          </a:p>
          <a:p>
            <a:endParaRPr lang="ru-RU" dirty="0"/>
          </a:p>
          <a:p>
            <a:r>
              <a:rPr lang="ru-RU" dirty="0"/>
              <a:t>И, наконец, регистр RFLAGS. Он содержит набор флагов, отражающих состояние процессора после выполнения инструкций. Например, результат арифметических операций влияет на флаги, и на их основе выполняются условные переходы.</a:t>
            </a:r>
          </a:p>
          <a:p>
            <a:endParaRPr lang="ru-RU" dirty="0"/>
          </a:p>
          <a:p>
            <a:r>
              <a:rPr lang="ru-RU" dirty="0"/>
              <a:t>Таким образом, эти регистры обеспечивают управление потоком выполнения программы, работу со стеком и реализацию условной логики.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1318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архитектуре x86-64 есть специальный регистр — RFLAGS, который хранит состояние процессора.</a:t>
            </a:r>
          </a:p>
          <a:p>
            <a:r>
              <a:rPr lang="ru-RU" dirty="0"/>
              <a:t>После выполнения многих инструкций, особенно арифметических, процессор автоматически устанавливает определённые флаги.</a:t>
            </a:r>
          </a:p>
          <a:p>
            <a:r>
              <a:rPr lang="ru-RU" dirty="0"/>
              <a:t>Эти флаги не нужно вычислять вручную — они являются побочным результатом выполнения инструкции.</a:t>
            </a:r>
          </a:p>
          <a:p>
            <a:r>
              <a:rPr lang="ru-RU" dirty="0"/>
              <a:t>Далее они используются другими инструкциями, прежде всего условными переходами.</a:t>
            </a:r>
          </a:p>
          <a:p>
            <a:r>
              <a:rPr lang="ru-RU" dirty="0"/>
              <a:t>Таким образом, флаги — это механизм, который связывает вычисления и управление потоком выполнения программы.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4682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основные флаги, которые используются чаще всего.</a:t>
            </a:r>
          </a:p>
          <a:p>
            <a:endParaRPr lang="ru-RU" dirty="0"/>
          </a:p>
          <a:p>
            <a:r>
              <a:rPr lang="ru-RU" dirty="0"/>
              <a:t>Zero </a:t>
            </a:r>
            <a:r>
              <a:rPr lang="ru-RU" dirty="0" err="1"/>
              <a:t>Flag</a:t>
            </a:r>
            <a:r>
              <a:rPr lang="ru-RU" dirty="0"/>
              <a:t> — устанавливается, если результат операции равен нулю.</a:t>
            </a:r>
          </a:p>
          <a:p>
            <a:r>
              <a:rPr lang="ru-RU" dirty="0"/>
              <a:t>Carry </a:t>
            </a:r>
            <a:r>
              <a:rPr lang="ru-RU" dirty="0" err="1"/>
              <a:t>Flag</a:t>
            </a:r>
            <a:r>
              <a:rPr lang="ru-RU" dirty="0"/>
              <a:t> — используется при беззнаковой арифметике и показывает наличие переноса или </a:t>
            </a:r>
            <a:r>
              <a:rPr lang="ru-RU" dirty="0" err="1"/>
              <a:t>заёма</a:t>
            </a:r>
            <a:r>
              <a:rPr lang="ru-RU" dirty="0"/>
              <a:t>.</a:t>
            </a:r>
          </a:p>
          <a:p>
            <a:r>
              <a:rPr lang="ru-RU" dirty="0" err="1"/>
              <a:t>Sign</a:t>
            </a:r>
            <a:r>
              <a:rPr lang="ru-RU" dirty="0"/>
              <a:t> </a:t>
            </a:r>
            <a:r>
              <a:rPr lang="ru-RU" dirty="0" err="1"/>
              <a:t>Flag</a:t>
            </a:r>
            <a:r>
              <a:rPr lang="ru-RU" dirty="0"/>
              <a:t> отражает знак результата — фактически это старший бит.</a:t>
            </a:r>
          </a:p>
          <a:p>
            <a:r>
              <a:rPr lang="ru-RU" dirty="0" err="1"/>
              <a:t>Overflow</a:t>
            </a:r>
            <a:r>
              <a:rPr lang="ru-RU" dirty="0"/>
              <a:t> </a:t>
            </a:r>
            <a:r>
              <a:rPr lang="ru-RU" dirty="0" err="1"/>
              <a:t>Flag</a:t>
            </a:r>
            <a:r>
              <a:rPr lang="ru-RU" dirty="0"/>
              <a:t> показывает переполнение при знаковой арифметике, когда результат не помещается в отведённый диапазон.</a:t>
            </a:r>
          </a:p>
          <a:p>
            <a:endParaRPr lang="ru-RU" dirty="0"/>
          </a:p>
          <a:p>
            <a:r>
              <a:rPr lang="ru-RU" dirty="0"/>
              <a:t>Важно понимать, что один и тот же результат может интерпретироваться по-разному: как знаковый или беззнаковый. Именно поэтому существуют разные флаги.</a:t>
            </a:r>
          </a:p>
          <a:p>
            <a:r>
              <a:rPr lang="ru-RU" dirty="0"/>
              <a:t>Позже мы увидим, как на основе этих флагов работают условные переходы.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545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Кроме рассмотренных регистров, в архитектуре x86-64 существуют регистры управления и сегментные регистры.</a:t>
            </a:r>
          </a:p>
          <a:p>
            <a:r>
              <a:rPr lang="ru-RU" dirty="0"/>
              <a:t>Регистры управления, такие как CR0, CR2, CR3 и CR4, используются для настройки режима работы процессора. В частности, через них реализуется поддержка виртуальной памяти и механизмы защиты. Эти регистры доступны только на уровне операционной системы.</a:t>
            </a:r>
          </a:p>
          <a:p>
            <a:endParaRPr lang="ru-RU" dirty="0"/>
          </a:p>
          <a:p>
            <a:r>
              <a:rPr lang="ru-RU" dirty="0"/>
              <a:t>Сегментные регистры — CS, DS, SS, ES, FS и GS — являются частью исторической модели сегментной адресации.</a:t>
            </a:r>
          </a:p>
          <a:p>
            <a:r>
              <a:rPr lang="ru-RU" dirty="0"/>
              <a:t>В 64-битном режиме их роль существенно изменена. Регистры CS, DS, ES и SS практически не участвуют в адресации: используется плоская модель памяти.</a:t>
            </a:r>
          </a:p>
          <a:p>
            <a:endParaRPr lang="ru-RU" dirty="0"/>
          </a:p>
          <a:p>
            <a:r>
              <a:rPr lang="ru-RU" dirty="0"/>
              <a:t>Однако регистры FS и GS сохраняют практическое значение. Они используются, например, для доступа к данным, связанным с текущим потоком выполнения.</a:t>
            </a:r>
          </a:p>
          <a:p>
            <a:endParaRPr lang="ru-RU" dirty="0"/>
          </a:p>
          <a:p>
            <a:r>
              <a:rPr lang="ru-RU" dirty="0"/>
              <a:t>Важно понимать, что настройка сегментации и связанных с ней структур выполняется операционной системой. Пользовательский код не управляет этими механизмами напрямую, хотя может использовать их в ограниченном виде.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6604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архитектуре x86-64 существует два синтаксиса записи инструкций: Intel и AT&amp;T. В рамках курса мы будем использовать синтаксис Intel, так как он более читаемый и ближе к логике большинства учебных материалов.</a:t>
            </a:r>
          </a:p>
          <a:p>
            <a:endParaRPr lang="ru-RU" dirty="0"/>
          </a:p>
          <a:p>
            <a:r>
              <a:rPr lang="ru-RU" dirty="0"/>
              <a:t>Важная особенность архитектуры x86 — переменная длина инструкций. В отличие от 8080, где код операции занимал один байт, здесь он может занимать несколько байт.</a:t>
            </a:r>
          </a:p>
          <a:p>
            <a:endParaRPr lang="ru-RU" dirty="0"/>
          </a:p>
          <a:p>
            <a:r>
              <a:rPr lang="ru-RU" dirty="0"/>
              <a:t>Полная длина инструкции может достигать 15 байт. Это принципиально отличает x86 от архитектур вроде ARM, где инструкции имеют фиксированную длину. Это влияет на сложность декодирования, но даёт больше гибкости.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5730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</a:t>
            </a:r>
            <a:r>
              <a:rPr lang="ru-RU" dirty="0"/>
              <a:t> используется для копирования данных между операндами.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Она поддерживает различные комбинации: между регистрами, из памяти в регистр, из регистра в память, а также загрузку непосредственного значения.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lea</a:t>
            </a:r>
            <a:r>
              <a:rPr lang="ru-RU" dirty="0"/>
              <a:t> выглядит похожей, но имеет другую семантику — она не загружает данные из памяти, а вычисляет адрес и помещает его в регистр.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268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показана функция </a:t>
            </a:r>
            <a:r>
              <a:rPr lang="ru-RU" dirty="0" err="1"/>
              <a:t>swap</a:t>
            </a:r>
            <a:r>
              <a:rPr lang="ru-RU" dirty="0"/>
              <a:t>, которая обменивает значения двух переменных по указателям.</a:t>
            </a:r>
          </a:p>
          <a:p>
            <a:endParaRPr lang="en-US" dirty="0"/>
          </a:p>
          <a:p>
            <a:r>
              <a:rPr lang="ru-RU" dirty="0"/>
              <a:t>Адреса переменных передаются через регистры RSI и RDI — это соответствует соглашению о вызовах, которое мы позже разберём подробнее.</a:t>
            </a:r>
          </a:p>
          <a:p>
            <a:r>
              <a:rPr lang="ru-RU" dirty="0"/>
              <a:t>Сначала значение по адресу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загружается в регистр EAX. Это временное значение — аналог переменной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tmp</a:t>
            </a:r>
            <a:r>
              <a:rPr lang="ru-RU" dirty="0"/>
              <a:t> в C.</a:t>
            </a:r>
          </a:p>
          <a:p>
            <a:r>
              <a:rPr lang="ru-RU" dirty="0"/>
              <a:t>Затем загружается значение по адресу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 в регистр EDX.</a:t>
            </a:r>
            <a:r>
              <a:rPr lang="en-US" dirty="0"/>
              <a:t> </a:t>
            </a:r>
            <a:r>
              <a:rPr lang="ru-RU" dirty="0"/>
              <a:t>После этого выполняется запись: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*b</a:t>
            </a:r>
            <a:r>
              <a:rPr lang="ru-RU" dirty="0"/>
              <a:t> записывается по адресу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, а сохранённое ранее значение записывается по адресу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Обратите внимание, что работа идёт не с самими регистрами RSI и RDI, а с памятью по адресам, которые в них хранятся.</a:t>
            </a:r>
          </a:p>
          <a:p>
            <a:endParaRPr lang="en-US" dirty="0"/>
          </a:p>
          <a:p>
            <a:r>
              <a:rPr lang="ru-RU" dirty="0"/>
              <a:t>Этот пример хорошо иллюстрирует, как указатели в C могут соответствовать работе с памятью в ассемблере.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7029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Арифметические инструкции в x86-64 устроены не полностью симметрично, и это связано с историческим развитием архитектуры.</a:t>
            </a:r>
          </a:p>
          <a:p>
            <a:endParaRPr lang="ru-RU" dirty="0"/>
          </a:p>
          <a:p>
            <a:r>
              <a:rPr lang="ru-RU" dirty="0"/>
              <a:t>Сложение и вычитание работают достаточно просто: вы можете выполнять операции над различными регистрами, и результат записывается в указанный регистр. Это наиболее «естественные» инструкции с точки зрения программирования.</a:t>
            </a:r>
          </a:p>
          <a:p>
            <a:endParaRPr lang="ru-RU" dirty="0"/>
          </a:p>
          <a:p>
            <a:r>
              <a:rPr lang="ru-RU" dirty="0"/>
              <a:t>С умножением ситуация немного сложнее. В современной форме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imul</a:t>
            </a:r>
            <a:r>
              <a:rPr lang="ru-RU" dirty="0"/>
              <a:t> позволяет явно указать регистр назначения, и в этом смысле она уже достаточно гибкая.</a:t>
            </a:r>
          </a:p>
          <a:p>
            <a:endParaRPr lang="ru-RU" dirty="0"/>
          </a:p>
          <a:p>
            <a:r>
              <a:rPr lang="ru-RU" dirty="0"/>
              <a:t>А вот деление устроено существенно более жёстко.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idiv</a:t>
            </a:r>
            <a:r>
              <a:rPr lang="ru-RU" dirty="0"/>
              <a:t> использует фиксированные регистры.</a:t>
            </a:r>
          </a:p>
          <a:p>
            <a:r>
              <a:rPr lang="ru-RU" dirty="0"/>
              <a:t>Делимое должно находиться не просто в одном регистре, а в паре регистров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RDX:RAX</a:t>
            </a:r>
            <a:r>
              <a:rPr lang="ru-RU" dirty="0"/>
              <a:t>. Это означает, что число представляется как 128-битное значение, где: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RAX</a:t>
            </a:r>
            <a:r>
              <a:rPr lang="ru-RU" dirty="0"/>
              <a:t> содержит младшие 64 бита 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RDX</a:t>
            </a:r>
            <a:r>
              <a:rPr lang="ru-RU" dirty="0"/>
              <a:t> — старшие 64 бита </a:t>
            </a:r>
          </a:p>
          <a:p>
            <a:endParaRPr lang="ru-RU" dirty="0"/>
          </a:p>
          <a:p>
            <a:r>
              <a:rPr lang="ru-RU" dirty="0"/>
              <a:t>Перед выполнением деления необходимо правильно подготовить это значение. Для этого используется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cqo</a:t>
            </a:r>
            <a:r>
              <a:rPr lang="ru-RU" dirty="0"/>
              <a:t>.</a:t>
            </a:r>
          </a:p>
          <a:p>
            <a:r>
              <a:rPr lang="ru-RU" dirty="0"/>
              <a:t>Она выполняет знаковое расширение: копирует знак числа из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RAX</a:t>
            </a:r>
            <a:r>
              <a:rPr lang="ru-RU" dirty="0"/>
              <a:t> во все биты регистра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RDX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число положительное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RDX</a:t>
            </a:r>
            <a:r>
              <a:rPr lang="ru-RU" dirty="0"/>
              <a:t> становится равным 0, если отрицательное — заполняется единицами.</a:t>
            </a:r>
          </a:p>
          <a:p>
            <a:r>
              <a:rPr lang="ru-RU" dirty="0"/>
              <a:t>После этого можно выполнять деление, и результат будет распределён по регистрах: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частное помещается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RAX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остаток —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RDX</a:t>
            </a:r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Таким образом, в отличие от сложения и вычитания, операция деления требует строгого соблюдения соглашений по использованию регистров и предварительной подготовки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979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пример программы, которая вычисляет среднее арифметическое трёх целых чисел.</a:t>
            </a:r>
          </a:p>
          <a:p>
            <a:endParaRPr lang="ru-RU" dirty="0"/>
          </a:p>
          <a:p>
            <a:r>
              <a:rPr lang="ru-RU" dirty="0"/>
              <a:t>Предполагается, что аргументы функции уже находятся в регистрах: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—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 —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ESI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</a:t>
            </a:r>
            <a:r>
              <a:rPr lang="ru-RU" dirty="0"/>
              <a:t> —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EDX</a:t>
            </a:r>
            <a:r>
              <a:rPr lang="ru-RU" dirty="0"/>
              <a:t>. Это соответствует соглашению о вызовах, которое мы позже разберём подробнее.</a:t>
            </a:r>
          </a:p>
          <a:p>
            <a:endParaRPr lang="ru-RU" dirty="0"/>
          </a:p>
          <a:p>
            <a:r>
              <a:rPr lang="ru-RU" dirty="0"/>
              <a:t>Сначала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копируется в регистр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dirty="0"/>
              <a:t>. Именно этот регистр будет использоваться для накопления результата.</a:t>
            </a:r>
          </a:p>
          <a:p>
            <a:r>
              <a:rPr lang="ru-RU" dirty="0"/>
              <a:t>Затем к нему последовательно прибавляются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</a:t>
            </a:r>
            <a:r>
              <a:rPr lang="ru-RU" dirty="0"/>
              <a:t>. В результате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dirty="0"/>
              <a:t> оказывается сумма трёх чисел.</a:t>
            </a:r>
          </a:p>
          <a:p>
            <a:endParaRPr lang="ru-RU" dirty="0"/>
          </a:p>
          <a:p>
            <a:r>
              <a:rPr lang="ru-RU" dirty="0"/>
              <a:t>После этого в регистр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ECX</a:t>
            </a:r>
            <a:r>
              <a:rPr lang="ru-RU" dirty="0"/>
              <a:t> загружается значение 3 — делитель.</a:t>
            </a:r>
          </a:p>
          <a:p>
            <a:r>
              <a:rPr lang="ru-RU" dirty="0"/>
              <a:t>Перед выполнением деления вызывается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cdq</a:t>
            </a:r>
            <a:r>
              <a:rPr lang="ru-RU" dirty="0"/>
              <a:t>. Она выполняет знаковое расширение: копирует знак числа из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dirty="0"/>
              <a:t> в регистр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EDX</a:t>
            </a:r>
            <a:r>
              <a:rPr lang="ru-RU" dirty="0"/>
              <a:t>, подготавливая пару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EDX:EAX</a:t>
            </a:r>
            <a:r>
              <a:rPr lang="ru-RU" dirty="0"/>
              <a:t> для операции деления.</a:t>
            </a:r>
          </a:p>
          <a:p>
            <a:r>
              <a:rPr lang="ru-RU" dirty="0"/>
              <a:t>Далее выполняется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idiv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ecx</a:t>
            </a:r>
            <a:r>
              <a:rPr lang="ru-RU" dirty="0"/>
              <a:t>. Она делит значение, находящееся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EDX:EAX</a:t>
            </a:r>
            <a:r>
              <a:rPr lang="ru-RU" dirty="0"/>
              <a:t>,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ECX</a:t>
            </a:r>
            <a:r>
              <a:rPr lang="ru-RU" dirty="0"/>
              <a:t>. Частное записывается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dirty="0"/>
              <a:t>, а остаток —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EDX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после выполнения деления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dirty="0"/>
              <a:t> находится результат — среднее арифметическое трёх чисел.</a:t>
            </a:r>
          </a:p>
          <a:p>
            <a:r>
              <a:rPr lang="ru-RU" dirty="0"/>
              <a:t>И, наконец,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</a:t>
            </a:r>
            <a:r>
              <a:rPr lang="ru-RU" dirty="0"/>
              <a:t> завершает выполнение функции, возвращая результат через регистр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2604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Инструкции сравнения и логические операции играют ключевую роль в управлении потоком выполнения программы.</a:t>
            </a:r>
          </a:p>
          <a:p>
            <a:endParaRPr lang="ru-RU" dirty="0"/>
          </a:p>
          <a:p>
            <a:r>
              <a:rPr lang="ru-RU" dirty="0"/>
              <a:t>Начнём с инструкции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cmp</a:t>
            </a:r>
            <a:r>
              <a:rPr lang="ru-RU" dirty="0"/>
              <a:t>. Она выполняет вычитание второго операнда из первого, но не сохраняет результат. Вместо этого она только устанавливает флаги в регистре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RFLAGS</a:t>
            </a:r>
            <a:r>
              <a:rPr lang="ru-RU" dirty="0"/>
              <a:t>.</a:t>
            </a:r>
          </a:p>
          <a:p>
            <a:r>
              <a:rPr lang="ru-RU" dirty="0"/>
              <a:t>Например, если значения равны, будет установлен флаг нуля. Если одно значение больше или меньше другого — соответствующим образом изменятся другие флаги.</a:t>
            </a:r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cmp</a:t>
            </a:r>
            <a:r>
              <a:rPr lang="ru-RU" dirty="0"/>
              <a:t> — это способ подготовить флаги для последующего условного перехода.</a:t>
            </a:r>
          </a:p>
          <a:p>
            <a:endParaRPr lang="ru-RU" dirty="0"/>
          </a:p>
          <a:p>
            <a:r>
              <a:rPr lang="ru-RU" dirty="0"/>
              <a:t>Логические операции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xor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</a:t>
            </a:r>
            <a:r>
              <a:rPr lang="ru-RU" dirty="0"/>
              <a:t> — выполняют побитовые операции над данными.</a:t>
            </a:r>
          </a:p>
          <a:p>
            <a:r>
              <a:rPr lang="ru-RU" dirty="0"/>
              <a:t>Они могут использоваться как для вычислений, так и для проверки определённых свойств значений, например, проверки отдельных битов.</a:t>
            </a:r>
          </a:p>
          <a:p>
            <a:r>
              <a:rPr lang="ru-RU" dirty="0"/>
              <a:t>Особое место занимает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</a:t>
            </a:r>
            <a:r>
              <a:rPr lang="ru-RU" dirty="0"/>
              <a:t>. Она похожа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</a:t>
            </a:r>
            <a:r>
              <a:rPr lang="ru-RU" dirty="0"/>
              <a:t>, но не сохраняет результат, а только обновляет флаги.</a:t>
            </a:r>
          </a:p>
          <a:p>
            <a:r>
              <a:rPr lang="ru-RU" dirty="0"/>
              <a:t>Это удобно, когда нужно проверить значение, не изменяя его.</a:t>
            </a:r>
          </a:p>
          <a:p>
            <a:endParaRPr lang="ru-RU" dirty="0"/>
          </a:p>
          <a:p>
            <a:r>
              <a:rPr lang="ru-RU" dirty="0"/>
              <a:t>Важно понимать, что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cmp</a:t>
            </a:r>
            <a:r>
              <a:rPr lang="ru-RU" dirty="0"/>
              <a:t>, и логические инструкции изменяют флаги, и именно на этих флагах основана работа условных переходов, которые мы рассмотрим дальше.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7536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Инструкции перехода изменяют поток выполнения программы, то есть значение регистра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RIP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Самая простая инструкция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</a:t>
            </a:r>
            <a:r>
              <a:rPr lang="ru-RU" dirty="0"/>
              <a:t>, безусловный переход. Она всегда передаёт управление на указанную метку.</a:t>
            </a:r>
          </a:p>
          <a:p>
            <a:endParaRPr lang="ru-RU" dirty="0"/>
          </a:p>
          <a:p>
            <a:r>
              <a:rPr lang="ru-RU" dirty="0"/>
              <a:t>Гораздо более интересны условные переходы. Они выполняются или не выполняются в зависимости от состояния флагов, установленных предыдущими инструкциями, чаще всего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cmp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важный момент — как читать мнемоники.</a:t>
            </a:r>
          </a:p>
          <a:p>
            <a:r>
              <a:rPr lang="ru-RU" dirty="0"/>
              <a:t>Например: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jg</a:t>
            </a:r>
            <a:r>
              <a:rPr lang="ru-RU" dirty="0"/>
              <a:t> — это </a:t>
            </a:r>
            <a:r>
              <a:rPr lang="ru-RU" i="1" dirty="0" err="1"/>
              <a:t>jump</a:t>
            </a:r>
            <a:r>
              <a:rPr lang="ru-RU" i="1" dirty="0"/>
              <a:t> </a:t>
            </a:r>
            <a:r>
              <a:rPr lang="ru-RU" i="1" dirty="0" err="1"/>
              <a:t>if</a:t>
            </a:r>
            <a:r>
              <a:rPr lang="ru-RU" i="1" dirty="0"/>
              <a:t> </a:t>
            </a:r>
            <a:r>
              <a:rPr lang="ru-RU" i="1" dirty="0" err="1"/>
              <a:t>greater</a:t>
            </a:r>
            <a:r>
              <a:rPr lang="ru-RU" dirty="0"/>
              <a:t>, переход если больше 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jl</a:t>
            </a:r>
            <a:r>
              <a:rPr lang="ru-RU" dirty="0"/>
              <a:t> — </a:t>
            </a:r>
            <a:r>
              <a:rPr lang="ru-RU" i="1" dirty="0" err="1"/>
              <a:t>jump</a:t>
            </a:r>
            <a:r>
              <a:rPr lang="ru-RU" i="1" dirty="0"/>
              <a:t> </a:t>
            </a:r>
            <a:r>
              <a:rPr lang="ru-RU" i="1" dirty="0" err="1"/>
              <a:t>if</a:t>
            </a:r>
            <a:r>
              <a:rPr lang="ru-RU" i="1" dirty="0"/>
              <a:t> </a:t>
            </a:r>
            <a:r>
              <a:rPr lang="ru-RU" i="1" dirty="0" err="1"/>
              <a:t>less</a:t>
            </a:r>
            <a:r>
              <a:rPr lang="ru-RU" dirty="0"/>
              <a:t>, переход если меньше </a:t>
            </a:r>
          </a:p>
          <a:p>
            <a:endParaRPr lang="ru-RU" dirty="0"/>
          </a:p>
          <a:p>
            <a:r>
              <a:rPr lang="ru-RU" dirty="0"/>
              <a:t>Но здесь есть важное различие: часть инструкций предназначена для </a:t>
            </a:r>
            <a:r>
              <a:rPr lang="ru-RU" b="1" dirty="0"/>
              <a:t>знаковых чисел</a:t>
            </a:r>
            <a:r>
              <a:rPr lang="ru-RU" dirty="0"/>
              <a:t>, а часть — для </a:t>
            </a:r>
            <a:r>
              <a:rPr lang="ru-RU" b="1" dirty="0"/>
              <a:t>беззнаковых</a:t>
            </a:r>
            <a:r>
              <a:rPr lang="ru-RU" dirty="0"/>
              <a:t>.</a:t>
            </a:r>
          </a:p>
          <a:p>
            <a:r>
              <a:rPr lang="ru-RU" dirty="0"/>
              <a:t>Для знаковых сравнений используются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jg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jl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jge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jle</a:t>
            </a:r>
            <a:r>
              <a:rPr lang="ru-RU" dirty="0"/>
              <a:t>.</a:t>
            </a:r>
          </a:p>
          <a:p>
            <a:r>
              <a:rPr lang="ru-RU" dirty="0"/>
              <a:t>Для беззнаковых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ja</a:t>
            </a:r>
            <a:r>
              <a:rPr lang="ru-RU" dirty="0"/>
              <a:t> (</a:t>
            </a:r>
            <a:r>
              <a:rPr lang="ru-RU" dirty="0" err="1"/>
              <a:t>above</a:t>
            </a:r>
            <a:r>
              <a:rPr lang="ru-RU" dirty="0"/>
              <a:t>)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jb</a:t>
            </a:r>
            <a:r>
              <a:rPr lang="ru-RU" dirty="0"/>
              <a:t> (</a:t>
            </a:r>
            <a:r>
              <a:rPr lang="ru-RU" dirty="0" err="1"/>
              <a:t>below</a:t>
            </a:r>
            <a:r>
              <a:rPr lang="ru-RU" dirty="0"/>
              <a:t>). Эти названия специально отличаются, чтобы подчеркнуть, что речь идёт не о «больше/меньше», а о сравнении без учёта знака.</a:t>
            </a:r>
          </a:p>
          <a:p>
            <a:endParaRPr lang="ru-RU" dirty="0"/>
          </a:p>
          <a:p>
            <a:r>
              <a:rPr lang="ru-RU" dirty="0"/>
              <a:t>Теперь про синонимы.</a:t>
            </a:r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jz</a:t>
            </a:r>
            <a:r>
              <a:rPr lang="ru-RU" dirty="0"/>
              <a:t> — это одно и то же (</a:t>
            </a:r>
            <a:r>
              <a:rPr lang="ru-RU" dirty="0" err="1"/>
              <a:t>jump</a:t>
            </a:r>
            <a:r>
              <a:rPr lang="ru-RU" dirty="0"/>
              <a:t> </a:t>
            </a:r>
            <a:r>
              <a:rPr lang="ru-RU" dirty="0" err="1"/>
              <a:t>if</a:t>
            </a:r>
            <a:r>
              <a:rPr lang="ru-RU" dirty="0"/>
              <a:t> </a:t>
            </a:r>
            <a:r>
              <a:rPr lang="ru-RU" dirty="0" err="1"/>
              <a:t>equal</a:t>
            </a:r>
            <a:r>
              <a:rPr lang="ru-RU" dirty="0"/>
              <a:t> / </a:t>
            </a:r>
            <a:r>
              <a:rPr lang="ru-RU" dirty="0" err="1"/>
              <a:t>jump</a:t>
            </a:r>
            <a:r>
              <a:rPr lang="ru-RU" dirty="0"/>
              <a:t> </a:t>
            </a:r>
            <a:r>
              <a:rPr lang="ru-RU" dirty="0" err="1"/>
              <a:t>if</a:t>
            </a:r>
            <a:r>
              <a:rPr lang="ru-RU" dirty="0"/>
              <a:t> </a:t>
            </a:r>
            <a:r>
              <a:rPr lang="ru-RU" dirty="0" err="1"/>
              <a:t>zero</a:t>
            </a:r>
            <a:r>
              <a:rPr lang="ru-RU" dirty="0"/>
              <a:t>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jne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jnz</a:t>
            </a:r>
            <a:r>
              <a:rPr lang="ru-RU" dirty="0"/>
              <a:t> — аналогично </a:t>
            </a:r>
          </a:p>
          <a:p>
            <a:r>
              <a:rPr lang="ru-RU" dirty="0"/>
              <a:t>Также: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jb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jc</a:t>
            </a:r>
            <a:r>
              <a:rPr lang="ru-RU" dirty="0"/>
              <a:t> — это синонимы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jb</a:t>
            </a:r>
            <a:r>
              <a:rPr lang="ru-RU" dirty="0"/>
              <a:t> — </a:t>
            </a:r>
            <a:r>
              <a:rPr lang="ru-RU" dirty="0" err="1"/>
              <a:t>jump</a:t>
            </a:r>
            <a:r>
              <a:rPr lang="ru-RU" dirty="0"/>
              <a:t> </a:t>
            </a:r>
            <a:r>
              <a:rPr lang="ru-RU" dirty="0" err="1"/>
              <a:t>if</a:t>
            </a:r>
            <a:r>
              <a:rPr lang="ru-RU" dirty="0"/>
              <a:t> </a:t>
            </a:r>
            <a:r>
              <a:rPr lang="ru-RU" dirty="0" err="1"/>
              <a:t>below</a:t>
            </a:r>
            <a:r>
              <a:rPr lang="ru-RU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jc</a:t>
            </a:r>
            <a:r>
              <a:rPr lang="ru-RU" dirty="0"/>
              <a:t> — </a:t>
            </a:r>
            <a:r>
              <a:rPr lang="ru-RU" dirty="0" err="1"/>
              <a:t>jump</a:t>
            </a:r>
            <a:r>
              <a:rPr lang="ru-RU" dirty="0"/>
              <a:t> </a:t>
            </a:r>
            <a:r>
              <a:rPr lang="ru-RU" dirty="0" err="1"/>
              <a:t>if</a:t>
            </a:r>
            <a:r>
              <a:rPr lang="ru-RU" dirty="0"/>
              <a:t> </a:t>
            </a:r>
            <a:r>
              <a:rPr lang="ru-RU" dirty="0" err="1"/>
              <a:t>carry</a:t>
            </a:r>
            <a:r>
              <a:rPr lang="ru-RU" dirty="0"/>
              <a:t> </a:t>
            </a:r>
          </a:p>
          <a:p>
            <a:r>
              <a:rPr lang="ru-RU" dirty="0"/>
              <a:t>Обе инструкции проверяют один и тот же флаг — Carry </a:t>
            </a:r>
            <a:r>
              <a:rPr lang="ru-RU" dirty="0" err="1"/>
              <a:t>Flag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Разные имена отражают разные способы интерпретации: либо как результат сравнения, либо как факт переноса.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сами инструкции не «знают», какие числа вы сравниваете. Они просто проверяют флаги. А интерпретацию — знаковую или беззнаковую — задаёт программист.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99174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пример программы, которая подсчитывает количество вхождений заданного символа в строке.</a:t>
            </a:r>
          </a:p>
          <a:p>
            <a:r>
              <a:rPr lang="ru-RU" dirty="0"/>
              <a:t>Предполагается, что: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 регистре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RSI</a:t>
            </a:r>
            <a:r>
              <a:rPr lang="ru-RU" dirty="0"/>
              <a:t> находится адрес строки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 регистре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</a:t>
            </a:r>
            <a:r>
              <a:rPr lang="ru-RU" dirty="0"/>
              <a:t> — символ, который нужно найти </a:t>
            </a:r>
          </a:p>
          <a:p>
            <a:endParaRPr lang="ru-RU" dirty="0"/>
          </a:p>
          <a:p>
            <a:r>
              <a:rPr lang="ru-RU" dirty="0"/>
              <a:t>Строка представлена в формате ASCIIZ, то есть завершается нулевым байтом.</a:t>
            </a:r>
          </a:p>
          <a:p>
            <a:r>
              <a:rPr lang="ru-RU" dirty="0"/>
              <a:t>Сначала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xor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rcx</a:t>
            </a:r>
            <a:r>
              <a:rPr lang="ru-RU" dirty="0"/>
              <a:t> обнуляет регистр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RCX</a:t>
            </a:r>
            <a:r>
              <a:rPr lang="ru-RU" dirty="0"/>
              <a:t>. Он будет использоваться как счётчик количества найденных вхождений.</a:t>
            </a:r>
          </a:p>
          <a:p>
            <a:endParaRPr lang="ru-RU" dirty="0"/>
          </a:p>
          <a:p>
            <a:r>
              <a:rPr lang="ru-RU" dirty="0"/>
              <a:t>Далее начинается цикл.</a:t>
            </a:r>
          </a:p>
          <a:p>
            <a:r>
              <a:rPr lang="ru-RU" dirty="0"/>
              <a:t>На каждой итерации из памяти по адресу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RSI</a:t>
            </a:r>
            <a:r>
              <a:rPr lang="ru-RU" dirty="0"/>
              <a:t> загружается очередной символ строки в регистр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BL</a:t>
            </a:r>
            <a:r>
              <a:rPr lang="ru-RU" dirty="0"/>
              <a:t>.</a:t>
            </a:r>
          </a:p>
          <a:p>
            <a:r>
              <a:rPr lang="ru-RU" dirty="0"/>
              <a:t>Затем выполняется проверка на конец строки: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0</a:t>
            </a:r>
            <a:r>
              <a:rPr lang="ru-RU" dirty="0"/>
              <a:t> сравнивает текущий символ с нулём. Если символ равен нулю, выполняется переход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done</a:t>
            </a:r>
            <a:r>
              <a:rPr lang="ru-RU" dirty="0"/>
              <a:t>, и цикл завершается.</a:t>
            </a:r>
          </a:p>
          <a:p>
            <a:endParaRPr lang="ru-RU" dirty="0"/>
          </a:p>
          <a:p>
            <a:r>
              <a:rPr lang="ru-RU" dirty="0"/>
              <a:t>Если это не конец строки, выполняется сравнение текущего символа с искомым значением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символы не равны, происходит переход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jne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next</a:t>
            </a:r>
            <a:r>
              <a:rPr lang="ru-RU" dirty="0"/>
              <a:t>, и управление передаётся к следующей итерации цикла.</a:t>
            </a:r>
          </a:p>
          <a:p>
            <a:r>
              <a:rPr lang="ru-RU" dirty="0"/>
              <a:t>Если же символ совпадает, выполняется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rcx</a:t>
            </a:r>
            <a:r>
              <a:rPr lang="ru-RU" dirty="0"/>
              <a:t>, увеличивающая счётчик.</a:t>
            </a:r>
          </a:p>
          <a:p>
            <a:r>
              <a:rPr lang="ru-RU" dirty="0"/>
              <a:t>После этого управление в любом случае переходит к метке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next</a:t>
            </a:r>
            <a:r>
              <a:rPr lang="ru-RU" dirty="0"/>
              <a:t>, где увеличивается указатель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RSI</a:t>
            </a:r>
            <a:r>
              <a:rPr lang="ru-RU" dirty="0"/>
              <a:t>, чтобы перейти к следующему символу строки.</a:t>
            </a:r>
          </a:p>
          <a:p>
            <a:endParaRPr lang="ru-RU" dirty="0"/>
          </a:p>
          <a:p>
            <a:r>
              <a:rPr lang="ru-RU" dirty="0"/>
              <a:t>Затем выполняется безусловный переход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jmp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loop</a:t>
            </a:r>
            <a:r>
              <a:rPr lang="ru-RU" dirty="0"/>
              <a:t>, и цикл повторяется.</a:t>
            </a:r>
          </a:p>
          <a:p>
            <a:r>
              <a:rPr lang="ru-RU" dirty="0"/>
              <a:t>Таким образом, программа последовательно проходит по всем символам строки до нулевого байта и подсчитывает количество совпадений.</a:t>
            </a:r>
          </a:p>
          <a:p>
            <a:r>
              <a:rPr lang="ru-RU" dirty="0"/>
              <a:t>В результате в регистре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RCX</a:t>
            </a:r>
            <a:r>
              <a:rPr lang="ru-RU" dirty="0"/>
              <a:t> остаётся количество вхождений заданного символа.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8229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Вызов подпрограмм в x86-64 реализуется с помощью инструкций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ru-RU" dirty="0"/>
              <a:t> выполняет две операции. Во-первых, она сохраняет адрес следующей инструкции — то есть адрес возврата — в стек. Во-вторых, она передаёт управление на указанную функцию.</a:t>
            </a:r>
          </a:p>
          <a:p>
            <a:endParaRPr lang="ru-RU" dirty="0"/>
          </a:p>
          <a:p>
            <a:r>
              <a:rPr lang="ru-RU" dirty="0"/>
              <a:t>Когда функция завершает свою работу, выполняется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</a:t>
            </a:r>
            <a:r>
              <a:rPr lang="ru-RU" dirty="0"/>
              <a:t>. Она извлекает адрес возврата из стека и передаёт управление обратно вызывающему коду.</a:t>
            </a:r>
          </a:p>
          <a:p>
            <a:r>
              <a:rPr lang="ru-RU" dirty="0"/>
              <a:t>Таким образом, стек играет ключевую роль в механизме вызова функций.</a:t>
            </a:r>
          </a:p>
          <a:p>
            <a:endParaRPr lang="ru-RU" dirty="0"/>
          </a:p>
          <a:p>
            <a:r>
              <a:rPr lang="ru-RU" dirty="0"/>
              <a:t>Дополнительно используются инструкции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</a:t>
            </a:r>
            <a:r>
              <a:rPr lang="ru-RU" dirty="0"/>
              <a:t>, которые позволяют явно сохранять и восстанавливать значения регистров.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необходимо, потому что при вызове функции важно не потерять значения, которые используются в вызывающем коде.</a:t>
            </a:r>
          </a:p>
          <a:p>
            <a:endParaRPr lang="ru-RU" dirty="0"/>
          </a:p>
          <a:p>
            <a:r>
              <a:rPr lang="ru-RU" dirty="0"/>
              <a:t>В результате выполнение программы можно рассматривать как последовательность вложенных вызовов, каждый из которых использует стек для хранения своего состояния.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3041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разные части программы могли корректно взаимодействовать друг с другом, используется соглашение о вызовах — ABI.</a:t>
            </a:r>
          </a:p>
          <a:p>
            <a:r>
              <a:rPr lang="ru-RU" dirty="0"/>
              <a:t>ABI определяет, как передаются аргументы функции, где возвращается результат и какие регистры должны сохраняться.</a:t>
            </a:r>
          </a:p>
          <a:p>
            <a:endParaRPr lang="ru-RU" dirty="0"/>
          </a:p>
          <a:p>
            <a:r>
              <a:rPr lang="ru-RU" dirty="0"/>
              <a:t>В системах Linux и </a:t>
            </a:r>
            <a:r>
              <a:rPr lang="ru-RU" dirty="0" err="1"/>
              <a:t>macOS</a:t>
            </a:r>
            <a:r>
              <a:rPr lang="ru-RU" dirty="0"/>
              <a:t> используется соглашение System V.</a:t>
            </a:r>
          </a:p>
          <a:p>
            <a:r>
              <a:rPr lang="ru-RU" dirty="0"/>
              <a:t>Первые аргументы функции передаются через регистры: RDI, RSI, RDX, RCX, R8 и R9. Если аргументов больше, они передаются через стек.</a:t>
            </a:r>
          </a:p>
          <a:p>
            <a:r>
              <a:rPr lang="ru-RU" dirty="0"/>
              <a:t>Результат функции возвращается через регистр RAX.</a:t>
            </a:r>
          </a:p>
          <a:p>
            <a:endParaRPr lang="ru-RU" dirty="0"/>
          </a:p>
          <a:p>
            <a:r>
              <a:rPr lang="ru-RU" dirty="0"/>
              <a:t>Очень важное правило связано с сохранением регистров.</a:t>
            </a:r>
          </a:p>
          <a:p>
            <a:r>
              <a:rPr lang="ru-RU" dirty="0"/>
              <a:t>Часть регистров называется </a:t>
            </a:r>
            <a:r>
              <a:rPr lang="ru-RU" dirty="0" err="1"/>
              <a:t>caller-saved</a:t>
            </a:r>
            <a:r>
              <a:rPr lang="ru-RU" dirty="0"/>
              <a:t> — их должен сохранять вызывающий код, если их значения ему важны.</a:t>
            </a:r>
          </a:p>
          <a:p>
            <a:r>
              <a:rPr lang="ru-RU" dirty="0"/>
              <a:t>Другая часть — </a:t>
            </a:r>
            <a:r>
              <a:rPr lang="ru-RU" dirty="0" err="1"/>
              <a:t>callee-saved</a:t>
            </a:r>
            <a:r>
              <a:rPr lang="ru-RU" dirty="0"/>
              <a:t> — должна сохраняться вызываемой функцией. Если функция использует такие регистры, она обязана сохранить их значение, например,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</a:t>
            </a:r>
            <a:r>
              <a:rPr lang="ru-RU" dirty="0"/>
              <a:t>, и восстановить перед возвратом.</a:t>
            </a:r>
          </a:p>
          <a:p>
            <a:endParaRPr lang="ru-RU" dirty="0"/>
          </a:p>
          <a:p>
            <a:r>
              <a:rPr lang="ru-RU" dirty="0"/>
              <a:t>Также стек используется для передачи дополнительных аргументов и хранения локальных данных.</a:t>
            </a:r>
          </a:p>
          <a:p>
            <a:endParaRPr lang="ru-RU" dirty="0"/>
          </a:p>
          <a:p>
            <a:r>
              <a:rPr lang="ru-RU" dirty="0"/>
              <a:t>Таким образом, ABI задаёт строгие правила, которые позволяют функциям, скомпилированным независимо, корректно взаимодействовать друг с другом.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97415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пример функции на языке C, которая принимает три аргумента и возвращает результат вычисления выражения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b * c</a:t>
            </a:r>
            <a:r>
              <a:rPr lang="ru-RU" dirty="0"/>
              <a:t>.</a:t>
            </a:r>
          </a:p>
          <a:p>
            <a:r>
              <a:rPr lang="ru-RU" dirty="0"/>
              <a:t>Сначала обратим внимание на передачу аргументов. В соответствии с соглашением System V: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передаётся в регистре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</a:t>
            </a:r>
            <a:r>
              <a:rPr lang="ru-RU" dirty="0"/>
              <a:t> 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 —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ESI</a:t>
            </a:r>
            <a:r>
              <a:rPr lang="ru-RU" dirty="0"/>
              <a:t> 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</a:t>
            </a:r>
            <a:r>
              <a:rPr lang="ru-RU" dirty="0"/>
              <a:t> —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EDX</a:t>
            </a:r>
            <a:r>
              <a:rPr lang="ru-RU" dirty="0"/>
              <a:t> </a:t>
            </a:r>
          </a:p>
          <a:p>
            <a:r>
              <a:rPr lang="ru-RU" dirty="0"/>
              <a:t>Теперь посмотрим на ассемблерный код.</a:t>
            </a:r>
          </a:p>
          <a:p>
            <a:r>
              <a:rPr lang="ru-RU" dirty="0"/>
              <a:t>Первая инструкция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imul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esi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edx</a:t>
            </a:r>
            <a:r>
              <a:rPr lang="ru-RU" dirty="0"/>
              <a:t>. Она умножает значение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ESI</a:t>
            </a:r>
            <a:r>
              <a:rPr lang="ru-RU" dirty="0"/>
              <a:t> на значение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EDX</a:t>
            </a:r>
            <a:r>
              <a:rPr lang="ru-RU" dirty="0"/>
              <a:t>, и результат записывает обратно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ESI</a:t>
            </a:r>
            <a:r>
              <a:rPr lang="ru-RU" dirty="0"/>
              <a:t>. Таким образом, после этой инструкции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ESI</a:t>
            </a:r>
            <a:r>
              <a:rPr lang="ru-RU" dirty="0"/>
              <a:t> находится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 * c</a:t>
            </a:r>
            <a:r>
              <a:rPr lang="ru-RU" dirty="0"/>
              <a:t>.</a:t>
            </a:r>
          </a:p>
          <a:p>
            <a:r>
              <a:rPr lang="ru-RU" dirty="0"/>
              <a:t>Далее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</a:t>
            </a:r>
            <a:r>
              <a:rPr lang="ru-RU" dirty="0"/>
              <a:t> копирует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в регистр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dirty="0"/>
              <a:t>. Напомню, что именно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dirty="0"/>
              <a:t> используется для возврата результата функции.</a:t>
            </a:r>
          </a:p>
          <a:p>
            <a:endParaRPr lang="en-US" dirty="0"/>
          </a:p>
          <a:p>
            <a:r>
              <a:rPr lang="ru-RU" dirty="0"/>
              <a:t>После этого выполняется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esi</a:t>
            </a:r>
            <a:r>
              <a:rPr lang="ru-RU" dirty="0"/>
              <a:t>, которая прибавляет 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ранее вычисленное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 * c</a:t>
            </a:r>
            <a:r>
              <a:rPr lang="ru-RU" dirty="0"/>
              <a:t>.</a:t>
            </a:r>
          </a:p>
          <a:p>
            <a:r>
              <a:rPr lang="ru-RU" dirty="0"/>
              <a:t>Таким образом,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dirty="0"/>
              <a:t> оказывается итоговый результат выражения.</a:t>
            </a:r>
          </a:p>
          <a:p>
            <a:r>
              <a:rPr lang="ru-RU" dirty="0"/>
              <a:t>И, наконец,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</a:t>
            </a:r>
            <a:r>
              <a:rPr lang="ru-RU" dirty="0"/>
              <a:t> завершает выполнение функции, возвращая управление вызывающему коду. Значение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dirty="0"/>
              <a:t> интерпретируется как возвращаемое значение функции.</a:t>
            </a:r>
          </a:p>
          <a:p>
            <a:endParaRPr lang="en-US" dirty="0"/>
          </a:p>
          <a:p>
            <a:r>
              <a:rPr lang="ru-RU" dirty="0"/>
              <a:t>Важно обратить внимание, что здесь не используется стек — все аргументы передаются через регистры, и все вычисления выполняются в регистрах. Это делает выполнение таких функций очень эффективным.</a:t>
            </a:r>
          </a:p>
          <a:p>
            <a:r>
              <a:rPr lang="ru-RU" dirty="0"/>
              <a:t>Этот пример хорошо показывает, как выражение на языке C напрямую раскладывается на последовательность простых инструкций процессора.</a:t>
            </a:r>
          </a:p>
          <a:p>
            <a:endParaRPr lang="en-US" dirty="0"/>
          </a:p>
          <a:p>
            <a:r>
              <a:rPr lang="ru-RU" dirty="0"/>
              <a:t>Интересно, что в некоторых случаях компилятор может использовать вместо последовательности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dirty="0"/>
              <a:t> инструкцию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lea</a:t>
            </a:r>
            <a:r>
              <a:rPr lang="ru-RU" dirty="0"/>
              <a:t>.</a:t>
            </a:r>
          </a:p>
          <a:p>
            <a:r>
              <a:rPr lang="ru-RU" dirty="0"/>
              <a:t>Например, код: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esi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можно заменить на: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[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+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esi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]</a:t>
            </a:r>
          </a:p>
          <a:p>
            <a:endParaRPr lang="en-US" dirty="0"/>
          </a:p>
          <a:p>
            <a:r>
              <a:rPr lang="ru-RU" dirty="0"/>
              <a:t>Обе версии вычисляют одну и ту же сумму. Однако есть важное отличие: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dirty="0"/>
              <a:t> изменяет флаги процессора,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lea</a:t>
            </a:r>
            <a:r>
              <a:rPr lang="ru-RU" dirty="0"/>
              <a:t> — нет, так как она формально предназначена для вычисления адресов.</a:t>
            </a:r>
          </a:p>
          <a:p>
            <a:r>
              <a:rPr lang="ru-RU" dirty="0"/>
              <a:t>Поэтому компилятор выбирает между этими вариантами в зависимости от того, нужны ли дальше флаги.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9766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практике код на ассемблере редко используется изолированно. Чаще всего он комбинируется с кодом на языке C.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Существует два основных способа такой интеграции.</a:t>
            </a:r>
          </a:p>
          <a:p>
            <a:r>
              <a:rPr lang="ru-RU" dirty="0"/>
              <a:t>Первый — это использование отдельных файлов с ассемблерным кодом. Это наиболее чистый и предпочтительный способ. В этом случае функции объявляются в C как обычные, а их реализация пишется на ассемблере.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слайде приведён пример. В файле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</a:t>
            </a:r>
            <a:r>
              <a:rPr lang="ru-RU" dirty="0"/>
              <a:t> объявляется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sum</a:t>
            </a:r>
            <a:r>
              <a:rPr lang="ru-RU" dirty="0"/>
              <a:t>, а её реализация находится в файле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sum.s</a:t>
            </a:r>
            <a:r>
              <a:rPr lang="ru-RU" dirty="0"/>
              <a:t>.</a:t>
            </a:r>
          </a:p>
          <a:p>
            <a:r>
              <a:rPr lang="ru-RU" dirty="0"/>
              <a:t>При компиляции оба файла передаются компилятору, и он объединяет их в одну программу.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Важно, что взаимодействие между C и ассемблером происходит через соглашение о вызовах — именно поэтому мы должны соблюдать правила передачи аргументов и возврата результата.</a:t>
            </a:r>
          </a:p>
          <a:p>
            <a:r>
              <a:rPr lang="ru-RU" dirty="0"/>
              <a:t>Второй способ — это </a:t>
            </a:r>
            <a:r>
              <a:rPr lang="ru-RU" dirty="0" err="1"/>
              <a:t>inline-assembler</a:t>
            </a:r>
            <a:r>
              <a:rPr lang="ru-RU" dirty="0"/>
              <a:t>, когда ассемблерный код вставляется прямо в C-программу. Однако этот способ сложнее и менее переносим, поэтому мы пока его подробно рассматривать не будем.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ассемблер можно использовать для реализации отдельных функций, где требуется максимальный контроль над выполнением или оптимизация.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543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этой лекции мы сделали важный шаг — перешли от учебной архитектуры к реальной, используемой в современных процессорах.</a:t>
            </a:r>
          </a:p>
          <a:p>
            <a:endParaRPr lang="ru-RU" dirty="0"/>
          </a:p>
          <a:p>
            <a:r>
              <a:rPr lang="ru-RU" dirty="0"/>
              <a:t>Вы познакомились с регистрами, базовыми инструкциями, механизмом работы флагов и переходов, а также с тем, как реализуются вызовы функций и какие правила для этого используются.</a:t>
            </a:r>
            <a:endParaRPr lang="en-US"/>
          </a:p>
          <a:p>
            <a:endParaRPr lang="ru-RU" dirty="0"/>
          </a:p>
          <a:p>
            <a:r>
              <a:rPr lang="ru-RU" dirty="0"/>
              <a:t>Теперь вы уже можете читать простой ассемблерный код и понимать, что он делает. Более того, вы начинаете видеть прямую связь между программой на языке C и тем, как она выполняется на уровне процессора.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8A247-C9B4-47E1-BD4C-605C98C5FEB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022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E3540-B6F0-CC9A-96B5-C9F6529343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AAC372-35E1-A580-ED0F-1BEB8AD19E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EDA2F1-9EB5-8619-CAFE-5A05D36D7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BE2B3-B746-455F-853E-26450F11F609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212A3-4E3E-1692-9BBF-9E2A08F26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A3E09D-D1A2-2B4E-FA85-1AA27C65C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67072-192F-4C93-BB59-A83C26960B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8043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7F27E-9244-AD76-5209-23E228CE9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F3CB-7287-6E9A-28F1-6A42C547DF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80206-E444-C2F2-D4CA-8331AAC15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BE2B3-B746-455F-853E-26450F11F609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ABEB7F-3137-789F-C08F-F9BE0A1CB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7B5E7-631C-7FA8-DD38-855E25D38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67072-192F-4C93-BB59-A83C26960B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911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A570-E948-D8E6-DA5F-2950DE7F0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9A511F-68CC-69EC-C4E7-1F87CF29CC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CA5785-2DE1-27D6-B175-F39196841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BE2B3-B746-455F-853E-26450F11F609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BEB2F-F8D0-D6D8-0FFE-5FF060CED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844719-F7EC-1515-436C-05E63FE55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67072-192F-4C93-BB59-A83C26960B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9266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DAA8F-A341-D3A2-BEED-F3E9DABB7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B91DB-94E4-2BCF-B9C1-84B2923E52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216475-F403-CD26-F5E7-87E72FA882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C6365E-5B97-4EFA-D422-C89C35A94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BE2B3-B746-455F-853E-26450F11F609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E5A667-9554-537F-D1A3-733E53020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447E49-39D7-8C29-5918-3C6ECDB84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67072-192F-4C93-BB59-A83C26960B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606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ACCAF-8C8C-7BBE-B96E-F4A2AC98F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1CD36B-EF80-7DD7-92C9-4D2D07227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6F8453-C570-5E5E-A92B-798135A267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8D986E-E096-9455-8009-CFE65C122D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BDDB7E-E4A0-1F47-D76F-9715ABD18D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25B5F8-18AE-1FB0-6753-7A6093E26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BE2B3-B746-455F-853E-26450F11F609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C952A8-7B21-21BA-0CA7-65940B48F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14611E-44FD-C39D-1B67-B709B3572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67072-192F-4C93-BB59-A83C26960B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58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31A64-C86B-3904-B902-53013CA35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65B2A6-A095-1A99-306A-608192983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BE2B3-B746-455F-853E-26450F11F609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D9381B-F343-FB2B-2514-EF286FE8C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17D09-EA23-6D74-1690-092EC81D7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67072-192F-4C93-BB59-A83C26960B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119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28877F-4C2B-2146-3201-30A7A7658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BE2B3-B746-455F-853E-26450F11F609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A4722B-969D-2820-EBDE-4C185111B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3B4B56-9312-09F4-324E-A29810CD3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67072-192F-4C93-BB59-A83C26960B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747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B6899-61DC-D2D0-C6F2-4F834BFC9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3233E-F49A-5DCB-010C-5F172797B1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BA2B0-5788-11DC-9AE9-03A1738161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2C6D58-BA91-E160-EA27-BCCDB343A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BE2B3-B746-455F-853E-26450F11F609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99603-097E-0D51-7D76-55FFE2376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AD8218-E7A0-57B3-4C41-8BA88C6C0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67072-192F-4C93-BB59-A83C26960B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738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65199-05D0-75BD-235A-67DCF5ED1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D1BDA1-32D5-57CB-9CD8-8E28C1EFF0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B525F5-9F21-3013-5A49-792F126E3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D48A50-DD99-EE87-B600-7D809C950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BE2B3-B746-455F-853E-26450F11F609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A9177C-2A7A-B078-679A-8A559180E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39A8C9-1BCD-CA58-DE6F-78CC32B51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67072-192F-4C93-BB59-A83C26960B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5711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15382-7F7E-82A9-E61E-E862AF62D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E15AB3-472B-B3D1-4D08-C8E53412F7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D0CFD-1587-BDBC-B36B-5891D170C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BE2B3-B746-455F-853E-26450F11F609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198E8-33B5-1CA8-AEA6-F48E53197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FAC603-58A9-D285-8262-4F2FA062A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67072-192F-4C93-BB59-A83C26960B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61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9E2BE-61E9-035B-83D9-0FCE3DBEBD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AC26C8-DD93-1A41-DBFC-545CF29636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E7D8D-E54A-2183-E45B-DE7FFAD81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BE2B3-B746-455F-853E-26450F11F609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0A51B-B4F5-FF40-60B5-3472D5C3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98BA2B-EE0E-55D7-9A63-66374272A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A67072-192F-4C93-BB59-A83C26960B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9262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97DCFA-ED13-8A17-031C-674356F82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B92B21-5A47-AFD2-E23B-F781D3016C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F868F3-221C-303D-055E-8AC0E2BEBE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FBE2B3-B746-455F-853E-26450F11F609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2D5134-A27D-A845-3FCC-1A98611B10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3B23FC-DB00-38A2-6C2C-C63081E0C9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A67072-192F-4C93-BB59-A83C26960B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463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8D555-6E1E-A4FC-2D8C-B2BB9F890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330884"/>
          </a:xfrm>
        </p:spPr>
        <p:txBody>
          <a:bodyPr/>
          <a:lstStyle/>
          <a:p>
            <a:r>
              <a:rPr lang="ru-RU" dirty="0"/>
              <a:t>Ассемблер для архитектуры </a:t>
            </a:r>
            <a:r>
              <a:rPr lang="en-US" dirty="0"/>
              <a:t>x86-64</a:t>
            </a:r>
          </a:p>
        </p:txBody>
      </p:sp>
    </p:spTree>
    <p:extLst>
      <p:ext uri="{BB962C8B-B14F-4D97-AF65-F5344CB8AC3E}">
        <p14:creationId xmlns:p14="http://schemas.microsoft.com/office/powerpoint/2010/main" val="2882227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EC162-D776-2D46-49B0-4B6F771EC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мы уже изучили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7A69F6-2615-DF77-4CB6-BE0B8AC12C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Intel 8080 — учебная архитектура</a:t>
            </a:r>
            <a:endParaRPr lang="ru-RU" dirty="0"/>
          </a:p>
          <a:p>
            <a:r>
              <a:rPr lang="ru-RU" dirty="0"/>
              <a:t>Вы изучили:</a:t>
            </a:r>
          </a:p>
          <a:p>
            <a:pPr lvl="1"/>
            <a:r>
              <a:rPr lang="ru-RU" dirty="0"/>
              <a:t>регистры процессора </a:t>
            </a:r>
          </a:p>
          <a:p>
            <a:pPr lvl="1"/>
            <a:r>
              <a:rPr lang="ru-RU" dirty="0"/>
              <a:t>систему команд </a:t>
            </a:r>
          </a:p>
          <a:p>
            <a:pPr lvl="1"/>
            <a:r>
              <a:rPr lang="ru-RU" dirty="0"/>
              <a:t>выполнение инструкций (</a:t>
            </a:r>
            <a:r>
              <a:rPr lang="ru-RU" dirty="0" err="1"/>
              <a:t>fetch</a:t>
            </a:r>
            <a:r>
              <a:rPr lang="ru-RU" dirty="0"/>
              <a:t> → </a:t>
            </a:r>
            <a:r>
              <a:rPr lang="ru-RU" dirty="0" err="1"/>
              <a:t>decode</a:t>
            </a:r>
            <a:r>
              <a:rPr lang="ru-RU" dirty="0"/>
              <a:t> → </a:t>
            </a:r>
            <a:r>
              <a:rPr lang="ru-RU" dirty="0" err="1"/>
              <a:t>execute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работу с памятью </a:t>
            </a:r>
          </a:p>
          <a:p>
            <a:pPr lvl="1"/>
            <a:r>
              <a:rPr lang="ru-RU" dirty="0"/>
              <a:t>стек и вызовы подпрограмм </a:t>
            </a:r>
          </a:p>
          <a:p>
            <a:r>
              <a:rPr lang="ru-RU" b="1" dirty="0"/>
              <a:t>Главное:</a:t>
            </a:r>
            <a:endParaRPr lang="ru-RU" dirty="0"/>
          </a:p>
          <a:p>
            <a:pPr lvl="1"/>
            <a:r>
              <a:rPr lang="ru-RU" dirty="0"/>
              <a:t>как процессор выполняет программу</a:t>
            </a:r>
          </a:p>
        </p:txBody>
      </p:sp>
    </p:spTree>
    <p:extLst>
      <p:ext uri="{BB962C8B-B14F-4D97-AF65-F5344CB8AC3E}">
        <p14:creationId xmlns:p14="http://schemas.microsoft.com/office/powerpoint/2010/main" val="904209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E48-EFFA-2C86-E566-034AF8E33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Переход к архитектуре </a:t>
            </a:r>
            <a:r>
              <a:rPr lang="en-US" dirty="0"/>
              <a:t>x86-64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FFE210-18A5-0893-9085-8DB9B002B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Следующий этап курса — архитектура x86-64</a:t>
            </a:r>
          </a:p>
          <a:p>
            <a:r>
              <a:rPr lang="ru-RU" dirty="0"/>
              <a:t>Используется:</a:t>
            </a:r>
          </a:p>
          <a:p>
            <a:pPr lvl="1"/>
            <a:r>
              <a:rPr lang="ru-RU" dirty="0"/>
              <a:t>в современных процессорах (ПК, серверы) </a:t>
            </a:r>
          </a:p>
          <a:p>
            <a:pPr lvl="1"/>
            <a:r>
              <a:rPr lang="ru-RU" dirty="0"/>
              <a:t>как целевая архитектура компиляторов </a:t>
            </a:r>
          </a:p>
          <a:p>
            <a:pPr lvl="1"/>
            <a:r>
              <a:rPr lang="ru-RU" dirty="0"/>
              <a:t>как основа выполнения программ в операционных системах </a:t>
            </a:r>
          </a:p>
          <a:p>
            <a:r>
              <a:rPr lang="ru-RU" dirty="0"/>
              <a:t>Фундаментальные принципы сохраняются:</a:t>
            </a:r>
          </a:p>
          <a:p>
            <a:pPr lvl="1"/>
            <a:r>
              <a:rPr lang="ru-RU" dirty="0"/>
              <a:t>регистры процессора </a:t>
            </a:r>
          </a:p>
          <a:p>
            <a:pPr lvl="1"/>
            <a:r>
              <a:rPr lang="ru-RU" dirty="0"/>
              <a:t>оперативная память </a:t>
            </a:r>
          </a:p>
          <a:p>
            <a:pPr lvl="1"/>
            <a:r>
              <a:rPr lang="ru-RU" dirty="0"/>
              <a:t>стек вызовов </a:t>
            </a:r>
          </a:p>
          <a:p>
            <a:pPr lvl="1"/>
            <a:r>
              <a:rPr lang="ru-RU" dirty="0"/>
              <a:t>инструкции и управление потоком выполнения </a:t>
            </a:r>
          </a:p>
          <a:p>
            <a:r>
              <a:rPr lang="ru-RU" dirty="0"/>
              <a:t>Переходим от учебной модели к реальной архитектуре</a:t>
            </a:r>
          </a:p>
        </p:txBody>
      </p:sp>
    </p:spTree>
    <p:extLst>
      <p:ext uri="{BB962C8B-B14F-4D97-AF65-F5344CB8AC3E}">
        <p14:creationId xmlns:p14="http://schemas.microsoft.com/office/powerpoint/2010/main" val="2358484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40F33-F9E7-F11F-3C7A-536C81630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Эволюционный характер архитектуры </a:t>
            </a:r>
            <a:r>
              <a:rPr lang="en-US" dirty="0"/>
              <a:t>x86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202BB-676D-F146-DE1A-087910F55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x86 — результат длительной эволюции</a:t>
            </a:r>
          </a:p>
          <a:p>
            <a:pPr lvl="1"/>
            <a:r>
              <a:rPr lang="ru-RU" dirty="0"/>
              <a:t>развитие на протяжении десятилетий </a:t>
            </a:r>
          </a:p>
          <a:p>
            <a:pPr lvl="1"/>
            <a:r>
              <a:rPr lang="ru-RU" dirty="0"/>
              <a:t>строгая обратная совместимость </a:t>
            </a:r>
          </a:p>
          <a:p>
            <a:pPr lvl="1"/>
            <a:r>
              <a:rPr lang="ru-RU" dirty="0"/>
              <a:t>накопление архитектурных решений </a:t>
            </a:r>
          </a:p>
          <a:p>
            <a:r>
              <a:rPr lang="ru-RU" dirty="0"/>
              <a:t>Следствие:</a:t>
            </a:r>
          </a:p>
          <a:p>
            <a:pPr lvl="1"/>
            <a:r>
              <a:rPr lang="ru-RU" dirty="0"/>
              <a:t>высокая сложность архитектуры </a:t>
            </a:r>
          </a:p>
          <a:p>
            <a:pPr lvl="1"/>
            <a:r>
              <a:rPr lang="ru-RU" dirty="0"/>
              <a:t>наличие «исторических» особенностей </a:t>
            </a:r>
          </a:p>
          <a:p>
            <a:pPr lvl="1"/>
            <a:r>
              <a:rPr lang="ru-RU" dirty="0"/>
              <a:t>сочетание разных поколений решений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9545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36F12-B17C-6653-C148-A215906D1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Ранние этапы развития </a:t>
            </a:r>
            <a:r>
              <a:rPr lang="en-US" dirty="0"/>
              <a:t>x86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94585-0219-A425-9DE7-729FA8E312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8086 (1978)</a:t>
            </a:r>
          </a:p>
          <a:p>
            <a:pPr lvl="1"/>
            <a:r>
              <a:rPr lang="ru-RU" dirty="0"/>
              <a:t>16-битная архитектура </a:t>
            </a:r>
          </a:p>
          <a:p>
            <a:pPr lvl="1"/>
            <a:r>
              <a:rPr lang="ru-RU" dirty="0"/>
              <a:t>сегментная модель памяти </a:t>
            </a:r>
          </a:p>
          <a:p>
            <a:r>
              <a:rPr lang="ru-RU" dirty="0"/>
              <a:t>80286</a:t>
            </a:r>
          </a:p>
          <a:p>
            <a:pPr lvl="1"/>
            <a:r>
              <a:rPr lang="ru-RU" dirty="0"/>
              <a:t>введение защищённого режима </a:t>
            </a:r>
          </a:p>
          <a:p>
            <a:pPr lvl="1"/>
            <a:r>
              <a:rPr lang="ru-RU" dirty="0"/>
              <a:t>поддержка многозадачности </a:t>
            </a:r>
          </a:p>
          <a:p>
            <a:r>
              <a:rPr lang="ru-RU" dirty="0"/>
              <a:t>80386</a:t>
            </a:r>
          </a:p>
          <a:p>
            <a:pPr lvl="1"/>
            <a:r>
              <a:rPr lang="ru-RU" dirty="0"/>
              <a:t>переход к 32-битной архитектуре </a:t>
            </a:r>
          </a:p>
          <a:p>
            <a:pPr lvl="1"/>
            <a:r>
              <a:rPr lang="ru-RU" dirty="0"/>
              <a:t>расширение адресного пространства </a:t>
            </a:r>
          </a:p>
          <a:p>
            <a:pPr lvl="1"/>
            <a:r>
              <a:rPr lang="ru-RU" dirty="0"/>
              <a:t>основа современной модели памяти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33440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BA78F-96A0-012C-843B-F9C1AC265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Дальнейшее развитие архитектуры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BAC3E-33C8-BDFE-3C8B-7F8C3A29C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80486</a:t>
            </a:r>
          </a:p>
          <a:p>
            <a:pPr lvl="1"/>
            <a:r>
              <a:rPr lang="ru-RU" dirty="0"/>
              <a:t>интеграция математического сопроцессора </a:t>
            </a:r>
          </a:p>
          <a:p>
            <a:pPr lvl="1"/>
            <a:r>
              <a:rPr lang="ru-RU" dirty="0"/>
              <a:t>появление встроенной кэш-памяти </a:t>
            </a:r>
          </a:p>
          <a:p>
            <a:r>
              <a:rPr lang="ru-RU" dirty="0"/>
              <a:t>Pentium</a:t>
            </a:r>
          </a:p>
          <a:p>
            <a:pPr lvl="1"/>
            <a:r>
              <a:rPr lang="ru-RU" dirty="0" err="1"/>
              <a:t>суперскалярная</a:t>
            </a:r>
            <a:r>
              <a:rPr lang="ru-RU" dirty="0"/>
              <a:t> архитектура </a:t>
            </a:r>
          </a:p>
          <a:p>
            <a:pPr lvl="1"/>
            <a:r>
              <a:rPr lang="ru-RU" dirty="0"/>
              <a:t>параллельное выполнение инструкций </a:t>
            </a:r>
          </a:p>
          <a:p>
            <a:r>
              <a:rPr lang="ru-RU" dirty="0"/>
              <a:t>Общее направление развития:</a:t>
            </a:r>
          </a:p>
          <a:p>
            <a:pPr lvl="1"/>
            <a:r>
              <a:rPr lang="ru-RU" dirty="0"/>
              <a:t>рост производительности </a:t>
            </a:r>
          </a:p>
          <a:p>
            <a:pPr lvl="1"/>
            <a:r>
              <a:rPr lang="ru-RU" dirty="0"/>
              <a:t>усложнение внутренней архитектуры </a:t>
            </a:r>
          </a:p>
          <a:p>
            <a:pPr lvl="1"/>
            <a:r>
              <a:rPr lang="ru-RU" dirty="0"/>
              <a:t>сохранение программной совместимости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2611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E8E89-4A73-61CA-DC9A-2DE2D550C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Переход к 64-битной архитектуре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D4B50-3ACC-6A4B-0CD4-DEC364A91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Проблема:</a:t>
            </a:r>
          </a:p>
          <a:p>
            <a:pPr lvl="1"/>
            <a:r>
              <a:rPr lang="ru-RU" dirty="0"/>
              <a:t>ограничение 32-битного адресного пространства </a:t>
            </a:r>
          </a:p>
          <a:p>
            <a:pPr lvl="1"/>
            <a:r>
              <a:rPr lang="ru-RU" dirty="0"/>
              <a:t>рост требований к памяти и производительности </a:t>
            </a:r>
          </a:p>
          <a:p>
            <a:r>
              <a:rPr lang="ru-RU" dirty="0"/>
              <a:t>Два подхода:</a:t>
            </a:r>
          </a:p>
          <a:p>
            <a:pPr lvl="1"/>
            <a:r>
              <a:rPr lang="ru-RU" dirty="0"/>
              <a:t>IA-64 (Itanium, Intel)</a:t>
            </a:r>
          </a:p>
          <a:p>
            <a:pPr lvl="2"/>
            <a:r>
              <a:rPr lang="ru-RU" dirty="0"/>
              <a:t>новая архитектура </a:t>
            </a:r>
          </a:p>
          <a:p>
            <a:pPr lvl="2"/>
            <a:r>
              <a:rPr lang="ru-RU" dirty="0"/>
              <a:t>отказ от совместимости с x86 </a:t>
            </a:r>
          </a:p>
          <a:p>
            <a:pPr lvl="1"/>
            <a:r>
              <a:rPr lang="ru-RU" dirty="0"/>
              <a:t>x86-64 (AMD64)</a:t>
            </a:r>
          </a:p>
          <a:p>
            <a:pPr lvl="2"/>
            <a:r>
              <a:rPr lang="ru-RU" dirty="0"/>
              <a:t>расширение существующей архитектуры </a:t>
            </a:r>
          </a:p>
          <a:p>
            <a:pPr lvl="2"/>
            <a:r>
              <a:rPr lang="ru-RU" dirty="0"/>
              <a:t>сохранение обратной совместимости </a:t>
            </a:r>
          </a:p>
          <a:p>
            <a:r>
              <a:rPr lang="ru-RU" dirty="0"/>
              <a:t>Результат:</a:t>
            </a:r>
          </a:p>
          <a:p>
            <a:pPr lvl="1"/>
            <a:r>
              <a:rPr lang="ru-RU" dirty="0"/>
              <a:t>x86-64 стал промышленным стандартом </a:t>
            </a:r>
          </a:p>
          <a:p>
            <a:pPr lvl="1"/>
            <a:r>
              <a:rPr lang="ru-RU" dirty="0"/>
              <a:t>используется в современных процессорах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2424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ACAF7-BBF4-B2C7-0479-991E613F1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будем изучать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92093E-7D12-9219-FF80-FF24B7896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рамках курса рассмотрим:</a:t>
            </a:r>
          </a:p>
          <a:p>
            <a:pPr lvl="1"/>
            <a:r>
              <a:rPr lang="ru-RU" dirty="0"/>
              <a:t>регистры и базовые типы данных </a:t>
            </a:r>
          </a:p>
          <a:p>
            <a:pPr lvl="1"/>
            <a:r>
              <a:rPr lang="ru-RU" dirty="0"/>
              <a:t>систему команд x86-64 </a:t>
            </a:r>
          </a:p>
          <a:p>
            <a:pPr lvl="1"/>
            <a:r>
              <a:rPr lang="ru-RU" dirty="0"/>
              <a:t>режимы адресации </a:t>
            </a:r>
          </a:p>
          <a:p>
            <a:pPr lvl="1"/>
            <a:r>
              <a:rPr lang="ru-RU" dirty="0"/>
              <a:t>соглашения о вызовах функций (ABI) </a:t>
            </a:r>
          </a:p>
          <a:p>
            <a:r>
              <a:rPr lang="ru-RU" dirty="0"/>
              <a:t>Практические навыки:</a:t>
            </a:r>
          </a:p>
          <a:p>
            <a:pPr lvl="1"/>
            <a:r>
              <a:rPr lang="ru-RU" dirty="0"/>
              <a:t>чтение ассемблерного кода </a:t>
            </a:r>
          </a:p>
          <a:p>
            <a:pPr lvl="1"/>
            <a:r>
              <a:rPr lang="ru-RU" dirty="0"/>
              <a:t>сопоставление кода на C и </a:t>
            </a:r>
            <a:r>
              <a:rPr lang="ru-RU" dirty="0" err="1"/>
              <a:t>asm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анализ работы программы на уровне инструкций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714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3ABF1E8-E183-7F04-D4CF-8FEB47EDA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Регистры процессора в архитектуре </a:t>
            </a:r>
            <a:r>
              <a:rPr lang="en-US" dirty="0"/>
              <a:t>x86-64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3FE6C0E-E4A0-00A2-F835-71BAF8B8D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200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D583E10-5954-B6EB-5742-76BE0AFC5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Регистры процессора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4C4A07-3ECC-C849-EAD6-3899EC209A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Регистры — это:</a:t>
            </a:r>
          </a:p>
          <a:p>
            <a:pPr lvl="1"/>
            <a:r>
              <a:rPr lang="ru-RU" dirty="0"/>
              <a:t>небольшая область памяти внутри процессора </a:t>
            </a:r>
          </a:p>
          <a:p>
            <a:pPr lvl="1"/>
            <a:r>
              <a:rPr lang="ru-RU" dirty="0"/>
              <a:t>используются для хранения данных и адресов </a:t>
            </a:r>
          </a:p>
          <a:p>
            <a:pPr lvl="1"/>
            <a:r>
              <a:rPr lang="ru-RU" dirty="0"/>
              <a:t>обеспечивают быстрый доступ к данным </a:t>
            </a:r>
          </a:p>
          <a:p>
            <a:r>
              <a:rPr lang="ru-RU" dirty="0"/>
              <a:t>Назначение:</a:t>
            </a:r>
          </a:p>
          <a:p>
            <a:pPr lvl="1"/>
            <a:r>
              <a:rPr lang="ru-RU" dirty="0"/>
              <a:t>операнды инструкций </a:t>
            </a:r>
          </a:p>
          <a:p>
            <a:pPr lvl="1"/>
            <a:r>
              <a:rPr lang="ru-RU" dirty="0"/>
              <a:t>промежуточные вычисления </a:t>
            </a:r>
          </a:p>
          <a:p>
            <a:pPr lvl="1"/>
            <a:r>
              <a:rPr lang="ru-RU" dirty="0"/>
              <a:t>управление выполнением программы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87796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1D896-68E5-A83F-27EF-E4CE031BC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Регистры общего назначения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755E7-4F7D-AE87-7766-343300EE1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Всего доступно 16 регистров общего назначения</a:t>
            </a:r>
          </a:p>
          <a:p>
            <a:pPr lvl="1"/>
            <a:r>
              <a:rPr lang="ru-RU" dirty="0"/>
              <a:t>Разрядность: 64 бита</a:t>
            </a:r>
            <a:endParaRPr lang="en-US" dirty="0"/>
          </a:p>
          <a:p>
            <a:r>
              <a:rPr lang="ru-RU" dirty="0"/>
              <a:t>Базовые</a:t>
            </a:r>
          </a:p>
          <a:p>
            <a:pPr lvl="1"/>
            <a:r>
              <a:rPr lang="en-US" dirty="0"/>
              <a:t>RAX, RBX, RCX, RDX</a:t>
            </a:r>
          </a:p>
          <a:p>
            <a:r>
              <a:rPr lang="ru-RU" dirty="0"/>
              <a:t>Работа с памятью и передача аргументов</a:t>
            </a:r>
          </a:p>
          <a:p>
            <a:pPr lvl="1"/>
            <a:r>
              <a:rPr lang="en-US" dirty="0"/>
              <a:t>RSI, RDI</a:t>
            </a:r>
          </a:p>
          <a:p>
            <a:r>
              <a:rPr lang="ru-RU" dirty="0"/>
              <a:t>Работа со стеком</a:t>
            </a:r>
          </a:p>
          <a:p>
            <a:pPr lvl="1"/>
            <a:r>
              <a:rPr lang="en-US" dirty="0"/>
              <a:t>RBP </a:t>
            </a:r>
            <a:r>
              <a:rPr lang="ru-RU" dirty="0"/>
              <a:t>и </a:t>
            </a:r>
            <a:r>
              <a:rPr lang="en-US" dirty="0"/>
              <a:t>RSP</a:t>
            </a:r>
          </a:p>
          <a:p>
            <a:r>
              <a:rPr lang="ru-RU" dirty="0"/>
              <a:t>Дополнительные регистры</a:t>
            </a:r>
          </a:p>
          <a:p>
            <a:pPr lvl="1"/>
            <a:r>
              <a:rPr lang="en-US" dirty="0"/>
              <a:t>R8...R15</a:t>
            </a:r>
            <a:endParaRPr lang="ru-RU" dirty="0"/>
          </a:p>
          <a:p>
            <a:pPr lvl="1"/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042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3E984-88A1-1B5A-F084-8755C2D3B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Роли регистров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F63A7B-9E43-A9E2-F58A-32B907584E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Традиционные роли:</a:t>
            </a:r>
          </a:p>
          <a:p>
            <a:pPr lvl="1"/>
            <a:r>
              <a:rPr lang="ru-RU" dirty="0"/>
              <a:t>RAX — аккумулятор </a:t>
            </a:r>
          </a:p>
          <a:p>
            <a:pPr lvl="1"/>
            <a:r>
              <a:rPr lang="ru-RU" dirty="0"/>
              <a:t>RBX — базовый регистр </a:t>
            </a:r>
          </a:p>
          <a:p>
            <a:pPr lvl="1"/>
            <a:r>
              <a:rPr lang="ru-RU" dirty="0"/>
              <a:t>RCX — счётчик </a:t>
            </a:r>
          </a:p>
          <a:p>
            <a:pPr lvl="1"/>
            <a:r>
              <a:rPr lang="ru-RU" dirty="0"/>
              <a:t>RDX — дополнительные данные </a:t>
            </a:r>
          </a:p>
          <a:p>
            <a:r>
              <a:rPr lang="ru-RU" dirty="0"/>
              <a:t>Работа с памятью и функциями:</a:t>
            </a:r>
          </a:p>
          <a:p>
            <a:pPr lvl="1"/>
            <a:r>
              <a:rPr lang="ru-RU" dirty="0"/>
              <a:t>RSI, RDI — аргументы, указатели </a:t>
            </a:r>
          </a:p>
          <a:p>
            <a:pPr lvl="1"/>
            <a:r>
              <a:rPr lang="ru-RU" dirty="0"/>
              <a:t>RSP — указатель стека </a:t>
            </a:r>
          </a:p>
          <a:p>
            <a:pPr lvl="1"/>
            <a:r>
              <a:rPr lang="ru-RU" dirty="0"/>
              <a:t>RBP — базовый указатель кадра стека</a:t>
            </a:r>
          </a:p>
          <a:p>
            <a:r>
              <a:rPr lang="ru-RU" dirty="0"/>
              <a:t>Регистры </a:t>
            </a:r>
            <a:r>
              <a:rPr lang="en-US" dirty="0"/>
              <a:t>R8…R15 </a:t>
            </a:r>
            <a:r>
              <a:rPr lang="ru-RU" dirty="0"/>
              <a:t>не имеют выделенных ролей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1418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56E871B-73BA-CF4E-C536-3C1D9F4F8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с частями регистров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74D087B-F410-8DF5-BE7A-8FBE122A8D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7750197"/>
              </p:ext>
            </p:extLst>
          </p:nvPr>
        </p:nvGraphicFramePr>
        <p:xfrm>
          <a:off x="838200" y="1825625"/>
          <a:ext cx="10515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86560508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0635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043145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26236284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766430542"/>
                    </a:ext>
                  </a:extLst>
                </a:gridCol>
              </a:tblGrid>
              <a:tr h="196479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Биты </a:t>
                      </a:r>
                      <a:r>
                        <a:rPr lang="en-US" sz="1200" dirty="0"/>
                        <a:t>0-63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Биты 0-31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Биты 0-15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Биты 8-15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Биты 0-7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9189909"/>
                  </a:ext>
                </a:extLst>
              </a:tr>
              <a:tr h="19647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RAX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EAX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6425894"/>
                  </a:ext>
                </a:extLst>
              </a:tr>
              <a:tr h="19647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RBX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EBX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BX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BH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BL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2981114"/>
                  </a:ext>
                </a:extLst>
              </a:tr>
              <a:tr h="19647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RCX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ECX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5623478"/>
                  </a:ext>
                </a:extLst>
              </a:tr>
              <a:tr h="19647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RDX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EDX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DX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DH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DL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96101"/>
                  </a:ext>
                </a:extLst>
              </a:tr>
              <a:tr h="19647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RSI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ESI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8638236"/>
                  </a:ext>
                </a:extLst>
              </a:tr>
              <a:tr h="19647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RDI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EDI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DIL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304800"/>
                  </a:ext>
                </a:extLst>
              </a:tr>
              <a:tr h="19647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RBP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EBP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BP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BPL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930798"/>
                  </a:ext>
                </a:extLst>
              </a:tr>
              <a:tr h="19647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RSP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ESP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SPL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0216259"/>
                  </a:ext>
                </a:extLst>
              </a:tr>
              <a:tr h="19647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R8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R8D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R8W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R8B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1836808"/>
                  </a:ext>
                </a:extLst>
              </a:tr>
              <a:tr h="19647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R9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R9D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R9W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R9B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6666070"/>
                  </a:ext>
                </a:extLst>
              </a:tr>
              <a:tr h="19647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R10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R10D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R10W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R10B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670016"/>
                  </a:ext>
                </a:extLst>
              </a:tr>
              <a:tr h="19647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R11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R11D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R11W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R11B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7313826"/>
                  </a:ext>
                </a:extLst>
              </a:tr>
              <a:tr h="19647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R12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R12D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R12W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R12B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8467063"/>
                  </a:ext>
                </a:extLst>
              </a:tr>
              <a:tr h="19647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R13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R13D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R13W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R13B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2734421"/>
                  </a:ext>
                </a:extLst>
              </a:tr>
              <a:tr h="19647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R14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R14D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R14W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R14B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285898"/>
                  </a:ext>
                </a:extLst>
              </a:tr>
              <a:tr h="19647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R15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R15D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R15W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R15B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8147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96084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515A8-06A9-2EEA-4C63-A8F457242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работы с частями регистров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E8DCE-EE53-925A-A4D2-2C87C23BF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Один регистр — несколько представлений</a:t>
            </a:r>
          </a:p>
          <a:p>
            <a:pPr lvl="1"/>
            <a:r>
              <a:rPr lang="ru-RU" dirty="0"/>
              <a:t>RAX / EAX / AX / AL</a:t>
            </a:r>
            <a:r>
              <a:rPr lang="en-US" dirty="0"/>
              <a:t>, AH</a:t>
            </a:r>
            <a:r>
              <a:rPr lang="ru-RU" dirty="0"/>
              <a:t> — один и тот же регистр </a:t>
            </a:r>
          </a:p>
          <a:p>
            <a:pPr lvl="1"/>
            <a:r>
              <a:rPr lang="ru-RU" dirty="0"/>
              <a:t>младшие части перекрывают старшие </a:t>
            </a:r>
          </a:p>
          <a:p>
            <a:r>
              <a:rPr lang="ru-RU" dirty="0"/>
              <a:t>Запись в части регистра:</a:t>
            </a:r>
          </a:p>
          <a:p>
            <a:pPr lvl="1"/>
            <a:r>
              <a:rPr lang="ru-RU" dirty="0"/>
              <a:t>запись в 64-битный регистр → изменяются все 64 бита </a:t>
            </a:r>
          </a:p>
          <a:p>
            <a:pPr lvl="1"/>
            <a:r>
              <a:rPr lang="ru-RU" dirty="0"/>
              <a:t>запись в 32-битный регистр →</a:t>
            </a:r>
            <a:r>
              <a:rPr lang="en-US" dirty="0"/>
              <a:t> </a:t>
            </a:r>
            <a:r>
              <a:rPr lang="ru-RU" dirty="0"/>
              <a:t>старшие 32 бита обнуляются </a:t>
            </a:r>
          </a:p>
          <a:p>
            <a:pPr lvl="1"/>
            <a:r>
              <a:rPr lang="ru-RU" dirty="0"/>
              <a:t>запись в 16- или 8-битную часть →</a:t>
            </a:r>
            <a:r>
              <a:rPr lang="en-US" dirty="0"/>
              <a:t> </a:t>
            </a:r>
            <a:r>
              <a:rPr lang="ru-RU" dirty="0"/>
              <a:t>остальные биты не изменяются 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R8–R15 не имеют “старших байтов” (AH, BH и т.п.) </a:t>
            </a:r>
          </a:p>
          <a:p>
            <a:pPr lvl="1"/>
            <a:r>
              <a:rPr lang="ru-RU" dirty="0"/>
              <a:t>разные имена — это не разные регистры</a:t>
            </a:r>
          </a:p>
        </p:txBody>
      </p:sp>
    </p:spTree>
    <p:extLst>
      <p:ext uri="{BB962C8B-B14F-4D97-AF65-F5344CB8AC3E}">
        <p14:creationId xmlns:p14="http://schemas.microsoft.com/office/powerpoint/2010/main" val="2324683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45F5F-F2D3-2984-B2D9-990765B37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Специальные регистры и управление выполнением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96391-6FC8-9369-BA93-4163D33EA6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RIP — указатель инструкции</a:t>
            </a:r>
          </a:p>
          <a:p>
            <a:pPr lvl="1"/>
            <a:r>
              <a:rPr lang="ru-RU" dirty="0"/>
              <a:t>адрес следующей выполняемой инструкции </a:t>
            </a:r>
          </a:p>
          <a:p>
            <a:pPr lvl="1"/>
            <a:r>
              <a:rPr lang="ru-RU" dirty="0"/>
              <a:t>изменяется автоматически </a:t>
            </a:r>
          </a:p>
          <a:p>
            <a:pPr lvl="1"/>
            <a:r>
              <a:rPr lang="ru-RU" dirty="0"/>
              <a:t>используется при переходах и вызовах </a:t>
            </a:r>
          </a:p>
          <a:p>
            <a:r>
              <a:rPr lang="ru-RU" dirty="0"/>
              <a:t>RSP — указатель стека</a:t>
            </a:r>
          </a:p>
          <a:p>
            <a:pPr lvl="1"/>
            <a:r>
              <a:rPr lang="ru-RU" dirty="0"/>
              <a:t>указывает на вершину стека </a:t>
            </a:r>
          </a:p>
          <a:p>
            <a:pPr lvl="1"/>
            <a:r>
              <a:rPr lang="ru-RU" dirty="0"/>
              <a:t>изменяется инструкциями </a:t>
            </a:r>
            <a:r>
              <a:rPr lang="ru-RU" dirty="0" err="1"/>
              <a:t>push</a:t>
            </a:r>
            <a:r>
              <a:rPr lang="ru-RU" dirty="0"/>
              <a:t>, </a:t>
            </a:r>
            <a:r>
              <a:rPr lang="ru-RU" dirty="0" err="1"/>
              <a:t>pop</a:t>
            </a:r>
            <a:r>
              <a:rPr lang="ru-RU" dirty="0"/>
              <a:t>, </a:t>
            </a:r>
            <a:r>
              <a:rPr lang="ru-RU" dirty="0" err="1"/>
              <a:t>call</a:t>
            </a:r>
            <a:r>
              <a:rPr lang="ru-RU" dirty="0"/>
              <a:t>, </a:t>
            </a:r>
            <a:r>
              <a:rPr lang="ru-RU" dirty="0" err="1"/>
              <a:t>ret</a:t>
            </a:r>
            <a:r>
              <a:rPr lang="ru-RU" dirty="0"/>
              <a:t> </a:t>
            </a:r>
          </a:p>
          <a:p>
            <a:r>
              <a:rPr lang="ru-RU" dirty="0"/>
              <a:t>RBP — базовый указатель кадра</a:t>
            </a:r>
          </a:p>
          <a:p>
            <a:pPr lvl="1"/>
            <a:r>
              <a:rPr lang="ru-RU" dirty="0"/>
              <a:t>фиксирует начало стекового кадра функции </a:t>
            </a:r>
          </a:p>
          <a:p>
            <a:pPr lvl="1"/>
            <a:r>
              <a:rPr lang="ru-RU" dirty="0"/>
              <a:t>используется для доступа к локальным данным и параметрам </a:t>
            </a:r>
          </a:p>
          <a:p>
            <a:r>
              <a:rPr lang="ru-RU" dirty="0"/>
              <a:t>RFLAGS — регистр флагов</a:t>
            </a:r>
          </a:p>
          <a:p>
            <a:pPr lvl="1"/>
            <a:r>
              <a:rPr lang="ru-RU" dirty="0"/>
              <a:t>содержит состояние процессора </a:t>
            </a:r>
          </a:p>
          <a:p>
            <a:pPr lvl="1"/>
            <a:r>
              <a:rPr lang="ru-RU" dirty="0"/>
              <a:t>используется для условных переходов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6205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F156E-0895-5FCD-2C84-BCF8C7EAB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Регистр флагов (</a:t>
            </a:r>
            <a:r>
              <a:rPr lang="en-US" dirty="0"/>
              <a:t>RFLAGS)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4645C0-2FD2-49D0-8CF7-DD3D382D3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RFLAGS — регистр состояния процессора</a:t>
            </a:r>
          </a:p>
          <a:p>
            <a:pPr lvl="1"/>
            <a:r>
              <a:rPr lang="ru-RU" dirty="0"/>
              <a:t>хранит информацию о результате выполнения инструкций </a:t>
            </a:r>
          </a:p>
          <a:p>
            <a:pPr lvl="1"/>
            <a:r>
              <a:rPr lang="ru-RU" dirty="0"/>
              <a:t>изменяется автоматически </a:t>
            </a:r>
          </a:p>
          <a:p>
            <a:pPr lvl="1"/>
            <a:r>
              <a:rPr lang="ru-RU" dirty="0"/>
              <a:t>используется для условных переходов </a:t>
            </a:r>
          </a:p>
          <a:p>
            <a:r>
              <a:rPr lang="ru-RU" dirty="0"/>
              <a:t>Флаги устанавливаются:</a:t>
            </a:r>
          </a:p>
          <a:p>
            <a:pPr lvl="1"/>
            <a:r>
              <a:rPr lang="ru-RU" dirty="0"/>
              <a:t>арифметическими операциями </a:t>
            </a:r>
          </a:p>
          <a:p>
            <a:pPr lvl="1"/>
            <a:r>
              <a:rPr lang="ru-RU" dirty="0"/>
              <a:t>логическими операциями </a:t>
            </a:r>
          </a:p>
          <a:p>
            <a:pPr lvl="1"/>
            <a:r>
              <a:rPr lang="ru-RU" dirty="0"/>
              <a:t>инструкцией </a:t>
            </a:r>
            <a:r>
              <a:rPr lang="ru-RU" dirty="0" err="1"/>
              <a:t>cmp</a:t>
            </a:r>
            <a:r>
              <a:rPr lang="ru-RU" dirty="0"/>
              <a:t> и </a:t>
            </a:r>
            <a:r>
              <a:rPr lang="en-US" dirty="0"/>
              <a:t>test</a:t>
            </a:r>
            <a:endParaRPr lang="ru-RU" dirty="0"/>
          </a:p>
          <a:p>
            <a:r>
              <a:rPr lang="ru-RU" dirty="0"/>
              <a:t>Используются:</a:t>
            </a:r>
          </a:p>
          <a:p>
            <a:pPr lvl="1"/>
            <a:r>
              <a:rPr lang="ru-RU" dirty="0" err="1"/>
              <a:t>je</a:t>
            </a:r>
            <a:r>
              <a:rPr lang="ru-RU" dirty="0"/>
              <a:t>, </a:t>
            </a:r>
            <a:r>
              <a:rPr lang="ru-RU" dirty="0" err="1"/>
              <a:t>jne</a:t>
            </a:r>
            <a:r>
              <a:rPr lang="ru-RU" dirty="0"/>
              <a:t> </a:t>
            </a:r>
          </a:p>
          <a:p>
            <a:pPr lvl="1"/>
            <a:r>
              <a:rPr lang="ru-RU" dirty="0" err="1"/>
              <a:t>jg</a:t>
            </a:r>
            <a:r>
              <a:rPr lang="ru-RU" dirty="0"/>
              <a:t>, </a:t>
            </a:r>
            <a:r>
              <a:rPr lang="ru-RU" dirty="0" err="1"/>
              <a:t>jl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1250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0055C-974F-65D4-A67F-F47935327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флаги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538FD-5C22-F875-225A-388B73CA0E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ZF (Zero </a:t>
            </a:r>
            <a:r>
              <a:rPr lang="ru-RU" dirty="0" err="1"/>
              <a:t>Flag</a:t>
            </a:r>
            <a:r>
              <a:rPr lang="ru-RU" dirty="0"/>
              <a:t>) – устанавливается, если результат равен 0 </a:t>
            </a:r>
          </a:p>
          <a:p>
            <a:r>
              <a:rPr lang="ru-RU" dirty="0"/>
              <a:t>CF (Carry </a:t>
            </a:r>
            <a:r>
              <a:rPr lang="ru-RU" dirty="0" err="1"/>
              <a:t>Flag</a:t>
            </a:r>
            <a:r>
              <a:rPr lang="ru-RU" dirty="0"/>
              <a:t>) – устанавливается при переносе или </a:t>
            </a:r>
            <a:r>
              <a:rPr lang="ru-RU" dirty="0" err="1"/>
              <a:t>заёме</a:t>
            </a:r>
            <a:endParaRPr lang="ru-RU" dirty="0"/>
          </a:p>
          <a:p>
            <a:r>
              <a:rPr lang="ru-RU" dirty="0"/>
              <a:t>SF (</a:t>
            </a:r>
            <a:r>
              <a:rPr lang="ru-RU" dirty="0" err="1"/>
              <a:t>Sign</a:t>
            </a:r>
            <a:r>
              <a:rPr lang="ru-RU" dirty="0"/>
              <a:t> </a:t>
            </a:r>
            <a:r>
              <a:rPr lang="ru-RU" dirty="0" err="1"/>
              <a:t>Flag</a:t>
            </a:r>
            <a:r>
              <a:rPr lang="ru-RU" dirty="0"/>
              <a:t>) – хранит знак результата</a:t>
            </a:r>
          </a:p>
          <a:p>
            <a:pPr lvl="1"/>
            <a:r>
              <a:rPr lang="ru-RU" dirty="0"/>
              <a:t>0 – результат неотрицательный</a:t>
            </a:r>
          </a:p>
          <a:p>
            <a:pPr lvl="1"/>
            <a:r>
              <a:rPr lang="ru-RU" dirty="0"/>
              <a:t>1 – результат отрицательный</a:t>
            </a:r>
          </a:p>
          <a:p>
            <a:r>
              <a:rPr lang="ru-RU" dirty="0"/>
              <a:t>OF (</a:t>
            </a:r>
            <a:r>
              <a:rPr lang="ru-RU" dirty="0" err="1"/>
              <a:t>Overflow</a:t>
            </a:r>
            <a:r>
              <a:rPr lang="ru-RU" dirty="0"/>
              <a:t> </a:t>
            </a:r>
            <a:r>
              <a:rPr lang="ru-RU" dirty="0" err="1"/>
              <a:t>Flag</a:t>
            </a:r>
            <a:r>
              <a:rPr lang="ru-RU" dirty="0"/>
              <a:t>) – переполнение со знаком </a:t>
            </a:r>
          </a:p>
          <a:p>
            <a:r>
              <a:rPr lang="ru-RU" dirty="0"/>
              <a:t>Дополнительно:</a:t>
            </a:r>
          </a:p>
          <a:p>
            <a:pPr lvl="1"/>
            <a:r>
              <a:rPr lang="ru-RU" dirty="0"/>
              <a:t>флаги отражают разные интерпретации результата </a:t>
            </a:r>
          </a:p>
          <a:p>
            <a:pPr lvl="1"/>
            <a:r>
              <a:rPr lang="ru-RU" dirty="0"/>
              <a:t>используются в основном для условных переходов</a:t>
            </a:r>
          </a:p>
        </p:txBody>
      </p:sp>
    </p:spTree>
    <p:extLst>
      <p:ext uri="{BB962C8B-B14F-4D97-AF65-F5344CB8AC3E}">
        <p14:creationId xmlns:p14="http://schemas.microsoft.com/office/powerpoint/2010/main" val="33581079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CB82A-B5BE-4C96-113B-043B72523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Регистры управления и сегментные регистры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E929A-B93E-919A-BD63-50A382D3A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Регистры управления (</a:t>
            </a:r>
            <a:r>
              <a:rPr lang="ru-RU" dirty="0" err="1"/>
              <a:t>control</a:t>
            </a:r>
            <a:r>
              <a:rPr lang="ru-RU" dirty="0"/>
              <a:t> </a:t>
            </a:r>
            <a:r>
              <a:rPr lang="ru-RU" dirty="0" err="1"/>
              <a:t>registers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CR0, CR2, CR3, CR4 </a:t>
            </a:r>
          </a:p>
          <a:p>
            <a:pPr lvl="1"/>
            <a:r>
              <a:rPr lang="ru-RU" dirty="0"/>
              <a:t>настройка режима работы процессора </a:t>
            </a:r>
          </a:p>
          <a:p>
            <a:pPr lvl="1"/>
            <a:r>
              <a:rPr lang="ru-RU" dirty="0"/>
              <a:t>управление виртуальной памятью </a:t>
            </a:r>
          </a:p>
          <a:p>
            <a:pPr lvl="1"/>
            <a:r>
              <a:rPr lang="ru-RU" dirty="0"/>
              <a:t>используются операционной системой </a:t>
            </a:r>
          </a:p>
          <a:p>
            <a:r>
              <a:rPr lang="ru-RU" dirty="0"/>
              <a:t>Сегментные регистры</a:t>
            </a:r>
          </a:p>
          <a:p>
            <a:pPr lvl="1"/>
            <a:r>
              <a:rPr lang="ru-RU" dirty="0"/>
              <a:t>CS, DS, SS, ES, FS, GS </a:t>
            </a:r>
          </a:p>
          <a:p>
            <a:pPr lvl="1"/>
            <a:r>
              <a:rPr lang="ru-RU" dirty="0"/>
              <a:t>исторически — сегментная адресация </a:t>
            </a:r>
          </a:p>
          <a:p>
            <a:r>
              <a:rPr lang="ru-RU" dirty="0"/>
              <a:t>В x86-64:</a:t>
            </a:r>
          </a:p>
          <a:p>
            <a:pPr lvl="1"/>
            <a:r>
              <a:rPr lang="ru-RU" dirty="0"/>
              <a:t>CS, DS, ES, SS — почти не используются </a:t>
            </a:r>
          </a:p>
          <a:p>
            <a:pPr lvl="1"/>
            <a:r>
              <a:rPr lang="ru-RU" dirty="0"/>
              <a:t>FS и GS — применяются (например, для доступа к переменным текущего потока) 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управление сегментацией выполняет ОС </a:t>
            </a:r>
          </a:p>
          <a:p>
            <a:pPr lvl="1"/>
            <a:r>
              <a:rPr lang="ru-RU" dirty="0"/>
              <a:t>доступ в пользовательском коде ограничен</a:t>
            </a:r>
          </a:p>
        </p:txBody>
      </p:sp>
    </p:spTree>
    <p:extLst>
      <p:ext uri="{BB962C8B-B14F-4D97-AF65-F5344CB8AC3E}">
        <p14:creationId xmlns:p14="http://schemas.microsoft.com/office/powerpoint/2010/main" val="877528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C64FE8-2DC9-F05D-33BD-DAD365DAD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инструкций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08EF91-75B5-4F36-1007-F067417A1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7211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3056638-8791-9A38-C69C-1A48F9B4B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Синтаксис и формат инструкций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3919F5-9087-A893-DF33-7DAB19BFD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Два синтаксиса:</a:t>
            </a:r>
          </a:p>
          <a:p>
            <a:pPr lvl="1"/>
            <a:r>
              <a:rPr lang="ru-RU" dirty="0"/>
              <a:t>Intel (используется в курсе) </a:t>
            </a:r>
          </a:p>
          <a:p>
            <a:pPr lvl="1"/>
            <a:r>
              <a:rPr lang="ru-RU" dirty="0"/>
              <a:t>AT&amp;T (используется в GCC по умолчанию) </a:t>
            </a:r>
          </a:p>
          <a:p>
            <a:r>
              <a:rPr lang="ru-RU" dirty="0"/>
              <a:t>Особенности x86-64:</a:t>
            </a:r>
          </a:p>
          <a:p>
            <a:pPr lvl="1"/>
            <a:r>
              <a:rPr lang="ru-RU" dirty="0"/>
              <a:t>инструкции имеют переменную длину </a:t>
            </a:r>
          </a:p>
          <a:p>
            <a:pPr lvl="1"/>
            <a:r>
              <a:rPr lang="ru-RU" dirty="0"/>
              <a:t>длина инструкции: до 15 байт </a:t>
            </a:r>
          </a:p>
          <a:p>
            <a:pPr lvl="1"/>
            <a:r>
              <a:rPr lang="ru-RU" dirty="0"/>
              <a:t>код операции может занимать несколько байт </a:t>
            </a:r>
          </a:p>
          <a:p>
            <a:r>
              <a:rPr lang="ru-RU" dirty="0"/>
              <a:t>Сравнение:</a:t>
            </a:r>
          </a:p>
          <a:p>
            <a:pPr lvl="1"/>
            <a:r>
              <a:rPr lang="ru-RU" dirty="0"/>
              <a:t>x86-64 — переменная длина инструкций </a:t>
            </a:r>
          </a:p>
          <a:p>
            <a:pPr lvl="1"/>
            <a:r>
              <a:rPr lang="ru-RU" dirty="0"/>
              <a:t>ARM — фиксированная длина инструкций</a:t>
            </a:r>
          </a:p>
        </p:txBody>
      </p:sp>
    </p:spTree>
    <p:extLst>
      <p:ext uri="{BB962C8B-B14F-4D97-AF65-F5344CB8AC3E}">
        <p14:creationId xmlns:p14="http://schemas.microsoft.com/office/powerpoint/2010/main" val="4083374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9089E-DB2B-3CE2-071A-47E37E91E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Привести пример </a:t>
            </a:r>
            <a:r>
              <a:rPr lang="en-US" dirty="0"/>
              <a:t>intel vs </a:t>
            </a:r>
            <a:r>
              <a:rPr lang="en-US" dirty="0" err="1"/>
              <a:t>at&amp;t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52777-808D-7E85-26D6-4EEE98F22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1778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00410-15A4-0D7A-0EC1-D129B7771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Инструкции пересылки данных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81F3E-E05B-BA56-DA6C-C1E7BB6606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Основные инструкции:</a:t>
            </a:r>
          </a:p>
          <a:p>
            <a:pPr lvl="1"/>
            <a:r>
              <a:rPr lang="en-US" dirty="0"/>
              <a:t>mov — </a:t>
            </a:r>
            <a:r>
              <a:rPr lang="ru-RU" dirty="0"/>
              <a:t>копирование данных </a:t>
            </a:r>
          </a:p>
          <a:p>
            <a:pPr lvl="1"/>
            <a:r>
              <a:rPr lang="en-US" dirty="0"/>
              <a:t>lea — </a:t>
            </a:r>
            <a:r>
              <a:rPr lang="ru-RU" dirty="0"/>
              <a:t>вычисление адреса </a:t>
            </a:r>
          </a:p>
          <a:p>
            <a:r>
              <a:rPr lang="ru-RU" dirty="0"/>
              <a:t>Варианты использования </a:t>
            </a:r>
            <a:r>
              <a:rPr lang="en-US" dirty="0"/>
              <a:t>mov:</a:t>
            </a:r>
          </a:p>
          <a:p>
            <a:pPr lvl="1"/>
            <a:r>
              <a:rPr lang="ru-RU" dirty="0"/>
              <a:t>регистр → регистр </a:t>
            </a:r>
          </a:p>
          <a:p>
            <a:pPr lvl="1"/>
            <a:r>
              <a:rPr lang="ru-RU" dirty="0"/>
              <a:t>значение → регистр </a:t>
            </a:r>
          </a:p>
          <a:p>
            <a:pPr lvl="1"/>
            <a:r>
              <a:rPr lang="ru-RU" dirty="0"/>
              <a:t>память → регистр </a:t>
            </a:r>
          </a:p>
          <a:p>
            <a:pPr lvl="1"/>
            <a:r>
              <a:rPr lang="ru-RU" dirty="0"/>
              <a:t>регистр → память 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mov </a:t>
            </a:r>
            <a:r>
              <a:rPr lang="en-US" dirty="0" err="1">
                <a:latin typeface="Consolas" panose="020B0609020204030204" pitchFamily="49" charset="0"/>
              </a:rPr>
              <a:t>rax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rbx</a:t>
            </a:r>
            <a:r>
              <a:rPr lang="en-US" dirty="0">
                <a:latin typeface="Consolas" panose="020B0609020204030204" pitchFamily="49" charset="0"/>
              </a:rPr>
              <a:t> ; </a:t>
            </a:r>
            <a:r>
              <a:rPr lang="en-US" dirty="0" err="1">
                <a:latin typeface="Consolas" panose="020B0609020204030204" pitchFamily="49" charset="0"/>
              </a:rPr>
              <a:t>rbx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→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rax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mov </a:t>
            </a:r>
            <a:r>
              <a:rPr lang="en-US" dirty="0" err="1">
                <a:latin typeface="Consolas" panose="020B0609020204030204" pitchFamily="49" charset="0"/>
              </a:rPr>
              <a:t>rax</a:t>
            </a:r>
            <a:r>
              <a:rPr lang="en-US" dirty="0">
                <a:latin typeface="Consolas" panose="020B0609020204030204" pitchFamily="49" charset="0"/>
              </a:rPr>
              <a:t>, 10 ; 10 </a:t>
            </a:r>
            <a:r>
              <a:rPr lang="ru-RU" dirty="0">
                <a:latin typeface="Consolas" panose="020B0609020204030204" pitchFamily="49" charset="0"/>
              </a:rPr>
              <a:t>→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rax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mov </a:t>
            </a:r>
            <a:r>
              <a:rPr lang="en-US" dirty="0" err="1">
                <a:latin typeface="Consolas" panose="020B0609020204030204" pitchFamily="49" charset="0"/>
              </a:rPr>
              <a:t>rax</a:t>
            </a:r>
            <a:r>
              <a:rPr lang="en-US" dirty="0">
                <a:latin typeface="Consolas" panose="020B0609020204030204" pitchFamily="49" charset="0"/>
              </a:rPr>
              <a:t>, [</a:t>
            </a:r>
            <a:r>
              <a:rPr lang="en-US" dirty="0" err="1">
                <a:latin typeface="Consolas" panose="020B0609020204030204" pitchFamily="49" charset="0"/>
              </a:rPr>
              <a:t>rbx</a:t>
            </a:r>
            <a:r>
              <a:rPr lang="en-US" dirty="0">
                <a:latin typeface="Consolas" panose="020B0609020204030204" pitchFamily="49" charset="0"/>
              </a:rPr>
              <a:t>] ; </a:t>
            </a:r>
            <a:r>
              <a:rPr lang="en-US" dirty="0" err="1">
                <a:latin typeface="Consolas" panose="020B0609020204030204" pitchFamily="49" charset="0"/>
              </a:rPr>
              <a:t>rbx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→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rax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mov [</a:t>
            </a:r>
            <a:r>
              <a:rPr lang="en-US" dirty="0" err="1">
                <a:latin typeface="Consolas" panose="020B0609020204030204" pitchFamily="49" charset="0"/>
              </a:rPr>
              <a:t>rbx</a:t>
            </a:r>
            <a:r>
              <a:rPr lang="en-US" dirty="0">
                <a:latin typeface="Consolas" panose="020B0609020204030204" pitchFamily="49" charset="0"/>
              </a:rPr>
              <a:t>], </a:t>
            </a:r>
            <a:r>
              <a:rPr lang="en-US" dirty="0" err="1">
                <a:latin typeface="Consolas" panose="020B0609020204030204" pitchFamily="49" charset="0"/>
              </a:rPr>
              <a:t>rax</a:t>
            </a:r>
            <a:r>
              <a:rPr lang="en-US" dirty="0">
                <a:latin typeface="Consolas" panose="020B0609020204030204" pitchFamily="49" charset="0"/>
              </a:rPr>
              <a:t> ; </a:t>
            </a:r>
            <a:r>
              <a:rPr lang="en-US" dirty="0" err="1">
                <a:latin typeface="Consolas" panose="020B0609020204030204" pitchFamily="49" charset="0"/>
              </a:rPr>
              <a:t>rax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→</a:t>
            </a:r>
            <a:r>
              <a:rPr lang="en-US" dirty="0">
                <a:latin typeface="Consolas" panose="020B0609020204030204" pitchFamily="49" charset="0"/>
              </a:rPr>
              <a:t> [</a:t>
            </a:r>
            <a:r>
              <a:rPr lang="en-US" dirty="0" err="1">
                <a:latin typeface="Consolas" panose="020B0609020204030204" pitchFamily="49" charset="0"/>
              </a:rPr>
              <a:t>rbx</a:t>
            </a:r>
            <a:r>
              <a:rPr lang="en-US" dirty="0">
                <a:latin typeface="Consolas" panose="020B0609020204030204" pitchFamily="49" charset="0"/>
              </a:rPr>
              <a:t>]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110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9E87A-80D7-48D2-9911-E08FA0FE6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</a:t>
            </a:r>
            <a:r>
              <a:rPr lang="en-US" dirty="0"/>
              <a:t>C </a:t>
            </a:r>
            <a:r>
              <a:rPr lang="ru-RU" dirty="0"/>
              <a:t>и ассемблер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938AA3-E1AC-147E-52BE-D0957532A931}"/>
              </a:ext>
            </a:extLst>
          </p:cNvPr>
          <p:cNvSpPr txBox="1"/>
          <p:nvPr/>
        </p:nvSpPr>
        <p:spPr>
          <a:xfrm>
            <a:off x="838200" y="1920314"/>
            <a:ext cx="517071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5728F0-A5B0-A2C6-7C74-B3CEA6BAB9FC}"/>
              </a:ext>
            </a:extLst>
          </p:cNvPr>
          <p:cNvSpPr txBox="1"/>
          <p:nvPr/>
        </p:nvSpPr>
        <p:spPr>
          <a:xfrm>
            <a:off x="6267203" y="1920314"/>
            <a:ext cx="526373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a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RDI, b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RSI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swap: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mov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d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 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= *a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mov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rsi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 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tmp1 = *b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mov [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rdi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*a =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tmp1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mov [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rsi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*b =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tmp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ret</a:t>
            </a:r>
          </a:p>
        </p:txBody>
      </p:sp>
    </p:spTree>
    <p:extLst>
      <p:ext uri="{BB962C8B-B14F-4D97-AF65-F5344CB8AC3E}">
        <p14:creationId xmlns:p14="http://schemas.microsoft.com/office/powerpoint/2010/main" val="39833074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C81FD-5AD5-07E6-3E0B-06AFB02CA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Арифметические инструкции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2F5DF-7E02-448A-4E93-A9B56BC29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ru-RU" dirty="0"/>
              <a:t>Сложение и вычитание:</a:t>
            </a:r>
          </a:p>
          <a:p>
            <a:pPr lvl="1"/>
            <a:r>
              <a:rPr lang="ru-RU" dirty="0" err="1"/>
              <a:t>add</a:t>
            </a:r>
            <a:r>
              <a:rPr lang="ru-RU" dirty="0"/>
              <a:t> </a:t>
            </a:r>
            <a:r>
              <a:rPr lang="ru-RU" dirty="0" err="1"/>
              <a:t>dst</a:t>
            </a:r>
            <a:r>
              <a:rPr lang="ru-RU" dirty="0"/>
              <a:t>, </a:t>
            </a:r>
            <a:r>
              <a:rPr lang="ru-RU" dirty="0" err="1"/>
              <a:t>src</a:t>
            </a:r>
            <a:r>
              <a:rPr lang="ru-RU" dirty="0"/>
              <a:t> </a:t>
            </a:r>
          </a:p>
          <a:p>
            <a:pPr lvl="1"/>
            <a:r>
              <a:rPr lang="ru-RU" dirty="0" err="1"/>
              <a:t>sub</a:t>
            </a:r>
            <a:r>
              <a:rPr lang="ru-RU" dirty="0"/>
              <a:t> </a:t>
            </a:r>
            <a:r>
              <a:rPr lang="ru-RU" dirty="0" err="1"/>
              <a:t>dst</a:t>
            </a:r>
            <a:r>
              <a:rPr lang="ru-RU" dirty="0"/>
              <a:t>, </a:t>
            </a:r>
            <a:r>
              <a:rPr lang="ru-RU" dirty="0" err="1"/>
              <a:t>src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операции над произвольными регистрами </a:t>
            </a:r>
          </a:p>
          <a:p>
            <a:r>
              <a:rPr lang="ru-RU" dirty="0"/>
              <a:t>Умножение:</a:t>
            </a:r>
          </a:p>
          <a:p>
            <a:pPr lvl="1"/>
            <a:r>
              <a:rPr lang="ru-RU" dirty="0" err="1"/>
              <a:t>imul</a:t>
            </a:r>
            <a:r>
              <a:rPr lang="ru-RU" dirty="0"/>
              <a:t> </a:t>
            </a:r>
            <a:r>
              <a:rPr lang="ru-RU" dirty="0" err="1"/>
              <a:t>dst</a:t>
            </a:r>
            <a:r>
              <a:rPr lang="ru-RU" dirty="0"/>
              <a:t>, </a:t>
            </a:r>
            <a:r>
              <a:rPr lang="ru-RU" dirty="0" err="1"/>
              <a:t>src</a:t>
            </a:r>
            <a:r>
              <a:rPr lang="ru-RU" dirty="0"/>
              <a:t> — общий случай </a:t>
            </a:r>
          </a:p>
          <a:p>
            <a:pPr lvl="1"/>
            <a:r>
              <a:rPr lang="ru-RU" dirty="0"/>
              <a:t>результат помещается в указанный регистр</a:t>
            </a:r>
          </a:p>
          <a:p>
            <a:r>
              <a:rPr lang="ru-RU" dirty="0"/>
              <a:t>Деление:</a:t>
            </a:r>
          </a:p>
          <a:p>
            <a:pPr lvl="1"/>
            <a:r>
              <a:rPr lang="ru-RU" dirty="0" err="1"/>
              <a:t>idiv</a:t>
            </a:r>
            <a:r>
              <a:rPr lang="ru-RU" dirty="0"/>
              <a:t> </a:t>
            </a:r>
            <a:r>
              <a:rPr lang="ru-RU" dirty="0" err="1"/>
              <a:t>src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делимое фиксировано: </a:t>
            </a:r>
          </a:p>
          <a:p>
            <a:pPr lvl="2"/>
            <a:r>
              <a:rPr lang="en-US" dirty="0"/>
              <a:t>EDX:</a:t>
            </a:r>
            <a:r>
              <a:rPr lang="ru-RU" dirty="0"/>
              <a:t>EAX (или </a:t>
            </a:r>
            <a:r>
              <a:rPr lang="en-US" dirty="0"/>
              <a:t>RDX:</a:t>
            </a:r>
            <a:r>
              <a:rPr lang="ru-RU" dirty="0"/>
              <a:t>RAX) </a:t>
            </a:r>
          </a:p>
          <a:p>
            <a:pPr lvl="1"/>
            <a:r>
              <a:rPr lang="ru-RU" dirty="0"/>
              <a:t>результат: </a:t>
            </a:r>
          </a:p>
          <a:p>
            <a:pPr lvl="2"/>
            <a:r>
              <a:rPr lang="ru-RU" dirty="0"/>
              <a:t>частное в EAX (или </a:t>
            </a:r>
            <a:r>
              <a:rPr lang="en-US" dirty="0"/>
              <a:t>RAX)</a:t>
            </a:r>
            <a:endParaRPr lang="ru-RU" dirty="0"/>
          </a:p>
          <a:p>
            <a:pPr lvl="2"/>
            <a:r>
              <a:rPr lang="ru-RU" dirty="0"/>
              <a:t>остаток в EDX </a:t>
            </a:r>
            <a:r>
              <a:rPr lang="en-US" dirty="0"/>
              <a:t> (</a:t>
            </a:r>
            <a:r>
              <a:rPr lang="ru-RU" dirty="0"/>
              <a:t>или </a:t>
            </a:r>
            <a:r>
              <a:rPr lang="en-US" dirty="0"/>
              <a:t>RDX)</a:t>
            </a:r>
            <a:endParaRPr lang="ru-RU" dirty="0"/>
          </a:p>
          <a:p>
            <a:r>
              <a:rPr lang="ru-RU" dirty="0"/>
              <a:t>Дополнительно:</a:t>
            </a:r>
          </a:p>
          <a:p>
            <a:pPr lvl="1"/>
            <a:r>
              <a:rPr lang="ru-RU" dirty="0" err="1"/>
              <a:t>inc</a:t>
            </a:r>
            <a:r>
              <a:rPr lang="ru-RU" dirty="0"/>
              <a:t>, </a:t>
            </a:r>
            <a:r>
              <a:rPr lang="ru-RU" dirty="0" err="1"/>
              <a:t>dec</a:t>
            </a:r>
            <a:r>
              <a:rPr lang="ru-RU" dirty="0"/>
              <a:t> </a:t>
            </a:r>
          </a:p>
          <a:p>
            <a:pPr lvl="1"/>
            <a:r>
              <a:rPr lang="ru-RU" dirty="0" err="1"/>
              <a:t>cdq</a:t>
            </a:r>
            <a:r>
              <a:rPr lang="ru-RU" dirty="0"/>
              <a:t>, </a:t>
            </a:r>
            <a:r>
              <a:rPr lang="ru-RU" dirty="0" err="1"/>
              <a:t>cqo</a:t>
            </a:r>
            <a:r>
              <a:rPr lang="ru-RU" dirty="0"/>
              <a:t> — подготовка деления</a:t>
            </a:r>
          </a:p>
          <a:p>
            <a:pPr lvl="2"/>
            <a:r>
              <a:rPr lang="ru-RU" dirty="0" err="1"/>
              <a:t>cqo</a:t>
            </a:r>
            <a:r>
              <a:rPr lang="ru-RU" dirty="0"/>
              <a:t> (</a:t>
            </a:r>
            <a:r>
              <a:rPr lang="en-US" dirty="0"/>
              <a:t>convert quad word to word</a:t>
            </a:r>
            <a:r>
              <a:rPr lang="ru-RU" dirty="0"/>
              <a:t>) знаковое расширение</a:t>
            </a:r>
          </a:p>
        </p:txBody>
      </p:sp>
    </p:spTree>
    <p:extLst>
      <p:ext uri="{BB962C8B-B14F-4D97-AF65-F5344CB8AC3E}">
        <p14:creationId xmlns:p14="http://schemas.microsoft.com/office/powerpoint/2010/main" val="2883822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A5946-CF42-D347-506F-299E535D1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среднее значение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298613-228A-69BA-19DC-F20AC9D56C31}"/>
              </a:ext>
            </a:extLst>
          </p:cNvPr>
          <p:cNvSpPr txBox="1"/>
          <p:nvPr/>
        </p:nvSpPr>
        <p:spPr>
          <a:xfrm>
            <a:off x="838200" y="1690688"/>
            <a:ext cx="450569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a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b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c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edx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mov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edi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add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esi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add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edx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mov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ecx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cdq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idiv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ecx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ret</a:t>
            </a:r>
          </a:p>
        </p:txBody>
      </p:sp>
    </p:spTree>
    <p:extLst>
      <p:ext uri="{BB962C8B-B14F-4D97-AF65-F5344CB8AC3E}">
        <p14:creationId xmlns:p14="http://schemas.microsoft.com/office/powerpoint/2010/main" val="461673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DA82B8-5A7C-99B5-6FEB-A752CE4EA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и логические операции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98F7EB-12DC-16B2-FD95-47294BFC7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Сравнение:</a:t>
            </a:r>
          </a:p>
          <a:p>
            <a:pPr lvl="1"/>
            <a:r>
              <a:rPr lang="ru-RU" dirty="0" err="1"/>
              <a:t>cmp</a:t>
            </a:r>
            <a:r>
              <a:rPr lang="ru-RU" dirty="0"/>
              <a:t> a, b</a:t>
            </a:r>
            <a:br>
              <a:rPr lang="ru-RU" dirty="0"/>
            </a:br>
            <a:r>
              <a:rPr lang="ru-RU" dirty="0"/>
              <a:t>→ вычисляет a - b</a:t>
            </a:r>
            <a:br>
              <a:rPr lang="ru-RU" dirty="0"/>
            </a:br>
            <a:r>
              <a:rPr lang="ru-RU" dirty="0"/>
              <a:t>→ результат не сохраняется</a:t>
            </a:r>
            <a:br>
              <a:rPr lang="ru-RU" dirty="0"/>
            </a:br>
            <a:r>
              <a:rPr lang="ru-RU" dirty="0"/>
              <a:t>→ изменяются флаги</a:t>
            </a:r>
          </a:p>
          <a:p>
            <a:r>
              <a:rPr lang="ru-RU" dirty="0"/>
              <a:t>Логические операции:</a:t>
            </a:r>
          </a:p>
          <a:p>
            <a:pPr lvl="1"/>
            <a:r>
              <a:rPr lang="ru-RU" dirty="0" err="1"/>
              <a:t>and</a:t>
            </a:r>
            <a:r>
              <a:rPr lang="ru-RU" dirty="0"/>
              <a:t> </a:t>
            </a:r>
            <a:r>
              <a:rPr lang="ru-RU" dirty="0" err="1"/>
              <a:t>dst</a:t>
            </a:r>
            <a:r>
              <a:rPr lang="ru-RU" dirty="0"/>
              <a:t>, </a:t>
            </a:r>
            <a:r>
              <a:rPr lang="ru-RU" dirty="0" err="1"/>
              <a:t>src</a:t>
            </a:r>
            <a:r>
              <a:rPr lang="ru-RU" dirty="0"/>
              <a:t> — побитовое И </a:t>
            </a:r>
          </a:p>
          <a:p>
            <a:pPr lvl="1"/>
            <a:r>
              <a:rPr lang="ru-RU" dirty="0" err="1"/>
              <a:t>or</a:t>
            </a:r>
            <a:r>
              <a:rPr lang="ru-RU" dirty="0"/>
              <a:t> </a:t>
            </a:r>
            <a:r>
              <a:rPr lang="ru-RU" dirty="0" err="1"/>
              <a:t>dst</a:t>
            </a:r>
            <a:r>
              <a:rPr lang="ru-RU" dirty="0"/>
              <a:t>, </a:t>
            </a:r>
            <a:r>
              <a:rPr lang="ru-RU" dirty="0" err="1"/>
              <a:t>src</a:t>
            </a:r>
            <a:r>
              <a:rPr lang="ru-RU" dirty="0"/>
              <a:t> — побитовое ИЛИ </a:t>
            </a:r>
          </a:p>
          <a:p>
            <a:pPr lvl="1"/>
            <a:r>
              <a:rPr lang="ru-RU" dirty="0" err="1"/>
              <a:t>xor</a:t>
            </a:r>
            <a:r>
              <a:rPr lang="ru-RU" dirty="0"/>
              <a:t> </a:t>
            </a:r>
            <a:r>
              <a:rPr lang="ru-RU" dirty="0" err="1"/>
              <a:t>dst</a:t>
            </a:r>
            <a:r>
              <a:rPr lang="ru-RU" dirty="0"/>
              <a:t>, </a:t>
            </a:r>
            <a:r>
              <a:rPr lang="ru-RU" dirty="0" err="1"/>
              <a:t>src</a:t>
            </a:r>
            <a:r>
              <a:rPr lang="ru-RU" dirty="0"/>
              <a:t> — исключающее ИЛИ </a:t>
            </a:r>
          </a:p>
          <a:p>
            <a:pPr lvl="1"/>
            <a:r>
              <a:rPr lang="ru-RU" dirty="0" err="1"/>
              <a:t>not</a:t>
            </a:r>
            <a:r>
              <a:rPr lang="ru-RU" dirty="0"/>
              <a:t> </a:t>
            </a:r>
            <a:r>
              <a:rPr lang="ru-RU" dirty="0" err="1"/>
              <a:t>dst</a:t>
            </a:r>
            <a:r>
              <a:rPr lang="ru-RU" dirty="0"/>
              <a:t> — побитовое отрицание </a:t>
            </a:r>
          </a:p>
          <a:p>
            <a:r>
              <a:rPr lang="ru-RU" dirty="0"/>
              <a:t>Проверка без сохранения:</a:t>
            </a:r>
          </a:p>
          <a:p>
            <a:pPr lvl="1"/>
            <a:r>
              <a:rPr lang="ru-RU" dirty="0" err="1"/>
              <a:t>test</a:t>
            </a:r>
            <a:r>
              <a:rPr lang="ru-RU" dirty="0"/>
              <a:t> a, b</a:t>
            </a:r>
            <a:br>
              <a:rPr lang="ru-RU" dirty="0"/>
            </a:br>
            <a:r>
              <a:rPr lang="ru-RU" dirty="0"/>
              <a:t>→ выполняет a &amp; b</a:t>
            </a:r>
            <a:br>
              <a:rPr lang="ru-RU" dirty="0"/>
            </a:br>
            <a:r>
              <a:rPr lang="ru-RU" dirty="0"/>
              <a:t>→ результат не сохраняется</a:t>
            </a:r>
            <a:br>
              <a:rPr lang="ru-RU" dirty="0"/>
            </a:br>
            <a:r>
              <a:rPr lang="ru-RU" dirty="0"/>
              <a:t>→ изменяются флаги </a:t>
            </a:r>
          </a:p>
          <a:p>
            <a:r>
              <a:rPr lang="ru-RU" dirty="0"/>
              <a:t>Эти инструкции изменяют флаги и обычно используются перед условными переходами</a:t>
            </a:r>
          </a:p>
        </p:txBody>
      </p:sp>
    </p:spTree>
    <p:extLst>
      <p:ext uri="{BB962C8B-B14F-4D97-AF65-F5344CB8AC3E}">
        <p14:creationId xmlns:p14="http://schemas.microsoft.com/office/powerpoint/2010/main" val="2712783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93FE5-65B2-C7EB-7AB0-33BB1E16E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Инструкции перехода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EF520-EE6B-123C-9FCE-946354E9D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Безусловный переход:</a:t>
            </a:r>
          </a:p>
          <a:p>
            <a:pPr lvl="1"/>
            <a:r>
              <a:rPr lang="en-US" dirty="0" err="1"/>
              <a:t>jmp</a:t>
            </a:r>
            <a:r>
              <a:rPr lang="en-US" dirty="0"/>
              <a:t> label — </a:t>
            </a:r>
            <a:r>
              <a:rPr lang="ru-RU" dirty="0"/>
              <a:t>переход всегда </a:t>
            </a:r>
          </a:p>
          <a:p>
            <a:r>
              <a:rPr lang="ru-RU" dirty="0"/>
              <a:t>Условные переходы (по флагам):</a:t>
            </a:r>
          </a:p>
          <a:p>
            <a:pPr lvl="1"/>
            <a:r>
              <a:rPr lang="en-US" dirty="0"/>
              <a:t>je / </a:t>
            </a:r>
            <a:r>
              <a:rPr lang="en-US" dirty="0" err="1"/>
              <a:t>jz</a:t>
            </a:r>
            <a:r>
              <a:rPr lang="en-US" dirty="0"/>
              <a:t> — </a:t>
            </a:r>
            <a:r>
              <a:rPr lang="ru-RU" dirty="0"/>
              <a:t>равно (</a:t>
            </a:r>
            <a:r>
              <a:rPr lang="en-US" dirty="0"/>
              <a:t>ZF = 1) </a:t>
            </a:r>
          </a:p>
          <a:p>
            <a:pPr lvl="1"/>
            <a:r>
              <a:rPr lang="en-US" dirty="0" err="1"/>
              <a:t>jne</a:t>
            </a:r>
            <a:r>
              <a:rPr lang="en-US" dirty="0"/>
              <a:t> / </a:t>
            </a:r>
            <a:r>
              <a:rPr lang="en-US" dirty="0" err="1"/>
              <a:t>jnz</a:t>
            </a:r>
            <a:r>
              <a:rPr lang="en-US" dirty="0"/>
              <a:t> — </a:t>
            </a:r>
            <a:r>
              <a:rPr lang="ru-RU" dirty="0"/>
              <a:t>не равно (</a:t>
            </a:r>
            <a:r>
              <a:rPr lang="en-US" dirty="0"/>
              <a:t>ZF = 0) </a:t>
            </a:r>
          </a:p>
          <a:p>
            <a:r>
              <a:rPr lang="ru-RU" dirty="0"/>
              <a:t>Сравнение чисел:</a:t>
            </a:r>
          </a:p>
          <a:p>
            <a:pPr lvl="1"/>
            <a:r>
              <a:rPr lang="ru-RU" dirty="0"/>
              <a:t>Знаковые:</a:t>
            </a:r>
          </a:p>
          <a:p>
            <a:pPr lvl="2"/>
            <a:r>
              <a:rPr lang="en-US" dirty="0" err="1"/>
              <a:t>jg</a:t>
            </a:r>
            <a:r>
              <a:rPr lang="en-US" dirty="0"/>
              <a:t> — </a:t>
            </a:r>
            <a:r>
              <a:rPr lang="ru-RU" dirty="0"/>
              <a:t>больше (</a:t>
            </a:r>
            <a:r>
              <a:rPr lang="en-US" dirty="0"/>
              <a:t>jump if greater) </a:t>
            </a:r>
          </a:p>
          <a:p>
            <a:pPr lvl="2"/>
            <a:r>
              <a:rPr lang="en-US" dirty="0" err="1"/>
              <a:t>jl</a:t>
            </a:r>
            <a:r>
              <a:rPr lang="en-US" dirty="0"/>
              <a:t> — </a:t>
            </a:r>
            <a:r>
              <a:rPr lang="ru-RU" dirty="0"/>
              <a:t>меньше (</a:t>
            </a:r>
            <a:r>
              <a:rPr lang="en-US" dirty="0"/>
              <a:t>jump if less) </a:t>
            </a:r>
          </a:p>
          <a:p>
            <a:pPr lvl="2"/>
            <a:r>
              <a:rPr lang="en-US" dirty="0" err="1"/>
              <a:t>jge</a:t>
            </a:r>
            <a:r>
              <a:rPr lang="en-US" dirty="0"/>
              <a:t> — ≥ </a:t>
            </a:r>
          </a:p>
          <a:p>
            <a:pPr lvl="2"/>
            <a:r>
              <a:rPr lang="en-US" dirty="0" err="1"/>
              <a:t>jle</a:t>
            </a:r>
            <a:r>
              <a:rPr lang="en-US" dirty="0"/>
              <a:t> — ≤ </a:t>
            </a:r>
          </a:p>
          <a:p>
            <a:pPr lvl="1"/>
            <a:r>
              <a:rPr lang="ru-RU" dirty="0"/>
              <a:t>Беззнаковые:</a:t>
            </a:r>
          </a:p>
          <a:p>
            <a:pPr lvl="2"/>
            <a:r>
              <a:rPr lang="en-US" dirty="0"/>
              <a:t>ja — </a:t>
            </a:r>
            <a:r>
              <a:rPr lang="ru-RU" dirty="0"/>
              <a:t>больше (</a:t>
            </a:r>
            <a:r>
              <a:rPr lang="en-US" dirty="0"/>
              <a:t>above) </a:t>
            </a:r>
          </a:p>
          <a:p>
            <a:pPr lvl="2"/>
            <a:r>
              <a:rPr lang="en-US" dirty="0" err="1"/>
              <a:t>jb</a:t>
            </a:r>
            <a:r>
              <a:rPr lang="en-US" dirty="0"/>
              <a:t> / </a:t>
            </a:r>
            <a:r>
              <a:rPr lang="en-US" dirty="0" err="1"/>
              <a:t>jc</a:t>
            </a:r>
            <a:r>
              <a:rPr lang="en-US" dirty="0"/>
              <a:t> — </a:t>
            </a:r>
            <a:r>
              <a:rPr lang="ru-RU" dirty="0"/>
              <a:t>меньше (</a:t>
            </a:r>
            <a:r>
              <a:rPr lang="en-US" dirty="0"/>
              <a:t>below / carry)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переходы используют флаги после </a:t>
            </a:r>
            <a:r>
              <a:rPr lang="ru-RU" dirty="0" err="1"/>
              <a:t>cmp</a:t>
            </a:r>
            <a:r>
              <a:rPr lang="ru-RU" dirty="0"/>
              <a:t> / </a:t>
            </a:r>
            <a:r>
              <a:rPr lang="ru-RU" dirty="0" err="1"/>
              <a:t>test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разные инструкции — разные интерпретации флагов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916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D8706B-7A38-3AA9-9C09-4746A0EA7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Пример, подсчёт символов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9CFA1D-8145-CAD0-2D08-722970F86A1B}"/>
              </a:ext>
            </a:extLst>
          </p:cNvPr>
          <p:cNvSpPr txBox="1"/>
          <p:nvPr/>
        </p:nvSpPr>
        <p:spPr>
          <a:xfrm>
            <a:off x="838200" y="1690688"/>
            <a:ext cx="5054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RSI —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адрес строки,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AL —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символ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rcx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rcx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loop: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mov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rsi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je done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al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next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rcx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next: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rsi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loop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done: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5537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6CCB0E5-1301-DF98-11EC-E7A93F0B8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Вызов подпрограмм и работа со стеком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9FA4F0-4D58-B33E-328C-5EA3CD355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Основные инструкции:</a:t>
            </a:r>
          </a:p>
          <a:p>
            <a:pPr lvl="1"/>
            <a:r>
              <a:rPr lang="ru-RU" dirty="0" err="1"/>
              <a:t>call</a:t>
            </a:r>
            <a:r>
              <a:rPr lang="ru-RU" dirty="0"/>
              <a:t> </a:t>
            </a:r>
            <a:r>
              <a:rPr lang="ru-RU" dirty="0" err="1"/>
              <a:t>label</a:t>
            </a:r>
            <a:r>
              <a:rPr lang="ru-RU" dirty="0"/>
              <a:t> — вызов функции </a:t>
            </a:r>
          </a:p>
          <a:p>
            <a:pPr lvl="1"/>
            <a:r>
              <a:rPr lang="ru-RU" dirty="0" err="1"/>
              <a:t>ret</a:t>
            </a:r>
            <a:r>
              <a:rPr lang="ru-RU" dirty="0"/>
              <a:t> — возврат из функции </a:t>
            </a:r>
          </a:p>
          <a:p>
            <a:r>
              <a:rPr lang="ru-RU" dirty="0"/>
              <a:t>Что делает </a:t>
            </a:r>
            <a:r>
              <a:rPr lang="ru-RU" dirty="0" err="1"/>
              <a:t>call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сохраняет адрес возврата в стек </a:t>
            </a:r>
          </a:p>
          <a:p>
            <a:pPr lvl="1"/>
            <a:r>
              <a:rPr lang="ru-RU" dirty="0"/>
              <a:t>передаёт управление функции </a:t>
            </a:r>
          </a:p>
          <a:p>
            <a:r>
              <a:rPr lang="ru-RU" dirty="0"/>
              <a:t>Что делает </a:t>
            </a:r>
            <a:r>
              <a:rPr lang="ru-RU" dirty="0" err="1"/>
              <a:t>ret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извлекает адрес из стека </a:t>
            </a:r>
          </a:p>
          <a:p>
            <a:pPr lvl="1"/>
            <a:r>
              <a:rPr lang="ru-RU" dirty="0"/>
              <a:t>возвращает управление </a:t>
            </a:r>
          </a:p>
          <a:p>
            <a:r>
              <a:rPr lang="ru-RU" dirty="0"/>
              <a:t>Работа со стеком:</a:t>
            </a:r>
          </a:p>
          <a:p>
            <a:pPr lvl="1"/>
            <a:r>
              <a:rPr lang="ru-RU" dirty="0" err="1"/>
              <a:t>push</a:t>
            </a:r>
            <a:r>
              <a:rPr lang="ru-RU" dirty="0"/>
              <a:t> </a:t>
            </a:r>
            <a:r>
              <a:rPr lang="ru-RU" dirty="0" err="1"/>
              <a:t>reg</a:t>
            </a:r>
            <a:r>
              <a:rPr lang="ru-RU" dirty="0"/>
              <a:t> — поместить значение в стек </a:t>
            </a:r>
          </a:p>
          <a:p>
            <a:pPr lvl="1"/>
            <a:r>
              <a:rPr lang="ru-RU" dirty="0" err="1"/>
              <a:t>pop</a:t>
            </a:r>
            <a:r>
              <a:rPr lang="ru-RU" dirty="0"/>
              <a:t> </a:t>
            </a:r>
            <a:r>
              <a:rPr lang="ru-RU" dirty="0" err="1"/>
              <a:t>reg</a:t>
            </a:r>
            <a:r>
              <a:rPr lang="ru-RU" dirty="0"/>
              <a:t> — извлечь значение из стека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стек используется для хранения состояния </a:t>
            </a:r>
          </a:p>
          <a:p>
            <a:pPr lvl="1"/>
            <a:r>
              <a:rPr lang="ru-RU" dirty="0"/>
              <a:t>функции могут сохранять регистры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629852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26C10-7C16-7C57-8960-FE4A76E42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Соглашение о вызовах (</a:t>
            </a:r>
            <a:r>
              <a:rPr lang="en-US" dirty="0"/>
              <a:t>ABI)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AF591-EF3D-782B-5DEE-38A279A6C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ABI (Application Binary Interface)</a:t>
            </a:r>
            <a:r>
              <a:rPr lang="ru-RU" dirty="0"/>
              <a:t> </a:t>
            </a:r>
            <a:r>
              <a:rPr lang="en-US" dirty="0"/>
              <a:t>— </a:t>
            </a:r>
            <a:r>
              <a:rPr lang="ru-RU" dirty="0"/>
              <a:t>правила взаимодействия функций</a:t>
            </a:r>
          </a:p>
          <a:p>
            <a:r>
              <a:rPr lang="en-US" dirty="0"/>
              <a:t>System V ABI (Linux, macOS):</a:t>
            </a:r>
          </a:p>
          <a:p>
            <a:pPr lvl="1"/>
            <a:r>
              <a:rPr lang="ru-RU" dirty="0"/>
              <a:t>Аргументы: </a:t>
            </a:r>
            <a:r>
              <a:rPr lang="en-US" dirty="0"/>
              <a:t>RDI, RSI, RDX, RCX, R8, R9 </a:t>
            </a:r>
          </a:p>
          <a:p>
            <a:pPr lvl="1"/>
            <a:r>
              <a:rPr lang="ru-RU" dirty="0"/>
              <a:t>Возврат: </a:t>
            </a:r>
            <a:r>
              <a:rPr lang="en-US" dirty="0"/>
              <a:t>RAX </a:t>
            </a:r>
          </a:p>
          <a:p>
            <a:r>
              <a:rPr lang="ru-RU" dirty="0"/>
              <a:t>Регистры:</a:t>
            </a:r>
          </a:p>
          <a:p>
            <a:pPr lvl="1"/>
            <a:r>
              <a:rPr lang="en-US" dirty="0"/>
              <a:t>caller-saved</a:t>
            </a:r>
            <a:r>
              <a:rPr lang="ru-RU" dirty="0"/>
              <a:t> (сохраняет вызывающая функция)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RAX, RCX, RDX, RSI, RDI, R8–R11 </a:t>
            </a:r>
          </a:p>
          <a:p>
            <a:pPr lvl="1"/>
            <a:r>
              <a:rPr lang="en-US" dirty="0"/>
              <a:t>callee-saved</a:t>
            </a:r>
            <a:r>
              <a:rPr lang="ru-RU" dirty="0"/>
              <a:t> (сохраняет вызываемая функция)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RBX, RBP, R12–R15 </a:t>
            </a:r>
          </a:p>
          <a:p>
            <a:r>
              <a:rPr lang="ru-RU" dirty="0"/>
              <a:t>Стек используется при нехватке регистров  и должен быть выровнен на границу 16 байт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4754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431FD-9E70-C28C-D1E4-46D3D8868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функции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9F99A4-D25B-9EA9-56E3-7989548A6F6E}"/>
              </a:ext>
            </a:extLst>
          </p:cNvPr>
          <p:cNvSpPr txBox="1"/>
          <p:nvPr/>
        </p:nvSpPr>
        <p:spPr>
          <a:xfrm>
            <a:off x="838200" y="1690688"/>
            <a:ext cx="482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+ b * c;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63C1A-9C99-703A-B05E-4CB93653CF39}"/>
              </a:ext>
            </a:extLst>
          </p:cNvPr>
          <p:cNvSpPr txBox="1"/>
          <p:nvPr/>
        </p:nvSpPr>
        <p:spPr>
          <a:xfrm>
            <a:off x="6096000" y="1690688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a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b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c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edx</a:t>
            </a:r>
            <a:endParaRPr lang="ru-RU" b="0" dirty="0">
              <a:solidFill>
                <a:srgbClr val="74531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imul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edx</a:t>
            </a: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b *= c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mov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; result = a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add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result += b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ret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90127D-1EC7-4D93-2BF7-32F6C5857863}"/>
              </a:ext>
            </a:extLst>
          </p:cNvPr>
          <p:cNvSpPr txBox="1"/>
          <p:nvPr/>
        </p:nvSpPr>
        <p:spPr>
          <a:xfrm>
            <a:off x="6096000" y="4290149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более эффективный вариант</a:t>
            </a:r>
            <a:endParaRPr lang="ru-RU" b="0" dirty="0">
              <a:solidFill>
                <a:srgbClr val="74531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imul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edx</a:t>
            </a: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b *= c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lea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; result = a + b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ret</a:t>
            </a:r>
          </a:p>
        </p:txBody>
      </p:sp>
    </p:spTree>
    <p:extLst>
      <p:ext uri="{BB962C8B-B14F-4D97-AF65-F5344CB8AC3E}">
        <p14:creationId xmlns:p14="http://schemas.microsoft.com/office/powerpoint/2010/main" val="21732897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D6A0E-097A-D977-C651-A0182FAC9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Связка </a:t>
            </a:r>
            <a:r>
              <a:rPr lang="en-US" dirty="0"/>
              <a:t>C </a:t>
            </a:r>
            <a:r>
              <a:rPr lang="ru-RU" dirty="0"/>
              <a:t>и ассемблера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7A9B09-DEA1-5DF2-96DB-727FFA63E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ru-RU" dirty="0"/>
              <a:t>Способы использования:</a:t>
            </a:r>
          </a:p>
          <a:p>
            <a:pPr lvl="1"/>
            <a:r>
              <a:rPr lang="ru-RU" dirty="0"/>
              <a:t>отдельные .s / .</a:t>
            </a:r>
            <a:r>
              <a:rPr lang="ru-RU" dirty="0" err="1"/>
              <a:t>asm</a:t>
            </a:r>
            <a:r>
              <a:rPr lang="ru-RU" dirty="0"/>
              <a:t> файлы </a:t>
            </a:r>
          </a:p>
          <a:p>
            <a:pPr lvl="1"/>
            <a:r>
              <a:rPr lang="ru-RU" dirty="0" err="1"/>
              <a:t>inline-assembler</a:t>
            </a:r>
            <a:r>
              <a:rPr lang="ru-RU" dirty="0"/>
              <a:t> (внутри C)</a:t>
            </a:r>
          </a:p>
          <a:p>
            <a:r>
              <a:rPr lang="ru-RU" dirty="0"/>
              <a:t>Компиляция:</a:t>
            </a:r>
          </a:p>
          <a:p>
            <a:pPr lvl="1"/>
            <a:r>
              <a:rPr lang="en-US" dirty="0" err="1"/>
              <a:t>gcc</a:t>
            </a:r>
            <a:r>
              <a:rPr lang="en-US" dirty="0"/>
              <a:t> </a:t>
            </a:r>
            <a:r>
              <a:rPr lang="en-US" dirty="0" err="1"/>
              <a:t>main.c</a:t>
            </a:r>
            <a:r>
              <a:rPr lang="en-US" dirty="0"/>
              <a:t> </a:t>
            </a:r>
            <a:r>
              <a:rPr lang="en-US" dirty="0" err="1"/>
              <a:t>sum.s</a:t>
            </a:r>
            <a:r>
              <a:rPr lang="en-US" dirty="0"/>
              <a:t> -o program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DEDEA6-C289-3294-7DED-89C04257C677}"/>
              </a:ext>
            </a:extLst>
          </p:cNvPr>
          <p:cNvSpPr txBox="1"/>
          <p:nvPr/>
        </p:nvSpPr>
        <p:spPr>
          <a:xfrm>
            <a:off x="6362700" y="1825625"/>
            <a:ext cx="35687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main.c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041BD7-6171-0CC5-D879-FC5889A50B8A}"/>
              </a:ext>
            </a:extLst>
          </p:cNvPr>
          <p:cNvSpPr txBox="1"/>
          <p:nvPr/>
        </p:nvSpPr>
        <p:spPr>
          <a:xfrm>
            <a:off x="6362700" y="4206843"/>
            <a:ext cx="49911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sum.s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intel_syntax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noprefix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.global sum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sum: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lea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ret</a:t>
            </a:r>
          </a:p>
        </p:txBody>
      </p:sp>
    </p:spTree>
    <p:extLst>
      <p:ext uri="{BB962C8B-B14F-4D97-AF65-F5344CB8AC3E}">
        <p14:creationId xmlns:p14="http://schemas.microsoft.com/office/powerpoint/2010/main" val="27725826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7B1AB-4E45-8712-BCBC-218CDA7B9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C9E67-6747-7D7A-26A1-0138CD9BD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 познакомились с архитектурой x86-64:</a:t>
            </a:r>
          </a:p>
          <a:p>
            <a:pPr lvl="1"/>
            <a:r>
              <a:rPr lang="ru-RU" dirty="0"/>
              <a:t>регистры и их организация </a:t>
            </a:r>
          </a:p>
          <a:p>
            <a:pPr lvl="1"/>
            <a:r>
              <a:rPr lang="ru-RU" dirty="0"/>
              <a:t>базовые инструкции </a:t>
            </a:r>
          </a:p>
          <a:p>
            <a:pPr lvl="1"/>
            <a:r>
              <a:rPr lang="ru-RU" dirty="0"/>
              <a:t>флаги и переходы </a:t>
            </a:r>
          </a:p>
          <a:p>
            <a:pPr lvl="1"/>
            <a:r>
              <a:rPr lang="ru-RU" dirty="0"/>
              <a:t>вызовы функций и ABI </a:t>
            </a:r>
          </a:p>
          <a:p>
            <a:r>
              <a:rPr lang="ru-RU" dirty="0"/>
              <a:t>Вы теперь умеете:</a:t>
            </a:r>
          </a:p>
          <a:p>
            <a:pPr lvl="1"/>
            <a:r>
              <a:rPr lang="ru-RU" dirty="0"/>
              <a:t>читать простой </a:t>
            </a:r>
            <a:r>
              <a:rPr lang="ru-RU" dirty="0" err="1"/>
              <a:t>asm</a:t>
            </a:r>
            <a:r>
              <a:rPr lang="ru-RU" dirty="0"/>
              <a:t>-код </a:t>
            </a:r>
          </a:p>
          <a:p>
            <a:pPr lvl="1"/>
            <a:r>
              <a:rPr lang="ru-RU" dirty="0"/>
              <a:t>сопоставлять C и ассемблер </a:t>
            </a:r>
          </a:p>
          <a:p>
            <a:pPr lvl="1"/>
            <a:r>
              <a:rPr lang="ru-RU" dirty="0"/>
              <a:t>понимать выполнение программы на уровне инструкций </a:t>
            </a:r>
          </a:p>
        </p:txBody>
      </p:sp>
    </p:spTree>
    <p:extLst>
      <p:ext uri="{BB962C8B-B14F-4D97-AF65-F5344CB8AC3E}">
        <p14:creationId xmlns:p14="http://schemas.microsoft.com/office/powerpoint/2010/main" val="1478258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5860</Words>
  <Application>Microsoft Office PowerPoint</Application>
  <PresentationFormat>Widescreen</PresentationFormat>
  <Paragraphs>775</Paragraphs>
  <Slides>33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Aptos</vt:lpstr>
      <vt:lpstr>Aptos Display</vt:lpstr>
      <vt:lpstr>Arial</vt:lpstr>
      <vt:lpstr>Consolas</vt:lpstr>
      <vt:lpstr>Office Theme</vt:lpstr>
      <vt:lpstr>Ассемблер для архитектуры x86-64</vt:lpstr>
      <vt:lpstr>Что мы уже изучили</vt:lpstr>
      <vt:lpstr>Переход к архитектуре x86-64</vt:lpstr>
      <vt:lpstr>Эволюционный характер архитектуры x86</vt:lpstr>
      <vt:lpstr>Ранние этапы развития x86</vt:lpstr>
      <vt:lpstr>Дальнейшее развитие архитектуры</vt:lpstr>
      <vt:lpstr>Переход к 64-битной архитектуре</vt:lpstr>
      <vt:lpstr>Что будем изучать</vt:lpstr>
      <vt:lpstr>Регистры процессора в архитектуре x86-64</vt:lpstr>
      <vt:lpstr>Регистры процессора</vt:lpstr>
      <vt:lpstr>Регистры общего назначения</vt:lpstr>
      <vt:lpstr>Роли регистров</vt:lpstr>
      <vt:lpstr>Работа с частями регистров</vt:lpstr>
      <vt:lpstr>Особенности работы с частями регистров</vt:lpstr>
      <vt:lpstr>Специальные регистры и управление выполнением</vt:lpstr>
      <vt:lpstr>Регистр флагов (RFLAGS)</vt:lpstr>
      <vt:lpstr>Основные флаги</vt:lpstr>
      <vt:lpstr>Регистры управления и сегментные регистры</vt:lpstr>
      <vt:lpstr>Описание инструкций</vt:lpstr>
      <vt:lpstr>Синтаксис и формат инструкций</vt:lpstr>
      <vt:lpstr>Привести пример intel vs at&amp;t</vt:lpstr>
      <vt:lpstr>Инструкции пересылки данных</vt:lpstr>
      <vt:lpstr>Пример: C и ассемблер</vt:lpstr>
      <vt:lpstr>Арифметические инструкции</vt:lpstr>
      <vt:lpstr>Пример: среднее значение</vt:lpstr>
      <vt:lpstr>Сравнение и логические операции</vt:lpstr>
      <vt:lpstr>Инструкции перехода</vt:lpstr>
      <vt:lpstr>Пример, подсчёт символов</vt:lpstr>
      <vt:lpstr>Вызов подпрограмм и работа со стеком</vt:lpstr>
      <vt:lpstr>Соглашение о вызовах (ABI)</vt:lpstr>
      <vt:lpstr>Пример функции</vt:lpstr>
      <vt:lpstr>Связка C и ассемблера</vt:lpstr>
      <vt:lpstr>Итоги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113</cp:revision>
  <dcterms:created xsi:type="dcterms:W3CDTF">2026-04-24T20:23:49Z</dcterms:created>
  <dcterms:modified xsi:type="dcterms:W3CDTF">2026-04-25T09:05:05Z</dcterms:modified>
</cp:coreProperties>
</file>