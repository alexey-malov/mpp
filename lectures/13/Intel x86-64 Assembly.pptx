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68" r:id="rId13"/>
    <p:sldId id="267" r:id="rId14"/>
    <p:sldId id="270" r:id="rId15"/>
    <p:sldId id="271" r:id="rId16"/>
    <p:sldId id="273" r:id="rId17"/>
    <p:sldId id="274" r:id="rId18"/>
    <p:sldId id="272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2" r:id="rId54"/>
    <p:sldId id="311" r:id="rId55"/>
    <p:sldId id="313" r:id="rId56"/>
    <p:sldId id="314" r:id="rId57"/>
    <p:sldId id="315" r:id="rId58"/>
    <p:sldId id="316" r:id="rId59"/>
    <p:sldId id="317" r:id="rId60"/>
    <p:sldId id="319" r:id="rId61"/>
    <p:sldId id="320" r:id="rId62"/>
    <p:sldId id="318" r:id="rId63"/>
    <p:sldId id="321" r:id="rId64"/>
    <p:sldId id="323" r:id="rId65"/>
    <p:sldId id="322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3" autoAdjust="0"/>
    <p:restoredTop sz="61864" autoAdjust="0"/>
  </p:normalViewPr>
  <p:slideViewPr>
    <p:cSldViewPr snapToGrid="0" showGuides="1">
      <p:cViewPr varScale="1">
        <p:scale>
          <a:sx n="65" d="100"/>
          <a:sy n="65" d="100"/>
        </p:scale>
        <p:origin x="193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48878-87EC-475B-B3A3-F73BE034A91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8A247-C9B4-47E1-BD4C-605C98C5F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9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прошлой лекции мы подробно разобрали архитектуру процессора Intel 8080.</a:t>
            </a:r>
          </a:p>
          <a:p>
            <a:endParaRPr lang="ru-RU" dirty="0"/>
          </a:p>
          <a:p>
            <a:r>
              <a:rPr lang="ru-RU" dirty="0"/>
              <a:t>Это была учебная модель, но на её примере вы увидели все ключевые элементы: регистры, память, инструкции, стек, переходы управления.</a:t>
            </a:r>
          </a:p>
          <a:p>
            <a:endParaRPr lang="ru-RU" dirty="0"/>
          </a:p>
          <a:p>
            <a:r>
              <a:rPr lang="ru-RU" dirty="0"/>
              <a:t>Вы разобрали, как процессор выполняет программу шаг за шагом: выбор инструкции, декодирование, выполнение.</a:t>
            </a:r>
          </a:p>
          <a:p>
            <a:r>
              <a:rPr lang="ru-RU" dirty="0"/>
              <a:t>И это самый важный результат.</a:t>
            </a:r>
          </a:p>
          <a:p>
            <a:endParaRPr lang="ru-RU" dirty="0"/>
          </a:p>
          <a:p>
            <a:r>
              <a:rPr lang="ru-RU" dirty="0"/>
              <a:t>Потому что теперь вы понимаете не просто синтаксис ассемблера, а саму суть: как программа превращается в действия процессора.</a:t>
            </a:r>
          </a:p>
          <a:p>
            <a:endParaRPr lang="ru-RU" dirty="0"/>
          </a:p>
          <a:p>
            <a:r>
              <a:rPr lang="ru-RU" dirty="0"/>
              <a:t>И именно с этим пониманием мы можем двигаться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35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переходим к архитектуре x86-64 — это архитектура, которая используется в современных процессорах персональных компьютеров и серверов. Именно под неё компилируются программы на языке C и других языках высокого уровня.</a:t>
            </a:r>
          </a:p>
          <a:p>
            <a:endParaRPr lang="ru-RU" dirty="0"/>
          </a:p>
          <a:p>
            <a:r>
              <a:rPr lang="ru-RU" dirty="0"/>
              <a:t>Важно подчеркнуть, что при этом не происходит смены парадигмы. Все ключевые элементы, которые мы уже изучили, сохраняются: регистры, память, стек, инструкции и управление потоком выполнения.</a:t>
            </a:r>
          </a:p>
          <a:p>
            <a:endParaRPr lang="ru-RU" dirty="0"/>
          </a:p>
          <a:p>
            <a:r>
              <a:rPr lang="ru-RU" dirty="0"/>
              <a:t>Таким образом, мы не начинаем изучение заново. Мы переносим уже сформированное понимание на более сложную и более реалистичную архитектуру.</a:t>
            </a:r>
          </a:p>
          <a:p>
            <a:endParaRPr lang="ru-RU" dirty="0"/>
          </a:p>
          <a:p>
            <a:r>
              <a:rPr lang="ru-RU" dirty="0"/>
              <a:t>Основное отличие будет заключаться в масштабе и деталях: больше регистров, более развитая система команд, более сложные способы адресации и взаимодействие с операционной системой.</a:t>
            </a:r>
          </a:p>
          <a:p>
            <a:r>
              <a:rPr lang="ru-RU" dirty="0"/>
              <a:t>Именно это мы и будем постепенно разбирать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31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Архитура</a:t>
            </a:r>
            <a:r>
              <a:rPr lang="ru-RU" dirty="0"/>
              <a:t> x86 принципиально отличается от учебных моделей тем, что она не была спроектирована «с нуля» как единое целое.</a:t>
            </a:r>
          </a:p>
          <a:p>
            <a:endParaRPr lang="ru-RU" dirty="0"/>
          </a:p>
          <a:p>
            <a:r>
              <a:rPr lang="ru-RU" dirty="0"/>
              <a:t>Она формировалась на протяжении десятилетий. Каждое новое поколение процессоров добавляло новые возможности, при этом сохранялась обратная совместимость с ранее написанным программным обеспечением.</a:t>
            </a:r>
          </a:p>
          <a:p>
            <a:r>
              <a:rPr lang="ru-RU" dirty="0"/>
              <a:t>Это означает, что современные процессоры должны уметь выполнять код, написанный десятки лет назад.</a:t>
            </a:r>
          </a:p>
          <a:p>
            <a:endParaRPr lang="ru-RU" dirty="0"/>
          </a:p>
          <a:p>
            <a:r>
              <a:rPr lang="ru-RU" dirty="0"/>
              <a:t>В результате архитектура представляет собой совокупность решений, накопленных со временем. Это приводит к увеличению сложности и появлению особенностей, которые не всегда выглядят логичными с точки зрения чистого проектирования.</a:t>
            </a:r>
          </a:p>
          <a:p>
            <a:endParaRPr lang="ru-RU" dirty="0"/>
          </a:p>
          <a:p>
            <a:r>
              <a:rPr lang="ru-RU" dirty="0"/>
              <a:t>Понимание этого факта важно: многие элементы x86 объясняются не оптимальностью, а историей развития.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31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Архитектура x86 начинается с процессора 8086, который был 16-битным и использовал сегментную модель памяти.</a:t>
            </a:r>
          </a:p>
          <a:p>
            <a:r>
              <a:rPr lang="ru-RU" dirty="0"/>
              <a:t>Эта модель позволяла адресовать больше памяти, чем позволял размер регистра, но была достаточно сложной в использовании.</a:t>
            </a:r>
          </a:p>
          <a:p>
            <a:endParaRPr lang="ru-RU" dirty="0"/>
          </a:p>
          <a:p>
            <a:r>
              <a:rPr lang="ru-RU" dirty="0"/>
              <a:t>Следующим важным шагом стал 80286, в котором появился защищённый режим — важный механизм для операционных систем, обеспечивающий изоляцию процессов.</a:t>
            </a:r>
          </a:p>
          <a:p>
            <a:endParaRPr lang="ru-RU" dirty="0"/>
          </a:p>
          <a:p>
            <a:r>
              <a:rPr lang="ru-RU" dirty="0"/>
              <a:t>Ключевой этап развития — процессор 80386. В нём была реализована полноценная 32-битная архитектура, значительно расширено адресное пространство и заложены основы той модели памяти, которую мы используем сегодня.</a:t>
            </a:r>
          </a:p>
          <a:p>
            <a:endParaRPr lang="ru-RU" dirty="0"/>
          </a:p>
          <a:p>
            <a:r>
              <a:rPr lang="ru-RU" dirty="0"/>
              <a:t>Важно отметить, что в этот период существовали и активно развивались альтернативные архитектуры, такие как MIPS и </a:t>
            </a:r>
            <a:r>
              <a:rPr lang="ru-RU" dirty="0" err="1"/>
              <a:t>PowerPC</a:t>
            </a:r>
            <a:r>
              <a:rPr lang="ru-RU" dirty="0"/>
              <a:t>. Во многих случаях они были более простыми и демонстрировали высокую производительность.</a:t>
            </a:r>
          </a:p>
          <a:p>
            <a:r>
              <a:rPr lang="ru-RU" dirty="0"/>
              <a:t>Тем не менее, архитектура x86 продолжила развитие и заняла доминирующее положение.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0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Дальнейшее развитие архитектуры x86 было направлено прежде всего на повышение производительности.</a:t>
            </a:r>
          </a:p>
          <a:p>
            <a:endParaRPr lang="ru-RU" dirty="0"/>
          </a:p>
          <a:p>
            <a:r>
              <a:rPr lang="ru-RU" dirty="0"/>
              <a:t>В процессоре 80486 произошло объединение компонентов: математический сопроцессор стал частью основного процессора, а также появилась встроенная кэш-память.</a:t>
            </a:r>
          </a:p>
          <a:p>
            <a:endParaRPr lang="ru-RU" dirty="0"/>
          </a:p>
          <a:p>
            <a:r>
              <a:rPr lang="ru-RU" dirty="0"/>
              <a:t>В архитектуре Pentium были реализованы более сложные механизмы, такие как </a:t>
            </a:r>
            <a:r>
              <a:rPr lang="ru-RU" dirty="0" err="1"/>
              <a:t>суперскалярность</a:t>
            </a:r>
            <a:r>
              <a:rPr lang="ru-RU" dirty="0"/>
              <a:t> — возможность выполнять несколько инструкций параллельно.</a:t>
            </a:r>
          </a:p>
          <a:p>
            <a:endParaRPr lang="ru-RU" dirty="0"/>
          </a:p>
          <a:p>
            <a:r>
              <a:rPr lang="ru-RU" dirty="0"/>
              <a:t>При этом важно, что внешняя модель программирования практически не изменилась. Программы продолжали работать без существенных изменений.</a:t>
            </a:r>
          </a:p>
          <a:p>
            <a:endParaRPr lang="ru-RU" dirty="0"/>
          </a:p>
          <a:p>
            <a:r>
              <a:rPr lang="ru-RU" dirty="0"/>
              <a:t>Альтернативные архитектуры, такие как MIPS и </a:t>
            </a:r>
            <a:r>
              <a:rPr lang="ru-RU" dirty="0" err="1"/>
              <a:t>PowerPC</a:t>
            </a:r>
            <a:r>
              <a:rPr lang="ru-RU" dirty="0"/>
              <a:t>, также развивались и нередко превосходили x86 по отдельным характеристикам. Однако за счёт совместимости, широкой экосистемы и распространённости именно x86 смог закрепиться как основной стандарт для персональных компьютеров.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52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 началу 2000-х годов стало очевидно, что 32-битной архитектуры уже недостаточно. Основное ограничение — это объём адресуемой памяти.</a:t>
            </a:r>
          </a:p>
          <a:p>
            <a:r>
              <a:rPr lang="ru-RU" dirty="0"/>
              <a:t>Перед индустрией встал вопрос: как перейти к 64-битной архитектуре.</a:t>
            </a:r>
          </a:p>
          <a:p>
            <a:endParaRPr lang="ru-RU" dirty="0"/>
          </a:p>
          <a:p>
            <a:r>
              <a:rPr lang="ru-RU" dirty="0"/>
              <a:t>Компания Intel предложила радикальный подход — разработку полностью новой архитектуры IA-64, также известной как Itanium. Эта архитектура не была совместима с x86, что означало необходимость переписывания программного обеспечения.</a:t>
            </a:r>
          </a:p>
          <a:p>
            <a:endParaRPr lang="ru-RU" dirty="0"/>
          </a:p>
          <a:p>
            <a:r>
              <a:rPr lang="ru-RU" dirty="0"/>
              <a:t>Параллельно компания AMD предложила другой путь — эволюционный. </a:t>
            </a:r>
            <a:r>
              <a:rPr lang="ru-RU" dirty="0" err="1"/>
              <a:t>Архиктура</a:t>
            </a:r>
            <a:r>
              <a:rPr lang="ru-RU" dirty="0"/>
              <a:t> x86 была расширена до 64 бит с сохранением обратной совместимости.</a:t>
            </a:r>
          </a:p>
          <a:p>
            <a:r>
              <a:rPr lang="ru-RU" dirty="0"/>
              <a:t>Этот подход оказался более практичным: существующие программы продолжали работать, а новые могли использовать расширенные возможности.</a:t>
            </a:r>
          </a:p>
          <a:p>
            <a:endParaRPr lang="ru-RU" dirty="0"/>
          </a:p>
          <a:p>
            <a:r>
              <a:rPr lang="ru-RU" dirty="0"/>
              <a:t>В результате именно x86-64, или AMD64, стал стандартом. В дальнейшем даже Intel приняла этот подход.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9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следующих этапах курса мы будем последовательно изучать архитектуру x86-64.</a:t>
            </a:r>
          </a:p>
          <a:p>
            <a:endParaRPr lang="ru-RU" dirty="0"/>
          </a:p>
          <a:p>
            <a:r>
              <a:rPr lang="ru-RU" dirty="0"/>
              <a:t>Сначала разберём регистры и базовые инструкции, затем перейдём к более сложным аспектам, таким как режимы адресации и соглашения о вызовах функций.</a:t>
            </a:r>
          </a:p>
          <a:p>
            <a:r>
              <a:rPr lang="ru-RU" dirty="0"/>
              <a:t>Особое внимание будет уделено практической стороне.</a:t>
            </a:r>
          </a:p>
          <a:p>
            <a:endParaRPr lang="ru-RU" dirty="0"/>
          </a:p>
          <a:p>
            <a:r>
              <a:rPr lang="ru-RU" dirty="0"/>
              <a:t>Вы научитесь читать ассемблерный код и понимать, как программы на языке C преобразуются в последовательности инструкций процессора.</a:t>
            </a:r>
          </a:p>
          <a:p>
            <a:r>
              <a:rPr lang="ru-RU" dirty="0"/>
              <a:t>В результате вы сможете анализировать выполнение программы на более глубоком уровне и лучше понимать, что происходит «под капотом» при работе с кодом.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33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Регистры — это самая быстрая память, доступная процессору. Они находятся непосредственно внутри процессора и используются практически в каждой инструкции.</a:t>
            </a:r>
          </a:p>
          <a:p>
            <a:endParaRPr lang="ru-RU" dirty="0"/>
          </a:p>
          <a:p>
            <a:r>
              <a:rPr lang="ru-RU" dirty="0"/>
              <a:t>В отличие от оперативной памяти, доступ к регистрам осуществляется значительно быстрее.</a:t>
            </a:r>
          </a:p>
          <a:p>
            <a:endParaRPr lang="ru-RU" dirty="0"/>
          </a:p>
          <a:p>
            <a:r>
              <a:rPr lang="ru-RU" dirty="0"/>
              <a:t>Именно в регистрах хранятся операнды инструкций, промежуточные результаты вычислений, а также данные, необходимые для управления выполнением программы.</a:t>
            </a:r>
          </a:p>
          <a:p>
            <a:endParaRPr lang="ru-RU" dirty="0"/>
          </a:p>
          <a:p>
            <a:r>
              <a:rPr lang="ru-RU" dirty="0"/>
              <a:t>По сути, регистры — это рабочая область процессора.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01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архитектуре x86-64 доступно 16 регистров общего назначения. Это существенное отличие от 8080, где регистров было значительно меньше.</a:t>
            </a:r>
          </a:p>
          <a:p>
            <a:r>
              <a:rPr lang="ru-RU" dirty="0"/>
              <a:t>Регистры RAX, RBX, RCX и RDX исторически являются базовыми.</a:t>
            </a:r>
          </a:p>
          <a:p>
            <a:endParaRPr lang="ru-RU" dirty="0"/>
          </a:p>
          <a:p>
            <a:r>
              <a:rPr lang="ru-RU" dirty="0"/>
              <a:t>RSI и RDI часто используются для работы с памятью и передачи аргументов.</a:t>
            </a:r>
          </a:p>
          <a:p>
            <a:r>
              <a:rPr lang="ru-RU" dirty="0"/>
              <a:t>RBP и RSP связаны со стеком.</a:t>
            </a:r>
          </a:p>
          <a:p>
            <a:endParaRPr lang="ru-RU" dirty="0"/>
          </a:p>
          <a:p>
            <a:r>
              <a:rPr lang="ru-RU" dirty="0"/>
              <a:t>Дополнительно введены регистры R8–R15, которые расширяют возможности работы с данными.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12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у регистров есть определённые роли.</a:t>
            </a:r>
          </a:p>
          <a:p>
            <a:endParaRPr lang="ru-RU" dirty="0"/>
          </a:p>
          <a:p>
            <a:r>
              <a:rPr lang="ru-RU" dirty="0"/>
              <a:t>Например, RAX часто используется как аккумулятор — для хранения результатов вычислений.</a:t>
            </a:r>
          </a:p>
          <a:p>
            <a:endParaRPr lang="ru-RU" dirty="0"/>
          </a:p>
          <a:p>
            <a:r>
              <a:rPr lang="ru-RU" dirty="0"/>
              <a:t>RCX традиционно используется как счётчик, например, в циклах.</a:t>
            </a:r>
          </a:p>
          <a:p>
            <a:endParaRPr lang="ru-RU" dirty="0"/>
          </a:p>
          <a:p>
            <a:r>
              <a:rPr lang="ru-RU" dirty="0"/>
              <a:t>RSP — это указатель стека, а RBP используется для работы со стековым кадром функции.</a:t>
            </a:r>
          </a:p>
          <a:p>
            <a:endParaRPr lang="ru-RU" dirty="0"/>
          </a:p>
          <a:p>
            <a:r>
              <a:rPr lang="ru-RU" dirty="0"/>
              <a:t>Однако важно понимать, что в современных компиляторах эти роли не являются жёсткими. Большинство регистров можно использовать универсально.</a:t>
            </a:r>
          </a:p>
          <a:p>
            <a:endParaRPr lang="ru-RU" dirty="0"/>
          </a:p>
          <a:p>
            <a:r>
              <a:rPr lang="ru-RU" dirty="0"/>
              <a:t>Тем не менее, соглашения о вызовах функций накладывают определённые ограничения, о которых мы поговорим позже.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11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важная особенность архитектуры x86 — возможность обращаться к разным частям одного и того же регистра.</a:t>
            </a:r>
          </a:p>
          <a:p>
            <a:endParaRPr lang="ru-RU" dirty="0"/>
          </a:p>
          <a:p>
            <a:r>
              <a:rPr lang="ru-RU" dirty="0"/>
              <a:t>Например, регистр RAX можно использовать как 64-битный, как 32-битный (EAX), как 16-битный (AX) и как 8-битный (AL).</a:t>
            </a:r>
          </a:p>
          <a:p>
            <a:endParaRPr lang="ru-RU" dirty="0"/>
          </a:p>
          <a:p>
            <a:r>
              <a:rPr lang="ru-RU" dirty="0"/>
              <a:t>Это историческое наследие, которое обеспечивает совместимость с предыдущими поколениями процессоров.</a:t>
            </a:r>
          </a:p>
          <a:p>
            <a:endParaRPr lang="ru-RU" dirty="0"/>
          </a:p>
          <a:p>
            <a:r>
              <a:rPr lang="ru-RU" dirty="0"/>
              <a:t>При этом важно помнить, что работа с младшими частями регистра может влиять на старшие биты. Эти детали мы будем рассматривать отдельно.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81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архитектуре x86-64 один и тот же регистр можно использовать через разные имена: как 64-битный, 32-битный, 16-битный или 8-битный.</a:t>
            </a:r>
          </a:p>
          <a:p>
            <a:r>
              <a:rPr lang="ru-RU" dirty="0"/>
              <a:t>При этом важно понимать, что это не разные регистры, а разные представления одного и того же физического регистра. Их части перекрываются.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ключевой момент — поведение при записи.</a:t>
            </a:r>
          </a:p>
          <a:p>
            <a:r>
              <a:rPr lang="ru-RU" dirty="0"/>
              <a:t>Если мы записываем значение в 64-битный регистр, например в RAX, то изменяются все 64 бита — это очевидно.</a:t>
            </a:r>
          </a:p>
          <a:p>
            <a:endParaRPr lang="en-US" dirty="0"/>
          </a:p>
          <a:p>
            <a:r>
              <a:rPr lang="ru-RU" dirty="0"/>
              <a:t>Если мы записываем в 32-битный регистр, например в EAX, происходит важная вещь: старшие 32 бита регистра RAX автоматически обнуляются. Это поведение гарантировано архитектурой x86-64 и используется компиляторами.</a:t>
            </a:r>
          </a:p>
          <a:p>
            <a:endParaRPr lang="ru-RU" dirty="0"/>
          </a:p>
          <a:p>
            <a:r>
              <a:rPr lang="ru-RU" dirty="0"/>
              <a:t>А вот если мы записываем в 16-битную или 8-битную часть, например в AX или AL, то изменяется только соответствующая часть регистра, а остальные биты остаются без изменений.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различие принципиально важно и часто становится источником ошибок.</a:t>
            </a:r>
          </a:p>
          <a:p>
            <a:r>
              <a:rPr lang="ru-RU" dirty="0"/>
              <a:t>Отдельно стоит отметить, что новые регистры R8–R15 устроены более регулярно: у них нет “старших байтов” вроде AH или BH, что упрощает работу с ними и делает архитектуру более предсказуемой.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43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регистров общего назначения, в архитектуре x86-64 есть регистры, которые напрямую участвуют в управлении выполнением программы.</a:t>
            </a:r>
          </a:p>
          <a:p>
            <a:endParaRPr lang="ru-RU" dirty="0"/>
          </a:p>
          <a:p>
            <a:r>
              <a:rPr lang="ru-RU" dirty="0"/>
              <a:t>Первый из них — RIP,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 Он хранит адрес следующей инструкции, которая будет выполнена. В обычном режиме он изменяется автоматически после каждой инструкции, но может быть явно изменён командами перехода, вызова функций и возврата.</a:t>
            </a:r>
          </a:p>
          <a:p>
            <a:endParaRPr lang="ru-RU" dirty="0"/>
          </a:p>
          <a:p>
            <a:r>
              <a:rPr lang="ru-RU" dirty="0"/>
              <a:t>Далее, RSP — это указатель стека. Он всегда указывает на вершину стека. Инструкции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изменяют его значение, добавляя или удаляя данные. Также он используется инструкциями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Регистр RBP — это базовый указатель стекового кадра. Он используется для организации доступа к локальным переменным и параметрам функции. В современных компиляторах его использование может быть оптимизировано, но концептуально он остаётся важным.</a:t>
            </a:r>
          </a:p>
          <a:p>
            <a:endParaRPr lang="ru-RU" dirty="0"/>
          </a:p>
          <a:p>
            <a:r>
              <a:rPr lang="ru-RU" dirty="0"/>
              <a:t>И, наконец, регистр RFLAGS. Он содержит набор флагов, отражающих состояние процессора после выполнения инструкций. Например, результат арифметических операций влияет на флаги, и на их основе выполняются условные переходы.</a:t>
            </a:r>
          </a:p>
          <a:p>
            <a:endParaRPr lang="ru-RU" dirty="0"/>
          </a:p>
          <a:p>
            <a:r>
              <a:rPr lang="ru-RU" dirty="0"/>
              <a:t>Таким образом, эти регистры обеспечивают управление потоком выполнения программы, работу со стеком и реализацию условной логики.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31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архитектуре x86-64 есть специальный регистр — RFLAGS, который хранит состояние процессора.</a:t>
            </a:r>
          </a:p>
          <a:p>
            <a:r>
              <a:rPr lang="ru-RU" dirty="0"/>
              <a:t>После выполнения многих инструкций, особенно арифметических, процессор автоматически устанавливает определённые флаги.</a:t>
            </a:r>
          </a:p>
          <a:p>
            <a:r>
              <a:rPr lang="ru-RU" dirty="0"/>
              <a:t>Эти флаги не нужно вычислять вручную — они являются побочным результатом выполнения инструкции.</a:t>
            </a:r>
          </a:p>
          <a:p>
            <a:r>
              <a:rPr lang="ru-RU" dirty="0"/>
              <a:t>Далее они используются другими инструкциями, прежде всего условными переходами.</a:t>
            </a:r>
          </a:p>
          <a:p>
            <a:r>
              <a:rPr lang="ru-RU" dirty="0"/>
              <a:t>Таким образом, флаги — это механизм, который связывает вычисления и управление потоком выполнения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68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основные флаги, которые используются чаще всего.</a:t>
            </a:r>
          </a:p>
          <a:p>
            <a:endParaRPr lang="ru-RU" dirty="0"/>
          </a:p>
          <a:p>
            <a:r>
              <a:rPr lang="ru-RU" dirty="0"/>
              <a:t>Zero </a:t>
            </a:r>
            <a:r>
              <a:rPr lang="ru-RU" dirty="0" err="1"/>
              <a:t>Flag</a:t>
            </a:r>
            <a:r>
              <a:rPr lang="ru-RU" dirty="0"/>
              <a:t> — устанавливается, если результат операции равен нулю.</a:t>
            </a:r>
          </a:p>
          <a:p>
            <a:r>
              <a:rPr lang="ru-RU" dirty="0"/>
              <a:t>Carry </a:t>
            </a:r>
            <a:r>
              <a:rPr lang="ru-RU" dirty="0" err="1"/>
              <a:t>Flag</a:t>
            </a:r>
            <a:r>
              <a:rPr lang="ru-RU" dirty="0"/>
              <a:t> — используется при беззнаковой арифметике и показывает наличие переноса или </a:t>
            </a:r>
            <a:r>
              <a:rPr lang="ru-RU" dirty="0" err="1"/>
              <a:t>заёма</a:t>
            </a:r>
            <a:r>
              <a:rPr lang="ru-RU" dirty="0"/>
              <a:t>.</a:t>
            </a:r>
          </a:p>
          <a:p>
            <a:r>
              <a:rPr lang="ru-RU" dirty="0" err="1"/>
              <a:t>Sign</a:t>
            </a:r>
            <a:r>
              <a:rPr lang="ru-RU" dirty="0"/>
              <a:t> </a:t>
            </a:r>
            <a:r>
              <a:rPr lang="ru-RU" dirty="0" err="1"/>
              <a:t>Flag</a:t>
            </a:r>
            <a:r>
              <a:rPr lang="ru-RU" dirty="0"/>
              <a:t> отражает знак результата — фактически это старший бит.</a:t>
            </a:r>
          </a:p>
          <a:p>
            <a:r>
              <a:rPr lang="ru-RU" dirty="0" err="1"/>
              <a:t>Overflow</a:t>
            </a:r>
            <a:r>
              <a:rPr lang="ru-RU" dirty="0"/>
              <a:t> </a:t>
            </a:r>
            <a:r>
              <a:rPr lang="ru-RU" dirty="0" err="1"/>
              <a:t>Flag</a:t>
            </a:r>
            <a:r>
              <a:rPr lang="ru-RU" dirty="0"/>
              <a:t> показывает переполнение при знаковой арифметике, когда результат не помещается в отведённый диапазон.</a:t>
            </a:r>
          </a:p>
          <a:p>
            <a:endParaRPr lang="ru-RU" dirty="0"/>
          </a:p>
          <a:p>
            <a:r>
              <a:rPr lang="ru-RU" dirty="0"/>
              <a:t>Важно понимать, что один и тот же результат может интерпретироваться по-разному: как знаковый или беззнаковый. Именно поэтому существуют разные флаги.</a:t>
            </a:r>
          </a:p>
          <a:p>
            <a:r>
              <a:rPr lang="ru-RU" dirty="0"/>
              <a:t>Позже мы увидим, как на основе этих флагов работают условные переходы.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4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Кроме рассмотренных регистров, в архитектуре x86-64 существуют регистры управления и сегментные регистры.</a:t>
            </a:r>
          </a:p>
          <a:p>
            <a:r>
              <a:rPr lang="ru-RU" dirty="0"/>
              <a:t>Регистры управления, такие как CR0, CR2, CR3 и CR4, используются для настройки режима работы процессора. В частности, через них реализуется поддержка виртуальной памяти и механизмы защиты. Эти регистры доступны только на уровне операционной системы.</a:t>
            </a:r>
          </a:p>
          <a:p>
            <a:endParaRPr lang="ru-RU" dirty="0"/>
          </a:p>
          <a:p>
            <a:r>
              <a:rPr lang="ru-RU" dirty="0"/>
              <a:t>Сегментные регистры — CS, DS, SS, ES, FS и GS — являются частью исторической модели сегментной адресации.</a:t>
            </a:r>
          </a:p>
          <a:p>
            <a:r>
              <a:rPr lang="ru-RU" dirty="0"/>
              <a:t>В 64-битном режиме их роль существенно изменена. Регистры CS, DS, ES и SS практически не участвуют в адресации: используется плоская модель памяти.</a:t>
            </a:r>
          </a:p>
          <a:p>
            <a:endParaRPr lang="ru-RU" dirty="0"/>
          </a:p>
          <a:p>
            <a:r>
              <a:rPr lang="ru-RU" dirty="0"/>
              <a:t>Однако регистры FS и GS сохраняют практическое значение. Они используются, например, для доступа к данным, связанным с текущим потоком выполнения.</a:t>
            </a:r>
          </a:p>
          <a:p>
            <a:endParaRPr lang="ru-RU" dirty="0"/>
          </a:p>
          <a:p>
            <a:r>
              <a:rPr lang="ru-RU" dirty="0"/>
              <a:t>Важно понимать, что настройка сегментации и связанных с ней структур выполняется операционной системой. Пользовательский код не управляет этими механизмами напрямую, хотя может использовать их в ограниченном виде.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60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архитектуре x86-64 существует два синтаксиса записи инструкций: Intel и AT&amp;T. В рамках курса мы будем использовать синтаксис Intel, так как он более читаемый и ближе к логике большинства учебных материалов.</a:t>
            </a:r>
          </a:p>
          <a:p>
            <a:endParaRPr lang="ru-RU" dirty="0"/>
          </a:p>
          <a:p>
            <a:r>
              <a:rPr lang="ru-RU" dirty="0"/>
              <a:t>Важная особенность архитектуры x86 — переменная длина инструкций. В отличие от 8080, где код операции занимал один байт, здесь он может занимать несколько байт.</a:t>
            </a:r>
          </a:p>
          <a:p>
            <a:endParaRPr lang="ru-RU" dirty="0"/>
          </a:p>
          <a:p>
            <a:r>
              <a:rPr lang="ru-RU" dirty="0"/>
              <a:t>Полная длина инструкции может достигать 15 байт. Это принципиально отличает x86 от архитектур вроде ARM, где инструкции имеют фиксированную длину. Это влияет на сложность декодирования, но даёт больше гибкости.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73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dirty="0"/>
              <a:t> используется для копирования данных между операндами.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Она поддерживает различные комбинации: между регистрами, из памяти в регистр, из регистра в память, а также загрузку непосредственного значения.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 выглядит похожей, но имеет другую семантику — она не загружает данные из памяти, а вычисляет адрес и помещает его в регистр.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68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показана функция </a:t>
            </a:r>
            <a:r>
              <a:rPr lang="ru-RU" dirty="0" err="1"/>
              <a:t>swap</a:t>
            </a:r>
            <a:r>
              <a:rPr lang="ru-RU" dirty="0"/>
              <a:t>, которая обменивает значения двух переменных по указателям.</a:t>
            </a:r>
          </a:p>
          <a:p>
            <a:endParaRPr lang="en-US" dirty="0"/>
          </a:p>
          <a:p>
            <a:r>
              <a:rPr lang="ru-RU" dirty="0"/>
              <a:t>Адреса переменных передаются через регистры RSI и RDI — это соответствует соглашению о вызовах, которое мы позже разберём подробнее.</a:t>
            </a:r>
          </a:p>
          <a:p>
            <a:r>
              <a:rPr lang="ru-RU" dirty="0"/>
              <a:t>Сначала значение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загружается в регистр EAX. Это временное значение — аналог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tmp</a:t>
            </a:r>
            <a:r>
              <a:rPr lang="ru-RU" dirty="0"/>
              <a:t> в C.</a:t>
            </a:r>
          </a:p>
          <a:p>
            <a:r>
              <a:rPr lang="ru-RU" dirty="0"/>
              <a:t>Затем загружается значение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в регистр EDX.</a:t>
            </a:r>
            <a:r>
              <a:rPr lang="en-US" dirty="0"/>
              <a:t> </a:t>
            </a:r>
            <a:r>
              <a:rPr lang="ru-RU" dirty="0"/>
              <a:t>После этого выполняется запись: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*b</a:t>
            </a:r>
            <a:r>
              <a:rPr lang="ru-RU" dirty="0"/>
              <a:t> записывается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а сохранённое ранее значение записывается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Обратите внимание, что работа идёт не с самими регистрами RSI и RDI, а с памятью по адресам, которые в них хранятся.</a:t>
            </a:r>
          </a:p>
          <a:p>
            <a:endParaRPr lang="en-US" dirty="0"/>
          </a:p>
          <a:p>
            <a:r>
              <a:rPr lang="ru-RU" dirty="0"/>
              <a:t>Этот пример хорошо иллюстрирует, как указатели в C могут соответствовать работе с памятью в ассемблере.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02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Арифметические инструкции в x86-64 устроены не полностью симметрично, и это связано с историческим развитием архитектуры.</a:t>
            </a:r>
          </a:p>
          <a:p>
            <a:endParaRPr lang="ru-RU" dirty="0"/>
          </a:p>
          <a:p>
            <a:r>
              <a:rPr lang="ru-RU" dirty="0"/>
              <a:t>Сложение и вычитание работают достаточно просто: вы можете выполнять операции над различными регистрами, и результат записывается в указанный регистр. Это наиболее «естественные» инструкции с точки зрения программирования.</a:t>
            </a:r>
          </a:p>
          <a:p>
            <a:endParaRPr lang="ru-RU" dirty="0"/>
          </a:p>
          <a:p>
            <a:r>
              <a:rPr lang="ru-RU" dirty="0"/>
              <a:t>С умножением ситуация немного сложнее. В современной форме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imul</a:t>
            </a:r>
            <a:r>
              <a:rPr lang="ru-RU" dirty="0"/>
              <a:t> позволяет явно указать регистр назначения, и в этом смысле она уже достаточно гибкая.</a:t>
            </a:r>
          </a:p>
          <a:p>
            <a:endParaRPr lang="ru-RU" dirty="0"/>
          </a:p>
          <a:p>
            <a:r>
              <a:rPr lang="ru-RU" dirty="0"/>
              <a:t>А вот деление устроено существенно более жёстко.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idiv</a:t>
            </a:r>
            <a:r>
              <a:rPr lang="ru-RU" dirty="0"/>
              <a:t> использует фиксированные регистры.</a:t>
            </a:r>
          </a:p>
          <a:p>
            <a:r>
              <a:rPr lang="ru-RU" dirty="0"/>
              <a:t>Делимое должно находиться не просто в одном регистре, а в паре регистров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RDX:RAX</a:t>
            </a:r>
            <a:r>
              <a:rPr lang="ru-RU" dirty="0"/>
              <a:t>. Это означает, что число представляется как 128-битное значение, где: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содержит младшие 64 бита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dirty="0"/>
              <a:t> — старшие 64 бита </a:t>
            </a:r>
          </a:p>
          <a:p>
            <a:endParaRPr lang="ru-RU" dirty="0"/>
          </a:p>
          <a:p>
            <a:r>
              <a:rPr lang="ru-RU" dirty="0"/>
              <a:t>Перед выполнением деления необходимо правильно подготовить это значение. Для этого используется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cqo</a:t>
            </a:r>
            <a:r>
              <a:rPr lang="ru-RU" dirty="0"/>
              <a:t>.</a:t>
            </a:r>
          </a:p>
          <a:p>
            <a:r>
              <a:rPr lang="ru-RU" dirty="0"/>
              <a:t>Она выполняет знаковое расширение: копирует знак числа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во все биты регистра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число положительное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dirty="0"/>
              <a:t> становится равным 0, если отрицательное — заполняется единицами.</a:t>
            </a:r>
          </a:p>
          <a:p>
            <a:r>
              <a:rPr lang="ru-RU" dirty="0"/>
              <a:t>После этого можно выполнять деление, и результат будет распределён по регистрах: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частное помещается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остаток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Таким образом, в отличие от сложения и вычитания, операция деления требует строгого соблюдения соглашений по использованию регистров и предварительной подготовки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979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программы, которая вычисляет среднее арифметическое трёх целых чисел.</a:t>
            </a:r>
          </a:p>
          <a:p>
            <a:endParaRPr lang="ru-RU" dirty="0"/>
          </a:p>
          <a:p>
            <a:r>
              <a:rPr lang="ru-RU" dirty="0"/>
              <a:t>Предполагается, что аргументы функции уже находятся в регистрах: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. Это соответствует соглашению о вызовах, которое мы позже разберём подробнее.</a:t>
            </a:r>
          </a:p>
          <a:p>
            <a:endParaRPr lang="ru-RU" dirty="0"/>
          </a:p>
          <a:p>
            <a:r>
              <a:rPr lang="ru-RU" dirty="0"/>
              <a:t>Сначала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копируется в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. Именно этот регистр будет использоваться для накопления результата.</a:t>
            </a:r>
          </a:p>
          <a:p>
            <a:r>
              <a:rPr lang="ru-RU" dirty="0"/>
              <a:t>Затем к нему последовательно прибавляются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. В результате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оказывается сумма трёх чисел.</a:t>
            </a:r>
          </a:p>
          <a:p>
            <a:endParaRPr lang="ru-RU" dirty="0"/>
          </a:p>
          <a:p>
            <a:r>
              <a:rPr lang="ru-RU" dirty="0"/>
              <a:t>После этого в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r>
              <a:rPr lang="ru-RU" dirty="0"/>
              <a:t> загружается значение 3 — делитель.</a:t>
            </a:r>
          </a:p>
          <a:p>
            <a:r>
              <a:rPr lang="ru-RU" dirty="0"/>
              <a:t>Перед выполнением деления вызывается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cdq</a:t>
            </a:r>
            <a:r>
              <a:rPr lang="ru-RU" dirty="0"/>
              <a:t>. Она выполняет знаковое расширение: копирует знак числа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в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, подготавливая пару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EDX:EAX</a:t>
            </a:r>
            <a:r>
              <a:rPr lang="ru-RU" dirty="0"/>
              <a:t> для операции деления.</a:t>
            </a:r>
          </a:p>
          <a:p>
            <a:r>
              <a:rPr lang="ru-RU" dirty="0"/>
              <a:t>Далее выполняется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idiv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r>
              <a:rPr lang="ru-RU" dirty="0"/>
              <a:t>. Она делит значение, находящееся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EDX:EAX</a:t>
            </a:r>
            <a:r>
              <a:rPr lang="ru-RU" dirty="0"/>
              <a:t>,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r>
              <a:rPr lang="ru-RU" dirty="0"/>
              <a:t>. Частное записывается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, а остаток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после выполнения деления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находится результат — среднее арифметическое трёх чисел.</a:t>
            </a:r>
          </a:p>
          <a:p>
            <a:r>
              <a:rPr lang="ru-RU" dirty="0"/>
              <a:t>И, наконец,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 завершает выполнение функции, возвращая результат через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604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Инструкции сравнения и логические операции играют ключевую роль в управлении потоком выполнения программы.</a:t>
            </a:r>
          </a:p>
          <a:p>
            <a:endParaRPr lang="ru-RU" dirty="0"/>
          </a:p>
          <a:p>
            <a:r>
              <a:rPr lang="ru-RU" dirty="0"/>
              <a:t>Начнём с инструкции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dirty="0"/>
              <a:t>. Она выполняет вычитание второго операнда из первого, но не сохраняет результат. Вместо этого она только устанавливает флаги в регистре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RFLAGS</a:t>
            </a:r>
            <a:r>
              <a:rPr lang="ru-RU" dirty="0"/>
              <a:t>.</a:t>
            </a:r>
          </a:p>
          <a:p>
            <a:r>
              <a:rPr lang="ru-RU" dirty="0"/>
              <a:t>Например, если значения равны, будет установлен флаг нуля. Если одно значение больше или меньше другого — соответствующим образом изменятся другие флаги.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dirty="0"/>
              <a:t> — это способ подготовить флаги для последующего условного перехода.</a:t>
            </a:r>
          </a:p>
          <a:p>
            <a:endParaRPr lang="ru-RU" dirty="0"/>
          </a:p>
          <a:p>
            <a:r>
              <a:rPr lang="ru-RU" dirty="0"/>
              <a:t>Логические операции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xor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ru-RU" dirty="0"/>
              <a:t> — выполняют побитовые операции над данными.</a:t>
            </a:r>
          </a:p>
          <a:p>
            <a:r>
              <a:rPr lang="ru-RU" dirty="0"/>
              <a:t>Они могут использоваться как для вычислений, так и для проверки определённых свойств значений, например, проверки отдельных битов.</a:t>
            </a:r>
          </a:p>
          <a:p>
            <a:r>
              <a:rPr lang="ru-RU" dirty="0"/>
              <a:t>Особое место занимает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ru-RU" dirty="0"/>
              <a:t>. Она похожа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ru-RU" dirty="0"/>
              <a:t>, но не сохраняет результат, а только обновляет флаги.</a:t>
            </a:r>
          </a:p>
          <a:p>
            <a:r>
              <a:rPr lang="ru-RU" dirty="0"/>
              <a:t>Это удобно, когда нужно проверить значение, не изменяя его.</a:t>
            </a:r>
          </a:p>
          <a:p>
            <a:endParaRPr lang="ru-RU" dirty="0"/>
          </a:p>
          <a:p>
            <a:r>
              <a:rPr lang="ru-RU" dirty="0"/>
              <a:t>Важно понимать, что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dirty="0"/>
              <a:t>, и логические инструкции изменяют флаги, и именно на этих флагах основана работа условных переходов, которые мы рассмотрим дальше.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53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Инструкции перехода изменяют поток выполнения программы, то есть значение регистра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Самая простая инструкция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ru-RU" dirty="0"/>
              <a:t>, безусловный переход. Она всегда передаёт управление на указанную метку.</a:t>
            </a:r>
          </a:p>
          <a:p>
            <a:endParaRPr lang="ru-RU" dirty="0"/>
          </a:p>
          <a:p>
            <a:r>
              <a:rPr lang="ru-RU" dirty="0"/>
              <a:t>Гораздо более интересны условные переходы. Они выполняются или не выполняются в зависимости от состояния флагов, установленных предыдущими инструкциями, чаще всего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важный момент — как читать мнемоники.</a:t>
            </a:r>
          </a:p>
          <a:p>
            <a:r>
              <a:rPr lang="ru-RU" dirty="0"/>
              <a:t>Например: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jg</a:t>
            </a:r>
            <a:r>
              <a:rPr lang="ru-RU" dirty="0"/>
              <a:t> — это </a:t>
            </a:r>
            <a:r>
              <a:rPr lang="ru-RU" i="1" dirty="0" err="1"/>
              <a:t>jump</a:t>
            </a:r>
            <a:r>
              <a:rPr lang="ru-RU" i="1" dirty="0"/>
              <a:t> </a:t>
            </a:r>
            <a:r>
              <a:rPr lang="ru-RU" i="1" dirty="0" err="1"/>
              <a:t>if</a:t>
            </a:r>
            <a:r>
              <a:rPr lang="ru-RU" i="1" dirty="0"/>
              <a:t> </a:t>
            </a:r>
            <a:r>
              <a:rPr lang="ru-RU" i="1" dirty="0" err="1"/>
              <a:t>greater</a:t>
            </a:r>
            <a:r>
              <a:rPr lang="ru-RU" dirty="0"/>
              <a:t>, переход если больше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jl</a:t>
            </a:r>
            <a:r>
              <a:rPr lang="ru-RU" dirty="0"/>
              <a:t> — </a:t>
            </a:r>
            <a:r>
              <a:rPr lang="ru-RU" i="1" dirty="0" err="1"/>
              <a:t>jump</a:t>
            </a:r>
            <a:r>
              <a:rPr lang="ru-RU" i="1" dirty="0"/>
              <a:t> </a:t>
            </a:r>
            <a:r>
              <a:rPr lang="ru-RU" i="1" dirty="0" err="1"/>
              <a:t>if</a:t>
            </a:r>
            <a:r>
              <a:rPr lang="ru-RU" i="1" dirty="0"/>
              <a:t> </a:t>
            </a:r>
            <a:r>
              <a:rPr lang="ru-RU" i="1" dirty="0" err="1"/>
              <a:t>less</a:t>
            </a:r>
            <a:r>
              <a:rPr lang="ru-RU" dirty="0"/>
              <a:t>, переход если меньше </a:t>
            </a:r>
          </a:p>
          <a:p>
            <a:endParaRPr lang="ru-RU" dirty="0"/>
          </a:p>
          <a:p>
            <a:r>
              <a:rPr lang="ru-RU" dirty="0"/>
              <a:t>Но здесь есть важное различие: часть инструкций предназначена для </a:t>
            </a:r>
            <a:r>
              <a:rPr lang="ru-RU" b="1" dirty="0"/>
              <a:t>знаковых чисел</a:t>
            </a:r>
            <a:r>
              <a:rPr lang="ru-RU" dirty="0"/>
              <a:t>, а часть — для </a:t>
            </a:r>
            <a:r>
              <a:rPr lang="ru-RU" b="1" dirty="0"/>
              <a:t>беззнаковых</a:t>
            </a:r>
            <a:r>
              <a:rPr lang="ru-RU" dirty="0"/>
              <a:t>.</a:t>
            </a:r>
          </a:p>
          <a:p>
            <a:r>
              <a:rPr lang="ru-RU" dirty="0"/>
              <a:t>Для знаковых сравнений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jg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jl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jge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jle</a:t>
            </a:r>
            <a:r>
              <a:rPr lang="ru-RU" dirty="0"/>
              <a:t>.</a:t>
            </a:r>
          </a:p>
          <a:p>
            <a:r>
              <a:rPr lang="ru-RU" dirty="0"/>
              <a:t>Для беззнаковых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</a:t>
            </a:r>
            <a:r>
              <a:rPr lang="ru-RU" dirty="0"/>
              <a:t> (</a:t>
            </a:r>
            <a:r>
              <a:rPr lang="ru-RU" dirty="0" err="1"/>
              <a:t>above</a:t>
            </a:r>
            <a:r>
              <a:rPr lang="ru-RU" dirty="0"/>
              <a:t>)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jb</a:t>
            </a:r>
            <a:r>
              <a:rPr lang="ru-RU" dirty="0"/>
              <a:t> (</a:t>
            </a:r>
            <a:r>
              <a:rPr lang="ru-RU" dirty="0" err="1"/>
              <a:t>below</a:t>
            </a:r>
            <a:r>
              <a:rPr lang="ru-RU" dirty="0"/>
              <a:t>). Эти названия специально отличаются, чтобы подчеркнуть, что речь идёт не о «больше/меньше», а о сравнении без учёта знака.</a:t>
            </a:r>
          </a:p>
          <a:p>
            <a:endParaRPr lang="ru-RU" dirty="0"/>
          </a:p>
          <a:p>
            <a:r>
              <a:rPr lang="ru-RU" dirty="0"/>
              <a:t>Теперь про синонимы.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jz</a:t>
            </a:r>
            <a:r>
              <a:rPr lang="ru-RU" dirty="0"/>
              <a:t> — это одно и то же (</a:t>
            </a:r>
            <a:r>
              <a:rPr lang="ru-RU" dirty="0" err="1"/>
              <a:t>jump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equal</a:t>
            </a:r>
            <a:r>
              <a:rPr lang="ru-RU" dirty="0"/>
              <a:t> / </a:t>
            </a:r>
            <a:r>
              <a:rPr lang="ru-RU" dirty="0" err="1"/>
              <a:t>jump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zero</a:t>
            </a:r>
            <a:r>
              <a:rPr lang="ru-RU" dirty="0"/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jne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jnz</a:t>
            </a:r>
            <a:r>
              <a:rPr lang="ru-RU" dirty="0"/>
              <a:t> — аналогично </a:t>
            </a:r>
          </a:p>
          <a:p>
            <a:r>
              <a:rPr lang="ru-RU" dirty="0"/>
              <a:t>Также: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jb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jc</a:t>
            </a:r>
            <a:r>
              <a:rPr lang="ru-RU" dirty="0"/>
              <a:t> — это синонимы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jb</a:t>
            </a:r>
            <a:r>
              <a:rPr lang="ru-RU" dirty="0"/>
              <a:t> — </a:t>
            </a:r>
            <a:r>
              <a:rPr lang="ru-RU" dirty="0" err="1"/>
              <a:t>jump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jc</a:t>
            </a:r>
            <a:r>
              <a:rPr lang="ru-RU" dirty="0"/>
              <a:t> — </a:t>
            </a:r>
            <a:r>
              <a:rPr lang="ru-RU" dirty="0" err="1"/>
              <a:t>jump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carry</a:t>
            </a:r>
            <a:r>
              <a:rPr lang="ru-RU" dirty="0"/>
              <a:t> </a:t>
            </a:r>
          </a:p>
          <a:p>
            <a:r>
              <a:rPr lang="ru-RU" dirty="0"/>
              <a:t>Обе инструкции проверяют один и тот же флаг — Carry </a:t>
            </a:r>
            <a:r>
              <a:rPr lang="ru-RU" dirty="0" err="1"/>
              <a:t>Flag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Разные имена отражают разные способы интерпретации: либо как результат сравнения, либо как факт переноса.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сами инструкции не «знают», какие числа вы сравниваете. Они просто проверяют флаги. А интерпретацию — знаковую или беззнаковую — задаёт программист.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917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программы, которая подсчитывает количество вхождений заданного символа в строке.</a:t>
            </a:r>
          </a:p>
          <a:p>
            <a:r>
              <a:rPr lang="ru-RU" dirty="0"/>
              <a:t>Предполагается, что: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 регистре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dirty="0"/>
              <a:t> находится адрес строки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 регистре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</a:t>
            </a:r>
            <a:r>
              <a:rPr lang="ru-RU" dirty="0"/>
              <a:t> — символ, который нужно найти </a:t>
            </a:r>
          </a:p>
          <a:p>
            <a:endParaRPr lang="ru-RU" dirty="0"/>
          </a:p>
          <a:p>
            <a:r>
              <a:rPr lang="ru-RU" dirty="0"/>
              <a:t>Строка представлена в формате ASCIIZ, то есть завершается нулевым байтом.</a:t>
            </a:r>
          </a:p>
          <a:p>
            <a:r>
              <a:rPr lang="ru-RU" dirty="0"/>
              <a:t>Сначала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rcx</a:t>
            </a:r>
            <a:r>
              <a:rPr lang="ru-RU" dirty="0"/>
              <a:t> обнуляет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RCX</a:t>
            </a:r>
            <a:r>
              <a:rPr lang="ru-RU" dirty="0"/>
              <a:t>. Он будет использоваться как счётчик количества найденных вхождений.</a:t>
            </a:r>
          </a:p>
          <a:p>
            <a:endParaRPr lang="ru-RU" dirty="0"/>
          </a:p>
          <a:p>
            <a:r>
              <a:rPr lang="ru-RU" dirty="0"/>
              <a:t>Далее начинается цикл.</a:t>
            </a:r>
          </a:p>
          <a:p>
            <a:r>
              <a:rPr lang="ru-RU" dirty="0"/>
              <a:t>На каждой итерации из памяти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dirty="0"/>
              <a:t> загружается очередной символ строки в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</a:t>
            </a:r>
            <a:r>
              <a:rPr lang="ru-RU" dirty="0"/>
              <a:t>.</a:t>
            </a:r>
          </a:p>
          <a:p>
            <a:r>
              <a:rPr lang="ru-RU" dirty="0"/>
              <a:t>Затем выполняется проверка на конец строки: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0</a:t>
            </a:r>
            <a:r>
              <a:rPr lang="ru-RU" dirty="0"/>
              <a:t> сравнивает текущий символ с нулём. Если символ равен нулю, выполняется переход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r>
              <a:rPr lang="ru-RU" dirty="0"/>
              <a:t>, и цикл завершается.</a:t>
            </a:r>
          </a:p>
          <a:p>
            <a:endParaRPr lang="ru-RU" dirty="0"/>
          </a:p>
          <a:p>
            <a:r>
              <a:rPr lang="ru-RU" dirty="0"/>
              <a:t>Если это не конец строки, выполняется сравнение текущего символа с искомым значением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символы не равны, происходит переход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dirty="0"/>
              <a:t>, и управление передаётся к следующей итерации цикла.</a:t>
            </a:r>
          </a:p>
          <a:p>
            <a:r>
              <a:rPr lang="ru-RU" dirty="0"/>
              <a:t>Если же символ совпадает, выполняется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rcx</a:t>
            </a:r>
            <a:r>
              <a:rPr lang="ru-RU" dirty="0"/>
              <a:t>, увеличивающая счётчик.</a:t>
            </a:r>
          </a:p>
          <a:p>
            <a:r>
              <a:rPr lang="ru-RU" dirty="0"/>
              <a:t>После этого управление в любом случае переходит к метке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dirty="0"/>
              <a:t>, где увеличивается указатель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dirty="0"/>
              <a:t>, чтобы перейти к следующему символу строки.</a:t>
            </a:r>
          </a:p>
          <a:p>
            <a:endParaRPr lang="ru-RU" dirty="0"/>
          </a:p>
          <a:p>
            <a:r>
              <a:rPr lang="ru-RU" dirty="0"/>
              <a:t>Затем выполняется безусловный переход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loop</a:t>
            </a:r>
            <a:r>
              <a:rPr lang="ru-RU" dirty="0"/>
              <a:t>, и цикл повторяется.</a:t>
            </a:r>
          </a:p>
          <a:p>
            <a:r>
              <a:rPr lang="ru-RU" dirty="0"/>
              <a:t>Таким образом, программа последовательно проходит по всем символам строки до нулевого байта и подсчитывает количество совпадений.</a:t>
            </a:r>
          </a:p>
          <a:p>
            <a:r>
              <a:rPr lang="ru-RU" dirty="0"/>
              <a:t>В результате в регистре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RCX</a:t>
            </a:r>
            <a:r>
              <a:rPr lang="ru-RU" dirty="0"/>
              <a:t> остаётся количество вхождений заданного символа.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229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Вызов подпрограмм в x86-64 реализуется с помощью инструкций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выполняет две операции. Во-первых, она сохраняет адрес следующей инструкции — то есть адрес возврата — в стек. Во-вторых, она передаёт управление на указанную функцию.</a:t>
            </a:r>
          </a:p>
          <a:p>
            <a:endParaRPr lang="ru-RU" dirty="0"/>
          </a:p>
          <a:p>
            <a:r>
              <a:rPr lang="ru-RU" dirty="0"/>
              <a:t>Когда функция завершает свою работу, выполняется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. Она извлекает адрес возврата из стека и передаёт управление обратно вызывающему коду.</a:t>
            </a:r>
          </a:p>
          <a:p>
            <a:r>
              <a:rPr lang="ru-RU" dirty="0"/>
              <a:t>Таким образом, стек играет ключевую роль в механизме вызова функций.</a:t>
            </a:r>
          </a:p>
          <a:p>
            <a:endParaRPr lang="ru-RU" dirty="0"/>
          </a:p>
          <a:p>
            <a:r>
              <a:rPr lang="ru-RU" dirty="0"/>
              <a:t>Дополнительно используются инструкции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, которые позволяют явно сохранять и восстанавливать значения регистров.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необходимо, потому что при вызове функции важно не потерять значения, которые используются в вызывающем коде.</a:t>
            </a:r>
          </a:p>
          <a:p>
            <a:endParaRPr lang="ru-RU" dirty="0"/>
          </a:p>
          <a:p>
            <a:r>
              <a:rPr lang="ru-RU" dirty="0"/>
              <a:t>В результате выполнение программы можно рассматривать как последовательность вложенных вызовов, каждый из которых использует стек для хранения своего состояния.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041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разные части программы могли корректно взаимодействовать друг с другом, используется соглашение о вызовах — ABI.</a:t>
            </a:r>
          </a:p>
          <a:p>
            <a:r>
              <a:rPr lang="ru-RU" dirty="0"/>
              <a:t>ABI определяет, как передаются аргументы функции, где возвращается результат и какие регистры должны сохраняться.</a:t>
            </a:r>
          </a:p>
          <a:p>
            <a:endParaRPr lang="ru-RU" dirty="0"/>
          </a:p>
          <a:p>
            <a:r>
              <a:rPr lang="ru-RU" dirty="0"/>
              <a:t>В системах Linux и </a:t>
            </a:r>
            <a:r>
              <a:rPr lang="ru-RU" dirty="0" err="1"/>
              <a:t>macOS</a:t>
            </a:r>
            <a:r>
              <a:rPr lang="ru-RU" dirty="0"/>
              <a:t> используется соглашение System V.</a:t>
            </a:r>
          </a:p>
          <a:p>
            <a:r>
              <a:rPr lang="ru-RU" dirty="0"/>
              <a:t>Первые аргументы функции передаются через регистры: RDI, RSI, RDX, RCX, R8 и R9. Если аргументов больше, они передаются через стек.</a:t>
            </a:r>
          </a:p>
          <a:p>
            <a:r>
              <a:rPr lang="ru-RU" dirty="0"/>
              <a:t>Результат функции возвращается через регистр RAX.</a:t>
            </a:r>
          </a:p>
          <a:p>
            <a:endParaRPr lang="ru-RU" dirty="0"/>
          </a:p>
          <a:p>
            <a:r>
              <a:rPr lang="ru-RU" dirty="0"/>
              <a:t>Очень важное правило связано с сохранением регистров.</a:t>
            </a:r>
          </a:p>
          <a:p>
            <a:r>
              <a:rPr lang="ru-RU" dirty="0"/>
              <a:t>Часть регистров называется </a:t>
            </a:r>
            <a:r>
              <a:rPr lang="ru-RU" dirty="0" err="1"/>
              <a:t>caller-saved</a:t>
            </a:r>
            <a:r>
              <a:rPr lang="ru-RU" dirty="0"/>
              <a:t> — их должен сохранять вызывающий код, если их значения ему важны.</a:t>
            </a:r>
          </a:p>
          <a:p>
            <a:r>
              <a:rPr lang="ru-RU" dirty="0"/>
              <a:t>Другая часть — </a:t>
            </a:r>
            <a:r>
              <a:rPr lang="ru-RU" dirty="0" err="1"/>
              <a:t>callee-saved</a:t>
            </a:r>
            <a:r>
              <a:rPr lang="ru-RU" dirty="0"/>
              <a:t> — должна сохраняться вызываемой функцией. Если функция использует такие регистры, она обязана сохранить их значение, например,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, и восстановить перед возвратом.</a:t>
            </a:r>
          </a:p>
          <a:p>
            <a:endParaRPr lang="ru-RU" dirty="0"/>
          </a:p>
          <a:p>
            <a:r>
              <a:rPr lang="ru-RU" dirty="0"/>
              <a:t>Также стек используется для передачи дополнительных аргументов и хранения локальных данных.</a:t>
            </a:r>
          </a:p>
          <a:p>
            <a:endParaRPr lang="ru-RU" dirty="0"/>
          </a:p>
          <a:p>
            <a:r>
              <a:rPr lang="ru-RU" dirty="0"/>
              <a:t>Таким образом, ABI задаёт строгие правила, которые позволяют функциям, скомпилированным независимо, корректно взаимодействовать друг с другом.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741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функции на языке C, которая принимает три аргумента и возвращает результат вычисления выражения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 * c</a:t>
            </a:r>
            <a:r>
              <a:rPr lang="ru-RU" dirty="0"/>
              <a:t>.</a:t>
            </a:r>
          </a:p>
          <a:p>
            <a:r>
              <a:rPr lang="ru-RU" dirty="0"/>
              <a:t>Сначала обратим внимание на передачу аргументов. В соответствии с соглашением System V: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передаётся в регистре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r>
              <a:rPr lang="ru-RU" dirty="0"/>
              <a:t>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 </a:t>
            </a:r>
          </a:p>
          <a:p>
            <a:r>
              <a:rPr lang="ru-RU" dirty="0"/>
              <a:t>Теперь посмотрим на ассемблерный код.</a:t>
            </a:r>
          </a:p>
          <a:p>
            <a:r>
              <a:rPr lang="ru-RU" dirty="0"/>
              <a:t>Первая инструкция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imul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. Она умножает значение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 на значение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, и результат записывает обратно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. Таким образом, после этой инструкции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 находится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* c</a:t>
            </a:r>
            <a:r>
              <a:rPr lang="ru-RU" dirty="0"/>
              <a:t>.</a:t>
            </a:r>
          </a:p>
          <a:p>
            <a:r>
              <a:rPr lang="ru-RU" dirty="0"/>
              <a:t>Далее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r>
              <a:rPr lang="ru-RU" dirty="0"/>
              <a:t> копирует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в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. Напомню, что именно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используется для возврата результата функции.</a:t>
            </a:r>
          </a:p>
          <a:p>
            <a:endParaRPr lang="en-US" dirty="0"/>
          </a:p>
          <a:p>
            <a:r>
              <a:rPr lang="ru-RU" dirty="0"/>
              <a:t>После этого выполняется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, которая прибавляет 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ранее вычисленное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* c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оказывается итоговый результат выражения.</a:t>
            </a:r>
          </a:p>
          <a:p>
            <a:r>
              <a:rPr lang="ru-RU" dirty="0"/>
              <a:t>И, наконец,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 завершает выполнение функции, возвращая управление вызывающему коду. Значение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интерпретируется как возвращаемое значение функции.</a:t>
            </a:r>
          </a:p>
          <a:p>
            <a:endParaRPr lang="en-US" dirty="0"/>
          </a:p>
          <a:p>
            <a:r>
              <a:rPr lang="ru-RU" dirty="0"/>
              <a:t>Важно обратить внимание, что здесь не используется стек — все аргументы передаются через регистры, и все вычисления выполняются в регистрах. Это делает выполнение таких функций очень эффективным.</a:t>
            </a:r>
          </a:p>
          <a:p>
            <a:r>
              <a:rPr lang="ru-RU" dirty="0"/>
              <a:t>Этот пример хорошо показывает, как выражение на языке C напрямую раскладывается на последовательность простых инструкций процессора.</a:t>
            </a:r>
          </a:p>
          <a:p>
            <a:endParaRPr lang="en-US" dirty="0"/>
          </a:p>
          <a:p>
            <a:r>
              <a:rPr lang="ru-RU" dirty="0"/>
              <a:t>Интересно, что в некоторых случаях компилятор может использовать вместо последовательности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инструкцию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.</a:t>
            </a:r>
          </a:p>
          <a:p>
            <a:r>
              <a:rPr lang="ru-RU" dirty="0"/>
              <a:t>Например, код: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можно заменить на: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endParaRPr lang="en-US" dirty="0"/>
          </a:p>
          <a:p>
            <a:r>
              <a:rPr lang="ru-RU" dirty="0"/>
              <a:t>Обе версии вычисляют одну и ту же сумму. Однако есть важное отличие: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изменяет флаги процессора,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 — нет, так как она формально предназначена для вычисления адресов.</a:t>
            </a:r>
          </a:p>
          <a:p>
            <a:r>
              <a:rPr lang="ru-RU" dirty="0"/>
              <a:t>Поэтому компилятор выбирает между этими вариантами в зависимости от того, нужны ли дальше флаги.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766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практике код на ассемблере редко используется изолированно. Чаще всего он комбинируется с кодом на языке C.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Существует два основных способа такой интеграции.</a:t>
            </a:r>
          </a:p>
          <a:p>
            <a:r>
              <a:rPr lang="ru-RU" dirty="0"/>
              <a:t>Первый — это использование отдельных файлов с ассемблерным кодом. Это наиболее чистый и предпочтительный способ. В этом случае функции объявляются в C как обычные, а их реализация пишется на ассемблере.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слайде приведён пример. В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ru-RU" dirty="0"/>
              <a:t> объявляется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</a:t>
            </a:r>
            <a:r>
              <a:rPr lang="ru-RU" dirty="0"/>
              <a:t>, а её реализация находится в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sum.s</a:t>
            </a:r>
            <a:r>
              <a:rPr lang="ru-RU" dirty="0"/>
              <a:t>.</a:t>
            </a:r>
          </a:p>
          <a:p>
            <a:r>
              <a:rPr lang="ru-RU" dirty="0"/>
              <a:t>При компиляции оба файла передаются компилятору, и он объединяет их в одну программу.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Важно, что взаимодействие между C и ассемблером происходит через соглашение о вызовах — именно поэтому мы должны соблюдать правила передачи аргументов и возврата результата.</a:t>
            </a:r>
          </a:p>
          <a:p>
            <a:r>
              <a:rPr lang="ru-RU" dirty="0"/>
              <a:t>Второй способ — это </a:t>
            </a:r>
            <a:r>
              <a:rPr lang="ru-RU" dirty="0" err="1"/>
              <a:t>inline-assembler</a:t>
            </a:r>
            <a:r>
              <a:rPr lang="ru-RU" dirty="0"/>
              <a:t>, когда ассемблерный код вставляется прямо в C-программу. Однако этот способ сложнее и менее переносим, поэтому мы пока его подробно рассматривать не будем.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ассемблер можно использовать для реализации отдельных функций, где требуется максимальный контроль над выполнением или оптимизация.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543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этой лекции мы сделали важный шаг — перешли от учебной архитектуры к реальной, используемой в современных процессорах.</a:t>
            </a:r>
          </a:p>
          <a:p>
            <a:endParaRPr lang="ru-RU" dirty="0"/>
          </a:p>
          <a:p>
            <a:r>
              <a:rPr lang="ru-RU" dirty="0"/>
              <a:t>Вы познакомились с регистрами, базовыми инструкциями, механизмом работы флагов и переходов, а также с тем, как реализуются вызовы функций и какие правила для этого используются.</a:t>
            </a:r>
            <a:endParaRPr lang="en-US"/>
          </a:p>
          <a:p>
            <a:endParaRPr lang="ru-RU" dirty="0"/>
          </a:p>
          <a:p>
            <a:r>
              <a:rPr lang="ru-RU" dirty="0"/>
              <a:t>Теперь вы уже можете читать простой ассемблерный код и понимать, что он делает. Более того, вы начинаете видеть прямую связь между программой на языке C и тем, как она выполняется на уровне процессора.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224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x86-64 память представляется как линейное адресное пространство — по сути, большой массив байтов.</a:t>
            </a:r>
            <a:r>
              <a:rPr lang="en-US" dirty="0"/>
              <a:t> </a:t>
            </a:r>
            <a:r>
              <a:rPr lang="ru-RU" dirty="0"/>
              <a:t>Каждая ячейка памяти имеет адрес, и все операции с памятью выполняются через эти адреса.</a:t>
            </a:r>
          </a:p>
          <a:p>
            <a:endParaRPr lang="en-US" dirty="0"/>
          </a:p>
          <a:p>
            <a:r>
              <a:rPr lang="ru-RU" dirty="0"/>
              <a:t>Регистры в этой модели могут использоваться двумя способами:</a:t>
            </a:r>
            <a:r>
              <a:rPr lang="en-US" dirty="0"/>
              <a:t> </a:t>
            </a:r>
            <a:r>
              <a:rPr lang="ru-RU" dirty="0"/>
              <a:t>они могут хранить либо значения, либо адреса — то есть указатели.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напрямую соответствует тому, что вы изучали в C: указатель — это просто число, которое интерпретируется как адрес в памяти.</a:t>
            </a:r>
          </a:p>
          <a:p>
            <a:endParaRPr lang="en-US" dirty="0"/>
          </a:p>
          <a:p>
            <a:r>
              <a:rPr lang="ru-RU" dirty="0"/>
              <a:t>Для доступа к памяти в ассемблере используются квадратные скобки.</a:t>
            </a:r>
            <a:br>
              <a:rPr lang="ru-RU" dirty="0"/>
            </a:br>
            <a:r>
              <a:rPr lang="ru-RU" dirty="0"/>
              <a:t>Например,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ru-RU" dirty="0"/>
              <a:t> означает: взять данные из памяти по адресу, который хранится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dirty="0"/>
              <a:t>, и записать их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.</a:t>
            </a:r>
          </a:p>
          <a:p>
            <a:r>
              <a:rPr lang="ru-RU" dirty="0"/>
              <a:t>Обратная операция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— записывает значение из регистра в память.</a:t>
            </a:r>
          </a:p>
          <a:p>
            <a:endParaRPr lang="en-US" dirty="0"/>
          </a:p>
          <a:p>
            <a:r>
              <a:rPr lang="ru-RU" dirty="0"/>
              <a:t>Очень важно понимать, что размер читаемых или записываемых данных определяется инструкцией. В большинстве случаев он задаётся размером регистра.</a:t>
            </a:r>
          </a:p>
          <a:p>
            <a:r>
              <a:rPr lang="ru-RU" dirty="0"/>
              <a:t>Например, если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, то будет прочитано 4 байта,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— 8 байт.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наконец, ключевое различие: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dirty="0"/>
              <a:t> — это просто число, интерпретируемое как адрес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ru-RU" dirty="0"/>
              <a:t> — это доступ к данным по этому адресу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082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x86-64 существует единый механизм адресации памяти, который позволяет задавать адрес разными способами. На слайде показаны основные формы, но важно понимать, что все они — частные случаи одной общей модели.</a:t>
            </a:r>
          </a:p>
          <a:p>
            <a:endParaRPr lang="ru-RU" dirty="0"/>
          </a:p>
          <a:p>
            <a:r>
              <a:rPr lang="ru-RU" dirty="0"/>
              <a:t>Начнём с прямой адресации. Здесь адрес задаётся непосредственно в инструкции,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[0x601040]</a:t>
            </a:r>
            <a:r>
              <a:rPr lang="ru-RU" dirty="0"/>
              <a:t>. Это означает обращение к фиксированному адресу в памяти. На практике такая форма используется редко в прикладном коде, потому что современные программы обычно работают с относительными адресами, а не абсолютными.</a:t>
            </a:r>
          </a:p>
          <a:p>
            <a:endParaRPr lang="ru-RU" dirty="0"/>
          </a:p>
          <a:p>
            <a:r>
              <a:rPr lang="ru-RU" dirty="0"/>
              <a:t>Далее — базовая адресация. В этом случае адрес берётся из регистра.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ru-RU" dirty="0"/>
              <a:t> означает: использовать значение регистра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dirty="0"/>
              <a:t> как адрес. Это один из самых часто используемых способов.</a:t>
            </a:r>
          </a:p>
          <a:p>
            <a:endParaRPr lang="ru-RU" dirty="0"/>
          </a:p>
          <a:p>
            <a:r>
              <a:rPr lang="ru-RU" dirty="0"/>
              <a:t>Следующий вариант — адресация со смещением. Здесь к значению регистра добавляется константа.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+ 4]</a:t>
            </a:r>
            <a:r>
              <a:rPr lang="ru-RU" dirty="0"/>
              <a:t>. Это удобно при работе со структурами или стеком, где поля и переменные находятся на фиксированных смещениях.</a:t>
            </a:r>
          </a:p>
          <a:p>
            <a:endParaRPr lang="ru-RU" dirty="0"/>
          </a:p>
          <a:p>
            <a:r>
              <a:rPr lang="ru-RU" dirty="0"/>
              <a:t>Индексная адресация добавляет ещё один регистр — индекс, который умножается на коэффициент.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*4]</a:t>
            </a:r>
            <a:r>
              <a:rPr lang="ru-RU" dirty="0"/>
              <a:t>. Коэффициент может быть только 1, 2, 4 или 8 — это связано с типичными размерами элементов данных,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Все эти формы объединяются в обобщённую форму: базовый регистр плюс индекс, умноженный на масштаб, плюс смещение.</a:t>
            </a:r>
          </a:p>
          <a:p>
            <a:endParaRPr lang="ru-RU" dirty="0"/>
          </a:p>
          <a:p>
            <a:r>
              <a:rPr lang="ru-RU" dirty="0"/>
              <a:t>Важно понимать, что процессор вычисляет этот адрес прямо при выполнении инструкции. Именно этот механизм используется компилятором для реализации массивов, структур и указателей.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532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 — </a:t>
            </a:r>
            <a:r>
              <a:rPr lang="ru-RU" dirty="0" err="1"/>
              <a:t>Load</a:t>
            </a:r>
            <a:r>
              <a:rPr lang="ru-RU" dirty="0"/>
              <a:t> </a:t>
            </a:r>
            <a:r>
              <a:rPr lang="ru-RU" dirty="0" err="1"/>
              <a:t>Effective</a:t>
            </a:r>
            <a:r>
              <a:rPr lang="ru-RU" dirty="0"/>
              <a:t> Address — используется для вычисления адреса, но при этом она не обращается к памяти.</a:t>
            </a:r>
          </a:p>
          <a:p>
            <a:endParaRPr lang="ru-RU" dirty="0"/>
          </a:p>
          <a:p>
            <a:r>
              <a:rPr lang="ru-RU" dirty="0"/>
              <a:t>Это принципиально важно. Несмотря на синтаксис с квадратными скобками, как у обычного доступа к памяти, никакого чтения данных не происходит.</a:t>
            </a:r>
          </a:p>
          <a:p>
            <a:r>
              <a:rPr lang="ru-RU" dirty="0"/>
              <a:t>Процессор просто вычисляет выражение внутри скобок и записывает результат в регистр.</a:t>
            </a:r>
          </a:p>
          <a:p>
            <a:endParaRPr lang="ru-RU" dirty="0"/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+ 8]</a:t>
            </a:r>
            <a:r>
              <a:rPr lang="ru-RU" dirty="0"/>
              <a:t> означает: взять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dirty="0"/>
              <a:t>, прибавить 8 и записать результат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.</a:t>
            </a:r>
          </a:p>
          <a:p>
            <a:r>
              <a:rPr lang="ru-RU" dirty="0"/>
              <a:t>Из-за этого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 часто используется не только для работы с адресами, но и как арифметическая инструкция.</a:t>
            </a:r>
          </a:p>
          <a:p>
            <a:endParaRPr lang="ru-RU" dirty="0"/>
          </a:p>
          <a:p>
            <a:r>
              <a:rPr lang="ru-RU" dirty="0"/>
              <a:t>Например,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 можно записать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, как показано на слайде.</a:t>
            </a:r>
          </a:p>
          <a:p>
            <a:r>
              <a:rPr lang="ru-RU" dirty="0"/>
              <a:t>При этом важно помнить, что в отличие от инструкции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 не изменяет флаги процессора.</a:t>
            </a:r>
          </a:p>
          <a:p>
            <a:endParaRPr lang="ru-RU" dirty="0"/>
          </a:p>
          <a:p>
            <a:r>
              <a:rPr lang="ru-RU" dirty="0"/>
              <a:t>Это делает её удобной в ситуациях, когда нужно выполнить вычисление, но не затрагивать состояние флагов.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dirty="0"/>
              <a:t> — это универсальный инструмент: формально предназначенный для адресов, но широко используемый компиляторами для эффективных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11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функцию, которая суммирует элементы массива. По соглашению вызовов: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dirty="0"/>
              <a:t> — указатель на массив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 — количество элементов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Сначала выполняется проверка: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.L4</a:t>
            </a:r>
          </a:p>
          <a:p>
            <a:r>
              <a:rPr lang="ru-RU" dirty="0"/>
              <a:t>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&lt;= 0</a:t>
            </a:r>
            <a:r>
              <a:rPr lang="ru-RU" dirty="0"/>
              <a:t>, функция сразу возвращает 0.</a:t>
            </a:r>
          </a:p>
          <a:p>
            <a:endParaRPr lang="ru-RU" dirty="0"/>
          </a:p>
          <a:p>
            <a:r>
              <a:rPr lang="ru-RU" dirty="0"/>
              <a:t>Далее: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movsx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Здесь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расширяется до 64 бит,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обнуляется — это будущая сумма.</a:t>
            </a:r>
          </a:p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*4] </a:t>
            </a:r>
            <a:r>
              <a:rPr lang="ru-RU" dirty="0"/>
              <a:t>вычисляет адрес конца массива: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n * 4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цикл. На каждой итерации: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4</a:t>
            </a:r>
          </a:p>
          <a:p>
            <a:r>
              <a:rPr lang="ru-RU" dirty="0"/>
              <a:t>к сумме добавляется текущий элемент, затем указатель сдвигается к следующему.</a:t>
            </a:r>
          </a:p>
          <a:p>
            <a:endParaRPr lang="ru-RU" dirty="0"/>
          </a:p>
          <a:p>
            <a:r>
              <a:rPr lang="ru-RU" dirty="0"/>
              <a:t>Проверка: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.L3</a:t>
            </a:r>
          </a:p>
          <a:p>
            <a:r>
              <a:rPr lang="ru-RU" dirty="0"/>
              <a:t>Цикл продолжается, пока не достигнут конец массива.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979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суммируем значения поля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, но не подряд, а по индексам из другого массива. Это как раз приводит к использованию более сложной адресации.</a:t>
            </a:r>
          </a:p>
          <a:p>
            <a:r>
              <a:rPr lang="ru-RU" dirty="0"/>
              <a:t>По соглашению вызовов: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dirty="0"/>
              <a:t> — указатель на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points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dirty="0"/>
              <a:t> — указатель на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indices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 — количество элементов </a:t>
            </a:r>
          </a:p>
          <a:p>
            <a:endParaRPr lang="en-US" dirty="0"/>
          </a:p>
          <a:p>
            <a:r>
              <a:rPr lang="ru-RU" dirty="0"/>
              <a:t>В цикле сначала читается очередной индекс: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movsx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r>
              <a:rPr lang="ru-RU" dirty="0"/>
              <a:t>Здесь используется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DWORD PTR</a:t>
            </a:r>
            <a:r>
              <a:rPr lang="ru-RU" dirty="0"/>
              <a:t>, потому что элементы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indices</a:t>
            </a:r>
            <a:r>
              <a:rPr lang="ru-RU" dirty="0"/>
              <a:t> имеют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то есть 4 байта.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movsx</a:t>
            </a:r>
            <a:r>
              <a:rPr lang="ru-RU" dirty="0"/>
              <a:t> также выполняет знаковое расширение.</a:t>
            </a:r>
          </a:p>
          <a:p>
            <a:endParaRPr lang="en-US" dirty="0"/>
          </a:p>
          <a:p>
            <a:r>
              <a:rPr lang="ru-RU" dirty="0"/>
              <a:t>Далее происходит ключевая операция: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movsx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+ 2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*4]</a:t>
            </a:r>
          </a:p>
          <a:p>
            <a:r>
              <a:rPr lang="ru-RU" dirty="0"/>
              <a:t>Это пример полной формы адресации: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dirty="0"/>
              <a:t> — базовый адрес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points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</a:t>
            </a:r>
            <a:r>
              <a:rPr lang="ru-RU" dirty="0"/>
              <a:t> — индекс элемента, умноженный на размер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(4 байта)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+ 2</a:t>
            </a:r>
            <a:r>
              <a:rPr lang="ru-RU" dirty="0"/>
              <a:t> — смещение поля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 внутри структуры </a:t>
            </a:r>
          </a:p>
          <a:p>
            <a:r>
              <a:rPr lang="ru-RU" dirty="0"/>
              <a:t>Таким образом, это выражение соответствует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[i]].y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Здесь используется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 PTR</a:t>
            </a:r>
            <a:r>
              <a:rPr lang="ru-RU" dirty="0"/>
              <a:t>, потому что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 имеет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</a:t>
            </a:r>
            <a:r>
              <a:rPr lang="ru-RU" dirty="0"/>
              <a:t>, то есть занимает 2 байта.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Важно, что в этих инструкциях компилятор явно указывает размер данных в памяти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 PTR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DWORD PTR</a:t>
            </a:r>
            <a:r>
              <a:rPr lang="ru-RU" dirty="0"/>
              <a:t>), потому что в отличие от операций с регистрами, размер данных в памяти не всегда однозначно определяется контекстом.</a:t>
            </a:r>
          </a:p>
          <a:p>
            <a:endParaRPr lang="en-US" dirty="0"/>
          </a:p>
          <a:p>
            <a:r>
              <a:rPr lang="ru-RU" dirty="0"/>
              <a:t>Этот пример хорошо показывает, как массивы структур и косвенная индексация приводят к использованию полной формы адресации в x86-64.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353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вызывается функция, происходит несколько шагов: аргументы передаются через регистры или стек,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сохраняет адрес возврата и передаёт управление.</a:t>
            </a:r>
          </a:p>
          <a:p>
            <a:endParaRPr lang="ru-RU" dirty="0"/>
          </a:p>
          <a:p>
            <a:r>
              <a:rPr lang="ru-RU" dirty="0"/>
              <a:t>Внутри функции создаётся стековый кадр, в котором размещаются локальные данные и при необходимости сохраняются регистры.</a:t>
            </a:r>
          </a:p>
          <a:p>
            <a:endParaRPr lang="ru-RU" dirty="0"/>
          </a:p>
          <a:p>
            <a:r>
              <a:rPr lang="ru-RU" dirty="0"/>
              <a:t>После завершения функция возвращает результат и управление.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94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показывает, как компилятор управляет стековым фреймом и регистрами в реальной программе.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 используется стек напрямую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rsp</a:t>
            </a:r>
            <a:r>
              <a:rPr lang="ru-RU" dirty="0"/>
              <a:t>.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24</a:t>
            </a:r>
            <a:r>
              <a:rPr lang="ru-RU" dirty="0"/>
              <a:t> выделяет место под локальные данные, а также выравнивает стек по адресу, кратному 16 байтам. Аргумент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</a:t>
            </a:r>
            <a:r>
              <a:rPr lang="ru-RU" dirty="0"/>
              <a:t> сохраняется в памяти, потому что далее берётся его адрес — регистры адреса не имеют.</a:t>
            </a:r>
          </a:p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[rsp+12]</a:t>
            </a:r>
            <a:r>
              <a:rPr lang="ru-RU" dirty="0"/>
              <a:t> передаёт этот адрес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перед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. Это требование ABI: для вариативных функций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должно быть указано количество аргументов, переданных через XMM-регистры. Здесь таких аргументов нет, поэтому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обнуляется.</a:t>
            </a:r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</a:t>
            </a:r>
            <a:r>
              <a:rPr lang="ru-RU" dirty="0"/>
              <a:t> сохраняется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dirty="0"/>
              <a:t>, так как он относится к </a:t>
            </a:r>
            <a:r>
              <a:rPr lang="ru-RU" dirty="0" err="1"/>
              <a:t>callee-saved</a:t>
            </a:r>
            <a:r>
              <a:rPr lang="ru-RU" dirty="0"/>
              <a:t>.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arg1</a:t>
            </a:r>
            <a:r>
              <a:rPr lang="ru-RU" dirty="0"/>
              <a:t> сохраняется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EBX</a:t>
            </a:r>
            <a:r>
              <a:rPr lang="ru-RU" dirty="0"/>
              <a:t>, потому что оно нужно после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.</a:t>
            </a:r>
          </a:p>
          <a:p>
            <a:r>
              <a:rPr lang="ru-RU" dirty="0"/>
              <a:t>В конце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— это оптимизация (</a:t>
            </a:r>
            <a:r>
              <a:rPr lang="ru-RU" dirty="0" err="1"/>
              <a:t>tail</a:t>
            </a:r>
            <a:r>
              <a:rPr lang="ru-RU" dirty="0"/>
              <a:t> </a:t>
            </a:r>
            <a:r>
              <a:rPr lang="ru-RU" dirty="0" err="1"/>
              <a:t>call</a:t>
            </a:r>
            <a:r>
              <a:rPr lang="ru-RU" dirty="0"/>
              <a:t>), так как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 функция сразу завершается.</a:t>
            </a:r>
          </a:p>
          <a:p>
            <a:endParaRPr lang="ru-RU" dirty="0"/>
          </a:p>
          <a:p>
            <a:r>
              <a:rPr lang="ru-RU" dirty="0"/>
              <a:t>Этот пример демонстрирует сразу несколько важных вещей: использование стека без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rbp</a:t>
            </a:r>
            <a:r>
              <a:rPr lang="ru-RU" dirty="0"/>
              <a:t>, необходимость сохранять регистры и соблюдение соглашения о вызовах.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093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вызов функций как переход по имени,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</a:t>
            </a:r>
            <a:r>
              <a:rPr lang="ru-RU" dirty="0"/>
              <a:t>.</a:t>
            </a:r>
          </a:p>
          <a:p>
            <a:r>
              <a:rPr lang="ru-RU" dirty="0"/>
              <a:t>Но на самом деле процессор работает не с именами, а с адресами.</a:t>
            </a:r>
          </a:p>
          <a:p>
            <a:endParaRPr lang="ru-RU" dirty="0"/>
          </a:p>
          <a:p>
            <a:r>
              <a:rPr lang="ru-RU" dirty="0"/>
              <a:t>Функция — это просто участок кода в памяти, и у неё есть адрес. В языке C это отражается через указатели на функции.</a:t>
            </a:r>
          </a:p>
          <a:p>
            <a:r>
              <a:rPr lang="ru-RU" dirty="0"/>
              <a:t>Например,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pf</a:t>
            </a:r>
            <a:r>
              <a:rPr lang="ru-RU" dirty="0"/>
              <a:t> хранит адрес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ru-RU" dirty="0"/>
              <a:t>, и мы можем вызвать её через этот указатель.</a:t>
            </a:r>
          </a:p>
          <a:p>
            <a:r>
              <a:rPr lang="ru-RU" dirty="0"/>
              <a:t>На уровне ассемблера это выглядит как косвенный вызов: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где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 хранится адрес функции.</a:t>
            </a:r>
          </a:p>
          <a:p>
            <a:endParaRPr lang="ru-RU" dirty="0"/>
          </a:p>
          <a:p>
            <a:r>
              <a:rPr lang="ru-RU" dirty="0"/>
              <a:t>Это принципиально важно, потому что позволяет: передавать функции как аргументы, реализовывать </a:t>
            </a:r>
            <a:r>
              <a:rPr lang="ru-RU" dirty="0" err="1"/>
              <a:t>callback’и</a:t>
            </a:r>
            <a:r>
              <a:rPr lang="ru-RU" dirty="0"/>
              <a:t>, строить таблицы функций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150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показывает, как функции передаются и вызываются по указателю.</a:t>
            </a:r>
          </a:p>
          <a:p>
            <a:r>
              <a:rPr lang="ru-RU" dirty="0"/>
              <a:t>В языке C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</a:t>
            </a:r>
            <a:r>
              <a:rPr lang="ru-RU" dirty="0"/>
              <a:t> — это указатель на функцию. 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</a:t>
            </a:r>
            <a:r>
              <a:rPr lang="ru-RU" dirty="0"/>
              <a:t> этот указатель передаётся как аргумент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</a:t>
            </a:r>
            <a:r>
              <a:rPr lang="ru-RU" dirty="0"/>
              <a:t>, и затем функция вызывается через него.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уровне ассемблера это выглядит так: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То есть адрес функции копируется в регистр, и затем выполняется косвенный вызов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Теперь обратим внимание на начало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делает сразу две важные вещи.</a:t>
            </a:r>
          </a:p>
          <a:p>
            <a:r>
              <a:rPr lang="ru-RU" dirty="0"/>
              <a:t>Во-первых,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dirty="0"/>
              <a:t> — это </a:t>
            </a:r>
            <a:r>
              <a:rPr lang="ru-RU" dirty="0" err="1"/>
              <a:t>callee-saved</a:t>
            </a:r>
            <a:r>
              <a:rPr lang="ru-RU" dirty="0"/>
              <a:t> регистр. Если функция его использует, она обязана сохранить его значение и восстановить перед выходом. Это и делается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.</a:t>
            </a:r>
          </a:p>
          <a:p>
            <a:r>
              <a:rPr lang="ru-RU" dirty="0"/>
              <a:t>Во-вторых, этот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помогает выровнять стек. По соглашению System V стек должен быть выровнен по 16 байтам перед вызовом функции.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сама по себе сдвигает стек на 8 байт, и дополнительный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позволяет восстановить правильное выравнивание перед следующим вызовом.</a:t>
            </a:r>
          </a:p>
          <a:p>
            <a:endParaRPr lang="en-US" dirty="0"/>
          </a:p>
          <a:p>
            <a:r>
              <a:rPr lang="ru-RU" dirty="0"/>
              <a:t>Далее: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Сохраняется аргумент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arg3</a:t>
            </a:r>
            <a:r>
              <a:rPr lang="ru-RU" dirty="0"/>
              <a:t>, потому что после вызова функции через указатель регистр </a:t>
            </a:r>
            <a:r>
              <a:rPr lang="en-US" dirty="0" err="1"/>
              <a:t>ecx</a:t>
            </a:r>
            <a:r>
              <a:rPr lang="en-US" dirty="0"/>
              <a:t> </a:t>
            </a:r>
            <a:r>
              <a:rPr lang="ru-RU" dirty="0"/>
              <a:t>может быть перезаписан.</a:t>
            </a:r>
          </a:p>
          <a:p>
            <a:endParaRPr lang="ru-RU" dirty="0"/>
          </a:p>
          <a:p>
            <a:r>
              <a:rPr lang="ru-RU" dirty="0"/>
              <a:t>После вызова: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к результату добавляется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arg3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в конце: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восстанавливается исходное значение регистра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RBX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посмотрим на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</a:t>
            </a:r>
            <a:r>
              <a:rPr lang="ru-RU" dirty="0"/>
              <a:t>.</a:t>
            </a:r>
          </a:p>
          <a:p>
            <a:r>
              <a:rPr lang="ru-RU" dirty="0"/>
              <a:t>Здесь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</a:t>
            </a:r>
            <a:r>
              <a:rPr lang="ru-RU" dirty="0"/>
              <a:t> используется: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пример </a:t>
            </a:r>
            <a:r>
              <a:rPr lang="ru-RU" dirty="0" err="1"/>
              <a:t>tail</a:t>
            </a:r>
            <a:r>
              <a:rPr lang="ru-RU" dirty="0"/>
              <a:t>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optimization</a:t>
            </a:r>
            <a:r>
              <a:rPr lang="ru-RU" dirty="0"/>
              <a:t>. Поскольку после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</a:t>
            </a:r>
            <a:r>
              <a:rPr lang="ru-RU" dirty="0"/>
              <a:t>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</a:t>
            </a:r>
            <a:r>
              <a:rPr lang="ru-RU" dirty="0"/>
              <a:t> всё равно сразу завершилась бы, компилятор заменяет вызов на переход. Это позволяет избежать лишнего сохранения адреса возврата и делает выполнение более эффективным.</a:t>
            </a:r>
          </a:p>
          <a:p>
            <a:endParaRPr lang="ru-RU" dirty="0"/>
          </a:p>
          <a:p>
            <a:r>
              <a:rPr lang="ru-RU" dirty="0"/>
              <a:t>Этот пример хорошо показывает сразу несколько важных вещей: вызов функции по указателю, соблюдение соглашения о вызовах и оптимизации, которые выполняет компилятор.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967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 реальное использование указателей на функции — через стандартную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принимает: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указатель на массив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размер элемента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количество элементов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указатель на функцию сравнения </a:t>
            </a:r>
          </a:p>
          <a:p>
            <a:r>
              <a:rPr lang="ru-RU" dirty="0"/>
              <a:t>В нашем случае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CmpInts</a:t>
            </a:r>
            <a:r>
              <a:rPr lang="ru-RU" dirty="0"/>
              <a:t> сравнивает два элемента массива.</a:t>
            </a:r>
          </a:p>
          <a:p>
            <a:endParaRPr lang="ru-RU" dirty="0"/>
          </a:p>
          <a:p>
            <a:r>
              <a:rPr lang="ru-RU" dirty="0"/>
              <a:t>По соглашению о вызовах аргументы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CmpInts</a:t>
            </a:r>
            <a:r>
              <a:rPr lang="ru-RU" dirty="0"/>
              <a:t> передаются в регистрах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dirty="0"/>
              <a:t>. Это указатели на элементы массива, поэтому сначала выполняется разыменование: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Здесь происходит сравнение двух значений.</a:t>
            </a:r>
          </a:p>
          <a:p>
            <a:endParaRPr lang="ru-RU" dirty="0"/>
          </a:p>
          <a:p>
            <a:r>
              <a:rPr lang="ru-RU" dirty="0"/>
              <a:t>Далее используется комбинация инструкций без ветвлений: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movzx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cmovl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пример так называемого </a:t>
            </a:r>
            <a:r>
              <a:rPr lang="ru-RU" dirty="0" err="1"/>
              <a:t>branchless</a:t>
            </a:r>
            <a:r>
              <a:rPr lang="ru-RU" dirty="0"/>
              <a:t>-кода — вместо условных переходов используются условные операции над данными.</a:t>
            </a:r>
            <a:br>
              <a:rPr lang="ru-RU" dirty="0"/>
            </a:br>
            <a:r>
              <a:rPr lang="ru-RU" dirty="0"/>
              <a:t>В результате функция возвращает: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</a:t>
            </a:r>
            <a:r>
              <a:rPr lang="ru-RU" dirty="0"/>
              <a:t>, если первый элемент меньше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+1</a:t>
            </a:r>
            <a:r>
              <a:rPr lang="ru-RU" dirty="0"/>
              <a:t>, если больше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, если равны </a:t>
            </a:r>
          </a:p>
          <a:p>
            <a:endParaRPr lang="ru-RU" dirty="0"/>
          </a:p>
          <a:p>
            <a:r>
              <a:rPr lang="ru-RU" dirty="0"/>
              <a:t>Теперь посмотрим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SortArray</a:t>
            </a:r>
            <a:r>
              <a:rPr lang="ru-RU" dirty="0"/>
              <a:t>.</a:t>
            </a:r>
          </a:p>
          <a:p>
            <a:r>
              <a:rPr lang="ru-RU" dirty="0"/>
              <a:t>Подготовка аргументов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происходит через регистры: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dirty="0"/>
              <a:t> — массив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dirty="0"/>
              <a:t> — размер элемента (4 байта)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dirty="0"/>
              <a:t> — количество элементов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RCX</a:t>
            </a:r>
            <a:r>
              <a:rPr lang="ru-RU" dirty="0"/>
              <a:t> — указатель на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CmpInts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Обратите внимание на строку: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OFFSET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FLAT:CmpInts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Здесь адрес функции передаётся как обычное значение — это и есть указатель на функцию.</a:t>
            </a:r>
          </a:p>
          <a:p>
            <a:endParaRPr lang="ru-RU" dirty="0"/>
          </a:p>
          <a:p>
            <a:r>
              <a:rPr lang="ru-RU" dirty="0"/>
              <a:t>И, наконец: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снова </a:t>
            </a:r>
            <a:r>
              <a:rPr lang="ru-RU" dirty="0" err="1"/>
              <a:t>tail</a:t>
            </a:r>
            <a:r>
              <a:rPr lang="ru-RU" dirty="0"/>
              <a:t>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optimization</a:t>
            </a:r>
            <a:r>
              <a:rPr lang="ru-RU" dirty="0"/>
              <a:t>. Вместо обычного вызова используется переход, потому что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SortArray</a:t>
            </a:r>
            <a:r>
              <a:rPr lang="ru-RU" dirty="0"/>
              <a:t> ничего больше не делает.</a:t>
            </a:r>
          </a:p>
          <a:p>
            <a:endParaRPr lang="ru-RU" dirty="0"/>
          </a:p>
          <a:p>
            <a:r>
              <a:rPr lang="ru-RU" dirty="0"/>
              <a:t>Этот пример хорошо демонстрирует: передачу функций как аргументов, косвенные вызовы внутри библиотеки и то, как высокоуровневые конструкции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реализуются через указатели на функции и ABI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599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Compiler</a:t>
            </a:r>
            <a:r>
              <a:rPr lang="ru-RU" dirty="0"/>
              <a:t> Explorer — это онлайн-инструмент, который позволяет мгновенно увидеть, во что компилируется программа.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Вы пишете код на языке C слева, а справа сразу видите ассемблер, который генерирует компилятор.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самый простой способ начать работать с ассемблером, потому что не требует установки и работает одинаково на любой операционной системе.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Очень важно, что можно менять компилятор и уровень оптимизации. Например, сравнить код при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-O0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-O2</a:t>
            </a:r>
            <a:r>
              <a:rPr lang="ru-RU" dirty="0"/>
              <a:t> и увидеть, как меняется результат.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инструмент мы будем активно использовать дальше, чтобы анализировать, как компилятор преобразует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591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Утилита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ru-RU" dirty="0"/>
              <a:t> позволяет дизассемблировать уже скомпилированную программу.</a:t>
            </a:r>
          </a:p>
          <a:p>
            <a:r>
              <a:rPr lang="ru-RU" dirty="0"/>
              <a:t>В отличие от </a:t>
            </a:r>
            <a:r>
              <a:rPr lang="ru-RU" dirty="0" err="1"/>
              <a:t>Compiler</a:t>
            </a:r>
            <a:r>
              <a:rPr lang="ru-RU" dirty="0"/>
              <a:t> Explorer, здесь мы работаем не с абстрактным примером, а с </a:t>
            </a:r>
            <a:r>
              <a:rPr lang="ru-RU" b="1" dirty="0"/>
              <a:t>реальным исполняемым файлом</a:t>
            </a:r>
            <a:r>
              <a:rPr lang="ru-RU" dirty="0"/>
              <a:t>, который будет запускаться операционной системой.</a:t>
            </a:r>
          </a:p>
          <a:p>
            <a:endParaRPr lang="ru-RU" dirty="0"/>
          </a:p>
          <a:p>
            <a:r>
              <a:rPr lang="ru-RU" dirty="0"/>
              <a:t>Сначала программа компилируется, например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ru-RU" dirty="0"/>
              <a:t>. После этого 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-d</a:t>
            </a:r>
            <a:r>
              <a:rPr lang="ru-RU" dirty="0"/>
              <a:t> выводит машинный код в виде ассемблера.</a:t>
            </a:r>
          </a:p>
          <a:p>
            <a:endParaRPr lang="ru-RU" dirty="0"/>
          </a:p>
          <a:p>
            <a:r>
              <a:rPr lang="ru-RU" dirty="0"/>
              <a:t>По умолчанию используется синтаксис AT&amp;T, но с помощью опции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-M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</a:t>
            </a:r>
            <a:r>
              <a:rPr lang="ru-RU" dirty="0"/>
              <a:t> можно переключиться на Intel-синтаксис, который мы используем в курсе.</a:t>
            </a:r>
          </a:p>
          <a:p>
            <a:endParaRPr lang="ru-RU" dirty="0"/>
          </a:p>
          <a:p>
            <a:r>
              <a:rPr lang="ru-RU" dirty="0"/>
              <a:t>Посмотрим на вывод.</a:t>
            </a:r>
          </a:p>
          <a:p>
            <a:r>
              <a:rPr lang="ru-RU" dirty="0"/>
              <a:t>Каждая строка содержит: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адрес инструкции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машинный код (в шестнадцатеричном виде)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саму инструкцию </a:t>
            </a:r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401044: 31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Здесь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401044</a:t>
            </a:r>
            <a:r>
              <a:rPr lang="ru-RU" dirty="0"/>
              <a:t> — адрес в памяти,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</a:t>
            </a:r>
            <a:r>
              <a:rPr lang="ru-RU" dirty="0"/>
              <a:t> — машинное представление инструкции,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</a:t>
            </a:r>
            <a:r>
              <a:rPr lang="ru-RU" dirty="0"/>
              <a:t> — её ассемблерная форма.</a:t>
            </a:r>
          </a:p>
          <a:p>
            <a:endParaRPr lang="ru-RU" dirty="0"/>
          </a:p>
          <a:p>
            <a:r>
              <a:rPr lang="ru-RU" dirty="0"/>
              <a:t>Обратите внимание, что в выводе присутствуют не только функции, которые мы написали, но и служебный код,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  <a:r>
              <a:rPr lang="ru-RU" dirty="0"/>
              <a:t>. Это код, который подготавливает выполнение программы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r>
              <a:rPr lang="ru-RU" dirty="0"/>
              <a:t>Ниже можно увидеть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Здесь уже знакомые конструкции: пролог функции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rbp</a:t>
            </a:r>
            <a:r>
              <a:rPr lang="ru-RU" dirty="0"/>
              <a:t>,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возврат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ru-RU" dirty="0"/>
              <a:t> позволяет увидеть полную картину: не только наш код, но и то, как программа запускается и взаимодействует с системой.</a:t>
            </a:r>
          </a:p>
          <a:p>
            <a:endParaRPr lang="ru-RU" dirty="0"/>
          </a:p>
          <a:p>
            <a:r>
              <a:rPr lang="ru-RU" dirty="0"/>
              <a:t>Это важный шаг от учебных примеров к анализу реальных бинарных файлов.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803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Windows аналогом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ru-RU" dirty="0"/>
              <a:t> является утилита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dumpbin</a:t>
            </a:r>
            <a:r>
              <a:rPr lang="ru-RU" dirty="0"/>
              <a:t>, которая входит в состав Visual Studio.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Она используется для анализа исполняемых файлов формата PE.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Запускать её нужно из специальной командной строки — Developer Command </a:t>
            </a:r>
            <a:r>
              <a:rPr lang="ru-RU" dirty="0" err="1"/>
              <a:t>Prompt</a:t>
            </a:r>
            <a:r>
              <a:rPr lang="ru-RU" dirty="0"/>
              <a:t>, где уже настроено окружение.</a:t>
            </a:r>
          </a:p>
          <a:p>
            <a:r>
              <a:rPr lang="ru-RU" dirty="0"/>
              <a:t>Команда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/DISASM</a:t>
            </a:r>
            <a:r>
              <a:rPr lang="ru-RU" dirty="0"/>
              <a:t> позволяет дизассемблировать программу и получить список инструкций.</a:t>
            </a:r>
          </a:p>
          <a:p>
            <a:r>
              <a:rPr lang="ru-RU" dirty="0"/>
              <a:t>Как и в случае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ru-RU" dirty="0"/>
              <a:t>, в выводе отображаются адреса, машинный код и ассемблер.</a:t>
            </a:r>
          </a:p>
          <a:p>
            <a:r>
              <a:rPr lang="ru-RU" dirty="0"/>
              <a:t>Также есть дополнительные опции, например просмотр заголовков или таблицы символов.</a:t>
            </a:r>
          </a:p>
          <a:p>
            <a:r>
              <a:rPr lang="ru-RU" dirty="0"/>
              <a:t>Важно понимать, что формат вывода может отличаться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ru-RU" dirty="0"/>
              <a:t>, но суть та же — мы видим, какие инструкции реально выполняет процессор.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dumpbin</a:t>
            </a:r>
            <a:r>
              <a:rPr lang="ru-RU" dirty="0"/>
              <a:t> — это основной инструмент для анализа </a:t>
            </a:r>
            <a:r>
              <a:rPr lang="ru-RU" dirty="0" err="1"/>
              <a:t>бинарников</a:t>
            </a:r>
            <a:r>
              <a:rPr lang="ru-RU" dirty="0"/>
              <a:t> в Windows-среде.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89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gdb</a:t>
            </a:r>
            <a:r>
              <a:rPr lang="ru-RU" dirty="0"/>
              <a:t> — это стандартный отладчик в Unix-подобных системах.</a:t>
            </a:r>
          </a:p>
          <a:p>
            <a:r>
              <a:rPr lang="ru-RU" dirty="0"/>
              <a:t>Он позволяет выполнять программу по шагам, устанавливать точки останова и наблюдать за её состоянием — значениями переменных, регистров и выполняемыми инструкциями.</a:t>
            </a:r>
          </a:p>
          <a:p>
            <a:r>
              <a:rPr lang="ru-RU" dirty="0"/>
              <a:t>Однако важно понимать,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gdb</a:t>
            </a:r>
            <a:r>
              <a:rPr lang="ru-RU" dirty="0"/>
              <a:t> — это консольный инструмент, и его интерфейс может показаться сложным.</a:t>
            </a:r>
          </a:p>
          <a:p>
            <a:r>
              <a:rPr lang="ru-RU" dirty="0"/>
              <a:t>На практике большинство разработчиков используют интегрированные среды разработки, такие как Visual Studio или </a:t>
            </a:r>
            <a:r>
              <a:rPr lang="ru-RU" dirty="0" err="1"/>
              <a:t>CLion</a:t>
            </a:r>
            <a:r>
              <a:rPr lang="ru-RU" dirty="0"/>
              <a:t>, которые предоставляют более удобный графический интерфейс, но при этом используют те же механизмы отладки.</a:t>
            </a:r>
          </a:p>
          <a:p>
            <a:r>
              <a:rPr lang="ru-RU" dirty="0"/>
              <a:t>Поэтому цель знакомства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gdb</a:t>
            </a:r>
            <a:r>
              <a:rPr lang="ru-RU" dirty="0"/>
              <a:t> — понять базовые принципы работы отладчика, которые затем применяются в любых инструментах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250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Visual Studio доступен полноценный графический отладчик, который позволяет работать с ассемблером значительно удобнее, чем в консольных инструментах.</a:t>
            </a:r>
          </a:p>
          <a:p>
            <a:endParaRPr lang="ru-RU" dirty="0"/>
          </a:p>
          <a:p>
            <a:r>
              <a:rPr lang="ru-RU" dirty="0"/>
              <a:t>Можно открыть окно дизассемблера и наблюдать, какие инструкции выполняются в данный момент.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Visual Studio автоматически сопоставляет инструкции с исходным кодом на языке C, что особенно полезно для обучения.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доступны окна регистров и памяти, которые позволяют наблюдать состояние процессора во время выполнения программы.</a:t>
            </a:r>
          </a:p>
          <a:p>
            <a:r>
              <a:rPr lang="ru-RU" dirty="0"/>
              <a:t>Таким образом, Visual Studio предоставляет более наглядный и удобный способ изучения выполнения программ на уровне машинного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612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этапе у вас уже сформировано некоторое представление о современной архитектуре x86-64 на базовом уровне.</a:t>
            </a:r>
          </a:p>
          <a:p>
            <a:endParaRPr lang="ru-RU" dirty="0"/>
          </a:p>
          <a:p>
            <a:r>
              <a:rPr lang="ru-RU" dirty="0"/>
              <a:t>Вы познакомились с регистрами, инструкциями, соглашениями о вызовах и тем, как реализуются функции и работа со стеком.</a:t>
            </a:r>
          </a:p>
          <a:p>
            <a:endParaRPr lang="ru-RU" dirty="0"/>
          </a:p>
          <a:p>
            <a:r>
              <a:rPr lang="ru-RU" dirty="0"/>
              <a:t>Важно, что вы не просто изучили отдельные конструкции, а научились читать ассемблерный код и сопоставлять его с программами на языке C.</a:t>
            </a:r>
          </a:p>
          <a:p>
            <a:endParaRPr lang="ru-RU" dirty="0"/>
          </a:p>
          <a:p>
            <a:r>
              <a:rPr lang="ru-RU" dirty="0"/>
              <a:t>Также вы увидели, как использовать инструменты для анализа программ — как онлайн, так и локально.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825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1990-х и 2000-х годах компьютеры начали активно использоваться для мультимедиа и научных вычислений.</a:t>
            </a:r>
          </a:p>
          <a:p>
            <a:endParaRPr lang="ru-RU" dirty="0"/>
          </a:p>
          <a:p>
            <a:r>
              <a:rPr lang="ru-RU" dirty="0"/>
              <a:t>Появились задачи, в которых процессору приходилось выполнять огромное количество одинаковых операций: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обработка пикселей изображения,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обработка звука,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вычисления в играх,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физическое моделирование,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работа с видео. </a:t>
            </a:r>
          </a:p>
          <a:p>
            <a:endParaRPr lang="ru-RU" dirty="0"/>
          </a:p>
          <a:p>
            <a:r>
              <a:rPr lang="ru-RU" dirty="0"/>
              <a:t>Во всех этих задачах одна и та же операция повторяется над большим массивом данных. 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увеличить яркость каждого пикселя,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прибавить смещение к каждому </a:t>
            </a:r>
            <a:r>
              <a:rPr lang="ru-RU" dirty="0" err="1"/>
              <a:t>аудиосэмплу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сложить элементы двух массивов. </a:t>
            </a:r>
          </a:p>
          <a:p>
            <a:endParaRPr lang="ru-RU" dirty="0"/>
          </a:p>
          <a:p>
            <a:r>
              <a:rPr lang="ru-RU" dirty="0"/>
              <a:t>Если выполнять такие вычисления обычными </a:t>
            </a:r>
            <a:r>
              <a:rPr lang="ru-RU" dirty="0" err="1"/>
              <a:t>скарярными</a:t>
            </a:r>
            <a:r>
              <a:rPr lang="ru-RU" dirty="0"/>
              <a:t>-инструкциями, процессор будет обрабатывать данные по одному элементу за раз. Это приводит к большому количеству однотипных инструкций и ограничивает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475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видно, как выглядит скалярная обработка на уровне машинного кода.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Каждая итерация цикла: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загружает один элемент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загружает один элемент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складывает их,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сохраняет один элемент результата. </a:t>
            </a:r>
          </a:p>
          <a:p>
            <a:r>
              <a:rPr lang="ru-RU" dirty="0"/>
              <a:t>После этого индекс увеличивается, и цикл повторяется снова.</a:t>
            </a:r>
          </a:p>
          <a:p>
            <a:endParaRPr lang="ru-RU" dirty="0"/>
          </a:p>
          <a:p>
            <a:r>
              <a:rPr lang="ru-RU" dirty="0"/>
              <a:t>Обратите внимание: несмотря на то, что процессор работает очень быстро, за одну инструкцию всё равно обрабатывается только один элемент массива. Для массива из тысячи элементов цикл выполнится тысячу раз.</a:t>
            </a:r>
          </a:p>
          <a:p>
            <a:endParaRPr lang="ru-RU" dirty="0"/>
          </a:p>
          <a:p>
            <a:r>
              <a:rPr lang="ru-RU" dirty="0"/>
              <a:t>Именно ограничение «одна инструкция — один элемент» и стало причиной появления SIMD-инструкций, которые позволяют выполнять одну операцию сразу над несколькими значениями.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575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SIMD расшифровывается как Single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Multiple</a:t>
            </a:r>
            <a:r>
              <a:rPr lang="ru-RU" dirty="0"/>
              <a:t> Data — «одна инструкция, множество данных».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Главная идея SIMD очень проста: если одна и та же операция применяется ко многим элементам массива, процессор может выполнять её сразу над несколькими значениями одновременно.</a:t>
            </a:r>
          </a:p>
          <a:p>
            <a:endParaRPr lang="en-US" dirty="0"/>
          </a:p>
          <a:p>
            <a:r>
              <a:rPr lang="ru-RU" dirty="0"/>
              <a:t>В обычной скалярной обработке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складывает только два числа.</a:t>
            </a:r>
          </a:p>
          <a:p>
            <a:r>
              <a:rPr lang="ru-RU" dirty="0"/>
              <a:t>SIMD-инструкция может за один такт сложить сразу несколько чисел, например четыре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одновременно.</a:t>
            </a:r>
          </a:p>
          <a:p>
            <a:endParaRPr lang="en-US" dirty="0"/>
          </a:p>
          <a:p>
            <a:r>
              <a:rPr lang="ru-RU" dirty="0"/>
              <a:t>Для этого процессор использует специальные широкие регистры и специальные SIMD-инструкции.</a:t>
            </a:r>
          </a:p>
          <a:p>
            <a:r>
              <a:rPr lang="ru-RU" dirty="0"/>
              <a:t>Такой подход: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уменьшает количество выполняемых инструкций,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лучше загружает вычислительные блоки процессора,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существенно ускоряет обработку массивов данных. </a:t>
            </a:r>
          </a:p>
          <a:p>
            <a:endParaRPr lang="en-US" dirty="0"/>
          </a:p>
          <a:p>
            <a:r>
              <a:rPr lang="ru-RU" dirty="0"/>
              <a:t>Именно поэтому SIMD активно используется в современных компиляторах, библиотеках и приложениях.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9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SIMD обычных регистров общего назначения оказалось недостаточно.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регистр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 хранит только одно 32-битное значение. Для SIMD нужны более широкие регистры, способные хранить сразу несколько чисел.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в x86 появились специальные SIMD-регистры.</a:t>
            </a:r>
          </a:p>
          <a:p>
            <a:r>
              <a:rPr lang="ru-RU" dirty="0"/>
              <a:t>Сначала появились XMM-регистры размером 128 бит. Затем — более широкие YMM и ZMM.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Главная идея SIMD-регистра:</a:t>
            </a:r>
            <a:r>
              <a:rPr lang="en-US" dirty="0"/>
              <a:t> </a:t>
            </a:r>
            <a:r>
              <a:rPr lang="ru-RU" dirty="0"/>
              <a:t>он рассматривается не как одно большое число, а как набор элементов одинакового размера.</a:t>
            </a:r>
          </a:p>
          <a:p>
            <a:endParaRPr lang="en-US" dirty="0"/>
          </a:p>
          <a:p>
            <a:r>
              <a:rPr lang="ru-RU" dirty="0"/>
              <a:t>Например, XMM-регистр может содержать: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dirty="0"/>
              <a:t>четыре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,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dirty="0"/>
              <a:t>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dirty="0"/>
              <a:t>четыре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int32</a:t>
            </a:r>
            <a:r>
              <a:rPr lang="ru-RU" dirty="0"/>
              <a:t>,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dirty="0"/>
              <a:t>шестнадцать байтов. </a:t>
            </a:r>
            <a:endParaRPr lang="en-US" dirty="0"/>
          </a:p>
          <a:p>
            <a:pPr marL="228600" indent="-22860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Благодаря этому одна инструкция может одновременно выполнять операции сразу над несколькими элементами регистра.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206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SIMD-регистр — это просто 128 бит данных. Процессор не хранит информацию о типе внутри регистра.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Один и тот же XMM-регистр может использоваться: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массив байтов,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массив 16-битных чисел,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массив 32-битных чисел,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массив 64-битных чисел,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набор </a:t>
            </a:r>
            <a:r>
              <a:rPr lang="ru-RU" dirty="0" err="1"/>
              <a:t>float</a:t>
            </a:r>
            <a:r>
              <a:rPr lang="ru-RU" dirty="0"/>
              <a:t> или </a:t>
            </a:r>
            <a:r>
              <a:rPr lang="ru-RU" dirty="0" err="1"/>
              <a:t>double</a:t>
            </a:r>
            <a:r>
              <a:rPr lang="ru-RU" dirty="0"/>
              <a:t>. </a:t>
            </a:r>
          </a:p>
          <a:p>
            <a:endParaRPr lang="en-US" dirty="0"/>
          </a:p>
          <a:p>
            <a:r>
              <a:rPr lang="ru-RU" dirty="0"/>
              <a:t>Например:</a:t>
            </a:r>
          </a:p>
          <a:p>
            <a:r>
              <a:rPr lang="ru-RU" dirty="0"/>
              <a:t>128 бит = 16 байтов, </a:t>
            </a:r>
          </a:p>
          <a:p>
            <a:r>
              <a:rPr lang="ru-RU" dirty="0"/>
              <a:t>значит можно хранить: </a:t>
            </a:r>
          </a:p>
          <a:p>
            <a:pPr lvl="1"/>
            <a:r>
              <a:rPr lang="ru-RU" dirty="0"/>
              <a:t>16 элементов по 8 бит, </a:t>
            </a:r>
          </a:p>
          <a:p>
            <a:pPr lvl="1"/>
            <a:r>
              <a:rPr lang="ru-RU" dirty="0"/>
              <a:t>8 элементов по 16 бит, </a:t>
            </a:r>
          </a:p>
          <a:p>
            <a:pPr lvl="1"/>
            <a:r>
              <a:rPr lang="ru-RU" dirty="0"/>
              <a:t>4 элемента по 32 бита, </a:t>
            </a:r>
          </a:p>
          <a:p>
            <a:pPr lvl="1"/>
            <a:r>
              <a:rPr lang="ru-RU" dirty="0"/>
              <a:t>2 элемента по 64 бита. </a:t>
            </a:r>
          </a:p>
          <a:p>
            <a:endParaRPr lang="en-US" dirty="0"/>
          </a:p>
          <a:p>
            <a:r>
              <a:rPr lang="ru-RU" dirty="0"/>
              <a:t>SIMD поддерживает как знаковые, так и беззнаковые целые числа.</a:t>
            </a:r>
            <a:endParaRPr lang="en-US" dirty="0"/>
          </a:p>
          <a:p>
            <a:r>
              <a:rPr lang="ru-RU" dirty="0"/>
              <a:t>Обычно это определяется конкретной инструкцией:</a:t>
            </a:r>
            <a:r>
              <a:rPr lang="en-US" dirty="0"/>
              <a:t> </a:t>
            </a:r>
            <a:r>
              <a:rPr lang="ru-RU" dirty="0"/>
              <a:t>например, существуют отдельные инструкции для знакового и беззнакового сравнения. </a:t>
            </a:r>
          </a:p>
          <a:p>
            <a:endParaRPr lang="en-US" dirty="0"/>
          </a:p>
          <a:p>
            <a:r>
              <a:rPr lang="ru-RU" dirty="0"/>
              <a:t>Тип данных задаётся самой инструкцией. Например: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paddw</a:t>
            </a:r>
            <a:r>
              <a:rPr lang="ru-RU" dirty="0"/>
              <a:t> складывает 16-битные целые,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paddd</a:t>
            </a:r>
            <a:r>
              <a:rPr lang="ru-RU" dirty="0"/>
              <a:t> — 32-битные,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addps</a:t>
            </a:r>
            <a:r>
              <a:rPr lang="ru-RU" dirty="0"/>
              <a:t> — четыре числа </a:t>
            </a:r>
            <a:r>
              <a:rPr lang="ru-RU" dirty="0" err="1"/>
              <a:t>float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addpd</a:t>
            </a:r>
            <a:r>
              <a:rPr lang="ru-RU" dirty="0"/>
              <a:t> — два </a:t>
            </a:r>
            <a:r>
              <a:rPr lang="ru-RU" dirty="0" err="1"/>
              <a:t>double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4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SIMD-инструкции работают сразу с несколькими элементами SIMD-регистра.</a:t>
            </a:r>
          </a:p>
          <a:p>
            <a:r>
              <a:rPr lang="ru-RU" dirty="0"/>
              <a:t>Например,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addps</a:t>
            </a:r>
            <a:r>
              <a:rPr lang="ru-RU" dirty="0"/>
              <a:t> складывает четыре числа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одновременно.</a:t>
            </a:r>
          </a:p>
          <a:p>
            <a:r>
              <a:rPr lang="ru-RU" dirty="0"/>
              <a:t>Суффикс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</a:t>
            </a:r>
            <a:r>
              <a:rPr lang="ru-RU" dirty="0"/>
              <a:t> означает: </a:t>
            </a:r>
            <a:r>
              <a:rPr lang="ru-RU" dirty="0" err="1"/>
              <a:t>packed</a:t>
            </a:r>
            <a:r>
              <a:rPr lang="ru-RU" dirty="0"/>
              <a:t> </a:t>
            </a:r>
            <a:r>
              <a:rPr lang="ru-RU" dirty="0" err="1"/>
              <a:t>single</a:t>
            </a:r>
            <a:r>
              <a:rPr lang="ru-RU" dirty="0"/>
              <a:t> </a:t>
            </a:r>
            <a:r>
              <a:rPr lang="ru-RU" dirty="0" err="1"/>
              <a:t>precision</a:t>
            </a:r>
            <a:r>
              <a:rPr lang="ru-RU" dirty="0"/>
              <a:t>, то есть «упакованные числа одинарной точности». </a:t>
            </a:r>
          </a:p>
          <a:p>
            <a:endParaRPr lang="ru-RU" dirty="0"/>
          </a:p>
          <a:p>
            <a:r>
              <a:rPr lang="ru-RU" dirty="0"/>
              <a:t>В отличие от обычного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, который выполняет одно сложение, SIMD-инструкция за один вызов выполняет сразу несколько операций.</a:t>
            </a:r>
          </a:p>
          <a:p>
            <a:endParaRPr lang="ru-RU" dirty="0"/>
          </a:p>
          <a:p>
            <a:r>
              <a:rPr lang="ru-RU" dirty="0"/>
              <a:t>Это и даёт основной прирост производительности SIMD.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232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</a:t>
            </a:r>
            <a:r>
              <a:rPr lang="en-US" dirty="0"/>
              <a:t>SIMD-</a:t>
            </a:r>
            <a:r>
              <a:rPr lang="ru-RU" dirty="0"/>
              <a:t>инструкции обычно содержит информацию о типе данных, с которыми она работает.</a:t>
            </a:r>
          </a:p>
          <a:p>
            <a:endParaRPr lang="ru-RU" dirty="0"/>
          </a:p>
          <a:p>
            <a:r>
              <a:rPr lang="ru-RU" dirty="0"/>
              <a:t>Для целых чисел используются традиционные обозначения </a:t>
            </a:r>
            <a:r>
              <a:rPr lang="en-US" dirty="0"/>
              <a:t>x86: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 — byte, 8 </a:t>
            </a:r>
            <a:r>
              <a:rPr lang="ru-RU" dirty="0"/>
              <a:t>бит,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US" dirty="0"/>
              <a:t> — word, 16 </a:t>
            </a:r>
            <a:r>
              <a:rPr lang="ru-RU" dirty="0"/>
              <a:t>бит,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dirty="0"/>
              <a:t> — double word, 32 </a:t>
            </a:r>
            <a:r>
              <a:rPr lang="ru-RU" dirty="0"/>
              <a:t>бита,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en-US" dirty="0"/>
              <a:t> — quad word, 64 </a:t>
            </a:r>
            <a:r>
              <a:rPr lang="ru-RU" dirty="0"/>
              <a:t>бита. 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paddb</a:t>
            </a:r>
            <a:r>
              <a:rPr lang="en-US" dirty="0"/>
              <a:t> </a:t>
            </a:r>
            <a:r>
              <a:rPr lang="ru-RU" dirty="0"/>
              <a:t>складывает 16 байтов,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paddw</a:t>
            </a:r>
            <a:r>
              <a:rPr lang="en-US" dirty="0"/>
              <a:t> — </a:t>
            </a:r>
            <a:r>
              <a:rPr lang="ru-RU" dirty="0"/>
              <a:t>восемь 16-битных чисел,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paddd</a:t>
            </a:r>
            <a:r>
              <a:rPr lang="en-US" dirty="0"/>
              <a:t> — </a:t>
            </a:r>
            <a:r>
              <a:rPr lang="ru-RU" dirty="0"/>
              <a:t>четыре 32-битных числа,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paddq</a:t>
            </a:r>
            <a:r>
              <a:rPr lang="en-US" dirty="0"/>
              <a:t> — </a:t>
            </a:r>
            <a:r>
              <a:rPr lang="ru-RU" dirty="0"/>
              <a:t>два 64-битных числа. </a:t>
            </a:r>
          </a:p>
          <a:p>
            <a:endParaRPr lang="ru-RU" dirty="0"/>
          </a:p>
          <a:p>
            <a:r>
              <a:rPr lang="ru-RU" dirty="0"/>
              <a:t>Для </a:t>
            </a:r>
            <a:r>
              <a:rPr lang="en-US" dirty="0"/>
              <a:t>floating point </a:t>
            </a:r>
            <a:r>
              <a:rPr lang="ru-RU" dirty="0"/>
              <a:t>используются другие обозначения: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</a:t>
            </a:r>
            <a:r>
              <a:rPr lang="en-US" dirty="0"/>
              <a:t> — packed single precision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en-US" dirty="0"/>
              <a:t>),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</a:t>
            </a:r>
            <a:r>
              <a:rPr lang="en-US" dirty="0"/>
              <a:t> — packed double precision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6354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SIMD-регистры используются не только для параллельных вычислений.</a:t>
            </a:r>
          </a:p>
          <a:p>
            <a:endParaRPr lang="ru-RU" dirty="0"/>
          </a:p>
          <a:p>
            <a:r>
              <a:rPr lang="ru-RU" dirty="0"/>
              <a:t>Даже обычные операции с </a:t>
            </a:r>
            <a:r>
              <a:rPr lang="ru-RU" dirty="0" err="1"/>
              <a:t>float</a:t>
            </a:r>
            <a:r>
              <a:rPr lang="ru-RU" dirty="0"/>
              <a:t> и </a:t>
            </a:r>
            <a:r>
              <a:rPr lang="ru-RU" dirty="0" err="1"/>
              <a:t>double</a:t>
            </a:r>
            <a:r>
              <a:rPr lang="ru-RU" dirty="0"/>
              <a:t> в современных x86-64 часто выполняются через XMM-регистры.</a:t>
            </a:r>
          </a:p>
          <a:p>
            <a:endParaRPr lang="ru-RU" dirty="0"/>
          </a:p>
          <a:p>
            <a:r>
              <a:rPr lang="ru-RU" dirty="0"/>
              <a:t>Поэтому существуют два типа инструкций: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scalar</a:t>
            </a:r>
            <a:r>
              <a:rPr lang="ru-RU" dirty="0"/>
              <a:t> — работают только с одним элементом,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packed</a:t>
            </a:r>
            <a:r>
              <a:rPr lang="ru-RU" dirty="0"/>
              <a:t> — работают сразу с несколькими элементами. 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addss</a:t>
            </a:r>
            <a:r>
              <a:rPr lang="ru-RU" dirty="0"/>
              <a:t> складывает только один </a:t>
            </a:r>
            <a:r>
              <a:rPr lang="ru-RU" dirty="0" err="1"/>
              <a:t>float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addps</a:t>
            </a:r>
            <a:r>
              <a:rPr lang="ru-RU" dirty="0"/>
              <a:t> — сразу четыре </a:t>
            </a:r>
            <a:r>
              <a:rPr lang="ru-RU" dirty="0" err="1"/>
              <a:t>float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Это важный момент, потому что позже при изучении 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 мы увидим, что современные компиляторы активно используют именно XMM-регистры и SIMD-инструкции даже для обычных вычислений с плавающей точкой.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595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пример автоматической векторизации.</a:t>
            </a:r>
          </a:p>
          <a:p>
            <a:endParaRPr lang="ru-RU" dirty="0"/>
          </a:p>
          <a:p>
            <a:r>
              <a:rPr lang="ru-RU" dirty="0"/>
              <a:t>Исходная функция складывает два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но компилятор сгенерировал не один цикл, а несколько вариантов обработки.</a:t>
            </a:r>
          </a:p>
          <a:p>
            <a:endParaRPr lang="ru-RU" dirty="0"/>
          </a:p>
          <a:p>
            <a:r>
              <a:rPr lang="ru-RU" dirty="0"/>
              <a:t>В начале функции выполняется подготовка аргументов и серия проверок. Компилятор определяет, можно ли безопасно использовать векторный цикл: достаточно ли элементов в массиве и не пересекаются ли области памяти так, что это помешает корректной записи результата.</a:t>
            </a:r>
          </a:p>
          <a:p>
            <a:endParaRPr lang="ru-RU" dirty="0"/>
          </a:p>
          <a:p>
            <a:r>
              <a:rPr lang="ru-RU" dirty="0"/>
              <a:t>Если SIMD использовать нельзя или элементов слишком мало, управление переходит 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.L9</a:t>
            </a:r>
            <a:r>
              <a:rPr lang="ru-RU" dirty="0"/>
              <a:t>, а затем к скалярному циклу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.L7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скалярном цикле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.L7</a:t>
            </a:r>
            <a:r>
              <a:rPr lang="ru-RU" dirty="0"/>
              <a:t> элементы обрабатываются по одному: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DWORD PTR [r8+rax*4]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DWORD PTR [r9+rax*4],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ru-RU" dirty="0"/>
              <a:t>Это обычная обработка: один элемент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a[i]</a:t>
            </a:r>
            <a:r>
              <a:rPr lang="ru-RU" dirty="0"/>
              <a:t>, один элемент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b[i]</a:t>
            </a:r>
            <a:r>
              <a:rPr lang="ru-RU" dirty="0"/>
              <a:t>, один элемент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c[i]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Основная векторная часть находится в цикле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.L5</a:t>
            </a:r>
            <a:r>
              <a:rPr lang="ru-RU" dirty="0"/>
              <a:t>.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movdqu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xmm0, XMMWORD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movdqu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xmm2, XMMWORD PTR [r8+rax]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xmm0, xmm2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movups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XMMWORD PTR [r9+rax], xmm0</a:t>
            </a:r>
          </a:p>
          <a:p>
            <a:endParaRPr lang="ru-RU" dirty="0"/>
          </a:p>
          <a:p>
            <a:r>
              <a:rPr lang="ru-RU" dirty="0"/>
              <a:t>Здесь за одну итерацию загружаются сразу 16 байт из каждого массива, то есть четыре значения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paddd</a:t>
            </a:r>
            <a:r>
              <a:rPr lang="ru-RU" dirty="0"/>
              <a:t> складывает четыре 32-битных целых числа одновременно, после чего результат сохраняется в массив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завершения векторного цикла компилятор проверяет, остались ли необработанные элементы. Если количество элементов не кратно четырём, остаток обрабатывается отдельно: сначала пара элементов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movq</a:t>
            </a:r>
            <a:r>
              <a:rPr lang="ru-RU" dirty="0"/>
              <a:t>, затем, если нужно, последний элемент через обычные скалярные инструкции.</a:t>
            </a:r>
          </a:p>
          <a:p>
            <a:endParaRPr lang="ru-RU" dirty="0"/>
          </a:p>
          <a:p>
            <a:r>
              <a:rPr lang="ru-RU" dirty="0"/>
              <a:t>Таким образом, компилятор строит комбинированную схему:</a:t>
            </a:r>
            <a:br>
              <a:rPr lang="ru-RU" dirty="0"/>
            </a:br>
            <a:r>
              <a:rPr lang="ru-RU" dirty="0"/>
              <a:t>основной объём данных обрабатывается SIMD-циклом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.L5</a:t>
            </a:r>
            <a:r>
              <a:rPr lang="ru-RU" dirty="0"/>
              <a:t>, а «хвост» массива — дополнительным кодом.</a:t>
            </a:r>
          </a:p>
          <a:p>
            <a:endParaRPr lang="ru-RU" dirty="0"/>
          </a:p>
          <a:p>
            <a:r>
              <a:rPr lang="ru-RU" dirty="0"/>
              <a:t>Это важный пример того, что автоматическая векторизация часто делает программу сложнее на уровне ассемблера, но быстрее при выполнении.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67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SIMD-регистры работают сразу с большими блоками данных. Например, XMM-регистр имеет размер 16 байт.</a:t>
            </a:r>
          </a:p>
          <a:p>
            <a:r>
              <a:rPr lang="ru-RU" dirty="0"/>
              <a:t>Из-за этого появляется понятие выравнивания памяти.</a:t>
            </a:r>
          </a:p>
          <a:p>
            <a:endParaRPr lang="ru-RU" dirty="0"/>
          </a:p>
          <a:p>
            <a:r>
              <a:rPr lang="ru-RU" dirty="0"/>
              <a:t>Адрес считается выровненным по 16 байтам, если он кратен 16. Например: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0x1000 — выровнен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0x1008 — не выровнен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Первые SIMD-инструкции SSE требовали строгого выравнивания данных в памяти. Например,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movdqa</a:t>
            </a:r>
            <a:r>
              <a:rPr lang="ru-RU" dirty="0"/>
              <a:t> ожидает, что адрес будет кратен 16 байтам. Если это не так, на старых процессорах могла возникнуть ошибка.</a:t>
            </a:r>
          </a:p>
          <a:p>
            <a:endParaRPr lang="ru-RU" dirty="0"/>
          </a:p>
          <a:p>
            <a:r>
              <a:rPr lang="ru-RU" dirty="0"/>
              <a:t>Для работы с произвольными адресами появились </a:t>
            </a:r>
            <a:r>
              <a:rPr lang="ru-RU" dirty="0" err="1"/>
              <a:t>unaligned</a:t>
            </a:r>
            <a:r>
              <a:rPr lang="ru-RU" dirty="0"/>
              <a:t>-команды,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movdqu</a:t>
            </a:r>
            <a:r>
              <a:rPr lang="ru-RU" dirty="0"/>
              <a:t>. Они позволяют загружать данные без требования выравнивания.</a:t>
            </a:r>
          </a:p>
          <a:p>
            <a:endParaRPr lang="ru-RU" dirty="0"/>
          </a:p>
          <a:p>
            <a:r>
              <a:rPr lang="ru-RU" dirty="0"/>
              <a:t>На современных процессорах </a:t>
            </a:r>
            <a:r>
              <a:rPr lang="ru-RU" dirty="0" err="1"/>
              <a:t>невыровненный</a:t>
            </a:r>
            <a:r>
              <a:rPr lang="ru-RU" dirty="0"/>
              <a:t> доступ обычно поддерживается </a:t>
            </a:r>
            <a:r>
              <a:rPr lang="ru-RU" dirty="0" err="1"/>
              <a:t>аппаратно</a:t>
            </a:r>
            <a:r>
              <a:rPr lang="ru-RU" dirty="0"/>
              <a:t>, но выровненные данные всё равно часто работают быстрее.</a:t>
            </a:r>
          </a:p>
          <a:p>
            <a:endParaRPr lang="ru-RU" dirty="0"/>
          </a:p>
          <a:p>
            <a:r>
              <a:rPr lang="ru-RU" dirty="0"/>
              <a:t>Именно поэтому в ABI появились требования к выравниванию стека.</a:t>
            </a:r>
          </a:p>
          <a:p>
            <a:r>
              <a:rPr lang="ru-RU" dirty="0"/>
              <a:t>В System V ABI стек перед вызовом функции обязан быть выровнен по границе 16 байт. Это позволяет функциям безопасно использовать SIMD-инструкции и сохранять XMM-регистры на стек без дополнительной проверки выравнивания.</a:t>
            </a:r>
          </a:p>
          <a:p>
            <a:endParaRPr lang="ru-RU" dirty="0"/>
          </a:p>
          <a:p>
            <a:r>
              <a:rPr lang="ru-RU" dirty="0"/>
              <a:t>То есть правило выравнивания стека связано не только с «красивым» размещением данных, а напрямую с поддержкой SIMD и эффективной работой процессора.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9175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SSE стало понятно, что 128-битных XMM-регистров уже недостаточно для многих задач.</a:t>
            </a:r>
          </a:p>
          <a:p>
            <a:endParaRPr lang="ru-RU" dirty="0"/>
          </a:p>
          <a:p>
            <a:r>
              <a:rPr lang="ru-RU" dirty="0"/>
              <a:t>Поэтому Intel и AMD добавили AVX — Advanced </a:t>
            </a:r>
            <a:r>
              <a:rPr lang="ru-RU" dirty="0" err="1"/>
              <a:t>Vector</a:t>
            </a:r>
            <a:r>
              <a:rPr lang="ru-RU" dirty="0"/>
              <a:t> </a:t>
            </a:r>
            <a:r>
              <a:rPr lang="ru-RU" dirty="0" err="1"/>
              <a:t>Extensions</a:t>
            </a:r>
            <a:r>
              <a:rPr lang="ru-RU" dirty="0"/>
              <a:t>.</a:t>
            </a:r>
          </a:p>
          <a:p>
            <a:r>
              <a:rPr lang="ru-RU" dirty="0" err="1"/>
              <a:t>Главое</a:t>
            </a:r>
            <a:r>
              <a:rPr lang="ru-RU" dirty="0"/>
              <a:t> изменение AVX — появление YMM-регистров размером 256 бит. Это вдвое больше XMM.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r>
              <a:rPr lang="ru-RU" dirty="0"/>
              <a:t>вместо 4 чисел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можно обработать сразу 8, </a:t>
            </a:r>
          </a:p>
          <a:p>
            <a:r>
              <a:rPr lang="ru-RU" dirty="0"/>
              <a:t>вместо 2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— сразу 4. </a:t>
            </a:r>
          </a:p>
          <a:p>
            <a:endParaRPr lang="ru-RU" dirty="0"/>
          </a:p>
          <a:p>
            <a:r>
              <a:rPr lang="ru-RU" dirty="0"/>
              <a:t>Но AVX изменил не только размер регистров.</a:t>
            </a:r>
          </a:p>
          <a:p>
            <a:r>
              <a:rPr lang="ru-RU" dirty="0"/>
              <a:t>В SSE большинство инструкций были </a:t>
            </a:r>
            <a:r>
              <a:rPr lang="ru-RU" dirty="0" err="1"/>
              <a:t>двухоперандными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addps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xmm0, xmm1</a:t>
            </a:r>
          </a:p>
          <a:p>
            <a:endParaRPr lang="ru-RU" dirty="0"/>
          </a:p>
          <a:p>
            <a:r>
              <a:rPr lang="ru-RU" dirty="0"/>
              <a:t>Результат записывался в один из исходных операндов: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xmm0 = xmm0 + xmm1</a:t>
            </a:r>
          </a:p>
          <a:p>
            <a:endParaRPr lang="ru-RU" dirty="0"/>
          </a:p>
          <a:p>
            <a:r>
              <a:rPr lang="ru-RU" dirty="0"/>
              <a:t>Из-за этого часто приходилось делать лишние копирования.</a:t>
            </a:r>
          </a:p>
          <a:p>
            <a:r>
              <a:rPr lang="ru-RU" dirty="0"/>
              <a:t>AVX ввёл </a:t>
            </a:r>
            <a:r>
              <a:rPr lang="ru-RU" dirty="0" err="1"/>
              <a:t>трёхоперандный</a:t>
            </a:r>
            <a:r>
              <a:rPr lang="ru-RU" dirty="0"/>
              <a:t> формат: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vaddps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ymm0, ymm1, ymm2</a:t>
            </a:r>
          </a:p>
          <a:p>
            <a:endParaRPr lang="ru-RU" dirty="0"/>
          </a:p>
          <a:p>
            <a:r>
              <a:rPr lang="ru-RU" dirty="0"/>
              <a:t>Теперь: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ymm0 = ymm1 + ymm2</a:t>
            </a:r>
          </a:p>
          <a:p>
            <a:endParaRPr lang="ru-RU" dirty="0"/>
          </a:p>
          <a:p>
            <a:r>
              <a:rPr lang="ru-RU" dirty="0"/>
              <a:t>Исходные данные не портятся, и компилятору проще оптимизировать код.</a:t>
            </a:r>
          </a:p>
          <a:p>
            <a:endParaRPr lang="ru-RU" dirty="0"/>
          </a:p>
          <a:p>
            <a:r>
              <a:rPr lang="ru-RU" dirty="0"/>
              <a:t>Кроме того, AVX использует новое VEX-кодирование инструкций. Именно поэтому многие AVX-инструкции начинаются с буквы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vmovdqu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vaddps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vpaddd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AVX стал основой большинства современных SIMD-оптимизаций на x86-64.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428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XMM, YMM и ZMM — это не независимые наборы регистров.</a:t>
            </a:r>
          </a:p>
          <a:p>
            <a:endParaRPr lang="ru-RU" dirty="0"/>
          </a:p>
          <a:p>
            <a:r>
              <a:rPr lang="ru-RU" dirty="0"/>
              <a:t>Архитектура x86-64 развивалась постепенно. Сначала появились 128-битные XMM-регистры в SSE. Затем AVX расширил их до 256 бит, а AVX-512 — до 512 бит.</a:t>
            </a:r>
          </a:p>
          <a:p>
            <a:endParaRPr lang="ru-RU" dirty="0"/>
          </a:p>
          <a:p>
            <a:r>
              <a:rPr lang="ru-RU" dirty="0"/>
              <a:t>При этом новые регистры не создавались «с нуля». Вместо этого старые регистры стали младшими частями новых.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XMM0 — это младшие 128 бит YMM0,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YMM0 — младшие 256 бит ZMM0. </a:t>
            </a:r>
          </a:p>
          <a:p>
            <a:r>
              <a:rPr lang="ru-RU" dirty="0"/>
              <a:t>Поэтому запись в YMM0 автоматически изменяет и XMM0.</a:t>
            </a:r>
          </a:p>
          <a:p>
            <a:endParaRPr lang="ru-RU" dirty="0"/>
          </a:p>
          <a:p>
            <a:r>
              <a:rPr lang="ru-RU" dirty="0"/>
              <a:t>Это важно понимать при чтении ассемблерного кода.</a:t>
            </a:r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vmovdqu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ymm0,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r>
              <a:rPr lang="ru-RU" dirty="0"/>
              <a:t>заполняет весь 256-битный YMM0. После этого XMM0 уже содержит младшие 128 бит загруженного значения.</a:t>
            </a:r>
          </a:p>
          <a:p>
            <a:endParaRPr lang="ru-RU" dirty="0"/>
          </a:p>
          <a:p>
            <a:r>
              <a:rPr lang="ru-RU" dirty="0"/>
              <a:t>Интересная особенность AVX состоит в том, что многие VEX-кодированные инструкции автоматически </a:t>
            </a:r>
            <a:r>
              <a:rPr lang="ru-RU" dirty="0" err="1"/>
              <a:t>зануляют</a:t>
            </a:r>
            <a:r>
              <a:rPr lang="ru-RU" dirty="0"/>
              <a:t> верхнюю часть регистра.</a:t>
            </a:r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vmovdqu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xmm0,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r>
              <a:rPr lang="ru-RU" dirty="0"/>
              <a:t>записывает нижние 128 бит и очищает верхние 128 бит YMM0.</a:t>
            </a:r>
          </a:p>
          <a:p>
            <a:endParaRPr lang="ru-RU" dirty="0"/>
          </a:p>
          <a:p>
            <a:r>
              <a:rPr lang="ru-RU" dirty="0"/>
              <a:t>Это позволяет избежать ложных зависимостей и помогает процессору эффективнее выполнять код.</a:t>
            </a:r>
          </a:p>
          <a:p>
            <a:endParaRPr lang="ru-RU" dirty="0"/>
          </a:p>
          <a:p>
            <a:r>
              <a:rPr lang="ru-RU" dirty="0"/>
              <a:t>Из-за перекрытия регистров при смешивании SSE и AVX может возникать </a:t>
            </a:r>
            <a:r>
              <a:rPr lang="ru-RU" dirty="0" err="1"/>
              <a:t>penalty</a:t>
            </a:r>
            <a:r>
              <a:rPr lang="ru-RU" dirty="0"/>
              <a:t> — дополнительная задержка внутри процессора при переходе от AVX-кода к старым SSE-инструкциям.</a:t>
            </a:r>
          </a:p>
          <a:p>
            <a:endParaRPr lang="ru-RU" dirty="0"/>
          </a:p>
          <a:p>
            <a:r>
              <a:rPr lang="ru-RU" dirty="0"/>
              <a:t>Поэтому компиляторы часто вставляют инструкцию: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zeroupper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Она очищает верхние части YMM-регистров перед переходом к SSE-коду и помогает избежать потери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033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код, сгенерированный с использованием AVX2. Функция складывает два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но компилятор снова создаёт несколько вариантов цикла.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Главная часть — это векторный цикл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.L5</a:t>
            </a:r>
            <a:r>
              <a:rPr lang="ru-RU" dirty="0"/>
              <a:t>.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vmovdqu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ymm0, YMMWORD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vpaddd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ymm0, ymm0, YMMWORD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vmovdqu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YMMWORD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], ymm0</a:t>
            </a:r>
          </a:p>
          <a:p>
            <a:endParaRPr lang="en-US" dirty="0"/>
          </a:p>
          <a:p>
            <a:r>
              <a:rPr lang="ru-RU" dirty="0"/>
              <a:t>Здесь используются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YMM</a:t>
            </a:r>
            <a:r>
              <a:rPr lang="ru-RU" dirty="0"/>
              <a:t>-регистры размером 256 бит. Один такой регистр вмещает восемь 32-битных целых чисел. Поэтому одна итерация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.L5</a:t>
            </a:r>
            <a:r>
              <a:rPr lang="ru-RU" dirty="0"/>
              <a:t> обрабатывает сразу 8 элементов массива.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vmovdqu</a:t>
            </a:r>
            <a:r>
              <a:rPr lang="ru-RU" dirty="0"/>
              <a:t> загружает 32 байта из памяти,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vpaddd</a:t>
            </a:r>
            <a:r>
              <a:rPr lang="ru-RU" dirty="0"/>
              <a:t> складывает восемь пар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а затем результат записывается обратно в массив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.</a:t>
            </a:r>
          </a:p>
          <a:p>
            <a:r>
              <a:rPr lang="ru-RU" dirty="0"/>
              <a:t>После каждой итерации: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32</a:t>
            </a:r>
          </a:p>
          <a:p>
            <a:r>
              <a:rPr lang="ru-RU" dirty="0"/>
              <a:t>указатель смещается на 32 байта, то есть на 8 элементов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Но компилятор не всегда может использовать этот цикл. В начале функции он проверяет размер массива и возможное пересечение областей памяти. Если элементов слишком мало или векторизация небезопасна, выполнение переходит к скалярному циклу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.L7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.L7</a:t>
            </a:r>
            <a:r>
              <a:rPr lang="ru-RU" dirty="0"/>
              <a:t> элементы складываются по одному: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r8d, DWORD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r8d, DWORD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*4]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DWORD PTR 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rdx+rax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*4], r8d</a:t>
            </a:r>
          </a:p>
          <a:p>
            <a:endParaRPr lang="en-US" dirty="0"/>
          </a:p>
          <a:p>
            <a:r>
              <a:rPr lang="ru-RU" dirty="0"/>
              <a:t>Это обычная скалярная обработка: одна итерация — один элемент.</a:t>
            </a:r>
          </a:p>
          <a:p>
            <a:endParaRPr lang="en-US" dirty="0"/>
          </a:p>
          <a:p>
            <a:r>
              <a:rPr lang="ru-RU" dirty="0"/>
              <a:t>Таким образом,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.L5</a:t>
            </a:r>
            <a:r>
              <a:rPr lang="ru-RU" dirty="0"/>
              <a:t> — быстрый AVX2-вариант для больших и безопасных массивов,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.L7</a:t>
            </a:r>
            <a:r>
              <a:rPr lang="ru-RU" dirty="0"/>
              <a:t> — универсальный </a:t>
            </a:r>
            <a:r>
              <a:rPr lang="ru-RU" dirty="0" err="1"/>
              <a:t>fallback</a:t>
            </a:r>
            <a:r>
              <a:rPr lang="ru-RU" dirty="0"/>
              <a:t>-вариант, который работает всегда.</a:t>
            </a:r>
          </a:p>
          <a:p>
            <a:endParaRPr lang="en-US" dirty="0"/>
          </a:p>
          <a:p>
            <a:r>
              <a:rPr lang="ru-RU" dirty="0"/>
              <a:t>Дополнительно в коде есть обработка «хвоста» массива: если количество элементов не кратно 8, оставшиеся элементы обрабатываются через XMM-код и скалярные инструкции.</a:t>
            </a:r>
          </a:p>
          <a:p>
            <a:endParaRPr lang="en-US" dirty="0"/>
          </a:p>
          <a:p>
            <a:r>
              <a:rPr lang="ru-RU" dirty="0"/>
              <a:t>Важно обратить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vzeroupper</a:t>
            </a:r>
            <a:r>
              <a:rPr lang="ru-RU" dirty="0"/>
              <a:t>: эта инструкция очищает верхние части YMM-регистров перед возвратом или переходом к коду, который может использовать SSE. Это нужно, чтобы избежать штрафов при смешивании AVX и SSE-инструкций на некоторых процессорах.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0431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SIMD-код генерировал компилятор автоматически. Но SIMD-инструкции можно вызывать и напрямую из C-кода с помощью </a:t>
            </a:r>
            <a:r>
              <a:rPr lang="ru-RU" dirty="0" err="1"/>
              <a:t>intrinsics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Intrinsics</a:t>
            </a:r>
            <a:r>
              <a:rPr lang="ru-RU" dirty="0"/>
              <a:t> — это специальные встроенные функции компилятора, которые почти один к одному соответствуют SIMD-инструкциям процессора.</a:t>
            </a:r>
          </a:p>
          <a:p>
            <a:endParaRPr lang="ru-RU" dirty="0"/>
          </a:p>
          <a:p>
            <a:r>
              <a:rPr lang="ru-RU" dirty="0"/>
              <a:t>Для работы с ними подключаются специальные заголовочные файлы, например: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xmmintrin.h</a:t>
            </a:r>
            <a:r>
              <a:rPr lang="ru-RU" dirty="0"/>
              <a:t> для SSE,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emmintrin.h</a:t>
            </a:r>
            <a:r>
              <a:rPr lang="ru-RU" dirty="0"/>
              <a:t> для SSE2. </a:t>
            </a:r>
          </a:p>
          <a:p>
            <a:endParaRPr lang="ru-RU" dirty="0"/>
          </a:p>
          <a:p>
            <a:r>
              <a:rPr lang="ru-RU" dirty="0"/>
              <a:t>Кроме того, появляются специальные типы данных: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__m128</a:t>
            </a:r>
            <a:r>
              <a:rPr lang="ru-RU" dirty="0"/>
              <a:t> — четыре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,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__m128d</a:t>
            </a:r>
            <a:r>
              <a:rPr lang="ru-RU" dirty="0"/>
              <a:t> —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__m128i</a:t>
            </a:r>
            <a:r>
              <a:rPr lang="ru-RU" dirty="0"/>
              <a:t> — целочисленные SIMD-данные. </a:t>
            </a:r>
          </a:p>
          <a:p>
            <a:endParaRPr lang="ru-RU" dirty="0"/>
          </a:p>
          <a:p>
            <a:r>
              <a:rPr lang="ru-RU" dirty="0"/>
              <a:t>В примере функция загружает четыре числа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из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затем четыре числа из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складывает их и сохраняет результат.</a:t>
            </a:r>
          </a:p>
          <a:p>
            <a:endParaRPr lang="ru-RU" dirty="0"/>
          </a:p>
          <a:p>
            <a:r>
              <a:rPr lang="ru-RU" dirty="0"/>
              <a:t>Интересно, что </a:t>
            </a:r>
            <a:r>
              <a:rPr lang="ru-RU" dirty="0" err="1"/>
              <a:t>intrinsics</a:t>
            </a:r>
            <a:r>
              <a:rPr lang="ru-RU" dirty="0"/>
              <a:t> выглядят как обычный C-код, но компилятор генерирует почти прямое соответствие SIMD-инструкциям.</a:t>
            </a:r>
          </a:p>
          <a:p>
            <a:r>
              <a:rPr lang="ru-RU" dirty="0"/>
              <a:t>Например: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mm_loadu_ps</a:t>
            </a:r>
            <a:r>
              <a:rPr lang="ru-RU" dirty="0"/>
              <a:t> превращается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vmovups</a:t>
            </a:r>
            <a:r>
              <a:rPr lang="ru-RU" dirty="0"/>
              <a:t>,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mm_add_ps</a:t>
            </a:r>
            <a:r>
              <a:rPr lang="ru-RU" dirty="0"/>
              <a:t> —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vaddps</a:t>
            </a:r>
            <a:r>
              <a:rPr lang="ru-RU" dirty="0"/>
              <a:t>,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mm_storeu_ps</a:t>
            </a:r>
            <a:r>
              <a:rPr lang="ru-RU" dirty="0"/>
              <a:t> — снова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vmovups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То есть </a:t>
            </a:r>
            <a:r>
              <a:rPr lang="ru-RU" dirty="0" err="1"/>
              <a:t>intrinsics</a:t>
            </a:r>
            <a:r>
              <a:rPr lang="ru-RU" dirty="0"/>
              <a:t> позволяют писать SIMD-код без ручного ассемблера, но при этом программист уже явно управляет использованием SIMD-регистров и инструкций.</a:t>
            </a:r>
          </a:p>
          <a:p>
            <a:endParaRPr lang="ru-RU" dirty="0"/>
          </a:p>
          <a:p>
            <a:r>
              <a:rPr lang="ru-RU" dirty="0"/>
              <a:t>Важно понимать, что такой код становится архитектурно-зависимым. Например, </a:t>
            </a:r>
            <a:r>
              <a:rPr lang="ru-RU" dirty="0" err="1"/>
              <a:t>intrinsics</a:t>
            </a:r>
            <a:r>
              <a:rPr lang="ru-RU" dirty="0"/>
              <a:t> SSE и AVX работают только на процессорах x86/x86-64 с поддержкой соответствующих расширений.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646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в x86 вычисления с плавающей точкой выполнялись через отдельный блок x87 FPU. Но в современном x86-64 компиляторы обычно используют XMM-регистры даже для обычных </a:t>
            </a:r>
            <a:r>
              <a:rPr lang="ru-RU" dirty="0" err="1"/>
              <a:t>scalar</a:t>
            </a:r>
            <a:r>
              <a:rPr lang="ru-RU" dirty="0"/>
              <a:t> 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 операций.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addss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складывает одно число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.</a:t>
            </a:r>
          </a:p>
          <a:p>
            <a:r>
              <a:rPr lang="ru-RU" dirty="0"/>
              <a:t>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addsd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работает с одним числом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Суффиксы: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ss</a:t>
            </a:r>
            <a:r>
              <a:rPr lang="ru-RU" dirty="0"/>
              <a:t> означают </a:t>
            </a:r>
            <a:r>
              <a:rPr lang="ru-RU" dirty="0" err="1"/>
              <a:t>scalar</a:t>
            </a:r>
            <a:r>
              <a:rPr lang="ru-RU" dirty="0"/>
              <a:t> </a:t>
            </a:r>
            <a:r>
              <a:rPr lang="ru-RU" dirty="0" err="1"/>
              <a:t>single</a:t>
            </a:r>
            <a:r>
              <a:rPr lang="ru-RU" dirty="0"/>
              <a:t> </a:t>
            </a:r>
            <a:r>
              <a:rPr lang="ru-RU" dirty="0" err="1"/>
              <a:t>precision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</a:t>
            </a:r>
            <a:r>
              <a:rPr lang="ru-RU" dirty="0"/>
              <a:t> — </a:t>
            </a:r>
            <a:r>
              <a:rPr lang="ru-RU" dirty="0" err="1"/>
              <a:t>scalar</a:t>
            </a:r>
            <a:r>
              <a:rPr lang="ru-RU" dirty="0"/>
              <a:t> </a:t>
            </a:r>
            <a:r>
              <a:rPr lang="ru-RU" dirty="0" err="1"/>
              <a:t>double</a:t>
            </a:r>
            <a:r>
              <a:rPr lang="ru-RU" dirty="0"/>
              <a:t> </a:t>
            </a:r>
            <a:r>
              <a:rPr lang="ru-RU" dirty="0" err="1"/>
              <a:t>precision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Хотя операция скалярная, данные всё равно находятся внутри SIMD-регистров XMM.</a:t>
            </a:r>
          </a:p>
          <a:p>
            <a:endParaRPr lang="ru-RU" dirty="0"/>
          </a:p>
          <a:p>
            <a:r>
              <a:rPr lang="ru-RU" dirty="0"/>
              <a:t>Это важный архитектурный момент: SIMD-регистры сегодня используются не только для векторизации, но и как основной механизм 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 вычислений в x86-64.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2190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 же XMM и YMM-регистры можно использовать не только для </a:t>
            </a:r>
            <a:r>
              <a:rPr lang="ru-RU" dirty="0" err="1"/>
              <a:t>scalar</a:t>
            </a:r>
            <a:r>
              <a:rPr lang="ru-RU" dirty="0"/>
              <a:t> 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, но и для SIMD-вычислений.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addps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складывает сразу четыре числа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внутри XMM-регистра.</a:t>
            </a:r>
          </a:p>
          <a:p>
            <a:r>
              <a:rPr lang="ru-RU" dirty="0"/>
              <a:t>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addpd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работает с двумя числами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AVX используются YMM-регистры размером 256 бит, поэтому: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vaddps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уже складывает восемь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одновременно.</a:t>
            </a:r>
          </a:p>
          <a:p>
            <a:endParaRPr lang="ru-RU" dirty="0"/>
          </a:p>
          <a:p>
            <a:r>
              <a:rPr lang="ru-RU" dirty="0"/>
              <a:t>Суффиксы здесь: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</a:t>
            </a:r>
            <a:r>
              <a:rPr lang="ru-RU" dirty="0"/>
              <a:t> — </a:t>
            </a:r>
            <a:r>
              <a:rPr lang="ru-RU" dirty="0" err="1"/>
              <a:t>packed</a:t>
            </a:r>
            <a:r>
              <a:rPr lang="ru-RU" dirty="0"/>
              <a:t> </a:t>
            </a:r>
            <a:r>
              <a:rPr lang="ru-RU" dirty="0" err="1"/>
              <a:t>single</a:t>
            </a:r>
            <a:r>
              <a:rPr lang="ru-RU" dirty="0"/>
              <a:t> </a:t>
            </a:r>
            <a:r>
              <a:rPr lang="ru-RU" dirty="0" err="1"/>
              <a:t>precision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</a:t>
            </a:r>
            <a:r>
              <a:rPr lang="ru-RU" dirty="0"/>
              <a:t> — </a:t>
            </a:r>
            <a:r>
              <a:rPr lang="ru-RU" dirty="0" err="1"/>
              <a:t>packed</a:t>
            </a:r>
            <a:r>
              <a:rPr lang="ru-RU" dirty="0"/>
              <a:t> </a:t>
            </a:r>
            <a:r>
              <a:rPr lang="ru-RU" dirty="0" err="1"/>
              <a:t>double</a:t>
            </a:r>
            <a:r>
              <a:rPr lang="ru-RU" dirty="0"/>
              <a:t> </a:t>
            </a:r>
            <a:r>
              <a:rPr lang="ru-RU" dirty="0" err="1"/>
              <a:t>precision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То есть одна и та же архитектура SIMD-регистров используется:</a:t>
            </a:r>
          </a:p>
          <a:p>
            <a:r>
              <a:rPr lang="ru-RU" dirty="0"/>
              <a:t>и для обычных </a:t>
            </a:r>
            <a:r>
              <a:rPr lang="ru-RU" dirty="0" err="1"/>
              <a:t>scalar</a:t>
            </a:r>
            <a:r>
              <a:rPr lang="ru-RU" dirty="0"/>
              <a:t> 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 операций, и для настоящих векторных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2189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System V ABI параметры разных типов передаются через разные наборы регистров.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Целочисленные аргументы используют обычные регистры общего назначения: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rcx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r8, r9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А 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 и SIMD-аргументы передаются отдельно — через XMM-регистры: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xmm0–xmm7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В нашем примере функция принимает:</a:t>
            </a:r>
          </a:p>
          <a:p>
            <a:r>
              <a:rPr lang="ru-RU" dirty="0"/>
              <a:t>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, </a:t>
            </a:r>
          </a:p>
          <a:p>
            <a:r>
              <a:rPr lang="ru-RU" dirty="0"/>
              <a:t>и один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</a:t>
            </a:r>
          </a:p>
          <a:p>
            <a:r>
              <a:rPr lang="ru-RU" dirty="0"/>
              <a:t>Поэтому: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→ xmm0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→ xmm1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хорошо видно в ассемблере.</a:t>
            </a:r>
          </a:p>
          <a:p>
            <a:r>
              <a:rPr lang="ru-RU" dirty="0"/>
              <a:t>Сначала: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xmm0, xmm1</a:t>
            </a:r>
          </a:p>
          <a:p>
            <a:r>
              <a:rPr lang="ru-RU" dirty="0"/>
              <a:t>складывает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затем нужно прибавить параметр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ru-RU" dirty="0"/>
              <a:t>, который пришёл как целое число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этого используется инструкция: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cvtsi2ss xmm1,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Она преобразует целое число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Название инструкции можно читать так: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Single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Перед преобразованием компилятор выполняет: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pxor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xmm1, xmm1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быстрый способ </a:t>
            </a:r>
            <a:r>
              <a:rPr lang="ru-RU" dirty="0" err="1"/>
              <a:t>занулить</a:t>
            </a:r>
            <a:r>
              <a:rPr lang="ru-RU" dirty="0"/>
              <a:t> XMM-регистр.</a:t>
            </a:r>
          </a:p>
          <a:p>
            <a:r>
              <a:rPr lang="ru-RU" dirty="0"/>
              <a:t>После преобразования: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xmm0, xmm1</a:t>
            </a:r>
          </a:p>
          <a:p>
            <a:r>
              <a:rPr lang="ru-RU" dirty="0"/>
              <a:t>добавляет преобразованное значение к результату.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Возвращаемое значение функции помещается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xmm0</a:t>
            </a:r>
            <a:r>
              <a:rPr lang="ru-RU" dirty="0"/>
              <a:t>.</a:t>
            </a:r>
          </a:p>
          <a:p>
            <a:r>
              <a:rPr lang="ru-RU" dirty="0"/>
              <a:t>Также важно помнить правило ABI: все XMM-регистры являются </a:t>
            </a:r>
            <a:r>
              <a:rPr lang="ru-RU" dirty="0" err="1"/>
              <a:t>caller-saved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вызываемая функция может свободно изменять: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xmm0–xmm15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Если вызывающая сторона хочет сохранить их содержимое, она должна сделать это самостоятельно.</a:t>
            </a:r>
          </a:p>
          <a:p>
            <a:endParaRPr lang="en-US" dirty="0"/>
          </a:p>
          <a:p>
            <a:r>
              <a:rPr lang="ru-RU" dirty="0"/>
              <a:t>Поскольку YMM и ZMM перекрываются с XMM-регистрами, это правило автоматически распространяется и на AVX/AVX-512 регистры.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082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804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процессоры не выполняют инструкции строго по одной от начала до конца.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Вместо этого используется конвейер — </a:t>
            </a:r>
            <a:r>
              <a:rPr lang="ru-RU" dirty="0" err="1"/>
              <a:t>pipeline</a:t>
            </a:r>
            <a:r>
              <a:rPr lang="ru-RU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Каждая инструкция проходит несколько стадий: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процессор считывает инструкцию,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потом декодирует её,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выполняет,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необходимости обращается к памяти,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в конце записывает результат.</a:t>
            </a:r>
          </a:p>
          <a:p>
            <a:endParaRPr lang="en-US" dirty="0"/>
          </a:p>
          <a:p>
            <a:r>
              <a:rPr lang="ru-RU" dirty="0"/>
              <a:t>Главная идея в том, что разные инструкции могут одновременно находиться на разных этапах.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Пока одна инструкция выполняется, следующая уже декодируется, а ещё одна — считывается из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позволяет значительно повысить производительность без увеличения частоты процессора.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Хорошая аналогия — конвейер на заводе:</a:t>
            </a:r>
            <a:br>
              <a:rPr lang="ru-RU" dirty="0"/>
            </a:br>
            <a:r>
              <a:rPr lang="ru-RU" dirty="0"/>
              <a:t>разные детали одновременно находятся на разных стадиях сборки.</a:t>
            </a:r>
          </a:p>
          <a:p>
            <a:endParaRPr lang="en-US" dirty="0"/>
          </a:p>
          <a:p>
            <a:r>
              <a:rPr lang="ru-RU" dirty="0"/>
              <a:t>Но у </a:t>
            </a:r>
            <a:r>
              <a:rPr lang="ru-RU" dirty="0" err="1"/>
              <a:t>pipeline</a:t>
            </a:r>
            <a:r>
              <a:rPr lang="ru-RU" dirty="0"/>
              <a:t> есть проблема:</a:t>
            </a:r>
            <a:r>
              <a:rPr lang="en-US" dirty="0"/>
              <a:t> </a:t>
            </a:r>
            <a:r>
              <a:rPr lang="ru-RU" dirty="0"/>
              <a:t>если инструкция зависит от результата предыдущей,</a:t>
            </a:r>
            <a:r>
              <a:rPr lang="en-US" dirty="0"/>
              <a:t> </a:t>
            </a:r>
            <a:r>
              <a:rPr lang="ru-RU" dirty="0"/>
              <a:t>конвейер может останавливаться — это называется </a:t>
            </a:r>
            <a:r>
              <a:rPr lang="ru-RU" dirty="0" err="1"/>
              <a:t>stall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68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Pipeline</a:t>
            </a:r>
            <a:r>
              <a:rPr lang="ru-RU" dirty="0"/>
              <a:t> позволяет перекрывать стадии выполнения инструкций.</a:t>
            </a:r>
          </a:p>
          <a:p>
            <a:r>
              <a:rPr lang="ru-RU" dirty="0"/>
              <a:t>Но современные процессоры идут дальше — они умеют выполнять сразу несколько инструкций за один такт.</a:t>
            </a:r>
          </a:p>
          <a:p>
            <a:endParaRPr lang="ru-RU" dirty="0"/>
          </a:p>
          <a:p>
            <a:r>
              <a:rPr lang="ru-RU" dirty="0"/>
              <a:t>Такой подход называется </a:t>
            </a:r>
            <a:r>
              <a:rPr lang="ru-RU" dirty="0" err="1"/>
              <a:t>superscalar</a:t>
            </a:r>
            <a:r>
              <a:rPr lang="ru-RU" dirty="0"/>
              <a:t> </a:t>
            </a:r>
            <a:r>
              <a:rPr lang="ru-RU" dirty="0" err="1"/>
              <a:t>execution</a:t>
            </a:r>
            <a:r>
              <a:rPr lang="ru-RU" dirty="0"/>
              <a:t>.</a:t>
            </a:r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Внутри процессора есть несколько независимых исполнительных блоков: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арифметические устройства,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SIMD-блоки,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блоки работы с памятью,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 блоки и так далее.</a:t>
            </a:r>
          </a:p>
          <a:p>
            <a:endParaRPr lang="ru-RU" dirty="0"/>
          </a:p>
          <a:p>
            <a:r>
              <a:rPr lang="ru-RU" dirty="0"/>
              <a:t>Если инструкции не зависят друг от друга, процессор может отправить их в разные устройства одновременно.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  <a:br>
              <a:rPr lang="ru-RU" dirty="0"/>
            </a:br>
            <a:r>
              <a:rPr lang="ru-RU" dirty="0"/>
              <a:t>одно устройство выполняет сложение,</a:t>
            </a:r>
            <a:br>
              <a:rPr lang="ru-RU" dirty="0"/>
            </a:br>
            <a:r>
              <a:rPr lang="ru-RU" dirty="0"/>
              <a:t>другое — умножение,</a:t>
            </a:r>
            <a:br>
              <a:rPr lang="ru-RU" dirty="0"/>
            </a:br>
            <a:r>
              <a:rPr lang="ru-RU" dirty="0"/>
              <a:t>третье — загрузку данных из памяти.</a:t>
            </a:r>
          </a:p>
          <a:p>
            <a:endParaRPr lang="ru-RU" dirty="0"/>
          </a:p>
          <a:p>
            <a:r>
              <a:rPr lang="ru-RU" dirty="0"/>
              <a:t>Из-за этого реальная производительность современных процессоров намного выше, чем «одна инструкция за такт».</a:t>
            </a:r>
          </a:p>
          <a:p>
            <a:endParaRPr lang="ru-RU" dirty="0"/>
          </a:p>
          <a:p>
            <a:r>
              <a:rPr lang="ru-RU" dirty="0"/>
              <a:t>Но для эффективной параллельности процессору нужны независимые инструкции.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Если код содержит длинные цепочки зависимостей,</a:t>
            </a:r>
            <a:br>
              <a:rPr lang="ru-RU" dirty="0"/>
            </a:br>
            <a:r>
              <a:rPr lang="ru-RU" dirty="0"/>
              <a:t>параллелизм уменьшается.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6245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одна важная технология современных процессоров —</a:t>
            </a:r>
            <a:br>
              <a:rPr lang="ru-RU" dirty="0"/>
            </a:br>
            <a:r>
              <a:rPr lang="ru-RU" dirty="0" err="1"/>
              <a:t>out-of-order</a:t>
            </a:r>
            <a:r>
              <a:rPr lang="ru-RU" dirty="0"/>
              <a:t> </a:t>
            </a:r>
            <a:r>
              <a:rPr lang="ru-RU" dirty="0" err="1"/>
              <a:t>execution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Некоторые инструкции выполняются медленно.</a:t>
            </a:r>
          </a:p>
          <a:p>
            <a:br>
              <a:rPr lang="ru-RU" dirty="0"/>
            </a:br>
            <a:r>
              <a:rPr lang="ru-RU" dirty="0"/>
              <a:t>Например, чтение данных из памяти может занимать десятки или сотни тактов.</a:t>
            </a:r>
          </a:p>
          <a:p>
            <a:endParaRPr lang="ru-RU" dirty="0"/>
          </a:p>
          <a:p>
            <a:r>
              <a:rPr lang="ru-RU" dirty="0"/>
              <a:t>Чтобы не простаивать, процессор может временно переключиться на другие инструкции, если они не зависят от ожидаемых данных.</a:t>
            </a:r>
          </a:p>
          <a:p>
            <a:endParaRPr lang="ru-RU" dirty="0"/>
          </a:p>
          <a:p>
            <a:r>
              <a:rPr lang="ru-RU" dirty="0"/>
              <a:t>То есть внутри процессора инструкции могут выполняться не в том порядке, в котором они записаны в программе.</a:t>
            </a:r>
          </a:p>
          <a:p>
            <a:endParaRPr lang="ru-RU" dirty="0"/>
          </a:p>
          <a:p>
            <a:r>
              <a:rPr lang="ru-RU" dirty="0"/>
              <a:t>Но важно: с точки зрения программы результат остаётся таким,</a:t>
            </a:r>
            <a:br>
              <a:rPr lang="ru-RU" dirty="0"/>
            </a:br>
            <a:r>
              <a:rPr lang="ru-RU" dirty="0"/>
              <a:t>как будто инструкции были выполнены строго последовательно.</a:t>
            </a:r>
          </a:p>
          <a:p>
            <a:endParaRPr lang="ru-RU" dirty="0"/>
          </a:p>
          <a:p>
            <a:r>
              <a:rPr lang="ru-RU" dirty="0"/>
              <a:t>Процессор сам отслеживает зависимости между инструкциями</a:t>
            </a:r>
            <a:br>
              <a:rPr lang="ru-RU" dirty="0"/>
            </a:br>
            <a:r>
              <a:rPr lang="ru-RU" dirty="0"/>
              <a:t>и гарантирует корректность результата.</a:t>
            </a:r>
          </a:p>
          <a:p>
            <a:endParaRPr lang="ru-RU" dirty="0"/>
          </a:p>
          <a:p>
            <a:r>
              <a:rPr lang="ru-RU" dirty="0"/>
              <a:t>Out-</a:t>
            </a:r>
            <a:r>
              <a:rPr lang="ru-RU" dirty="0" err="1"/>
              <a:t>of</a:t>
            </a:r>
            <a:r>
              <a:rPr lang="ru-RU" dirty="0"/>
              <a:t>-</a:t>
            </a:r>
            <a:r>
              <a:rPr lang="ru-RU" dirty="0" err="1"/>
              <a:t>order</a:t>
            </a:r>
            <a:r>
              <a:rPr lang="ru-RU" dirty="0"/>
              <a:t> </a:t>
            </a:r>
            <a:r>
              <a:rPr lang="ru-RU" dirty="0" err="1"/>
              <a:t>execution</a:t>
            </a:r>
            <a:r>
              <a:rPr lang="ru-RU" dirty="0"/>
              <a:t> — одна из главных причин высокой производительности современных x86-64 процессоров.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43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Pipeline</a:t>
            </a:r>
            <a:r>
              <a:rPr lang="ru-RU" dirty="0"/>
              <a:t> хорошо работает, пока процессор знает, какие инструкции выполнять дальше.</a:t>
            </a:r>
          </a:p>
          <a:p>
            <a:endParaRPr lang="ru-RU" dirty="0"/>
          </a:p>
          <a:p>
            <a:r>
              <a:rPr lang="ru-RU" dirty="0"/>
              <a:t>Но условные переходы создают проблему. После инструкции вроде: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ebx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.L1</a:t>
            </a:r>
          </a:p>
          <a:p>
            <a:r>
              <a:rPr lang="ru-RU" dirty="0"/>
              <a:t>процессор ещё не знает, куда пойдёт выполнение.</a:t>
            </a:r>
          </a:p>
          <a:p>
            <a:endParaRPr lang="ru-RU" dirty="0"/>
          </a:p>
          <a:p>
            <a:r>
              <a:rPr lang="ru-RU" dirty="0"/>
              <a:t>Чтобы не останавливать </a:t>
            </a:r>
            <a:r>
              <a:rPr lang="ru-RU" dirty="0" err="1"/>
              <a:t>pipeline</a:t>
            </a:r>
            <a:r>
              <a:rPr lang="ru-RU" dirty="0"/>
              <a:t>, процессор пытается угадать результат перехода заранее.</a:t>
            </a:r>
          </a:p>
          <a:p>
            <a:br>
              <a:rPr lang="ru-RU" dirty="0"/>
            </a:br>
            <a:r>
              <a:rPr lang="ru-RU" dirty="0"/>
              <a:t>Это называется </a:t>
            </a:r>
            <a:r>
              <a:rPr lang="ru-RU" dirty="0" err="1"/>
              <a:t>branch</a:t>
            </a:r>
            <a:r>
              <a:rPr lang="ru-RU" dirty="0"/>
              <a:t> </a:t>
            </a:r>
            <a:r>
              <a:rPr lang="ru-RU" dirty="0" err="1"/>
              <a:t>prediction</a:t>
            </a:r>
            <a:r>
              <a:rPr lang="ru-RU" dirty="0"/>
              <a:t>.</a:t>
            </a:r>
          </a:p>
          <a:p>
            <a:r>
              <a:rPr lang="ru-RU" dirty="0"/>
              <a:t>Если предсказание оказалось верным — </a:t>
            </a:r>
            <a:r>
              <a:rPr lang="ru-RU" dirty="0" err="1"/>
              <a:t>pipeline</a:t>
            </a:r>
            <a:r>
              <a:rPr lang="ru-RU" dirty="0"/>
              <a:t> продолжает работать без остановки.</a:t>
            </a:r>
          </a:p>
          <a:p>
            <a:endParaRPr lang="ru-RU" dirty="0"/>
          </a:p>
          <a:p>
            <a:r>
              <a:rPr lang="ru-RU" dirty="0"/>
              <a:t>Но если процессор ошибся, приходится выбросить уже начатые инструкции и загрузить правильные.</a:t>
            </a:r>
          </a:p>
          <a:p>
            <a:endParaRPr lang="ru-RU" dirty="0"/>
          </a:p>
          <a:p>
            <a:r>
              <a:rPr lang="ru-RU" dirty="0"/>
              <a:t>Это называется </a:t>
            </a:r>
            <a:r>
              <a:rPr lang="ru-RU" dirty="0" err="1"/>
              <a:t>pipeline</a:t>
            </a:r>
            <a:r>
              <a:rPr lang="ru-RU" dirty="0"/>
              <a:t> </a:t>
            </a:r>
            <a:r>
              <a:rPr lang="ru-RU" dirty="0" err="1"/>
              <a:t>flush</a:t>
            </a:r>
            <a:r>
              <a:rPr lang="ru-RU" dirty="0"/>
              <a:t>.</a:t>
            </a:r>
          </a:p>
          <a:p>
            <a:r>
              <a:rPr lang="ru-RU" dirty="0"/>
              <a:t>Ошибки </a:t>
            </a:r>
            <a:r>
              <a:rPr lang="ru-RU" dirty="0" err="1"/>
              <a:t>branch</a:t>
            </a:r>
            <a:r>
              <a:rPr lang="ru-RU" dirty="0"/>
              <a:t> </a:t>
            </a:r>
            <a:r>
              <a:rPr lang="ru-RU" dirty="0" err="1"/>
              <a:t>predictor</a:t>
            </a:r>
            <a:r>
              <a:rPr lang="ru-RU" dirty="0"/>
              <a:t> стоят дорого — десятки тактов.</a:t>
            </a:r>
          </a:p>
          <a:p>
            <a:endParaRPr lang="ru-RU" dirty="0"/>
          </a:p>
          <a:p>
            <a:r>
              <a:rPr lang="ru-RU" dirty="0"/>
              <a:t>Поэтому код с непредсказуемыми ветвлениями может работать значительно медленнее.</a:t>
            </a:r>
          </a:p>
          <a:p>
            <a:endParaRPr lang="ru-RU" dirty="0"/>
          </a:p>
          <a:p>
            <a:r>
              <a:rPr lang="ru-RU" dirty="0"/>
              <a:t>SIMD-код часто помогает уменьшить количество ветвлений,</a:t>
            </a:r>
            <a:br>
              <a:rPr lang="ru-RU" dirty="0"/>
            </a:br>
            <a:r>
              <a:rPr lang="ru-RU" dirty="0"/>
              <a:t>что дополнительно повышает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1122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анализе производительности важно различать два понятия:</a:t>
            </a:r>
            <a:br>
              <a:rPr lang="ru-RU" dirty="0"/>
            </a:br>
            <a:r>
              <a:rPr lang="ru-RU" dirty="0" err="1"/>
              <a:t>latency</a:t>
            </a:r>
            <a:r>
              <a:rPr lang="ru-RU" dirty="0"/>
              <a:t> и </a:t>
            </a:r>
            <a:r>
              <a:rPr lang="ru-RU" dirty="0" err="1"/>
              <a:t>throughput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Latency</a:t>
            </a:r>
            <a:r>
              <a:rPr lang="ru-RU" dirty="0"/>
              <a:t> — это сколько времени занимает выполнение одной инструкции.</a:t>
            </a:r>
          </a:p>
          <a:p>
            <a:endParaRPr lang="ru-RU" dirty="0"/>
          </a:p>
          <a:p>
            <a:r>
              <a:rPr lang="ru-RU" dirty="0"/>
              <a:t>Например, целочисленное умножение может выполняться 3 такта.</a:t>
            </a:r>
          </a:p>
          <a:p>
            <a:r>
              <a:rPr lang="ru-RU" dirty="0"/>
              <a:t>Но </a:t>
            </a:r>
            <a:r>
              <a:rPr lang="ru-RU" dirty="0" err="1"/>
              <a:t>throughput</a:t>
            </a:r>
            <a:r>
              <a:rPr lang="ru-RU" dirty="0"/>
              <a:t> — это сколько таких инструкций процессор способен запускать одновременно.</a:t>
            </a:r>
          </a:p>
          <a:p>
            <a:endParaRPr lang="ru-RU" dirty="0"/>
          </a:p>
          <a:p>
            <a:r>
              <a:rPr lang="ru-RU" dirty="0"/>
              <a:t>Например, процессор может запускать по одной инструкции умножения каждый такт, несмотря на то, что каждая отдельная инструкция завершается через 3 такта.</a:t>
            </a:r>
          </a:p>
          <a:p>
            <a:endParaRPr lang="ru-RU" dirty="0"/>
          </a:p>
          <a:p>
            <a:r>
              <a:rPr lang="ru-RU" dirty="0"/>
              <a:t>Для SIMD это особенно важно.</a:t>
            </a:r>
          </a:p>
          <a:p>
            <a:endParaRPr lang="ru-RU" dirty="0"/>
          </a:p>
          <a:p>
            <a:r>
              <a:rPr lang="ru-RU" dirty="0"/>
              <a:t>SIMD-инструкции могут иметь большую </a:t>
            </a:r>
            <a:r>
              <a:rPr lang="ru-RU" dirty="0" err="1"/>
              <a:t>latency</a:t>
            </a:r>
            <a:r>
              <a:rPr lang="ru-RU" dirty="0"/>
              <a:t>, но очень высокий </a:t>
            </a:r>
            <a:r>
              <a:rPr lang="ru-RU" dirty="0" err="1"/>
              <a:t>throughput</a:t>
            </a:r>
            <a:r>
              <a:rPr lang="ru-RU" dirty="0"/>
              <a:t>, потому что за одну инструкцию обрабатывается сразу много данных.</a:t>
            </a:r>
          </a:p>
          <a:p>
            <a:endParaRPr lang="ru-RU" dirty="0"/>
          </a:p>
          <a:p>
            <a:r>
              <a:rPr lang="ru-RU" dirty="0"/>
              <a:t>Самые дорогие инструкции в x86 — обычно деление и доступ к памяти.</a:t>
            </a:r>
          </a:p>
          <a:p>
            <a:endParaRPr lang="ru-RU" dirty="0"/>
          </a:p>
          <a:p>
            <a:r>
              <a:rPr lang="ru-RU" dirty="0"/>
              <a:t>Именно поэтому оптимизация часто направлена не на уменьшение количества инструкций вообще, а на уменьшение дорогих операций и улучшение параллелизма.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762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завершается наш раздел по архитектуре x86-64.</a:t>
            </a:r>
          </a:p>
          <a:p>
            <a:endParaRPr lang="ru-RU" dirty="0"/>
          </a:p>
          <a:p>
            <a:r>
              <a:rPr lang="ru-RU" dirty="0"/>
              <a:t>За курс мы прошли путь от базовых инструкций процессора до современных SIMD-расширений и особенностей микроархитектуры.</a:t>
            </a:r>
          </a:p>
          <a:p>
            <a:r>
              <a:rPr lang="ru-RU" dirty="0"/>
              <a:t>Мы изучили регистры общего назначения, работу со стеком, вызовы функций, соглашения о вызовах, работу с памятью, указатели, массивы, структуры данных, 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 операции, SIMD-инструкции SSE и AVX.</a:t>
            </a:r>
          </a:p>
          <a:p>
            <a:endParaRPr lang="ru-RU" dirty="0"/>
          </a:p>
          <a:p>
            <a:r>
              <a:rPr lang="ru-RU" dirty="0"/>
              <a:t>Отдельно мы посмотрели, как программы превращаются в машинный код, как устроено дизассемблирование и как исследовать бинарные файлы и исполняемые программы с помощью </a:t>
            </a:r>
            <a:r>
              <a:rPr lang="ru-RU" dirty="0" err="1"/>
              <a:t>Compiler</a:t>
            </a:r>
            <a:r>
              <a:rPr lang="ru-RU" dirty="0"/>
              <a:t> Explorer, </a:t>
            </a:r>
            <a:r>
              <a:rPr lang="ru-RU" dirty="0" err="1"/>
              <a:t>objdump</a:t>
            </a:r>
            <a:r>
              <a:rPr lang="ru-RU" dirty="0"/>
              <a:t>, </a:t>
            </a:r>
            <a:r>
              <a:rPr lang="ru-RU" dirty="0" err="1"/>
              <a:t>dumpbin</a:t>
            </a:r>
            <a:r>
              <a:rPr lang="ru-RU" dirty="0"/>
              <a:t>, </a:t>
            </a:r>
            <a:r>
              <a:rPr lang="ru-RU" dirty="0" err="1"/>
              <a:t>gdb</a:t>
            </a:r>
            <a:r>
              <a:rPr lang="ru-RU" dirty="0"/>
              <a:t> и Visual Studio.</a:t>
            </a:r>
          </a:p>
          <a:p>
            <a:endParaRPr lang="ru-RU" dirty="0"/>
          </a:p>
          <a:p>
            <a:r>
              <a:rPr lang="ru-RU" dirty="0"/>
              <a:t>Очень важно, что целью курса было не запоминание инструкций, а понимание связи между кодом на C, работой компилятора, машинным кодом и реальным выполнением программы процессором.</a:t>
            </a:r>
          </a:p>
          <a:p>
            <a:endParaRPr lang="ru-RU" dirty="0"/>
          </a:p>
          <a:p>
            <a:r>
              <a:rPr lang="ru-RU" dirty="0"/>
              <a:t>Теперь вы можете читать простой ассемблерный код, понимать, что делает компилятор, видеть влияние оптимизаций и анализировать низкоуровневое поведение программ.</a:t>
            </a:r>
          </a:p>
          <a:p>
            <a:endParaRPr lang="ru-RU" dirty="0"/>
          </a:p>
          <a:p>
            <a:r>
              <a:rPr lang="ru-RU" dirty="0"/>
              <a:t>Эти знания особенно важны для системного программирования, разработки компиляторов, оптимизации производительности, </a:t>
            </a:r>
            <a:r>
              <a:rPr lang="ru-RU" dirty="0" err="1"/>
              <a:t>reverse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, разработки встроенных систем и программирования микроконтроллеров.</a:t>
            </a:r>
          </a:p>
          <a:p>
            <a:endParaRPr lang="ru-RU" dirty="0"/>
          </a:p>
          <a:p>
            <a:r>
              <a:rPr lang="ru-RU" dirty="0"/>
              <a:t>Следующий большой этап — переход от архитектуры процессоров общего назначения к программированию реальных аппаратных устройств и микроконтроллеров.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A247-C9B4-47E1-BD4C-605C98C5FEB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31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3540-B6F0-CC9A-96B5-C9F652934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AC372-35E1-A580-ED0F-1BEB8AD19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DA2F1-9EB5-8619-CAFE-5A05D36D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212A3-4E3E-1692-9BBF-9E2A08F2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3E09D-D1A2-2B4E-FA85-1AA27C65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0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F27E-9244-AD76-5209-23E228CE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4F3CB-7287-6E9A-28F1-6A42C547D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80206-E444-C2F2-D4CA-8331AAC1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BEB7F-3137-789F-C08F-F9BE0A1C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7B5E7-631C-7FA8-DD38-855E25D3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1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A570-E948-D8E6-DA5F-2950DE7F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A511F-68CC-69EC-C4E7-1F87CF29C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A5785-2DE1-27D6-B175-F3919684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BEB2F-F8D0-D6D8-0FFE-5FF060CE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4719-F7EC-1515-436C-05E63FE5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2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AA8F-A341-D3A2-BEED-F3E9DABB7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B91DB-94E4-2BCF-B9C1-84B2923E5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16475-F403-CD26-F5E7-87E72FA88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6365E-5B97-4EFA-D422-C89C35A9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5A667-9554-537F-D1A3-733E5302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47E49-39D7-8C29-5918-3C6ECDB8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0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ACCAF-8C8C-7BBE-B96E-F4A2AC98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CD36B-EF80-7DD7-92C9-4D2D07227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8453-C570-5E5E-A92B-798135A26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D986E-E096-9455-8009-CFE65C122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DDB7E-E4A0-1F47-D76F-9715ABD18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25B5F8-18AE-1FB0-6753-7A6093E26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C952A8-7B21-21BA-0CA7-65940B48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4611E-44FD-C39D-1B67-B709B357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5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1A64-C86B-3904-B902-53013CA3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5B2A6-A095-1A99-306A-608192983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9381B-F343-FB2B-2514-EF286FE8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17D09-EA23-6D74-1690-092EC81D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8877F-4C2B-2146-3201-30A7A765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4722B-969D-2820-EBDE-4C185111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B4B56-9312-09F4-324E-A29810CD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4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B6899-61DC-D2D0-C6F2-4F834BFC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3233E-F49A-5DCB-010C-5F172797B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BA2B0-5788-11DC-9AE9-03A173816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C6D58-BA91-E160-EA27-BCCDB343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99603-097E-0D51-7D76-55FFE237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D8218-E7A0-57B3-4C41-8BA88C6C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3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5199-05D0-75BD-235A-67DCF5ED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1BDA1-32D5-57CB-9CD8-8E28C1EFF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525F5-9F21-3013-5A49-792F126E3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48A50-DD99-EE87-B600-7D809C950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9177C-2A7A-B078-679A-8A559180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9A8C9-1BCD-CA58-DE6F-78CC32B5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71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5382-7F7E-82A9-E61E-E862AF62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15AB3-472B-B3D1-4D08-C8E53412F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D0CFD-1587-BDBC-B36B-5891D170C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198E8-33B5-1CA8-AEA6-F48E5319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AC603-58A9-D285-8262-4F2FA062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9E2BE-61E9-035B-83D9-0FCE3DBEB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C26C8-DD93-1A41-DBFC-545CF2963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E7D8D-E54A-2183-E45B-DE7FFAD8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0A51B-B4F5-FF40-60B5-3472D5C3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8BA2B-EE0E-55D7-9A63-66374272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97DCFA-ED13-8A17-031C-674356F8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92B21-5A47-AFD2-E23B-F781D3016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68F3-221C-303D-055E-8AC0E2BEB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BE2B3-B746-455F-853E-26450F11F6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D5134-A27D-A845-3FCC-1A98611B1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B23FC-DB00-38A2-6C2C-C63081E0C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67072-192F-4C93-BB59-A83C26960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6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KTKTrz6Y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8rEE9Ebv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f7PKdbdv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rMWjecrr5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PcTsz9YM4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KWe4Pvoo5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szdn59cdf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4vTooPWz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MaqK64je9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D555-6E1E-A4FC-2D8C-B2BB9F890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330884"/>
          </a:xfrm>
        </p:spPr>
        <p:txBody>
          <a:bodyPr/>
          <a:lstStyle/>
          <a:p>
            <a:r>
              <a:rPr lang="ru-RU" dirty="0"/>
              <a:t>Ассемблер для архитектуры </a:t>
            </a:r>
            <a:r>
              <a:rPr lang="en-US" dirty="0"/>
              <a:t>x86-64</a:t>
            </a:r>
          </a:p>
        </p:txBody>
      </p:sp>
    </p:spTree>
    <p:extLst>
      <p:ext uri="{BB962C8B-B14F-4D97-AF65-F5344CB8AC3E}">
        <p14:creationId xmlns:p14="http://schemas.microsoft.com/office/powerpoint/2010/main" val="288222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C162-D776-2D46-49B0-4B6F771EC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мы уже изучили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69F6-2615-DF77-4CB6-BE0B8AC12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Intel 8080 — учебная архитектура</a:t>
            </a:r>
            <a:endParaRPr lang="ru-RU" dirty="0"/>
          </a:p>
          <a:p>
            <a:r>
              <a:rPr lang="ru-RU" dirty="0"/>
              <a:t>Вы изучили:</a:t>
            </a:r>
          </a:p>
          <a:p>
            <a:pPr lvl="1"/>
            <a:r>
              <a:rPr lang="ru-RU" dirty="0"/>
              <a:t>регистры процессора </a:t>
            </a:r>
          </a:p>
          <a:p>
            <a:pPr lvl="1"/>
            <a:r>
              <a:rPr lang="ru-RU" dirty="0"/>
              <a:t>систему команд </a:t>
            </a:r>
          </a:p>
          <a:p>
            <a:pPr lvl="1"/>
            <a:r>
              <a:rPr lang="ru-RU" dirty="0"/>
              <a:t>выполнение инструкций (</a:t>
            </a:r>
            <a:r>
              <a:rPr lang="ru-RU" dirty="0" err="1"/>
              <a:t>fetch</a:t>
            </a:r>
            <a:r>
              <a:rPr lang="ru-RU" dirty="0"/>
              <a:t> → </a:t>
            </a:r>
            <a:r>
              <a:rPr lang="ru-RU" dirty="0" err="1"/>
              <a:t>decode</a:t>
            </a:r>
            <a:r>
              <a:rPr lang="ru-RU" dirty="0"/>
              <a:t> → </a:t>
            </a:r>
            <a:r>
              <a:rPr lang="ru-RU" dirty="0" err="1"/>
              <a:t>execute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работу с памятью </a:t>
            </a:r>
          </a:p>
          <a:p>
            <a:pPr lvl="1"/>
            <a:r>
              <a:rPr lang="ru-RU" dirty="0"/>
              <a:t>стек и вызовы подпрограмм </a:t>
            </a:r>
          </a:p>
          <a:p>
            <a:r>
              <a:rPr lang="ru-RU" b="1" dirty="0"/>
              <a:t>Главное:</a:t>
            </a:r>
            <a:endParaRPr lang="ru-RU" dirty="0"/>
          </a:p>
          <a:p>
            <a:pPr lvl="1"/>
            <a:r>
              <a:rPr lang="ru-RU" dirty="0"/>
              <a:t>как процессор выполняет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90420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E48-EFFA-2C86-E566-034AF8E3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к архитектуре </a:t>
            </a:r>
            <a:r>
              <a:rPr lang="en-US" dirty="0"/>
              <a:t>x86-64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E210-18A5-0893-9085-8DB9B002B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Следующий этап курса — архитектура x86-64</a:t>
            </a:r>
          </a:p>
          <a:p>
            <a:r>
              <a:rPr lang="ru-RU" dirty="0"/>
              <a:t>Используется:</a:t>
            </a:r>
          </a:p>
          <a:p>
            <a:pPr lvl="1"/>
            <a:r>
              <a:rPr lang="ru-RU" dirty="0"/>
              <a:t>в современных процессорах (ПК, серверы) </a:t>
            </a:r>
          </a:p>
          <a:p>
            <a:pPr lvl="1"/>
            <a:r>
              <a:rPr lang="ru-RU" dirty="0"/>
              <a:t>как целевая архитектура компиляторов </a:t>
            </a:r>
          </a:p>
          <a:p>
            <a:pPr lvl="1"/>
            <a:r>
              <a:rPr lang="ru-RU" dirty="0"/>
              <a:t>как основа выполнения программ в операционных системах </a:t>
            </a:r>
          </a:p>
          <a:p>
            <a:r>
              <a:rPr lang="ru-RU" dirty="0"/>
              <a:t>Фундаментальные принципы сохраняются:</a:t>
            </a:r>
          </a:p>
          <a:p>
            <a:pPr lvl="1"/>
            <a:r>
              <a:rPr lang="ru-RU" dirty="0"/>
              <a:t>регистры процессора </a:t>
            </a:r>
          </a:p>
          <a:p>
            <a:pPr lvl="1"/>
            <a:r>
              <a:rPr lang="ru-RU" dirty="0"/>
              <a:t>оперативная память </a:t>
            </a:r>
          </a:p>
          <a:p>
            <a:pPr lvl="1"/>
            <a:r>
              <a:rPr lang="ru-RU" dirty="0"/>
              <a:t>стек вызовов </a:t>
            </a:r>
          </a:p>
          <a:p>
            <a:pPr lvl="1"/>
            <a:r>
              <a:rPr lang="ru-RU" dirty="0"/>
              <a:t>инструкции и управление потоком выполнения </a:t>
            </a:r>
          </a:p>
          <a:p>
            <a:r>
              <a:rPr lang="ru-RU" dirty="0"/>
              <a:t>Переходим от учебной модели к реальной архитектуре</a:t>
            </a:r>
          </a:p>
        </p:txBody>
      </p:sp>
    </p:spTree>
    <p:extLst>
      <p:ext uri="{BB962C8B-B14F-4D97-AF65-F5344CB8AC3E}">
        <p14:creationId xmlns:p14="http://schemas.microsoft.com/office/powerpoint/2010/main" val="235848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0F33-F9E7-F11F-3C7A-536C8163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Эволюционный характер архитектуры </a:t>
            </a:r>
            <a:r>
              <a:rPr lang="en-US" dirty="0"/>
              <a:t>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202BB-676D-F146-DE1A-087910F55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x86 — результат длительной эволюции</a:t>
            </a:r>
          </a:p>
          <a:p>
            <a:pPr lvl="1"/>
            <a:r>
              <a:rPr lang="ru-RU" dirty="0"/>
              <a:t>развитие на протяжении десятилетий </a:t>
            </a:r>
          </a:p>
          <a:p>
            <a:pPr lvl="1"/>
            <a:r>
              <a:rPr lang="ru-RU" dirty="0"/>
              <a:t>строгая обратная совместимость </a:t>
            </a:r>
          </a:p>
          <a:p>
            <a:pPr lvl="1"/>
            <a:r>
              <a:rPr lang="ru-RU" dirty="0"/>
              <a:t>накопление архитектурных решений 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высокая сложность архитектуры </a:t>
            </a:r>
          </a:p>
          <a:p>
            <a:pPr lvl="1"/>
            <a:r>
              <a:rPr lang="ru-RU" dirty="0"/>
              <a:t>наличие «исторических» особенностей </a:t>
            </a:r>
          </a:p>
          <a:p>
            <a:pPr lvl="1"/>
            <a:r>
              <a:rPr lang="ru-RU" dirty="0"/>
              <a:t>сочетание разных поколений решений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4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6F12-B17C-6653-C148-A215906D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Ранние этапы развития </a:t>
            </a:r>
            <a:r>
              <a:rPr lang="en-US" dirty="0"/>
              <a:t>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94585-0219-A425-9DE7-729FA8E31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8086 (1978)</a:t>
            </a:r>
          </a:p>
          <a:p>
            <a:pPr lvl="1"/>
            <a:r>
              <a:rPr lang="ru-RU" dirty="0"/>
              <a:t>16-битная архитектура </a:t>
            </a:r>
          </a:p>
          <a:p>
            <a:pPr lvl="1"/>
            <a:r>
              <a:rPr lang="ru-RU" dirty="0"/>
              <a:t>сегментная модель памяти </a:t>
            </a:r>
          </a:p>
          <a:p>
            <a:r>
              <a:rPr lang="ru-RU" dirty="0"/>
              <a:t>80286</a:t>
            </a:r>
          </a:p>
          <a:p>
            <a:pPr lvl="1"/>
            <a:r>
              <a:rPr lang="ru-RU" dirty="0"/>
              <a:t>введение защищённого режима </a:t>
            </a:r>
          </a:p>
          <a:p>
            <a:pPr lvl="1"/>
            <a:r>
              <a:rPr lang="ru-RU" dirty="0"/>
              <a:t>поддержка многозадачности </a:t>
            </a:r>
          </a:p>
          <a:p>
            <a:r>
              <a:rPr lang="ru-RU" dirty="0"/>
              <a:t>80386</a:t>
            </a:r>
          </a:p>
          <a:p>
            <a:pPr lvl="1"/>
            <a:r>
              <a:rPr lang="ru-RU" dirty="0"/>
              <a:t>переход к 32-битной архитектуре </a:t>
            </a:r>
          </a:p>
          <a:p>
            <a:pPr lvl="1"/>
            <a:r>
              <a:rPr lang="ru-RU" dirty="0"/>
              <a:t>расширение адресного пространства </a:t>
            </a:r>
          </a:p>
          <a:p>
            <a:pPr lvl="1"/>
            <a:r>
              <a:rPr lang="ru-RU" dirty="0"/>
              <a:t>основа современной модели памяти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34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A78F-96A0-012C-843B-F9C1AC26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Дальнейшее развитие архитектуры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BAC3E-33C8-BDFE-3C8B-7F8C3A29C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80486</a:t>
            </a:r>
          </a:p>
          <a:p>
            <a:pPr lvl="1"/>
            <a:r>
              <a:rPr lang="ru-RU" dirty="0"/>
              <a:t>интеграция математического сопроцессора </a:t>
            </a:r>
          </a:p>
          <a:p>
            <a:pPr lvl="1"/>
            <a:r>
              <a:rPr lang="ru-RU" dirty="0"/>
              <a:t>появление встроенной кэш-памяти </a:t>
            </a:r>
          </a:p>
          <a:p>
            <a:r>
              <a:rPr lang="ru-RU" dirty="0"/>
              <a:t>Pentium</a:t>
            </a:r>
          </a:p>
          <a:p>
            <a:pPr lvl="1"/>
            <a:r>
              <a:rPr lang="ru-RU" dirty="0" err="1"/>
              <a:t>суперскалярная</a:t>
            </a:r>
            <a:r>
              <a:rPr lang="ru-RU" dirty="0"/>
              <a:t> архитектура </a:t>
            </a:r>
          </a:p>
          <a:p>
            <a:pPr lvl="1"/>
            <a:r>
              <a:rPr lang="ru-RU" dirty="0"/>
              <a:t>параллельное выполнение инструкций </a:t>
            </a:r>
          </a:p>
          <a:p>
            <a:r>
              <a:rPr lang="ru-RU" dirty="0"/>
              <a:t>Общее направление развития:</a:t>
            </a:r>
          </a:p>
          <a:p>
            <a:pPr lvl="1"/>
            <a:r>
              <a:rPr lang="ru-RU" dirty="0"/>
              <a:t>рост производительности </a:t>
            </a:r>
          </a:p>
          <a:p>
            <a:pPr lvl="1"/>
            <a:r>
              <a:rPr lang="ru-RU" dirty="0"/>
              <a:t>усложнение внутренней архитектуры </a:t>
            </a:r>
          </a:p>
          <a:p>
            <a:pPr lvl="1"/>
            <a:r>
              <a:rPr lang="ru-RU" dirty="0"/>
              <a:t>сохранение программной совместимости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61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8E89-4A73-61CA-DC9A-2DE2D550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к 64-битной архитектуре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D4B50-3ACC-6A4B-0CD4-DEC364A91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Проблема:</a:t>
            </a:r>
          </a:p>
          <a:p>
            <a:pPr lvl="1"/>
            <a:r>
              <a:rPr lang="ru-RU" dirty="0"/>
              <a:t>ограничение 32-битного адресного пространства </a:t>
            </a:r>
          </a:p>
          <a:p>
            <a:pPr lvl="1"/>
            <a:r>
              <a:rPr lang="ru-RU" dirty="0"/>
              <a:t>рост требований к памяти и производительности </a:t>
            </a:r>
          </a:p>
          <a:p>
            <a:r>
              <a:rPr lang="ru-RU" dirty="0"/>
              <a:t>Два подхода:</a:t>
            </a:r>
          </a:p>
          <a:p>
            <a:pPr lvl="1"/>
            <a:r>
              <a:rPr lang="ru-RU" dirty="0"/>
              <a:t>IA-64 (Itanium, Intel)</a:t>
            </a:r>
          </a:p>
          <a:p>
            <a:pPr lvl="2"/>
            <a:r>
              <a:rPr lang="ru-RU" dirty="0"/>
              <a:t>новая архитектура </a:t>
            </a:r>
          </a:p>
          <a:p>
            <a:pPr lvl="2"/>
            <a:r>
              <a:rPr lang="ru-RU" dirty="0"/>
              <a:t>отказ от совместимости с x86 </a:t>
            </a:r>
          </a:p>
          <a:p>
            <a:pPr lvl="1"/>
            <a:r>
              <a:rPr lang="ru-RU" dirty="0"/>
              <a:t>x86-64 (AMD64)</a:t>
            </a:r>
          </a:p>
          <a:p>
            <a:pPr lvl="2"/>
            <a:r>
              <a:rPr lang="ru-RU" dirty="0"/>
              <a:t>расширение существующей архитектуры </a:t>
            </a:r>
          </a:p>
          <a:p>
            <a:pPr lvl="2"/>
            <a:r>
              <a:rPr lang="ru-RU" dirty="0"/>
              <a:t>сохранение обратной совместимости </a:t>
            </a:r>
          </a:p>
          <a:p>
            <a:r>
              <a:rPr lang="ru-RU" dirty="0"/>
              <a:t>Результат:</a:t>
            </a:r>
          </a:p>
          <a:p>
            <a:pPr lvl="1"/>
            <a:r>
              <a:rPr lang="ru-RU" dirty="0"/>
              <a:t>x86-64 стал промышленным стандартом </a:t>
            </a:r>
          </a:p>
          <a:p>
            <a:pPr lvl="1"/>
            <a:r>
              <a:rPr lang="ru-RU" dirty="0"/>
              <a:t>используется в современных процессорах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424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CAF7-BBF4-B2C7-0479-991E613F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будем изучать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093E-7D12-9219-FF80-FF24B7896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рамках курса рассмотрим:</a:t>
            </a:r>
          </a:p>
          <a:p>
            <a:pPr lvl="1"/>
            <a:r>
              <a:rPr lang="ru-RU" dirty="0"/>
              <a:t>регистры и базовые типы данных </a:t>
            </a:r>
          </a:p>
          <a:p>
            <a:pPr lvl="1"/>
            <a:r>
              <a:rPr lang="ru-RU" dirty="0"/>
              <a:t>систему команд x86-64 </a:t>
            </a:r>
          </a:p>
          <a:p>
            <a:pPr lvl="1"/>
            <a:r>
              <a:rPr lang="ru-RU" dirty="0"/>
              <a:t>режимы адресации </a:t>
            </a:r>
          </a:p>
          <a:p>
            <a:pPr lvl="1"/>
            <a:r>
              <a:rPr lang="ru-RU" dirty="0"/>
              <a:t>соглашения о вызовах функций (ABI) </a:t>
            </a:r>
          </a:p>
          <a:p>
            <a:r>
              <a:rPr lang="ru-RU" dirty="0"/>
              <a:t>Практические навыки:</a:t>
            </a:r>
          </a:p>
          <a:p>
            <a:pPr lvl="1"/>
            <a:r>
              <a:rPr lang="ru-RU" dirty="0"/>
              <a:t>чтение ассемблерного кода </a:t>
            </a:r>
          </a:p>
          <a:p>
            <a:pPr lvl="1"/>
            <a:r>
              <a:rPr lang="ru-RU" dirty="0"/>
              <a:t>сопоставление кода на C и </a:t>
            </a:r>
            <a:r>
              <a:rPr lang="ru-RU" dirty="0" err="1"/>
              <a:t>asm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анализ работы программы на уровне инструкций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71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ABF1E8-E183-7F04-D4CF-8FEB47ED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процессора в архитектуре </a:t>
            </a:r>
            <a:r>
              <a:rPr lang="en-US" dirty="0"/>
              <a:t>x86-64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FE6C0E-E4A0-00A2-F835-71BAF8B8D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0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583E10-5954-B6EB-5742-76BE0AFC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процессора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4C4A07-3ECC-C849-EAD6-3899EC209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Регистры — это:</a:t>
            </a:r>
          </a:p>
          <a:p>
            <a:pPr lvl="1"/>
            <a:r>
              <a:rPr lang="ru-RU" dirty="0"/>
              <a:t>небольшая область памяти внутри процессора </a:t>
            </a:r>
          </a:p>
          <a:p>
            <a:pPr lvl="1"/>
            <a:r>
              <a:rPr lang="ru-RU" dirty="0"/>
              <a:t>используются для хранения данных и адресов </a:t>
            </a:r>
          </a:p>
          <a:p>
            <a:pPr lvl="1"/>
            <a:r>
              <a:rPr lang="ru-RU" dirty="0"/>
              <a:t>обеспечивают быстрый доступ к данным </a:t>
            </a:r>
          </a:p>
          <a:p>
            <a:r>
              <a:rPr lang="ru-RU" dirty="0"/>
              <a:t>Назначение:</a:t>
            </a:r>
          </a:p>
          <a:p>
            <a:pPr lvl="1"/>
            <a:r>
              <a:rPr lang="ru-RU" dirty="0"/>
              <a:t>операнды инструкций </a:t>
            </a:r>
          </a:p>
          <a:p>
            <a:pPr lvl="1"/>
            <a:r>
              <a:rPr lang="ru-RU" dirty="0"/>
              <a:t>промежуточные вычисления </a:t>
            </a:r>
          </a:p>
          <a:p>
            <a:pPr lvl="1"/>
            <a:r>
              <a:rPr lang="ru-RU" dirty="0"/>
              <a:t>управление выполнением программы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77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D896-68E5-A83F-27EF-E4CE031B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общего назначения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55E7-4F7D-AE87-7766-343300EE1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Всего доступно 16 регистров общего назначения</a:t>
            </a:r>
          </a:p>
          <a:p>
            <a:pPr lvl="1"/>
            <a:r>
              <a:rPr lang="ru-RU" dirty="0"/>
              <a:t>Разрядность: 64 бита</a:t>
            </a:r>
            <a:endParaRPr lang="en-US" dirty="0"/>
          </a:p>
          <a:p>
            <a:r>
              <a:rPr lang="ru-RU" dirty="0"/>
              <a:t>Базовые</a:t>
            </a:r>
          </a:p>
          <a:p>
            <a:pPr lvl="1"/>
            <a:r>
              <a:rPr lang="en-US" dirty="0"/>
              <a:t>RAX, RBX, RCX, RDX</a:t>
            </a:r>
          </a:p>
          <a:p>
            <a:r>
              <a:rPr lang="ru-RU" dirty="0"/>
              <a:t>Работа с памятью и передача аргументов</a:t>
            </a:r>
          </a:p>
          <a:p>
            <a:pPr lvl="1"/>
            <a:r>
              <a:rPr lang="en-US" dirty="0"/>
              <a:t>RSI, RDI</a:t>
            </a:r>
          </a:p>
          <a:p>
            <a:r>
              <a:rPr lang="ru-RU" dirty="0"/>
              <a:t>Работа со стеком</a:t>
            </a:r>
          </a:p>
          <a:p>
            <a:pPr lvl="1"/>
            <a:r>
              <a:rPr lang="en-US" dirty="0"/>
              <a:t>RBP </a:t>
            </a:r>
            <a:r>
              <a:rPr lang="ru-RU" dirty="0"/>
              <a:t>и </a:t>
            </a:r>
            <a:r>
              <a:rPr lang="en-US" dirty="0"/>
              <a:t>RSP</a:t>
            </a:r>
          </a:p>
          <a:p>
            <a:r>
              <a:rPr lang="ru-RU" dirty="0"/>
              <a:t>Дополнительные регистры</a:t>
            </a:r>
          </a:p>
          <a:p>
            <a:pPr lvl="1"/>
            <a:r>
              <a:rPr lang="en-US" dirty="0"/>
              <a:t>R8...R15</a:t>
            </a:r>
            <a:endParaRPr lang="ru-RU" dirty="0"/>
          </a:p>
          <a:p>
            <a:pPr lvl="1"/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04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E984-88A1-1B5A-F084-8755C2D3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 регистров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63A7B-9E43-A9E2-F58A-32B90758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Традиционные роли:</a:t>
            </a:r>
          </a:p>
          <a:p>
            <a:pPr lvl="1"/>
            <a:r>
              <a:rPr lang="ru-RU" dirty="0"/>
              <a:t>RAX — аккумулятор </a:t>
            </a:r>
          </a:p>
          <a:p>
            <a:pPr lvl="1"/>
            <a:r>
              <a:rPr lang="ru-RU" dirty="0"/>
              <a:t>RBX — базовый регистр </a:t>
            </a:r>
          </a:p>
          <a:p>
            <a:pPr lvl="1"/>
            <a:r>
              <a:rPr lang="ru-RU" dirty="0"/>
              <a:t>RCX — счётчик </a:t>
            </a:r>
          </a:p>
          <a:p>
            <a:pPr lvl="1"/>
            <a:r>
              <a:rPr lang="ru-RU" dirty="0"/>
              <a:t>RDX — дополнительные данные </a:t>
            </a:r>
          </a:p>
          <a:p>
            <a:r>
              <a:rPr lang="ru-RU" dirty="0"/>
              <a:t>Работа с памятью и функциями:</a:t>
            </a:r>
          </a:p>
          <a:p>
            <a:pPr lvl="1"/>
            <a:r>
              <a:rPr lang="ru-RU" dirty="0"/>
              <a:t>RSI, RDI — аргументы, указатели </a:t>
            </a:r>
          </a:p>
          <a:p>
            <a:pPr lvl="1"/>
            <a:r>
              <a:rPr lang="ru-RU" dirty="0"/>
              <a:t>RSP — указатель стека </a:t>
            </a:r>
          </a:p>
          <a:p>
            <a:pPr lvl="1"/>
            <a:r>
              <a:rPr lang="ru-RU" dirty="0"/>
              <a:t>RBP — базовый указатель кадра стека</a:t>
            </a:r>
          </a:p>
          <a:p>
            <a:r>
              <a:rPr lang="ru-RU" dirty="0"/>
              <a:t>Регистры </a:t>
            </a:r>
            <a:r>
              <a:rPr lang="en-US" dirty="0"/>
              <a:t>R8…R15 </a:t>
            </a:r>
            <a:r>
              <a:rPr lang="ru-RU" dirty="0"/>
              <a:t>не имеют выделенных ролей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418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6E871B-73BA-CF4E-C536-3C1D9F4F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частями регистров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4D087B-F410-8DF5-BE7A-8FBE122A8D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750197"/>
              </p:ext>
            </p:extLst>
          </p:nvPr>
        </p:nvGraphicFramePr>
        <p:xfrm>
          <a:off x="838200" y="1825625"/>
          <a:ext cx="10515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656050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0635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04314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623628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66430542"/>
                    </a:ext>
                  </a:extLst>
                </a:gridCol>
              </a:tblGrid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Биты </a:t>
                      </a:r>
                      <a:r>
                        <a:rPr lang="en-US" sz="1200" dirty="0"/>
                        <a:t>0-63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Биты 0-31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Биты 0-15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Биты 8-15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Биты 0-7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89909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25894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981114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623478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96101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638236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304800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BPL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930798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SPL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216259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R8D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R8W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R8B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36808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R9D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R9W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R9B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66070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70016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313826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R12B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467063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R13B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734421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R14B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285898"/>
                  </a:ext>
                </a:extLst>
              </a:tr>
              <a:tr h="196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R15W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R15B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14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60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15A8-06A9-2EEA-4C63-A8F45724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работы с частями регистров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E8DCE-EE53-925A-A4D2-2C87C23BF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Один регистр — несколько представлений</a:t>
            </a:r>
          </a:p>
          <a:p>
            <a:pPr lvl="1"/>
            <a:r>
              <a:rPr lang="ru-RU" dirty="0"/>
              <a:t>RAX / EAX / AX / AL</a:t>
            </a:r>
            <a:r>
              <a:rPr lang="en-US" dirty="0"/>
              <a:t>, AH</a:t>
            </a:r>
            <a:r>
              <a:rPr lang="ru-RU" dirty="0"/>
              <a:t> — один и тот же регистр </a:t>
            </a:r>
          </a:p>
          <a:p>
            <a:pPr lvl="1"/>
            <a:r>
              <a:rPr lang="ru-RU" dirty="0"/>
              <a:t>младшие части перекрывают старшие </a:t>
            </a:r>
          </a:p>
          <a:p>
            <a:r>
              <a:rPr lang="ru-RU" dirty="0"/>
              <a:t>Запись в части регистра:</a:t>
            </a:r>
          </a:p>
          <a:p>
            <a:pPr lvl="1"/>
            <a:r>
              <a:rPr lang="ru-RU" dirty="0"/>
              <a:t>запись в 64-битный регистр → изменяются все 64 бита </a:t>
            </a:r>
          </a:p>
          <a:p>
            <a:pPr lvl="1"/>
            <a:r>
              <a:rPr lang="ru-RU" dirty="0"/>
              <a:t>запись в 32-битный регистр →</a:t>
            </a:r>
            <a:r>
              <a:rPr lang="en-US" dirty="0"/>
              <a:t> </a:t>
            </a:r>
            <a:r>
              <a:rPr lang="ru-RU" dirty="0"/>
              <a:t>старшие 32 бита обнуляются </a:t>
            </a:r>
          </a:p>
          <a:p>
            <a:pPr lvl="1"/>
            <a:r>
              <a:rPr lang="ru-RU" dirty="0"/>
              <a:t>запись в 16- или 8-битную часть →</a:t>
            </a:r>
            <a:r>
              <a:rPr lang="en-US" dirty="0"/>
              <a:t> </a:t>
            </a:r>
            <a:r>
              <a:rPr lang="ru-RU" dirty="0"/>
              <a:t>остальные биты не изменяются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R8–R15 не имеют “старших байтов” (AH, BH и т.п.) </a:t>
            </a:r>
          </a:p>
          <a:p>
            <a:pPr lvl="1"/>
            <a:r>
              <a:rPr lang="ru-RU" dirty="0"/>
              <a:t>разные имена — это не разные регистры</a:t>
            </a:r>
          </a:p>
        </p:txBody>
      </p:sp>
    </p:spTree>
    <p:extLst>
      <p:ext uri="{BB962C8B-B14F-4D97-AF65-F5344CB8AC3E}">
        <p14:creationId xmlns:p14="http://schemas.microsoft.com/office/powerpoint/2010/main" val="232468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45F5F-F2D3-2984-B2D9-990765B37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Специальные регистры и управление выполнением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96391-6FC8-9369-BA93-4163D33E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RIP — указатель инструкции</a:t>
            </a:r>
          </a:p>
          <a:p>
            <a:pPr lvl="1"/>
            <a:r>
              <a:rPr lang="ru-RU" dirty="0"/>
              <a:t>адрес следующей выполняемой инструкции </a:t>
            </a:r>
          </a:p>
          <a:p>
            <a:pPr lvl="1"/>
            <a:r>
              <a:rPr lang="ru-RU" dirty="0"/>
              <a:t>изменяется автоматически </a:t>
            </a:r>
          </a:p>
          <a:p>
            <a:pPr lvl="1"/>
            <a:r>
              <a:rPr lang="ru-RU" dirty="0"/>
              <a:t>используется при переходах и вызовах </a:t>
            </a:r>
          </a:p>
          <a:p>
            <a:r>
              <a:rPr lang="ru-RU" dirty="0"/>
              <a:t>RSP — указатель стека</a:t>
            </a:r>
          </a:p>
          <a:p>
            <a:pPr lvl="1"/>
            <a:r>
              <a:rPr lang="ru-RU" dirty="0"/>
              <a:t>указывает на вершину стека </a:t>
            </a:r>
          </a:p>
          <a:p>
            <a:pPr lvl="1"/>
            <a:r>
              <a:rPr lang="ru-RU" dirty="0"/>
              <a:t>изменяется инструкциями </a:t>
            </a:r>
            <a:r>
              <a:rPr lang="ru-RU" dirty="0" err="1"/>
              <a:t>push</a:t>
            </a:r>
            <a:r>
              <a:rPr lang="ru-RU" dirty="0"/>
              <a:t>, </a:t>
            </a:r>
            <a:r>
              <a:rPr lang="ru-RU" dirty="0" err="1"/>
              <a:t>pop</a:t>
            </a:r>
            <a:r>
              <a:rPr lang="ru-RU" dirty="0"/>
              <a:t>, </a:t>
            </a:r>
            <a:r>
              <a:rPr lang="ru-RU" dirty="0" err="1"/>
              <a:t>call</a:t>
            </a:r>
            <a:r>
              <a:rPr lang="ru-RU" dirty="0"/>
              <a:t>, </a:t>
            </a:r>
            <a:r>
              <a:rPr lang="ru-RU" dirty="0" err="1"/>
              <a:t>ret</a:t>
            </a:r>
            <a:r>
              <a:rPr lang="ru-RU" dirty="0"/>
              <a:t> </a:t>
            </a:r>
          </a:p>
          <a:p>
            <a:r>
              <a:rPr lang="ru-RU" dirty="0"/>
              <a:t>RBP — базовый указатель кадра</a:t>
            </a:r>
          </a:p>
          <a:p>
            <a:pPr lvl="1"/>
            <a:r>
              <a:rPr lang="ru-RU" dirty="0"/>
              <a:t>фиксирует начало стекового кадра функции </a:t>
            </a:r>
          </a:p>
          <a:p>
            <a:pPr lvl="1"/>
            <a:r>
              <a:rPr lang="ru-RU" dirty="0"/>
              <a:t>используется для доступа к локальным данным и параметрам </a:t>
            </a:r>
          </a:p>
          <a:p>
            <a:r>
              <a:rPr lang="ru-RU" dirty="0"/>
              <a:t>RFLAGS — регистр флагов</a:t>
            </a:r>
          </a:p>
          <a:p>
            <a:pPr lvl="1"/>
            <a:r>
              <a:rPr lang="ru-RU" dirty="0"/>
              <a:t>содержит состояние процессора </a:t>
            </a:r>
          </a:p>
          <a:p>
            <a:pPr lvl="1"/>
            <a:r>
              <a:rPr lang="ru-RU" dirty="0"/>
              <a:t>используется для условных переходов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156E-0895-5FCD-2C84-BCF8C7EA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 флагов (</a:t>
            </a:r>
            <a:r>
              <a:rPr lang="en-US" dirty="0"/>
              <a:t>RFLAGS)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645C0-2FD2-49D0-8CF7-DD3D382D3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RFLAGS — регистр состояния процессора</a:t>
            </a:r>
          </a:p>
          <a:p>
            <a:pPr lvl="1"/>
            <a:r>
              <a:rPr lang="ru-RU" dirty="0"/>
              <a:t>хранит информацию о результате выполнения инструкций </a:t>
            </a:r>
          </a:p>
          <a:p>
            <a:pPr lvl="1"/>
            <a:r>
              <a:rPr lang="ru-RU" dirty="0"/>
              <a:t>изменяется автоматически </a:t>
            </a:r>
          </a:p>
          <a:p>
            <a:pPr lvl="1"/>
            <a:r>
              <a:rPr lang="ru-RU" dirty="0"/>
              <a:t>используется для условных переходов </a:t>
            </a:r>
          </a:p>
          <a:p>
            <a:r>
              <a:rPr lang="ru-RU" dirty="0"/>
              <a:t>Флаги устанавливаются:</a:t>
            </a:r>
          </a:p>
          <a:p>
            <a:pPr lvl="1"/>
            <a:r>
              <a:rPr lang="ru-RU" dirty="0"/>
              <a:t>арифметическими операциями </a:t>
            </a:r>
          </a:p>
          <a:p>
            <a:pPr lvl="1"/>
            <a:r>
              <a:rPr lang="ru-RU" dirty="0"/>
              <a:t>логическими операциями </a:t>
            </a:r>
          </a:p>
          <a:p>
            <a:pPr lvl="1"/>
            <a:r>
              <a:rPr lang="ru-RU" dirty="0"/>
              <a:t>инструкцией </a:t>
            </a:r>
            <a:r>
              <a:rPr lang="ru-RU" dirty="0" err="1"/>
              <a:t>cmp</a:t>
            </a:r>
            <a:r>
              <a:rPr lang="ru-RU" dirty="0"/>
              <a:t> и </a:t>
            </a:r>
            <a:r>
              <a:rPr lang="en-US" dirty="0"/>
              <a:t>test</a:t>
            </a:r>
            <a:endParaRPr lang="ru-RU" dirty="0"/>
          </a:p>
          <a:p>
            <a:r>
              <a:rPr lang="ru-RU" dirty="0"/>
              <a:t>Используются:</a:t>
            </a:r>
          </a:p>
          <a:p>
            <a:pPr lvl="1"/>
            <a:r>
              <a:rPr lang="ru-RU" dirty="0" err="1"/>
              <a:t>je</a:t>
            </a:r>
            <a:r>
              <a:rPr lang="ru-RU" dirty="0"/>
              <a:t>, </a:t>
            </a:r>
            <a:r>
              <a:rPr lang="ru-RU" dirty="0" err="1"/>
              <a:t>jne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jg</a:t>
            </a:r>
            <a:r>
              <a:rPr lang="ru-RU" dirty="0"/>
              <a:t>, </a:t>
            </a:r>
            <a:r>
              <a:rPr lang="ru-RU" dirty="0" err="1"/>
              <a:t>jl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5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055C-974F-65D4-A67F-F4793532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флаги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38FD-5C22-F875-225A-388B73CA0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ZF (Zero </a:t>
            </a:r>
            <a:r>
              <a:rPr lang="ru-RU" dirty="0" err="1"/>
              <a:t>Flag</a:t>
            </a:r>
            <a:r>
              <a:rPr lang="ru-RU" dirty="0"/>
              <a:t>) – устанавливается, если результат равен 0 </a:t>
            </a:r>
          </a:p>
          <a:p>
            <a:r>
              <a:rPr lang="ru-RU" dirty="0"/>
              <a:t>CF (Carry </a:t>
            </a:r>
            <a:r>
              <a:rPr lang="ru-RU" dirty="0" err="1"/>
              <a:t>Flag</a:t>
            </a:r>
            <a:r>
              <a:rPr lang="ru-RU" dirty="0"/>
              <a:t>) – устанавливается при переносе или </a:t>
            </a:r>
            <a:r>
              <a:rPr lang="ru-RU" dirty="0" err="1"/>
              <a:t>заёме</a:t>
            </a:r>
            <a:endParaRPr lang="ru-RU" dirty="0"/>
          </a:p>
          <a:p>
            <a:r>
              <a:rPr lang="ru-RU" dirty="0"/>
              <a:t>SF (</a:t>
            </a:r>
            <a:r>
              <a:rPr lang="ru-RU" dirty="0" err="1"/>
              <a:t>Sign</a:t>
            </a:r>
            <a:r>
              <a:rPr lang="ru-RU" dirty="0"/>
              <a:t> </a:t>
            </a:r>
            <a:r>
              <a:rPr lang="ru-RU" dirty="0" err="1"/>
              <a:t>Flag</a:t>
            </a:r>
            <a:r>
              <a:rPr lang="ru-RU" dirty="0"/>
              <a:t>) – хранит знак результата</a:t>
            </a:r>
          </a:p>
          <a:p>
            <a:pPr lvl="1"/>
            <a:r>
              <a:rPr lang="ru-RU" dirty="0"/>
              <a:t>0 – результат неотрицательный</a:t>
            </a:r>
          </a:p>
          <a:p>
            <a:pPr lvl="1"/>
            <a:r>
              <a:rPr lang="ru-RU" dirty="0"/>
              <a:t>1 – результат отрицательный</a:t>
            </a:r>
          </a:p>
          <a:p>
            <a:r>
              <a:rPr lang="ru-RU" dirty="0"/>
              <a:t>OF (</a:t>
            </a:r>
            <a:r>
              <a:rPr lang="ru-RU" dirty="0" err="1"/>
              <a:t>Overflow</a:t>
            </a:r>
            <a:r>
              <a:rPr lang="ru-RU" dirty="0"/>
              <a:t> </a:t>
            </a:r>
            <a:r>
              <a:rPr lang="ru-RU" dirty="0" err="1"/>
              <a:t>Flag</a:t>
            </a:r>
            <a:r>
              <a:rPr lang="ru-RU" dirty="0"/>
              <a:t>) – переполнение со знаком </a:t>
            </a:r>
          </a:p>
          <a:p>
            <a:r>
              <a:rPr lang="ru-RU" dirty="0"/>
              <a:t>Дополнительно:</a:t>
            </a:r>
          </a:p>
          <a:p>
            <a:pPr lvl="1"/>
            <a:r>
              <a:rPr lang="ru-RU" dirty="0"/>
              <a:t>флаги отражают разные интерпретации результата </a:t>
            </a:r>
          </a:p>
          <a:p>
            <a:pPr lvl="1"/>
            <a:r>
              <a:rPr lang="ru-RU" dirty="0"/>
              <a:t>используются в основном для условных переходов</a:t>
            </a:r>
          </a:p>
        </p:txBody>
      </p:sp>
    </p:spTree>
    <p:extLst>
      <p:ext uri="{BB962C8B-B14F-4D97-AF65-F5344CB8AC3E}">
        <p14:creationId xmlns:p14="http://schemas.microsoft.com/office/powerpoint/2010/main" val="3358107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B82A-B5BE-4C96-113B-043B7252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управления и сегментные регистры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E929A-B93E-919A-BD63-50A382D3A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Регистры управления (</a:t>
            </a:r>
            <a:r>
              <a:rPr lang="ru-RU" dirty="0" err="1"/>
              <a:t>control</a:t>
            </a:r>
            <a:r>
              <a:rPr lang="ru-RU" dirty="0"/>
              <a:t> </a:t>
            </a:r>
            <a:r>
              <a:rPr lang="ru-RU" dirty="0" err="1"/>
              <a:t>registers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CR0, CR2, CR3, CR4 </a:t>
            </a:r>
          </a:p>
          <a:p>
            <a:pPr lvl="1"/>
            <a:r>
              <a:rPr lang="ru-RU" dirty="0"/>
              <a:t>настройка режима работы процессора </a:t>
            </a:r>
          </a:p>
          <a:p>
            <a:pPr lvl="1"/>
            <a:r>
              <a:rPr lang="ru-RU" dirty="0"/>
              <a:t>управление виртуальной памятью </a:t>
            </a:r>
          </a:p>
          <a:p>
            <a:pPr lvl="1"/>
            <a:r>
              <a:rPr lang="ru-RU" dirty="0"/>
              <a:t>используются операционной системой </a:t>
            </a:r>
          </a:p>
          <a:p>
            <a:r>
              <a:rPr lang="ru-RU" dirty="0"/>
              <a:t>Сегментные регистры</a:t>
            </a:r>
          </a:p>
          <a:p>
            <a:pPr lvl="1"/>
            <a:r>
              <a:rPr lang="ru-RU" dirty="0"/>
              <a:t>CS, DS, SS, ES, FS, GS </a:t>
            </a:r>
          </a:p>
          <a:p>
            <a:pPr lvl="1"/>
            <a:r>
              <a:rPr lang="ru-RU" dirty="0"/>
              <a:t>исторически — сегментная адресация </a:t>
            </a:r>
          </a:p>
          <a:p>
            <a:r>
              <a:rPr lang="ru-RU" dirty="0"/>
              <a:t>В x86-64:</a:t>
            </a:r>
          </a:p>
          <a:p>
            <a:pPr lvl="1"/>
            <a:r>
              <a:rPr lang="ru-RU" dirty="0"/>
              <a:t>CS, DS, ES, SS — почти не используются </a:t>
            </a:r>
          </a:p>
          <a:p>
            <a:pPr lvl="1"/>
            <a:r>
              <a:rPr lang="ru-RU" dirty="0"/>
              <a:t>FS и GS — применяются (например, для доступа к переменным текущего потока)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управление сегментацией выполняет ОС </a:t>
            </a:r>
          </a:p>
          <a:p>
            <a:pPr lvl="1"/>
            <a:r>
              <a:rPr lang="ru-RU" dirty="0"/>
              <a:t>доступ в пользовательском коде ограничен</a:t>
            </a:r>
          </a:p>
        </p:txBody>
      </p:sp>
    </p:spTree>
    <p:extLst>
      <p:ext uri="{BB962C8B-B14F-4D97-AF65-F5344CB8AC3E}">
        <p14:creationId xmlns:p14="http://schemas.microsoft.com/office/powerpoint/2010/main" val="87752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64FE8-2DC9-F05D-33BD-DAD365DA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инструкций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8EF91-75B5-4F36-1007-F067417A1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1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56638-8791-9A38-C69C-1A48F9B4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Синтаксис и формат инструкций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3919F5-9087-A893-DF33-7DAB19BF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Два синтаксиса:</a:t>
            </a:r>
          </a:p>
          <a:p>
            <a:pPr lvl="1"/>
            <a:r>
              <a:rPr lang="ru-RU" dirty="0"/>
              <a:t>Intel (используется в курсе) </a:t>
            </a:r>
          </a:p>
          <a:p>
            <a:pPr lvl="1"/>
            <a:r>
              <a:rPr lang="ru-RU" dirty="0"/>
              <a:t>AT&amp;T (используется в GCC по умолчанию) </a:t>
            </a:r>
          </a:p>
          <a:p>
            <a:r>
              <a:rPr lang="ru-RU" dirty="0"/>
              <a:t>Особенности x86-64:</a:t>
            </a:r>
          </a:p>
          <a:p>
            <a:pPr lvl="1"/>
            <a:r>
              <a:rPr lang="ru-RU" dirty="0"/>
              <a:t>инструкции имеют переменную длину </a:t>
            </a:r>
          </a:p>
          <a:p>
            <a:pPr lvl="1"/>
            <a:r>
              <a:rPr lang="ru-RU" dirty="0"/>
              <a:t>длина инструкции: до 15 байт </a:t>
            </a:r>
          </a:p>
          <a:p>
            <a:pPr lvl="1"/>
            <a:r>
              <a:rPr lang="ru-RU" dirty="0"/>
              <a:t>код операции может занимать несколько байт </a:t>
            </a:r>
          </a:p>
          <a:p>
            <a:r>
              <a:rPr lang="ru-RU" dirty="0"/>
              <a:t>Сравнение:</a:t>
            </a:r>
          </a:p>
          <a:p>
            <a:pPr lvl="1"/>
            <a:r>
              <a:rPr lang="ru-RU" dirty="0"/>
              <a:t>x86-64 — переменная длина инструкций </a:t>
            </a:r>
          </a:p>
          <a:p>
            <a:pPr lvl="1"/>
            <a:r>
              <a:rPr lang="ru-RU" dirty="0"/>
              <a:t>ARM — фиксированная длина инструкций</a:t>
            </a:r>
          </a:p>
        </p:txBody>
      </p:sp>
    </p:spTree>
    <p:extLst>
      <p:ext uri="{BB962C8B-B14F-4D97-AF65-F5344CB8AC3E}">
        <p14:creationId xmlns:p14="http://schemas.microsoft.com/office/powerpoint/2010/main" val="408337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0410-15A4-0D7A-0EC1-D129B777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пересылки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1F3E-E05B-BA56-DA6C-C1E7BB660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Основные инструкции:</a:t>
            </a:r>
          </a:p>
          <a:p>
            <a:pPr lvl="1"/>
            <a:r>
              <a:rPr lang="en-US" dirty="0"/>
              <a:t>mov — </a:t>
            </a:r>
            <a:r>
              <a:rPr lang="ru-RU" dirty="0"/>
              <a:t>копирование данных </a:t>
            </a:r>
          </a:p>
          <a:p>
            <a:pPr lvl="1"/>
            <a:r>
              <a:rPr lang="en-US" dirty="0"/>
              <a:t>lea — </a:t>
            </a:r>
            <a:r>
              <a:rPr lang="ru-RU" dirty="0"/>
              <a:t>вычисление адреса </a:t>
            </a:r>
          </a:p>
          <a:p>
            <a:r>
              <a:rPr lang="ru-RU" dirty="0"/>
              <a:t>Варианты использования </a:t>
            </a:r>
            <a:r>
              <a:rPr lang="en-US" dirty="0"/>
              <a:t>mov:</a:t>
            </a:r>
          </a:p>
          <a:p>
            <a:pPr lvl="1"/>
            <a:r>
              <a:rPr lang="ru-RU" dirty="0"/>
              <a:t>регистр → регистр </a:t>
            </a:r>
          </a:p>
          <a:p>
            <a:pPr lvl="1"/>
            <a:r>
              <a:rPr lang="ru-RU" dirty="0"/>
              <a:t>значение → регистр </a:t>
            </a:r>
          </a:p>
          <a:p>
            <a:pPr lvl="1"/>
            <a:r>
              <a:rPr lang="ru-RU" dirty="0"/>
              <a:t>память → регистр </a:t>
            </a:r>
          </a:p>
          <a:p>
            <a:pPr lvl="1"/>
            <a:r>
              <a:rPr lang="ru-RU" dirty="0"/>
              <a:t>регистр → память 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mov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 ; 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→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mov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10 ; 10 </a:t>
            </a:r>
            <a:r>
              <a:rPr lang="ru-RU" dirty="0">
                <a:latin typeface="Consolas" panose="020B0609020204030204" pitchFamily="49" charset="0"/>
              </a:rPr>
              <a:t>→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mov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 ; 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→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mov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],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 ;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→</a:t>
            </a:r>
            <a:r>
              <a:rPr lang="en-US" dirty="0">
                <a:latin typeface="Consolas" panose="020B0609020204030204" pitchFamily="49" charset="0"/>
              </a:rPr>
              <a:t>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1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E87A-80D7-48D2-9911-E08FA0FE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</a:t>
            </a:r>
            <a:r>
              <a:rPr lang="en-US" dirty="0"/>
              <a:t>C </a:t>
            </a:r>
            <a:r>
              <a:rPr lang="ru-RU" dirty="0"/>
              <a:t>и ассемблер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38AA3-E1AC-147E-52BE-D0957532A931}"/>
              </a:ext>
            </a:extLst>
          </p:cNvPr>
          <p:cNvSpPr txBox="1"/>
          <p:nvPr/>
        </p:nvSpPr>
        <p:spPr>
          <a:xfrm>
            <a:off x="838200" y="1920314"/>
            <a:ext cx="51707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728F0-A5B0-A2C6-7C74-B3CEA6BAB9FC}"/>
              </a:ext>
            </a:extLst>
          </p:cNvPr>
          <p:cNvSpPr txBox="1"/>
          <p:nvPr/>
        </p:nvSpPr>
        <p:spPr>
          <a:xfrm>
            <a:off x="6267203" y="1920314"/>
            <a:ext cx="52637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a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RDI, b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swap: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*a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tmp1 = *b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*a =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tmp1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*b =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tmp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ret</a:t>
            </a:r>
          </a:p>
        </p:txBody>
      </p:sp>
    </p:spTree>
    <p:extLst>
      <p:ext uri="{BB962C8B-B14F-4D97-AF65-F5344CB8AC3E}">
        <p14:creationId xmlns:p14="http://schemas.microsoft.com/office/powerpoint/2010/main" val="3983307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81FD-5AD5-07E6-3E0B-06AFB02C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Арифметические инструкции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F5DF-7E02-448A-4E93-A9B56BC29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Сложение и вычитание:</a:t>
            </a:r>
          </a:p>
          <a:p>
            <a:pPr lvl="1"/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dst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sub</a:t>
            </a:r>
            <a:r>
              <a:rPr lang="ru-RU" dirty="0"/>
              <a:t> </a:t>
            </a:r>
            <a:r>
              <a:rPr lang="ru-RU" dirty="0" err="1"/>
              <a:t>dst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операции над произвольными регистрами </a:t>
            </a:r>
          </a:p>
          <a:p>
            <a:r>
              <a:rPr lang="ru-RU" dirty="0"/>
              <a:t>Умножение:</a:t>
            </a:r>
          </a:p>
          <a:p>
            <a:pPr lvl="1"/>
            <a:r>
              <a:rPr lang="ru-RU" dirty="0" err="1"/>
              <a:t>imul</a:t>
            </a:r>
            <a:r>
              <a:rPr lang="ru-RU" dirty="0"/>
              <a:t> </a:t>
            </a:r>
            <a:r>
              <a:rPr lang="ru-RU" dirty="0" err="1"/>
              <a:t>dst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 — общий случай </a:t>
            </a:r>
          </a:p>
          <a:p>
            <a:pPr lvl="1"/>
            <a:r>
              <a:rPr lang="ru-RU" dirty="0"/>
              <a:t>результат помещается в указанный регистр</a:t>
            </a:r>
          </a:p>
          <a:p>
            <a:r>
              <a:rPr lang="ru-RU" dirty="0"/>
              <a:t>Деление:</a:t>
            </a:r>
          </a:p>
          <a:p>
            <a:pPr lvl="1"/>
            <a:r>
              <a:rPr lang="ru-RU" dirty="0" err="1"/>
              <a:t>idiv</a:t>
            </a:r>
            <a:r>
              <a:rPr lang="ru-RU" dirty="0"/>
              <a:t> </a:t>
            </a:r>
            <a:r>
              <a:rPr lang="ru-RU" dirty="0" err="1"/>
              <a:t>src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делимое фиксировано: </a:t>
            </a:r>
          </a:p>
          <a:p>
            <a:pPr lvl="2"/>
            <a:r>
              <a:rPr lang="en-US" dirty="0"/>
              <a:t>EDX:</a:t>
            </a:r>
            <a:r>
              <a:rPr lang="ru-RU" dirty="0"/>
              <a:t>EAX (или </a:t>
            </a:r>
            <a:r>
              <a:rPr lang="en-US" dirty="0"/>
              <a:t>RDX:</a:t>
            </a:r>
            <a:r>
              <a:rPr lang="ru-RU" dirty="0"/>
              <a:t>RAX) </a:t>
            </a:r>
          </a:p>
          <a:p>
            <a:pPr lvl="1"/>
            <a:r>
              <a:rPr lang="ru-RU" dirty="0"/>
              <a:t>результат: </a:t>
            </a:r>
          </a:p>
          <a:p>
            <a:pPr lvl="2"/>
            <a:r>
              <a:rPr lang="ru-RU" dirty="0"/>
              <a:t>частное в EAX (или </a:t>
            </a:r>
            <a:r>
              <a:rPr lang="en-US" dirty="0"/>
              <a:t>RAX)</a:t>
            </a:r>
            <a:endParaRPr lang="ru-RU" dirty="0"/>
          </a:p>
          <a:p>
            <a:pPr lvl="2"/>
            <a:r>
              <a:rPr lang="ru-RU" dirty="0"/>
              <a:t>остаток в EDX </a:t>
            </a:r>
            <a:r>
              <a:rPr lang="en-US" dirty="0"/>
              <a:t> (</a:t>
            </a:r>
            <a:r>
              <a:rPr lang="ru-RU" dirty="0"/>
              <a:t>или </a:t>
            </a:r>
            <a:r>
              <a:rPr lang="en-US" dirty="0"/>
              <a:t>RDX)</a:t>
            </a:r>
            <a:endParaRPr lang="ru-RU" dirty="0"/>
          </a:p>
          <a:p>
            <a:r>
              <a:rPr lang="ru-RU" dirty="0"/>
              <a:t>Дополнительно:</a:t>
            </a:r>
          </a:p>
          <a:p>
            <a:pPr lvl="1"/>
            <a:r>
              <a:rPr lang="ru-RU" dirty="0" err="1"/>
              <a:t>inc</a:t>
            </a:r>
            <a:r>
              <a:rPr lang="ru-RU" dirty="0"/>
              <a:t>, </a:t>
            </a:r>
            <a:r>
              <a:rPr lang="ru-RU" dirty="0" err="1"/>
              <a:t>dec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cdq</a:t>
            </a:r>
            <a:r>
              <a:rPr lang="ru-RU" dirty="0"/>
              <a:t>, </a:t>
            </a:r>
            <a:r>
              <a:rPr lang="ru-RU" dirty="0" err="1"/>
              <a:t>cqo</a:t>
            </a:r>
            <a:r>
              <a:rPr lang="ru-RU" dirty="0"/>
              <a:t> — подготовка деления</a:t>
            </a:r>
          </a:p>
          <a:p>
            <a:pPr lvl="2"/>
            <a:r>
              <a:rPr lang="ru-RU" dirty="0" err="1"/>
              <a:t>cqo</a:t>
            </a:r>
            <a:r>
              <a:rPr lang="ru-RU" dirty="0"/>
              <a:t> (</a:t>
            </a:r>
            <a:r>
              <a:rPr lang="en-US" dirty="0"/>
              <a:t>convert quad word to word</a:t>
            </a:r>
            <a:r>
              <a:rPr lang="ru-RU" dirty="0"/>
              <a:t>) знаковое расширение</a:t>
            </a:r>
          </a:p>
        </p:txBody>
      </p:sp>
    </p:spTree>
    <p:extLst>
      <p:ext uri="{BB962C8B-B14F-4D97-AF65-F5344CB8AC3E}">
        <p14:creationId xmlns:p14="http://schemas.microsoft.com/office/powerpoint/2010/main" val="288382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5946-CF42-D347-506F-299E535D1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среднее значение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98613-228A-69BA-19DC-F20AC9D56C31}"/>
              </a:ext>
            </a:extLst>
          </p:cNvPr>
          <p:cNvSpPr txBox="1"/>
          <p:nvPr/>
        </p:nvSpPr>
        <p:spPr>
          <a:xfrm>
            <a:off x="838200" y="1690688"/>
            <a:ext cx="45056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a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b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c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cdq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ecx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46167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DA82B8-5A7C-99B5-6FEB-A752CE4E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и логические операции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8F7EB-12DC-16B2-FD95-47294BFC7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Сравнение:</a:t>
            </a:r>
          </a:p>
          <a:p>
            <a:pPr lvl="1"/>
            <a:r>
              <a:rPr lang="ru-RU" dirty="0" err="1"/>
              <a:t>cmp</a:t>
            </a:r>
            <a:r>
              <a:rPr lang="ru-RU" dirty="0"/>
              <a:t> a, b</a:t>
            </a:r>
            <a:br>
              <a:rPr lang="ru-RU" dirty="0"/>
            </a:br>
            <a:r>
              <a:rPr lang="ru-RU" dirty="0"/>
              <a:t>→ вычисляет a - b</a:t>
            </a:r>
            <a:br>
              <a:rPr lang="ru-RU" dirty="0"/>
            </a:br>
            <a:r>
              <a:rPr lang="ru-RU" dirty="0"/>
              <a:t>→ результат не сохраняется</a:t>
            </a:r>
            <a:br>
              <a:rPr lang="ru-RU" dirty="0"/>
            </a:br>
            <a:r>
              <a:rPr lang="ru-RU" dirty="0"/>
              <a:t>→ изменяются флаги</a:t>
            </a:r>
          </a:p>
          <a:p>
            <a:r>
              <a:rPr lang="ru-RU" dirty="0"/>
              <a:t>Логические операции:</a:t>
            </a:r>
          </a:p>
          <a:p>
            <a:pPr lvl="1"/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dst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 — побитовое И </a:t>
            </a:r>
          </a:p>
          <a:p>
            <a:pPr lvl="1"/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dst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 — побитовое ИЛИ </a:t>
            </a:r>
          </a:p>
          <a:p>
            <a:pPr lvl="1"/>
            <a:r>
              <a:rPr lang="ru-RU" dirty="0" err="1"/>
              <a:t>xor</a:t>
            </a:r>
            <a:r>
              <a:rPr lang="ru-RU" dirty="0"/>
              <a:t> </a:t>
            </a:r>
            <a:r>
              <a:rPr lang="ru-RU" dirty="0" err="1"/>
              <a:t>dst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 — исключающее ИЛИ </a:t>
            </a:r>
          </a:p>
          <a:p>
            <a:pPr lvl="1"/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dst</a:t>
            </a:r>
            <a:r>
              <a:rPr lang="ru-RU" dirty="0"/>
              <a:t> — побитовое отрицание </a:t>
            </a:r>
          </a:p>
          <a:p>
            <a:r>
              <a:rPr lang="ru-RU" dirty="0"/>
              <a:t>Проверка без сохранения:</a:t>
            </a:r>
          </a:p>
          <a:p>
            <a:pPr lvl="1"/>
            <a:r>
              <a:rPr lang="ru-RU" dirty="0" err="1"/>
              <a:t>test</a:t>
            </a:r>
            <a:r>
              <a:rPr lang="ru-RU" dirty="0"/>
              <a:t> a, b</a:t>
            </a:r>
            <a:br>
              <a:rPr lang="ru-RU" dirty="0"/>
            </a:br>
            <a:r>
              <a:rPr lang="ru-RU" dirty="0"/>
              <a:t>→ выполняет a &amp; b</a:t>
            </a:r>
            <a:br>
              <a:rPr lang="ru-RU" dirty="0"/>
            </a:br>
            <a:r>
              <a:rPr lang="ru-RU" dirty="0"/>
              <a:t>→ результат не сохраняется</a:t>
            </a:r>
            <a:br>
              <a:rPr lang="ru-RU" dirty="0"/>
            </a:br>
            <a:r>
              <a:rPr lang="ru-RU" dirty="0"/>
              <a:t>→ изменяются флаги </a:t>
            </a:r>
          </a:p>
          <a:p>
            <a:r>
              <a:rPr lang="ru-RU" dirty="0"/>
              <a:t>Эти инструкции изменяют флаги и обычно используются перед условными переходами</a:t>
            </a:r>
          </a:p>
        </p:txBody>
      </p:sp>
    </p:spTree>
    <p:extLst>
      <p:ext uri="{BB962C8B-B14F-4D97-AF65-F5344CB8AC3E}">
        <p14:creationId xmlns:p14="http://schemas.microsoft.com/office/powerpoint/2010/main" val="271278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3FE5-65B2-C7EB-7AB0-33BB1E16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перехода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EF520-EE6B-123C-9FCE-946354E9D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Безусловный переход:</a:t>
            </a:r>
          </a:p>
          <a:p>
            <a:pPr lvl="1"/>
            <a:r>
              <a:rPr lang="en-US" dirty="0" err="1"/>
              <a:t>jmp</a:t>
            </a:r>
            <a:r>
              <a:rPr lang="en-US" dirty="0"/>
              <a:t> label — </a:t>
            </a:r>
            <a:r>
              <a:rPr lang="ru-RU" dirty="0"/>
              <a:t>переход всегда </a:t>
            </a:r>
          </a:p>
          <a:p>
            <a:r>
              <a:rPr lang="ru-RU" dirty="0"/>
              <a:t>Условные переходы (по флагам):</a:t>
            </a:r>
          </a:p>
          <a:p>
            <a:pPr lvl="1"/>
            <a:r>
              <a:rPr lang="en-US" dirty="0"/>
              <a:t>je / </a:t>
            </a:r>
            <a:r>
              <a:rPr lang="en-US" dirty="0" err="1"/>
              <a:t>jz</a:t>
            </a:r>
            <a:r>
              <a:rPr lang="en-US" dirty="0"/>
              <a:t> — </a:t>
            </a:r>
            <a:r>
              <a:rPr lang="ru-RU" dirty="0"/>
              <a:t>равно (</a:t>
            </a:r>
            <a:r>
              <a:rPr lang="en-US" dirty="0"/>
              <a:t>ZF = 1) </a:t>
            </a:r>
          </a:p>
          <a:p>
            <a:pPr lvl="1"/>
            <a:r>
              <a:rPr lang="en-US" dirty="0" err="1"/>
              <a:t>jne</a:t>
            </a:r>
            <a:r>
              <a:rPr lang="en-US" dirty="0"/>
              <a:t> / </a:t>
            </a:r>
            <a:r>
              <a:rPr lang="en-US" dirty="0" err="1"/>
              <a:t>jnz</a:t>
            </a:r>
            <a:r>
              <a:rPr lang="en-US" dirty="0"/>
              <a:t> — </a:t>
            </a:r>
            <a:r>
              <a:rPr lang="ru-RU" dirty="0"/>
              <a:t>не равно (</a:t>
            </a:r>
            <a:r>
              <a:rPr lang="en-US" dirty="0"/>
              <a:t>ZF = 0) </a:t>
            </a:r>
          </a:p>
          <a:p>
            <a:r>
              <a:rPr lang="ru-RU" dirty="0"/>
              <a:t>Сравнение чисел:</a:t>
            </a:r>
          </a:p>
          <a:p>
            <a:pPr lvl="1"/>
            <a:r>
              <a:rPr lang="ru-RU" dirty="0"/>
              <a:t>Знаковые:</a:t>
            </a:r>
          </a:p>
          <a:p>
            <a:pPr lvl="2"/>
            <a:r>
              <a:rPr lang="en-US" dirty="0" err="1"/>
              <a:t>jg</a:t>
            </a:r>
            <a:r>
              <a:rPr lang="en-US" dirty="0"/>
              <a:t> — </a:t>
            </a:r>
            <a:r>
              <a:rPr lang="ru-RU" dirty="0"/>
              <a:t>больше (</a:t>
            </a:r>
            <a:r>
              <a:rPr lang="en-US" dirty="0"/>
              <a:t>jump if greater) </a:t>
            </a:r>
          </a:p>
          <a:p>
            <a:pPr lvl="2"/>
            <a:r>
              <a:rPr lang="en-US" dirty="0" err="1"/>
              <a:t>jl</a:t>
            </a:r>
            <a:r>
              <a:rPr lang="en-US" dirty="0"/>
              <a:t> — </a:t>
            </a:r>
            <a:r>
              <a:rPr lang="ru-RU" dirty="0"/>
              <a:t>меньше (</a:t>
            </a:r>
            <a:r>
              <a:rPr lang="en-US" dirty="0"/>
              <a:t>jump if less) </a:t>
            </a:r>
          </a:p>
          <a:p>
            <a:pPr lvl="2"/>
            <a:r>
              <a:rPr lang="en-US" dirty="0" err="1"/>
              <a:t>jge</a:t>
            </a:r>
            <a:r>
              <a:rPr lang="en-US" dirty="0"/>
              <a:t> — ≥ </a:t>
            </a:r>
          </a:p>
          <a:p>
            <a:pPr lvl="2"/>
            <a:r>
              <a:rPr lang="en-US" dirty="0" err="1"/>
              <a:t>jle</a:t>
            </a:r>
            <a:r>
              <a:rPr lang="en-US" dirty="0"/>
              <a:t> — ≤ </a:t>
            </a:r>
          </a:p>
          <a:p>
            <a:pPr lvl="1"/>
            <a:r>
              <a:rPr lang="ru-RU" dirty="0"/>
              <a:t>Беззнаковые:</a:t>
            </a:r>
          </a:p>
          <a:p>
            <a:pPr lvl="2"/>
            <a:r>
              <a:rPr lang="en-US" dirty="0"/>
              <a:t>ja — </a:t>
            </a:r>
            <a:r>
              <a:rPr lang="ru-RU" dirty="0"/>
              <a:t>больше (</a:t>
            </a:r>
            <a:r>
              <a:rPr lang="en-US" dirty="0"/>
              <a:t>above) </a:t>
            </a:r>
          </a:p>
          <a:p>
            <a:pPr lvl="2"/>
            <a:r>
              <a:rPr lang="en-US" dirty="0" err="1"/>
              <a:t>jb</a:t>
            </a:r>
            <a:r>
              <a:rPr lang="en-US" dirty="0"/>
              <a:t> / </a:t>
            </a:r>
            <a:r>
              <a:rPr lang="en-US" dirty="0" err="1"/>
              <a:t>jc</a:t>
            </a:r>
            <a:r>
              <a:rPr lang="en-US" dirty="0"/>
              <a:t> — </a:t>
            </a:r>
            <a:r>
              <a:rPr lang="ru-RU" dirty="0"/>
              <a:t>меньше (</a:t>
            </a:r>
            <a:r>
              <a:rPr lang="en-US" dirty="0"/>
              <a:t>below / carry)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переходы используют флаги после </a:t>
            </a:r>
            <a:r>
              <a:rPr lang="ru-RU" dirty="0" err="1"/>
              <a:t>cmp</a:t>
            </a:r>
            <a:r>
              <a:rPr lang="ru-RU" dirty="0"/>
              <a:t> / </a:t>
            </a:r>
            <a:r>
              <a:rPr lang="ru-RU" dirty="0" err="1"/>
              <a:t>test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разные инструкции — разные интерпретации флагов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1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D8706B-7A38-3AA9-9C09-4746A0EA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Пример, подсчёт символов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CFA1D-8145-CAD0-2D08-722970F86A1B}"/>
              </a:ext>
            </a:extLst>
          </p:cNvPr>
          <p:cNvSpPr txBox="1"/>
          <p:nvPr/>
        </p:nvSpPr>
        <p:spPr>
          <a:xfrm>
            <a:off x="838200" y="1690688"/>
            <a:ext cx="5054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RSI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строки,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символ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loop: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je done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next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next: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loop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553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CCB0E5-1301-DF98-11EC-E7A93F0B8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подпрограмм и работа со стеком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FA4F0-4D58-B33E-328C-5EA3CD355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Основные инструкции:</a:t>
            </a:r>
          </a:p>
          <a:p>
            <a:pPr lvl="1"/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label</a:t>
            </a:r>
            <a:r>
              <a:rPr lang="ru-RU" dirty="0"/>
              <a:t> — вызов функции </a:t>
            </a:r>
          </a:p>
          <a:p>
            <a:pPr lvl="1"/>
            <a:r>
              <a:rPr lang="ru-RU" dirty="0" err="1"/>
              <a:t>ret</a:t>
            </a:r>
            <a:r>
              <a:rPr lang="ru-RU" dirty="0"/>
              <a:t> — возврат из функции </a:t>
            </a:r>
          </a:p>
          <a:p>
            <a:r>
              <a:rPr lang="ru-RU" dirty="0"/>
              <a:t>Что делает </a:t>
            </a:r>
            <a:r>
              <a:rPr lang="ru-RU" dirty="0" err="1"/>
              <a:t>call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сохраняет адрес возврата в стек </a:t>
            </a:r>
          </a:p>
          <a:p>
            <a:pPr lvl="1"/>
            <a:r>
              <a:rPr lang="ru-RU" dirty="0"/>
              <a:t>передаёт управление функции </a:t>
            </a:r>
          </a:p>
          <a:p>
            <a:r>
              <a:rPr lang="ru-RU" dirty="0"/>
              <a:t>Что делает </a:t>
            </a:r>
            <a:r>
              <a:rPr lang="ru-RU" dirty="0" err="1"/>
              <a:t>ret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извлекает адрес из стека </a:t>
            </a:r>
          </a:p>
          <a:p>
            <a:pPr lvl="1"/>
            <a:r>
              <a:rPr lang="ru-RU" dirty="0"/>
              <a:t>возвращает управление </a:t>
            </a:r>
          </a:p>
          <a:p>
            <a:r>
              <a:rPr lang="ru-RU" dirty="0"/>
              <a:t>Работа со стеком:</a:t>
            </a:r>
          </a:p>
          <a:p>
            <a:pPr lvl="1"/>
            <a:r>
              <a:rPr lang="ru-RU" dirty="0" err="1"/>
              <a:t>push</a:t>
            </a:r>
            <a:r>
              <a:rPr lang="ru-RU" dirty="0"/>
              <a:t> </a:t>
            </a:r>
            <a:r>
              <a:rPr lang="ru-RU" dirty="0" err="1"/>
              <a:t>reg</a:t>
            </a:r>
            <a:r>
              <a:rPr lang="ru-RU" dirty="0"/>
              <a:t> — поместить значение в стек </a:t>
            </a:r>
          </a:p>
          <a:p>
            <a:pPr lvl="1"/>
            <a:r>
              <a:rPr lang="ru-RU" dirty="0" err="1"/>
              <a:t>pop</a:t>
            </a:r>
            <a:r>
              <a:rPr lang="ru-RU" dirty="0"/>
              <a:t> </a:t>
            </a:r>
            <a:r>
              <a:rPr lang="ru-RU" dirty="0" err="1"/>
              <a:t>reg</a:t>
            </a:r>
            <a:r>
              <a:rPr lang="ru-RU" dirty="0"/>
              <a:t> — извлечь значение из стека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стек используется для хранения состояния </a:t>
            </a:r>
          </a:p>
          <a:p>
            <a:pPr lvl="1"/>
            <a:r>
              <a:rPr lang="ru-RU" dirty="0"/>
              <a:t>функции могут сохранять регистры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2985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6C10-7C16-7C57-8960-FE4A76E4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о вызовах (</a:t>
            </a:r>
            <a:r>
              <a:rPr lang="en-US" dirty="0"/>
              <a:t>ABI)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AF591-EF3D-782B-5DEE-38A279A6C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ABI (Application Binary Interface)</a:t>
            </a:r>
            <a:r>
              <a:rPr lang="ru-RU" dirty="0"/>
              <a:t> </a:t>
            </a:r>
            <a:r>
              <a:rPr lang="en-US" dirty="0"/>
              <a:t>— </a:t>
            </a:r>
            <a:r>
              <a:rPr lang="ru-RU" dirty="0"/>
              <a:t>правила взаимодействия функций</a:t>
            </a:r>
          </a:p>
          <a:p>
            <a:r>
              <a:rPr lang="en-US" dirty="0"/>
              <a:t>System V ABI (Linux, macOS):</a:t>
            </a:r>
          </a:p>
          <a:p>
            <a:pPr lvl="1"/>
            <a:r>
              <a:rPr lang="ru-RU" dirty="0"/>
              <a:t>Аргументы: </a:t>
            </a:r>
            <a:r>
              <a:rPr lang="en-US" dirty="0"/>
              <a:t>RDI, RSI, RDX, RCX, R8, R9 </a:t>
            </a:r>
          </a:p>
          <a:p>
            <a:pPr lvl="1"/>
            <a:r>
              <a:rPr lang="ru-RU" dirty="0"/>
              <a:t>Возврат: </a:t>
            </a:r>
            <a:r>
              <a:rPr lang="en-US" dirty="0"/>
              <a:t>RAX </a:t>
            </a:r>
          </a:p>
          <a:p>
            <a:r>
              <a:rPr lang="ru-RU" dirty="0"/>
              <a:t>Регистры:</a:t>
            </a:r>
          </a:p>
          <a:p>
            <a:pPr lvl="1"/>
            <a:r>
              <a:rPr lang="en-US" dirty="0"/>
              <a:t>caller-saved</a:t>
            </a:r>
            <a:r>
              <a:rPr lang="ru-RU" dirty="0"/>
              <a:t> (сохраняет вызывающая функция)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RAX, RCX, RDX, RSI, RDI, R8–R11 </a:t>
            </a:r>
          </a:p>
          <a:p>
            <a:pPr lvl="1"/>
            <a:r>
              <a:rPr lang="en-US" dirty="0"/>
              <a:t>callee-saved</a:t>
            </a:r>
            <a:r>
              <a:rPr lang="ru-RU" dirty="0"/>
              <a:t> (сохраняет вызываемая функция)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RBX, RBP, R12–R15 </a:t>
            </a:r>
          </a:p>
          <a:p>
            <a:r>
              <a:rPr lang="ru-RU" dirty="0"/>
              <a:t>Стек используется при нехватке регистров  и должен быть выровнен на границу 16 байт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475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31FD-9E70-C28C-D1E4-46D3D886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функции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F99A4-D25B-9EA9-56E3-7989548A6F6E}"/>
              </a:ext>
            </a:extLst>
          </p:cNvPr>
          <p:cNvSpPr txBox="1"/>
          <p:nvPr/>
        </p:nvSpPr>
        <p:spPr>
          <a:xfrm>
            <a:off x="838200" y="1690688"/>
            <a:ext cx="482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 * c;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63C1A-9C99-703A-B05E-4CB93653CF39}"/>
              </a:ext>
            </a:extLst>
          </p:cNvPr>
          <p:cNvSpPr txBox="1"/>
          <p:nvPr/>
        </p:nvSpPr>
        <p:spPr>
          <a:xfrm>
            <a:off x="6096000" y="1690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a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b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c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edx</a:t>
            </a:r>
            <a:endParaRPr lang="ru-RU" b="0" dirty="0">
              <a:solidFill>
                <a:srgbClr val="74531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imul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b *= 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; result = 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add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result += 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0127D-1EC7-4D93-2BF7-32F6C5857863}"/>
              </a:ext>
            </a:extLst>
          </p:cNvPr>
          <p:cNvSpPr txBox="1"/>
          <p:nvPr/>
        </p:nvSpPr>
        <p:spPr>
          <a:xfrm>
            <a:off x="6096000" y="429014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более эффективный вариант</a:t>
            </a:r>
            <a:endParaRPr lang="ru-RU" b="0" dirty="0">
              <a:solidFill>
                <a:srgbClr val="74531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imul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b *= 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; result = a + 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ret</a:t>
            </a:r>
          </a:p>
        </p:txBody>
      </p:sp>
    </p:spTree>
    <p:extLst>
      <p:ext uri="{BB962C8B-B14F-4D97-AF65-F5344CB8AC3E}">
        <p14:creationId xmlns:p14="http://schemas.microsoft.com/office/powerpoint/2010/main" val="2173289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6A0E-097A-D977-C651-A0182FAC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Связка </a:t>
            </a:r>
            <a:r>
              <a:rPr lang="en-US" dirty="0"/>
              <a:t>C </a:t>
            </a:r>
            <a:r>
              <a:rPr lang="ru-RU" dirty="0"/>
              <a:t>и ассемблера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A9B09-DEA1-5DF2-96DB-727FFA63E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Способы использования:</a:t>
            </a:r>
          </a:p>
          <a:p>
            <a:pPr lvl="1"/>
            <a:r>
              <a:rPr lang="ru-RU" dirty="0"/>
              <a:t>отдельные .s / .</a:t>
            </a:r>
            <a:r>
              <a:rPr lang="ru-RU" dirty="0" err="1"/>
              <a:t>asm</a:t>
            </a:r>
            <a:r>
              <a:rPr lang="ru-RU" dirty="0"/>
              <a:t> файлы </a:t>
            </a:r>
          </a:p>
          <a:p>
            <a:pPr lvl="1"/>
            <a:r>
              <a:rPr lang="ru-RU" dirty="0" err="1"/>
              <a:t>inline-assembler</a:t>
            </a:r>
            <a:r>
              <a:rPr lang="ru-RU" dirty="0"/>
              <a:t> (внутри C)</a:t>
            </a:r>
          </a:p>
          <a:p>
            <a:r>
              <a:rPr lang="ru-RU" dirty="0"/>
              <a:t>Компиляция:</a:t>
            </a:r>
          </a:p>
          <a:p>
            <a:pPr lvl="1"/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main.c</a:t>
            </a:r>
            <a:r>
              <a:rPr lang="en-US" dirty="0"/>
              <a:t> </a:t>
            </a:r>
            <a:r>
              <a:rPr lang="en-US" dirty="0" err="1"/>
              <a:t>sum.s</a:t>
            </a:r>
            <a:r>
              <a:rPr lang="en-US" dirty="0"/>
              <a:t> -o program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EDEA6-C289-3294-7DED-89C04257C677}"/>
              </a:ext>
            </a:extLst>
          </p:cNvPr>
          <p:cNvSpPr txBox="1"/>
          <p:nvPr/>
        </p:nvSpPr>
        <p:spPr>
          <a:xfrm>
            <a:off x="6362700" y="1825625"/>
            <a:ext cx="3568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main.c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41BD7-6171-0CC5-D879-FC5889A50B8A}"/>
              </a:ext>
            </a:extLst>
          </p:cNvPr>
          <p:cNvSpPr txBox="1"/>
          <p:nvPr/>
        </p:nvSpPr>
        <p:spPr>
          <a:xfrm>
            <a:off x="6362700" y="4206843"/>
            <a:ext cx="49911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sum.s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intel_syntax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noprefix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.global sum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lea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ret</a:t>
            </a:r>
          </a:p>
        </p:txBody>
      </p:sp>
    </p:spTree>
    <p:extLst>
      <p:ext uri="{BB962C8B-B14F-4D97-AF65-F5344CB8AC3E}">
        <p14:creationId xmlns:p14="http://schemas.microsoft.com/office/powerpoint/2010/main" val="2772582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B1AB-4E45-8712-BCBC-218CDA7B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9E67-6747-7D7A-26A1-0138CD9BD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 познакомились с архитектурой x86-64:</a:t>
            </a:r>
          </a:p>
          <a:p>
            <a:pPr lvl="1"/>
            <a:r>
              <a:rPr lang="ru-RU" dirty="0"/>
              <a:t>регистры и их организация </a:t>
            </a:r>
          </a:p>
          <a:p>
            <a:pPr lvl="1"/>
            <a:r>
              <a:rPr lang="ru-RU" dirty="0"/>
              <a:t>базовые инструкции </a:t>
            </a:r>
          </a:p>
          <a:p>
            <a:pPr lvl="1"/>
            <a:r>
              <a:rPr lang="ru-RU" dirty="0"/>
              <a:t>флаги и переходы </a:t>
            </a:r>
          </a:p>
          <a:p>
            <a:pPr lvl="1"/>
            <a:r>
              <a:rPr lang="ru-RU" dirty="0"/>
              <a:t>вызовы функций и ABI </a:t>
            </a:r>
          </a:p>
          <a:p>
            <a:r>
              <a:rPr lang="ru-RU" dirty="0"/>
              <a:t>Вы теперь умеете:</a:t>
            </a:r>
          </a:p>
          <a:p>
            <a:pPr lvl="1"/>
            <a:r>
              <a:rPr lang="ru-RU" dirty="0"/>
              <a:t>читать простой </a:t>
            </a:r>
            <a:r>
              <a:rPr lang="ru-RU" dirty="0" err="1"/>
              <a:t>asm</a:t>
            </a:r>
            <a:r>
              <a:rPr lang="ru-RU" dirty="0"/>
              <a:t>-код </a:t>
            </a:r>
          </a:p>
          <a:p>
            <a:pPr lvl="1"/>
            <a:r>
              <a:rPr lang="ru-RU" dirty="0"/>
              <a:t>сопоставлять C и ассемблер </a:t>
            </a:r>
          </a:p>
          <a:p>
            <a:pPr lvl="1"/>
            <a:r>
              <a:rPr lang="ru-RU" dirty="0"/>
              <a:t>понимать выполнение программы на уровне инструкций </a:t>
            </a:r>
          </a:p>
        </p:txBody>
      </p:sp>
    </p:spTree>
    <p:extLst>
      <p:ext uri="{BB962C8B-B14F-4D97-AF65-F5344CB8AC3E}">
        <p14:creationId xmlns:p14="http://schemas.microsoft.com/office/powerpoint/2010/main" val="1478258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A1595-E3DC-5056-C7E7-13D63DF5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памятью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2CF70-8A13-61C8-5918-ABEFD014B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15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D95DA5-998B-2642-BEED-9FF5849B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памятью в </a:t>
            </a:r>
            <a:r>
              <a:rPr lang="en-US" dirty="0"/>
              <a:t>x86-64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CB1520-AABD-B5C3-1665-5D7EEB01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Память:</a:t>
            </a:r>
          </a:p>
          <a:p>
            <a:pPr lvl="1"/>
            <a:r>
              <a:rPr lang="ru-RU" dirty="0"/>
              <a:t>линейное адресное пространство </a:t>
            </a:r>
          </a:p>
          <a:p>
            <a:pPr lvl="1"/>
            <a:r>
              <a:rPr lang="ru-RU" dirty="0"/>
              <a:t>последовательность байтов </a:t>
            </a:r>
          </a:p>
          <a:p>
            <a:pPr lvl="1"/>
            <a:r>
              <a:rPr lang="ru-RU" dirty="0"/>
              <a:t>доступ по адресу </a:t>
            </a:r>
          </a:p>
          <a:p>
            <a:r>
              <a:rPr lang="ru-RU" dirty="0"/>
              <a:t>Регистры:</a:t>
            </a:r>
          </a:p>
          <a:p>
            <a:pPr lvl="1"/>
            <a:r>
              <a:rPr lang="ru-RU" dirty="0"/>
              <a:t>хранят значения или адреса (указатели)</a:t>
            </a:r>
          </a:p>
          <a:p>
            <a:r>
              <a:rPr lang="ru-RU" dirty="0"/>
              <a:t>Доступ к памяти: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mov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    ; </a:t>
            </a:r>
            <a:r>
              <a:rPr lang="ru-RU" dirty="0">
                <a:latin typeface="Consolas" panose="020B0609020204030204" pitchFamily="49" charset="0"/>
              </a:rPr>
              <a:t>чтение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mov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],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    ; </a:t>
            </a:r>
            <a:r>
              <a:rPr lang="ru-RU" dirty="0">
                <a:latin typeface="Consolas" panose="020B0609020204030204" pitchFamily="49" charset="0"/>
              </a:rPr>
              <a:t>запись</a:t>
            </a:r>
          </a:p>
          <a:p>
            <a:r>
              <a:rPr lang="ru-RU" dirty="0"/>
              <a:t>Размер операнда</a:t>
            </a:r>
            <a:r>
              <a:rPr lang="en-US" dirty="0"/>
              <a:t> </a:t>
            </a:r>
            <a:r>
              <a:rPr lang="ru-RU" dirty="0"/>
              <a:t>определяется регистром или типом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mov al, 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    ; 1 </a:t>
            </a:r>
            <a:r>
              <a:rPr lang="ru-RU" dirty="0">
                <a:latin typeface="Consolas" panose="020B0609020204030204" pitchFamily="49" charset="0"/>
              </a:rPr>
              <a:t>байт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mov ax, 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    ; 2 </a:t>
            </a:r>
            <a:r>
              <a:rPr lang="ru-RU" dirty="0">
                <a:latin typeface="Consolas" panose="020B0609020204030204" pitchFamily="49" charset="0"/>
              </a:rPr>
              <a:t>байта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mov 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    ; 4 </a:t>
            </a:r>
            <a:r>
              <a:rPr lang="ru-RU" dirty="0">
                <a:latin typeface="Consolas" panose="020B0609020204030204" pitchFamily="49" charset="0"/>
              </a:rPr>
              <a:t>байта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mov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    ; 8 </a:t>
            </a:r>
            <a:r>
              <a:rPr lang="ru-RU" dirty="0">
                <a:latin typeface="Consolas" panose="020B0609020204030204" pitchFamily="49" charset="0"/>
              </a:rPr>
              <a:t>байт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 err="1"/>
              <a:t>rbx</a:t>
            </a:r>
            <a:r>
              <a:rPr lang="ru-RU" dirty="0"/>
              <a:t> — это адрес </a:t>
            </a:r>
          </a:p>
          <a:p>
            <a:pPr lvl="1"/>
            <a:r>
              <a:rPr lang="ru-RU" dirty="0"/>
              <a:t>[</a:t>
            </a:r>
            <a:r>
              <a:rPr lang="ru-RU" dirty="0" err="1"/>
              <a:t>rbx</a:t>
            </a:r>
            <a:r>
              <a:rPr lang="ru-RU" dirty="0"/>
              <a:t>] — это данные по адресу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8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F21E-C17D-2DEC-FA71-453554C86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Режимы адресации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867A7-6D95-47EC-DF78-3C0B9DF3B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Прямая (непосредственный адрес)</a:t>
            </a:r>
          </a:p>
          <a:p>
            <a:pPr lvl="1"/>
            <a:r>
              <a:rPr lang="ru-RU" dirty="0"/>
              <a:t>[</a:t>
            </a:r>
            <a:r>
              <a:rPr lang="en-US" dirty="0" err="1"/>
              <a:t>imm</a:t>
            </a:r>
            <a:r>
              <a:rPr lang="en-US" dirty="0"/>
              <a:t>]</a:t>
            </a:r>
            <a:br>
              <a:rPr lang="en-US" dirty="0"/>
            </a:br>
            <a:r>
              <a:rPr lang="en-US" dirty="0"/>
              <a:t>mov </a:t>
            </a:r>
            <a:r>
              <a:rPr lang="en-US" dirty="0" err="1"/>
              <a:t>rax</a:t>
            </a:r>
            <a:r>
              <a:rPr lang="en-US" dirty="0"/>
              <a:t>, [0x601040]</a:t>
            </a:r>
          </a:p>
          <a:p>
            <a:r>
              <a:rPr lang="ru-RU" dirty="0"/>
              <a:t>Базовая</a:t>
            </a:r>
          </a:p>
          <a:p>
            <a:pPr lvl="1"/>
            <a:r>
              <a:rPr lang="ru-RU" dirty="0"/>
              <a:t>[</a:t>
            </a:r>
            <a:r>
              <a:rPr lang="en-US" dirty="0"/>
              <a:t>reg]</a:t>
            </a:r>
            <a:br>
              <a:rPr lang="en-US" dirty="0"/>
            </a:br>
            <a:r>
              <a:rPr lang="en-US" dirty="0"/>
              <a:t>mov </a:t>
            </a:r>
            <a:r>
              <a:rPr lang="en-US" dirty="0" err="1"/>
              <a:t>rax</a:t>
            </a:r>
            <a:r>
              <a:rPr lang="en-US" dirty="0"/>
              <a:t>, [</a:t>
            </a:r>
            <a:r>
              <a:rPr lang="en-US" dirty="0" err="1"/>
              <a:t>rbx</a:t>
            </a:r>
            <a:r>
              <a:rPr lang="en-US" dirty="0"/>
              <a:t>]</a:t>
            </a:r>
          </a:p>
          <a:p>
            <a:r>
              <a:rPr lang="ru-RU" dirty="0"/>
              <a:t>Со смещением</a:t>
            </a:r>
          </a:p>
          <a:p>
            <a:pPr lvl="1"/>
            <a:r>
              <a:rPr lang="ru-RU" dirty="0"/>
              <a:t>[</a:t>
            </a:r>
            <a:r>
              <a:rPr lang="en-US" dirty="0"/>
              <a:t>reg + offset]</a:t>
            </a:r>
            <a:br>
              <a:rPr lang="en-US" dirty="0"/>
            </a:br>
            <a:r>
              <a:rPr lang="en-US" dirty="0"/>
              <a:t>mov </a:t>
            </a:r>
            <a:r>
              <a:rPr lang="en-US" dirty="0" err="1"/>
              <a:t>eax</a:t>
            </a:r>
            <a:r>
              <a:rPr lang="en-US" dirty="0"/>
              <a:t>, [</a:t>
            </a:r>
            <a:r>
              <a:rPr lang="en-US" dirty="0" err="1"/>
              <a:t>rdi</a:t>
            </a:r>
            <a:r>
              <a:rPr lang="en-US" dirty="0"/>
              <a:t> + 4]</a:t>
            </a:r>
          </a:p>
          <a:p>
            <a:r>
              <a:rPr lang="ru-RU" dirty="0"/>
              <a:t>Индексная</a:t>
            </a:r>
          </a:p>
          <a:p>
            <a:pPr lvl="1"/>
            <a:r>
              <a:rPr lang="ru-RU" dirty="0"/>
              <a:t>[</a:t>
            </a:r>
            <a:r>
              <a:rPr lang="en-US" dirty="0"/>
              <a:t>base + index * scale]</a:t>
            </a:r>
            <a:br>
              <a:rPr lang="en-US" dirty="0"/>
            </a:br>
            <a:r>
              <a:rPr lang="en-US" dirty="0"/>
              <a:t>mov </a:t>
            </a:r>
            <a:r>
              <a:rPr lang="en-US" dirty="0" err="1"/>
              <a:t>eax</a:t>
            </a:r>
            <a:r>
              <a:rPr lang="en-US" dirty="0"/>
              <a:t>, [</a:t>
            </a:r>
            <a:r>
              <a:rPr lang="en-US" dirty="0" err="1"/>
              <a:t>rdi</a:t>
            </a:r>
            <a:r>
              <a:rPr lang="en-US" dirty="0"/>
              <a:t> + </a:t>
            </a:r>
            <a:r>
              <a:rPr lang="en-US" dirty="0" err="1"/>
              <a:t>rsi</a:t>
            </a:r>
            <a:r>
              <a:rPr lang="en-US" dirty="0"/>
              <a:t>*4]</a:t>
            </a:r>
          </a:p>
          <a:p>
            <a:r>
              <a:rPr lang="ru-RU" dirty="0"/>
              <a:t>Обобщённая форма:</a:t>
            </a:r>
          </a:p>
          <a:p>
            <a:pPr lvl="1"/>
            <a:r>
              <a:rPr lang="ru-RU" dirty="0"/>
              <a:t>[</a:t>
            </a:r>
            <a:r>
              <a:rPr lang="en-US" dirty="0"/>
              <a:t>base + index * scale + offset]</a:t>
            </a:r>
          </a:p>
          <a:p>
            <a:pPr lvl="1"/>
            <a:r>
              <a:rPr lang="en-US" dirty="0"/>
              <a:t>scale:</a:t>
            </a:r>
            <a:r>
              <a:rPr lang="ru-RU" dirty="0"/>
              <a:t> </a:t>
            </a:r>
            <a:r>
              <a:rPr lang="en-US" dirty="0"/>
              <a:t>1, 2, 4, 8</a:t>
            </a:r>
          </a:p>
        </p:txBody>
      </p:sp>
    </p:spTree>
    <p:extLst>
      <p:ext uri="{BB962C8B-B14F-4D97-AF65-F5344CB8AC3E}">
        <p14:creationId xmlns:p14="http://schemas.microsoft.com/office/powerpoint/2010/main" val="26480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BC1C-0515-437D-9707-20309FDC2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Инструкция </a:t>
            </a:r>
            <a:r>
              <a:rPr lang="en-US" dirty="0"/>
              <a:t>LEA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75FB0-3440-7EF5-8AC8-BB67E1D37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Синтаксис: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lea </a:t>
            </a:r>
            <a:r>
              <a:rPr lang="en-US" dirty="0" err="1">
                <a:latin typeface="Consolas" panose="020B0609020204030204" pitchFamily="49" charset="0"/>
              </a:rPr>
              <a:t>dst</a:t>
            </a:r>
            <a:r>
              <a:rPr lang="en-US" dirty="0">
                <a:latin typeface="Consolas" panose="020B0609020204030204" pitchFamily="49" charset="0"/>
              </a:rPr>
              <a:t>, [base + index * scale + offset</a:t>
            </a:r>
            <a:r>
              <a:rPr lang="en-US" dirty="0"/>
              <a:t>]</a:t>
            </a:r>
          </a:p>
          <a:p>
            <a:r>
              <a:rPr lang="ru-RU" dirty="0"/>
              <a:t>Что делает:</a:t>
            </a:r>
          </a:p>
          <a:p>
            <a:pPr lvl="1"/>
            <a:r>
              <a:rPr lang="ru-RU" dirty="0"/>
              <a:t>вычисляет адрес </a:t>
            </a:r>
          </a:p>
          <a:p>
            <a:pPr lvl="1"/>
            <a:r>
              <a:rPr lang="ru-RU" dirty="0"/>
              <a:t>записывает результат в регистр </a:t>
            </a:r>
          </a:p>
          <a:p>
            <a:pPr lvl="1"/>
            <a:r>
              <a:rPr lang="ru-RU" dirty="0"/>
              <a:t>не обращается к памяти и не изменяет флаги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lea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]              ;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lea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 + 8]          ;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 + 8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lea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</a:rPr>
              <a:t>rcx</a:t>
            </a:r>
            <a:r>
              <a:rPr lang="en-US" dirty="0">
                <a:latin typeface="Consolas" panose="020B0609020204030204" pitchFamily="49" charset="0"/>
              </a:rPr>
              <a:t>*4]      ;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rbx</a:t>
            </a:r>
            <a:r>
              <a:rPr lang="en-US" dirty="0">
                <a:latin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</a:rPr>
              <a:t>rcx</a:t>
            </a:r>
            <a:r>
              <a:rPr lang="en-US" dirty="0">
                <a:latin typeface="Consolas" panose="020B0609020204030204" pitchFamily="49" charset="0"/>
              </a:rPr>
              <a:t>*4</a:t>
            </a:r>
          </a:p>
          <a:p>
            <a:r>
              <a:rPr lang="ru-RU" dirty="0"/>
              <a:t>Как арифметика: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lea 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edi</a:t>
            </a:r>
            <a:r>
              <a:rPr lang="en-US" dirty="0">
                <a:latin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</a:rPr>
              <a:t>esi</a:t>
            </a:r>
            <a:r>
              <a:rPr lang="en-US" dirty="0">
                <a:latin typeface="Consolas" panose="020B0609020204030204" pitchFamily="49" charset="0"/>
              </a:rPr>
              <a:t>]        ; 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edi</a:t>
            </a:r>
            <a:r>
              <a:rPr lang="en-US" dirty="0">
                <a:latin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</a:rPr>
              <a:t>esi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lea 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</a:rPr>
              <a:t>edi</a:t>
            </a:r>
            <a:r>
              <a:rPr lang="en-US" dirty="0">
                <a:latin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</a:rPr>
              <a:t>esi</a:t>
            </a:r>
            <a:r>
              <a:rPr lang="en-US" dirty="0">
                <a:latin typeface="Consolas" panose="020B0609020204030204" pitchFamily="49" charset="0"/>
              </a:rPr>
              <a:t>*2 + 8]  ; </a:t>
            </a:r>
            <a:r>
              <a:rPr lang="en-US" dirty="0" err="1">
                <a:latin typeface="Consolas" panose="020B06090202040302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edi</a:t>
            </a:r>
            <a:r>
              <a:rPr lang="en-US" dirty="0">
                <a:latin typeface="Consolas" panose="020B0609020204030204" pitchFamily="49" charset="0"/>
              </a:rPr>
              <a:t> + 2*</a:t>
            </a:r>
            <a:r>
              <a:rPr lang="en-US" dirty="0" err="1">
                <a:latin typeface="Consolas" panose="020B0609020204030204" pitchFamily="49" charset="0"/>
              </a:rPr>
              <a:t>esi</a:t>
            </a:r>
            <a:r>
              <a:rPr lang="en-US">
                <a:latin typeface="Consolas" panose="020B0609020204030204" pitchFamily="49" charset="0"/>
              </a:rPr>
              <a:t> + 8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21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E52219-A558-3DE8-FB81-9126B6E52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суммирование элементов массива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BF0AF-7C51-4654-7D95-648851912BF2}"/>
              </a:ext>
            </a:extLst>
          </p:cNvPr>
          <p:cNvSpPr txBox="1"/>
          <p:nvPr/>
        </p:nvSpPr>
        <p:spPr>
          <a:xfrm>
            <a:off x="733302" y="2101935"/>
            <a:ext cx="60979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array,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sum += array[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694A71-F806-3F40-82D2-A680186F75BF}"/>
              </a:ext>
            </a:extLst>
          </p:cNvPr>
          <p:cNvSpPr txBox="1"/>
          <p:nvPr/>
        </p:nvSpPr>
        <p:spPr>
          <a:xfrm>
            <a:off x="6094021" y="2101935"/>
            <a:ext cx="60979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rdi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- array,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esi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- n</a:t>
            </a: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SumArray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movsx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rdx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= end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F3FB7-6E6B-E16A-52C6-F501E2F7C4CE}"/>
              </a:ext>
            </a:extLst>
          </p:cNvPr>
          <p:cNvSpPr txBox="1"/>
          <p:nvPr/>
        </p:nvSpPr>
        <p:spPr>
          <a:xfrm>
            <a:off x="838200" y="5432363"/>
            <a:ext cx="3425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https://godbolt.org/z/jKTKTrz6Y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91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A23B-48B9-EB9F-5B1B-67B4B372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сумма определённых координат </a:t>
            </a:r>
            <a:r>
              <a:rPr lang="en-US" dirty="0"/>
              <a:t>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E8A5F-DADF-39F1-E359-6BD8E3516688}"/>
              </a:ext>
            </a:extLst>
          </p:cNvPr>
          <p:cNvSpPr txBox="1"/>
          <p:nvPr/>
        </p:nvSpPr>
        <p:spPr>
          <a:xfrm>
            <a:off x="838200" y="1779687"/>
            <a:ext cx="52716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offset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offset 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Point;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(Point) == 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Point* points,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indices,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sum += points[indices[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]].y;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CF550-3581-DA54-0BE0-A0F4764626EB}"/>
              </a:ext>
            </a:extLst>
          </p:cNvPr>
          <p:cNvSpPr txBox="1"/>
          <p:nvPr/>
        </p:nvSpPr>
        <p:spPr>
          <a:xfrm>
            <a:off x="6127668" y="1779687"/>
            <a:ext cx="61098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rdi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- points,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rsi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– indices,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edx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- n</a:t>
            </a: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SumYs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movsx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movsx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movsx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7106D5-9E8B-F29C-D745-9BD58F062B05}"/>
              </a:ext>
            </a:extLst>
          </p:cNvPr>
          <p:cNvSpPr txBox="1"/>
          <p:nvPr/>
        </p:nvSpPr>
        <p:spPr>
          <a:xfrm>
            <a:off x="838200" y="6002378"/>
            <a:ext cx="3508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https://godbolt.org/z/d8rEE9Ebv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5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0F3017-F209-45A3-353E-825AB4A3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Подробнее про функции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056E3-A539-737C-ABEB-C7B6B690B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75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768494-D67F-EBE9-ABC5-6DC04CFA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функции: общая картина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C12CC6-53DA-54A1-C7CE-E7020248E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происходит при вызове функции:</a:t>
            </a:r>
          </a:p>
          <a:p>
            <a:pPr lvl="1"/>
            <a:r>
              <a:rPr lang="ru-RU" dirty="0"/>
              <a:t>передача аргументов </a:t>
            </a:r>
          </a:p>
          <a:p>
            <a:pPr lvl="1"/>
            <a:r>
              <a:rPr lang="ru-RU" dirty="0"/>
              <a:t>сохранение адреса возврата </a:t>
            </a:r>
          </a:p>
          <a:p>
            <a:pPr lvl="1"/>
            <a:r>
              <a:rPr lang="ru-RU" dirty="0"/>
              <a:t>переход к функции </a:t>
            </a:r>
          </a:p>
          <a:p>
            <a:r>
              <a:rPr lang="ru-RU" dirty="0"/>
              <a:t>Что происходит внутри функции:</a:t>
            </a:r>
          </a:p>
          <a:p>
            <a:pPr lvl="1"/>
            <a:r>
              <a:rPr lang="ru-RU" dirty="0"/>
              <a:t>создание стекового кадра </a:t>
            </a:r>
          </a:p>
          <a:p>
            <a:pPr lvl="1"/>
            <a:r>
              <a:rPr lang="ru-RU" dirty="0"/>
              <a:t>работа с локальными данными </a:t>
            </a:r>
          </a:p>
          <a:p>
            <a:pPr lvl="1"/>
            <a:r>
              <a:rPr lang="ru-RU" dirty="0"/>
              <a:t>возврат результата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7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4FF0-59E6-DA62-7D4E-55AB12BB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стековым фреймом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67B53-61D5-F1FA-E5BE-0F40119392DB}"/>
              </a:ext>
            </a:extLst>
          </p:cNvPr>
          <p:cNvSpPr txBox="1"/>
          <p:nvPr/>
        </p:nvSpPr>
        <p:spPr>
          <a:xfrm>
            <a:off x="838201" y="1911483"/>
            <a:ext cx="49569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Foo(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"Foo: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Invoke(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arg2)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(arg1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Foo(arg2);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"Arg1: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arg1);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E31A4-BE19-CC96-1CC8-0FE8C4D6B4EE}"/>
              </a:ext>
            </a:extLst>
          </p:cNvPr>
          <p:cNvSpPr txBox="1"/>
          <p:nvPr/>
        </p:nvSpPr>
        <p:spPr>
          <a:xfrm>
            <a:off x="6096000" y="1564243"/>
            <a:ext cx="60960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.LC0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.string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"Foo: %p\n"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.LC0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3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printf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.LC1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.string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"Arg1: %d\n"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Invoke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rbx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ebx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.L4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Foo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ebx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.LC1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rbx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printf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A116CF-2B61-F73E-81C5-D70E02CF9504}"/>
              </a:ext>
            </a:extLst>
          </p:cNvPr>
          <p:cNvSpPr txBox="1"/>
          <p:nvPr/>
        </p:nvSpPr>
        <p:spPr>
          <a:xfrm>
            <a:off x="838200" y="5787962"/>
            <a:ext cx="3588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https://godbolt.org/z/3f7PKdbdv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98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1BB5B8-EB73-1985-6EFA-DACA8C2A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Указатели на функции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2A022-4C75-0E82-5132-69186132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Функция имеет адрес в памяти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 f(int a, int b);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 (*pf)(int, int) = f;</a:t>
            </a:r>
          </a:p>
          <a:p>
            <a:r>
              <a:rPr lang="ru-RU" dirty="0"/>
              <a:t>Вызов через указатель: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 x = pf(2, 3);</a:t>
            </a:r>
          </a:p>
          <a:p>
            <a:r>
              <a:rPr lang="ru-RU" dirty="0"/>
              <a:t>Ассемблер: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call f        ; </a:t>
            </a:r>
            <a:r>
              <a:rPr lang="ru-RU" dirty="0">
                <a:latin typeface="Consolas" panose="020B0609020204030204" pitchFamily="49" charset="0"/>
              </a:rPr>
              <a:t>прямой вызов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call </a:t>
            </a:r>
            <a:r>
              <a:rPr lang="en-US" dirty="0" err="1">
                <a:latin typeface="Consolas" panose="020B0609020204030204" pitchFamily="49" charset="0"/>
              </a:rPr>
              <a:t>rax</a:t>
            </a:r>
            <a:r>
              <a:rPr lang="en-US" dirty="0">
                <a:latin typeface="Consolas" panose="020B0609020204030204" pitchFamily="49" charset="0"/>
              </a:rPr>
              <a:t>      ; </a:t>
            </a:r>
            <a:r>
              <a:rPr lang="ru-RU" dirty="0">
                <a:latin typeface="Consolas" panose="020B0609020204030204" pitchFamily="49" charset="0"/>
              </a:rPr>
              <a:t>косвенный вызов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en-US" dirty="0"/>
              <a:t>call </a:t>
            </a:r>
            <a:r>
              <a:rPr lang="ru-RU" dirty="0"/>
              <a:t>может принимать регистр </a:t>
            </a:r>
          </a:p>
          <a:p>
            <a:pPr lvl="1"/>
            <a:r>
              <a:rPr lang="ru-RU" dirty="0"/>
              <a:t>адрес функции можно передавать и хранить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177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ABDA0B-C9AD-4888-F2A9-C413A4463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и вызов функции по указателю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4CDDB-67CA-80C6-B62F-4033A9570FDE}"/>
              </a:ext>
            </a:extLst>
          </p:cNvPr>
          <p:cNvSpPr txBox="1"/>
          <p:nvPr/>
        </p:nvSpPr>
        <p:spPr>
          <a:xfrm>
            <a:off x="116114" y="1690688"/>
            <a:ext cx="59798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(*Operation)(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arg2);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Apply(Operation op,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arg1,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arg2,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arg3)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op(arg1, arg2) + arg3;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+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Apply(&amp;Add, x, y,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879DC1-12B5-DA07-06CB-4C6E48D2546F}"/>
              </a:ext>
            </a:extLst>
          </p:cNvPr>
          <p:cNvSpPr txBox="1"/>
          <p:nvPr/>
        </p:nvSpPr>
        <p:spPr>
          <a:xfrm>
            <a:off x="6096000" y="1502688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rbx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ebx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ebx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rbx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Apply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22DC57-109A-6724-E66C-965A729250DC}"/>
              </a:ext>
            </a:extLst>
          </p:cNvPr>
          <p:cNvSpPr txBox="1"/>
          <p:nvPr/>
        </p:nvSpPr>
        <p:spPr>
          <a:xfrm>
            <a:off x="116114" y="6351835"/>
            <a:ext cx="3788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https://godbolt.org/z/rMWjecrr5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7746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2031-64DC-487C-DCAF-6B64F1B6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вызов </a:t>
            </a:r>
            <a:r>
              <a:rPr lang="en-US" dirty="0" err="1"/>
              <a:t>qsort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D1077-347D-4B0E-D989-12F5880B8D23}"/>
              </a:ext>
            </a:extLst>
          </p:cNvPr>
          <p:cNvSpPr txBox="1"/>
          <p:nvPr/>
        </p:nvSpPr>
        <p:spPr>
          <a:xfrm>
            <a:off x="0" y="1782395"/>
            <a:ext cx="57041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CmpInts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arg1,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arg2)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v1 = *(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*)arg1;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v2 = *(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*)arg2;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v1 &lt; v2 ?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v1 &gt; v2 ? 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qsort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size, 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CmpInts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17DF4-12D3-0997-1C46-CA1AA03326F9}"/>
              </a:ext>
            </a:extLst>
          </p:cNvPr>
          <p:cNvSpPr txBox="1"/>
          <p:nvPr/>
        </p:nvSpPr>
        <p:spPr>
          <a:xfrm>
            <a:off x="6096000" y="1782395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– arg1,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– arg2</a:t>
            </a:r>
            <a:endParaRPr lang="en-US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CmpInts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al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AL=1 if [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] &gt; [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] else 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movzx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al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cmovl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EAX = EDX if [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] &lt; [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–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– size</a:t>
            </a:r>
            <a:endParaRPr lang="en-US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SortArray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CmpInts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qsort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(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rdx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rcx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56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C51972-2958-9AAE-1711-95C1603E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ассемблерного кода программы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1ECEB-6F39-7CD0-F364-35670B018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25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C16E82-C0C1-D83B-0D17-2241C410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Explorer (Godbolt)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A43E4C-FF63-062A-EE49-239791321B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https://godbolt.org</a:t>
            </a:r>
            <a:endParaRPr lang="en-US" dirty="0"/>
          </a:p>
          <a:p>
            <a:r>
              <a:rPr lang="ru-RU" dirty="0"/>
              <a:t>Позволяет:</a:t>
            </a:r>
          </a:p>
          <a:p>
            <a:pPr lvl="1"/>
            <a:r>
              <a:rPr lang="ru-RU" dirty="0"/>
              <a:t>компилировать код онлайн </a:t>
            </a:r>
          </a:p>
          <a:p>
            <a:pPr lvl="1"/>
            <a:r>
              <a:rPr lang="ru-RU" dirty="0"/>
              <a:t>видеть ассемблер </a:t>
            </a:r>
          </a:p>
          <a:p>
            <a:pPr lvl="1"/>
            <a:r>
              <a:rPr lang="ru-RU" dirty="0"/>
              <a:t>сравнивать компиляторы и оптимизации </a:t>
            </a:r>
          </a:p>
          <a:p>
            <a:r>
              <a:rPr lang="ru-RU" dirty="0"/>
              <a:t>Опции:</a:t>
            </a:r>
          </a:p>
          <a:p>
            <a:pPr lvl="1"/>
            <a:r>
              <a:rPr lang="ru-RU" dirty="0"/>
              <a:t>выбор компилятора (</a:t>
            </a:r>
            <a:r>
              <a:rPr lang="en-US" dirty="0" err="1"/>
              <a:t>gcc</a:t>
            </a:r>
            <a:r>
              <a:rPr lang="en-US" dirty="0"/>
              <a:t> / clang / MSVC) </a:t>
            </a:r>
          </a:p>
          <a:p>
            <a:pPr lvl="1"/>
            <a:r>
              <a:rPr lang="ru-RU" dirty="0"/>
              <a:t>уровни оптимизации (-</a:t>
            </a:r>
            <a:r>
              <a:rPr lang="en-US" dirty="0"/>
              <a:t>O0, -O1, -O2)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4F9B13-6F07-2BBA-EBFF-7650825909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108200"/>
            <a:ext cx="5632394" cy="35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24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66DA-16C4-76DD-CBFB-9467F2DC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Дизассемблирование с помощью </a:t>
            </a:r>
            <a:r>
              <a:rPr lang="en-US" dirty="0" err="1"/>
              <a:t>objdump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CC828-10E4-09B8-0A9B-57FBA7A3D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objdump</a:t>
            </a:r>
            <a:r>
              <a:rPr lang="en-US" dirty="0"/>
              <a:t> (Linux / macOS):</a:t>
            </a:r>
          </a:p>
          <a:p>
            <a:pPr lvl="1"/>
            <a:r>
              <a:rPr lang="ru-RU" dirty="0"/>
              <a:t>утилита для анализа бинарных файлов </a:t>
            </a:r>
          </a:p>
          <a:p>
            <a:pPr lvl="1"/>
            <a:r>
              <a:rPr lang="ru-RU" dirty="0"/>
              <a:t>дизассемблирует машинный код </a:t>
            </a:r>
          </a:p>
          <a:p>
            <a:r>
              <a:rPr lang="ru-RU" dirty="0"/>
              <a:t>Компиляция:</a:t>
            </a:r>
          </a:p>
          <a:p>
            <a:pPr lvl="1"/>
            <a:r>
              <a:rPr lang="en-US" dirty="0" err="1"/>
              <a:t>gcc</a:t>
            </a:r>
            <a:r>
              <a:rPr lang="en-US" dirty="0"/>
              <a:t> -O0 </a:t>
            </a:r>
            <a:r>
              <a:rPr lang="en-US" dirty="0" err="1"/>
              <a:t>test.c</a:t>
            </a:r>
            <a:r>
              <a:rPr lang="en-US" dirty="0"/>
              <a:t> -o test</a:t>
            </a:r>
          </a:p>
          <a:p>
            <a:r>
              <a:rPr lang="ru-RU" dirty="0"/>
              <a:t>Дизассемблирование:</a:t>
            </a:r>
          </a:p>
          <a:p>
            <a:pPr lvl="1"/>
            <a:r>
              <a:rPr lang="en-US" dirty="0" err="1"/>
              <a:t>objdump</a:t>
            </a:r>
            <a:r>
              <a:rPr lang="en-US" dirty="0"/>
              <a:t> -d test</a:t>
            </a:r>
          </a:p>
          <a:p>
            <a:r>
              <a:rPr lang="ru-RU" dirty="0"/>
              <a:t>Использование синтаксиса </a:t>
            </a:r>
            <a:r>
              <a:rPr lang="en-US" dirty="0"/>
              <a:t>intel</a:t>
            </a:r>
            <a:r>
              <a:rPr lang="ru-RU" dirty="0"/>
              <a:t>:</a:t>
            </a:r>
          </a:p>
          <a:p>
            <a:pPr lvl="1"/>
            <a:r>
              <a:rPr lang="en-US" dirty="0" err="1"/>
              <a:t>objdump</a:t>
            </a:r>
            <a:r>
              <a:rPr lang="en-US" dirty="0"/>
              <a:t> -d -M intel test</a:t>
            </a:r>
          </a:p>
          <a:p>
            <a:r>
              <a:rPr lang="ru-RU" dirty="0"/>
              <a:t>Результат:</a:t>
            </a:r>
          </a:p>
          <a:p>
            <a:pPr lvl="1"/>
            <a:r>
              <a:rPr lang="ru-RU" dirty="0"/>
              <a:t>адреса инструкций </a:t>
            </a:r>
          </a:p>
          <a:p>
            <a:pPr lvl="1"/>
            <a:r>
              <a:rPr lang="ru-RU" dirty="0"/>
              <a:t>машинный код </a:t>
            </a:r>
          </a:p>
          <a:p>
            <a:pPr lvl="1"/>
            <a:r>
              <a:rPr lang="ru-RU" dirty="0"/>
              <a:t>ассемблер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3BADB-C9BE-0230-E77F-2CAD2A1C9AF8}"/>
              </a:ext>
            </a:extLst>
          </p:cNvPr>
          <p:cNvSpPr txBox="1"/>
          <p:nvPr/>
        </p:nvSpPr>
        <p:spPr>
          <a:xfrm>
            <a:off x="6096000" y="1690688"/>
            <a:ext cx="5995916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0000000000401040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&lt;_start&gt;: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401040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f3 0f 1e fa           endbr64 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401044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ed     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ebp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ebp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401046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89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d1              mov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rdx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401049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5e                    pop    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rsi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CD3131"/>
                </a:solidFill>
                <a:latin typeface="Consolas" panose="020B0609020204030204" pitchFamily="49" charset="0"/>
              </a:rPr>
              <a:t>40104a: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89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e2              mov    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rdx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rsp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40104d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83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e4 f0           and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rsp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0xfffffffffffffff0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401051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                  push  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rax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401052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                  push  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rsp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401053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c0             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r8d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r8d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401056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c9     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ecx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ecx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401058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c7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mov    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rdi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b="1" dirty="0">
                <a:solidFill>
                  <a:srgbClr val="09865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0x401126</a:t>
            </a:r>
            <a:endParaRPr lang="en-US" sz="1200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CD3131"/>
                </a:solidFill>
                <a:latin typeface="Consolas" panose="020B0609020204030204" pitchFamily="49" charset="0"/>
              </a:rPr>
              <a:t>40105f: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ff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8b 2f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   call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QWORD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PTR [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rip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0x2f8b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# 403ff0 &lt;__libc_start_main@GLIBC_2.34&gt;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401065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f4                    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401066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2e 0f 1f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84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WORD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PTR [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rax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rax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0x0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40106d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0000000000401070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&lt;_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dl_relocate_static_pie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&gt;: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401070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f3 0f 1e fa           endbr64 </a:t>
            </a:r>
          </a:p>
          <a:p>
            <a:pPr>
              <a:lnSpc>
                <a:spcPts val="14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401074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c3                    ret    </a:t>
            </a:r>
            <a:endParaRPr lang="en-US" sz="1200" b="0" dirty="0">
              <a:solidFill>
                <a:srgbClr val="09865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1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0000000000401126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&lt;main&gt;: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401126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      push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rbp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401127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e5              mov    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rbp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rsp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40112a: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bf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mov 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0x402004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40112f: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e8 fc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ff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call  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401030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puts@plt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401134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b8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mov 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401139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      pop    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rbp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40113a: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c3                    ret    </a:t>
            </a:r>
          </a:p>
        </p:txBody>
      </p:sp>
    </p:spTree>
    <p:extLst>
      <p:ext uri="{BB962C8B-B14F-4D97-AF65-F5344CB8AC3E}">
        <p14:creationId xmlns:p14="http://schemas.microsoft.com/office/powerpoint/2010/main" val="31673225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E46F-7F64-25AF-AF79-3D2F9D17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Дизассемблирование с помощью </a:t>
            </a:r>
            <a:r>
              <a:rPr lang="en-US" dirty="0"/>
              <a:t>dumpbin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C4528-90B5-D6B9-7F6C-8ACA8606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/>
              <a:t>dumpbin</a:t>
            </a:r>
            <a:r>
              <a:rPr lang="ru-RU" dirty="0"/>
              <a:t> (Windows, Visual Studio):</a:t>
            </a:r>
          </a:p>
          <a:p>
            <a:pPr lvl="1"/>
            <a:r>
              <a:rPr lang="ru-RU" dirty="0"/>
              <a:t>утилита для анализа PE-файлов </a:t>
            </a:r>
          </a:p>
          <a:p>
            <a:pPr lvl="1"/>
            <a:r>
              <a:rPr lang="ru-RU" dirty="0"/>
              <a:t>аналог </a:t>
            </a:r>
            <a:r>
              <a:rPr lang="ru-RU" dirty="0" err="1"/>
              <a:t>objdump</a:t>
            </a:r>
            <a:r>
              <a:rPr lang="ru-RU" dirty="0"/>
              <a:t> </a:t>
            </a:r>
          </a:p>
          <a:p>
            <a:r>
              <a:rPr lang="ru-RU" dirty="0"/>
              <a:t>Запуск</a:t>
            </a:r>
            <a:r>
              <a:rPr lang="en-US" dirty="0"/>
              <a:t> </a:t>
            </a:r>
            <a:r>
              <a:rPr lang="ru-RU" dirty="0"/>
              <a:t>из Developer Command </a:t>
            </a:r>
            <a:r>
              <a:rPr lang="ru-RU" dirty="0" err="1"/>
              <a:t>Prompt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VS </a:t>
            </a:r>
          </a:p>
          <a:p>
            <a:r>
              <a:rPr lang="ru-RU" dirty="0"/>
              <a:t>Дизассемблирование:</a:t>
            </a:r>
          </a:p>
          <a:p>
            <a:pPr lvl="1"/>
            <a:r>
              <a:rPr lang="ru-RU" dirty="0" err="1"/>
              <a:t>dumpbin</a:t>
            </a:r>
            <a:r>
              <a:rPr lang="ru-RU" dirty="0"/>
              <a:t> /DISASM program.exe</a:t>
            </a:r>
          </a:p>
          <a:p>
            <a:r>
              <a:rPr lang="ru-RU" dirty="0"/>
              <a:t>Полезные опции:</a:t>
            </a:r>
          </a:p>
          <a:p>
            <a:pPr lvl="1"/>
            <a:r>
              <a:rPr lang="ru-RU" dirty="0" err="1"/>
              <a:t>dumpbin</a:t>
            </a:r>
            <a:r>
              <a:rPr lang="ru-RU" dirty="0"/>
              <a:t> /HEADERS program.exe</a:t>
            </a:r>
            <a:br>
              <a:rPr lang="ru-RU" dirty="0"/>
            </a:br>
            <a:r>
              <a:rPr lang="ru-RU" dirty="0" err="1"/>
              <a:t>dumpbin</a:t>
            </a:r>
            <a:r>
              <a:rPr lang="ru-RU" dirty="0"/>
              <a:t> /SYMBOLS program.exe</a:t>
            </a:r>
          </a:p>
          <a:p>
            <a:r>
              <a:rPr lang="ru-RU" dirty="0"/>
              <a:t>Результат:</a:t>
            </a:r>
          </a:p>
          <a:p>
            <a:pPr lvl="1"/>
            <a:r>
              <a:rPr lang="ru-RU" dirty="0"/>
              <a:t>адреса инструкций </a:t>
            </a:r>
          </a:p>
          <a:p>
            <a:pPr lvl="1"/>
            <a:r>
              <a:rPr lang="ru-RU" dirty="0"/>
              <a:t>машинный код </a:t>
            </a:r>
          </a:p>
          <a:p>
            <a:pPr lvl="1"/>
            <a:r>
              <a:rPr lang="ru-RU" dirty="0"/>
              <a:t>ассемблер </a:t>
            </a:r>
          </a:p>
        </p:txBody>
      </p:sp>
    </p:spTree>
    <p:extLst>
      <p:ext uri="{BB962C8B-B14F-4D97-AF65-F5344CB8AC3E}">
        <p14:creationId xmlns:p14="http://schemas.microsoft.com/office/powerpoint/2010/main" val="194987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1B5A8F-81BA-8140-6D22-7A479872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Отладка программ: </a:t>
            </a:r>
            <a:r>
              <a:rPr lang="en-US" dirty="0" err="1"/>
              <a:t>gdb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73300-9496-573B-720D-065FA6D5C3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gdb</a:t>
            </a:r>
            <a:r>
              <a:rPr lang="ru-RU" dirty="0"/>
              <a:t> (GNU </a:t>
            </a:r>
            <a:r>
              <a:rPr lang="ru-RU" dirty="0" err="1"/>
              <a:t>Debugger</a:t>
            </a:r>
            <a:r>
              <a:rPr lang="ru-RU" dirty="0"/>
              <a:t>):</a:t>
            </a:r>
          </a:p>
          <a:p>
            <a:pPr lvl="1"/>
            <a:r>
              <a:rPr lang="ru-RU" dirty="0"/>
              <a:t>консольный отладчик для Linux / </a:t>
            </a:r>
            <a:r>
              <a:rPr lang="ru-RU" dirty="0" err="1"/>
              <a:t>macOS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позволяет выполнять программу по шагам </a:t>
            </a:r>
          </a:p>
          <a:p>
            <a:pPr lvl="1"/>
            <a:r>
              <a:rPr lang="ru-RU" dirty="0"/>
              <a:t>показывает регистры, память, ассемблер </a:t>
            </a:r>
          </a:p>
          <a:p>
            <a:r>
              <a:rPr lang="ru-RU" dirty="0"/>
              <a:t>Основные возможности:</a:t>
            </a:r>
          </a:p>
          <a:p>
            <a:pPr lvl="1"/>
            <a:r>
              <a:rPr lang="ru-RU" dirty="0"/>
              <a:t>точки останова (</a:t>
            </a:r>
            <a:r>
              <a:rPr lang="ru-RU" dirty="0" err="1"/>
              <a:t>breakpoints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пошаговое выполнение </a:t>
            </a:r>
          </a:p>
          <a:p>
            <a:pPr lvl="1"/>
            <a:r>
              <a:rPr lang="ru-RU" dirty="0"/>
              <a:t>просмотр переменных и регистров </a:t>
            </a:r>
          </a:p>
          <a:p>
            <a:pPr lvl="1"/>
            <a:r>
              <a:rPr lang="ru-RU" dirty="0"/>
              <a:t>дизассемблирование кода 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721291-5AE1-4136-9DF2-568E2F1D40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Пример:</a:t>
            </a:r>
          </a:p>
          <a:p>
            <a:pPr lvl="1"/>
            <a:r>
              <a:rPr lang="ru-RU" dirty="0" err="1"/>
              <a:t>gdb</a:t>
            </a:r>
            <a:r>
              <a:rPr lang="ru-RU" dirty="0"/>
              <a:t> ./</a:t>
            </a:r>
            <a:r>
              <a:rPr lang="ru-RU" dirty="0" err="1"/>
              <a:t>program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gdb</a:t>
            </a:r>
            <a:r>
              <a:rPr lang="ru-RU" dirty="0"/>
              <a:t>) </a:t>
            </a:r>
            <a:r>
              <a:rPr lang="ru-RU" dirty="0" err="1"/>
              <a:t>break</a:t>
            </a:r>
            <a:r>
              <a:rPr lang="ru-RU" dirty="0"/>
              <a:t> </a:t>
            </a:r>
            <a:r>
              <a:rPr lang="ru-RU" dirty="0" err="1"/>
              <a:t>main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gdb</a:t>
            </a:r>
            <a:r>
              <a:rPr lang="ru-RU" dirty="0"/>
              <a:t>) </a:t>
            </a:r>
            <a:r>
              <a:rPr lang="ru-RU" dirty="0" err="1"/>
              <a:t>run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gdb</a:t>
            </a:r>
            <a:r>
              <a:rPr lang="ru-RU" dirty="0"/>
              <a:t>) </a:t>
            </a:r>
            <a:r>
              <a:rPr lang="ru-RU" dirty="0" err="1"/>
              <a:t>next</a:t>
            </a:r>
            <a:endParaRPr lang="ru-RU" dirty="0"/>
          </a:p>
          <a:p>
            <a:r>
              <a:rPr lang="ru-RU" dirty="0"/>
              <a:t>Важно:</a:t>
            </a:r>
          </a:p>
          <a:p>
            <a:pPr lvl="1"/>
            <a:r>
              <a:rPr lang="ru-RU" dirty="0" err="1"/>
              <a:t>gdb</a:t>
            </a:r>
            <a:r>
              <a:rPr lang="ru-RU" dirty="0"/>
              <a:t> — базовый инструмент </a:t>
            </a:r>
          </a:p>
          <a:p>
            <a:pPr lvl="1"/>
            <a:r>
              <a:rPr lang="ru-RU" dirty="0"/>
              <a:t>IDE (Visual Studio, </a:t>
            </a:r>
            <a:r>
              <a:rPr lang="ru-RU" dirty="0" err="1"/>
              <a:t>CLion</a:t>
            </a:r>
            <a:r>
              <a:rPr lang="ru-RU" dirty="0"/>
              <a:t> и др.)</a:t>
            </a:r>
            <a:br>
              <a:rPr lang="ru-RU" dirty="0"/>
            </a:br>
            <a:r>
              <a:rPr lang="ru-RU" dirty="0"/>
              <a:t>используют те же возможности,</a:t>
            </a:r>
            <a:br>
              <a:rPr lang="ru-RU" dirty="0"/>
            </a:br>
            <a:r>
              <a:rPr lang="ru-RU" dirty="0"/>
              <a:t>но предоставляют графический интерфейс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201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60FF-79EF-BB22-3536-4ED2BA57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Дизассемблирование в </a:t>
            </a:r>
            <a:r>
              <a:rPr lang="en-US" dirty="0"/>
              <a:t>Visual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2318-4502-0DBA-24A4-2D362C1B97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Visual Studio </a:t>
            </a:r>
            <a:r>
              <a:rPr lang="ru-RU" dirty="0" err="1"/>
              <a:t>Debugger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графический отладчик </a:t>
            </a:r>
          </a:p>
          <a:p>
            <a:pPr lvl="1"/>
            <a:r>
              <a:rPr lang="ru-RU" dirty="0"/>
              <a:t>поддерживает просмотр ассемблера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Как открыть дизассемблер:</a:t>
            </a:r>
          </a:p>
          <a:p>
            <a:pPr lvl="1"/>
            <a:r>
              <a:rPr lang="ru-RU" dirty="0" err="1"/>
              <a:t>Debug</a:t>
            </a:r>
            <a:r>
              <a:rPr lang="ru-RU" dirty="0"/>
              <a:t> → Windows → </a:t>
            </a:r>
            <a:r>
              <a:rPr lang="ru-RU" dirty="0" err="1"/>
              <a:t>Disassembly</a:t>
            </a:r>
            <a:r>
              <a:rPr lang="ru-RU" dirty="0"/>
              <a:t> </a:t>
            </a:r>
          </a:p>
          <a:p>
            <a:r>
              <a:rPr lang="ru-RU" dirty="0"/>
              <a:t>Возможности:</a:t>
            </a:r>
          </a:p>
          <a:p>
            <a:pPr lvl="1"/>
            <a:r>
              <a:rPr lang="ru-RU" dirty="0"/>
              <a:t>пошаговое выполнение инструкций </a:t>
            </a:r>
          </a:p>
          <a:p>
            <a:pPr lvl="1"/>
            <a:r>
              <a:rPr lang="ru-RU" dirty="0"/>
              <a:t>просмотр регистров </a:t>
            </a:r>
          </a:p>
          <a:p>
            <a:pPr lvl="1"/>
            <a:r>
              <a:rPr lang="ru-RU" dirty="0"/>
              <a:t>просмотр памяти </a:t>
            </a:r>
          </a:p>
          <a:p>
            <a:pPr lvl="1"/>
            <a:r>
              <a:rPr lang="ru-RU" dirty="0"/>
              <a:t>установка точек останова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FA3A0-3CF6-7737-2D6F-4DDE4F6DE2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Связь с исходным кодом:</a:t>
            </a:r>
          </a:p>
          <a:p>
            <a:pPr lvl="1"/>
            <a:r>
              <a:rPr lang="ru-RU" dirty="0"/>
              <a:t>одновременный просмотр C и </a:t>
            </a:r>
            <a:r>
              <a:rPr lang="ru-RU" dirty="0" err="1"/>
              <a:t>assembler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соответствие строк кода и инструкций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Дополнительно:</a:t>
            </a:r>
          </a:p>
          <a:p>
            <a:pPr lvl="1"/>
            <a:r>
              <a:rPr lang="ru-RU" dirty="0"/>
              <a:t>окно </a:t>
            </a:r>
            <a:r>
              <a:rPr lang="ru-RU" dirty="0" err="1"/>
              <a:t>Registers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окно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523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D860AA-3B39-E3E6-7043-9C5D957D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FCCCA5-E3C4-48AC-AA6F-A9C8EE2E6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изучили архитектуру </a:t>
            </a:r>
            <a:r>
              <a:rPr lang="en-US" dirty="0"/>
              <a:t>x86-64</a:t>
            </a:r>
            <a:r>
              <a:rPr lang="ru-RU" dirty="0"/>
              <a:t> на базовом уровне</a:t>
            </a:r>
          </a:p>
          <a:p>
            <a:pPr lvl="1"/>
            <a:r>
              <a:rPr lang="ru-RU" dirty="0"/>
              <a:t>Регистры, инструкции, соглашения о вызовах, работа со стеком</a:t>
            </a:r>
          </a:p>
          <a:p>
            <a:r>
              <a:rPr lang="ru-RU" dirty="0"/>
              <a:t>Научились сопоставлять исходный код на </a:t>
            </a:r>
            <a:r>
              <a:rPr lang="en-US" dirty="0"/>
              <a:t>C </a:t>
            </a:r>
            <a:r>
              <a:rPr lang="ru-RU" dirty="0"/>
              <a:t>с полученным ассемблерным кодом</a:t>
            </a:r>
          </a:p>
          <a:p>
            <a:r>
              <a:rPr lang="ru-RU" dirty="0"/>
              <a:t>Познакомились с инструментами для анализа программ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100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C9CD08-0506-370D-BBE1-E8D9E5DB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D15CD-FC07-D919-DCA8-7EF189CFF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Instruction – Multiple Data</a:t>
            </a:r>
          </a:p>
        </p:txBody>
      </p:sp>
    </p:spTree>
    <p:extLst>
      <p:ext uri="{BB962C8B-B14F-4D97-AF65-F5344CB8AC3E}">
        <p14:creationId xmlns:p14="http://schemas.microsoft.com/office/powerpoint/2010/main" val="2675266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44DB-E633-A761-B045-85BF04D9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Рост объёмов вычислений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4A852-558F-45C1-C37F-E96481A5F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Современные программы обрабатывают огромные объёмы данных:</a:t>
            </a:r>
          </a:p>
          <a:p>
            <a:pPr lvl="1"/>
            <a:r>
              <a:rPr lang="ru-RU" dirty="0"/>
              <a:t>изображения и видео </a:t>
            </a:r>
          </a:p>
          <a:p>
            <a:pPr lvl="1"/>
            <a:r>
              <a:rPr lang="ru-RU" dirty="0"/>
              <a:t>аудио </a:t>
            </a:r>
          </a:p>
          <a:p>
            <a:pPr lvl="1"/>
            <a:r>
              <a:rPr lang="ru-RU" dirty="0"/>
              <a:t>3D-графику </a:t>
            </a:r>
          </a:p>
          <a:p>
            <a:pPr lvl="1"/>
            <a:r>
              <a:rPr lang="ru-RU" dirty="0"/>
              <a:t>научные вычисления </a:t>
            </a:r>
          </a:p>
          <a:p>
            <a:pPr lvl="1"/>
            <a:r>
              <a:rPr lang="ru-RU" dirty="0"/>
              <a:t>машинное обучение </a:t>
            </a:r>
          </a:p>
          <a:p>
            <a:r>
              <a:rPr lang="ru-RU" dirty="0"/>
              <a:t>Во многих задачах одна операция применяется сразу к большому массиву данных 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pixels</a:t>
            </a:r>
            <a:r>
              <a:rPr lang="ru-RU" dirty="0">
                <a:latin typeface="Consolas" panose="020B0609020204030204" pitchFamily="49" charset="0"/>
              </a:rPr>
              <a:t>[i] *= </a:t>
            </a:r>
            <a:r>
              <a:rPr lang="ru-RU" dirty="0" err="1">
                <a:latin typeface="Consolas" panose="020B0609020204030204" pitchFamily="49" charset="0"/>
              </a:rPr>
              <a:t>brightness</a:t>
            </a:r>
            <a:r>
              <a:rPr lang="ru-RU" dirty="0">
                <a:latin typeface="Consolas" panose="020B0609020204030204" pitchFamily="49" charset="0"/>
              </a:rPr>
              <a:t>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samples</a:t>
            </a:r>
            <a:r>
              <a:rPr lang="ru-RU" dirty="0">
                <a:latin typeface="Consolas" panose="020B0609020204030204" pitchFamily="49" charset="0"/>
              </a:rPr>
              <a:t>[i] += </a:t>
            </a:r>
            <a:r>
              <a:rPr lang="ru-RU" dirty="0" err="1">
                <a:latin typeface="Consolas" panose="020B0609020204030204" pitchFamily="49" charset="0"/>
              </a:rPr>
              <a:t>offset</a:t>
            </a:r>
            <a:r>
              <a:rPr lang="ru-RU" dirty="0">
                <a:latin typeface="Consolas" panose="020B0609020204030204" pitchFamily="49" charset="0"/>
              </a:rPr>
              <a:t>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c[i] = a[i] + b[i];</a:t>
            </a:r>
          </a:p>
          <a:p>
            <a:r>
              <a:rPr lang="ru-RU" dirty="0"/>
              <a:t>Проблема скалярного подхода:</a:t>
            </a:r>
          </a:p>
          <a:p>
            <a:pPr lvl="1"/>
            <a:r>
              <a:rPr lang="ru-RU" dirty="0"/>
              <a:t>слишком много одинаковых инструкций </a:t>
            </a:r>
          </a:p>
          <a:p>
            <a:pPr lvl="1"/>
            <a:r>
              <a:rPr lang="ru-RU" dirty="0"/>
              <a:t>процессор обрабатывает элементы по одному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863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6B1C03-D1A8-00B9-23B0-4FAF3938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данных по одному элементу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858FD1-3A2A-4EE5-CBB6-E556A3FC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06569"/>
            <a:ext cx="4917141" cy="2670393"/>
          </a:xfrm>
        </p:spPr>
        <p:txBody>
          <a:bodyPr>
            <a:normAutofit/>
          </a:bodyPr>
          <a:lstStyle/>
          <a:p>
            <a:r>
              <a:rPr lang="ru-RU" dirty="0"/>
              <a:t>Скалярная обработка</a:t>
            </a:r>
          </a:p>
          <a:p>
            <a:pPr lvl="1"/>
            <a:r>
              <a:rPr lang="ru-RU" dirty="0"/>
              <a:t>1 инструкция → 1 элемент </a:t>
            </a:r>
          </a:p>
          <a:p>
            <a:pPr lvl="1"/>
            <a:r>
              <a:rPr lang="ru-RU" dirty="0"/>
              <a:t>операции выполняются последовательно </a:t>
            </a:r>
          </a:p>
          <a:p>
            <a:pPr lvl="1"/>
            <a:r>
              <a:rPr lang="ru-RU" dirty="0"/>
              <a:t>для массивов требуется много итераций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987D25-FAC2-7478-42B7-3F747C4ADEB9}"/>
              </a:ext>
            </a:extLst>
          </p:cNvPr>
          <p:cNvSpPr txBox="1"/>
          <p:nvPr/>
        </p:nvSpPr>
        <p:spPr>
          <a:xfrm>
            <a:off x="838200" y="1690688"/>
            <a:ext cx="52470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AddArrays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b,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c,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a[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b[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C4C26-9F24-1E5E-BEEB-4F684CE36C77}"/>
              </a:ext>
            </a:extLst>
          </p:cNvPr>
          <p:cNvSpPr txBox="1"/>
          <p:nvPr/>
        </p:nvSpPr>
        <p:spPr>
          <a:xfrm>
            <a:off x="6106760" y="1690688"/>
            <a:ext cx="6085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AddArrays</a:t>
            </a:r>
            <a:r>
              <a:rPr lang="en-US" sz="14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":</a:t>
            </a:r>
            <a:endParaRPr lang="en-US" sz="14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rdi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 = a, 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rsi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 = b, 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rdx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 = c, 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rcx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B05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 n</a:t>
            </a:r>
            <a:endParaRPr lang="en-US" sz="1400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4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4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; r8d = b[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rax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];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4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; r8d += a[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rax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];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4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; c[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] += r8d;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                     ; ++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rax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                 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; if (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rax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!=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rcx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4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.L3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                        ;     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goto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 .L3;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41CFF3-E23C-9C60-6A37-8E4E2EAC5632}"/>
              </a:ext>
            </a:extLst>
          </p:cNvPr>
          <p:cNvSpPr txBox="1"/>
          <p:nvPr/>
        </p:nvSpPr>
        <p:spPr>
          <a:xfrm>
            <a:off x="6106760" y="4982646"/>
            <a:ext cx="3747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https://godbolt.org/z/PcTsz9YM4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374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B885E-649C-72CD-ED06-7562A166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2C5DC-A4DC-B828-BA1B-2BFCE742C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SIMD — Single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Multiple</a:t>
            </a:r>
            <a:r>
              <a:rPr lang="ru-RU" dirty="0"/>
              <a:t> Data</a:t>
            </a:r>
          </a:p>
          <a:p>
            <a:pPr lvl="1"/>
            <a:r>
              <a:rPr lang="ru-RU" dirty="0"/>
              <a:t>Одна инструкция обрабатывает несколько элементов одновременно</a:t>
            </a:r>
          </a:p>
          <a:p>
            <a:r>
              <a:rPr lang="ru-RU" dirty="0"/>
              <a:t>Скалярная обработка:</a:t>
            </a:r>
          </a:p>
          <a:p>
            <a:pPr lvl="1"/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eax</a:t>
            </a:r>
            <a:r>
              <a:rPr lang="ru-RU" dirty="0"/>
              <a:t>, </a:t>
            </a:r>
            <a:r>
              <a:rPr lang="ru-RU" dirty="0" err="1"/>
              <a:t>ebx</a:t>
            </a:r>
            <a:br>
              <a:rPr lang="ru-RU" dirty="0"/>
            </a:br>
            <a:br>
              <a:rPr lang="ru-RU" dirty="0"/>
            </a:br>
            <a:r>
              <a:rPr lang="ru-RU" dirty="0"/>
              <a:t>1 + 5 → 6</a:t>
            </a:r>
          </a:p>
          <a:p>
            <a:r>
              <a:rPr lang="ru-RU" dirty="0"/>
              <a:t>SIMD-обработка:</a:t>
            </a:r>
          </a:p>
          <a:p>
            <a:pPr lvl="1"/>
            <a:r>
              <a:rPr lang="ru-RU" dirty="0" err="1"/>
              <a:t>addps</a:t>
            </a:r>
            <a:r>
              <a:rPr lang="ru-RU" dirty="0"/>
              <a:t> xmm0, xmm1</a:t>
            </a:r>
            <a:br>
              <a:rPr lang="ru-RU" dirty="0"/>
            </a:br>
            <a:br>
              <a:rPr lang="ru-RU" dirty="0"/>
            </a:br>
            <a:r>
              <a:rPr lang="ru-RU" dirty="0"/>
              <a:t>[1 2 3 4]</a:t>
            </a:r>
            <a:br>
              <a:rPr lang="ru-RU" dirty="0"/>
            </a:br>
            <a:r>
              <a:rPr lang="ru-RU" dirty="0"/>
              <a:t>+</a:t>
            </a:r>
            <a:br>
              <a:rPr lang="ru-RU" dirty="0"/>
            </a:br>
            <a:r>
              <a:rPr lang="ru-RU" dirty="0"/>
              <a:t>[5 6 7 8]</a:t>
            </a:r>
            <a:br>
              <a:rPr lang="ru-RU" dirty="0"/>
            </a:br>
            <a:r>
              <a:rPr lang="ru-RU" dirty="0"/>
              <a:t>=</a:t>
            </a:r>
            <a:br>
              <a:rPr lang="ru-RU" dirty="0"/>
            </a:br>
            <a:r>
              <a:rPr lang="ru-RU" dirty="0"/>
              <a:t>[6 8 10 12]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меньше инструкций </a:t>
            </a:r>
          </a:p>
          <a:p>
            <a:pPr lvl="1"/>
            <a:r>
              <a:rPr lang="ru-RU" dirty="0"/>
              <a:t>лучше использование процессора </a:t>
            </a:r>
          </a:p>
          <a:p>
            <a:pPr lvl="1"/>
            <a:r>
              <a:rPr lang="ru-RU" dirty="0"/>
              <a:t>ускорение вычислений над массивами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39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A4972-E9D0-90E2-8090-63991480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 </a:t>
            </a:r>
            <a:r>
              <a:rPr lang="ru-RU" dirty="0"/>
              <a:t>регистры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53D99-B603-B24F-145C-897CEC28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6486" cy="435133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Для </a:t>
            </a:r>
            <a:r>
              <a:rPr lang="en-US" dirty="0"/>
              <a:t>SIMD </a:t>
            </a:r>
            <a:r>
              <a:rPr lang="ru-RU" dirty="0"/>
              <a:t>появились специальные широкие регистры</a:t>
            </a:r>
          </a:p>
          <a:p>
            <a:r>
              <a:rPr lang="en-US" dirty="0"/>
              <a:t>SSE (1999):</a:t>
            </a:r>
          </a:p>
          <a:p>
            <a:pPr lvl="1"/>
            <a:r>
              <a:rPr lang="en-US" dirty="0"/>
              <a:t>XMM0–XMM15 </a:t>
            </a:r>
            <a:r>
              <a:rPr lang="ru-RU" dirty="0"/>
              <a:t> (</a:t>
            </a:r>
            <a:r>
              <a:rPr lang="en-US" dirty="0"/>
              <a:t>128 </a:t>
            </a:r>
            <a:r>
              <a:rPr lang="ru-RU" dirty="0"/>
              <a:t>бит)</a:t>
            </a:r>
            <a:endParaRPr lang="en-US" dirty="0"/>
          </a:p>
          <a:p>
            <a:pPr lvl="1"/>
            <a:r>
              <a:rPr lang="ru-RU" dirty="0"/>
              <a:t>Ориентация, в основном, на </a:t>
            </a:r>
            <a:r>
              <a:rPr lang="en-US" dirty="0"/>
              <a:t>float</a:t>
            </a:r>
          </a:p>
          <a:p>
            <a:r>
              <a:rPr lang="en-US" dirty="0"/>
              <a:t>SSE2 (2001)</a:t>
            </a:r>
          </a:p>
          <a:p>
            <a:pPr lvl="1"/>
            <a:r>
              <a:rPr lang="ru-RU" dirty="0"/>
              <a:t>Добавлена поддержка </a:t>
            </a:r>
            <a:r>
              <a:rPr lang="en-US" dirty="0"/>
              <a:t>double </a:t>
            </a:r>
            <a:r>
              <a:rPr lang="ru-RU" dirty="0"/>
              <a:t>и расширена поддержка целых чисел</a:t>
            </a:r>
          </a:p>
          <a:p>
            <a:pPr lvl="1"/>
            <a:r>
              <a:rPr lang="ru-RU" dirty="0"/>
              <a:t>Поддерживается </a:t>
            </a:r>
            <a:r>
              <a:rPr lang="en-US" dirty="0"/>
              <a:t>SS2 </a:t>
            </a:r>
            <a:r>
              <a:rPr lang="ru-RU" dirty="0"/>
              <a:t>обязательна на </a:t>
            </a:r>
            <a:r>
              <a:rPr lang="en-US" dirty="0"/>
              <a:t>x86-64</a:t>
            </a:r>
            <a:endParaRPr lang="ru-RU" dirty="0"/>
          </a:p>
          <a:p>
            <a:r>
              <a:rPr lang="en-US" dirty="0"/>
              <a:t>AVX:</a:t>
            </a:r>
          </a:p>
          <a:p>
            <a:pPr lvl="1"/>
            <a:r>
              <a:rPr lang="en-US" dirty="0"/>
              <a:t>YMM0–YMM15 </a:t>
            </a:r>
            <a:r>
              <a:rPr lang="ru-RU" dirty="0"/>
              <a:t>(</a:t>
            </a:r>
            <a:r>
              <a:rPr lang="en-US" dirty="0"/>
              <a:t>256 </a:t>
            </a:r>
            <a:r>
              <a:rPr lang="ru-RU" dirty="0"/>
              <a:t>бит)</a:t>
            </a:r>
          </a:p>
          <a:p>
            <a:r>
              <a:rPr lang="en-US" dirty="0"/>
              <a:t>AVX-512:</a:t>
            </a:r>
          </a:p>
          <a:p>
            <a:pPr lvl="1"/>
            <a:r>
              <a:rPr lang="en-US" dirty="0"/>
              <a:t>ZMM0–ZMM31 </a:t>
            </a:r>
            <a:r>
              <a:rPr lang="ru-RU" dirty="0"/>
              <a:t>(</a:t>
            </a:r>
            <a:r>
              <a:rPr lang="en-US" dirty="0"/>
              <a:t>512 </a:t>
            </a:r>
            <a:r>
              <a:rPr lang="ru-RU" dirty="0"/>
              <a:t>бит)</a:t>
            </a:r>
          </a:p>
          <a:p>
            <a:r>
              <a:rPr lang="ru-RU" dirty="0"/>
              <a:t>Один регистр может хранить:</a:t>
            </a:r>
          </a:p>
          <a:p>
            <a:pPr lvl="1"/>
            <a:r>
              <a:rPr lang="ru-RU" dirty="0"/>
              <a:t>несколько </a:t>
            </a:r>
            <a:r>
              <a:rPr lang="en-US" dirty="0"/>
              <a:t>int </a:t>
            </a:r>
          </a:p>
          <a:p>
            <a:pPr lvl="1"/>
            <a:r>
              <a:rPr lang="ru-RU" dirty="0"/>
              <a:t>несколько </a:t>
            </a:r>
            <a:r>
              <a:rPr lang="en-US" dirty="0"/>
              <a:t>float </a:t>
            </a:r>
          </a:p>
          <a:p>
            <a:pPr lvl="1"/>
            <a:r>
              <a:rPr lang="ru-RU" dirty="0"/>
              <a:t>несколько </a:t>
            </a:r>
            <a:r>
              <a:rPr lang="en-US" dirty="0"/>
              <a:t>double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4167A-DFE6-79BD-94DD-50AA912CA5D4}"/>
              </a:ext>
            </a:extLst>
          </p:cNvPr>
          <p:cNvSpPr/>
          <p:nvPr/>
        </p:nvSpPr>
        <p:spPr>
          <a:xfrm>
            <a:off x="7205664" y="2010456"/>
            <a:ext cx="1123950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464048-BEE6-F0F0-C96D-1C1006887C5B}"/>
              </a:ext>
            </a:extLst>
          </p:cNvPr>
          <p:cNvSpPr/>
          <p:nvPr/>
        </p:nvSpPr>
        <p:spPr>
          <a:xfrm>
            <a:off x="8401051" y="2010456"/>
            <a:ext cx="1123950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0A3CB6-660B-5EB6-10A1-B68E9A33CF57}"/>
              </a:ext>
            </a:extLst>
          </p:cNvPr>
          <p:cNvSpPr/>
          <p:nvPr/>
        </p:nvSpPr>
        <p:spPr>
          <a:xfrm>
            <a:off x="9596438" y="2010455"/>
            <a:ext cx="1123950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C4EED-72C5-FEF8-7FAF-B7D5563D300B}"/>
              </a:ext>
            </a:extLst>
          </p:cNvPr>
          <p:cNvSpPr/>
          <p:nvPr/>
        </p:nvSpPr>
        <p:spPr>
          <a:xfrm>
            <a:off x="10791825" y="2010454"/>
            <a:ext cx="1123950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4C34E-4875-45CE-CB03-283CB2E5A62A}"/>
              </a:ext>
            </a:extLst>
          </p:cNvPr>
          <p:cNvSpPr txBox="1"/>
          <p:nvPr/>
        </p:nvSpPr>
        <p:spPr>
          <a:xfrm>
            <a:off x="6374608" y="2031647"/>
            <a:ext cx="79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XMM0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A24F05-917F-AE88-739C-E056EF320073}"/>
              </a:ext>
            </a:extLst>
          </p:cNvPr>
          <p:cNvSpPr/>
          <p:nvPr/>
        </p:nvSpPr>
        <p:spPr>
          <a:xfrm>
            <a:off x="7205664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E61AE2-64B9-7FCB-4AB2-EB60DA3B5374}"/>
              </a:ext>
            </a:extLst>
          </p:cNvPr>
          <p:cNvSpPr txBox="1"/>
          <p:nvPr/>
        </p:nvSpPr>
        <p:spPr>
          <a:xfrm>
            <a:off x="6374608" y="2759976"/>
            <a:ext cx="79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XMM0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638AE-9041-3496-9DEE-A05BCE5ACCD7}"/>
              </a:ext>
            </a:extLst>
          </p:cNvPr>
          <p:cNvSpPr/>
          <p:nvPr/>
        </p:nvSpPr>
        <p:spPr>
          <a:xfrm>
            <a:off x="7772400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00446-7650-6E5A-3C5F-814C1C589AA0}"/>
              </a:ext>
            </a:extLst>
          </p:cNvPr>
          <p:cNvSpPr/>
          <p:nvPr/>
        </p:nvSpPr>
        <p:spPr>
          <a:xfrm>
            <a:off x="8391061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A377B7-C2F0-FCC6-ED19-A64C603C3A7E}"/>
              </a:ext>
            </a:extLst>
          </p:cNvPr>
          <p:cNvSpPr/>
          <p:nvPr/>
        </p:nvSpPr>
        <p:spPr>
          <a:xfrm>
            <a:off x="8958265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92E143-4F1F-D520-86B6-52C14E745411}"/>
              </a:ext>
            </a:extLst>
          </p:cNvPr>
          <p:cNvSpPr/>
          <p:nvPr/>
        </p:nvSpPr>
        <p:spPr>
          <a:xfrm>
            <a:off x="9596619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281503-B827-DFAA-5E3E-4DCB7B3F1A8C}"/>
              </a:ext>
            </a:extLst>
          </p:cNvPr>
          <p:cNvSpPr/>
          <p:nvPr/>
        </p:nvSpPr>
        <p:spPr>
          <a:xfrm>
            <a:off x="10158069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36F5D9-10BA-0BDB-AFCC-E03AE278CD15}"/>
              </a:ext>
            </a:extLst>
          </p:cNvPr>
          <p:cNvSpPr/>
          <p:nvPr/>
        </p:nvSpPr>
        <p:spPr>
          <a:xfrm>
            <a:off x="10787064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E67BCC-091B-4E2A-B8F8-1FFF17DF2550}"/>
              </a:ext>
            </a:extLst>
          </p:cNvPr>
          <p:cNvSpPr/>
          <p:nvPr/>
        </p:nvSpPr>
        <p:spPr>
          <a:xfrm>
            <a:off x="11348008" y="2749380"/>
            <a:ext cx="566736" cy="390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short</a:t>
            </a:r>
          </a:p>
        </p:txBody>
      </p:sp>
    </p:spTree>
    <p:extLst>
      <p:ext uri="{BB962C8B-B14F-4D97-AF65-F5344CB8AC3E}">
        <p14:creationId xmlns:p14="http://schemas.microsoft.com/office/powerpoint/2010/main" val="21674949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23FF-E232-4406-47D9-3AFAEBE2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XMM-</a:t>
            </a:r>
            <a:r>
              <a:rPr lang="ru-RU" dirty="0"/>
              <a:t>регистры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513C-C877-A3FE-D9E9-EE3FF85445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XMM-</a:t>
            </a:r>
            <a:r>
              <a:rPr lang="ru-RU" dirty="0"/>
              <a:t>регистры:</a:t>
            </a:r>
            <a:r>
              <a:rPr lang="en-US" dirty="0"/>
              <a:t> xmm0 … xmm15</a:t>
            </a:r>
          </a:p>
          <a:p>
            <a:r>
              <a:rPr lang="ru-RU" dirty="0"/>
              <a:t>Размер </a:t>
            </a:r>
            <a:r>
              <a:rPr lang="en-US" dirty="0"/>
              <a:t>XMM-</a:t>
            </a:r>
            <a:r>
              <a:rPr lang="ru-RU" dirty="0"/>
              <a:t>регистра:</a:t>
            </a:r>
            <a:r>
              <a:rPr lang="en-US" dirty="0"/>
              <a:t> </a:t>
            </a:r>
            <a:r>
              <a:rPr lang="ru-RU" dirty="0"/>
              <a:t>128 бит = 16 байт</a:t>
            </a:r>
          </a:p>
          <a:p>
            <a:r>
              <a:rPr lang="ru-RU" dirty="0"/>
              <a:t>Тип определяется инструкцией:</a:t>
            </a:r>
            <a:endParaRPr lang="en-US" dirty="0"/>
          </a:p>
          <a:p>
            <a:pPr lvl="1"/>
            <a:r>
              <a:rPr lang="en-US" dirty="0" err="1"/>
              <a:t>paddd</a:t>
            </a:r>
            <a:r>
              <a:rPr lang="en-US" dirty="0"/>
              <a:t> ; int32</a:t>
            </a:r>
            <a:br>
              <a:rPr lang="en-US" dirty="0"/>
            </a:br>
            <a:r>
              <a:rPr lang="en-US" dirty="0" err="1"/>
              <a:t>paddw</a:t>
            </a:r>
            <a:r>
              <a:rPr lang="en-US" dirty="0"/>
              <a:t> ; int16</a:t>
            </a:r>
            <a:br>
              <a:rPr lang="en-US" dirty="0"/>
            </a:br>
            <a:r>
              <a:rPr lang="en-US" dirty="0" err="1"/>
              <a:t>addps</a:t>
            </a:r>
            <a:r>
              <a:rPr lang="en-US" dirty="0"/>
              <a:t> ; float</a:t>
            </a:r>
            <a:br>
              <a:rPr lang="en-US" dirty="0"/>
            </a:br>
            <a:r>
              <a:rPr lang="en-US" dirty="0" err="1"/>
              <a:t>addpd</a:t>
            </a:r>
            <a:r>
              <a:rPr lang="en-US" dirty="0"/>
              <a:t> ; double</a:t>
            </a:r>
            <a:endParaRPr lang="ru-RU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1D5AF00-2AC1-728F-CDB2-61A2B51954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5411104"/>
              </p:ext>
            </p:extLst>
          </p:nvPr>
        </p:nvGraphicFramePr>
        <p:xfrm>
          <a:off x="6172200" y="1825625"/>
          <a:ext cx="5181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401202921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32925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Тип элементов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553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int8_t, uint8_t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30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int16_t, uint16_t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64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int32_, uint32_t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2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int64_t, uint64_t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73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638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197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5339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1433-25CB-54A4-D72A-62D11FCD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SIMD-</a:t>
            </a:r>
            <a:r>
              <a:rPr lang="ru-RU" dirty="0"/>
              <a:t>инструкции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248F-4D5A-0A56-5AE6-40BA1560E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ru-RU" dirty="0"/>
              <a:t>SIMD-инструкции выполняют операции</a:t>
            </a:r>
            <a:br>
              <a:rPr lang="ru-RU" dirty="0"/>
            </a:br>
            <a:r>
              <a:rPr lang="ru-RU" dirty="0"/>
              <a:t>сразу над несколькими элементами</a:t>
            </a:r>
          </a:p>
          <a:p>
            <a:r>
              <a:rPr lang="ru-RU" dirty="0"/>
              <a:t>Пример</a:t>
            </a:r>
            <a:endParaRPr lang="en-US" dirty="0"/>
          </a:p>
          <a:p>
            <a:pPr lvl="1"/>
            <a:r>
              <a:rPr lang="en-US" b="1" dirty="0" err="1"/>
              <a:t>addps</a:t>
            </a:r>
            <a:r>
              <a:rPr lang="en-US" b="1" dirty="0"/>
              <a:t> &lt;</a:t>
            </a:r>
            <a:r>
              <a:rPr lang="en-US" b="1" dirty="0" err="1"/>
              <a:t>dst</a:t>
            </a:r>
            <a:r>
              <a:rPr lang="en-US" b="1" dirty="0"/>
              <a:t>&gt;, &lt;</a:t>
            </a:r>
            <a:r>
              <a:rPr lang="en-US" b="1" dirty="0" err="1"/>
              <a:t>src</a:t>
            </a:r>
            <a:r>
              <a:rPr lang="en-US" b="1" dirty="0"/>
              <a:t>&gt;</a:t>
            </a:r>
          </a:p>
          <a:p>
            <a:pPr lvl="2"/>
            <a:r>
              <a:rPr lang="en-US" dirty="0"/>
              <a:t>add packed single precision floating point numbers</a:t>
            </a:r>
            <a:endParaRPr lang="ru-RU" dirty="0"/>
          </a:p>
          <a:p>
            <a:pPr lvl="1"/>
            <a:r>
              <a:rPr lang="ru-RU" dirty="0" err="1"/>
              <a:t>addps</a:t>
            </a:r>
            <a:r>
              <a:rPr lang="ru-RU" dirty="0"/>
              <a:t> xmm0, xmm1</a:t>
            </a:r>
          </a:p>
          <a:p>
            <a:pPr lvl="1"/>
            <a:r>
              <a:rPr lang="ru-RU" dirty="0"/>
              <a:t>За одну инструкцию выполняются</a:t>
            </a:r>
            <a:r>
              <a:rPr lang="en-US" dirty="0"/>
              <a:t> </a:t>
            </a:r>
            <a:r>
              <a:rPr lang="ru-RU" dirty="0"/>
              <a:t>сложение 4 </a:t>
            </a:r>
            <a:r>
              <a:rPr lang="ru-RU" dirty="0" err="1"/>
              <a:t>float</a:t>
            </a:r>
            <a:endParaRPr lang="ru-RU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A1211-53EC-C0E3-FE03-D8B4F43F9679}"/>
              </a:ext>
            </a:extLst>
          </p:cNvPr>
          <p:cNvSpPr/>
          <p:nvPr/>
        </p:nvSpPr>
        <p:spPr>
          <a:xfrm>
            <a:off x="7221764" y="2623912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1.0</a:t>
            </a:r>
            <a:r>
              <a:rPr lang="en-US" dirty="0"/>
              <a:t>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CBED0-D1FD-BC0D-A7B4-B8949F611E27}"/>
              </a:ext>
            </a:extLst>
          </p:cNvPr>
          <p:cNvSpPr/>
          <p:nvPr/>
        </p:nvSpPr>
        <p:spPr>
          <a:xfrm>
            <a:off x="8437335" y="2623912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2.0f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3CD0BC-ADD1-2C98-6AAA-8BDC42D16381}"/>
              </a:ext>
            </a:extLst>
          </p:cNvPr>
          <p:cNvSpPr/>
          <p:nvPr/>
        </p:nvSpPr>
        <p:spPr>
          <a:xfrm>
            <a:off x="9660164" y="2623912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3.0f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BAADD-2AAB-3403-D123-7B705E13AF0C}"/>
              </a:ext>
            </a:extLst>
          </p:cNvPr>
          <p:cNvSpPr/>
          <p:nvPr/>
        </p:nvSpPr>
        <p:spPr>
          <a:xfrm>
            <a:off x="10908392" y="2623912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4.0f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80604-17FC-1087-4991-D3D03D9E0BB9}"/>
              </a:ext>
            </a:extLst>
          </p:cNvPr>
          <p:cNvSpPr/>
          <p:nvPr/>
        </p:nvSpPr>
        <p:spPr>
          <a:xfrm>
            <a:off x="7221764" y="3679371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r>
              <a:rPr lang="ru-RU" dirty="0"/>
              <a:t>.0</a:t>
            </a:r>
            <a:r>
              <a:rPr lang="en-US" dirty="0"/>
              <a:t>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F22A7F-04EA-6FA0-F09F-33C275F2F410}"/>
              </a:ext>
            </a:extLst>
          </p:cNvPr>
          <p:cNvSpPr/>
          <p:nvPr/>
        </p:nvSpPr>
        <p:spPr>
          <a:xfrm>
            <a:off x="8437335" y="3679371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6.0f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B9FA50-465E-3A40-1DFA-74FC4FE9995C}"/>
              </a:ext>
            </a:extLst>
          </p:cNvPr>
          <p:cNvSpPr/>
          <p:nvPr/>
        </p:nvSpPr>
        <p:spPr>
          <a:xfrm>
            <a:off x="9660164" y="3679371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7.0f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1DBD3A-F470-3E5F-B0CC-F7CA28A2B977}"/>
              </a:ext>
            </a:extLst>
          </p:cNvPr>
          <p:cNvSpPr/>
          <p:nvPr/>
        </p:nvSpPr>
        <p:spPr>
          <a:xfrm>
            <a:off x="10908392" y="3679371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8.0f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FA27C-F505-AB5C-0F6B-D9050A23904C}"/>
              </a:ext>
            </a:extLst>
          </p:cNvPr>
          <p:cNvSpPr/>
          <p:nvPr/>
        </p:nvSpPr>
        <p:spPr>
          <a:xfrm>
            <a:off x="7221764" y="4687205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r>
              <a:rPr lang="ru-RU" dirty="0"/>
              <a:t>.0</a:t>
            </a:r>
            <a:r>
              <a:rPr lang="en-US" dirty="0"/>
              <a:t>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A01BCA-29EA-D230-1D59-CC1A2575D121}"/>
              </a:ext>
            </a:extLst>
          </p:cNvPr>
          <p:cNvSpPr/>
          <p:nvPr/>
        </p:nvSpPr>
        <p:spPr>
          <a:xfrm>
            <a:off x="8437335" y="4687205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8.0f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3C8D41-A2D8-6B9D-E0E1-6E64094938CC}"/>
              </a:ext>
            </a:extLst>
          </p:cNvPr>
          <p:cNvSpPr/>
          <p:nvPr/>
        </p:nvSpPr>
        <p:spPr>
          <a:xfrm>
            <a:off x="9660164" y="4687205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10.0f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BF945A-05A5-4D8C-7E50-B10A5066829D}"/>
              </a:ext>
            </a:extLst>
          </p:cNvPr>
          <p:cNvSpPr/>
          <p:nvPr/>
        </p:nvSpPr>
        <p:spPr>
          <a:xfrm>
            <a:off x="10908392" y="4687205"/>
            <a:ext cx="1153886" cy="554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12.0f</a:t>
            </a:r>
          </a:p>
        </p:txBody>
      </p:sp>
      <p:sp>
        <p:nvSpPr>
          <p:cNvPr id="17" name="Plus Sign 16">
            <a:extLst>
              <a:ext uri="{FF2B5EF4-FFF2-40B4-BE49-F238E27FC236}">
                <a16:creationId xmlns:a16="http://schemas.microsoft.com/office/drawing/2014/main" id="{2BE6B7A1-D577-A91F-D035-E68700E8E8A1}"/>
              </a:ext>
            </a:extLst>
          </p:cNvPr>
          <p:cNvSpPr/>
          <p:nvPr/>
        </p:nvSpPr>
        <p:spPr>
          <a:xfrm>
            <a:off x="7591771" y="3202442"/>
            <a:ext cx="453116" cy="4531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us Sign 17">
            <a:extLst>
              <a:ext uri="{FF2B5EF4-FFF2-40B4-BE49-F238E27FC236}">
                <a16:creationId xmlns:a16="http://schemas.microsoft.com/office/drawing/2014/main" id="{58BC658B-3704-FE01-B1E2-B56139BC9847}"/>
              </a:ext>
            </a:extLst>
          </p:cNvPr>
          <p:cNvSpPr/>
          <p:nvPr/>
        </p:nvSpPr>
        <p:spPr>
          <a:xfrm>
            <a:off x="8808928" y="3202442"/>
            <a:ext cx="453116" cy="4531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lus Sign 18">
            <a:extLst>
              <a:ext uri="{FF2B5EF4-FFF2-40B4-BE49-F238E27FC236}">
                <a16:creationId xmlns:a16="http://schemas.microsoft.com/office/drawing/2014/main" id="{E6DCA506-2047-1D57-5F64-28BE68FF4C4F}"/>
              </a:ext>
            </a:extLst>
          </p:cNvPr>
          <p:cNvSpPr/>
          <p:nvPr/>
        </p:nvSpPr>
        <p:spPr>
          <a:xfrm>
            <a:off x="10026085" y="3202442"/>
            <a:ext cx="453116" cy="4531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lus Sign 19">
            <a:extLst>
              <a:ext uri="{FF2B5EF4-FFF2-40B4-BE49-F238E27FC236}">
                <a16:creationId xmlns:a16="http://schemas.microsoft.com/office/drawing/2014/main" id="{D92DB584-3644-3314-8D3E-18C26F700410}"/>
              </a:ext>
            </a:extLst>
          </p:cNvPr>
          <p:cNvSpPr/>
          <p:nvPr/>
        </p:nvSpPr>
        <p:spPr>
          <a:xfrm>
            <a:off x="11243242" y="3202442"/>
            <a:ext cx="453116" cy="45311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quals 20">
            <a:extLst>
              <a:ext uri="{FF2B5EF4-FFF2-40B4-BE49-F238E27FC236}">
                <a16:creationId xmlns:a16="http://schemas.microsoft.com/office/drawing/2014/main" id="{6325DED1-46B1-13F2-AF80-B6EF1C9C63A4}"/>
              </a:ext>
            </a:extLst>
          </p:cNvPr>
          <p:cNvSpPr/>
          <p:nvPr/>
        </p:nvSpPr>
        <p:spPr>
          <a:xfrm>
            <a:off x="7672446" y="4295202"/>
            <a:ext cx="342900" cy="3429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1048F912-E542-CD43-996D-E694230E4BF7}"/>
              </a:ext>
            </a:extLst>
          </p:cNvPr>
          <p:cNvSpPr/>
          <p:nvPr/>
        </p:nvSpPr>
        <p:spPr>
          <a:xfrm>
            <a:off x="8919144" y="4295202"/>
            <a:ext cx="342900" cy="3429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Equals 22">
            <a:extLst>
              <a:ext uri="{FF2B5EF4-FFF2-40B4-BE49-F238E27FC236}">
                <a16:creationId xmlns:a16="http://schemas.microsoft.com/office/drawing/2014/main" id="{0E5443A1-F909-37B3-9ED9-E9C03691B843}"/>
              </a:ext>
            </a:extLst>
          </p:cNvPr>
          <p:cNvSpPr/>
          <p:nvPr/>
        </p:nvSpPr>
        <p:spPr>
          <a:xfrm>
            <a:off x="10165842" y="4295202"/>
            <a:ext cx="342900" cy="3429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Equals 23">
            <a:extLst>
              <a:ext uri="{FF2B5EF4-FFF2-40B4-BE49-F238E27FC236}">
                <a16:creationId xmlns:a16="http://schemas.microsoft.com/office/drawing/2014/main" id="{A2E4B95D-A8FB-0401-ACC7-E34F543C8F24}"/>
              </a:ext>
            </a:extLst>
          </p:cNvPr>
          <p:cNvSpPr/>
          <p:nvPr/>
        </p:nvSpPr>
        <p:spPr>
          <a:xfrm>
            <a:off x="11412540" y="4295202"/>
            <a:ext cx="342900" cy="3429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9B114-52B5-27C7-A84C-A772F4B01CB9}"/>
              </a:ext>
            </a:extLst>
          </p:cNvPr>
          <p:cNvSpPr txBox="1"/>
          <p:nvPr/>
        </p:nvSpPr>
        <p:spPr>
          <a:xfrm>
            <a:off x="6305550" y="2705100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xmm0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2FF3FB-D02C-736F-38BB-60E44525AF48}"/>
              </a:ext>
            </a:extLst>
          </p:cNvPr>
          <p:cNvSpPr txBox="1"/>
          <p:nvPr/>
        </p:nvSpPr>
        <p:spPr>
          <a:xfrm>
            <a:off x="6305550" y="371951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xmm1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1BCD84-576A-6493-1BBE-EAC124FB676C}"/>
              </a:ext>
            </a:extLst>
          </p:cNvPr>
          <p:cNvSpPr txBox="1"/>
          <p:nvPr/>
        </p:nvSpPr>
        <p:spPr>
          <a:xfrm>
            <a:off x="6305550" y="473392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xmm0</a:t>
            </a:r>
          </a:p>
        </p:txBody>
      </p:sp>
    </p:spTree>
    <p:extLst>
      <p:ext uri="{BB962C8B-B14F-4D97-AF65-F5344CB8AC3E}">
        <p14:creationId xmlns:p14="http://schemas.microsoft.com/office/powerpoint/2010/main" val="9585139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8321-FB79-517B-4D24-37AEBB7E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SIMD </a:t>
            </a:r>
            <a:r>
              <a:rPr lang="ru-RU" dirty="0"/>
              <a:t>инструкций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10534BF-64E9-BE3A-4E4F-B0B1109E9B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Название инструкции обычно содержит информация о типе элементов</a:t>
            </a:r>
          </a:p>
          <a:p>
            <a:pPr lvl="1"/>
            <a:r>
              <a:rPr lang="en-US" dirty="0"/>
              <a:t>b – byte</a:t>
            </a:r>
            <a:r>
              <a:rPr lang="ru-RU" dirty="0"/>
              <a:t> (8 бит)</a:t>
            </a:r>
            <a:endParaRPr lang="en-US" dirty="0"/>
          </a:p>
          <a:p>
            <a:pPr lvl="1"/>
            <a:r>
              <a:rPr lang="en-US" dirty="0"/>
              <a:t>w – word</a:t>
            </a:r>
            <a:r>
              <a:rPr lang="ru-RU" dirty="0"/>
              <a:t> (16 бит)</a:t>
            </a:r>
            <a:endParaRPr lang="en-US" dirty="0"/>
          </a:p>
          <a:p>
            <a:pPr lvl="1"/>
            <a:r>
              <a:rPr lang="en-US" dirty="0"/>
              <a:t>d – double word</a:t>
            </a:r>
            <a:r>
              <a:rPr lang="ru-RU" dirty="0"/>
              <a:t> (32 бита)</a:t>
            </a:r>
            <a:endParaRPr lang="en-US" dirty="0"/>
          </a:p>
          <a:p>
            <a:pPr lvl="1"/>
            <a:r>
              <a:rPr lang="en-US" dirty="0"/>
              <a:t>q – quad word (64 </a:t>
            </a:r>
            <a:r>
              <a:rPr lang="ru-RU" dirty="0"/>
              <a:t>бита)</a:t>
            </a:r>
            <a:endParaRPr lang="en-US" dirty="0"/>
          </a:p>
          <a:p>
            <a:pPr lvl="1"/>
            <a:r>
              <a:rPr lang="en-US" dirty="0" err="1"/>
              <a:t>ps</a:t>
            </a:r>
            <a:r>
              <a:rPr lang="en-US" dirty="0"/>
              <a:t> – packet float</a:t>
            </a:r>
          </a:p>
          <a:p>
            <a:pPr lvl="1"/>
            <a:r>
              <a:rPr lang="en-US" dirty="0"/>
              <a:t>pd – packet double</a:t>
            </a:r>
            <a:endParaRPr lang="ru-RU" dirty="0"/>
          </a:p>
          <a:p>
            <a:endParaRPr lang="en-US" dirty="0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8434F48-F3EC-9043-BF99-E261F7E6B0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3995886"/>
              </p:ext>
            </p:extLst>
          </p:nvPr>
        </p:nvGraphicFramePr>
        <p:xfrm>
          <a:off x="6172200" y="1825625"/>
          <a:ext cx="5181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74961394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310868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Инструкция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69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addps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сложение </a:t>
                      </a:r>
                      <a:r>
                        <a:rPr lang="en-US" dirty="0"/>
                        <a:t>float ×4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97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addpd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сложение </a:t>
                      </a:r>
                      <a:r>
                        <a:rPr lang="en-US" dirty="0"/>
                        <a:t>double ×2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660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paddb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сложение </a:t>
                      </a:r>
                      <a:r>
                        <a:rPr lang="en-US" dirty="0"/>
                        <a:t>int8 ×16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8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paddw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сложение </a:t>
                      </a:r>
                      <a:r>
                        <a:rPr lang="en-US" dirty="0"/>
                        <a:t>int16 ×8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22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mulps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умножение </a:t>
                      </a:r>
                      <a:r>
                        <a:rPr lang="en-US" dirty="0"/>
                        <a:t>float ×4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85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movups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загрузка/сохранение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57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paddq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сложение </a:t>
                      </a:r>
                      <a:r>
                        <a:rPr lang="en-US" dirty="0"/>
                        <a:t>int64 ×2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860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933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09DA-4008-79BB-08EE-C4FA8168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Packed </a:t>
            </a:r>
            <a:r>
              <a:rPr lang="ru-RU" dirty="0"/>
              <a:t>и </a:t>
            </a:r>
            <a:r>
              <a:rPr lang="en-US" dirty="0"/>
              <a:t>Scalar </a:t>
            </a:r>
            <a:r>
              <a:rPr lang="ru-RU" dirty="0"/>
              <a:t>инструкции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FA8D20-C5B6-1928-5941-AAC94EE28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Scalar:</a:t>
            </a:r>
          </a:p>
          <a:p>
            <a:pPr lvl="1"/>
            <a:r>
              <a:rPr lang="en-US" dirty="0" err="1"/>
              <a:t>add</a:t>
            </a:r>
            <a:r>
              <a:rPr lang="en-US" b="1" dirty="0" err="1"/>
              <a:t>ss</a:t>
            </a:r>
            <a:r>
              <a:rPr lang="en-US" dirty="0"/>
              <a:t> xmm0, xmm1</a:t>
            </a:r>
          </a:p>
          <a:p>
            <a:pPr lvl="1"/>
            <a:r>
              <a:rPr lang="ru-RU" dirty="0"/>
              <a:t>только 1 </a:t>
            </a:r>
            <a:r>
              <a:rPr lang="en-US" dirty="0"/>
              <a:t>float</a:t>
            </a:r>
          </a:p>
          <a:p>
            <a:r>
              <a:rPr lang="en-US" dirty="0"/>
              <a:t>Packed:</a:t>
            </a:r>
          </a:p>
          <a:p>
            <a:pPr lvl="1"/>
            <a:r>
              <a:rPr lang="en-US" dirty="0" err="1"/>
              <a:t>add</a:t>
            </a:r>
            <a:r>
              <a:rPr lang="en-US" b="1" dirty="0" err="1"/>
              <a:t>ps</a:t>
            </a:r>
            <a:r>
              <a:rPr lang="en-US" dirty="0"/>
              <a:t> xmm0, xmm1</a:t>
            </a:r>
          </a:p>
          <a:p>
            <a:pPr lvl="1"/>
            <a:r>
              <a:rPr lang="en-US" dirty="0"/>
              <a:t>4 float </a:t>
            </a:r>
            <a:r>
              <a:rPr lang="ru-RU" dirty="0"/>
              <a:t>одновременно</a:t>
            </a:r>
          </a:p>
          <a:p>
            <a:r>
              <a:rPr lang="ru-RU" dirty="0"/>
              <a:t>Суффиксы:</a:t>
            </a:r>
          </a:p>
          <a:p>
            <a:pPr lvl="1"/>
            <a:r>
              <a:rPr lang="en-US" dirty="0"/>
              <a:t>ss — scalar single </a:t>
            </a:r>
          </a:p>
          <a:p>
            <a:pPr lvl="1"/>
            <a:r>
              <a:rPr lang="en-US" dirty="0" err="1"/>
              <a:t>sd</a:t>
            </a:r>
            <a:r>
              <a:rPr lang="en-US" dirty="0"/>
              <a:t> — scalar double </a:t>
            </a:r>
          </a:p>
          <a:p>
            <a:pPr lvl="1"/>
            <a:r>
              <a:rPr lang="en-US" dirty="0" err="1"/>
              <a:t>ps</a:t>
            </a:r>
            <a:r>
              <a:rPr lang="en-US" dirty="0"/>
              <a:t> — packed single </a:t>
            </a:r>
          </a:p>
          <a:p>
            <a:pPr lvl="1"/>
            <a:r>
              <a:rPr lang="en-US" dirty="0"/>
              <a:t>pd — packed double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798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AC070E6-150C-84C8-F810-BB9C7656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Сложение массивов с использованием </a:t>
            </a:r>
            <a:r>
              <a:rPr lang="en-US" dirty="0"/>
              <a:t>SIMD-</a:t>
            </a:r>
            <a:r>
              <a:rPr lang="ru-RU" dirty="0"/>
              <a:t>инструкций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66093-0696-5BD3-28CC-B0770AE1FB84}"/>
              </a:ext>
            </a:extLst>
          </p:cNvPr>
          <p:cNvSpPr txBox="1"/>
          <p:nvPr/>
        </p:nvSpPr>
        <p:spPr>
          <a:xfrm>
            <a:off x="35859" y="1764298"/>
            <a:ext cx="33763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AddArrays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":</a:t>
            </a:r>
            <a:endParaRPr lang="ru-RU" sz="1300" b="0" dirty="0">
              <a:solidFill>
                <a:srgbClr val="0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rdi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= a,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rsi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= b,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rdx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= c,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rcx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B05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n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.L9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.L9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.L9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.L10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C2F88-437E-D619-BFD3-C645949CE447}"/>
              </a:ext>
            </a:extLst>
          </p:cNvPr>
          <p:cNvSpPr txBox="1"/>
          <p:nvPr/>
        </p:nvSpPr>
        <p:spPr>
          <a:xfrm>
            <a:off x="3280709" y="1764298"/>
            <a:ext cx="4237691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.L5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movdqu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movdqu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paddd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xmm2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movups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.L5</a:t>
            </a:r>
            <a:endParaRPr lang="ru-RU" sz="1300" b="0" dirty="0">
              <a:solidFill>
                <a:srgbClr val="0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; </a:t>
            </a:r>
            <a:r>
              <a:rPr lang="ru-RU" sz="1200" dirty="0">
                <a:solidFill>
                  <a:srgbClr val="00B050"/>
                </a:solidFill>
                <a:latin typeface="Consolas" panose="020B0609020204030204" pitchFamily="49" charset="0"/>
              </a:rPr>
              <a:t>выходим, если конец</a:t>
            </a:r>
            <a:endParaRPr lang="en-US" sz="1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.L6</a:t>
            </a:r>
            <a:r>
              <a:rPr lang="ru-RU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; </a:t>
            </a:r>
            <a:r>
              <a:rPr lang="ru-RU" sz="1400" dirty="0">
                <a:solidFill>
                  <a:srgbClr val="00B050"/>
                </a:solidFill>
                <a:latin typeface="Consolas" panose="020B0609020204030204" pitchFamily="49" charset="0"/>
              </a:rPr>
              <a:t>остался всего 1 эл.</a:t>
            </a:r>
            <a:endParaRPr lang="en-US" sz="1300" b="0" dirty="0">
              <a:solidFill>
                <a:srgbClr val="0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.L4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movq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xmm0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</a:rPr>
              <a:t>QWORD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rdi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rax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movq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xmm1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</a:rPr>
              <a:t>QWORD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r8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rax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mov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rcx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rdx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rcx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-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edx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paddd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xmm0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xmm1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movq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</a:rPr>
              <a:t>QWORD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r9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rax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300" dirty="0">
                <a:solidFill>
                  <a:srgbClr val="4864AA"/>
                </a:solidFill>
                <a:latin typeface="Consolas" panose="020B0609020204030204" pitchFamily="49" charset="0"/>
              </a:rPr>
              <a:t>xmm0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je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  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.L1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; </a:t>
            </a:r>
            <a:r>
              <a:rPr lang="ru-RU" sz="1400" dirty="0">
                <a:solidFill>
                  <a:srgbClr val="00B050"/>
                </a:solidFill>
                <a:latin typeface="Consolas" panose="020B0609020204030204" pitchFamily="49" charset="0"/>
              </a:rPr>
              <a:t>выходим, если конец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    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rax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4864AA"/>
                </a:solidFill>
                <a:latin typeface="Consolas" panose="020B0609020204030204" pitchFamily="49" charset="0"/>
              </a:rPr>
              <a:t>rcx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5D3A5-FC05-F38D-C156-8FE7A5F9F98D}"/>
              </a:ext>
            </a:extLst>
          </p:cNvPr>
          <p:cNvSpPr txBox="1"/>
          <p:nvPr/>
        </p:nvSpPr>
        <p:spPr>
          <a:xfrm>
            <a:off x="7789209" y="1764298"/>
            <a:ext cx="443865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.L6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.L9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.L7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3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.L7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3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.L4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1BDA7-94B2-3C3C-09B7-F201FA566928}"/>
              </a:ext>
            </a:extLst>
          </p:cNvPr>
          <p:cNvSpPr/>
          <p:nvPr/>
        </p:nvSpPr>
        <p:spPr>
          <a:xfrm>
            <a:off x="3962400" y="1955800"/>
            <a:ext cx="3429000" cy="147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5D18AE-A642-293D-3A49-7991758CC0BA}"/>
              </a:ext>
            </a:extLst>
          </p:cNvPr>
          <p:cNvSpPr/>
          <p:nvPr/>
        </p:nvSpPr>
        <p:spPr>
          <a:xfrm>
            <a:off x="8440058" y="3323771"/>
            <a:ext cx="3429000" cy="1364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1513D-28B2-9AA5-EEEB-D3BB94718BF7}"/>
              </a:ext>
            </a:extLst>
          </p:cNvPr>
          <p:cNvSpPr txBox="1"/>
          <p:nvPr/>
        </p:nvSpPr>
        <p:spPr>
          <a:xfrm>
            <a:off x="8055427" y="5878255"/>
            <a:ext cx="366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https://godbolt.org/z/KWe4Pvoo5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589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446A-7D10-9E02-6403-67FAE416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Aligned </a:t>
            </a:r>
            <a:r>
              <a:rPr lang="ru-RU" dirty="0"/>
              <a:t>и </a:t>
            </a:r>
            <a:r>
              <a:rPr lang="en-US" dirty="0"/>
              <a:t>unaligned SIMD-</a:t>
            </a:r>
            <a:r>
              <a:rPr lang="ru-RU" dirty="0"/>
              <a:t>команды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AA5E0-0FEF-9C21-8909-2508E98DB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SIMD-</a:t>
            </a:r>
            <a:r>
              <a:rPr lang="ru-RU" dirty="0"/>
              <a:t>регистры работают с широкими данными:</a:t>
            </a:r>
          </a:p>
          <a:p>
            <a:pPr lvl="1"/>
            <a:r>
              <a:rPr lang="en-US" dirty="0"/>
              <a:t>XMM: 16 </a:t>
            </a:r>
            <a:r>
              <a:rPr lang="ru-RU" dirty="0"/>
              <a:t>байт </a:t>
            </a:r>
          </a:p>
          <a:p>
            <a:pPr lvl="1"/>
            <a:r>
              <a:rPr lang="en-US" dirty="0"/>
              <a:t>YMM: 32 </a:t>
            </a:r>
            <a:r>
              <a:rPr lang="ru-RU" dirty="0"/>
              <a:t>байта </a:t>
            </a:r>
          </a:p>
          <a:p>
            <a:pPr lvl="1"/>
            <a:r>
              <a:rPr lang="en-US" dirty="0"/>
              <a:t>ZMM: 64 </a:t>
            </a:r>
            <a:r>
              <a:rPr lang="ru-RU" dirty="0"/>
              <a:t>байта </a:t>
            </a:r>
          </a:p>
          <a:p>
            <a:r>
              <a:rPr lang="ru-RU" dirty="0"/>
              <a:t>Проблема: данные в памяти могут быть не выровнены </a:t>
            </a:r>
          </a:p>
          <a:p>
            <a:r>
              <a:rPr lang="en-US" dirty="0"/>
              <a:t>Aligned-</a:t>
            </a:r>
            <a:r>
              <a:rPr lang="ru-RU" dirty="0"/>
              <a:t>команды адрес, кратный 16 байтам:</a:t>
            </a:r>
          </a:p>
          <a:p>
            <a:pPr lvl="1"/>
            <a:r>
              <a:rPr lang="en-US" dirty="0" err="1"/>
              <a:t>movdqa</a:t>
            </a:r>
            <a:r>
              <a:rPr lang="en-US" dirty="0"/>
              <a:t> xmm0, [mem]</a:t>
            </a:r>
            <a:endParaRPr lang="ru-RU" dirty="0"/>
          </a:p>
          <a:p>
            <a:pPr lvl="1"/>
            <a:r>
              <a:rPr lang="ru-RU" dirty="0"/>
              <a:t>0x1010 — выровнен</a:t>
            </a:r>
            <a:br>
              <a:rPr lang="ru-RU" dirty="0"/>
            </a:br>
            <a:r>
              <a:rPr lang="ru-RU" dirty="0"/>
              <a:t>0x1018 — не выровнен</a:t>
            </a:r>
            <a:endParaRPr lang="en-US" dirty="0"/>
          </a:p>
          <a:p>
            <a:pPr lvl="1"/>
            <a:r>
              <a:rPr lang="ru-RU" dirty="0"/>
              <a:t>Для более широких регистров команды требуют выравнивания на 32 и 64 байта</a:t>
            </a:r>
          </a:p>
          <a:p>
            <a:pPr lvl="2"/>
            <a:r>
              <a:rPr lang="ru-RU" dirty="0" err="1">
                <a:latin typeface="Consolas" panose="020B0609020204030204" pitchFamily="49" charset="0"/>
              </a:rPr>
              <a:t>vmovdqa</a:t>
            </a:r>
            <a:r>
              <a:rPr lang="ru-RU" dirty="0">
                <a:latin typeface="Consolas" panose="020B0609020204030204" pitchFamily="49" charset="0"/>
              </a:rPr>
              <a:t> ymm0, [</a:t>
            </a:r>
            <a:r>
              <a:rPr lang="ru-RU" dirty="0" err="1">
                <a:latin typeface="Consolas" panose="020B0609020204030204" pitchFamily="49" charset="0"/>
              </a:rPr>
              <a:t>mem</a:t>
            </a:r>
            <a:r>
              <a:rPr lang="ru-RU" dirty="0">
                <a:latin typeface="Consolas" panose="020B0609020204030204" pitchFamily="49" charset="0"/>
              </a:rPr>
              <a:t>] ; требует 32-байтного выравнивания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vmovdqa64 zmm0, [</a:t>
            </a:r>
            <a:r>
              <a:rPr lang="ru-RU" dirty="0" err="1">
                <a:latin typeface="Consolas" panose="020B0609020204030204" pitchFamily="49" charset="0"/>
              </a:rPr>
              <a:t>mem</a:t>
            </a:r>
            <a:r>
              <a:rPr lang="ru-RU" dirty="0">
                <a:latin typeface="Consolas" panose="020B0609020204030204" pitchFamily="49" charset="0"/>
              </a:rPr>
              <a:t>] ; требует 64-байтного выравнивания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Unaligned-</a:t>
            </a:r>
            <a:r>
              <a:rPr lang="ru-RU" dirty="0"/>
              <a:t>команды работают с любыми адресами</a:t>
            </a:r>
          </a:p>
          <a:p>
            <a:pPr lvl="1"/>
            <a:r>
              <a:rPr lang="en-US" dirty="0" err="1"/>
              <a:t>movdqu</a:t>
            </a:r>
            <a:r>
              <a:rPr lang="en-US" dirty="0"/>
              <a:t> xmm0, [mem]</a:t>
            </a:r>
          </a:p>
          <a:p>
            <a:r>
              <a:rPr lang="ru-RU" dirty="0"/>
              <a:t>В </a:t>
            </a:r>
            <a:r>
              <a:rPr lang="en-US" dirty="0"/>
              <a:t>System V ABI</a:t>
            </a:r>
            <a:r>
              <a:rPr lang="ru-RU" dirty="0"/>
              <a:t> стек перед вызовом функции должен быть выровнен по 16 байтам </a:t>
            </a:r>
          </a:p>
        </p:txBody>
      </p:sp>
    </p:spTree>
    <p:extLst>
      <p:ext uri="{BB962C8B-B14F-4D97-AF65-F5344CB8AC3E}">
        <p14:creationId xmlns:p14="http://schemas.microsoft.com/office/powerpoint/2010/main" val="4072587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B72C-0BD2-E66F-1DF4-195FE4DF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AVX: расширение SIMD в x86-64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96E50-C65C-321C-293B-C009F61AE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AVX — Advanced Vector Extensions</a:t>
            </a:r>
          </a:p>
          <a:p>
            <a:pPr lvl="1"/>
            <a:r>
              <a:rPr lang="ru-RU" dirty="0"/>
              <a:t>Расширение </a:t>
            </a:r>
            <a:r>
              <a:rPr lang="en-US" dirty="0"/>
              <a:t>SIMD </a:t>
            </a:r>
            <a:r>
              <a:rPr lang="ru-RU" dirty="0"/>
              <a:t>после </a:t>
            </a:r>
            <a:r>
              <a:rPr lang="en-US" dirty="0"/>
              <a:t>SSE</a:t>
            </a:r>
          </a:p>
          <a:p>
            <a:r>
              <a:rPr lang="ru-RU" dirty="0"/>
              <a:t>Новые регистры</a:t>
            </a:r>
            <a:r>
              <a:rPr lang="en-US" dirty="0"/>
              <a:t> YMM0–YMM15  </a:t>
            </a:r>
            <a:r>
              <a:rPr lang="ru-RU" dirty="0"/>
              <a:t>размером 256 бит = 32 байта</a:t>
            </a:r>
          </a:p>
          <a:p>
            <a:pPr lvl="1"/>
            <a:r>
              <a:rPr lang="en-US" dirty="0"/>
              <a:t>8 × int32</a:t>
            </a:r>
            <a:r>
              <a:rPr lang="ru-RU" dirty="0"/>
              <a:t>, </a:t>
            </a:r>
            <a:r>
              <a:rPr lang="en-US" dirty="0"/>
              <a:t>4 × int64</a:t>
            </a:r>
            <a:r>
              <a:rPr lang="ru-RU" dirty="0"/>
              <a:t>, </a:t>
            </a:r>
            <a:r>
              <a:rPr lang="en-US" dirty="0"/>
              <a:t>8 × float</a:t>
            </a:r>
            <a:r>
              <a:rPr lang="ru-RU" dirty="0"/>
              <a:t>, </a:t>
            </a:r>
            <a:r>
              <a:rPr lang="en-US" dirty="0"/>
              <a:t>4 × double</a:t>
            </a:r>
            <a:endParaRPr lang="ru-RU" dirty="0"/>
          </a:p>
          <a:p>
            <a:r>
              <a:rPr lang="ru-RU" dirty="0"/>
              <a:t>AVX использует VEX-кодирование:</a:t>
            </a:r>
          </a:p>
          <a:p>
            <a:pPr lvl="1"/>
            <a:r>
              <a:rPr lang="ru-RU" dirty="0"/>
              <a:t>новые инструкции начинаются с v </a:t>
            </a:r>
          </a:p>
          <a:p>
            <a:pPr lvl="1"/>
            <a:r>
              <a:rPr lang="ru-RU" dirty="0"/>
              <a:t>поддерживаются 3 операнда</a:t>
            </a:r>
          </a:p>
          <a:p>
            <a:pPr lvl="2"/>
            <a:r>
              <a:rPr lang="en-US" dirty="0" err="1"/>
              <a:t>addps</a:t>
            </a:r>
            <a:r>
              <a:rPr lang="en-US" dirty="0"/>
              <a:t> xmm0, xmm1; xmm0 = xmm0 + xmm1</a:t>
            </a:r>
            <a:endParaRPr lang="ru-RU" dirty="0"/>
          </a:p>
          <a:p>
            <a:pPr lvl="2"/>
            <a:r>
              <a:rPr lang="en-US" dirty="0" err="1"/>
              <a:t>vaddps</a:t>
            </a:r>
            <a:r>
              <a:rPr lang="en-US" dirty="0"/>
              <a:t> ymm0, ymm1, ymm2; ymm0 = ymm1 + ymm2</a:t>
            </a:r>
            <a:endParaRPr lang="ru-RU" dirty="0"/>
          </a:p>
          <a:p>
            <a:r>
              <a:rPr lang="ru-RU" dirty="0"/>
              <a:t>Преимущества AVX:</a:t>
            </a:r>
          </a:p>
          <a:p>
            <a:pPr lvl="1"/>
            <a:r>
              <a:rPr lang="ru-RU" dirty="0"/>
              <a:t>больше данных за инструкцию </a:t>
            </a:r>
          </a:p>
          <a:p>
            <a:pPr lvl="1"/>
            <a:r>
              <a:rPr lang="ru-RU" dirty="0"/>
              <a:t>меньше копирований </a:t>
            </a:r>
          </a:p>
          <a:p>
            <a:pPr lvl="1"/>
            <a:r>
              <a:rPr lang="ru-RU" dirty="0"/>
              <a:t>выше производительность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3943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062B-91E2-339F-940A-0E4057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Перекрытие XMM, YMM и ZMM-регистров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380F-B5B3-A699-89DE-98B748416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9686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SIMD-регистры расширялись постепенно:</a:t>
            </a:r>
          </a:p>
          <a:p>
            <a:pPr lvl="1"/>
            <a:r>
              <a:rPr lang="ru-RU" dirty="0"/>
              <a:t>SSE → XMM (128 бит) </a:t>
            </a:r>
          </a:p>
          <a:p>
            <a:pPr lvl="1"/>
            <a:r>
              <a:rPr lang="ru-RU" dirty="0"/>
              <a:t>AVX → YMM (256 бит) </a:t>
            </a:r>
          </a:p>
          <a:p>
            <a:pPr lvl="1"/>
            <a:r>
              <a:rPr lang="ru-RU" dirty="0"/>
              <a:t>AVX-512 → ZMM (512 бит) </a:t>
            </a:r>
          </a:p>
          <a:p>
            <a:r>
              <a:rPr lang="ru-RU" dirty="0"/>
              <a:t>Регистры перекрываются:</a:t>
            </a:r>
            <a:endParaRPr lang="en-US" dirty="0"/>
          </a:p>
          <a:p>
            <a:pPr lvl="1"/>
            <a:r>
              <a:rPr lang="en-US" dirty="0"/>
              <a:t>XMM0</a:t>
            </a:r>
            <a:r>
              <a:rPr lang="ru-RU" dirty="0"/>
              <a:t> – младшая часть </a:t>
            </a:r>
            <a:r>
              <a:rPr lang="en-US" dirty="0"/>
              <a:t>YMM0</a:t>
            </a:r>
          </a:p>
          <a:p>
            <a:pPr lvl="1"/>
            <a:r>
              <a:rPr lang="en-US" dirty="0"/>
              <a:t>YMM0 – </a:t>
            </a:r>
            <a:r>
              <a:rPr lang="ru-RU" dirty="0"/>
              <a:t>младшая часть </a:t>
            </a:r>
            <a:r>
              <a:rPr lang="en-US" dirty="0"/>
              <a:t>ZMM0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en-US" dirty="0" err="1"/>
              <a:t>vmovdqu</a:t>
            </a:r>
            <a:r>
              <a:rPr lang="en-US" dirty="0"/>
              <a:t> ymm0, [mem]</a:t>
            </a:r>
          </a:p>
          <a:p>
            <a:pPr lvl="2"/>
            <a:r>
              <a:rPr lang="ru-RU" dirty="0"/>
              <a:t>Модифицирует </a:t>
            </a:r>
            <a:r>
              <a:rPr lang="en-US" dirty="0"/>
              <a:t>ymm0</a:t>
            </a:r>
            <a:r>
              <a:rPr lang="ru-RU" dirty="0"/>
              <a:t> и </a:t>
            </a:r>
            <a:r>
              <a:rPr lang="en-US" dirty="0"/>
              <a:t>xmm0</a:t>
            </a:r>
          </a:p>
          <a:p>
            <a:pPr lvl="1"/>
            <a:r>
              <a:rPr lang="en-US" dirty="0" err="1"/>
              <a:t>vmovdqu</a:t>
            </a:r>
            <a:r>
              <a:rPr lang="en-US" dirty="0"/>
              <a:t> xmm0, [mem]</a:t>
            </a:r>
          </a:p>
          <a:p>
            <a:pPr lvl="2"/>
            <a:r>
              <a:rPr lang="ru-RU" dirty="0" err="1"/>
              <a:t>Зануляет</a:t>
            </a:r>
            <a:r>
              <a:rPr lang="ru-RU" dirty="0"/>
              <a:t> верхнюю половину </a:t>
            </a:r>
            <a:r>
              <a:rPr lang="en-US" dirty="0"/>
              <a:t>YMM0</a:t>
            </a:r>
          </a:p>
          <a:p>
            <a:r>
              <a:rPr lang="ru-RU" dirty="0"/>
              <a:t>Инструкция </a:t>
            </a:r>
            <a:r>
              <a:rPr lang="en-US" dirty="0" err="1"/>
              <a:t>vzeroupper</a:t>
            </a:r>
            <a:r>
              <a:rPr lang="en-US" dirty="0"/>
              <a:t> </a:t>
            </a:r>
            <a:r>
              <a:rPr lang="ru-RU" dirty="0"/>
              <a:t>очищает верхние части </a:t>
            </a:r>
            <a:r>
              <a:rPr lang="en-US" dirty="0"/>
              <a:t>YMM </a:t>
            </a:r>
            <a:r>
              <a:rPr lang="ru-RU" dirty="0"/>
              <a:t>и </a:t>
            </a:r>
            <a:r>
              <a:rPr lang="en-US" dirty="0"/>
              <a:t>ZMM </a:t>
            </a:r>
            <a:r>
              <a:rPr lang="ru-RU" dirty="0"/>
              <a:t>регистров</a:t>
            </a:r>
          </a:p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061DDF-8839-E353-6BA1-0DCB98E87ACA}"/>
              </a:ext>
            </a:extLst>
          </p:cNvPr>
          <p:cNvGrpSpPr/>
          <p:nvPr/>
        </p:nvGrpSpPr>
        <p:grpSpPr>
          <a:xfrm>
            <a:off x="7605485" y="1902542"/>
            <a:ext cx="4381263" cy="1537830"/>
            <a:chOff x="6684399" y="1902542"/>
            <a:chExt cx="5302350" cy="15378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023360-A7C3-F5CF-3963-70CDCCC2D4F3}"/>
                </a:ext>
              </a:extLst>
            </p:cNvPr>
            <p:cNvSpPr/>
            <p:nvPr/>
          </p:nvSpPr>
          <p:spPr>
            <a:xfrm>
              <a:off x="6799006" y="1902542"/>
              <a:ext cx="5176684" cy="117987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zmm0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BD3E87-F32F-8CEF-5312-6FF2753BFF34}"/>
                </a:ext>
              </a:extLst>
            </p:cNvPr>
            <p:cNvSpPr/>
            <p:nvPr/>
          </p:nvSpPr>
          <p:spPr>
            <a:xfrm>
              <a:off x="9379974" y="2123768"/>
              <a:ext cx="2595716" cy="95864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YMM0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457EEEE-2BE9-E42A-95D6-3D3BBEA2D080}"/>
                </a:ext>
              </a:extLst>
            </p:cNvPr>
            <p:cNvSpPr/>
            <p:nvPr/>
          </p:nvSpPr>
          <p:spPr>
            <a:xfrm>
              <a:off x="10674350" y="2333625"/>
              <a:ext cx="1308713" cy="748788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XMM0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FD0449-75EE-A5BE-D7AC-CD435B519667}"/>
                </a:ext>
              </a:extLst>
            </p:cNvPr>
            <p:cNvSpPr txBox="1"/>
            <p:nvPr/>
          </p:nvSpPr>
          <p:spPr>
            <a:xfrm>
              <a:off x="6684399" y="3071040"/>
              <a:ext cx="7059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D52D13-5BBA-4793-B1FA-F32670A87C6E}"/>
                </a:ext>
              </a:extLst>
            </p:cNvPr>
            <p:cNvSpPr txBox="1"/>
            <p:nvPr/>
          </p:nvSpPr>
          <p:spPr>
            <a:xfrm>
              <a:off x="11757536" y="3071040"/>
              <a:ext cx="2292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42C6FE-2EA2-D8EF-11A6-036367EE5889}"/>
                </a:ext>
              </a:extLst>
            </p:cNvPr>
            <p:cNvSpPr txBox="1"/>
            <p:nvPr/>
          </p:nvSpPr>
          <p:spPr>
            <a:xfrm>
              <a:off x="10637070" y="3071040"/>
              <a:ext cx="766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127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BDC982-9573-AD00-2DE3-75B234357EA1}"/>
                </a:ext>
              </a:extLst>
            </p:cNvPr>
            <p:cNvSpPr txBox="1"/>
            <p:nvPr/>
          </p:nvSpPr>
          <p:spPr>
            <a:xfrm>
              <a:off x="9379974" y="3071040"/>
              <a:ext cx="729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80035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A5000E-5E66-322C-816F-44555E3F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34226" cy="1325563"/>
          </a:xfrm>
        </p:spPr>
        <p:txBody>
          <a:bodyPr/>
          <a:lstStyle/>
          <a:p>
            <a:r>
              <a:rPr lang="en-US" dirty="0" err="1"/>
              <a:t>SumArrays</a:t>
            </a:r>
            <a:r>
              <a:rPr lang="ru-RU" dirty="0"/>
              <a:t> на </a:t>
            </a:r>
            <a:r>
              <a:rPr lang="en-US" dirty="0"/>
              <a:t>AVX2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5DD13-C078-D865-5052-21176C70243C}"/>
              </a:ext>
            </a:extLst>
          </p:cNvPr>
          <p:cNvSpPr txBox="1"/>
          <p:nvPr/>
        </p:nvSpPr>
        <p:spPr>
          <a:xfrm>
            <a:off x="-1" y="1690688"/>
            <a:ext cx="27432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AddArrays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":</a:t>
            </a:r>
          </a:p>
          <a:p>
            <a:pPr>
              <a:buNone/>
            </a:pP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rdi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= a,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rsi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= b</a:t>
            </a:r>
          </a:p>
          <a:p>
            <a:pPr>
              <a:buNone/>
            </a:pP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rdx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= c,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rcx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B05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 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.L9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.L9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.L9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8B556-154F-FD0C-4806-08235574E9AC}"/>
              </a:ext>
            </a:extLst>
          </p:cNvPr>
          <p:cNvSpPr txBox="1"/>
          <p:nvPr/>
        </p:nvSpPr>
        <p:spPr>
          <a:xfrm>
            <a:off x="3063989" y="1779687"/>
            <a:ext cx="46788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vmovdqu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ymm0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YMMWORD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vpaddd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ymm0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ymm0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YMMWORD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vmovdqu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YMMWORD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ymm0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.L5</a:t>
            </a:r>
            <a:endParaRPr lang="ru-RU" sz="1200" b="0" dirty="0">
              <a:solidFill>
                <a:srgbClr val="0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.L22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jbe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.L26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vzeroupper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vmovdqu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vpaddd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vmovdqu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r9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CB77F-5BF1-F22F-ED3C-17A8833EBF09}"/>
              </a:ext>
            </a:extLst>
          </p:cNvPr>
          <p:cNvSpPr txBox="1"/>
          <p:nvPr/>
        </p:nvSpPr>
        <p:spPr>
          <a:xfrm>
            <a:off x="7972426" y="0"/>
            <a:ext cx="42195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.L22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vzeroupper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.L24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.L26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vzeroupper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.L6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.L7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rcx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.L4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BE6EE-15EA-5290-8DFC-35E1DDCD7EC6}"/>
              </a:ext>
            </a:extLst>
          </p:cNvPr>
          <p:cNvSpPr txBox="1"/>
          <p:nvPr/>
        </p:nvSpPr>
        <p:spPr>
          <a:xfrm>
            <a:off x="0" y="6370975"/>
            <a:ext cx="339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https://godbolt.org/z/szdn59cdf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125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BA8B-B4A7-B314-FFBA-4E2E89B8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SSE intrinsics </a:t>
            </a:r>
            <a:r>
              <a:rPr lang="ru-RU" dirty="0"/>
              <a:t>в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DDEC-2234-E43E-CEB5-19BEED3F7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/>
              <a:t>Intrinsics</a:t>
            </a:r>
            <a:r>
              <a:rPr lang="ru-RU" dirty="0"/>
              <a:t> — специальные функции компилятора</a:t>
            </a:r>
            <a:r>
              <a:rPr lang="en-US" dirty="0"/>
              <a:t> </a:t>
            </a:r>
            <a:r>
              <a:rPr lang="ru-RU" dirty="0"/>
              <a:t>для прямого использования SIMD-инструкций из C/C++</a:t>
            </a:r>
            <a:endParaRPr lang="en-US" dirty="0"/>
          </a:p>
          <a:p>
            <a:pPr lvl="1"/>
            <a:r>
              <a:rPr lang="it-IT" dirty="0"/>
              <a:t>#include &lt;xmmintrin.h&gt;   // SSE</a:t>
            </a:r>
          </a:p>
          <a:p>
            <a:pPr lvl="1"/>
            <a:r>
              <a:rPr lang="it-IT" dirty="0"/>
              <a:t>#include &lt;emmintrin.h&gt;   // SSE2</a:t>
            </a:r>
          </a:p>
          <a:p>
            <a:r>
              <a:rPr lang="ru-RU" dirty="0"/>
              <a:t>Вводят новые типы данных</a:t>
            </a:r>
          </a:p>
          <a:p>
            <a:pPr lvl="1"/>
            <a:r>
              <a:rPr lang="en-US" dirty="0"/>
              <a:t>__m128   // 4 × float</a:t>
            </a:r>
            <a:endParaRPr lang="ru-RU" dirty="0"/>
          </a:p>
          <a:p>
            <a:pPr lvl="1"/>
            <a:r>
              <a:rPr lang="en-US" dirty="0"/>
              <a:t>__m128d  // 2 × double</a:t>
            </a:r>
            <a:endParaRPr lang="ru-RU" dirty="0"/>
          </a:p>
          <a:p>
            <a:pPr lvl="1"/>
            <a:r>
              <a:rPr lang="en-US" dirty="0"/>
              <a:t>__m128i  // </a:t>
            </a:r>
            <a:r>
              <a:rPr lang="en-US" dirty="0" err="1"/>
              <a:t>целые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: byte / short / int / long </a:t>
            </a:r>
            <a:r>
              <a:rPr lang="en-US" dirty="0" err="1"/>
              <a:t>long</a:t>
            </a:r>
            <a:endParaRPr lang="ru-RU" dirty="0"/>
          </a:p>
          <a:p>
            <a:r>
              <a:rPr lang="ru-RU" dirty="0"/>
              <a:t>Написанный код зависит от конкретной архитектуры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F6481-A85B-A9B6-B9D6-E3112166EA13}"/>
              </a:ext>
            </a:extLst>
          </p:cNvPr>
          <p:cNvSpPr txBox="1"/>
          <p:nvPr/>
        </p:nvSpPr>
        <p:spPr>
          <a:xfrm>
            <a:off x="6415314" y="1825625"/>
            <a:ext cx="57766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Add4Floats(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b,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c)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__m128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mm_loadu_ps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__m128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mm_loadu_ps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__m128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mm_add_ps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mm_storeu_ps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5F0F5-9809-2E65-89AE-0F9CEBEB3B59}"/>
              </a:ext>
            </a:extLst>
          </p:cNvPr>
          <p:cNvSpPr txBox="1"/>
          <p:nvPr/>
        </p:nvSpPr>
        <p:spPr>
          <a:xfrm>
            <a:off x="6270170" y="4294718"/>
            <a:ext cx="59218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"Add4Floats":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vmovups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vaddps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vmovups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XMMWORD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B36C7-5C9D-F00E-55FA-D6F9D4F3AF5D}"/>
              </a:ext>
            </a:extLst>
          </p:cNvPr>
          <p:cNvSpPr txBox="1"/>
          <p:nvPr/>
        </p:nvSpPr>
        <p:spPr>
          <a:xfrm>
            <a:off x="6415314" y="6123543"/>
            <a:ext cx="4736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https://godbolt.org/z/n4vTooPWz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823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22025E-6498-C2EB-45C4-01014D59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</a:t>
            </a:r>
            <a:r>
              <a:rPr lang="ru-RU" dirty="0"/>
              <a:t>на </a:t>
            </a:r>
            <a:r>
              <a:rPr lang="en-US" dirty="0"/>
              <a:t>x86-64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A05E9-AC52-ED11-F2B3-73D0C76E5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926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8DA7AE-5958-0060-DBD7-7B236A17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floating point </a:t>
            </a:r>
            <a:r>
              <a:rPr lang="en-US" dirty="0" err="1"/>
              <a:t>на</a:t>
            </a:r>
            <a:r>
              <a:rPr lang="en-US" dirty="0"/>
              <a:t> x86-64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148C51-3B4F-9D81-39AB-CA7D44C59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До </a:t>
            </a:r>
            <a:r>
              <a:rPr lang="en-US" dirty="0"/>
              <a:t>XMM</a:t>
            </a:r>
            <a:r>
              <a:rPr lang="ru-RU" dirty="0"/>
              <a:t> вычисления выполнялись через </a:t>
            </a:r>
            <a:r>
              <a:rPr lang="en-US" dirty="0"/>
              <a:t>x87 FPU</a:t>
            </a:r>
            <a:r>
              <a:rPr lang="ru-RU" dirty="0"/>
              <a:t> (очень неудобная архитектура)</a:t>
            </a:r>
          </a:p>
          <a:p>
            <a:r>
              <a:rPr lang="ru-RU" dirty="0"/>
              <a:t>В современном </a:t>
            </a:r>
            <a:r>
              <a:rPr lang="en-US" dirty="0"/>
              <a:t>x86-64 floating point </a:t>
            </a:r>
            <a:r>
              <a:rPr lang="ru-RU" dirty="0"/>
              <a:t>обычно выполняется через </a:t>
            </a:r>
            <a:r>
              <a:rPr lang="en-US" dirty="0"/>
              <a:t>XMM-</a:t>
            </a:r>
            <a:r>
              <a:rPr lang="ru-RU" dirty="0"/>
              <a:t>регистры</a:t>
            </a:r>
          </a:p>
          <a:p>
            <a:r>
              <a:rPr lang="ru-RU" dirty="0"/>
              <a:t>Примеры скалярных операций</a:t>
            </a:r>
          </a:p>
          <a:p>
            <a:pPr lvl="1"/>
            <a:r>
              <a:rPr lang="en-US" dirty="0" err="1"/>
              <a:t>addss</a:t>
            </a:r>
            <a:r>
              <a:rPr lang="en-US" dirty="0"/>
              <a:t> xmm0, xmm1 ; float</a:t>
            </a:r>
            <a:br>
              <a:rPr lang="en-US" dirty="0"/>
            </a:br>
            <a:r>
              <a:rPr lang="en-US" dirty="0" err="1"/>
              <a:t>addsd</a:t>
            </a:r>
            <a:r>
              <a:rPr lang="en-US" dirty="0"/>
              <a:t> xmm0, xmm1 ; double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mulss</a:t>
            </a:r>
            <a:r>
              <a:rPr lang="en-US" dirty="0"/>
              <a:t> xmm0, xmm1</a:t>
            </a:r>
            <a:br>
              <a:rPr lang="en-US" dirty="0"/>
            </a:br>
            <a:r>
              <a:rPr lang="en-US" dirty="0" err="1"/>
              <a:t>divsd</a:t>
            </a:r>
            <a:r>
              <a:rPr lang="en-US" dirty="0"/>
              <a:t> xmm0, xmm1</a:t>
            </a:r>
            <a:br>
              <a:rPr lang="en-US" dirty="0"/>
            </a:br>
            <a:r>
              <a:rPr lang="en-US" dirty="0" err="1"/>
              <a:t>sqrtss</a:t>
            </a:r>
            <a:r>
              <a:rPr lang="en-US" dirty="0"/>
              <a:t> xmm0, xmm1</a:t>
            </a:r>
          </a:p>
          <a:p>
            <a:r>
              <a:rPr lang="ru-RU" dirty="0"/>
              <a:t>Обозначения:</a:t>
            </a:r>
          </a:p>
          <a:p>
            <a:pPr lvl="1"/>
            <a:r>
              <a:rPr lang="en-US" dirty="0"/>
              <a:t>ss — scalar single precision</a:t>
            </a:r>
            <a:br>
              <a:rPr lang="en-US" dirty="0"/>
            </a:br>
            <a:r>
              <a:rPr lang="en-US" dirty="0" err="1"/>
              <a:t>sd</a:t>
            </a:r>
            <a:r>
              <a:rPr lang="en-US" dirty="0"/>
              <a:t> — scalar double precision</a:t>
            </a:r>
          </a:p>
          <a:p>
            <a:r>
              <a:rPr lang="ru-RU" dirty="0"/>
              <a:t>Даже </a:t>
            </a:r>
            <a:r>
              <a:rPr lang="en-US" dirty="0"/>
              <a:t>scalar floating point </a:t>
            </a:r>
            <a:r>
              <a:rPr lang="ru-RU" dirty="0"/>
              <a:t>использует </a:t>
            </a:r>
            <a:r>
              <a:rPr lang="en-US" dirty="0"/>
              <a:t>SIMD-</a:t>
            </a:r>
            <a:r>
              <a:rPr lang="ru-RU" dirty="0"/>
              <a:t>регистры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094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A04A-0FEF-A2ED-416D-02A3528A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 floating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A815-19C8-1B67-2EA8-077EC1E20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SIMD floating point:</a:t>
            </a:r>
            <a:r>
              <a:rPr lang="ru-RU" dirty="0"/>
              <a:t> одна инструкция обрабатывает несколько чисел </a:t>
            </a:r>
          </a:p>
          <a:p>
            <a:r>
              <a:rPr lang="en-US" dirty="0"/>
              <a:t>SSE: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addps</a:t>
            </a:r>
            <a:r>
              <a:rPr lang="en-US" dirty="0">
                <a:latin typeface="Consolas" panose="020B0609020204030204" pitchFamily="49" charset="0"/>
              </a:rPr>
              <a:t> xmm0, xmm1 ; 4 × float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addpd</a:t>
            </a:r>
            <a:r>
              <a:rPr lang="en-US" dirty="0">
                <a:latin typeface="Consolas" panose="020B0609020204030204" pitchFamily="49" charset="0"/>
              </a:rPr>
              <a:t> xmm0, xmm1 ; 2 × double</a:t>
            </a:r>
          </a:p>
          <a:p>
            <a:r>
              <a:rPr lang="en-US" dirty="0"/>
              <a:t>AVX: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vaddps</a:t>
            </a:r>
            <a:r>
              <a:rPr lang="en-US" dirty="0">
                <a:latin typeface="Consolas" panose="020B0609020204030204" pitchFamily="49" charset="0"/>
              </a:rPr>
              <a:t> ymm0, ymm1, ymm2 ; 8 × float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vaddpd</a:t>
            </a:r>
            <a:r>
              <a:rPr lang="en-US" dirty="0">
                <a:latin typeface="Consolas" panose="020B0609020204030204" pitchFamily="49" charset="0"/>
              </a:rPr>
              <a:t> ymm0, ymm1, ymm2 ; 4 × double</a:t>
            </a:r>
          </a:p>
          <a:p>
            <a:r>
              <a:rPr lang="ru-RU" dirty="0"/>
              <a:t>Обозначения: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ps</a:t>
            </a:r>
            <a:r>
              <a:rPr lang="en-US" dirty="0">
                <a:latin typeface="Consolas" panose="020B0609020204030204" pitchFamily="49" charset="0"/>
              </a:rPr>
              <a:t> — packed single precision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pd — packed double precision</a:t>
            </a:r>
          </a:p>
          <a:p>
            <a:r>
              <a:rPr lang="en-US" dirty="0"/>
              <a:t>Scalar vs SIMD:</a:t>
            </a:r>
          </a:p>
          <a:p>
            <a:pPr lvl="1"/>
            <a:r>
              <a:rPr lang="en-US" dirty="0" err="1"/>
              <a:t>addss</a:t>
            </a:r>
            <a:r>
              <a:rPr lang="en-US" dirty="0"/>
              <a:t> → 1 float</a:t>
            </a:r>
            <a:br>
              <a:rPr lang="en-US" dirty="0"/>
            </a:br>
            <a:r>
              <a:rPr lang="en-US" dirty="0" err="1"/>
              <a:t>addps</a:t>
            </a:r>
            <a:r>
              <a:rPr lang="en-US" dirty="0"/>
              <a:t> → 4 float</a:t>
            </a:r>
            <a:br>
              <a:rPr lang="en-US" dirty="0"/>
            </a:br>
            <a:r>
              <a:rPr lang="en-US" dirty="0" err="1"/>
              <a:t>vaddps</a:t>
            </a:r>
            <a:r>
              <a:rPr lang="en-US" dirty="0"/>
              <a:t> </a:t>
            </a:r>
            <a:r>
              <a:rPr lang="en-US" dirty="0" err="1"/>
              <a:t>ymm</a:t>
            </a:r>
            <a:r>
              <a:rPr lang="en-US" dirty="0"/>
              <a:t> → 8 float</a:t>
            </a:r>
          </a:p>
        </p:txBody>
      </p:sp>
    </p:spTree>
    <p:extLst>
      <p:ext uri="{BB962C8B-B14F-4D97-AF65-F5344CB8AC3E}">
        <p14:creationId xmlns:p14="http://schemas.microsoft.com/office/powerpoint/2010/main" val="20291436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96CA-CCAD-59F8-26B3-4DB2EBB9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SIMD-регистры в System V ABI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434E6-44B1-2B47-8713-1DA267F40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5074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Floating point </a:t>
            </a:r>
            <a:r>
              <a:rPr lang="ru-RU" dirty="0"/>
              <a:t>и </a:t>
            </a:r>
            <a:r>
              <a:rPr lang="en-US" dirty="0"/>
              <a:t>SIMD-</a:t>
            </a:r>
            <a:r>
              <a:rPr lang="ru-RU" dirty="0"/>
              <a:t>параметры передаются через </a:t>
            </a:r>
            <a:r>
              <a:rPr lang="en-US" dirty="0"/>
              <a:t>XMM-</a:t>
            </a:r>
            <a:r>
              <a:rPr lang="ru-RU" dirty="0"/>
              <a:t>регистры</a:t>
            </a:r>
          </a:p>
          <a:p>
            <a:r>
              <a:rPr lang="ru-RU" dirty="0"/>
              <a:t>Параметры:</a:t>
            </a:r>
          </a:p>
          <a:p>
            <a:pPr lvl="1"/>
            <a:r>
              <a:rPr lang="en-US" dirty="0"/>
              <a:t>XMM0–XMM7</a:t>
            </a:r>
          </a:p>
          <a:p>
            <a:r>
              <a:rPr lang="ru-RU" dirty="0"/>
              <a:t>Используются для:</a:t>
            </a:r>
          </a:p>
          <a:p>
            <a:pPr lvl="1"/>
            <a:r>
              <a:rPr lang="en-US" dirty="0"/>
              <a:t>float </a:t>
            </a:r>
          </a:p>
          <a:p>
            <a:pPr lvl="1"/>
            <a:r>
              <a:rPr lang="en-US" dirty="0"/>
              <a:t>double </a:t>
            </a:r>
          </a:p>
          <a:p>
            <a:pPr lvl="1"/>
            <a:r>
              <a:rPr lang="en-US" dirty="0"/>
              <a:t>SIMD-</a:t>
            </a:r>
            <a:r>
              <a:rPr lang="ru-RU" dirty="0"/>
              <a:t>типов (__</a:t>
            </a:r>
            <a:r>
              <a:rPr lang="en-US" dirty="0"/>
              <a:t>m128, __m256, …)</a:t>
            </a:r>
          </a:p>
          <a:p>
            <a:r>
              <a:rPr lang="ru-RU" dirty="0"/>
              <a:t>Возвращаемое значение:</a:t>
            </a:r>
            <a:r>
              <a:rPr lang="en-US" dirty="0"/>
              <a:t> xmm0</a:t>
            </a:r>
          </a:p>
          <a:p>
            <a:r>
              <a:rPr lang="ru-RU" dirty="0"/>
              <a:t>Функция может менять все </a:t>
            </a:r>
            <a:r>
              <a:rPr lang="en-US" dirty="0"/>
              <a:t>XMM</a:t>
            </a:r>
            <a:r>
              <a:rPr lang="ru-RU" dirty="0"/>
              <a:t> регистры</a:t>
            </a:r>
            <a:endParaRPr lang="en-US" dirty="0"/>
          </a:p>
          <a:p>
            <a:pPr lvl="1"/>
            <a:r>
              <a:rPr lang="ru-RU" dirty="0"/>
              <a:t>Вызывающая сторона должна сохранить нужные регистры</a:t>
            </a:r>
            <a:endParaRPr lang="en-US" dirty="0"/>
          </a:p>
          <a:p>
            <a:r>
              <a:rPr lang="ru-RU" dirty="0"/>
              <a:t>Это правило распространяется и на </a:t>
            </a:r>
            <a:r>
              <a:rPr lang="en-US" dirty="0"/>
              <a:t>YMM </a:t>
            </a:r>
            <a:r>
              <a:rPr lang="ru-RU" dirty="0"/>
              <a:t>и </a:t>
            </a:r>
            <a:r>
              <a:rPr lang="en-US" dirty="0"/>
              <a:t>ZMM</a:t>
            </a:r>
            <a:r>
              <a:rPr lang="ru-RU" dirty="0"/>
              <a:t> регистры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E9C2B-A5CC-E1FA-56E7-954C3EDB8EAB}"/>
              </a:ext>
            </a:extLst>
          </p:cNvPr>
          <p:cNvSpPr txBox="1"/>
          <p:nvPr/>
        </p:nvSpPr>
        <p:spPr>
          <a:xfrm>
            <a:off x="8229600" y="1825625"/>
            <a:ext cx="396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Add3Floats(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+ y + z;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B07C6-2038-86EC-29C0-928479FD1920}"/>
              </a:ext>
            </a:extLst>
          </p:cNvPr>
          <p:cNvSpPr txBox="1"/>
          <p:nvPr/>
        </p:nvSpPr>
        <p:spPr>
          <a:xfrm>
            <a:off x="8229600" y="3429000"/>
            <a:ext cx="39623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"Add3Floats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 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   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cvtsi2ss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 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xmm1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E3641-B912-BFCC-DDC6-18C0F7FC2E65}"/>
              </a:ext>
            </a:extLst>
          </p:cNvPr>
          <p:cNvSpPr txBox="1"/>
          <p:nvPr/>
        </p:nvSpPr>
        <p:spPr>
          <a:xfrm>
            <a:off x="8229600" y="5524817"/>
            <a:ext cx="3612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https://godbolt.org/z/MaqK64je9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52287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4E338C-6A9E-2119-1C17-5CEC3839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Микроархитектура </a:t>
            </a:r>
            <a:r>
              <a:rPr lang="en-US" dirty="0"/>
              <a:t>x86-64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80A25-C21E-1CF8-E5D6-8CCE26822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323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85AFFC-819B-2AFB-F73C-DFBAD956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B709E9-DABE-C9B8-768B-25F6AE774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Pipeline — </a:t>
            </a:r>
            <a:r>
              <a:rPr lang="ru-RU" dirty="0"/>
              <a:t>конвейерное выполнение инструкций</a:t>
            </a:r>
          </a:p>
          <a:p>
            <a:r>
              <a:rPr lang="ru-RU" dirty="0"/>
              <a:t>Выполнение инструкции разбивается на этапы:</a:t>
            </a:r>
          </a:p>
          <a:p>
            <a:pPr lvl="1"/>
            <a:r>
              <a:rPr lang="en-US" dirty="0"/>
              <a:t>Fetch — </a:t>
            </a:r>
            <a:r>
              <a:rPr lang="ru-RU" dirty="0"/>
              <a:t>чтение инструкции </a:t>
            </a:r>
          </a:p>
          <a:p>
            <a:pPr lvl="1"/>
            <a:r>
              <a:rPr lang="en-US" dirty="0"/>
              <a:t>Decode — </a:t>
            </a:r>
            <a:r>
              <a:rPr lang="ru-RU" dirty="0"/>
              <a:t>декодирование </a:t>
            </a:r>
          </a:p>
          <a:p>
            <a:pPr lvl="1"/>
            <a:r>
              <a:rPr lang="en-US" dirty="0"/>
              <a:t>Execute — </a:t>
            </a:r>
            <a:r>
              <a:rPr lang="ru-RU" dirty="0"/>
              <a:t>выполнение </a:t>
            </a:r>
          </a:p>
          <a:p>
            <a:pPr lvl="1"/>
            <a:r>
              <a:rPr lang="en-US" dirty="0"/>
              <a:t>Memory — </a:t>
            </a:r>
            <a:r>
              <a:rPr lang="ru-RU" dirty="0"/>
              <a:t>доступ к памяти </a:t>
            </a:r>
          </a:p>
          <a:p>
            <a:pPr lvl="1"/>
            <a:r>
              <a:rPr lang="en-US" dirty="0"/>
              <a:t>Write Back — </a:t>
            </a:r>
            <a:r>
              <a:rPr lang="ru-RU" dirty="0"/>
              <a:t>запись результата </a:t>
            </a:r>
          </a:p>
          <a:p>
            <a:r>
              <a:rPr lang="ru-RU" dirty="0"/>
              <a:t>Несколько инструкций могут одновременно находиться на разных этапах</a:t>
            </a:r>
          </a:p>
          <a:p>
            <a:pPr lvl="1"/>
            <a:r>
              <a:rPr lang="ru-RU" dirty="0"/>
              <a:t>Инструкция 1: </a:t>
            </a:r>
            <a:r>
              <a:rPr lang="en-US" dirty="0"/>
              <a:t>Fetch → Decode → Execute → Memory → </a:t>
            </a:r>
            <a:r>
              <a:rPr lang="en-US" dirty="0" err="1"/>
              <a:t>WriteBack</a:t>
            </a:r>
            <a:br>
              <a:rPr lang="en-US" dirty="0"/>
            </a:br>
            <a:r>
              <a:rPr lang="ru-RU" dirty="0"/>
              <a:t>Инструкция 2:         </a:t>
            </a:r>
            <a:r>
              <a:rPr lang="en-US" dirty="0"/>
              <a:t>Fetch → Decode → Execute → Memory → ...</a:t>
            </a:r>
            <a:br>
              <a:rPr lang="en-US" dirty="0"/>
            </a:br>
            <a:r>
              <a:rPr lang="ru-RU" dirty="0"/>
              <a:t>Инструкция 3:                  </a:t>
            </a:r>
            <a:r>
              <a:rPr lang="en-US" dirty="0"/>
              <a:t>Fetch → Decode → ...</a:t>
            </a:r>
          </a:p>
          <a:p>
            <a:r>
              <a:rPr lang="ru-RU" dirty="0"/>
              <a:t>Похоже на конвейер на производстве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5418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A8D0-E7A7-C93B-F79D-0E0EEC96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Суперскалярная</a:t>
            </a:r>
            <a:r>
              <a:rPr lang="ru-RU" dirty="0"/>
              <a:t> архитектура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06B7C-EEAF-5BE5-E6BC-435F9A435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/>
              <a:t>Суперскалярная</a:t>
            </a:r>
            <a:r>
              <a:rPr lang="ru-RU" dirty="0"/>
              <a:t> архитектура позволяет </a:t>
            </a:r>
            <a:r>
              <a:rPr lang="ru-RU" dirty="0" err="1"/>
              <a:t>выполняьт</a:t>
            </a:r>
            <a:r>
              <a:rPr lang="ru-RU" dirty="0"/>
              <a:t> нескольких инструкций за такт</a:t>
            </a:r>
          </a:p>
          <a:p>
            <a:r>
              <a:rPr lang="ru-RU" dirty="0"/>
              <a:t>Процессор содержит несколько исполнительных устройств:</a:t>
            </a:r>
          </a:p>
          <a:p>
            <a:pPr lvl="1"/>
            <a:r>
              <a:rPr lang="en-US" dirty="0"/>
              <a:t>ALU </a:t>
            </a:r>
          </a:p>
          <a:p>
            <a:pPr lvl="1"/>
            <a:r>
              <a:rPr lang="ru-RU" dirty="0"/>
              <a:t>блоки </a:t>
            </a:r>
            <a:r>
              <a:rPr lang="en-US" dirty="0"/>
              <a:t>SIMD </a:t>
            </a:r>
          </a:p>
          <a:p>
            <a:pPr lvl="1"/>
            <a:r>
              <a:rPr lang="en-US" dirty="0"/>
              <a:t>load/store units </a:t>
            </a:r>
          </a:p>
          <a:p>
            <a:pPr lvl="1"/>
            <a:r>
              <a:rPr lang="en-US" dirty="0"/>
              <a:t>floating point units </a:t>
            </a:r>
          </a:p>
          <a:p>
            <a:r>
              <a:rPr lang="ru-RU" dirty="0"/>
              <a:t>Если инструкции независимы, процессор может выполнять несколько инструкций параллельно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eax</a:t>
            </a:r>
            <a:r>
              <a:rPr lang="en-US" dirty="0"/>
              <a:t>, </a:t>
            </a:r>
            <a:r>
              <a:rPr lang="en-US" dirty="0" err="1"/>
              <a:t>ebx</a:t>
            </a:r>
            <a:br>
              <a:rPr lang="en-US" dirty="0"/>
            </a:br>
            <a:r>
              <a:rPr lang="en-US" dirty="0" err="1"/>
              <a:t>imul</a:t>
            </a:r>
            <a:r>
              <a:rPr lang="en-US" dirty="0"/>
              <a:t> </a:t>
            </a:r>
            <a:r>
              <a:rPr lang="en-US" dirty="0" err="1"/>
              <a:t>ecx</a:t>
            </a:r>
            <a:r>
              <a:rPr lang="en-US" dirty="0"/>
              <a:t>, </a:t>
            </a:r>
            <a:r>
              <a:rPr lang="en-US" dirty="0" err="1"/>
              <a:t>edx</a:t>
            </a:r>
            <a:br>
              <a:rPr lang="en-US" dirty="0"/>
            </a:br>
            <a:r>
              <a:rPr lang="en-US" dirty="0"/>
              <a:t>mov r8, [</a:t>
            </a:r>
            <a:r>
              <a:rPr lang="en-US" dirty="0" err="1"/>
              <a:t>rax</a:t>
            </a:r>
            <a:r>
              <a:rPr lang="en-US" dirty="0"/>
              <a:t>]</a:t>
            </a:r>
          </a:p>
          <a:p>
            <a:pPr lvl="1"/>
            <a:r>
              <a:rPr lang="ru-RU" dirty="0"/>
              <a:t>Возможное выполнение:</a:t>
            </a:r>
          </a:p>
          <a:p>
            <a:pPr lvl="2"/>
            <a:r>
              <a:rPr lang="en-US" dirty="0"/>
              <a:t>add → ALU #1 </a:t>
            </a:r>
          </a:p>
          <a:p>
            <a:pPr lvl="2"/>
            <a:r>
              <a:rPr lang="en-US" dirty="0" err="1"/>
              <a:t>imul</a:t>
            </a:r>
            <a:r>
              <a:rPr lang="en-US" dirty="0"/>
              <a:t> → integer multiplier </a:t>
            </a:r>
          </a:p>
          <a:p>
            <a:pPr lvl="2"/>
            <a:r>
              <a:rPr lang="en-US" dirty="0"/>
              <a:t>mov → memory unit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428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5FE9-13EF-4BAC-4944-B0E4E81B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Out-of-Order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3F7D-F292-0A25-CAB0-4B1D581D2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Out-</a:t>
            </a:r>
            <a:r>
              <a:rPr lang="ru-RU" dirty="0" err="1"/>
              <a:t>of</a:t>
            </a:r>
            <a:r>
              <a:rPr lang="ru-RU" dirty="0"/>
              <a:t>-</a:t>
            </a:r>
            <a:r>
              <a:rPr lang="ru-RU" dirty="0" err="1"/>
              <a:t>order</a:t>
            </a:r>
            <a:r>
              <a:rPr lang="ru-RU" dirty="0"/>
              <a:t> </a:t>
            </a:r>
            <a:r>
              <a:rPr lang="ru-RU" dirty="0" err="1"/>
              <a:t>execution</a:t>
            </a:r>
            <a:r>
              <a:rPr lang="ru-RU" dirty="0"/>
              <a:t> — процессор может менять порядок выполнения инструкций</a:t>
            </a:r>
          </a:p>
          <a:p>
            <a:r>
              <a:rPr lang="ru-RU" dirty="0"/>
              <a:t>Если инструкция ожидает данные из памяти: процессор может временно выполнить другие инструкции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mov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eax</a:t>
            </a:r>
            <a:r>
              <a:rPr lang="ru-RU" dirty="0">
                <a:latin typeface="Consolas" panose="020B0609020204030204" pitchFamily="49" charset="0"/>
              </a:rPr>
              <a:t>, [</a:t>
            </a:r>
            <a:r>
              <a:rPr lang="ru-RU" dirty="0" err="1">
                <a:latin typeface="Consolas" panose="020B0609020204030204" pitchFamily="49" charset="0"/>
              </a:rPr>
              <a:t>mem</a:t>
            </a:r>
            <a:r>
              <a:rPr lang="ru-RU" dirty="0">
                <a:latin typeface="Consolas" panose="020B0609020204030204" pitchFamily="49" charset="0"/>
              </a:rPr>
              <a:t>] ; долгое чтение памяти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ecx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edx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imul</a:t>
            </a:r>
            <a:r>
              <a:rPr lang="ru-RU" dirty="0">
                <a:latin typeface="Consolas" panose="020B0609020204030204" pitchFamily="49" charset="0"/>
              </a:rPr>
              <a:t> r8, r9</a:t>
            </a:r>
          </a:p>
          <a:p>
            <a:pPr lvl="1"/>
            <a:r>
              <a:rPr lang="ru-RU" dirty="0"/>
              <a:t>Возможный порядок выполнения:</a:t>
            </a:r>
          </a:p>
          <a:p>
            <a:pPr lvl="2"/>
            <a:r>
              <a:rPr lang="ru-RU" dirty="0" err="1"/>
              <a:t>add</a:t>
            </a:r>
            <a:r>
              <a:rPr lang="ru-RU" dirty="0"/>
              <a:t> </a:t>
            </a:r>
          </a:p>
          <a:p>
            <a:pPr lvl="2"/>
            <a:r>
              <a:rPr lang="ru-RU" dirty="0" err="1"/>
              <a:t>imul</a:t>
            </a:r>
            <a:r>
              <a:rPr lang="ru-RU" dirty="0"/>
              <a:t> </a:t>
            </a:r>
          </a:p>
          <a:p>
            <a:pPr lvl="2"/>
            <a:r>
              <a:rPr lang="ru-RU" dirty="0" err="1"/>
              <a:t>mov</a:t>
            </a:r>
            <a:r>
              <a:rPr lang="ru-RU" dirty="0"/>
              <a:t> </a:t>
            </a:r>
          </a:p>
          <a:p>
            <a:r>
              <a:rPr lang="ru-RU" dirty="0"/>
              <a:t>Но итоговый результат остаётся правильным</a:t>
            </a:r>
          </a:p>
        </p:txBody>
      </p:sp>
    </p:spTree>
    <p:extLst>
      <p:ext uri="{BB962C8B-B14F-4D97-AF65-F5344CB8AC3E}">
        <p14:creationId xmlns:p14="http://schemas.microsoft.com/office/powerpoint/2010/main" val="15622372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89E4-9246-3662-C410-A2410EA1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Предсказание переходов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F780-FDDA-1E1B-9584-F3988CD65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</a:t>
            </a:r>
            <a:r>
              <a:rPr lang="ru-RU" dirty="0" err="1"/>
              <a:t>ranch</a:t>
            </a:r>
            <a:r>
              <a:rPr lang="ru-RU" dirty="0"/>
              <a:t> </a:t>
            </a:r>
            <a:r>
              <a:rPr lang="ru-RU" dirty="0" err="1"/>
              <a:t>prediction</a:t>
            </a:r>
            <a:r>
              <a:rPr lang="ru-RU" dirty="0"/>
              <a:t> —</a:t>
            </a:r>
            <a:r>
              <a:rPr lang="en-US" dirty="0"/>
              <a:t> </a:t>
            </a:r>
            <a:r>
              <a:rPr lang="ru-RU" dirty="0"/>
              <a:t>предсказание переходов</a:t>
            </a:r>
          </a:p>
          <a:p>
            <a:r>
              <a:rPr lang="ru-RU" dirty="0"/>
              <a:t>Процессор пытается заранее угадать:</a:t>
            </a:r>
            <a:r>
              <a:rPr lang="en-US" dirty="0"/>
              <a:t> </a:t>
            </a:r>
            <a:r>
              <a:rPr lang="ru-RU" dirty="0"/>
              <a:t>будет ли выполнен условный переход</a:t>
            </a:r>
          </a:p>
          <a:p>
            <a:pPr lvl="1"/>
            <a:r>
              <a:rPr lang="ru-RU" dirty="0" err="1"/>
              <a:t>cmp</a:t>
            </a:r>
            <a:r>
              <a:rPr lang="ru-RU" dirty="0"/>
              <a:t> </a:t>
            </a:r>
            <a:r>
              <a:rPr lang="ru-RU" dirty="0" err="1"/>
              <a:t>eax</a:t>
            </a:r>
            <a:r>
              <a:rPr lang="ru-RU" dirty="0"/>
              <a:t>, </a:t>
            </a:r>
            <a:r>
              <a:rPr lang="ru-RU" dirty="0" err="1"/>
              <a:t>ebx</a:t>
            </a:r>
            <a:br>
              <a:rPr lang="ru-RU" dirty="0"/>
            </a:br>
            <a:r>
              <a:rPr lang="ru-RU" dirty="0" err="1"/>
              <a:t>je</a:t>
            </a:r>
            <a:r>
              <a:rPr lang="ru-RU" dirty="0"/>
              <a:t>  .L1</a:t>
            </a:r>
          </a:p>
          <a:p>
            <a:r>
              <a:rPr lang="ru-RU" dirty="0"/>
              <a:t>Если предсказание верное, </a:t>
            </a:r>
            <a:r>
              <a:rPr lang="ru-RU" dirty="0" err="1"/>
              <a:t>pipeline</a:t>
            </a:r>
            <a:r>
              <a:rPr lang="ru-RU" dirty="0"/>
              <a:t> продолжает работать</a:t>
            </a:r>
          </a:p>
          <a:p>
            <a:r>
              <a:rPr lang="ru-RU" dirty="0"/>
              <a:t>Если ошибка: </a:t>
            </a:r>
            <a:r>
              <a:rPr lang="ru-RU" dirty="0" err="1"/>
              <a:t>pipeline</a:t>
            </a:r>
            <a:r>
              <a:rPr lang="ru-RU" dirty="0"/>
              <a:t> очищается (</a:t>
            </a:r>
            <a:r>
              <a:rPr lang="ru-RU" dirty="0" err="1"/>
              <a:t>pipeline</a:t>
            </a:r>
            <a:r>
              <a:rPr lang="ru-RU" dirty="0"/>
              <a:t> </a:t>
            </a:r>
            <a:r>
              <a:rPr lang="ru-RU" dirty="0" err="1"/>
              <a:t>flush</a:t>
            </a:r>
            <a:r>
              <a:rPr lang="ru-RU" dirty="0"/>
              <a:t>)</a:t>
            </a:r>
          </a:p>
          <a:p>
            <a:r>
              <a:rPr lang="ru-RU" dirty="0"/>
              <a:t>Неверно предсказанные ветвления снижают производительность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1129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777C-C779-44D5-938C-A4EEBA82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vs Throughput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90FEF-82C7-16B1-F33B-298FD1B5C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2405716"/>
          </a:xfrm>
        </p:spPr>
        <p:txBody>
          <a:bodyPr/>
          <a:lstStyle/>
          <a:p>
            <a:r>
              <a:rPr lang="ru-RU" dirty="0" err="1"/>
              <a:t>Latency</a:t>
            </a:r>
            <a:r>
              <a:rPr lang="ru-RU" dirty="0"/>
              <a:t> — задержка выполнения одной инструкции</a:t>
            </a:r>
          </a:p>
          <a:p>
            <a:r>
              <a:rPr lang="ru-RU" dirty="0" err="1"/>
              <a:t>Throughput</a:t>
            </a:r>
            <a:r>
              <a:rPr lang="ru-RU" dirty="0"/>
              <a:t> — сколько инструкций можно выполнять за такт</a:t>
            </a:r>
          </a:p>
          <a:p>
            <a:r>
              <a:rPr lang="ru-RU" dirty="0"/>
              <a:t>Низкая </a:t>
            </a:r>
            <a:r>
              <a:rPr lang="en-US" dirty="0"/>
              <a:t>latency ≠ </a:t>
            </a:r>
            <a:r>
              <a:rPr lang="ru-RU" dirty="0"/>
              <a:t>высокий </a:t>
            </a:r>
            <a:r>
              <a:rPr lang="en-US" dirty="0"/>
              <a:t>throughput</a:t>
            </a:r>
            <a:endParaRPr lang="ru-RU" dirty="0"/>
          </a:p>
          <a:p>
            <a:r>
              <a:rPr lang="ru-RU" dirty="0"/>
              <a:t>Пример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14DFC5E-47E6-98E5-4DF3-F13B8E2DF5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02909842"/>
              </p:ext>
            </p:extLst>
          </p:nvPr>
        </p:nvGraphicFramePr>
        <p:xfrm>
          <a:off x="1139158" y="4016428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21187576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49754422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141480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Инструкция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Throughput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4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ru-RU" dirty="0"/>
                        <a:t> такт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 за такт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2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mul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 такта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за такт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058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20+</a:t>
                      </a:r>
                      <a:r>
                        <a:rPr lang="ru-RU" dirty="0"/>
                        <a:t> тактов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 низкий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112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8146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C5BC66-880C-C502-79F8-FBC29056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лекции по архитектуре x86-64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FB458-6216-DC13-264F-CFD047AE8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прошли путь от базовый инструкций до </a:t>
            </a:r>
            <a:r>
              <a:rPr lang="en-US" dirty="0"/>
              <a:t>SIMD-</a:t>
            </a:r>
            <a:r>
              <a:rPr lang="ru-RU" dirty="0"/>
              <a:t>расширений</a:t>
            </a:r>
          </a:p>
          <a:p>
            <a:r>
              <a:rPr lang="ru-RU" dirty="0"/>
              <a:t>Изучили регистры, работу со стеком, вызовы функций, работу с памятью</a:t>
            </a:r>
          </a:p>
          <a:p>
            <a:r>
              <a:rPr lang="ru-RU" dirty="0"/>
              <a:t>Научились дизассемблировать код и исследовать бинарные файлы, читать ассемблерный код</a:t>
            </a:r>
          </a:p>
          <a:p>
            <a:r>
              <a:rPr lang="ru-RU" dirty="0"/>
              <a:t>Базово изучили микроархитектуру процессоров семейства </a:t>
            </a:r>
            <a:r>
              <a:rPr lang="en-US" dirty="0"/>
              <a:t>x86-64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1036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686EF8-33CB-EBC6-8419-D1059320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FB25F-BAE4-617E-E9C6-87E532DE4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04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16767</Words>
  <Application>Microsoft Office PowerPoint</Application>
  <PresentationFormat>Widescreen</PresentationFormat>
  <Paragraphs>2315</Paragraphs>
  <Slides>78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Aptos</vt:lpstr>
      <vt:lpstr>Aptos Display</vt:lpstr>
      <vt:lpstr>Arial</vt:lpstr>
      <vt:lpstr>Consolas</vt:lpstr>
      <vt:lpstr>Office Theme</vt:lpstr>
      <vt:lpstr>Ассемблер для архитектуры x86-64</vt:lpstr>
      <vt:lpstr>Что мы уже изучили</vt:lpstr>
      <vt:lpstr>Переход к архитектуре x86-64</vt:lpstr>
      <vt:lpstr>Эволюционный характер архитектуры x86</vt:lpstr>
      <vt:lpstr>Ранние этапы развития x86</vt:lpstr>
      <vt:lpstr>Дальнейшее развитие архитектуры</vt:lpstr>
      <vt:lpstr>Переход к 64-битной архитектуре</vt:lpstr>
      <vt:lpstr>Что будем изучать</vt:lpstr>
      <vt:lpstr>Регистры процессора в архитектуре x86-64</vt:lpstr>
      <vt:lpstr>Регистры процессора</vt:lpstr>
      <vt:lpstr>Регистры общего назначения</vt:lpstr>
      <vt:lpstr>Роли регистров</vt:lpstr>
      <vt:lpstr>Работа с частями регистров</vt:lpstr>
      <vt:lpstr>Особенности работы с частями регистров</vt:lpstr>
      <vt:lpstr>Специальные регистры и управление выполнением</vt:lpstr>
      <vt:lpstr>Регистр флагов (RFLAGS)</vt:lpstr>
      <vt:lpstr>Основные флаги</vt:lpstr>
      <vt:lpstr>Регистры управления и сегментные регистры</vt:lpstr>
      <vt:lpstr>Описание инструкций</vt:lpstr>
      <vt:lpstr>Синтаксис и формат инструкций</vt:lpstr>
      <vt:lpstr>Инструкции пересылки данных</vt:lpstr>
      <vt:lpstr>Пример: C и ассемблер</vt:lpstr>
      <vt:lpstr>Арифметические инструкции</vt:lpstr>
      <vt:lpstr>Пример: среднее значение</vt:lpstr>
      <vt:lpstr>Сравнение и логические операции</vt:lpstr>
      <vt:lpstr>Инструкции перехода</vt:lpstr>
      <vt:lpstr>Пример, подсчёт символов</vt:lpstr>
      <vt:lpstr>Вызов подпрограмм и работа со стеком</vt:lpstr>
      <vt:lpstr>Соглашение о вызовах (ABI)</vt:lpstr>
      <vt:lpstr>Пример функции</vt:lpstr>
      <vt:lpstr>Связка C и ассемблера</vt:lpstr>
      <vt:lpstr>Итоги</vt:lpstr>
      <vt:lpstr>Работа с памятью</vt:lpstr>
      <vt:lpstr>Работа с памятью в x86-64</vt:lpstr>
      <vt:lpstr>Режимы адресации</vt:lpstr>
      <vt:lpstr>Инструкция LEA</vt:lpstr>
      <vt:lpstr>Пример: суммирование элементов массива</vt:lpstr>
      <vt:lpstr>Пример: сумма определённых координат y</vt:lpstr>
      <vt:lpstr>Подробнее про функции</vt:lpstr>
      <vt:lpstr>Вызов функции: общая картина</vt:lpstr>
      <vt:lpstr>Управление стековым фреймом</vt:lpstr>
      <vt:lpstr>Указатели на функции</vt:lpstr>
      <vt:lpstr>Передача и вызов функции по указателю</vt:lpstr>
      <vt:lpstr>Пример: вызов qsort</vt:lpstr>
      <vt:lpstr>Получение ассемблерного кода программы</vt:lpstr>
      <vt:lpstr>Compiler Explorer (Godbolt)</vt:lpstr>
      <vt:lpstr>Дизассемблирование с помощью objdump</vt:lpstr>
      <vt:lpstr>Дизассемблирование с помощью dumpbin</vt:lpstr>
      <vt:lpstr>Отладка программ: gdb</vt:lpstr>
      <vt:lpstr>Дизассемблирование в Visual Studio</vt:lpstr>
      <vt:lpstr>Итоги</vt:lpstr>
      <vt:lpstr>SIMD</vt:lpstr>
      <vt:lpstr>Рост объёмов вычислений</vt:lpstr>
      <vt:lpstr>Обработка данных по одному элементу</vt:lpstr>
      <vt:lpstr>Идея SIMD</vt:lpstr>
      <vt:lpstr>SIMD регистры</vt:lpstr>
      <vt:lpstr>XMM-регистры</vt:lpstr>
      <vt:lpstr>SIMD-инструкции</vt:lpstr>
      <vt:lpstr>Примеры SIMD инструкций</vt:lpstr>
      <vt:lpstr>Packed и Scalar инструкции</vt:lpstr>
      <vt:lpstr>Сложение массивов с использованием SIMD-инструкций</vt:lpstr>
      <vt:lpstr>Aligned и unaligned SIMD-команды</vt:lpstr>
      <vt:lpstr>AVX: расширение SIMD в x86-64</vt:lpstr>
      <vt:lpstr>Перекрытие XMM, YMM и ZMM-регистров</vt:lpstr>
      <vt:lpstr>SumArrays на AVX2</vt:lpstr>
      <vt:lpstr>SSE intrinsics в C</vt:lpstr>
      <vt:lpstr>Floating Point на x86-64</vt:lpstr>
      <vt:lpstr>Scalar floating point на x86-64</vt:lpstr>
      <vt:lpstr>SIMD floating point</vt:lpstr>
      <vt:lpstr>SIMD-регистры в System V ABI</vt:lpstr>
      <vt:lpstr>Микроархитектура x86-64</vt:lpstr>
      <vt:lpstr>Pipeline</vt:lpstr>
      <vt:lpstr>Суперскалярная архитектура</vt:lpstr>
      <vt:lpstr>Out-of-Order Execution</vt:lpstr>
      <vt:lpstr>Предсказание переходов</vt:lpstr>
      <vt:lpstr>Latency vs Throughput</vt:lpstr>
      <vt:lpstr>Итоги лекции по архитектуре x86-64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302</cp:revision>
  <dcterms:created xsi:type="dcterms:W3CDTF">2026-04-24T20:23:49Z</dcterms:created>
  <dcterms:modified xsi:type="dcterms:W3CDTF">2026-05-12T17:41:00Z</dcterms:modified>
</cp:coreProperties>
</file>