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6" r:id="rId11"/>
    <p:sldId id="264" r:id="rId12"/>
    <p:sldId id="267" r:id="rId13"/>
    <p:sldId id="270" r:id="rId14"/>
    <p:sldId id="268" r:id="rId15"/>
    <p:sldId id="271" r:id="rId16"/>
    <p:sldId id="269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993" autoAdjust="0"/>
  </p:normalViewPr>
  <p:slideViewPr>
    <p:cSldViewPr snapToGrid="0" showGuides="1">
      <p:cViewPr varScale="1">
        <p:scale>
          <a:sx n="33" d="100"/>
          <a:sy n="33" d="100"/>
        </p:scale>
        <p:origin x="90" y="1224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13FBA-2F44-4809-86EE-DC156580AA2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2A4C9-6456-4251-ADB9-D2DDA855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1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писали программы на языке C. Вы описывали алгоритм, а компилятор выполнял за вас всю сложную работу: он превращал этот код в исполняемую программу.</a:t>
            </a:r>
          </a:p>
          <a:p>
            <a:endParaRPr lang="ru-RU" dirty="0"/>
          </a:p>
          <a:p>
            <a:r>
              <a:rPr lang="ru-RU" dirty="0"/>
              <a:t>Иногда мы заглядывали внутрь и смотрели на ассемблерный код. Это уже более низкий уровень, ближе к процессору, но всё ещё удобный для человека.</a:t>
            </a:r>
          </a:p>
          <a:p>
            <a:r>
              <a:rPr lang="ru-RU" dirty="0"/>
              <a:t>Ассемблер — это просто текстовое представление команд процессора. Каждая инструкция записывается с помощью мнемоники.</a:t>
            </a:r>
          </a:p>
          <a:p>
            <a:endParaRPr lang="ru-RU" dirty="0"/>
          </a:p>
          <a:p>
            <a:r>
              <a:rPr lang="ru-RU" dirty="0"/>
              <a:t>Но здесь есть важный момент. Процессор не понимает ни язык C, ни ассемблер. Для него нет ни переменных, ни выражений, ни инструкций в текстовом виде.</a:t>
            </a:r>
          </a:p>
          <a:p>
            <a:endParaRPr lang="ru-RU" dirty="0"/>
          </a:p>
          <a:p>
            <a:r>
              <a:rPr lang="ru-RU" dirty="0"/>
              <a:t>Процессор работает только с байтами. То есть с последовательностью чисел, которые лежат в памяти.</a:t>
            </a:r>
          </a:p>
          <a:p>
            <a:endParaRPr lang="ru-RU" dirty="0"/>
          </a:p>
          <a:p>
            <a:r>
              <a:rPr lang="ru-RU" dirty="0"/>
              <a:t>И вот эти байты — это и есть настоящий код программы, который выполняется процессором.</a:t>
            </a:r>
          </a:p>
          <a:p>
            <a:endParaRPr lang="ru-RU" dirty="0"/>
          </a:p>
          <a:p>
            <a:r>
              <a:rPr lang="ru-RU" dirty="0"/>
              <a:t>На этом слайде видно полный путь: от удобного для человека языка через компилятор к ассемблеру и дальше — к машинному коду.</a:t>
            </a:r>
          </a:p>
          <a:p>
            <a:endParaRPr lang="ru-RU" dirty="0"/>
          </a:p>
          <a:p>
            <a:r>
              <a:rPr lang="ru-RU" dirty="0"/>
              <a:t>И на этой лекции мы как раз будем опускаться на этот уровень и разбираться, что именно происходит на уровне байтов.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28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этой лекции мы впервые попробуем посмотреть на программу не глазами программиста, а глазами процессора.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До этого мы в основном думали в терминах: “что делает программа”, “какой алгоритм она реализует”, “какой будет результат”.</a:t>
            </a:r>
          </a:p>
          <a:p>
            <a:r>
              <a:rPr lang="ru-RU" dirty="0"/>
              <a:t>Теперь нас будет интересовать другой вопрос: </a:t>
            </a:r>
            <a:r>
              <a:rPr lang="ru-RU" b="1" dirty="0"/>
              <a:t>как именно программа выполняется внутри процессора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Процессор не видит ни переменных, ни функций, ни циклов в привычном для нас виде. Для него программа — это просто последовательность инструкций, которые лежат в памяти одна за другой.</a:t>
            </a:r>
          </a:p>
          <a:p>
            <a:r>
              <a:rPr lang="ru-RU" dirty="0"/>
              <a:t>И каждая инструкция — это не текст, а один или несколько байтов.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Когда процессор выполняет программу, он делает очень простую вещь: он берёт очередную инструкцию из памяти, разбирает её, и выполняет.</a:t>
            </a:r>
          </a:p>
          <a:p>
            <a:endParaRPr lang="ru-RU" dirty="0"/>
          </a:p>
          <a:p>
            <a:r>
              <a:rPr lang="ru-RU" dirty="0"/>
              <a:t>При этом каждая инструкция изменяет состояние системы.</a:t>
            </a:r>
          </a:p>
          <a:p>
            <a:r>
              <a:rPr lang="ru-RU" dirty="0"/>
              <a:t>Она может: изменить содержимое регистров, прочитать или записать данные в память, изменить поток выполнения — например, перейти к другой инструкции 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 вся работа программы — это на самом деле последовательность таких изменений.</a:t>
            </a:r>
          </a:p>
          <a:p>
            <a:r>
              <a:rPr lang="ru-RU" dirty="0"/>
              <a:t>Если упростить: программа — это процесс изменения состояния процессора и памяти во времени</a:t>
            </a:r>
          </a:p>
          <a:p>
            <a:endParaRPr lang="ru-RU" dirty="0"/>
          </a:p>
          <a:p>
            <a:r>
              <a:rPr lang="ru-RU" dirty="0"/>
              <a:t>Чтобы это понять, нам нужно разобрать несколько ключевых вещей.</a:t>
            </a:r>
          </a:p>
          <a:p>
            <a:r>
              <a:rPr lang="ru-RU" dirty="0"/>
              <a:t>Во-первых, как устроен сам процессор: какие у него есть регистры, какие блоки, как он взаимодействует с памятью.</a:t>
            </a:r>
          </a:p>
          <a:p>
            <a:r>
              <a:rPr lang="ru-RU" dirty="0"/>
              <a:t>Во-вторых, как инструкции кодируются — то есть как из “человеческой” записи получается набор байтов.</a:t>
            </a:r>
          </a:p>
          <a:p>
            <a:r>
              <a:rPr lang="ru-RU" dirty="0"/>
              <a:t>И в-третьих, как происходит выполнение программы шаг за шагом.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Чтобы не утонуть в сложности современных процессоров, мы возьмём максимально простой и понятный пример — процессор Intel 8080.</a:t>
            </a:r>
          </a:p>
          <a:p>
            <a:endParaRPr lang="ru-RU" dirty="0"/>
          </a:p>
          <a:p>
            <a:r>
              <a:rPr lang="ru-RU" dirty="0"/>
              <a:t>Он достаточно простой, чтобы можно было разобраться в деталях, вплоть до отдельных байтов, и при этом содержит все ключевые идеи, которые используются и в современных архитектурах.</a:t>
            </a:r>
          </a:p>
          <a:p>
            <a:endParaRPr lang="ru-RU" dirty="0"/>
          </a:p>
          <a:p>
            <a:r>
              <a:rPr lang="ru-RU" dirty="0"/>
              <a:t>По сути, это “чистая модель” процессора, на которой удобно понять основы, прежде чем переходить к более сложным системам.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57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немного отвлечёмся от техники и посмотрим на исторический контекст.</a:t>
            </a:r>
          </a:p>
          <a:p>
            <a:endParaRPr lang="ru-RU" dirty="0"/>
          </a:p>
          <a:p>
            <a:r>
              <a:rPr lang="ru-RU" dirty="0"/>
              <a:t>Процессор Intel 8080 был выпущен в 1974 году и стал одним из первых массовых микропроцессоров.</a:t>
            </a:r>
          </a:p>
          <a:p>
            <a:r>
              <a:rPr lang="ru-RU" dirty="0"/>
              <a:t>Это важно подчеркнуть: речь идёт о времени, когда персональные компьютеры только начинали появляться, и сама идея “компьютера на столе” была ещё новой.</a:t>
            </a:r>
          </a:p>
          <a:p>
            <a:endParaRPr lang="ru-RU" dirty="0"/>
          </a:p>
          <a:p>
            <a:r>
              <a:rPr lang="ru-RU" dirty="0"/>
              <a:t>Этот процессор был 8-битным, то есть работал с данными по одному байту за раз. При этом он имел 16-битную адресацию, что позволяло работать с памятью объёмом до 64 килобайт.</a:t>
            </a:r>
          </a:p>
          <a:p>
            <a:r>
              <a:rPr lang="ru-RU" dirty="0"/>
              <a:t>Сегодня это кажется очень маленьким объёмом, но на тот момент этого было достаточно для многих задач.</a:t>
            </a:r>
            <a:br>
              <a:rPr lang="ru-RU" dirty="0"/>
            </a:br>
            <a:endParaRPr lang="ru-RU" dirty="0"/>
          </a:p>
          <a:p>
            <a:r>
              <a:rPr lang="ru-RU" dirty="0"/>
              <a:t>Intel 8080 использовался в ранних персональных компьютерах, а также в системах под управлением операционной системы CP/M.</a:t>
            </a:r>
          </a:p>
          <a:p>
            <a:r>
              <a:rPr lang="ru-RU" dirty="0"/>
              <a:t>CP/M можно считать одним из предшественников современных операционных систем — она уже предоставляла файловую систему, запуск программ и базовые сервисы.</a:t>
            </a:r>
          </a:p>
          <a:p>
            <a:endParaRPr lang="ru-RU" dirty="0"/>
          </a:p>
          <a:p>
            <a:r>
              <a:rPr lang="ru-RU" dirty="0"/>
              <a:t>Кроме того, этот процессор применялся во встраиваемых и промышленных системах, где требовалось управление оборудованием.</a:t>
            </a:r>
          </a:p>
          <a:p>
            <a:endParaRPr lang="ru-RU" dirty="0"/>
          </a:p>
          <a:p>
            <a:r>
              <a:rPr lang="ru-RU" dirty="0"/>
              <a:t>Очень важно влияние этого процессора. На его основе был создан процессор </a:t>
            </a:r>
            <a:r>
              <a:rPr lang="ru-RU" dirty="0" err="1"/>
              <a:t>Zilog</a:t>
            </a:r>
            <a:r>
              <a:rPr lang="ru-RU" dirty="0"/>
              <a:t> Z80, который стал ещё более популярным и использовался в огромном количестве компьютеров.</a:t>
            </a:r>
          </a:p>
          <a:p>
            <a:endParaRPr lang="ru-RU" dirty="0"/>
          </a:p>
          <a:p>
            <a:r>
              <a:rPr lang="ru-RU" dirty="0"/>
              <a:t>И главное, что важно для нас: многие идеи, которые мы будем изучать на примере 8080 — регистры, инструкции, работа с памятью, выполнение программы — до сих пор лежат в основе современных процессоров.</a:t>
            </a:r>
          </a:p>
          <a:p>
            <a:endParaRPr lang="ru-RU" dirty="0"/>
          </a:p>
          <a:p>
            <a:r>
              <a:rPr lang="ru-RU" dirty="0"/>
              <a:t>То есть, несмотря на возраст, это не “устаревшая технология”, а удобная и простая модель, через которую можно понять фундаментальные принципы.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43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СССР был создан клон процессора Intel 8080 — КР580ВМ80А. Это был не просто “похожий” процессор, а фактически полная копия на уровне архитектуры. Те же команды, те же регистры, та же логика работы.</a:t>
            </a:r>
          </a:p>
          <a:p>
            <a:endParaRPr lang="ru-RU" dirty="0"/>
          </a:p>
          <a:p>
            <a:r>
              <a:rPr lang="ru-RU" dirty="0"/>
              <a:t>На этом процессоре было построено множество отечественных компьютеров. Один из самых известных — Радио-86РК. Это был, по сути, учебный компьютер, который можно было собрать самостоятельно.</a:t>
            </a:r>
          </a:p>
          <a:p>
            <a:endParaRPr lang="ru-RU" dirty="0"/>
          </a:p>
          <a:p>
            <a:r>
              <a:rPr lang="ru-RU" dirty="0"/>
              <a:t>Также были </a:t>
            </a:r>
            <a:r>
              <a:rPr lang="ru-RU" dirty="0" err="1"/>
              <a:t>Микроша</a:t>
            </a:r>
            <a:r>
              <a:rPr lang="ru-RU" dirty="0"/>
              <a:t> — более “домашний” вариант, и Специалист — более развитая система.</a:t>
            </a:r>
          </a:p>
          <a:p>
            <a:endParaRPr lang="ru-RU" dirty="0"/>
          </a:p>
          <a:p>
            <a:r>
              <a:rPr lang="ru-RU" dirty="0"/>
              <a:t>Что важно: многие из этих компьютеров не имели полноценной операционной системы. Это значит, что программа взаимодействовала почти напрямую с железом: с памятью, с экраном, с устройствами ввода-вывода.</a:t>
            </a:r>
          </a:p>
          <a:p>
            <a:r>
              <a:rPr lang="ru-RU" dirty="0"/>
              <a:t>И именно поэтому они идеально подходят для обучения. Здесь очень хорошо видно ключевую идею: программа — это просто байты, лежащие в памяти, и процессор последовательно их выполняет.</a:t>
            </a:r>
          </a:p>
          <a:p>
            <a:endParaRPr lang="ru-RU" dirty="0"/>
          </a:p>
          <a:p>
            <a:r>
              <a:rPr lang="ru-RU" dirty="0"/>
              <a:t>И в рамках курса мы сможем приблизиться к этому уровню и увидеть, как это работает на практике.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70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тем как двигаться дальше, нам нужно ввести важное понятие — ISA, или </a:t>
            </a:r>
            <a:r>
              <a:rPr lang="ru-RU" dirty="0" err="1"/>
              <a:t>Instruction</a:t>
            </a:r>
            <a:r>
              <a:rPr lang="ru-RU" dirty="0"/>
              <a:t> </a:t>
            </a:r>
            <a:r>
              <a:rPr lang="ru-RU" dirty="0" err="1"/>
              <a:t>Set</a:t>
            </a:r>
            <a:r>
              <a:rPr lang="ru-RU" dirty="0"/>
              <a:t> Architecture.</a:t>
            </a:r>
          </a:p>
          <a:p>
            <a:r>
              <a:rPr lang="ru-RU" dirty="0"/>
              <a:t>Если говорить просто, это набор команд, которые понимает процессор.</a:t>
            </a:r>
          </a:p>
          <a:p>
            <a:endParaRPr lang="ru-RU" dirty="0"/>
          </a:p>
          <a:p>
            <a:r>
              <a:rPr lang="ru-RU" dirty="0"/>
              <a:t>ISA определяет: какие инструкции доступны, какие есть регистры, как устроена работа с памятью.</a:t>
            </a:r>
          </a:p>
          <a:p>
            <a:endParaRPr lang="ru-RU" dirty="0"/>
          </a:p>
          <a:p>
            <a:r>
              <a:rPr lang="ru-RU" dirty="0"/>
              <a:t>Когда мы пишем программу на ассемблере, мы фактически пишем код на языке ISA. Важно понимать: ISA — это интерфейс между программой и процессором. Программа не знает, как устроен процессор внутри. Она знает только, какие команды можно выполнить и что они делают.</a:t>
            </a:r>
          </a:p>
          <a:p>
            <a:endParaRPr lang="ru-RU" dirty="0"/>
          </a:p>
          <a:p>
            <a:r>
              <a:rPr lang="ru-RU" dirty="0"/>
              <a:t>И это очень мощная идея. Один и тот же ISA может реализовываться разными процессорами — с разной внутренней архитектурой, разной производительностью, но с одинаковым поведением с точки зрения программы.</a:t>
            </a:r>
          </a:p>
          <a:p>
            <a:endParaRPr lang="ru-RU" dirty="0"/>
          </a:p>
          <a:p>
            <a:r>
              <a:rPr lang="ru-RU" dirty="0"/>
              <a:t>В рамках этой лекции мы будем изучать ISA процессора Intel 8080 и через него разберём, как процессор выполняет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68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Несмотря на длинные описания в документации, архитектура процессора на самом деле довольно проста.</a:t>
            </a:r>
          </a:p>
          <a:p>
            <a:r>
              <a:rPr lang="ru-RU" dirty="0"/>
              <a:t>Её можно свести к трём основным частям.</a:t>
            </a:r>
          </a:p>
          <a:p>
            <a:endParaRPr lang="ru-RU" dirty="0"/>
          </a:p>
          <a:p>
            <a:r>
              <a:rPr lang="ru-RU" dirty="0"/>
              <a:t>Первое — это арифметико-логическое устройство, или ALU. Именно оно выполняет все операции: сложение, вычитание, логические операции.</a:t>
            </a:r>
          </a:p>
          <a:p>
            <a:endParaRPr lang="ru-RU" dirty="0"/>
          </a:p>
          <a:p>
            <a:r>
              <a:rPr lang="ru-RU" dirty="0"/>
              <a:t>Второе — это регистры. Это небольшая, но очень быстрая память внутри процессора.</a:t>
            </a:r>
          </a:p>
          <a:p>
            <a:endParaRPr lang="ru-RU" dirty="0"/>
          </a:p>
          <a:p>
            <a:r>
              <a:rPr lang="ru-RU" dirty="0"/>
              <a:t>Третье — устройство управления.</a:t>
            </a:r>
            <a:br>
              <a:rPr lang="ru-RU" dirty="0"/>
            </a:br>
            <a:r>
              <a:rPr lang="ru-RU" dirty="0"/>
              <a:t>Оно отвечает за то, чтобы инструкции выполнялись в правильной последовательности.</a:t>
            </a:r>
          </a:p>
          <a:p>
            <a:r>
              <a:rPr lang="ru-RU" dirty="0"/>
              <a:t>Кроме этого, есть специальные регистры, которые играют ключевую роль:</a:t>
            </a:r>
          </a:p>
          <a:p>
            <a:endParaRPr lang="ru-RU" dirty="0"/>
          </a:p>
          <a:p>
            <a:r>
              <a:rPr lang="ru-RU" dirty="0"/>
              <a:t>Program Counter — хранит адрес следующей команды, и </a:t>
            </a:r>
            <a:r>
              <a:rPr lang="ru-RU" dirty="0" err="1"/>
              <a:t>Instruction</a:t>
            </a:r>
            <a:r>
              <a:rPr lang="ru-RU" dirty="0"/>
              <a:t> </a:t>
            </a:r>
            <a:r>
              <a:rPr lang="ru-RU" dirty="0" err="1"/>
              <a:t>Register</a:t>
            </a:r>
            <a:r>
              <a:rPr lang="ru-RU" dirty="0"/>
              <a:t> — хранит текущую выполняемую инструкцию.</a:t>
            </a:r>
          </a:p>
          <a:p>
            <a:endParaRPr lang="ru-RU" dirty="0"/>
          </a:p>
          <a:p>
            <a:r>
              <a:rPr lang="en-US" dirty="0"/>
              <a:t>SP – Stack Pointer – </a:t>
            </a:r>
            <a:r>
              <a:rPr lang="ru-RU" dirty="0"/>
              <a:t>хранит адрес вершины стека и используется для организации вызова подпрограмм и хранения локальных переменных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38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 на регистры процессора Intel 8080.</a:t>
            </a:r>
          </a:p>
          <a:p>
            <a:r>
              <a:rPr lang="ru-RU" dirty="0"/>
              <a:t>У нас есть аккумулятор — регистр A. Это основной регистр, через который проходит большинство операций.</a:t>
            </a:r>
          </a:p>
          <a:p>
            <a:endParaRPr lang="ru-RU" dirty="0"/>
          </a:p>
          <a:p>
            <a:r>
              <a:rPr lang="ru-RU" dirty="0"/>
              <a:t>Также есть регистры общего назначения: B, C, D, E, H, L. Интересная особенность — их можно объединять в пары и использовать как 16-битные регистры. Например, BC, DE и HL.</a:t>
            </a:r>
          </a:p>
          <a:p>
            <a:endParaRPr lang="ru-RU" dirty="0"/>
          </a:p>
          <a:p>
            <a:r>
              <a:rPr lang="ru-RU" dirty="0"/>
              <a:t>Есть специальные регистры: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Program Counter — указывает, какую инструкцию выполнять дальше,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 — используется для работы со стеком,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регистр флагов — в нём хранятся результаты операций, например, ноль получился или нет.</a:t>
            </a:r>
          </a:p>
          <a:p>
            <a:endParaRPr lang="ru-RU" dirty="0"/>
          </a:p>
          <a:p>
            <a:r>
              <a:rPr lang="ru-RU" dirty="0"/>
              <a:t>Важно понимать: регистры — это самый быстрый способ работать с данными, но их очень мало.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23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процессор работает с памятью. Память можно представить как массив байтов, у каждого из которых есть адрес.</a:t>
            </a:r>
          </a:p>
          <a:p>
            <a:endParaRPr lang="ru-RU" dirty="0"/>
          </a:p>
          <a:p>
            <a:r>
              <a:rPr lang="ru-RU" dirty="0"/>
              <a:t>В Intel 8080 адрес состоит из 16 бит, то есть процессор может адресовать до 64 килобайт памяти.</a:t>
            </a:r>
          </a:p>
          <a:p>
            <a:r>
              <a:rPr lang="ru-RU" dirty="0"/>
              <a:t>Данные передаются по 8-битной шине — по одному байту за раз.</a:t>
            </a:r>
          </a:p>
          <a:p>
            <a:endParaRPr lang="ru-RU" dirty="0"/>
          </a:p>
          <a:p>
            <a:r>
              <a:rPr lang="ru-RU" dirty="0"/>
              <a:t>Когда программа выполняется, процессор делает очень простой цикл: он берёт инструкцию из памяти по адресу, который хранится в PC, затем декодирует её и выполняет.</a:t>
            </a:r>
          </a:p>
          <a:p>
            <a:endParaRPr lang="ru-RU" dirty="0"/>
          </a:p>
          <a:p>
            <a:r>
              <a:rPr lang="ru-RU" dirty="0"/>
              <a:t>И здесь очень важная идея: код программы и данные — это одно и то же с точки зрения памяти. Это просто байты.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16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вами схема процессора Intel 8080.</a:t>
            </a:r>
            <a:r>
              <a:rPr lang="en-US" dirty="0"/>
              <a:t> </a:t>
            </a:r>
            <a:r>
              <a:rPr lang="ru-RU" dirty="0"/>
              <a:t>Она может выглядеть сложной, но на самом деле здесь отражены те же самые идеи, о которых мы только что говорили — просто более детально.</a:t>
            </a:r>
            <a:r>
              <a:rPr lang="en-US" dirty="0"/>
              <a:t> </a:t>
            </a:r>
            <a:r>
              <a:rPr lang="ru-RU" dirty="0"/>
              <a:t>Давайте разберём, как процессор выполняет программу, шаг за шагом.</a:t>
            </a:r>
          </a:p>
          <a:p>
            <a:endParaRPr lang="ru-RU" dirty="0"/>
          </a:p>
          <a:p>
            <a:r>
              <a:rPr lang="ru-RU" b="1" dirty="0"/>
              <a:t>1. С чего всё начинается</a:t>
            </a:r>
          </a:p>
          <a:p>
            <a:r>
              <a:rPr lang="ru-RU" dirty="0"/>
              <a:t>В каждый момент времени процессор знает, </a:t>
            </a:r>
            <a:r>
              <a:rPr lang="ru-RU" b="1" dirty="0"/>
              <a:t>какую инструкцию выполнять дальше</a:t>
            </a:r>
            <a:r>
              <a:rPr lang="ru-RU" dirty="0"/>
              <a:t>. Адрес этой инструкции хранится в специальном регистре — </a:t>
            </a:r>
            <a:r>
              <a:rPr lang="ru-RU" b="1" dirty="0"/>
              <a:t>Program Counter, или PC</a:t>
            </a:r>
            <a:r>
              <a:rPr lang="ru-RU" dirty="0"/>
              <a:t>. Вот он на схеме — в блоке регистров справа.</a:t>
            </a:r>
          </a:p>
          <a:p>
            <a:endParaRPr lang="ru-RU" dirty="0"/>
          </a:p>
          <a:p>
            <a:r>
              <a:rPr lang="ru-RU" b="1" dirty="0"/>
              <a:t>2. Выборка команды из памяти</a:t>
            </a:r>
          </a:p>
          <a:p>
            <a:r>
              <a:rPr lang="ru-RU" dirty="0"/>
              <a:t>Процессор берёт значение из PC и выставляет его на </a:t>
            </a:r>
            <a:r>
              <a:rPr lang="ru-RU" b="1" dirty="0"/>
              <a:t>шину адреса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этого он обращается к памяти и считывает байт по этому адресу.</a:t>
            </a:r>
            <a:r>
              <a:rPr lang="en-US" dirty="0"/>
              <a:t> </a:t>
            </a:r>
            <a:r>
              <a:rPr lang="ru-RU" dirty="0"/>
              <a:t>Этот байт — код инструкции — попадает в </a:t>
            </a:r>
            <a:r>
              <a:rPr lang="ru-RU" b="1" dirty="0"/>
              <a:t>регистр команд IR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Это первый этап: мы просто “достаём” инструкцию из памяти.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3. Декодирование инструкции</a:t>
            </a:r>
          </a:p>
          <a:p>
            <a:r>
              <a:rPr lang="ru-RU" dirty="0"/>
              <a:t>Дальше включается блок </a:t>
            </a:r>
            <a:r>
              <a:rPr lang="ru-RU" b="1" dirty="0"/>
              <a:t>дешифрации команд (DCU)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Он “смотрит” на код инструкции и определяет:</a:t>
            </a:r>
          </a:p>
          <a:p>
            <a:r>
              <a:rPr lang="en-US" dirty="0"/>
              <a:t>- </a:t>
            </a:r>
            <a:r>
              <a:rPr lang="ru-RU" dirty="0"/>
              <a:t>что это за команда</a:t>
            </a:r>
          </a:p>
          <a:p>
            <a:r>
              <a:rPr lang="en-US" dirty="0"/>
              <a:t>- </a:t>
            </a:r>
            <a:r>
              <a:rPr lang="ru-RU" dirty="0"/>
              <a:t>сколько байтов она занимает</a:t>
            </a:r>
          </a:p>
          <a:p>
            <a:r>
              <a:rPr lang="en-US" dirty="0"/>
              <a:t>- </a:t>
            </a:r>
            <a:r>
              <a:rPr lang="ru-RU" dirty="0"/>
              <a:t>где находятся операнды</a:t>
            </a:r>
          </a:p>
          <a:p>
            <a:r>
              <a:rPr lang="en-US" dirty="0"/>
              <a:t>=</a:t>
            </a:r>
            <a:r>
              <a:rPr lang="ru-RU" dirty="0"/>
              <a:t>что именно нужно сделать</a:t>
            </a:r>
          </a:p>
          <a:p>
            <a:r>
              <a:rPr lang="ru-RU" dirty="0"/>
              <a:t>По сути, это перевод байта в набор действий.</a:t>
            </a:r>
          </a:p>
          <a:p>
            <a:endParaRPr lang="ru-RU" dirty="0"/>
          </a:p>
          <a:p>
            <a:r>
              <a:rPr lang="ru-RU" b="1" dirty="0"/>
              <a:t>4. Управление выполнением</a:t>
            </a:r>
          </a:p>
          <a:p>
            <a:r>
              <a:rPr lang="ru-RU" dirty="0"/>
              <a:t>На основе этой информации </a:t>
            </a:r>
            <a:r>
              <a:rPr lang="ru-RU" b="1" dirty="0"/>
              <a:t>устройство управления (CU)</a:t>
            </a:r>
            <a:r>
              <a:rPr lang="ru-RU" dirty="0"/>
              <a:t> начинает вырабатывать последовательность управляющих сигналов.</a:t>
            </a:r>
            <a:r>
              <a:rPr lang="en-US" dirty="0"/>
              <a:t> </a:t>
            </a:r>
            <a:r>
              <a:rPr lang="ru-RU" dirty="0"/>
              <a:t>Это очень важный момент:</a:t>
            </a:r>
            <a:r>
              <a:rPr lang="en-US" dirty="0"/>
              <a:t> </a:t>
            </a:r>
            <a:r>
              <a:rPr lang="ru-RU" dirty="0"/>
              <a:t>процессор не выполняет команду “за один шаг”</a:t>
            </a:r>
            <a:r>
              <a:rPr lang="en-US" dirty="0"/>
              <a:t>. </a:t>
            </a:r>
            <a:r>
              <a:rPr lang="ru-RU" dirty="0"/>
              <a:t>Он выполняет её как последовательность микроопераций</a:t>
            </a:r>
          </a:p>
          <a:p>
            <a:endParaRPr lang="ru-RU" dirty="0"/>
          </a:p>
          <a:p>
            <a:r>
              <a:rPr lang="ru-RU" b="1" dirty="0"/>
              <a:t>5. Работа с данными (ALU и регистры)</a:t>
            </a:r>
          </a:p>
          <a:p>
            <a:r>
              <a:rPr lang="ru-RU" dirty="0"/>
              <a:t>Теперь посмотрим на левую часть схемы.</a:t>
            </a:r>
          </a:p>
          <a:p>
            <a:r>
              <a:rPr lang="ru-RU" dirty="0"/>
              <a:t>Здесь находится: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/>
              <a:t>ALU</a:t>
            </a:r>
            <a:r>
              <a:rPr lang="ru-RU" dirty="0"/>
              <a:t> — арифметико-логическое устройство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регистры временного хранения — например, </a:t>
            </a:r>
            <a:r>
              <a:rPr lang="ru-RU" b="1" dirty="0" err="1"/>
              <a:t>RGa</a:t>
            </a:r>
            <a:r>
              <a:rPr lang="ru-RU" dirty="0"/>
              <a:t> и </a:t>
            </a:r>
            <a:r>
              <a:rPr lang="ru-RU" b="1" dirty="0" err="1"/>
              <a:t>RGb</a:t>
            </a:r>
            <a:endParaRPr lang="ru-RU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аккумулятор </a:t>
            </a:r>
            <a:r>
              <a:rPr lang="ru-RU" b="1" dirty="0"/>
              <a:t>A</a:t>
            </a:r>
          </a:p>
          <a:p>
            <a:r>
              <a:rPr lang="ru-RU" dirty="0"/>
              <a:t>Например, если выполняется команда: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B, </a:t>
            </a:r>
            <a:r>
              <a:rPr lang="ru-RU" dirty="0"/>
              <a:t>происходит следующее: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значение из аккумулятора A копируется во временный регистр </a:t>
            </a:r>
            <a:r>
              <a:rPr lang="ru-RU" b="1" dirty="0" err="1"/>
              <a:t>RGa</a:t>
            </a:r>
            <a:endParaRPr lang="ru-RU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значение из регистра B копируется в </a:t>
            </a:r>
            <a:r>
              <a:rPr lang="ru-RU" b="1" dirty="0" err="1"/>
              <a:t>RGb</a:t>
            </a:r>
            <a:endParaRPr lang="ru-RU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ALU складывает эти значения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результат возвращается обратно в аккумулятор </a:t>
            </a:r>
            <a:r>
              <a:rPr lang="ru-RU" b="1" dirty="0"/>
              <a:t>A</a:t>
            </a:r>
          </a:p>
          <a:p>
            <a:endParaRPr lang="ru-RU" dirty="0"/>
          </a:p>
          <a:p>
            <a:r>
              <a:rPr lang="ru-RU" b="1" dirty="0"/>
              <a:t>6. Флаги</a:t>
            </a:r>
          </a:p>
          <a:p>
            <a:r>
              <a:rPr lang="ru-RU" dirty="0"/>
              <a:t>После выполнения операции обновляется регистр флагов — </a:t>
            </a:r>
            <a:r>
              <a:rPr lang="ru-RU" b="1" dirty="0"/>
              <a:t>RS</a:t>
            </a:r>
            <a:r>
              <a:rPr lang="ru-RU" dirty="0"/>
              <a:t>.</a:t>
            </a:r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результат равен нулю или нет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был ли перенос</a:t>
            </a:r>
          </a:p>
          <a:p>
            <a:r>
              <a:rPr lang="ru-RU" dirty="0"/>
              <a:t>Эти флаги потом могут влиять на выполнение следующих команд.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7. Переход к следующей инструкции</a:t>
            </a:r>
          </a:p>
          <a:p>
            <a:r>
              <a:rPr lang="ru-RU" dirty="0"/>
              <a:t>После выполнения команды процессор обновляет </a:t>
            </a:r>
            <a:r>
              <a:rPr lang="ru-RU" b="1" dirty="0"/>
              <a:t>Program Counter</a:t>
            </a:r>
            <a:r>
              <a:rPr lang="ru-RU" dirty="0"/>
              <a:t>.</a:t>
            </a:r>
          </a:p>
          <a:p>
            <a:r>
              <a:rPr lang="ru-RU" dirty="0"/>
              <a:t>Если команда была однобайтовой — увеличивает его на 1,</a:t>
            </a:r>
            <a:r>
              <a:rPr lang="en-US" dirty="0"/>
              <a:t> </a:t>
            </a:r>
            <a:r>
              <a:rPr lang="ru-RU" dirty="0"/>
              <a:t>если двух- или трёхбайтовой — на 2 или 3.</a:t>
            </a:r>
          </a:p>
          <a:p>
            <a:r>
              <a:rPr lang="ru-RU" dirty="0"/>
              <a:t>И дальше всё повторяется:</a:t>
            </a:r>
            <a:r>
              <a:rPr lang="en-US" dirty="0"/>
              <a:t> </a:t>
            </a:r>
            <a:r>
              <a:rPr lang="ru-RU" dirty="0"/>
              <a:t>снова выборка → декодирование → выполнение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8. Ключевая идея</a:t>
            </a:r>
          </a:p>
          <a:p>
            <a:r>
              <a:rPr lang="ru-RU" dirty="0"/>
              <a:t>Если упростить всю эту схему до одной мысли:</a:t>
            </a:r>
            <a:r>
              <a:rPr lang="en-US" dirty="0"/>
              <a:t> </a:t>
            </a:r>
            <a:r>
              <a:rPr lang="ru-RU" dirty="0"/>
              <a:t>процессор — это машина, которая:</a:t>
            </a:r>
          </a:p>
          <a:p>
            <a:r>
              <a:rPr lang="en-US" dirty="0"/>
              <a:t>- </a:t>
            </a:r>
            <a:r>
              <a:rPr lang="ru-RU" dirty="0"/>
              <a:t>читает байты из памяти</a:t>
            </a:r>
          </a:p>
          <a:p>
            <a:r>
              <a:rPr lang="en-US" dirty="0"/>
              <a:t>- </a:t>
            </a:r>
            <a:r>
              <a:rPr lang="ru-RU" dirty="0"/>
              <a:t>интерпретирует их как команды</a:t>
            </a:r>
          </a:p>
          <a:p>
            <a:r>
              <a:rPr lang="en-US" dirty="0"/>
              <a:t>- </a:t>
            </a:r>
            <a:r>
              <a:rPr lang="ru-RU" dirty="0"/>
              <a:t>изменяет своё состояние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86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системно разберём, как процессор перемещает данные.</a:t>
            </a:r>
          </a:p>
          <a:p>
            <a:r>
              <a:rPr lang="ru-RU" dirty="0"/>
              <a:t>Я хочу, чтобы вы не просто запомнили инструкции,</a:t>
            </a:r>
            <a:r>
              <a:rPr lang="en-US" dirty="0"/>
              <a:t> </a:t>
            </a:r>
            <a:r>
              <a:rPr lang="ru-RU" dirty="0"/>
              <a:t>а увидели общую модель работы.</a:t>
            </a:r>
            <a:endParaRPr lang="en-US" dirty="0"/>
          </a:p>
          <a:p>
            <a:endParaRPr lang="en-US" dirty="0"/>
          </a:p>
          <a:p>
            <a:r>
              <a:rPr lang="ru-RU" dirty="0"/>
              <a:t>Начнём с самого простого — копирование между регистрами.</a:t>
            </a:r>
            <a:r>
              <a:rPr lang="en-US" dirty="0"/>
              <a:t> </a:t>
            </a:r>
            <a:r>
              <a:rPr lang="ru-RU" dirty="0"/>
              <a:t>Инструкция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dirty="0"/>
              <a:t> копирует значение из одного регистра в другой.</a:t>
            </a:r>
            <a:endParaRPr lang="en-US" dirty="0"/>
          </a:p>
          <a:p>
            <a:r>
              <a:rPr lang="ru-RU" dirty="0"/>
              <a:t>Это базовая операция: данные уже находятся внутри процессора, и мы просто их перекладываем.</a:t>
            </a:r>
            <a:endParaRPr lang="en-US" dirty="0"/>
          </a:p>
          <a:p>
            <a:endParaRPr lang="en-US" dirty="0"/>
          </a:p>
          <a:p>
            <a:r>
              <a:rPr lang="ru-RU" dirty="0"/>
              <a:t>Следующий шаг — загрузка константы.</a:t>
            </a:r>
            <a:r>
              <a:rPr lang="en-US" dirty="0"/>
              <a:t> </a:t>
            </a:r>
            <a:r>
              <a:rPr lang="ru-RU" dirty="0"/>
              <a:t>Инструкция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MVI</a:t>
            </a:r>
            <a:r>
              <a:rPr lang="ru-RU" dirty="0"/>
              <a:t> позволяет положить в регистр конкретное значение.</a:t>
            </a:r>
            <a:r>
              <a:rPr lang="en-US" dirty="0"/>
              <a:t> </a:t>
            </a:r>
            <a:r>
              <a:rPr lang="ru-RU" dirty="0"/>
              <a:t>Это один из способов “завести” данные в процессор.</a:t>
            </a:r>
            <a:endParaRPr lang="en-US" dirty="0"/>
          </a:p>
          <a:p>
            <a:endParaRPr lang="en-US" dirty="0"/>
          </a:p>
          <a:p>
            <a:r>
              <a:rPr lang="ru-RU" dirty="0"/>
              <a:t>Дальше — инструкция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LXI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Она загружает 16-битное значение в пару регистров.</a:t>
            </a:r>
            <a:r>
              <a:rPr lang="en-US" dirty="0"/>
              <a:t> </a:t>
            </a:r>
            <a:r>
              <a:rPr lang="ru-RU" dirty="0"/>
              <a:t>Чаще всего это используется для работы с адресами.</a:t>
            </a:r>
            <a:r>
              <a:rPr lang="en-US" dirty="0"/>
              <a:t> </a:t>
            </a:r>
            <a:r>
              <a:rPr lang="ru-RU" dirty="0"/>
              <a:t>Например, мы можем положить в HL адрес ячейки памяти.</a:t>
            </a:r>
          </a:p>
          <a:p>
            <a:endParaRPr lang="en-US" dirty="0"/>
          </a:p>
          <a:p>
            <a:r>
              <a:rPr lang="ru-RU" dirty="0"/>
              <a:t>Теперь самый важный момент — работа с памятью.</a:t>
            </a:r>
            <a:endParaRPr lang="en-US" dirty="0"/>
          </a:p>
          <a:p>
            <a:r>
              <a:rPr lang="ru-RU" dirty="0"/>
              <a:t>В 8080 основной способ работы с памятью — это косвенная адресация через регистр HL.</a:t>
            </a:r>
            <a:r>
              <a:rPr lang="en-US" dirty="0"/>
              <a:t> </a:t>
            </a:r>
            <a:r>
              <a:rPr lang="ru-RU" dirty="0"/>
              <a:t>HL в этом случае играет роль указателя.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Инструкция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A, M</a:t>
            </a:r>
            <a:r>
              <a:rPr lang="ru-RU" dirty="0"/>
              <a:t> означает:</a:t>
            </a:r>
            <a:r>
              <a:rPr lang="en-US" dirty="0"/>
              <a:t> </a:t>
            </a:r>
            <a:r>
              <a:rPr lang="ru-RU" dirty="0"/>
              <a:t>возьми байт из памяти по адресу, который лежит в HL, и положи его в аккумулятор.</a:t>
            </a:r>
          </a:p>
          <a:p>
            <a:r>
              <a:rPr lang="ru-RU" dirty="0"/>
              <a:t>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M, A</a:t>
            </a:r>
            <a:r>
              <a:rPr lang="ru-RU" dirty="0"/>
              <a:t> — наоборот, записывает значение в память.</a:t>
            </a:r>
            <a:r>
              <a:rPr lang="en-US" dirty="0"/>
              <a:t> </a:t>
            </a:r>
            <a:r>
              <a:rPr lang="ru-RU" dirty="0"/>
              <a:t>То есть HL — это по сути аналог указателя в языке C.</a:t>
            </a:r>
            <a:endParaRPr lang="en-US" dirty="0"/>
          </a:p>
          <a:p>
            <a:endParaRPr lang="en-US" dirty="0"/>
          </a:p>
          <a:p>
            <a:r>
              <a:rPr lang="ru-RU" dirty="0"/>
              <a:t>Кроме этого есть прямой доступ к памяти.</a:t>
            </a:r>
            <a:r>
              <a:rPr lang="en-US" dirty="0"/>
              <a:t> </a:t>
            </a:r>
            <a:r>
              <a:rPr lang="ru-RU" dirty="0"/>
              <a:t>Инструкции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</a:t>
            </a:r>
            <a:r>
              <a:rPr lang="ru-RU" dirty="0"/>
              <a:t> позволяют читать и записывать байт по конкретному адресу, который указан прямо в коде.</a:t>
            </a:r>
            <a:r>
              <a:rPr lang="en-US" dirty="0"/>
              <a:t> </a:t>
            </a:r>
            <a:r>
              <a:rPr lang="ru-RU" dirty="0"/>
              <a:t>Это удобно, когда адрес известен заранее.</a:t>
            </a:r>
          </a:p>
          <a:p>
            <a:endParaRPr lang="ru-RU" dirty="0"/>
          </a:p>
          <a:p>
            <a:r>
              <a:rPr lang="ru-RU" dirty="0"/>
              <a:t>Теперь важный момент про 16-битные значения.</a:t>
            </a:r>
          </a:p>
          <a:p>
            <a:r>
              <a:rPr lang="ru-RU" dirty="0"/>
              <a:t>Если в памяти лежит</a:t>
            </a:r>
            <a:r>
              <a:rPr lang="en-US" dirty="0"/>
              <a:t> 16-</a:t>
            </a:r>
            <a:r>
              <a:rPr lang="ru-RU" dirty="0"/>
              <a:t>битное значение, например указатель,</a:t>
            </a:r>
            <a:r>
              <a:rPr lang="en-US" dirty="0"/>
              <a:t> </a:t>
            </a:r>
            <a:r>
              <a:rPr lang="ru-RU" dirty="0"/>
              <a:t>то оно занимает два байта. И его нельзя считать одной инструкцией типа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</a:t>
            </a:r>
            <a:r>
              <a:rPr lang="ru-RU" dirty="0"/>
              <a:t>.</a:t>
            </a:r>
          </a:p>
          <a:p>
            <a:r>
              <a:rPr lang="ru-RU" dirty="0"/>
              <a:t>Для этого есть специальные инструкции: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LHLD</a:t>
            </a:r>
            <a:r>
              <a:rPr lang="ru-RU" dirty="0"/>
              <a:t> — загрузить два байта из памяти в HL,</a:t>
            </a:r>
            <a:br>
              <a:rPr lang="ru-RU" dirty="0"/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SHLD</a:t>
            </a:r>
            <a:r>
              <a:rPr lang="ru-RU" dirty="0"/>
              <a:t> — сохранить HL в память.</a:t>
            </a:r>
          </a:p>
          <a:p>
            <a:endParaRPr lang="ru-RU" dirty="0"/>
          </a:p>
          <a:p>
            <a:r>
              <a:rPr lang="ru-RU" dirty="0"/>
              <a:t>Именно эти инструкции позволяют работать с указателями, когда адрес хранится в памяти, а не задан напрямую.</a:t>
            </a:r>
          </a:p>
          <a:p>
            <a:endParaRPr lang="ru-RU" dirty="0"/>
          </a:p>
          <a:p>
            <a:r>
              <a:rPr lang="ru-RU" dirty="0"/>
              <a:t>И теперь самая важная идея этого слайда. Процессор 8080 не умеет делать операции напрямую с памятью. Он не может, например, сложить два числа, лежащих в памяти – такой команды у него нет.</a:t>
            </a:r>
            <a:r>
              <a:rPr lang="en-US" dirty="0"/>
              <a:t> </a:t>
            </a:r>
            <a:r>
              <a:rPr lang="ru-RU" dirty="0"/>
              <a:t>Всегда используется один и тот же шаблон: сначала данные загружаются в регистры, потом над ними выполняется операция, и только потом результат записывается обратно в память.</a:t>
            </a:r>
          </a:p>
          <a:p>
            <a:endParaRPr lang="ru-RU" dirty="0"/>
          </a:p>
          <a:p>
            <a:r>
              <a:rPr lang="ru-RU" dirty="0"/>
              <a:t>Если сформулировать совсем кратко: регистры — это “рабочая зона” процессора, память — это “склад”. И все данные всегда проходят через эту рабочую зону.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87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разберём этот пример внимательно — здесь как раз видно, как привычный нам код на C “раскладывается” на элементарные операции процессора.</a:t>
            </a:r>
          </a:p>
          <a:p>
            <a:endParaRPr lang="ru-RU" dirty="0"/>
          </a:p>
          <a:p>
            <a:r>
              <a:rPr lang="ru-RU" dirty="0"/>
              <a:t>Сверху у нас объявлены переменные и указатели.</a:t>
            </a:r>
            <a:br>
              <a:rPr lang="ru-RU" dirty="0"/>
            </a:br>
            <a:r>
              <a:rPr lang="ru-RU" dirty="0"/>
              <a:t>Мы явно договорились, по каким адресам они лежат в памяти. Это важно, потому что в ассемблере мы всегда работаем с конкретными адресами.</a:t>
            </a:r>
          </a:p>
          <a:p>
            <a:endParaRPr lang="ru-RU" dirty="0"/>
          </a:p>
          <a:p>
            <a:r>
              <a:rPr lang="ru-RU" dirty="0"/>
              <a:t>Первая строка в C: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x1 = x2;</a:t>
            </a:r>
          </a:p>
          <a:p>
            <a:r>
              <a:rPr lang="ru-RU" dirty="0"/>
              <a:t>На уровне процессора это означает: считать байт из памяти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1001h</a:t>
            </a:r>
            <a:r>
              <a:rPr lang="ru-RU" dirty="0"/>
              <a:t> и записать его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1000h</a:t>
            </a:r>
            <a:r>
              <a:rPr lang="ru-RU" dirty="0"/>
              <a:t>.</a:t>
            </a:r>
          </a:p>
          <a:p>
            <a:r>
              <a:rPr lang="ru-RU" dirty="0"/>
              <a:t>Для этого используются две инструкции: сначала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 1001H</a:t>
            </a:r>
            <a:r>
              <a:rPr lang="ru-RU" dirty="0"/>
              <a:t> — загрузить значение в аккумулятор, затем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 1000H</a:t>
            </a:r>
            <a:r>
              <a:rPr lang="ru-RU" dirty="0"/>
              <a:t> — сохранить его в другой адрес.</a:t>
            </a:r>
          </a:p>
          <a:p>
            <a:endParaRPr lang="ru-RU" dirty="0"/>
          </a:p>
          <a:p>
            <a:r>
              <a:rPr lang="ru-RU" dirty="0"/>
              <a:t>Вторая строка: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*ptr1 = *ptr2;</a:t>
            </a:r>
          </a:p>
          <a:p>
            <a:r>
              <a:rPr lang="ru-RU" dirty="0"/>
              <a:t>Здесь уже появляется указатель, и всё становится интереснее. Сначала нужно получить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ptr2</a:t>
            </a:r>
            <a:r>
              <a:rPr lang="ru-RU" dirty="0"/>
              <a:t>, то есть адрес, который в нём хранится.</a:t>
            </a:r>
            <a:br>
              <a:rPr lang="ru-RU" dirty="0"/>
            </a:br>
            <a:r>
              <a:rPr lang="ru-RU" dirty="0"/>
              <a:t>Инструкция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LHLD 1004H</a:t>
            </a:r>
            <a:r>
              <a:rPr lang="ru-RU" dirty="0"/>
              <a:t> читает два байта из памяти и помещает их в регистровую пару HL. Теперь в HL лежит адрес, на который указывает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ptr2</a:t>
            </a:r>
            <a:r>
              <a:rPr lang="ru-RU" dirty="0"/>
              <a:t>.</a:t>
            </a:r>
          </a:p>
          <a:p>
            <a:r>
              <a:rPr lang="ru-RU" dirty="0"/>
              <a:t>Дальше инструкция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A, M</a:t>
            </a:r>
            <a:r>
              <a:rPr lang="ru-RU" dirty="0"/>
              <a:t> читает байт из памяти по адресу HL. То есть мы получили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*ptr2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Затем аналогично загружаем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ptr1</a:t>
            </a:r>
            <a:r>
              <a:rPr lang="ru-RU" dirty="0"/>
              <a:t>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LHLD 1002H</a:t>
            </a:r>
            <a:r>
              <a:rPr lang="ru-RU" dirty="0"/>
              <a:t> — теперь HL содержит адрес, куда нужно записать. И команда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M, A</a:t>
            </a:r>
            <a:r>
              <a:rPr lang="ru-RU" dirty="0"/>
              <a:t> записывает значение по этому адресу.</a:t>
            </a:r>
          </a:p>
          <a:p>
            <a:endParaRPr lang="ru-RU" dirty="0"/>
          </a:p>
          <a:p>
            <a:r>
              <a:rPr lang="ru-RU" dirty="0"/>
              <a:t>Последняя строка: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x3 = 42;</a:t>
            </a:r>
          </a:p>
          <a:p>
            <a:endParaRPr lang="ru-RU" dirty="0"/>
          </a:p>
          <a:p>
            <a:r>
              <a:rPr lang="ru-RU" dirty="0"/>
              <a:t>Здесь всё просто: мы кладём число 42 в аккумулятор с помощью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MVI</a:t>
            </a:r>
            <a:r>
              <a:rPr lang="ru-RU" dirty="0"/>
              <a:t>, и затем записываем его в память командой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Главная идея этого слайда:</a:t>
            </a:r>
            <a:r>
              <a:rPr lang="en-US" dirty="0"/>
              <a:t> </a:t>
            </a:r>
            <a:r>
              <a:rPr lang="ru-RU" dirty="0"/>
              <a:t>в языке C операции с памятью выглядят как одна строка,</a:t>
            </a:r>
            <a:r>
              <a:rPr lang="en-US" dirty="0"/>
              <a:t> </a:t>
            </a:r>
            <a:r>
              <a:rPr lang="ru-RU" dirty="0"/>
              <a:t>но на уровне процессора это всегда последовательность простых шагов:</a:t>
            </a:r>
            <a:r>
              <a:rPr lang="en-US" dirty="0"/>
              <a:t> </a:t>
            </a:r>
            <a:r>
              <a:rPr lang="ru-RU" dirty="0"/>
              <a:t>считать → временно сохранить → записать.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особенно хорошо это видно на примере указателей —</a:t>
            </a:r>
            <a:r>
              <a:rPr lang="en-US" dirty="0"/>
              <a:t> </a:t>
            </a:r>
            <a:r>
              <a:rPr lang="ru-RU" dirty="0"/>
              <a:t>там уже явно видно, что адрес сам является данными,</a:t>
            </a:r>
            <a:r>
              <a:rPr lang="en-US" dirty="0"/>
              <a:t> </a:t>
            </a:r>
            <a:r>
              <a:rPr lang="ru-RU" dirty="0"/>
              <a:t>которые нужно сначала загрузить, а потом использовать.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16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 этом процессоре устроена арифметика.</a:t>
            </a:r>
          </a:p>
          <a:p>
            <a:r>
              <a:rPr lang="ru-RU" dirty="0"/>
              <a:t>Самое важное правило, которое нужно запомнить: почти все арифметические операции выполняются через аккумулятор — регистр A.</a:t>
            </a:r>
          </a:p>
          <a:p>
            <a:endParaRPr lang="ru-RU" dirty="0"/>
          </a:p>
          <a:p>
            <a:r>
              <a:rPr lang="ru-RU" dirty="0"/>
              <a:t>Например, инструкция: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B </a:t>
            </a:r>
            <a:r>
              <a:rPr lang="ru-RU" dirty="0"/>
              <a:t>означает: взять значение из регистра B и прибавить его к аккумулятору.</a:t>
            </a:r>
          </a:p>
          <a:p>
            <a:r>
              <a:rPr lang="ru-RU" dirty="0"/>
              <a:t>Результат будет записан обратно в аккумулятор. То есть это не “сложение двух произвольных регистров”, а всегда операция вида: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A + что-то</a:t>
            </a:r>
          </a:p>
          <a:p>
            <a:endParaRPr lang="ru-RU" dirty="0"/>
          </a:p>
          <a:p>
            <a:r>
              <a:rPr lang="ru-RU" dirty="0"/>
              <a:t>Аналогично работает вычитание: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 B </a:t>
            </a:r>
            <a:r>
              <a:rPr lang="ru-RU" dirty="0"/>
              <a:t>означает: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A - B</a:t>
            </a:r>
          </a:p>
          <a:p>
            <a:endParaRPr lang="ru-RU" dirty="0"/>
          </a:p>
          <a:p>
            <a:r>
              <a:rPr lang="ru-RU" dirty="0"/>
              <a:t>Обратите внимание, что операнд может быть не только регистром, но и значением в памяти. Например: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M </a:t>
            </a:r>
            <a:r>
              <a:rPr lang="ru-RU" dirty="0"/>
              <a:t>означает: прибавить к аккумулятору байт из памяти по адресу, который лежит в HL.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Есть также простые операции изменения на единицу: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INR A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DCR A</a:t>
            </a:r>
          </a:p>
          <a:p>
            <a:r>
              <a:rPr lang="ru-RU" dirty="0"/>
              <a:t>Они увеличивают или уменьшают значение регистра на 1. Интересно, что эти инструкции можно применять не только к аккумулятору, но и к другим регистрам, и даже к памяти по адресу HL.</a:t>
            </a:r>
          </a:p>
          <a:p>
            <a:endParaRPr lang="ru-RU" dirty="0"/>
          </a:p>
          <a:p>
            <a:r>
              <a:rPr lang="ru-RU" dirty="0"/>
              <a:t>Теперь важный момент — флаги. После выполнения арифметических операций процессор обновляет специальный регистр флагов.</a:t>
            </a:r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результат равен нулю — устанавливается флаг Z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был перенос — флаг CY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результат отрицательный — флаг S </a:t>
            </a:r>
          </a:p>
          <a:p>
            <a:r>
              <a:rPr lang="ru-RU" dirty="0"/>
              <a:t>Эти флаги потом используются, например, в условных переходах.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И теперь ключевое ограничение архитектуры. В 8080 нельзя написать что-то вроде: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B, C.</a:t>
            </a:r>
          </a:p>
          <a:p>
            <a:r>
              <a:rPr lang="ru-RU" dirty="0"/>
              <a:t>Процессор не умеет напрямую складывать два произвольных регистра. Всегда используется аккумулятор как “центр” вычислений.</a:t>
            </a:r>
          </a:p>
          <a:p>
            <a:r>
              <a:rPr lang="ru-RU" dirty="0"/>
              <a:t>Если нужно сложить B и C, придётся сделать это в несколько шагов: сначала скопировать одно значение в A, а потом прибавить второе.</a:t>
            </a:r>
          </a:p>
          <a:p>
            <a:endParaRPr lang="ru-RU" dirty="0"/>
          </a:p>
          <a:p>
            <a:r>
              <a:rPr lang="ru-RU" dirty="0"/>
              <a:t>И это очень важная идея: в языке C вы пишете выражение, а процессор выполняет его как последовательность простых операций.</a:t>
            </a:r>
          </a:p>
          <a:p>
            <a:r>
              <a:rPr lang="ru-RU" dirty="0"/>
              <a:t>Если сформулировать кратко: арифметика в процессоре — это не формулы, а последовательность элементарных шагов.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82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более интересный пример, где арифметика сочетается с работой с памятью.</a:t>
            </a:r>
          </a:p>
          <a:p>
            <a:endParaRPr lang="ru-RU" dirty="0"/>
          </a:p>
          <a:p>
            <a:r>
              <a:rPr lang="ru-RU" dirty="0"/>
              <a:t>На языке C у нас есть массив из трёх байтов. Мы считаем, что он расположен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1000h</a:t>
            </a:r>
            <a:r>
              <a:rPr lang="ru-RU" dirty="0"/>
              <a:t>.</a:t>
            </a:r>
          </a:p>
          <a:p>
            <a:r>
              <a:rPr lang="ru-RU" dirty="0"/>
              <a:t>Функция принимает два аргумента: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Для простоты договоримся, что к моменту начала выполнения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ru-RU" dirty="0"/>
              <a:t> уже находится в регистре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ru-RU" dirty="0"/>
              <a:t> — в регистре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Сначала в C создаётся указатель: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uint8_t *p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На ассемблере это соответствует инструкции: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LXI H, 1000H</a:t>
            </a:r>
          </a:p>
          <a:p>
            <a:r>
              <a:rPr lang="ru-RU" dirty="0"/>
              <a:t>Мы загружаем в регистровую пару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HL</a:t>
            </a:r>
            <a:r>
              <a:rPr lang="ru-RU" dirty="0"/>
              <a:t> адрес начала массива.</a:t>
            </a:r>
            <a:r>
              <a:rPr lang="en-US" dirty="0"/>
              <a:t> </a:t>
            </a:r>
            <a:r>
              <a:rPr lang="ru-RU" dirty="0"/>
              <a:t>Дальше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HL</a:t>
            </a:r>
            <a:r>
              <a:rPr lang="ru-RU" dirty="0"/>
              <a:t> играет роль указателя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Первая операция: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*(p++) = v;</a:t>
            </a:r>
          </a:p>
          <a:p>
            <a:r>
              <a:rPr lang="ru-RU" dirty="0"/>
              <a:t>Она делает сразу две вещи:</a:t>
            </a:r>
            <a:r>
              <a:rPr lang="en-US" dirty="0"/>
              <a:t> </a:t>
            </a:r>
            <a:r>
              <a:rPr lang="ru-RU" dirty="0"/>
              <a:t>записывает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ru-RU" dirty="0"/>
              <a:t>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dirty="0"/>
              <a:t>а потом увеличивает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ru-RU" dirty="0"/>
          </a:p>
          <a:p>
            <a:r>
              <a:rPr lang="ru-RU" dirty="0"/>
              <a:t>На ассемблере это распадается на две инструкции.</a:t>
            </a:r>
          </a:p>
          <a:p>
            <a:r>
              <a:rPr lang="ru-RU" dirty="0"/>
              <a:t>Сначала: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M, A</a:t>
            </a:r>
          </a:p>
          <a:p>
            <a:r>
              <a:rPr lang="ru-RU" dirty="0"/>
              <a:t>Она записывает содержимое аккумулятора в память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HL</a:t>
            </a:r>
            <a:r>
              <a:rPr lang="ru-RU" dirty="0"/>
              <a:t>.</a:t>
            </a:r>
          </a:p>
          <a:p>
            <a:r>
              <a:rPr lang="ru-RU" dirty="0"/>
              <a:t>Затем: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INX H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Эта инструкция увеличивает регистровую пару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HL</a:t>
            </a:r>
            <a:r>
              <a:rPr lang="ru-RU" dirty="0"/>
              <a:t> на единицу.</a:t>
            </a:r>
            <a:r>
              <a:rPr lang="en-US" dirty="0"/>
              <a:t> </a:t>
            </a:r>
            <a:r>
              <a:rPr lang="ru-RU" dirty="0"/>
              <a:t>То есть указатель переходит к следующему элементу массива.</a:t>
            </a:r>
          </a:p>
          <a:p>
            <a:endParaRPr lang="en-US" dirty="0"/>
          </a:p>
          <a:p>
            <a:r>
              <a:rPr lang="ru-RU" dirty="0"/>
              <a:t>Дальше выполняется: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 +=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Поскольку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ru-RU" dirty="0"/>
              <a:t> находится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ru-RU" dirty="0"/>
              <a:t> —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, это просто: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B</a:t>
            </a:r>
          </a:p>
          <a:p>
            <a:r>
              <a:rPr lang="ru-RU" dirty="0"/>
              <a:t>Мы прибавляем значение регистра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к аккумулятору, и результат снова оказывается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После этого снова идёт: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*(p++) = v;</a:t>
            </a:r>
          </a:p>
          <a:p>
            <a:r>
              <a:rPr lang="ru-RU" dirty="0"/>
              <a:t>И снова это две инструкции: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M, A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INX H</a:t>
            </a:r>
          </a:p>
          <a:p>
            <a:r>
              <a:rPr lang="ru-RU" dirty="0"/>
              <a:t>Мы записываем новое значение в память и передвигаем указатель дальше.</a:t>
            </a:r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Потом ещё раз: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 +=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То есть ещё один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B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И последняя строка: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*p = v;</a:t>
            </a:r>
          </a:p>
          <a:p>
            <a:r>
              <a:rPr lang="ru-RU" dirty="0"/>
              <a:t>Здесь указатель уже не увеличивается, поэтому нужна только запись: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M, A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Если посмотреть на программу целиком, видно очень важную вещь.</a:t>
            </a:r>
          </a:p>
          <a:p>
            <a:r>
              <a:rPr lang="ru-RU" dirty="0"/>
              <a:t>То, что в C выглядит как компактный и естественный код,</a:t>
            </a:r>
            <a:r>
              <a:rPr lang="en-US" dirty="0"/>
              <a:t> </a:t>
            </a:r>
            <a:r>
              <a:rPr lang="ru-RU" dirty="0"/>
              <a:t>в ассемблере превращается в последовательность очень простых действий: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положить адрес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HL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записать байт в память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увеличить указатель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изменить значение в аккумуляторе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снова записать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Это хороший пример того, как процессор реально выполняет программу.</a:t>
            </a:r>
            <a:r>
              <a:rPr lang="en-US" dirty="0"/>
              <a:t> </a:t>
            </a:r>
            <a:r>
              <a:rPr lang="ru-RU" dirty="0"/>
              <a:t>Он не знает, что такое массив, указатель или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p++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Для него всё это раскладывается на элементарные шаги: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изменение регистров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чтение и запись памяти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арифметические операции 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6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рассматривали инструкции, которые работают с данными. Теперь давайте посмотрим, как управляется сам процесс выполнения программы.</a:t>
            </a:r>
          </a:p>
          <a:p>
            <a:endParaRPr lang="ru-RU" dirty="0"/>
          </a:p>
          <a:p>
            <a:r>
              <a:rPr lang="ru-RU" dirty="0"/>
              <a:t>В обычной ситуации процессор выполняет инструкции последовательно. Он берёт адрес из регистра PC, выполняет инструкцию, увеличивает PC и переходит к следующей.</a:t>
            </a:r>
          </a:p>
          <a:p>
            <a:endParaRPr lang="ru-RU" dirty="0"/>
          </a:p>
          <a:p>
            <a:r>
              <a:rPr lang="ru-RU" dirty="0"/>
              <a:t>Но иногда нам нужно изменить этот порядок. Для этого используется инструкция JMP — безусловный переход. Она просто записывает в PC новый адрес, и процессор продолжает выполнение уже с него.</a:t>
            </a:r>
          </a:p>
          <a:p>
            <a:endParaRPr lang="ru-RU" dirty="0"/>
          </a:p>
          <a:p>
            <a:r>
              <a:rPr lang="ru-RU" dirty="0"/>
              <a:t>Есть также условные переходы — например, переход, если результат равен нулю, или не равен нулю. Они опираются на регистр флагов, который обновляется после арифметических операций.</a:t>
            </a:r>
          </a:p>
          <a:p>
            <a:endParaRPr lang="ru-RU" dirty="0"/>
          </a:p>
          <a:p>
            <a:r>
              <a:rPr lang="ru-RU" dirty="0"/>
              <a:t>Это позволяет реализовывать всю логику программ: циклы, условия, ветвления.</a:t>
            </a:r>
          </a:p>
          <a:p>
            <a:r>
              <a:rPr lang="ru-RU" dirty="0"/>
              <a:t>И здесь очень важная идея: процессор сам не “понимает” программу.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Он не знает, что такое цикл или </a:t>
            </a:r>
            <a:r>
              <a:rPr lang="ru-RU" dirty="0" err="1"/>
              <a:t>if</a:t>
            </a:r>
            <a:r>
              <a:rPr lang="ru-RU" dirty="0"/>
              <a:t>. Он просто изменяет значение PC в зависимости от инструкций и флагов.</a:t>
            </a:r>
          </a:p>
          <a:p>
            <a:r>
              <a:rPr lang="ru-RU" dirty="0"/>
              <a:t>А уже из этого складывается поведение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04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 на более сложный и очень важный пример — реализацию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memcpy</a:t>
            </a:r>
            <a:r>
              <a:rPr lang="ru-RU" dirty="0"/>
              <a:t>.</a:t>
            </a:r>
          </a:p>
          <a:p>
            <a:r>
              <a:rPr lang="ru-RU" dirty="0"/>
              <a:t>На языке C она выглядит довольно просто:</a:t>
            </a:r>
            <a:r>
              <a:rPr lang="en-US" dirty="0"/>
              <a:t> </a:t>
            </a:r>
            <a:r>
              <a:rPr lang="ru-RU" dirty="0"/>
              <a:t>мы копируем байты из одного массива в другой, пока счётчик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 не станет равен нулю.</a:t>
            </a:r>
          </a:p>
          <a:p>
            <a:r>
              <a:rPr lang="ru-RU" dirty="0"/>
              <a:t>Здесь появляется сразу несколько важных вещей: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указатели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цикл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условие</a:t>
            </a:r>
          </a:p>
          <a:p>
            <a:endParaRPr lang="en-US" dirty="0"/>
          </a:p>
          <a:p>
            <a:r>
              <a:rPr lang="ru-RU" dirty="0"/>
              <a:t>Сейчас разберём, как это выглядит на уровне процессора. Сначала договоримся о размещении данных в регистрах: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HL</a:t>
            </a:r>
            <a:r>
              <a:rPr lang="ru-RU" dirty="0"/>
              <a:t> будет хранить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</a:t>
            </a:r>
            <a:r>
              <a:rPr lang="ru-RU" dirty="0"/>
              <a:t> —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dst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BC</a:t>
            </a:r>
            <a:r>
              <a:rPr lang="ru-RU" dirty="0"/>
              <a:t> — размер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 </a:t>
            </a:r>
          </a:p>
          <a:p>
            <a:r>
              <a:rPr lang="ru-RU" dirty="0"/>
              <a:t>Это типичная схема для 8080.</a:t>
            </a:r>
          </a:p>
          <a:p>
            <a:endParaRPr lang="en-US" dirty="0"/>
          </a:p>
          <a:p>
            <a:r>
              <a:rPr lang="ru-RU" dirty="0"/>
              <a:t>Важно, что цикл здесь имеет </a:t>
            </a:r>
            <a:r>
              <a:rPr lang="ru-RU" b="1" dirty="0"/>
              <a:t>предусловие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/>
              <a:t>сначала проверяется, не равен 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 нулю,</a:t>
            </a:r>
            <a:r>
              <a:rPr lang="en-US" dirty="0"/>
              <a:t> </a:t>
            </a:r>
            <a:r>
              <a:rPr lang="ru-RU" dirty="0"/>
              <a:t>и только потом выполняется тело цикла.</a:t>
            </a:r>
            <a:r>
              <a:rPr lang="en-US" dirty="0"/>
              <a:t> </a:t>
            </a:r>
            <a:r>
              <a:rPr lang="ru-RU" dirty="0"/>
              <a:t>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 изначально равно нулю, тело цикла не должно выполниться ни разу.</a:t>
            </a:r>
          </a:p>
          <a:p>
            <a:r>
              <a:rPr lang="ru-RU" dirty="0"/>
              <a:t>Обратите внимание на первую инструкцию: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 CHECK</a:t>
            </a:r>
          </a:p>
          <a:p>
            <a:r>
              <a:rPr lang="ru-RU" dirty="0"/>
              <a:t>Мы сразу переходим к проверке условия,</a:t>
            </a:r>
            <a:r>
              <a:rPr lang="en-US" dirty="0"/>
              <a:t> </a:t>
            </a:r>
            <a:r>
              <a:rPr lang="ru-RU" dirty="0"/>
              <a:t>не заходя в тело цикла.</a:t>
            </a:r>
            <a:r>
              <a:rPr lang="en-US" dirty="0"/>
              <a:t> </a:t>
            </a:r>
            <a:r>
              <a:rPr lang="ru-RU" dirty="0"/>
              <a:t>В результате получился именно цикл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, а 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do-while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Теперь посмотрим на цикл.</a:t>
            </a:r>
          </a:p>
          <a:p>
            <a:r>
              <a:rPr lang="ru-RU" dirty="0"/>
              <a:t>Метка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LOOP</a:t>
            </a:r>
            <a:r>
              <a:rPr lang="ru-RU" dirty="0"/>
              <a:t> — это просто адрес в программе,</a:t>
            </a:r>
            <a:r>
              <a:rPr lang="en-US" dirty="0"/>
              <a:t> </a:t>
            </a:r>
            <a:r>
              <a:rPr lang="ru-RU" dirty="0"/>
              <a:t>на который мы можем прыгать.</a:t>
            </a:r>
          </a:p>
          <a:p>
            <a:endParaRPr lang="ru-RU" dirty="0"/>
          </a:p>
          <a:p>
            <a:r>
              <a:rPr lang="ru-RU" dirty="0"/>
              <a:t>Первая инструкция: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A, M</a:t>
            </a:r>
          </a:p>
          <a:p>
            <a:r>
              <a:rPr lang="ru-RU" dirty="0"/>
              <a:t>Она читает байт из памяти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HL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то есть берёт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Дальше: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STAX D</a:t>
            </a:r>
          </a:p>
          <a:p>
            <a:r>
              <a:rPr lang="ru-RU" dirty="0"/>
              <a:t>Эта инструкция записывает значение аккумулятора</a:t>
            </a:r>
            <a:r>
              <a:rPr lang="en-US" dirty="0"/>
              <a:t> </a:t>
            </a:r>
            <a:r>
              <a:rPr lang="ru-RU" dirty="0"/>
              <a:t>в память по адресу, который хранится в паре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</a:t>
            </a:r>
            <a:r>
              <a:rPr lang="ru-RU" dirty="0"/>
              <a:t>.</a:t>
            </a:r>
          </a:p>
          <a:p>
            <a:r>
              <a:rPr lang="ru-RU" dirty="0"/>
              <a:t>То есть мы делаем:</a:t>
            </a:r>
            <a:r>
              <a:rPr lang="en-US" dirty="0"/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ru-RU" dirty="0"/>
          </a:p>
          <a:p>
            <a:endParaRPr lang="en-US" dirty="0"/>
          </a:p>
          <a:p>
            <a:r>
              <a:rPr lang="ru-RU" dirty="0"/>
              <a:t>Теперь увеличиваем указатели: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INX H   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INX D   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</a:p>
          <a:p>
            <a:r>
              <a:rPr lang="ru-RU" dirty="0"/>
              <a:t>Это аналог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в C</a:t>
            </a:r>
          </a:p>
          <a:p>
            <a:endParaRPr lang="en-US" dirty="0"/>
          </a:p>
          <a:p>
            <a:r>
              <a:rPr lang="ru-RU" dirty="0"/>
              <a:t>Дальше уменьшаем счётчик: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DCX B</a:t>
            </a:r>
          </a:p>
          <a:p>
            <a:r>
              <a:rPr lang="ru-RU" dirty="0"/>
              <a:t>Это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После тела цикла идёт проверка условия.</a:t>
            </a:r>
          </a:p>
          <a:p>
            <a:r>
              <a:rPr lang="ru-RU" dirty="0"/>
              <a:t>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BC</a:t>
            </a:r>
            <a:r>
              <a:rPr lang="ru-RU" dirty="0"/>
              <a:t> у нас хранится 16-битное значение,</a:t>
            </a:r>
            <a:r>
              <a:rPr lang="en-US" dirty="0"/>
              <a:t> </a:t>
            </a:r>
            <a:r>
              <a:rPr lang="ru-RU" dirty="0"/>
              <a:t>а процессор 8080 не имеет одной команды вида “проверить, равен ли BC нулю”.</a:t>
            </a:r>
          </a:p>
          <a:p>
            <a:r>
              <a:rPr lang="ru-RU" dirty="0"/>
              <a:t>Поэтому проверка делается в два шага.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Сначала значение регистра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копируется в аккумулятор: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A, B</a:t>
            </a:r>
          </a:p>
          <a:p>
            <a:r>
              <a:rPr lang="ru-RU" dirty="0"/>
              <a:t>Затем выполняется </a:t>
            </a:r>
            <a:r>
              <a:rPr lang="ru-RU" b="1" dirty="0"/>
              <a:t>побитовое</a:t>
            </a:r>
            <a:r>
              <a:rPr lang="ru-RU" dirty="0"/>
              <a:t> ИЛИ с регистром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ORA C</a:t>
            </a:r>
          </a:p>
          <a:p>
            <a:r>
              <a:rPr lang="ru-RU" dirty="0"/>
              <a:t>Если оба регистра равны нулю, результат тоже будет нулём,</a:t>
            </a:r>
            <a:r>
              <a:rPr lang="en-US" dirty="0"/>
              <a:t> </a:t>
            </a:r>
            <a:r>
              <a:rPr lang="ru-RU" dirty="0"/>
              <a:t>и установится флаг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</a:t>
            </a:r>
            <a:r>
              <a:rPr lang="ru-RU" dirty="0"/>
              <a:t>. Если хотя бы один из них не равен нулю,</a:t>
            </a:r>
            <a:r>
              <a:rPr lang="en-US" dirty="0"/>
              <a:t> </a:t>
            </a:r>
            <a:r>
              <a:rPr lang="ru-RU" dirty="0"/>
              <a:t>флаг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</a:t>
            </a:r>
            <a:r>
              <a:rPr lang="ru-RU" dirty="0"/>
              <a:t> не установится.</a:t>
            </a:r>
          </a:p>
          <a:p>
            <a:r>
              <a:rPr lang="ru-RU" dirty="0"/>
              <a:t>Мы используем логическую инструкцию не ради вычисления, а ради установки флагов.</a:t>
            </a:r>
          </a:p>
          <a:p>
            <a:endParaRPr lang="ru-RU" dirty="0"/>
          </a:p>
          <a:p>
            <a:r>
              <a:rPr lang="ru-RU" dirty="0"/>
              <a:t>После этого используется условный переход: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JNZ LOOP. </a:t>
            </a:r>
            <a:r>
              <a:rPr lang="ru-RU" dirty="0"/>
              <a:t>Он означает: перейти к метке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LOOP</a:t>
            </a:r>
            <a:r>
              <a:rPr lang="ru-RU" dirty="0"/>
              <a:t>, если результат не ноль. То есть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0</a:t>
            </a:r>
            <a:r>
              <a:rPr lang="ru-RU" dirty="0"/>
              <a:t>, цикл продолжается.</a:t>
            </a:r>
          </a:p>
          <a:p>
            <a:endParaRPr lang="ru-RU" dirty="0"/>
          </a:p>
          <a:p>
            <a:r>
              <a:rPr lang="ru-RU" dirty="0"/>
              <a:t>Здесь важно увидеть главную идею. На уровне процессора нет конструкции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. Есть только: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код проверки условия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тело цикла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переход назад </a:t>
            </a:r>
          </a:p>
          <a:p>
            <a:r>
              <a:rPr lang="ru-RU" dirty="0"/>
              <a:t>Именно из этого и строится цикл.</a:t>
            </a:r>
          </a:p>
          <a:p>
            <a:endParaRPr lang="ru-RU" dirty="0"/>
          </a:p>
          <a:p>
            <a:r>
              <a:rPr lang="ru-RU" dirty="0"/>
              <a:t>Этот пример очень хорошо показывает, как конструкции языка высокого уровня раскладываются на простые шаги: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чтение байта из памяти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запись байта в память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изменение указателей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изменение счётчика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проверка флагов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условный переход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уже знаем, что процессор выполняет инструкции. Теперь возникает вопрос — как эти инструкции хранятся в памяти?</a:t>
            </a:r>
          </a:p>
          <a:p>
            <a:endParaRPr lang="ru-RU" dirty="0"/>
          </a:p>
          <a:p>
            <a:r>
              <a:rPr lang="ru-RU" dirty="0"/>
              <a:t>Процессор понимает только числа — точнее, байты.</a:t>
            </a:r>
          </a:p>
          <a:p>
            <a:r>
              <a:rPr lang="ru-RU" dirty="0"/>
              <a:t>В Intel 8080 каждая инструкция начинается с одного байта — это код операции, или </a:t>
            </a:r>
            <a:r>
              <a:rPr lang="ru-RU" dirty="0" err="1"/>
              <a:t>opcode</a:t>
            </a:r>
            <a:r>
              <a:rPr lang="ru-RU" dirty="0"/>
              <a:t>. Так как байт — это 8 бит, максимум можно закодировать 256 различных команд. На практике их немного меньше, потому что часть кодов не используется.</a:t>
            </a:r>
          </a:p>
          <a:p>
            <a:endParaRPr lang="ru-RU" dirty="0"/>
          </a:p>
          <a:p>
            <a:r>
              <a:rPr lang="ru-RU" dirty="0"/>
              <a:t>Инструкции могут иметь разную длину.</a:t>
            </a:r>
          </a:p>
          <a:p>
            <a:r>
              <a:rPr lang="ru-RU" dirty="0"/>
              <a:t>Некоторые состоят только из одного байта — например, пересылка между регистрами.</a:t>
            </a:r>
          </a:p>
          <a:p>
            <a:r>
              <a:rPr lang="ru-RU" dirty="0"/>
              <a:t>Другие требуют дополнительных данных. Например, команда MVI содержит ещё один байт — значение, которое нужно загрузить.</a:t>
            </a:r>
          </a:p>
          <a:p>
            <a:r>
              <a:rPr lang="ru-RU" dirty="0"/>
              <a:t>А команды, работающие с адресами, содержат два дополнительных байта — 16-битный адрес. Причём этот адрес хранится в памяти в формате </a:t>
            </a:r>
            <a:r>
              <a:rPr lang="ru-RU" dirty="0" err="1"/>
              <a:t>little</a:t>
            </a:r>
            <a:r>
              <a:rPr lang="ru-RU" dirty="0"/>
              <a:t> </a:t>
            </a:r>
            <a:r>
              <a:rPr lang="ru-RU" dirty="0" err="1"/>
              <a:t>endian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11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важно понять, что коды инструкций не задаются случайно.</a:t>
            </a:r>
          </a:p>
          <a:p>
            <a:r>
              <a:rPr lang="ru-RU" dirty="0"/>
              <a:t>Давайте посмотрим на инструкцию MOV.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Она имеет чёткую структуру: первые два бита всегда равны 01,</a:t>
            </a:r>
            <a:r>
              <a:rPr lang="en-US" dirty="0"/>
              <a:t> </a:t>
            </a:r>
            <a:r>
              <a:rPr lang="ru-RU" dirty="0"/>
              <a:t>а следующие биты кодируют регистры.</a:t>
            </a:r>
          </a:p>
          <a:p>
            <a:r>
              <a:rPr lang="ru-RU" dirty="0"/>
              <a:t>Три бита задают регистр </a:t>
            </a:r>
            <a:r>
              <a:rPr lang="ru-RU" dirty="0" err="1"/>
              <a:t>назначения,и</a:t>
            </a:r>
            <a:r>
              <a:rPr lang="ru-RU" dirty="0"/>
              <a:t> три бита — регистр источника.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Например, если мы хотим записать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A, B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то мы берём код регистра A — это 111,</a:t>
            </a:r>
            <a:r>
              <a:rPr lang="en-US" dirty="0"/>
              <a:t> </a:t>
            </a:r>
            <a:r>
              <a:rPr lang="ru-RU" dirty="0"/>
              <a:t>и код регистра B — это 000.</a:t>
            </a:r>
          </a:p>
          <a:p>
            <a:r>
              <a:rPr lang="ru-RU" dirty="0"/>
              <a:t>В итоге получаем:</a:t>
            </a:r>
            <a:r>
              <a:rPr lang="en-US" dirty="0"/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01 111 000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dirty="0"/>
              <a:t>Это число в шестнадцатеричной системе — 78h.</a:t>
            </a:r>
          </a:p>
          <a:p>
            <a:endParaRPr lang="ru-RU" dirty="0"/>
          </a:p>
          <a:p>
            <a:r>
              <a:rPr lang="ru-RU" dirty="0"/>
              <a:t>Это очень важная идея:</a:t>
            </a:r>
            <a:r>
              <a:rPr lang="en-US" dirty="0"/>
              <a:t> </a:t>
            </a:r>
            <a:r>
              <a:rPr lang="ru-RU" dirty="0"/>
              <a:t>инструкция — это не просто число,</a:t>
            </a:r>
            <a:r>
              <a:rPr lang="en-US" dirty="0"/>
              <a:t> </a:t>
            </a:r>
            <a:r>
              <a:rPr lang="ru-RU" dirty="0"/>
              <a:t>а закодированная структура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17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инструкции, у которых есть дополнительные байты.</a:t>
            </a:r>
          </a:p>
          <a:p>
            <a:r>
              <a:rPr lang="ru-RU" dirty="0"/>
              <a:t>Команда MVI загружает значение в регистр.</a:t>
            </a:r>
          </a:p>
          <a:p>
            <a:r>
              <a:rPr lang="ru-RU" dirty="0"/>
              <a:t>Первый байт кодирует саму операцию и регистр,</a:t>
            </a:r>
            <a:br>
              <a:rPr lang="ru-RU" dirty="0"/>
            </a:br>
            <a:r>
              <a:rPr lang="ru-RU" dirty="0"/>
              <a:t>а второй байт — это уже данные.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Команда LXI похожа, но работает с 16-битными значениями. После </a:t>
            </a:r>
            <a:r>
              <a:rPr lang="ru-RU" dirty="0" err="1"/>
              <a:t>opcode</a:t>
            </a:r>
            <a:r>
              <a:rPr lang="ru-RU" dirty="0"/>
              <a:t> идут два байта — младший и старший.</a:t>
            </a:r>
          </a:p>
          <a:p>
            <a:r>
              <a:rPr lang="ru-RU" dirty="0"/>
              <a:t>И здесь важно помнить, что используется </a:t>
            </a:r>
            <a:r>
              <a:rPr lang="ru-RU" dirty="0" err="1"/>
              <a:t>little</a:t>
            </a:r>
            <a:r>
              <a:rPr lang="ru-RU" dirty="0"/>
              <a:t> </a:t>
            </a:r>
            <a:r>
              <a:rPr lang="ru-RU" dirty="0" err="1"/>
              <a:t>endian</a:t>
            </a:r>
            <a:r>
              <a:rPr lang="ru-RU" dirty="0"/>
              <a:t>: сначала младший байт, потом старший.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09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мы рассматривали команды, у которых есть структура:</a:t>
            </a:r>
          </a:p>
          <a:p>
            <a:r>
              <a:rPr lang="ru-RU" dirty="0"/>
              <a:t>в них кодируются регистры, адреса или значения.</a:t>
            </a:r>
          </a:p>
          <a:p>
            <a:r>
              <a:rPr lang="ru-RU" dirty="0"/>
              <a:t>Но не все инструкции устроены так.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Есть очень простые команды, у которых вообще нет операндов.</a:t>
            </a:r>
            <a:r>
              <a:rPr lang="en-US" dirty="0"/>
              <a:t> </a:t>
            </a:r>
            <a:r>
              <a:rPr lang="ru-RU" dirty="0"/>
              <a:t>Это значит, что им не нужно никаких дополнительных данных —</a:t>
            </a:r>
            <a:r>
              <a:rPr lang="en-US" dirty="0"/>
              <a:t> </a:t>
            </a:r>
            <a:r>
              <a:rPr lang="ru-RU" dirty="0"/>
              <a:t>ни регистров, ни констант, ни адресов.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Например, команда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NOP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Она буквально означает “ничего не делать”.</a:t>
            </a:r>
            <a:r>
              <a:rPr lang="en-US" dirty="0"/>
              <a:t> </a:t>
            </a:r>
            <a:r>
              <a:rPr lang="ru-RU" dirty="0"/>
              <a:t>Процессор просто тратит время на её выполнение и переходит к следующей инструкции.</a:t>
            </a:r>
          </a:p>
          <a:p>
            <a:endParaRPr lang="ru-RU" dirty="0"/>
          </a:p>
          <a:p>
            <a:r>
              <a:rPr lang="ru-RU" dirty="0"/>
              <a:t>Команда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ru-RU" dirty="0"/>
              <a:t> делает возврат из подпрограммы.</a:t>
            </a:r>
            <a:r>
              <a:rPr lang="en-US" dirty="0"/>
              <a:t> </a:t>
            </a:r>
            <a:r>
              <a:rPr lang="ru-RU" dirty="0"/>
              <a:t>Она берёт адрес возврата со стека и записывает его в счётчик команд.</a:t>
            </a:r>
            <a:r>
              <a:rPr lang="en-US" dirty="0"/>
              <a:t> </a:t>
            </a:r>
            <a:r>
              <a:rPr lang="ru-RU" dirty="0"/>
              <a:t>Важно, что всё это поведение “зашито” в саму инструкцию —</a:t>
            </a:r>
            <a:r>
              <a:rPr lang="en-US" dirty="0"/>
              <a:t> </a:t>
            </a:r>
            <a:r>
              <a:rPr lang="ru-RU" dirty="0"/>
              <a:t>ей не нужно передавать никаких параметров.</a:t>
            </a:r>
          </a:p>
          <a:p>
            <a:endParaRPr lang="ru-RU" dirty="0"/>
          </a:p>
          <a:p>
            <a:r>
              <a:rPr lang="ru-RU" dirty="0"/>
              <a:t>Ещё один пример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HLT</a:t>
            </a:r>
            <a:r>
              <a:rPr lang="ru-RU" dirty="0"/>
              <a:t>, которая останавливает выполнение программы.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Такие команды кодируются максимально просто — одним байтом.</a:t>
            </a:r>
          </a:p>
          <a:p>
            <a:r>
              <a:rPr lang="ru-RU" dirty="0"/>
              <a:t>Например: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NOP</a:t>
            </a:r>
            <a:r>
              <a:rPr lang="ru-RU" dirty="0"/>
              <a:t> — это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00h</a:t>
            </a:r>
            <a:r>
              <a:rPr lang="ru-RU" dirty="0"/>
              <a:t>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ru-RU" dirty="0"/>
              <a:t> — это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C9h</a:t>
            </a:r>
            <a:r>
              <a:rPr lang="ru-RU" dirty="0"/>
              <a:t>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HLT</a:t>
            </a:r>
            <a:r>
              <a:rPr lang="ru-RU" dirty="0"/>
              <a:t> — это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76h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И здесь важно увидеть контраст с предыдущими инструкциями.</a:t>
            </a:r>
            <a:r>
              <a:rPr lang="en-US" dirty="0"/>
              <a:t> </a:t>
            </a:r>
            <a:r>
              <a:rPr lang="ru-RU" dirty="0"/>
              <a:t>Если в командах типа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LXI</a:t>
            </a:r>
            <a:r>
              <a:rPr lang="ru-RU" dirty="0"/>
              <a:t> внутри байта закодирована структура —</a:t>
            </a:r>
            <a:r>
              <a:rPr lang="en-US" dirty="0"/>
              <a:t> </a:t>
            </a:r>
            <a:r>
              <a:rPr lang="ru-RU" dirty="0"/>
              <a:t>регистры, тип операции —</a:t>
            </a:r>
            <a:r>
              <a:rPr lang="en-US" dirty="0"/>
              <a:t> </a:t>
            </a:r>
            <a:r>
              <a:rPr lang="ru-RU" dirty="0"/>
              <a:t>то здесь этого нет.</a:t>
            </a:r>
          </a:p>
          <a:p>
            <a:endParaRPr lang="ru-RU" dirty="0"/>
          </a:p>
          <a:p>
            <a:r>
              <a:rPr lang="ru-RU" dirty="0"/>
              <a:t>Это просто фиксированные значения,</a:t>
            </a:r>
            <a:r>
              <a:rPr lang="en-US" dirty="0"/>
              <a:t> </a:t>
            </a:r>
            <a:r>
              <a:rPr lang="ru-RU" dirty="0"/>
              <a:t>каждое из которых соответствует строго определённому действию.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 это ещё раз показывает, что ISA — это не один формат инструкций,</a:t>
            </a:r>
            <a:r>
              <a:rPr lang="en-US" dirty="0"/>
              <a:t> </a:t>
            </a:r>
            <a:r>
              <a:rPr lang="ru-RU" dirty="0"/>
              <a:t>а набор разных форматов, объединённых в одну систему.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0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показана таблица всех инструкций процессора.</a:t>
            </a:r>
          </a:p>
          <a:p>
            <a:r>
              <a:rPr lang="ru-RU" dirty="0"/>
              <a:t>Это полный набор </a:t>
            </a:r>
            <a:r>
              <a:rPr lang="ru-RU" dirty="0" err="1"/>
              <a:t>opcode’ов</a:t>
            </a:r>
            <a:r>
              <a:rPr lang="ru-RU" dirty="0"/>
              <a:t>.</a:t>
            </a:r>
          </a:p>
          <a:p>
            <a:r>
              <a:rPr lang="ru-RU" dirty="0"/>
              <a:t>Если внимательно посмотреть, видно, что команды не разбросаны случайно.</a:t>
            </a:r>
          </a:p>
          <a:p>
            <a:r>
              <a:rPr lang="ru-RU" dirty="0"/>
              <a:t>Они сгруппированы: MOV занимает целый блок, арифметические операции идут рядом. Переходы сгруппированы отдельно </a:t>
            </a:r>
          </a:p>
          <a:p>
            <a:endParaRPr lang="ru-RU" dirty="0"/>
          </a:p>
          <a:p>
            <a:r>
              <a:rPr lang="ru-RU" dirty="0"/>
              <a:t>Это отражает внутреннюю логику кодирования. То есть ISA — это не просто список инструкций, а система, у которой есть структура даже на уровне битов.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187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теперь посмотрим на программу в том виде, в котором её действительно “видит” процессор.</a:t>
            </a:r>
          </a:p>
          <a:p>
            <a:r>
              <a:rPr lang="ru-RU" dirty="0"/>
              <a:t>Слева указаны адреса в памяти, а справа — байты, которые лежат по этим адресам.</a:t>
            </a:r>
            <a:br>
              <a:rPr lang="ru-RU" dirty="0"/>
            </a:br>
            <a:r>
              <a:rPr lang="ru-RU" dirty="0"/>
              <a:t>Именно эти байты процессор будет последовательно считывать и выполнять.</a:t>
            </a:r>
          </a:p>
          <a:p>
            <a:endParaRPr lang="ru-RU" dirty="0"/>
          </a:p>
          <a:p>
            <a:r>
              <a:rPr lang="ru-RU" dirty="0"/>
              <a:t>Первая инструкция начинается с адреса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0000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 0C 00</a:t>
            </a:r>
          </a:p>
          <a:p>
            <a:r>
              <a:rPr lang="ru-RU" dirty="0"/>
              <a:t>Это команда: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LXI H,000Ch</a:t>
            </a:r>
          </a:p>
          <a:p>
            <a:r>
              <a:rPr lang="ru-RU" dirty="0"/>
              <a:t>Здесь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</a:t>
            </a:r>
            <a:r>
              <a:rPr lang="ru-RU" dirty="0"/>
              <a:t> — это код операции,</a:t>
            </a:r>
            <a:br>
              <a:rPr lang="ru-RU" dirty="0"/>
            </a:br>
            <a:r>
              <a:rPr lang="ru-RU" dirty="0"/>
              <a:t>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0C 00</a:t>
            </a:r>
            <a:r>
              <a:rPr lang="ru-RU" dirty="0"/>
              <a:t> — это 16-битный адрес, записанный в формате </a:t>
            </a:r>
            <a:r>
              <a:rPr lang="ru-RU" dirty="0" err="1"/>
              <a:t>little</a:t>
            </a:r>
            <a:r>
              <a:rPr lang="ru-RU" dirty="0"/>
              <a:t> </a:t>
            </a:r>
            <a:r>
              <a:rPr lang="ru-RU" dirty="0" err="1"/>
              <a:t>endian</a:t>
            </a:r>
            <a:r>
              <a:rPr lang="ru-RU" dirty="0"/>
              <a:t>.</a:t>
            </a:r>
          </a:p>
          <a:p>
            <a:r>
              <a:rPr lang="ru-RU" dirty="0"/>
              <a:t>После выполнения этой инструкции в регистровой паре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HL</a:t>
            </a:r>
            <a:r>
              <a:rPr lang="ru-RU" dirty="0"/>
              <a:t> будет лежать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000Ch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Следующая инструкция: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3E 2A</a:t>
            </a:r>
          </a:p>
          <a:p>
            <a:r>
              <a:rPr lang="ru-RU" dirty="0"/>
              <a:t>Это: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MVI A,42</a:t>
            </a:r>
          </a:p>
          <a:p>
            <a:r>
              <a:rPr lang="ru-RU" dirty="0"/>
              <a:t>Байт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3E</a:t>
            </a:r>
            <a:r>
              <a:rPr lang="ru-RU" dirty="0"/>
              <a:t> — это код операции,</a:t>
            </a:r>
            <a:br>
              <a:rPr lang="ru-RU" dirty="0"/>
            </a:br>
            <a:endParaRPr lang="ru-RU" dirty="0"/>
          </a:p>
          <a:p>
            <a:r>
              <a:rPr lang="ru-RU" dirty="0"/>
              <a:t>Это и есть тот уровень, на котором реально работает процессор.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674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вами эмулятор микропроцессорной системы на базе процессора КР580ВМ80 — это советский аналог Intel 8080.</a:t>
            </a:r>
          </a:p>
          <a:p>
            <a:r>
              <a:rPr lang="ru-RU" dirty="0"/>
              <a:t>Этот инструмент специально создан для обучения и позволяет нам буквально “заглянуть внутрь” процессора.</a:t>
            </a:r>
          </a:p>
          <a:p>
            <a:endParaRPr lang="ru-RU" dirty="0"/>
          </a:p>
          <a:p>
            <a:r>
              <a:rPr lang="ru-RU" dirty="0"/>
              <a:t>С его помощью можно писать программы на ассемблере, загружать их в память и выполнять.</a:t>
            </a:r>
          </a:p>
          <a:p>
            <a:r>
              <a:rPr lang="ru-RU" dirty="0"/>
              <a:t>Причём выполнять можно в разных режимах: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 шагам, наблюдая каждую инструкцию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даже по тактам, что позволяет увидеть работу процессора максимально подробно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запустить программу целиком </a:t>
            </a:r>
          </a:p>
          <a:p>
            <a:endParaRPr lang="ru-RU" dirty="0"/>
          </a:p>
          <a:p>
            <a:r>
              <a:rPr lang="ru-RU" dirty="0"/>
              <a:t>Очень важная возможность — наблюдение за состоянием системы.</a:t>
            </a:r>
          </a:p>
          <a:p>
            <a:r>
              <a:rPr lang="ru-RU" dirty="0"/>
              <a:t>Мы можем видеть: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содержимое регистров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состояние памяти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значения флагов </a:t>
            </a:r>
          </a:p>
          <a:p>
            <a:r>
              <a:rPr lang="ru-RU" dirty="0"/>
              <a:t>И что особенно важно — всё это меняется прямо на глазах во время выполнения программы.</a:t>
            </a:r>
          </a:p>
          <a:p>
            <a:endParaRPr lang="ru-RU" dirty="0"/>
          </a:p>
          <a:p>
            <a:r>
              <a:rPr lang="ru-RU" dirty="0"/>
              <a:t>Также можно вручную изменять память и регистры.</a:t>
            </a:r>
          </a:p>
          <a:p>
            <a:r>
              <a:rPr lang="ru-RU" dirty="0"/>
              <a:t>Это позволяет, например, записать машинный код прямо в память и сразу выполнить его.</a:t>
            </a:r>
          </a:p>
          <a:p>
            <a:endParaRPr lang="ru-RU" dirty="0"/>
          </a:p>
          <a:p>
            <a:r>
              <a:rPr lang="ru-RU" dirty="0"/>
              <a:t>Кроме этого, эмулятор позволяет работать с внешними устройствами и лучше понять, как микропроцессор взаимодействует с окружающим миром.</a:t>
            </a:r>
          </a:p>
          <a:p>
            <a:endParaRPr lang="ru-RU" dirty="0"/>
          </a:p>
          <a:p>
            <a:r>
              <a:rPr lang="ru-RU" dirty="0"/>
              <a:t>Главная ценность этого инструмента в том, что он делает абстрактные вещи наглядными.</a:t>
            </a:r>
          </a:p>
          <a:p>
            <a:r>
              <a:rPr lang="ru-RU" dirty="0"/>
              <a:t>Мы можем не просто говорить о том, как выполняется программа,</a:t>
            </a:r>
            <a:br>
              <a:rPr lang="ru-RU" dirty="0"/>
            </a:br>
            <a:r>
              <a:rPr lang="ru-RU" dirty="0"/>
              <a:t>а буквально наблюдать это в реальном времени.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977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предыдущий эмулятор показывал нам “голое железо”, то </a:t>
            </a:r>
            <a:r>
              <a:rPr lang="ru-RU" dirty="0" err="1"/>
              <a:t>RunCPM</a:t>
            </a:r>
            <a:r>
              <a:rPr lang="ru-RU" dirty="0"/>
              <a:t> — это следующий уровень.</a:t>
            </a:r>
          </a:p>
          <a:p>
            <a:r>
              <a:rPr lang="ru-RU" dirty="0"/>
              <a:t>Это эмулятор операционной системы CP/M, которая работала на процессорах Intel 8080 и Z80.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В отличие от простой модели процессора, здесь у нас уже есть полноценная среда: файловая система, консоль, возможность запускать программы 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Например, мы можем просто написать: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A&gt;HELLO</a:t>
            </a:r>
          </a:p>
          <a:p>
            <a:r>
              <a:rPr lang="ru-RU" dirty="0"/>
              <a:t>и запустить программу, как это делается в современных системах.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Также появляются команды работы с файлами: можно посмотреть содержимое диска, прочитать файл, скопировать данные.</a:t>
            </a:r>
          </a:p>
          <a:p>
            <a:endParaRPr lang="ru-RU" dirty="0"/>
          </a:p>
          <a:p>
            <a:r>
              <a:rPr lang="ru-RU" dirty="0"/>
              <a:t>Очень важное отличие от “чистого” эмулятора: мы больше не работаем напрямую с памятью. Теперь между программой и железом есть операционная система.</a:t>
            </a:r>
          </a:p>
          <a:p>
            <a:endParaRPr lang="ru-RU" dirty="0"/>
          </a:p>
          <a:p>
            <a:r>
              <a:rPr lang="ru-RU" dirty="0"/>
              <a:t>Это значит, что программы взаимодействуют с системой через специальные вызовы — BDOS. Например, вывод на экран выполняется не через запись в память, а через вызов функции операционной системы.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dirty="0" err="1"/>
              <a:t>RunCPM</a:t>
            </a:r>
            <a:r>
              <a:rPr lang="ru-RU" dirty="0"/>
              <a:t> позволяет нам увидеть: как программы не просто выполняются, а работают в составе операционной системы.</a:t>
            </a:r>
          </a:p>
          <a:p>
            <a:endParaRPr lang="ru-RU" dirty="0"/>
          </a:p>
          <a:p>
            <a:r>
              <a:rPr lang="ru-RU" dirty="0"/>
              <a:t>И это хороший мост к современным системам, где программы почти всегда работают не напрямую с железом, а через ОС.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018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 на полный пример программы, которая уже работает не “сама по себе”, а внутри операционной системы CP/M.</a:t>
            </a:r>
          </a:p>
          <a:p>
            <a:r>
              <a:rPr lang="ru-RU" dirty="0"/>
              <a:t>Это классическая программа </a:t>
            </a:r>
            <a:r>
              <a:rPr lang="ru-RU" b="1" dirty="0"/>
              <a:t>Hello World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начале мы видим директиву: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 100H</a:t>
            </a:r>
          </a:p>
          <a:p>
            <a:r>
              <a:rPr lang="ru-RU" dirty="0"/>
              <a:t>Она означает, что программа будет загружена в память, начиная с адреса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100h</a:t>
            </a:r>
            <a:r>
              <a:rPr lang="ru-RU" dirty="0"/>
              <a:t>.</a:t>
            </a:r>
          </a:p>
          <a:p>
            <a:r>
              <a:rPr lang="ru-RU" dirty="0"/>
              <a:t>Это стандарт для CP/M: операционная система загружает все программы именно с этого адреса.</a:t>
            </a:r>
          </a:p>
          <a:p>
            <a:endParaRPr lang="ru-RU" dirty="0"/>
          </a:p>
          <a:p>
            <a:r>
              <a:rPr lang="ru-RU" dirty="0"/>
              <a:t>Дальше мы вводим символическое имя: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BDOS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equ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0005h</a:t>
            </a:r>
          </a:p>
          <a:p>
            <a:r>
              <a:rPr lang="ru-RU" dirty="0"/>
              <a:t>Адрес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0005h</a:t>
            </a:r>
            <a:r>
              <a:rPr lang="ru-RU" dirty="0"/>
              <a:t> — это точка входа в BDOS, то есть в функции операционной системы.</a:t>
            </a:r>
          </a:p>
          <a:p>
            <a:r>
              <a:rPr lang="ru-RU" dirty="0"/>
              <a:t>Через этот адрес программа может вызывать сервисы ОС.</a:t>
            </a:r>
          </a:p>
          <a:p>
            <a:endParaRPr lang="ru-RU" dirty="0"/>
          </a:p>
          <a:p>
            <a:r>
              <a:rPr lang="ru-RU" dirty="0"/>
              <a:t>Теперь сама программа.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MVI C, 9</a:t>
            </a:r>
          </a:p>
          <a:p>
            <a:r>
              <a:rPr lang="ru-RU" dirty="0"/>
              <a:t>В регистр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 кладётся номер функции.</a:t>
            </a:r>
          </a:p>
          <a:p>
            <a:r>
              <a:rPr lang="ru-RU" dirty="0"/>
              <a:t>Функция номер 9 — это вывод строки на экран.</a:t>
            </a:r>
          </a:p>
          <a:p>
            <a:endParaRPr lang="ru-RU" dirty="0"/>
          </a:p>
          <a:p>
            <a:r>
              <a:rPr lang="ru-RU" dirty="0"/>
              <a:t>Далее: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LXI D, MSG</a:t>
            </a:r>
          </a:p>
          <a:p>
            <a:r>
              <a:rPr lang="ru-RU" dirty="0"/>
              <a:t>В регистровую пару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</a:t>
            </a:r>
            <a:r>
              <a:rPr lang="ru-RU" dirty="0"/>
              <a:t> загружается адрес строки, которую нужно вывести.</a:t>
            </a:r>
          </a:p>
          <a:p>
            <a:endParaRPr lang="ru-RU" dirty="0"/>
          </a:p>
          <a:p>
            <a:r>
              <a:rPr lang="ru-RU" dirty="0"/>
              <a:t>И затем: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 BDOS</a:t>
            </a:r>
          </a:p>
          <a:p>
            <a:r>
              <a:rPr lang="ru-RU" dirty="0"/>
              <a:t>Это ключевой момент. Мы вызываем функцию операционной системы, которая берёт строку по адресу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</a:t>
            </a:r>
            <a:r>
              <a:rPr lang="ru-RU" dirty="0"/>
              <a:t> и выводит её на экран.</a:t>
            </a:r>
          </a:p>
          <a:p>
            <a:endParaRPr lang="ru-RU" dirty="0"/>
          </a:p>
          <a:p>
            <a:r>
              <a:rPr lang="ru-RU" dirty="0"/>
              <a:t>После этого: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</a:p>
          <a:p>
            <a:r>
              <a:rPr lang="ru-RU" dirty="0"/>
              <a:t>Программа завершает выполнение и возвращает управление операционной системе.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Обратите внимание на формат строки: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 'HELLO, WORLD!$’. </a:t>
            </a:r>
            <a:r>
              <a:rPr lang="ru-RU" dirty="0"/>
              <a:t>Строка заканчивается символом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r>
              <a:rPr lang="ru-RU" dirty="0"/>
              <a:t>. Это не случайно — именно так BDOS понимает, где строка заканчивается.</a:t>
            </a:r>
          </a:p>
          <a:p>
            <a:endParaRPr lang="ru-RU" dirty="0"/>
          </a:p>
          <a:p>
            <a:r>
              <a:rPr lang="ru-RU" dirty="0"/>
              <a:t>Теперь посмотрим, как эта программа превращается в исполняемый файл.</a:t>
            </a:r>
          </a:p>
          <a:p>
            <a:endParaRPr lang="ru-RU" dirty="0"/>
          </a:p>
          <a:p>
            <a:r>
              <a:rPr lang="ru-RU" dirty="0"/>
              <a:t>Сначала мы запускаем ассемблер: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A0&gt;ASM HELLO</a:t>
            </a:r>
          </a:p>
          <a:p>
            <a:r>
              <a:rPr lang="ru-RU" dirty="0"/>
              <a:t>В результате получаем объектный файл.</a:t>
            </a:r>
          </a:p>
          <a:p>
            <a:endParaRPr lang="ru-RU" dirty="0"/>
          </a:p>
          <a:p>
            <a:r>
              <a:rPr lang="ru-RU" dirty="0"/>
              <a:t>Затем выполняем команду: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A0&gt;LOAD HELLO</a:t>
            </a:r>
          </a:p>
          <a:p>
            <a:r>
              <a:rPr lang="ru-RU" dirty="0"/>
              <a:t>Она преобразует результат ассемблирования в исполняемый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.COM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внимание, что программа будет размещена начиная с адреса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0100h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 наконец, запускаем программу: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A0&gt;HELLO</a:t>
            </a:r>
          </a:p>
          <a:p>
            <a:r>
              <a:rPr lang="ru-RU" dirty="0"/>
              <a:t>И получаем результат: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HELLO, WORLD!</a:t>
            </a:r>
          </a:p>
          <a:p>
            <a:endParaRPr lang="ru-RU" dirty="0"/>
          </a:p>
          <a:p>
            <a:r>
              <a:rPr lang="ru-RU" dirty="0"/>
              <a:t>Этот пример показывает очень важную вещь. В отличие от предыдущих программ, здесь мы не пишем напрямую в память и не управляем устройствами сами. Мы используем операционную систему.</a:t>
            </a:r>
          </a:p>
          <a:p>
            <a:endParaRPr lang="ru-RU" dirty="0"/>
          </a:p>
          <a:p>
            <a:r>
              <a:rPr lang="ru-RU" dirty="0"/>
              <a:t>То есть: вывод на экран — это уже не “записать байт в память”, а “вызвать функцию ОС”.</a:t>
            </a:r>
          </a:p>
          <a:p>
            <a:endParaRPr lang="ru-RU" dirty="0"/>
          </a:p>
          <a:p>
            <a:r>
              <a:rPr lang="ru-RU" dirty="0"/>
              <a:t>И это принципиально другой уровень программирования, который гораздо ближе к современным системам.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550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подведём итог сегодняшней лекции.</a:t>
            </a:r>
          </a:p>
          <a:p>
            <a:r>
              <a:rPr lang="ru-RU" dirty="0"/>
              <a:t>Главная идея, которую важно унести с собой: программа — это просто последовательность байтов, лежащих в памяти. Процессор не “понимает” код так, как его понимаем мы. Он последовательно читает байты, интерпретирует их как инструкции и изменяет своё состояние.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Мы ввели понятие ISA — архитектуры набора команд. Это интерфейс между программой и процессором: какие есть инструкции, какие есть регистры, как происходит работа с памятью </a:t>
            </a:r>
            <a:br>
              <a:rPr lang="ru-RU" dirty="0"/>
            </a:br>
            <a:endParaRPr lang="ru-RU" dirty="0"/>
          </a:p>
          <a:p>
            <a:r>
              <a:rPr lang="ru-RU" dirty="0"/>
              <a:t>На примере Intel 8080 мы разобрали базовую модель процессора: регистры как быстрая память, ALU как исполнитель операций, устройство управления.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Мы увидели, как реализуются: перемещение данных  арифметика, управление выполнением </a:t>
            </a:r>
          </a:p>
          <a:p>
            <a:r>
              <a:rPr lang="ru-RU" dirty="0"/>
              <a:t>И очень важно: все операции происходят через регистры.</a:t>
            </a:r>
          </a:p>
          <a:p>
            <a:r>
              <a:rPr lang="ru-RU" dirty="0"/>
              <a:t>Процессор не работает напрямую с памятью — он всегда загружает данные, обрабатывает их и записывает обратно.</a:t>
            </a:r>
          </a:p>
          <a:p>
            <a:endParaRPr lang="ru-RU" dirty="0"/>
          </a:p>
          <a:p>
            <a:r>
              <a:rPr lang="ru-RU" dirty="0"/>
              <a:t>Также мы увидели, как кодируется программа: инструкции — это не текст, а байты, и даже простую программу можно записать прямо в машинном коде.</a:t>
            </a:r>
          </a:p>
          <a:p>
            <a:endParaRPr lang="ru-RU" dirty="0"/>
          </a:p>
          <a:p>
            <a:r>
              <a:rPr lang="ru-RU" dirty="0"/>
              <a:t>Мы рассмотрели два уровня работы: с одной стороны — “голое железо”, где мы напрямую управляем памятью и регистрами, с другой — операционную систему CP/M, где программа уже взаимодействует с ОС.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 это хороший переход к следующему этапу курса. Современные процессоры, такие как x86-64, работают по тем же принципам, но имеют гораздо более сложную архитектуру.</a:t>
            </a:r>
          </a:p>
          <a:p>
            <a:r>
              <a:rPr lang="ru-RU" dirty="0"/>
              <a:t>И дальше мы будем разбираться, как эти же идеи реализованы в современных системах.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2A4C9-6456-4251-ADB9-D2DDA855D1A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37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E7C3F-4D04-2013-8BCA-BBA040510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A2E32C-18BC-8A1B-7C32-7FB3A00DE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2E138-CA08-5D28-01A5-F64EB797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BECBC-5840-D4ED-F73F-63C5CB2E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D882F-90C4-20DA-28A1-70FA5C09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0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D770-687F-55B5-3E1F-67B8D261A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932A0-8516-4B98-C8AE-87750C885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338F4-B179-3A9C-0DE9-28CD1A25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4448D-A633-3947-1514-FEC591AC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7C45D-7E26-5013-E2D9-92A0EE55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96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3E8F-69C9-5006-E347-3CE39080E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7FFF-55C8-CA5D-B821-15C0D5B4E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A3F4B-F2B6-DBD9-E80E-595681D30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8E2A7-5CC0-D8C3-DD68-7ED76877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60F7A-5053-09FE-E15B-36010C0C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2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9DF2-B0BC-8AB5-FA0C-82C8C0CA9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05C9D-81E7-DB14-988C-58030A6CB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BFE13-5CF0-47C4-7A1E-52EA57FBD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4BDEA-F59F-8541-9E6E-2DDDC433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4B995-45AE-7CAF-94BA-D4D64BCC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4A45E-2973-8215-D8E6-CC4C2C67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30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29EA3-BF27-CC8E-75A2-71AB91D29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09B24-B3D4-3BD1-32DF-9C48A7EC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B7FEC-3BE5-E054-CE9B-52ED0BE97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28169-2FEB-4F00-6C58-3518570ED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B1131-160C-AA2B-4C76-6D2D3D4A5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9EF319-72C7-9B47-A952-18A1609B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9D6DD0-CB9A-3703-B685-02CBA373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DCD9A-C4F2-D081-7F52-70CB52AB0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8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B1576-45C3-FBFF-B915-908FC92C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72D64-556F-84EC-DC5D-CBC76F3C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84E2C-7B03-164E-A64E-6B225D77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D6BB6-071D-1769-55BF-75A6616A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5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D8420-6378-3C91-BD3F-40B28AE4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4C2B0-5498-C878-020D-E89962994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33B81-9A8B-B34C-B9DD-7F069403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3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C772-E4AF-5863-184E-1E2CF25E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5F596-F7A2-0541-56BA-EE90D503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9E8C3-CC7D-3AF1-922C-75462E604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53379-10E2-61EC-0055-09863513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8E1B7-CFD2-7005-2654-32816580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99126-5326-0D42-9B84-4F18D949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9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96061-68C1-4A0A-8203-A6200A0B9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9EE5E6-B17A-EAFF-14DC-69C2E4C46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6155BB-EDFD-ABB6-E52A-08BD887CE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A7CFE-EB6A-7E68-4486-C4FD2089F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E646F-E823-7C8C-2C72-AA03A19DC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9C04F-1971-557C-7BBC-D7658650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84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6A38-CA8C-9F58-A42F-95B8CCF8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34814-94FC-7572-9558-5CC077B00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92F84-DEA1-47BB-F954-6AF1E3A2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53185-EB5C-3CEC-0CCE-19C79071C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9000F-1584-25B3-02A9-5DF01D2D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9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B3AD4-BA77-9F8B-E13D-EEE5040704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3AD27-0BA2-DB52-BEB2-6C448B7A4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6FCD3-59C2-2078-EA85-24F24F4B6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55F71-1A22-1341-004C-F2CAD34D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267D8-209C-4D0A-20EF-EB022B6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80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DC88C2-4F29-87A2-8D8B-3A1875AF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FFF70-7314-B4EE-F8F9-AA80F67D3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5D827-35A8-CDFD-AA62-BFC89773F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DB552-AFB2-485F-A74D-2E33F381750A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B5225-D0FC-E001-0538-84177244E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61C0B-F9E5-C041-F5A3-2DFF2A47F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AC7C1-85D6-4214-AE9B-9326A899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03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ic-homepage.narod.ru/Index.htm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ckbaTheBorg/RunCPM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F45AB-1E81-0F2B-BD58-5107F2A03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 на ассемблере </a:t>
            </a:r>
            <a:r>
              <a:rPr lang="en-US" dirty="0"/>
              <a:t>intel 8080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A1D85-7229-D997-755A-CAD92FFA98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91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E1D48-D317-1933-F501-705372A15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 C к машинному коду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0A996-D0D7-7ED1-DB4F-163F78926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Язык высокого уровня (</a:t>
            </a:r>
            <a:r>
              <a:rPr lang="en-US" dirty="0"/>
              <a:t>C)</a:t>
            </a:r>
          </a:p>
          <a:p>
            <a:pPr lvl="1"/>
            <a:r>
              <a:rPr lang="en-US" dirty="0"/>
              <a:t>int a = 5;</a:t>
            </a:r>
            <a:br>
              <a:rPr lang="en-US" dirty="0"/>
            </a:br>
            <a:r>
              <a:rPr lang="en-US" dirty="0"/>
              <a:t>int b = 7;</a:t>
            </a:r>
            <a:br>
              <a:rPr lang="en-US" dirty="0"/>
            </a:br>
            <a:r>
              <a:rPr lang="en-US" dirty="0"/>
              <a:t>int c = a + b;</a:t>
            </a:r>
          </a:p>
          <a:p>
            <a:r>
              <a:rPr lang="ru-RU" dirty="0"/>
              <a:t>Компилятор превращает программу в исполняемый код</a:t>
            </a:r>
          </a:p>
          <a:p>
            <a:r>
              <a:rPr lang="ru-RU" dirty="0"/>
              <a:t>Ассемблер (</a:t>
            </a:r>
            <a:r>
              <a:rPr lang="ru-RU" dirty="0" err="1"/>
              <a:t>человекочитаемый</a:t>
            </a:r>
            <a:r>
              <a:rPr lang="ru-RU" dirty="0"/>
              <a:t>)</a:t>
            </a:r>
          </a:p>
          <a:p>
            <a:pPr lvl="1"/>
            <a:r>
              <a:rPr lang="en-US" dirty="0"/>
              <a:t>mov </a:t>
            </a:r>
            <a:r>
              <a:rPr lang="en-US" dirty="0" err="1"/>
              <a:t>eax</a:t>
            </a:r>
            <a:r>
              <a:rPr lang="en-US" dirty="0"/>
              <a:t>, 5</a:t>
            </a:r>
            <a:br>
              <a:rPr lang="en-US" dirty="0"/>
            </a:br>
            <a:r>
              <a:rPr lang="en-US" dirty="0"/>
              <a:t>add </a:t>
            </a:r>
            <a:r>
              <a:rPr lang="en-US" dirty="0" err="1"/>
              <a:t>eax</a:t>
            </a:r>
            <a:r>
              <a:rPr lang="en-US" dirty="0"/>
              <a:t>, 7</a:t>
            </a:r>
          </a:p>
          <a:p>
            <a:r>
              <a:rPr lang="ru-RU" dirty="0"/>
              <a:t>Машинный код (то, что видит процессор)</a:t>
            </a:r>
          </a:p>
          <a:p>
            <a:pPr lvl="1"/>
            <a:r>
              <a:rPr lang="en-US" dirty="0"/>
              <a:t>B8 05 00 00 00</a:t>
            </a:r>
            <a:br>
              <a:rPr lang="en-US" dirty="0"/>
            </a:br>
            <a:r>
              <a:rPr lang="en-US" dirty="0"/>
              <a:t>83 C0 07</a:t>
            </a:r>
          </a:p>
          <a:p>
            <a:r>
              <a:rPr lang="ru-RU" dirty="0"/>
              <a:t>Процессор не понимает </a:t>
            </a:r>
            <a:r>
              <a:rPr lang="en-US" dirty="0"/>
              <a:t>C</a:t>
            </a:r>
            <a:r>
              <a:rPr lang="ru-RU" dirty="0"/>
              <a:t>, ассемблер, процессор выполняет байты из памяти</a:t>
            </a:r>
          </a:p>
        </p:txBody>
      </p:sp>
    </p:spTree>
    <p:extLst>
      <p:ext uri="{BB962C8B-B14F-4D97-AF65-F5344CB8AC3E}">
        <p14:creationId xmlns:p14="http://schemas.microsoft.com/office/powerpoint/2010/main" val="174130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316E-67F1-F47F-2444-3808383A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будем изучать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87BDD-6C9B-ECF1-BD6C-DAAFA300F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Что на самом деле делает процессор?</a:t>
            </a:r>
          </a:p>
          <a:p>
            <a:pPr lvl="1"/>
            <a:r>
              <a:rPr lang="ru-RU" dirty="0"/>
              <a:t>Выполняет последовательность инструкций</a:t>
            </a:r>
          </a:p>
          <a:p>
            <a:pPr lvl="1"/>
            <a:r>
              <a:rPr lang="ru-RU" dirty="0"/>
              <a:t>Каждая инструкция — это несколько байтов</a:t>
            </a:r>
          </a:p>
          <a:p>
            <a:pPr lvl="1"/>
            <a:r>
              <a:rPr lang="ru-RU" dirty="0"/>
              <a:t>Инструкции изменяют:</a:t>
            </a:r>
          </a:p>
          <a:p>
            <a:pPr lvl="2"/>
            <a:r>
              <a:rPr lang="ru-RU" dirty="0"/>
              <a:t>регистры</a:t>
            </a:r>
          </a:p>
          <a:p>
            <a:pPr lvl="2"/>
            <a:r>
              <a:rPr lang="ru-RU" dirty="0"/>
              <a:t>память</a:t>
            </a:r>
          </a:p>
          <a:p>
            <a:pPr lvl="2"/>
            <a:r>
              <a:rPr lang="ru-RU" dirty="0"/>
              <a:t>поток выполнения</a:t>
            </a:r>
          </a:p>
          <a:p>
            <a:r>
              <a:rPr lang="ru-RU" dirty="0"/>
              <a:t>Разберем на примере процессора </a:t>
            </a:r>
            <a:r>
              <a:rPr lang="en-US" dirty="0"/>
              <a:t>Intel 8080</a:t>
            </a:r>
          </a:p>
          <a:p>
            <a:pPr lvl="1"/>
            <a:r>
              <a:rPr lang="ru-RU" dirty="0"/>
              <a:t>как устроен процессор</a:t>
            </a:r>
          </a:p>
          <a:p>
            <a:pPr lvl="1"/>
            <a:r>
              <a:rPr lang="ru-RU" dirty="0"/>
              <a:t>как кодируются инструкции</a:t>
            </a:r>
          </a:p>
          <a:p>
            <a:pPr lvl="1"/>
            <a:r>
              <a:rPr lang="ru-RU" dirty="0"/>
              <a:t>как выполняется программа</a:t>
            </a:r>
          </a:p>
        </p:txBody>
      </p:sp>
    </p:spTree>
    <p:extLst>
      <p:ext uri="{BB962C8B-B14F-4D97-AF65-F5344CB8AC3E}">
        <p14:creationId xmlns:p14="http://schemas.microsoft.com/office/powerpoint/2010/main" val="424596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D597-A9E3-84E6-EF78-D8076519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Историческая справка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F7E47-DE36-0797-5E4F-AD4F86A5D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697143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Intel 8080 – один из первых массовых </a:t>
            </a:r>
            <a:r>
              <a:rPr lang="en-US" dirty="0"/>
              <a:t>8-</a:t>
            </a:r>
            <a:r>
              <a:rPr lang="ru-RU" dirty="0"/>
              <a:t>битных микропроцессоров</a:t>
            </a:r>
          </a:p>
          <a:p>
            <a:pPr lvl="1"/>
            <a:r>
              <a:rPr lang="ru-RU" dirty="0"/>
              <a:t>Выпущен в 1974 году</a:t>
            </a:r>
          </a:p>
          <a:p>
            <a:r>
              <a:rPr lang="ru-RU" dirty="0"/>
              <a:t>Характеристики</a:t>
            </a:r>
          </a:p>
          <a:p>
            <a:pPr lvl="1"/>
            <a:r>
              <a:rPr lang="ru-RU" dirty="0"/>
              <a:t>8-битные данные </a:t>
            </a:r>
          </a:p>
          <a:p>
            <a:pPr lvl="1"/>
            <a:r>
              <a:rPr lang="ru-RU" dirty="0"/>
              <a:t>16-битная адресация (до 64 КБ памяти) </a:t>
            </a:r>
          </a:p>
          <a:p>
            <a:pPr lvl="1"/>
            <a:r>
              <a:rPr lang="ru-RU" dirty="0"/>
              <a:t>отдельные регистры и простая архитектура</a:t>
            </a:r>
          </a:p>
          <a:p>
            <a:r>
              <a:rPr lang="ru-RU" dirty="0"/>
              <a:t>Где использовался:</a:t>
            </a:r>
          </a:p>
          <a:p>
            <a:pPr lvl="1"/>
            <a:r>
              <a:rPr lang="ru-RU" dirty="0"/>
              <a:t>ранние персональные компьютеры </a:t>
            </a:r>
          </a:p>
          <a:p>
            <a:pPr lvl="1"/>
            <a:r>
              <a:rPr lang="ru-RU" dirty="0"/>
              <a:t>системы на базе CP/M </a:t>
            </a:r>
          </a:p>
          <a:p>
            <a:pPr lvl="1"/>
            <a:r>
              <a:rPr lang="ru-RU" dirty="0"/>
              <a:t>встраиваемые и промышленные системы</a:t>
            </a:r>
          </a:p>
          <a:p>
            <a:r>
              <a:rPr lang="ru-RU" dirty="0"/>
              <a:t>Влияние: </a:t>
            </a:r>
          </a:p>
          <a:p>
            <a:pPr lvl="1"/>
            <a:r>
              <a:rPr lang="ru-RU" dirty="0"/>
              <a:t>стал основой для </a:t>
            </a:r>
            <a:r>
              <a:rPr lang="ru-RU" dirty="0" err="1"/>
              <a:t>Zilog</a:t>
            </a:r>
            <a:r>
              <a:rPr lang="ru-RU" dirty="0"/>
              <a:t> Z80</a:t>
            </a:r>
          </a:p>
          <a:p>
            <a:pPr lvl="1"/>
            <a:r>
              <a:rPr lang="ru-RU" dirty="0"/>
              <a:t>повлиял на развитие персональных компьютеров, операционных систем, архитектур процессоров</a:t>
            </a:r>
          </a:p>
          <a:p>
            <a:pPr lvl="1"/>
            <a:endParaRPr lang="ru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D61F9D-EF7B-1D44-93A4-54976F1808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342" y="2551299"/>
            <a:ext cx="3818457" cy="21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1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7AD70-9AC0-0104-B843-5C36B7519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8080 </a:t>
            </a:r>
            <a:r>
              <a:rPr lang="ru-RU" dirty="0"/>
              <a:t>в СССР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5EA8A-E025-D0C0-FE3A-B835A64D8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427124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КР580ВМ80А – клон Intel 8080 в СССР</a:t>
            </a:r>
          </a:p>
          <a:p>
            <a:pPr lvl="1"/>
            <a:r>
              <a:rPr lang="ru-RU" dirty="0"/>
              <a:t>Полный аналог Intel 8080 </a:t>
            </a:r>
          </a:p>
          <a:p>
            <a:pPr lvl="1"/>
            <a:r>
              <a:rPr lang="ru-RU" dirty="0"/>
              <a:t>Совместим на уровне команд и программ </a:t>
            </a:r>
          </a:p>
          <a:p>
            <a:pPr lvl="1"/>
            <a:r>
              <a:rPr lang="ru-RU" dirty="0"/>
              <a:t>Использовался в учебных и бытовых компьютерах </a:t>
            </a:r>
          </a:p>
          <a:p>
            <a:r>
              <a:rPr lang="ru-RU" dirty="0"/>
              <a:t>Компьютеры на базе КР580ВМ80А:</a:t>
            </a:r>
          </a:p>
          <a:p>
            <a:pPr lvl="1"/>
            <a:r>
              <a:rPr lang="ru-RU" dirty="0"/>
              <a:t>Радио-86РК — один из самых массовых учебных компьютеров </a:t>
            </a:r>
          </a:p>
          <a:p>
            <a:pPr lvl="1"/>
            <a:r>
              <a:rPr lang="ru-RU" dirty="0" err="1"/>
              <a:t>Микроша</a:t>
            </a:r>
            <a:r>
              <a:rPr lang="ru-RU" dirty="0"/>
              <a:t> — бытовой ПК на базе Радио-86РК </a:t>
            </a:r>
          </a:p>
          <a:p>
            <a:pPr lvl="1"/>
            <a:r>
              <a:rPr lang="ru-RU" dirty="0"/>
              <a:t>Специалист — более развитая архитектура </a:t>
            </a:r>
          </a:p>
          <a:p>
            <a:pPr lvl="1"/>
            <a:r>
              <a:rPr lang="ru-RU" dirty="0"/>
              <a:t>Искра-226 и другие системы </a:t>
            </a:r>
          </a:p>
          <a:p>
            <a:r>
              <a:rPr lang="ru-RU" dirty="0"/>
              <a:t>Особенности этих систем:</a:t>
            </a:r>
          </a:p>
          <a:p>
            <a:pPr lvl="1"/>
            <a:r>
              <a:rPr lang="ru-RU" dirty="0"/>
              <a:t>Простая архитектура </a:t>
            </a:r>
          </a:p>
          <a:p>
            <a:pPr lvl="1"/>
            <a:r>
              <a:rPr lang="ru-RU" dirty="0"/>
              <a:t>Прямой доступ к памяти </a:t>
            </a:r>
          </a:p>
          <a:p>
            <a:pPr lvl="1"/>
            <a:r>
              <a:rPr lang="ru-RU" dirty="0"/>
              <a:t>Часто нет операционной системы </a:t>
            </a:r>
          </a:p>
          <a:p>
            <a:pPr lvl="1"/>
            <a:r>
              <a:rPr lang="ru-RU" dirty="0"/>
              <a:t>Работа через монитор или BASIC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3C107F-CDE9-9835-E437-7CD5B70C33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272" y="1690688"/>
            <a:ext cx="4255163" cy="2734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8D6824-B30C-F246-8F47-612964B6770C}"/>
              </a:ext>
            </a:extLst>
          </p:cNvPr>
          <p:cNvSpPr txBox="1"/>
          <p:nvPr/>
        </p:nvSpPr>
        <p:spPr>
          <a:xfrm>
            <a:off x="7747462" y="4771505"/>
            <a:ext cx="378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Плата компьютера «Радио-86РК»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57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3B4000-7C06-7FDD-59A8-7C3B3C59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процессора </a:t>
            </a:r>
            <a:r>
              <a:rPr lang="en-US" dirty="0"/>
              <a:t>Intel 8080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08839-5061-C520-5D83-CECCEC379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9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C6880-9274-87DA-0C7B-8C6213EC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ISA — Instruction Set 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43FA4B-6ACB-6274-D7B4-19AA962A1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ISA (набор команд процессора) определяет:</a:t>
            </a:r>
          </a:p>
          <a:p>
            <a:pPr lvl="1"/>
            <a:r>
              <a:rPr lang="ru-RU" dirty="0"/>
              <a:t>какие инструкции есть у процессора </a:t>
            </a:r>
          </a:p>
          <a:p>
            <a:pPr lvl="1"/>
            <a:r>
              <a:rPr lang="ru-RU" dirty="0"/>
              <a:t>какие есть регистры </a:t>
            </a:r>
          </a:p>
          <a:p>
            <a:pPr lvl="1"/>
            <a:r>
              <a:rPr lang="ru-RU" dirty="0"/>
              <a:t>как устроена память </a:t>
            </a:r>
          </a:p>
          <a:p>
            <a:pPr lvl="1"/>
            <a:r>
              <a:rPr lang="ru-RU" dirty="0"/>
              <a:t>как инструкции работают с данными </a:t>
            </a:r>
          </a:p>
          <a:p>
            <a:r>
              <a:rPr lang="ru-RU" dirty="0"/>
              <a:t>Примеры инструкций:</a:t>
            </a:r>
          </a:p>
          <a:p>
            <a:pPr lvl="1"/>
            <a:r>
              <a:rPr lang="pt-BR" dirty="0"/>
              <a:t>MVI A, 5</a:t>
            </a:r>
            <a:endParaRPr lang="ru-RU" dirty="0"/>
          </a:p>
          <a:p>
            <a:pPr lvl="1"/>
            <a:r>
              <a:rPr lang="pt-BR" dirty="0"/>
              <a:t>ADD B</a:t>
            </a:r>
            <a:endParaRPr lang="ru-RU" dirty="0"/>
          </a:p>
          <a:p>
            <a:pPr lvl="1"/>
            <a:r>
              <a:rPr lang="pt-BR" dirty="0"/>
              <a:t>JMP 1000H</a:t>
            </a:r>
            <a:endParaRPr lang="ru-RU" dirty="0"/>
          </a:p>
          <a:p>
            <a:r>
              <a:rPr lang="ru-RU" dirty="0"/>
              <a:t>ISA — это контракт между программой и процессором</a:t>
            </a:r>
          </a:p>
          <a:p>
            <a:pPr lvl="1"/>
            <a:r>
              <a:rPr lang="ru-RU" dirty="0"/>
              <a:t>Программа “видит” только ISA</a:t>
            </a:r>
          </a:p>
          <a:p>
            <a:pPr lvl="1"/>
            <a:r>
              <a:rPr lang="ru-RU" dirty="0"/>
              <a:t>Внутреннее устройство процессора может быть разным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77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838CEC-1CE7-CAFA-5ED3-843729094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архитектура процессора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E78F0C-9A8B-EAD9-555F-211E62C8A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ALU (арифметико-логическое устройство)</a:t>
            </a:r>
          </a:p>
          <a:p>
            <a:pPr lvl="1"/>
            <a:r>
              <a:rPr lang="ru-RU" dirty="0"/>
              <a:t>выполняет арифметические и логические команды</a:t>
            </a:r>
          </a:p>
          <a:p>
            <a:r>
              <a:rPr lang="ru-RU" dirty="0"/>
              <a:t>Регистры</a:t>
            </a:r>
          </a:p>
          <a:p>
            <a:pPr lvl="1"/>
            <a:r>
              <a:rPr lang="ru-RU" dirty="0"/>
              <a:t>хранят данные и адреса </a:t>
            </a:r>
          </a:p>
          <a:p>
            <a:pPr lvl="1"/>
            <a:r>
              <a:rPr lang="ru-RU" dirty="0"/>
              <a:t>быстрый доступ </a:t>
            </a:r>
          </a:p>
          <a:p>
            <a:r>
              <a:rPr lang="ru-RU" dirty="0"/>
              <a:t>Устройство управления (CU)</a:t>
            </a:r>
          </a:p>
          <a:p>
            <a:pPr lvl="1"/>
            <a:r>
              <a:rPr lang="ru-RU" dirty="0"/>
              <a:t>управляет выполнением команд </a:t>
            </a:r>
          </a:p>
          <a:p>
            <a:pPr lvl="1"/>
            <a:r>
              <a:rPr lang="ru-RU" dirty="0"/>
              <a:t>определяет порядок действий </a:t>
            </a:r>
          </a:p>
          <a:p>
            <a:r>
              <a:rPr lang="ru-RU" dirty="0"/>
              <a:t>Специальные регистры:</a:t>
            </a:r>
          </a:p>
          <a:p>
            <a:pPr lvl="1"/>
            <a:r>
              <a:rPr lang="ru-RU" dirty="0"/>
              <a:t>PC (Program Counter) — адрес следующей команды </a:t>
            </a:r>
          </a:p>
          <a:p>
            <a:pPr lvl="1"/>
            <a:r>
              <a:rPr lang="ru-RU" dirty="0"/>
              <a:t>IR (</a:t>
            </a:r>
            <a:r>
              <a:rPr lang="ru-RU" dirty="0" err="1"/>
              <a:t>Instruction</a:t>
            </a:r>
            <a:r>
              <a:rPr lang="ru-RU" dirty="0"/>
              <a:t> </a:t>
            </a:r>
            <a:r>
              <a:rPr lang="ru-RU" dirty="0" err="1"/>
              <a:t>Register</a:t>
            </a:r>
            <a:r>
              <a:rPr lang="ru-RU" dirty="0"/>
              <a:t>) — текущая команда</a:t>
            </a:r>
          </a:p>
          <a:p>
            <a:pPr lvl="1"/>
            <a:r>
              <a:rPr lang="en-US" dirty="0"/>
              <a:t>SP (Stack Pointer) – </a:t>
            </a:r>
            <a:r>
              <a:rPr lang="ru-RU" dirty="0"/>
              <a:t>вершина стека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38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CDB0F-C863-880C-E59A-05B77C141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процессора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33818-69A8-F429-1832-F613D8EE9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Основные регистры:</a:t>
            </a:r>
          </a:p>
          <a:p>
            <a:pPr lvl="1"/>
            <a:r>
              <a:rPr lang="ru-RU" dirty="0"/>
              <a:t>A — аккумулятор (главный регистр) </a:t>
            </a:r>
          </a:p>
          <a:p>
            <a:pPr lvl="1"/>
            <a:r>
              <a:rPr lang="ru-RU" dirty="0"/>
              <a:t>B, C, D, E, H, L — регистры общего назначения </a:t>
            </a:r>
          </a:p>
          <a:p>
            <a:r>
              <a:rPr lang="ru-RU" dirty="0"/>
              <a:t>Регистровые пары:</a:t>
            </a:r>
          </a:p>
          <a:p>
            <a:pPr lvl="1"/>
            <a:r>
              <a:rPr lang="ru-RU" dirty="0"/>
              <a:t>BC, DE, HL (16-битные) </a:t>
            </a:r>
          </a:p>
          <a:p>
            <a:r>
              <a:rPr lang="ru-RU" dirty="0"/>
              <a:t>Специальные регистры:</a:t>
            </a:r>
          </a:p>
          <a:p>
            <a:pPr lvl="1"/>
            <a:r>
              <a:rPr lang="ru-RU" dirty="0"/>
              <a:t>PC — счётчик команд </a:t>
            </a:r>
          </a:p>
          <a:p>
            <a:pPr lvl="1"/>
            <a:r>
              <a:rPr lang="ru-RU" dirty="0"/>
              <a:t>SP — указатель стека </a:t>
            </a:r>
          </a:p>
          <a:p>
            <a:pPr lvl="1"/>
            <a:r>
              <a:rPr lang="ru-RU" dirty="0" err="1"/>
              <a:t>Flags</a:t>
            </a:r>
            <a:r>
              <a:rPr lang="ru-RU" dirty="0"/>
              <a:t> — флаги состояния </a:t>
            </a:r>
          </a:p>
          <a:p>
            <a:r>
              <a:rPr lang="ru-RU" dirty="0"/>
              <a:t>Важно</a:t>
            </a:r>
          </a:p>
          <a:p>
            <a:pPr lvl="1"/>
            <a:r>
              <a:rPr lang="ru-RU" dirty="0"/>
              <a:t>Регистр = очень быстрая память внутри процессора</a:t>
            </a:r>
          </a:p>
          <a:p>
            <a:pPr lvl="1"/>
            <a:r>
              <a:rPr lang="ru-RU" dirty="0"/>
              <a:t>Их мало, поэтому их нужно использовать эффективно</a:t>
            </a:r>
          </a:p>
        </p:txBody>
      </p:sp>
    </p:spTree>
    <p:extLst>
      <p:ext uri="{BB962C8B-B14F-4D97-AF65-F5344CB8AC3E}">
        <p14:creationId xmlns:p14="http://schemas.microsoft.com/office/powerpoint/2010/main" val="149418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D8745-453C-AE89-50D2-96F5E876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</a:t>
            </a:r>
            <a:r>
              <a:rPr lang="en-US" dirty="0"/>
              <a:t>Intel 8080</a:t>
            </a:r>
            <a:r>
              <a:rPr lang="ru-RU" dirty="0"/>
              <a:t> взаимодействует с памятью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F7B7F-DDE8-14FB-B9BA-900EC8298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Память — это массив байтов</a:t>
            </a:r>
          </a:p>
          <a:p>
            <a:r>
              <a:rPr lang="ru-RU" dirty="0"/>
              <a:t>Процессор имеет:</a:t>
            </a:r>
          </a:p>
          <a:p>
            <a:pPr lvl="1"/>
            <a:r>
              <a:rPr lang="ru-RU" dirty="0"/>
              <a:t>16-битную шину адреса (может адресовать до 64 КБ памяти )</a:t>
            </a:r>
          </a:p>
          <a:p>
            <a:pPr lvl="1"/>
            <a:r>
              <a:rPr lang="ru-RU" dirty="0"/>
              <a:t> 8-битную шину данных (передаёт по 1 байту)</a:t>
            </a:r>
          </a:p>
          <a:p>
            <a:r>
              <a:rPr lang="ru-RU" dirty="0"/>
              <a:t>Как выполняется программа:</a:t>
            </a:r>
          </a:p>
          <a:p>
            <a:pPr lvl="1"/>
            <a:r>
              <a:rPr lang="ru-RU" dirty="0"/>
              <a:t>взять инструкцию из памяти (по PC) </a:t>
            </a:r>
          </a:p>
          <a:p>
            <a:pPr lvl="1"/>
            <a:r>
              <a:rPr lang="ru-RU" dirty="0"/>
              <a:t>декодировать </a:t>
            </a:r>
          </a:p>
          <a:p>
            <a:pPr lvl="1"/>
            <a:r>
              <a:rPr lang="ru-RU" dirty="0"/>
              <a:t>выполнить </a:t>
            </a:r>
          </a:p>
          <a:p>
            <a:r>
              <a:rPr lang="ru-RU" dirty="0"/>
              <a:t>И код, и данные — это байты в памяти</a:t>
            </a:r>
          </a:p>
        </p:txBody>
      </p:sp>
    </p:spTree>
    <p:extLst>
      <p:ext uri="{BB962C8B-B14F-4D97-AF65-F5344CB8AC3E}">
        <p14:creationId xmlns:p14="http://schemas.microsoft.com/office/powerpoint/2010/main" val="16535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FEE6-E048-4C24-B980-49BCE042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Структурная схема процессора </a:t>
            </a:r>
            <a:r>
              <a:rPr lang="en-US" dirty="0"/>
              <a:t>Intel 8080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429F7E-AB4C-100F-A8BC-D97C3B71D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1514" y="1509712"/>
            <a:ext cx="9048972" cy="49831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6ED3AC-9AAC-F88D-CFB5-D138BD3C8888}"/>
              </a:ext>
            </a:extLst>
          </p:cNvPr>
          <p:cNvSpPr txBox="1"/>
          <p:nvPr/>
        </p:nvSpPr>
        <p:spPr>
          <a:xfrm>
            <a:off x="217603" y="1738037"/>
            <a:ext cx="99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ADD B</a:t>
            </a:r>
          </a:p>
        </p:txBody>
      </p:sp>
      <p:grpSp>
        <p:nvGrpSpPr>
          <p:cNvPr id="8" name="PC-Arrow">
            <a:extLst>
              <a:ext uri="{FF2B5EF4-FFF2-40B4-BE49-F238E27FC236}">
                <a16:creationId xmlns:a16="http://schemas.microsoft.com/office/drawing/2014/main" id="{473B7B75-1E7E-8D10-4CEE-E43D32DE4BCC}"/>
              </a:ext>
            </a:extLst>
          </p:cNvPr>
          <p:cNvGrpSpPr/>
          <p:nvPr/>
        </p:nvGrpSpPr>
        <p:grpSpPr>
          <a:xfrm>
            <a:off x="10736258" y="4637023"/>
            <a:ext cx="1227143" cy="646331"/>
            <a:chOff x="10736258" y="4637023"/>
            <a:chExt cx="1227143" cy="646331"/>
          </a:xfrm>
        </p:grpSpPr>
        <p:sp>
          <p:nvSpPr>
            <p:cNvPr id="3" name="PC-arrow">
              <a:extLst>
                <a:ext uri="{FF2B5EF4-FFF2-40B4-BE49-F238E27FC236}">
                  <a16:creationId xmlns:a16="http://schemas.microsoft.com/office/drawing/2014/main" id="{C888B4EA-7565-FB75-8780-58746CCAA6AE}"/>
                </a:ext>
              </a:extLst>
            </p:cNvPr>
            <p:cNvSpPr/>
            <p:nvPr/>
          </p:nvSpPr>
          <p:spPr>
            <a:xfrm>
              <a:off x="10736258" y="4813540"/>
              <a:ext cx="207967" cy="293298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F4846E-66E6-0A44-F933-46A405DC71DA}"/>
                </a:ext>
              </a:extLst>
            </p:cNvPr>
            <p:cNvSpPr txBox="1"/>
            <p:nvPr/>
          </p:nvSpPr>
          <p:spPr>
            <a:xfrm>
              <a:off x="10944225" y="4637023"/>
              <a:ext cx="10191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Program Counter</a:t>
              </a:r>
            </a:p>
          </p:txBody>
        </p:sp>
      </p:grpSp>
      <p:grpSp>
        <p:nvGrpSpPr>
          <p:cNvPr id="9" name="Address Bus">
            <a:extLst>
              <a:ext uri="{FF2B5EF4-FFF2-40B4-BE49-F238E27FC236}">
                <a16:creationId xmlns:a16="http://schemas.microsoft.com/office/drawing/2014/main" id="{615ECDD5-EFE7-444F-E9C8-B0FC4DB10CF2}"/>
              </a:ext>
            </a:extLst>
          </p:cNvPr>
          <p:cNvGrpSpPr/>
          <p:nvPr/>
        </p:nvGrpSpPr>
        <p:grpSpPr>
          <a:xfrm>
            <a:off x="10122686" y="5694686"/>
            <a:ext cx="1851711" cy="369332"/>
            <a:chOff x="10736258" y="4775523"/>
            <a:chExt cx="1851711" cy="369332"/>
          </a:xfrm>
        </p:grpSpPr>
        <p:sp>
          <p:nvSpPr>
            <p:cNvPr id="10" name="PC-arrow">
              <a:extLst>
                <a:ext uri="{FF2B5EF4-FFF2-40B4-BE49-F238E27FC236}">
                  <a16:creationId xmlns:a16="http://schemas.microsoft.com/office/drawing/2014/main" id="{773681D5-1EA2-D6E3-B773-1F95A560EB97}"/>
                </a:ext>
              </a:extLst>
            </p:cNvPr>
            <p:cNvSpPr/>
            <p:nvPr/>
          </p:nvSpPr>
          <p:spPr>
            <a:xfrm>
              <a:off x="10736258" y="4813540"/>
              <a:ext cx="207967" cy="293298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64FC6D-A7A3-3606-08FA-F08D8DD01F21}"/>
                </a:ext>
              </a:extLst>
            </p:cNvPr>
            <p:cNvSpPr txBox="1"/>
            <p:nvPr/>
          </p:nvSpPr>
          <p:spPr>
            <a:xfrm>
              <a:off x="10944224" y="4775523"/>
              <a:ext cx="16437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Шина</a:t>
              </a:r>
              <a:r>
                <a:rPr lang="en-US" dirty="0"/>
                <a:t> </a:t>
              </a:r>
              <a:r>
                <a:rPr lang="ru-RU" dirty="0"/>
                <a:t>адреса</a:t>
              </a:r>
              <a:endParaRPr lang="en-US" dirty="0"/>
            </a:p>
          </p:txBody>
        </p:sp>
      </p:grpSp>
      <p:grpSp>
        <p:nvGrpSpPr>
          <p:cNvPr id="12" name="Data Bus">
            <a:extLst>
              <a:ext uri="{FF2B5EF4-FFF2-40B4-BE49-F238E27FC236}">
                <a16:creationId xmlns:a16="http://schemas.microsoft.com/office/drawing/2014/main" id="{C10307F5-BA7A-5409-B81D-31E556041A83}"/>
              </a:ext>
            </a:extLst>
          </p:cNvPr>
          <p:cNvGrpSpPr/>
          <p:nvPr/>
        </p:nvGrpSpPr>
        <p:grpSpPr>
          <a:xfrm>
            <a:off x="3990900" y="1884686"/>
            <a:ext cx="1836008" cy="369332"/>
            <a:chOff x="10913832" y="4775523"/>
            <a:chExt cx="1836008" cy="369332"/>
          </a:xfrm>
        </p:grpSpPr>
        <p:sp>
          <p:nvSpPr>
            <p:cNvPr id="13" name="PC-arrow">
              <a:extLst>
                <a:ext uri="{FF2B5EF4-FFF2-40B4-BE49-F238E27FC236}">
                  <a16:creationId xmlns:a16="http://schemas.microsoft.com/office/drawing/2014/main" id="{63330BE6-82A5-25CD-3A94-248B2F8BD25A}"/>
                </a:ext>
              </a:extLst>
            </p:cNvPr>
            <p:cNvSpPr/>
            <p:nvPr/>
          </p:nvSpPr>
          <p:spPr>
            <a:xfrm flipH="1">
              <a:off x="12541873" y="4813540"/>
              <a:ext cx="207967" cy="293298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BE89CA-076B-9275-8E32-E5B8941B1D9B}"/>
                </a:ext>
              </a:extLst>
            </p:cNvPr>
            <p:cNvSpPr txBox="1"/>
            <p:nvPr/>
          </p:nvSpPr>
          <p:spPr>
            <a:xfrm>
              <a:off x="10913832" y="4775523"/>
              <a:ext cx="1628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dirty="0"/>
                <a:t>Шина</a:t>
              </a:r>
              <a:r>
                <a:rPr lang="en-US" dirty="0"/>
                <a:t> </a:t>
              </a:r>
              <a:r>
                <a:rPr lang="ru-RU" dirty="0"/>
                <a:t>данных</a:t>
              </a:r>
              <a:endParaRPr lang="en-US" dirty="0"/>
            </a:p>
          </p:txBody>
        </p:sp>
      </p:grpSp>
      <p:grpSp>
        <p:nvGrpSpPr>
          <p:cNvPr id="18" name="IR Arrow">
            <a:extLst>
              <a:ext uri="{FF2B5EF4-FFF2-40B4-BE49-F238E27FC236}">
                <a16:creationId xmlns:a16="http://schemas.microsoft.com/office/drawing/2014/main" id="{DE7B7308-4811-41B6-8540-D5EE514EA3CE}"/>
              </a:ext>
            </a:extLst>
          </p:cNvPr>
          <p:cNvGrpSpPr/>
          <p:nvPr/>
        </p:nvGrpSpPr>
        <p:grpSpPr>
          <a:xfrm>
            <a:off x="7185338" y="3327734"/>
            <a:ext cx="1318581" cy="523220"/>
            <a:chOff x="10736258" y="4637023"/>
            <a:chExt cx="1318581" cy="523220"/>
          </a:xfrm>
        </p:grpSpPr>
        <p:sp>
          <p:nvSpPr>
            <p:cNvPr id="19" name="PC-arrow">
              <a:extLst>
                <a:ext uri="{FF2B5EF4-FFF2-40B4-BE49-F238E27FC236}">
                  <a16:creationId xmlns:a16="http://schemas.microsoft.com/office/drawing/2014/main" id="{2BF1C62B-EEEF-0FB5-AD3E-9FB2C7AE67D1}"/>
                </a:ext>
              </a:extLst>
            </p:cNvPr>
            <p:cNvSpPr/>
            <p:nvPr/>
          </p:nvSpPr>
          <p:spPr>
            <a:xfrm>
              <a:off x="10736258" y="4813540"/>
              <a:ext cx="207967" cy="293298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A7ECA5-D7DD-F94D-D61C-20777CB53BEB}"/>
                </a:ext>
              </a:extLst>
            </p:cNvPr>
            <p:cNvSpPr txBox="1"/>
            <p:nvPr/>
          </p:nvSpPr>
          <p:spPr>
            <a:xfrm>
              <a:off x="10944224" y="4637023"/>
              <a:ext cx="11106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Instruction Register</a:t>
              </a:r>
            </a:p>
          </p:txBody>
        </p:sp>
      </p:grpSp>
      <p:grpSp>
        <p:nvGrpSpPr>
          <p:cNvPr id="21" name="DCU arrow">
            <a:extLst>
              <a:ext uri="{FF2B5EF4-FFF2-40B4-BE49-F238E27FC236}">
                <a16:creationId xmlns:a16="http://schemas.microsoft.com/office/drawing/2014/main" id="{62FF5272-B265-55A8-8761-700222A6C3E0}"/>
              </a:ext>
            </a:extLst>
          </p:cNvPr>
          <p:cNvGrpSpPr/>
          <p:nvPr/>
        </p:nvGrpSpPr>
        <p:grpSpPr>
          <a:xfrm>
            <a:off x="7177718" y="4001294"/>
            <a:ext cx="1318581" cy="646331"/>
            <a:chOff x="10736258" y="4637023"/>
            <a:chExt cx="1318581" cy="646331"/>
          </a:xfrm>
        </p:grpSpPr>
        <p:sp>
          <p:nvSpPr>
            <p:cNvPr id="22" name="PC-arrow">
              <a:extLst>
                <a:ext uri="{FF2B5EF4-FFF2-40B4-BE49-F238E27FC236}">
                  <a16:creationId xmlns:a16="http://schemas.microsoft.com/office/drawing/2014/main" id="{CE52E77D-5227-A40B-D6F4-2274BE416222}"/>
                </a:ext>
              </a:extLst>
            </p:cNvPr>
            <p:cNvSpPr/>
            <p:nvPr/>
          </p:nvSpPr>
          <p:spPr>
            <a:xfrm>
              <a:off x="10736258" y="4813540"/>
              <a:ext cx="207967" cy="293298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238BEE6-3F32-CBBF-9F43-03B9DBBF8A4D}"/>
                </a:ext>
              </a:extLst>
            </p:cNvPr>
            <p:cNvSpPr txBox="1"/>
            <p:nvPr/>
          </p:nvSpPr>
          <p:spPr>
            <a:xfrm>
              <a:off x="10944224" y="4637023"/>
              <a:ext cx="11106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Блок дешифрации команд</a:t>
              </a:r>
              <a:endParaRPr lang="en-US" sz="1200" dirty="0"/>
            </a:p>
          </p:txBody>
        </p:sp>
      </p:grpSp>
      <p:grpSp>
        <p:nvGrpSpPr>
          <p:cNvPr id="27" name="CU Arrow">
            <a:extLst>
              <a:ext uri="{FF2B5EF4-FFF2-40B4-BE49-F238E27FC236}">
                <a16:creationId xmlns:a16="http://schemas.microsoft.com/office/drawing/2014/main" id="{4F0774DD-759F-A648-E009-D9A13D5ADC86}"/>
              </a:ext>
            </a:extLst>
          </p:cNvPr>
          <p:cNvGrpSpPr/>
          <p:nvPr/>
        </p:nvGrpSpPr>
        <p:grpSpPr>
          <a:xfrm>
            <a:off x="63483" y="5238021"/>
            <a:ext cx="1867700" cy="646331"/>
            <a:chOff x="10882140" y="4650173"/>
            <a:chExt cx="1867700" cy="646331"/>
          </a:xfrm>
        </p:grpSpPr>
        <p:sp>
          <p:nvSpPr>
            <p:cNvPr id="28" name="PC-arrow">
              <a:extLst>
                <a:ext uri="{FF2B5EF4-FFF2-40B4-BE49-F238E27FC236}">
                  <a16:creationId xmlns:a16="http://schemas.microsoft.com/office/drawing/2014/main" id="{7B663255-18DF-B3F2-1555-81619F279DB2}"/>
                </a:ext>
              </a:extLst>
            </p:cNvPr>
            <p:cNvSpPr/>
            <p:nvPr/>
          </p:nvSpPr>
          <p:spPr>
            <a:xfrm flipH="1">
              <a:off x="12541873" y="4813540"/>
              <a:ext cx="207967" cy="293298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2658AA0-3797-B8C9-8218-C62E775D23C6}"/>
                </a:ext>
              </a:extLst>
            </p:cNvPr>
            <p:cNvSpPr txBox="1"/>
            <p:nvPr/>
          </p:nvSpPr>
          <p:spPr>
            <a:xfrm>
              <a:off x="10882140" y="4650173"/>
              <a:ext cx="16280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dirty="0"/>
                <a:t>Устройство управления</a:t>
              </a:r>
              <a:endParaRPr lang="en-US" dirty="0"/>
            </a:p>
          </p:txBody>
        </p:sp>
      </p:grpSp>
      <p:grpSp>
        <p:nvGrpSpPr>
          <p:cNvPr id="30" name="ALU">
            <a:extLst>
              <a:ext uri="{FF2B5EF4-FFF2-40B4-BE49-F238E27FC236}">
                <a16:creationId xmlns:a16="http://schemas.microsoft.com/office/drawing/2014/main" id="{DAFAAEFE-5808-473F-4FE7-ED0796347A7D}"/>
              </a:ext>
            </a:extLst>
          </p:cNvPr>
          <p:cNvGrpSpPr/>
          <p:nvPr/>
        </p:nvGrpSpPr>
        <p:grpSpPr>
          <a:xfrm>
            <a:off x="2900701" y="3678128"/>
            <a:ext cx="1350274" cy="646331"/>
            <a:chOff x="11399566" y="4650173"/>
            <a:chExt cx="1350274" cy="646331"/>
          </a:xfrm>
        </p:grpSpPr>
        <p:sp>
          <p:nvSpPr>
            <p:cNvPr id="31" name="PC-arrow">
              <a:extLst>
                <a:ext uri="{FF2B5EF4-FFF2-40B4-BE49-F238E27FC236}">
                  <a16:creationId xmlns:a16="http://schemas.microsoft.com/office/drawing/2014/main" id="{C79ED9D8-4F95-4E56-F6B2-F0FC629087DB}"/>
                </a:ext>
              </a:extLst>
            </p:cNvPr>
            <p:cNvSpPr/>
            <p:nvPr/>
          </p:nvSpPr>
          <p:spPr>
            <a:xfrm flipH="1">
              <a:off x="12541873" y="4813540"/>
              <a:ext cx="207967" cy="293298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4150E4E-6006-1BAB-84C6-703522285B54}"/>
                </a:ext>
              </a:extLst>
            </p:cNvPr>
            <p:cNvSpPr txBox="1"/>
            <p:nvPr/>
          </p:nvSpPr>
          <p:spPr>
            <a:xfrm>
              <a:off x="11399566" y="4650173"/>
              <a:ext cx="11106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200" dirty="0" err="1">
                  <a:effectLst>
                    <a:glow rad="177800">
                      <a:schemeClr val="bg1"/>
                    </a:glow>
                  </a:effectLst>
                </a:rPr>
                <a:t>Арифметико</a:t>
              </a:r>
              <a:r>
                <a:rPr lang="ru-RU" sz="1200" dirty="0">
                  <a:effectLst>
                    <a:glow rad="177800">
                      <a:schemeClr val="bg1"/>
                    </a:glow>
                  </a:effectLst>
                </a:rPr>
                <a:t>  логическое устройство</a:t>
              </a:r>
              <a:endParaRPr lang="en-US" sz="1200" dirty="0">
                <a:effectLst>
                  <a:glow rad="177800">
                    <a:schemeClr val="bg1"/>
                  </a:glow>
                </a:effectLst>
              </a:endParaRPr>
            </a:p>
          </p:txBody>
        </p:sp>
      </p:grpSp>
      <p:grpSp>
        <p:nvGrpSpPr>
          <p:cNvPr id="38" name="TMP Registers">
            <a:extLst>
              <a:ext uri="{FF2B5EF4-FFF2-40B4-BE49-F238E27FC236}">
                <a16:creationId xmlns:a16="http://schemas.microsoft.com/office/drawing/2014/main" id="{DFDA2452-262D-0F7F-35FB-34324732E4AE}"/>
              </a:ext>
            </a:extLst>
          </p:cNvPr>
          <p:cNvGrpSpPr/>
          <p:nvPr/>
        </p:nvGrpSpPr>
        <p:grpSpPr>
          <a:xfrm>
            <a:off x="-133242" y="3327734"/>
            <a:ext cx="3153773" cy="792980"/>
            <a:chOff x="-133242" y="3327734"/>
            <a:chExt cx="3153773" cy="79298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CF2235-4C00-35B1-8E26-3D7471D96C8B}"/>
                </a:ext>
              </a:extLst>
            </p:cNvPr>
            <p:cNvSpPr txBox="1"/>
            <p:nvPr/>
          </p:nvSpPr>
          <p:spPr>
            <a:xfrm>
              <a:off x="-133242" y="3474383"/>
              <a:ext cx="11882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200" dirty="0"/>
                <a:t>Регистры временного хранения</a:t>
              </a:r>
              <a:endParaRPr lang="en-US" sz="120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F6258A1-3E35-ED79-628B-3299D9E062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669" y="3327734"/>
              <a:ext cx="1935862" cy="4232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97E320E-A9C9-688D-7F36-EB6B7978F02C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1055040" y="3797549"/>
              <a:ext cx="668176" cy="2037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ACC Register">
            <a:extLst>
              <a:ext uri="{FF2B5EF4-FFF2-40B4-BE49-F238E27FC236}">
                <a16:creationId xmlns:a16="http://schemas.microsoft.com/office/drawing/2014/main" id="{DA8A1DD2-8F0C-2892-369B-BF1901E33DFA}"/>
              </a:ext>
            </a:extLst>
          </p:cNvPr>
          <p:cNvGrpSpPr/>
          <p:nvPr/>
        </p:nvGrpSpPr>
        <p:grpSpPr>
          <a:xfrm>
            <a:off x="-112792" y="2985631"/>
            <a:ext cx="1836008" cy="369332"/>
            <a:chOff x="10913832" y="4775523"/>
            <a:chExt cx="1836008" cy="369332"/>
          </a:xfrm>
        </p:grpSpPr>
        <p:sp>
          <p:nvSpPr>
            <p:cNvPr id="45" name="PC-arrow">
              <a:extLst>
                <a:ext uri="{FF2B5EF4-FFF2-40B4-BE49-F238E27FC236}">
                  <a16:creationId xmlns:a16="http://schemas.microsoft.com/office/drawing/2014/main" id="{7E29B939-AF23-4147-E931-9E6E60B66342}"/>
                </a:ext>
              </a:extLst>
            </p:cNvPr>
            <p:cNvSpPr/>
            <p:nvPr/>
          </p:nvSpPr>
          <p:spPr>
            <a:xfrm flipH="1">
              <a:off x="12541873" y="4813540"/>
              <a:ext cx="207967" cy="293298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86314BE-3430-A031-3B81-C4E19B368A24}"/>
                </a:ext>
              </a:extLst>
            </p:cNvPr>
            <p:cNvSpPr txBox="1"/>
            <p:nvPr/>
          </p:nvSpPr>
          <p:spPr>
            <a:xfrm>
              <a:off x="10913832" y="4775523"/>
              <a:ext cx="1628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dirty="0"/>
                <a:t>Аккумулятор</a:t>
              </a:r>
              <a:endParaRPr lang="en-US" dirty="0"/>
            </a:p>
          </p:txBody>
        </p:sp>
      </p:grpSp>
      <p:grpSp>
        <p:nvGrpSpPr>
          <p:cNvPr id="47" name="FLAGS">
            <a:extLst>
              <a:ext uri="{FF2B5EF4-FFF2-40B4-BE49-F238E27FC236}">
                <a16:creationId xmlns:a16="http://schemas.microsoft.com/office/drawing/2014/main" id="{89BF80C9-E91F-2908-C49B-97605CCB4838}"/>
              </a:ext>
            </a:extLst>
          </p:cNvPr>
          <p:cNvGrpSpPr/>
          <p:nvPr/>
        </p:nvGrpSpPr>
        <p:grpSpPr>
          <a:xfrm>
            <a:off x="3848100" y="2918435"/>
            <a:ext cx="1008439" cy="331315"/>
            <a:chOff x="11741401" y="4775523"/>
            <a:chExt cx="1008439" cy="331315"/>
          </a:xfrm>
        </p:grpSpPr>
        <p:sp>
          <p:nvSpPr>
            <p:cNvPr id="48" name="PC-arrow">
              <a:extLst>
                <a:ext uri="{FF2B5EF4-FFF2-40B4-BE49-F238E27FC236}">
                  <a16:creationId xmlns:a16="http://schemas.microsoft.com/office/drawing/2014/main" id="{77433A46-6194-F6E7-9A4A-DC72B749EFE6}"/>
                </a:ext>
              </a:extLst>
            </p:cNvPr>
            <p:cNvSpPr/>
            <p:nvPr/>
          </p:nvSpPr>
          <p:spPr>
            <a:xfrm flipH="1">
              <a:off x="12541873" y="4813540"/>
              <a:ext cx="207967" cy="293298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B65AF8A-A44C-6E1D-28FB-C7BF43694976}"/>
                </a:ext>
              </a:extLst>
            </p:cNvPr>
            <p:cNvSpPr txBox="1"/>
            <p:nvPr/>
          </p:nvSpPr>
          <p:spPr>
            <a:xfrm>
              <a:off x="11741401" y="4775523"/>
              <a:ext cx="800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400" dirty="0"/>
                <a:t>Флаги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4773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97D90-44B2-59F5-FF3F-A7122276E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Инструкции перемещения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D45A1-EC46-9177-E26A-5C1EF8B80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Регистр ↔ регистр</a:t>
            </a:r>
          </a:p>
          <a:p>
            <a:pPr lvl="1"/>
            <a:r>
              <a:rPr lang="en-US" dirty="0"/>
              <a:t>MOV A, B</a:t>
            </a:r>
            <a:r>
              <a:rPr lang="ru-RU" dirty="0"/>
              <a:t> </a:t>
            </a:r>
            <a:r>
              <a:rPr lang="en-US" dirty="0"/>
              <a:t>;  A = B</a:t>
            </a:r>
          </a:p>
          <a:p>
            <a:r>
              <a:rPr lang="ru-RU" dirty="0"/>
              <a:t>Константа → регистр</a:t>
            </a:r>
          </a:p>
          <a:p>
            <a:pPr lvl="1"/>
            <a:r>
              <a:rPr lang="en-US" dirty="0"/>
              <a:t>MVI A, 5 ; A = 5</a:t>
            </a:r>
          </a:p>
          <a:p>
            <a:r>
              <a:rPr lang="ru-RU" dirty="0"/>
              <a:t>Загрузка 16-битной константы</a:t>
            </a:r>
          </a:p>
          <a:p>
            <a:pPr lvl="1"/>
            <a:r>
              <a:rPr lang="en-US" dirty="0"/>
              <a:t>LXI H, 1000H ; HL = 0x1000</a:t>
            </a:r>
          </a:p>
          <a:p>
            <a:r>
              <a:rPr lang="ru-RU" dirty="0"/>
              <a:t>Косвенная адресация (через </a:t>
            </a:r>
            <a:r>
              <a:rPr lang="en-US" dirty="0"/>
              <a:t>HL)</a:t>
            </a:r>
          </a:p>
          <a:p>
            <a:pPr lvl="1"/>
            <a:r>
              <a:rPr lang="en-US" dirty="0"/>
              <a:t>MOV A, M ; A = [HL]</a:t>
            </a:r>
            <a:endParaRPr lang="ru-RU" dirty="0"/>
          </a:p>
          <a:p>
            <a:pPr lvl="1"/>
            <a:r>
              <a:rPr lang="en-US" dirty="0"/>
              <a:t>MOV M, A</a:t>
            </a:r>
            <a:r>
              <a:rPr lang="ru-RU" dirty="0"/>
              <a:t> </a:t>
            </a:r>
            <a:r>
              <a:rPr lang="en-US" dirty="0"/>
              <a:t>; [HL] = A</a:t>
            </a:r>
            <a:endParaRPr lang="ru-RU" dirty="0"/>
          </a:p>
          <a:p>
            <a:r>
              <a:rPr lang="ru-RU" dirty="0"/>
              <a:t>Прямая адресация</a:t>
            </a:r>
          </a:p>
          <a:p>
            <a:pPr lvl="1"/>
            <a:r>
              <a:rPr lang="ru-RU" dirty="0"/>
              <a:t>1 байт</a:t>
            </a:r>
          </a:p>
          <a:p>
            <a:pPr lvl="2"/>
            <a:r>
              <a:rPr lang="en-US" dirty="0"/>
              <a:t>LDA 1000H ;  A = [1000h]</a:t>
            </a:r>
          </a:p>
          <a:p>
            <a:pPr lvl="2"/>
            <a:r>
              <a:rPr lang="en-US" dirty="0"/>
              <a:t>STA 1000H ; [1000h] = A </a:t>
            </a:r>
          </a:p>
          <a:p>
            <a:pPr lvl="1"/>
            <a:r>
              <a:rPr lang="ru-RU" dirty="0"/>
              <a:t>2 байта</a:t>
            </a:r>
          </a:p>
          <a:p>
            <a:pPr lvl="2"/>
            <a:r>
              <a:rPr lang="en-US" dirty="0"/>
              <a:t>LHLD 1000H; HL = [1000h]</a:t>
            </a:r>
          </a:p>
          <a:p>
            <a:pPr lvl="2"/>
            <a:r>
              <a:rPr lang="en-US" dirty="0"/>
              <a:t>SHLD 1000H; [1000h] = HL</a:t>
            </a:r>
          </a:p>
          <a:p>
            <a:r>
              <a:rPr lang="ru-RU" dirty="0"/>
              <a:t>Процессор работает </a:t>
            </a:r>
            <a:r>
              <a:rPr lang="ru-RU" b="1" dirty="0"/>
              <a:t>через регистры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ru-RU" dirty="0"/>
              <a:t>память → регистр → операция → память</a:t>
            </a:r>
          </a:p>
        </p:txBody>
      </p:sp>
    </p:spTree>
    <p:extLst>
      <p:ext uri="{BB962C8B-B14F-4D97-AF65-F5344CB8AC3E}">
        <p14:creationId xmlns:p14="http://schemas.microsoft.com/office/powerpoint/2010/main" val="258432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86E0D-034C-92CD-BAB3-5C04B772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Пересылка данных на </a:t>
            </a:r>
            <a:r>
              <a:rPr lang="en-US" dirty="0"/>
              <a:t>C </a:t>
            </a:r>
            <a:r>
              <a:rPr lang="ru-RU" dirty="0"/>
              <a:t>и</a:t>
            </a:r>
            <a:r>
              <a:rPr lang="en-US" dirty="0"/>
              <a:t> 8080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88F9E-B8A7-61D7-BF9D-EF4749369563}"/>
              </a:ext>
            </a:extLst>
          </p:cNvPr>
          <p:cNvSpPr txBox="1"/>
          <p:nvPr/>
        </p:nvSpPr>
        <p:spPr>
          <a:xfrm>
            <a:off x="838199" y="2027436"/>
            <a:ext cx="626110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x1;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1000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x2;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1001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ptr1;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1002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 2 байта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ptr2;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1004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 2 байта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x3;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1006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x1 = x2;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*ptr1 = *ptr2;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x3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56A6C-C1AD-B2B3-ED0C-31F1662C30AD}"/>
              </a:ext>
            </a:extLst>
          </p:cNvPr>
          <p:cNvSpPr txBox="1"/>
          <p:nvPr/>
        </p:nvSpPr>
        <p:spPr>
          <a:xfrm>
            <a:off x="7624916" y="2027436"/>
            <a:ext cx="356801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x1 = x2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LDA 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1001H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 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1000H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*ptr1 = *ptr2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LHLD 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1004H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HL = ptr2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  A, M     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A = *ptr2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LHLD 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1002H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HL = ptr1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  M, A     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*ptr1 = A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x3 = 42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MVI  A, 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 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1006H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2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C8131-AC92-C38A-063D-C82CB0DA8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Арифметика и изменение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F9A35-5E88-7EB9-0E57-EB4F6E71EF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Сложение (</a:t>
            </a:r>
            <a:r>
              <a:rPr lang="en-US" dirty="0"/>
              <a:t>ADD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en-US" dirty="0"/>
              <a:t>ADD B</a:t>
            </a:r>
            <a:r>
              <a:rPr lang="ru-RU" dirty="0"/>
              <a:t> </a:t>
            </a:r>
            <a:r>
              <a:rPr lang="en-US" dirty="0"/>
              <a:t>; A = A + B</a:t>
            </a:r>
            <a:endParaRPr lang="ru-RU" dirty="0"/>
          </a:p>
          <a:p>
            <a:pPr lvl="1"/>
            <a:r>
              <a:rPr lang="en-US" dirty="0"/>
              <a:t>ADD M ; A = A + [HL]</a:t>
            </a:r>
          </a:p>
          <a:p>
            <a:r>
              <a:rPr lang="ru-RU" dirty="0"/>
              <a:t>Вычитание (</a:t>
            </a:r>
            <a:r>
              <a:rPr lang="en-US" dirty="0"/>
              <a:t>SUB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en-US" dirty="0"/>
              <a:t>SUB B ; A = A – B</a:t>
            </a:r>
            <a:endParaRPr lang="ru-RU" dirty="0"/>
          </a:p>
          <a:p>
            <a:pPr lvl="1"/>
            <a:r>
              <a:rPr lang="pt-BR" dirty="0"/>
              <a:t>SUB M ; A = A - [HL]</a:t>
            </a:r>
            <a:endParaRPr lang="en-US" dirty="0"/>
          </a:p>
          <a:p>
            <a:r>
              <a:rPr lang="ru-RU" dirty="0"/>
              <a:t>Инкремент (</a:t>
            </a:r>
            <a:r>
              <a:rPr lang="en-US" dirty="0"/>
              <a:t>INR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ru-RU" dirty="0"/>
              <a:t>декремент (</a:t>
            </a:r>
            <a:r>
              <a:rPr lang="en-US" dirty="0"/>
              <a:t>DCR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en-US" dirty="0"/>
              <a:t>INR A   ; A = A + 1</a:t>
            </a:r>
            <a:endParaRPr lang="ru-RU" dirty="0"/>
          </a:p>
          <a:p>
            <a:pPr lvl="1"/>
            <a:r>
              <a:rPr lang="en-US" dirty="0"/>
              <a:t>DCR A   ; A = A – 1</a:t>
            </a:r>
            <a:endParaRPr lang="ru-RU" dirty="0"/>
          </a:p>
          <a:p>
            <a:pPr lvl="1"/>
            <a:r>
              <a:rPr lang="ru-RU" dirty="0"/>
              <a:t>INR B ; можно применять к другим регистрам</a:t>
            </a:r>
          </a:p>
          <a:p>
            <a:pPr lvl="1"/>
            <a:r>
              <a:rPr lang="ru-RU" dirty="0"/>
              <a:t>DCR M ; можно к памяти [HL]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32BF4-D3EB-DCC5-852D-DCF415A646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Флаги (результат операции)</a:t>
            </a:r>
          </a:p>
          <a:p>
            <a:pPr lvl="1"/>
            <a:r>
              <a:rPr lang="ru-RU" dirty="0"/>
              <a:t>После операций изменяются флаговые биты:</a:t>
            </a:r>
          </a:p>
          <a:p>
            <a:pPr lvl="2"/>
            <a:r>
              <a:rPr lang="ru-RU" dirty="0"/>
              <a:t>Z — результат равен 0 </a:t>
            </a:r>
          </a:p>
          <a:p>
            <a:pPr lvl="2"/>
            <a:r>
              <a:rPr lang="ru-RU" dirty="0"/>
              <a:t>S — знак </a:t>
            </a:r>
          </a:p>
          <a:p>
            <a:pPr lvl="2"/>
            <a:r>
              <a:rPr lang="ru-RU" dirty="0"/>
              <a:t>CY — перенос / заём</a:t>
            </a:r>
          </a:p>
          <a:p>
            <a:r>
              <a:rPr lang="ru-RU" dirty="0"/>
              <a:t>Ключевая идея</a:t>
            </a:r>
          </a:p>
          <a:p>
            <a:pPr lvl="1"/>
            <a:r>
              <a:rPr lang="en-US" dirty="0"/>
              <a:t>ALU </a:t>
            </a:r>
            <a:r>
              <a:rPr lang="ru-RU" dirty="0"/>
              <a:t>работает через аккумулятор </a:t>
            </a:r>
            <a:r>
              <a:rPr lang="en-US" dirty="0"/>
              <a:t>A</a:t>
            </a:r>
          </a:p>
          <a:p>
            <a:pPr lvl="1"/>
            <a:r>
              <a:rPr lang="ru-RU" dirty="0"/>
              <a:t>Общий шаблон: </a:t>
            </a:r>
            <a:r>
              <a:rPr lang="en-US" dirty="0"/>
              <a:t>A = A op operand</a:t>
            </a:r>
            <a:endParaRPr lang="ru-RU" dirty="0"/>
          </a:p>
          <a:p>
            <a:pPr lvl="1"/>
            <a:r>
              <a:rPr lang="ru-RU" dirty="0"/>
              <a:t>Нельзя написать: ADD C</a:t>
            </a:r>
          </a:p>
        </p:txBody>
      </p:sp>
    </p:spTree>
    <p:extLst>
      <p:ext uri="{BB962C8B-B14F-4D97-AF65-F5344CB8AC3E}">
        <p14:creationId xmlns:p14="http://schemas.microsoft.com/office/powerpoint/2010/main" val="252787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E3752F-A2E8-A3EA-A5D4-FC5AD4E6A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Арифметика </a:t>
            </a:r>
            <a:r>
              <a:rPr lang="en-US" dirty="0"/>
              <a:t>(C vs Intel 8080)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0CCAAC-A4B5-C7AD-6974-29B0B3F85E66}"/>
              </a:ext>
            </a:extLst>
          </p:cNvPr>
          <p:cNvSpPr txBox="1"/>
          <p:nvPr/>
        </p:nvSpPr>
        <p:spPr>
          <a:xfrm>
            <a:off x="838200" y="1852920"/>
            <a:ext cx="52578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array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 адресу 1000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регистре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A, step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регистре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FillArray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*p = array;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*(p++) = v;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 += step;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*(p++) = v;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 += step;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*p = v;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06E8AD-653B-8DDB-DB13-D09AEB6D25FF}"/>
              </a:ext>
            </a:extLst>
          </p:cNvPr>
          <p:cNvSpPr txBox="1"/>
          <p:nvPr/>
        </p:nvSpPr>
        <p:spPr>
          <a:xfrm>
            <a:off x="6898275" y="1859455"/>
            <a:ext cx="506325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LXI H,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1000H</a:t>
            </a:r>
            <a:r>
              <a:rPr lang="ru-RU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HL = &amp;array[0]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 M, A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*p = v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INX H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++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 B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v += step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MOV M, A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*p = v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INX H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++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 B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v += step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 M, A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; *p = v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18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D11D8-6ADA-BAE3-C71E-60250CA0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выполнением программы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95922-990D-00EB-49AA-31024C2AF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Процессор выполняет инструкции последовательно:</a:t>
            </a:r>
          </a:p>
          <a:p>
            <a:pPr lvl="1"/>
            <a:r>
              <a:rPr lang="ru-RU" dirty="0"/>
              <a:t>Регистр PC хранит адрес следующей инструкция</a:t>
            </a:r>
          </a:p>
          <a:p>
            <a:r>
              <a:rPr lang="ru-RU" dirty="0"/>
              <a:t>JMP — безусловный переход</a:t>
            </a:r>
          </a:p>
          <a:p>
            <a:pPr lvl="1"/>
            <a:r>
              <a:rPr lang="ru-RU" dirty="0"/>
              <a:t>JMP 1000H</a:t>
            </a:r>
          </a:p>
          <a:p>
            <a:pPr lvl="2"/>
            <a:r>
              <a:rPr lang="ru-RU" dirty="0"/>
              <a:t>PC = 1000h</a:t>
            </a:r>
          </a:p>
          <a:p>
            <a:pPr lvl="2"/>
            <a:r>
              <a:rPr lang="ru-RU" dirty="0"/>
              <a:t>выполнение продолжается с нового адреса</a:t>
            </a:r>
          </a:p>
          <a:p>
            <a:r>
              <a:rPr lang="ru-RU" dirty="0"/>
              <a:t>Условные переходы (идея)</a:t>
            </a:r>
          </a:p>
          <a:p>
            <a:pPr lvl="1"/>
            <a:r>
              <a:rPr lang="ru-RU" dirty="0"/>
              <a:t>зависят от флагов</a:t>
            </a:r>
          </a:p>
          <a:p>
            <a:pPr lvl="1"/>
            <a:r>
              <a:rPr lang="ru-RU" dirty="0"/>
              <a:t>JZ 1000H   ; если результат = 0</a:t>
            </a:r>
          </a:p>
          <a:p>
            <a:pPr lvl="1"/>
            <a:r>
              <a:rPr lang="ru-RU" dirty="0"/>
              <a:t>JNZ 1000H  ; если результат ≠ 0</a:t>
            </a:r>
          </a:p>
          <a:p>
            <a:r>
              <a:rPr lang="ru-RU" dirty="0"/>
              <a:t>Позволяет реализовать циклы и ветвления</a:t>
            </a:r>
          </a:p>
          <a:p>
            <a:r>
              <a:rPr lang="ru-RU" dirty="0"/>
              <a:t>Важно</a:t>
            </a:r>
          </a:p>
          <a:p>
            <a:pPr lvl="1"/>
            <a:r>
              <a:rPr lang="ru-RU" dirty="0"/>
              <a:t>процессор сам не “понимает” логику</a:t>
            </a:r>
          </a:p>
          <a:p>
            <a:pPr lvl="1"/>
            <a:r>
              <a:rPr lang="ru-RU" dirty="0"/>
              <a:t>он просто меняет значение PC</a:t>
            </a:r>
          </a:p>
        </p:txBody>
      </p:sp>
    </p:spTree>
    <p:extLst>
      <p:ext uri="{BB962C8B-B14F-4D97-AF65-F5344CB8AC3E}">
        <p14:creationId xmlns:p14="http://schemas.microsoft.com/office/powerpoint/2010/main" val="407383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68A74-52B1-437E-9EA8-BAAB3243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MemCopy</a:t>
            </a:r>
            <a:r>
              <a:rPr lang="ru-RU" dirty="0"/>
              <a:t> на</a:t>
            </a:r>
            <a:r>
              <a:rPr lang="en-US" dirty="0"/>
              <a:t> Intel8080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D386A-4EC5-CAB0-F311-6E852E7EB8C9}"/>
              </a:ext>
            </a:extLst>
          </p:cNvPr>
          <p:cNvSpPr txBox="1"/>
          <p:nvPr/>
        </p:nvSpPr>
        <p:spPr>
          <a:xfrm>
            <a:off x="838200" y="1690688"/>
            <a:ext cx="46999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MemCopy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*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= *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33F353-222C-EB8A-A902-F55C0AF12D35}"/>
              </a:ext>
            </a:extLst>
          </p:cNvPr>
          <p:cNvSpPr txBox="1"/>
          <p:nvPr/>
        </p:nvSpPr>
        <p:spPr>
          <a:xfrm>
            <a:off x="6132513" y="1690688"/>
            <a:ext cx="609887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MemCopy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JMP CHECK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LOOP: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MOV A, M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A = [HL] (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читаем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STAX D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[DE] = A (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пишем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INX H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INX D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DCX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size--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MOV A, B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ORA C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проверить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 == 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JNZ LOOP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не 0 — повторить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496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BC8A88-E8C2-4574-4201-634BE946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Кодирование машинных инструкций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AC408-7FDD-9E71-7842-2F8D76F74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59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F805E3-C4A3-ED21-1E83-721CB77E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представить инструкции в виде чисел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0D39C1-AF64-470E-5797-8ABEADC29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Процессор понимает только байты</a:t>
            </a:r>
          </a:p>
          <a:p>
            <a:r>
              <a:rPr lang="ru-RU" dirty="0"/>
              <a:t>В Intel 8080</a:t>
            </a:r>
          </a:p>
          <a:p>
            <a:pPr lvl="1"/>
            <a:r>
              <a:rPr lang="ru-RU" dirty="0"/>
              <a:t>инструкция = 1 байт (</a:t>
            </a:r>
            <a:r>
              <a:rPr lang="ru-RU" dirty="0" err="1"/>
              <a:t>opcode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максимум 256 кодов (2⁸)</a:t>
            </a:r>
          </a:p>
          <a:p>
            <a:r>
              <a:rPr lang="ru-RU" dirty="0"/>
              <a:t>Длина инструкции</a:t>
            </a:r>
          </a:p>
          <a:p>
            <a:pPr lvl="1"/>
            <a:r>
              <a:rPr lang="ru-RU" dirty="0"/>
              <a:t>Без аргументов – 1 байт</a:t>
            </a:r>
          </a:p>
          <a:p>
            <a:pPr lvl="1"/>
            <a:r>
              <a:rPr lang="ru-RU" dirty="0"/>
              <a:t>Инструкция + 8-битный аргумент – 2 байта</a:t>
            </a:r>
          </a:p>
          <a:p>
            <a:pPr lvl="1"/>
            <a:r>
              <a:rPr lang="ru-RU" dirty="0"/>
              <a:t>Инструкция + 16-битный аргумент – 3 байта</a:t>
            </a:r>
          </a:p>
          <a:p>
            <a:r>
              <a:rPr lang="ru-RU" dirty="0"/>
              <a:t>Примеры</a:t>
            </a:r>
          </a:p>
          <a:p>
            <a:pPr lvl="1"/>
            <a:r>
              <a:rPr lang="en-US" dirty="0"/>
              <a:t>MOV A, B      → 1 </a:t>
            </a:r>
            <a:r>
              <a:rPr lang="ru-RU" dirty="0"/>
              <a:t>байт</a:t>
            </a:r>
          </a:p>
          <a:p>
            <a:pPr lvl="1"/>
            <a:r>
              <a:rPr lang="en-US" dirty="0"/>
              <a:t>MVI A, 5      → 2 </a:t>
            </a:r>
            <a:r>
              <a:rPr lang="ru-RU" dirty="0"/>
              <a:t>байта</a:t>
            </a:r>
          </a:p>
          <a:p>
            <a:pPr lvl="1"/>
            <a:r>
              <a:rPr lang="en-US" dirty="0"/>
              <a:t>STA 1000H     → 3 </a:t>
            </a:r>
            <a:r>
              <a:rPr lang="ru-RU" dirty="0"/>
              <a:t>байта</a:t>
            </a:r>
          </a:p>
        </p:txBody>
      </p:sp>
    </p:spTree>
    <p:extLst>
      <p:ext uri="{BB962C8B-B14F-4D97-AF65-F5344CB8AC3E}">
        <p14:creationId xmlns:p14="http://schemas.microsoft.com/office/powerpoint/2010/main" val="58176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688F-A150-B05F-A2F2-5D1258E5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Кодирование на примере </a:t>
            </a:r>
            <a:r>
              <a:rPr lang="en-US" dirty="0"/>
              <a:t>MOV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28416-B9C7-A889-4E2C-A2A4C285F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285893" cy="4351338"/>
          </a:xfrm>
        </p:spPr>
        <p:txBody>
          <a:bodyPr>
            <a:normAutofit/>
          </a:bodyPr>
          <a:lstStyle/>
          <a:p>
            <a:r>
              <a:rPr lang="ru-RU" dirty="0"/>
              <a:t>Коды инструкций задаются не случайно</a:t>
            </a:r>
          </a:p>
          <a:p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MOV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</a:rPr>
              <a:t>D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st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Src</a:t>
            </a:r>
            <a:endParaRPr lang="ru-RU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ru-RU" dirty="0"/>
              <a:t>Формат инструкции:</a:t>
            </a:r>
          </a:p>
          <a:p>
            <a:pPr lvl="1"/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01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</a:rPr>
              <a:t>DDD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SSS</a:t>
            </a:r>
          </a:p>
          <a:p>
            <a:pPr lvl="1"/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</a:rPr>
              <a:t>DDD</a:t>
            </a:r>
            <a:r>
              <a:rPr lang="ru-RU" dirty="0"/>
              <a:t> — регистр назначения </a:t>
            </a:r>
          </a:p>
          <a:p>
            <a:pPr lvl="1"/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SSS</a:t>
            </a:r>
            <a:r>
              <a:rPr lang="ru-RU" dirty="0"/>
              <a:t> — регистр источника</a:t>
            </a:r>
          </a:p>
          <a:p>
            <a:r>
              <a:rPr lang="ru-RU" dirty="0"/>
              <a:t>Пример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MOV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B</a:t>
            </a:r>
            <a:endParaRPr lang="ru-RU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lvl="1"/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01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B050"/>
                </a:solidFill>
                <a:latin typeface="Consolas" panose="020B0609020204030204" pitchFamily="49" charset="0"/>
              </a:rPr>
              <a:t>111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000</a:t>
            </a:r>
            <a:r>
              <a:rPr lang="ru-RU" dirty="0">
                <a:latin typeface="Consolas" panose="020B0609020204030204" pitchFamily="49" charset="0"/>
              </a:rPr>
              <a:t> = 78h</a:t>
            </a:r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6B0463C-025A-9BB3-2E53-6206A39A6E4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03686569"/>
              </p:ext>
            </p:extLst>
          </p:nvPr>
        </p:nvGraphicFramePr>
        <p:xfrm>
          <a:off x="8475784" y="1825625"/>
          <a:ext cx="287801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345">
                  <a:extLst>
                    <a:ext uri="{9D8B030D-6E8A-4147-A177-3AD203B41FA5}">
                      <a16:colId xmlns:a16="http://schemas.microsoft.com/office/drawing/2014/main" val="3818459091"/>
                    </a:ext>
                  </a:extLst>
                </a:gridCol>
                <a:gridCol w="1030670">
                  <a:extLst>
                    <a:ext uri="{9D8B030D-6E8A-4147-A177-3AD203B41FA5}">
                      <a16:colId xmlns:a16="http://schemas.microsoft.com/office/drawing/2014/main" val="1202558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Регистр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3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341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643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59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41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79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931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221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83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3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8D6E2-76CB-BE39-E15E-F468D98ED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Кодирование</a:t>
            </a:r>
            <a:r>
              <a:rPr lang="en-US" dirty="0"/>
              <a:t> MVI </a:t>
            </a:r>
            <a:r>
              <a:rPr lang="ru-RU" dirty="0"/>
              <a:t>и </a:t>
            </a:r>
            <a:r>
              <a:rPr lang="en-US" dirty="0"/>
              <a:t>LXI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1C85F-81C3-9BFB-2957-3593F66D0A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MVI</a:t>
            </a:r>
            <a:r>
              <a:rPr lang="ru-RU" dirty="0"/>
              <a:t> (загрузка</a:t>
            </a:r>
            <a:r>
              <a:rPr lang="en-US" dirty="0"/>
              <a:t> 8-</a:t>
            </a:r>
            <a:r>
              <a:rPr lang="ru-RU" dirty="0"/>
              <a:t>битного значения)</a:t>
            </a:r>
          </a:p>
          <a:p>
            <a:pPr lvl="1"/>
            <a:r>
              <a:rPr lang="ru-RU" dirty="0">
                <a:solidFill>
                  <a:srgbClr val="FF0000"/>
                </a:solidFill>
              </a:rPr>
              <a:t>00</a:t>
            </a:r>
            <a:r>
              <a:rPr lang="ru-RU" dirty="0"/>
              <a:t> </a:t>
            </a:r>
            <a:r>
              <a:rPr lang="ru-RU" dirty="0">
                <a:solidFill>
                  <a:srgbClr val="00B050"/>
                </a:solidFill>
              </a:rPr>
              <a:t>DDD</a:t>
            </a:r>
            <a:r>
              <a:rPr lang="ru-RU" dirty="0"/>
              <a:t> </a:t>
            </a:r>
            <a:r>
              <a:rPr lang="ru-RU" dirty="0">
                <a:solidFill>
                  <a:srgbClr val="FF0000"/>
                </a:solidFill>
              </a:rPr>
              <a:t>110</a:t>
            </a:r>
            <a:r>
              <a:rPr lang="ru-RU" dirty="0"/>
              <a:t> | </a:t>
            </a:r>
            <a:r>
              <a:rPr lang="ru-RU" dirty="0" err="1">
                <a:solidFill>
                  <a:srgbClr val="0070C0"/>
                </a:solidFill>
              </a:rPr>
              <a:t>data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B050"/>
                </a:solidFill>
              </a:rPr>
              <a:t>DDD</a:t>
            </a:r>
            <a:r>
              <a:rPr lang="en-US" dirty="0"/>
              <a:t> –</a:t>
            </a:r>
            <a:r>
              <a:rPr lang="ru-RU" dirty="0"/>
              <a:t> регистр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data</a:t>
            </a:r>
            <a:r>
              <a:rPr lang="en-US" dirty="0"/>
              <a:t> </a:t>
            </a:r>
            <a:r>
              <a:rPr lang="ru-RU" dirty="0"/>
              <a:t>— значение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MVI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A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5</a:t>
            </a:r>
            <a:r>
              <a:rPr lang="en-US" dirty="0"/>
              <a:t> → 3E </a:t>
            </a:r>
            <a:r>
              <a:rPr lang="en-US" dirty="0">
                <a:solidFill>
                  <a:srgbClr val="0070C0"/>
                </a:solidFill>
              </a:rPr>
              <a:t>05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9F15A-784A-C235-95DF-C1A4CC9780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LXI (</a:t>
            </a:r>
            <a:r>
              <a:rPr lang="ru-RU" dirty="0"/>
              <a:t>загрузка 16-битного значения)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RP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0001</a:t>
            </a:r>
            <a:r>
              <a:rPr lang="en-US" dirty="0"/>
              <a:t> | </a:t>
            </a:r>
            <a:r>
              <a:rPr lang="en-US" dirty="0">
                <a:solidFill>
                  <a:srgbClr val="0070C0"/>
                </a:solidFill>
              </a:rPr>
              <a:t>low</a:t>
            </a:r>
            <a:r>
              <a:rPr lang="en-US" dirty="0"/>
              <a:t> |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high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RP</a:t>
            </a:r>
            <a:r>
              <a:rPr lang="en-US" dirty="0"/>
              <a:t> — </a:t>
            </a:r>
            <a:r>
              <a:rPr lang="ru-RU" dirty="0"/>
              <a:t>регистровая пара</a:t>
            </a:r>
            <a:endParaRPr lang="en-US" dirty="0"/>
          </a:p>
          <a:p>
            <a:pPr lvl="2"/>
            <a:r>
              <a:rPr lang="en-US" dirty="0">
                <a:solidFill>
                  <a:srgbClr val="00B050"/>
                </a:solidFill>
              </a:rPr>
              <a:t>00</a:t>
            </a:r>
            <a:r>
              <a:rPr lang="pt-BR" dirty="0"/>
              <a:t> →</a:t>
            </a:r>
            <a:r>
              <a:rPr lang="en-US" dirty="0"/>
              <a:t> BC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01</a:t>
            </a:r>
            <a:r>
              <a:rPr lang="pt-BR" dirty="0"/>
              <a:t> → </a:t>
            </a:r>
            <a:r>
              <a:rPr lang="en-US" dirty="0"/>
              <a:t>DE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02</a:t>
            </a:r>
            <a:r>
              <a:rPr lang="pt-BR" dirty="0"/>
              <a:t> →</a:t>
            </a:r>
            <a:r>
              <a:rPr lang="en-US" dirty="0"/>
              <a:t> HL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03</a:t>
            </a:r>
            <a:r>
              <a:rPr lang="pt-BR" dirty="0"/>
              <a:t> → </a:t>
            </a:r>
            <a:r>
              <a:rPr lang="en-US" dirty="0"/>
              <a:t>SP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pt-BR" dirty="0"/>
              <a:t>LXI </a:t>
            </a:r>
            <a:r>
              <a:rPr lang="pt-BR" dirty="0">
                <a:solidFill>
                  <a:srgbClr val="00B050"/>
                </a:solidFill>
              </a:rPr>
              <a:t>H</a:t>
            </a:r>
            <a:r>
              <a:rPr lang="pt-BR" dirty="0"/>
              <a:t>,</a:t>
            </a:r>
            <a:r>
              <a:rPr lang="pt-BR" dirty="0">
                <a:solidFill>
                  <a:srgbClr val="0070C0"/>
                </a:solidFill>
              </a:rPr>
              <a:t>10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00</a:t>
            </a:r>
            <a:r>
              <a:rPr lang="pt-BR" dirty="0"/>
              <a:t>h → 21 </a:t>
            </a:r>
            <a:r>
              <a:rPr lang="pt-BR" dirty="0">
                <a:solidFill>
                  <a:srgbClr val="0070C0"/>
                </a:solidFill>
              </a:rPr>
              <a:t>00</a:t>
            </a:r>
            <a:r>
              <a:rPr lang="pt-BR" dirty="0"/>
              <a:t> 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10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19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D466F-ACB9-3126-4C4C-F5C755ED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Простые команды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A12C7-E6B6-1C97-A0B8-9FC1E6C0DE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Команды без операндов</a:t>
            </a:r>
          </a:p>
          <a:p>
            <a:pPr lvl="1"/>
            <a:r>
              <a:rPr lang="ru-RU" dirty="0"/>
              <a:t>не требуют дополнительных байтов</a:t>
            </a:r>
            <a:endParaRPr lang="en-US" dirty="0"/>
          </a:p>
          <a:p>
            <a:pPr lvl="1"/>
            <a:r>
              <a:rPr lang="ru-RU" dirty="0"/>
              <a:t>не используют регистры явно</a:t>
            </a:r>
          </a:p>
          <a:p>
            <a:r>
              <a:rPr lang="ru-RU" dirty="0"/>
              <a:t>Примеры</a:t>
            </a:r>
          </a:p>
          <a:p>
            <a:pPr lvl="1"/>
            <a:r>
              <a:rPr lang="ru-RU" dirty="0"/>
              <a:t>NOP</a:t>
            </a:r>
            <a:r>
              <a:rPr lang="en-US" dirty="0"/>
              <a:t> ; </a:t>
            </a:r>
            <a:r>
              <a:rPr lang="ru-RU" dirty="0"/>
              <a:t>Ничего не делает</a:t>
            </a:r>
          </a:p>
          <a:p>
            <a:pPr lvl="1"/>
            <a:r>
              <a:rPr lang="ru-RU" dirty="0"/>
              <a:t>RET </a:t>
            </a:r>
            <a:r>
              <a:rPr lang="en-US" dirty="0"/>
              <a:t>; </a:t>
            </a:r>
            <a:r>
              <a:rPr lang="ru-RU" dirty="0"/>
              <a:t> Возврат из подпрограммы</a:t>
            </a:r>
          </a:p>
          <a:p>
            <a:pPr lvl="1"/>
            <a:r>
              <a:rPr lang="en-US" dirty="0"/>
              <a:t>HLT</a:t>
            </a:r>
            <a:r>
              <a:rPr lang="ru-RU" dirty="0"/>
              <a:t> </a:t>
            </a:r>
            <a:r>
              <a:rPr lang="en-US" dirty="0"/>
              <a:t>; </a:t>
            </a:r>
            <a:r>
              <a:rPr lang="ru-RU" dirty="0"/>
              <a:t>Остановка процессора</a:t>
            </a:r>
          </a:p>
          <a:p>
            <a:r>
              <a:rPr lang="ru-RU" dirty="0"/>
              <a:t>Примеры кодов:</a:t>
            </a:r>
          </a:p>
          <a:p>
            <a:pPr lvl="1"/>
            <a:r>
              <a:rPr lang="pt-BR" dirty="0"/>
              <a:t>NOP → 00h</a:t>
            </a:r>
            <a:br>
              <a:rPr lang="pt-BR" dirty="0"/>
            </a:br>
            <a:r>
              <a:rPr lang="pt-BR" dirty="0"/>
              <a:t>RET → C9h</a:t>
            </a:r>
            <a:br>
              <a:rPr lang="pt-BR" dirty="0"/>
            </a:br>
            <a:r>
              <a:rPr lang="pt-BR" dirty="0"/>
              <a:t>HLT → 76h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8C39A0-D91B-E17F-40F4-C20FEC0A07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Особенность</a:t>
            </a:r>
          </a:p>
          <a:p>
            <a:pPr lvl="1"/>
            <a:r>
              <a:rPr lang="ru-RU" dirty="0"/>
              <a:t>фиксированный </a:t>
            </a:r>
            <a:r>
              <a:rPr lang="ru-RU" dirty="0" err="1"/>
              <a:t>opcode</a:t>
            </a:r>
            <a:r>
              <a:rPr lang="ru-RU" dirty="0"/>
              <a:t> (1 байт)</a:t>
            </a:r>
            <a:endParaRPr lang="en-US" dirty="0"/>
          </a:p>
          <a:p>
            <a:pPr lvl="1"/>
            <a:r>
              <a:rPr lang="ru-RU" dirty="0"/>
              <a:t>нет кодирования регистров или аргументов</a:t>
            </a:r>
            <a:endParaRPr lang="en-US" dirty="0"/>
          </a:p>
          <a:p>
            <a:pPr lvl="1"/>
            <a:r>
              <a:rPr lang="ru-RU" dirty="0"/>
              <a:t>выполняют заранее определённое действие</a:t>
            </a:r>
            <a:endParaRPr lang="en-US" dirty="0"/>
          </a:p>
          <a:p>
            <a:r>
              <a:rPr lang="ru-RU" dirty="0"/>
              <a:t>Контраст с другими командами</a:t>
            </a:r>
            <a:endParaRPr lang="en-US" dirty="0"/>
          </a:p>
          <a:p>
            <a:pPr lvl="1"/>
            <a:r>
              <a:rPr lang="ru-RU" dirty="0"/>
              <a:t>нет структуры вида:</a:t>
            </a:r>
            <a:endParaRPr lang="en-US" dirty="0"/>
          </a:p>
          <a:p>
            <a:pPr lvl="1"/>
            <a:r>
              <a:rPr lang="ru-RU" dirty="0"/>
              <a:t>DDD / SSS / RP</a:t>
            </a:r>
            <a:endParaRPr lang="en-US" dirty="0"/>
          </a:p>
          <a:p>
            <a:pPr lvl="1"/>
            <a:r>
              <a:rPr lang="ru-RU" dirty="0"/>
              <a:t>просто “жёстко заданные” коды</a:t>
            </a:r>
          </a:p>
        </p:txBody>
      </p:sp>
    </p:spTree>
    <p:extLst>
      <p:ext uri="{BB962C8B-B14F-4D97-AF65-F5344CB8AC3E}">
        <p14:creationId xmlns:p14="http://schemas.microsoft.com/office/powerpoint/2010/main" val="51311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C1046-C929-8070-CBBC-E83CFF41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Карта инструкций процессора </a:t>
            </a:r>
            <a:r>
              <a:rPr lang="en-US" dirty="0"/>
              <a:t>Intel 8080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C9EE13-44DC-0883-A57A-EC257ACFF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32713" y="1617436"/>
            <a:ext cx="4799599" cy="487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90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B934B6-74E4-8620-D53C-74D96B0B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Машинный код программы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EAB6E-11BD-5737-302B-7B5E74158BD3}"/>
              </a:ext>
            </a:extLst>
          </p:cNvPr>
          <p:cNvSpPr txBox="1"/>
          <p:nvPr/>
        </p:nvSpPr>
        <p:spPr>
          <a:xfrm>
            <a:off x="838200" y="2071923"/>
            <a:ext cx="60988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0000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effectLst/>
                <a:latin typeface="Consolas" panose="020B0609020204030204" pitchFamily="49" charset="0"/>
              </a:rPr>
              <a:t>21 0C 00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LXI H,000Ch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0003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3E 2A      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MVI A,42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0005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dirty="0">
                <a:latin typeface="Consolas" panose="020B0609020204030204" pitchFamily="49" charset="0"/>
              </a:rPr>
              <a:t>77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MOV M,A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0006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dirty="0">
                <a:latin typeface="Consolas" panose="020B0609020204030204" pitchFamily="49" charset="0"/>
              </a:rPr>
              <a:t>76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HLT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121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5A5D1-9848-2A27-26F8-E37623C87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Эмулятор микропроцессора КР580ВМ80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75B32E4-A61D-5C8D-438C-4CAF3F868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2225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Эмулятор МП-системы (Intel 8080 / КР580ВМ80)</a:t>
            </a:r>
          </a:p>
          <a:p>
            <a:pPr lvl="1"/>
            <a:r>
              <a:rPr lang="ru-RU" dirty="0"/>
              <a:t>Учебная модель микропроцессорной системы</a:t>
            </a:r>
          </a:p>
          <a:p>
            <a:r>
              <a:rPr lang="ru-RU" dirty="0"/>
              <a:t>Возможности:</a:t>
            </a:r>
          </a:p>
          <a:p>
            <a:pPr lvl="1"/>
            <a:r>
              <a:rPr lang="ru-RU" dirty="0"/>
              <a:t>выполнение программ: пошагово (по тактам / командам), непрерывно </a:t>
            </a:r>
          </a:p>
          <a:p>
            <a:pPr lvl="1"/>
            <a:r>
              <a:rPr lang="ru-RU" dirty="0"/>
              <a:t>наблюдение за состоянием: регистры, память (ОЗУ) , флаги </a:t>
            </a:r>
          </a:p>
          <a:p>
            <a:pPr lvl="1"/>
            <a:r>
              <a:rPr lang="ru-RU" dirty="0"/>
              <a:t>ручной ввод: программ в память, значений регистров </a:t>
            </a:r>
          </a:p>
          <a:p>
            <a:r>
              <a:rPr lang="ru-RU" dirty="0"/>
              <a:t>Дополнительно:</a:t>
            </a:r>
          </a:p>
          <a:p>
            <a:pPr lvl="1"/>
            <a:r>
              <a:rPr lang="ru-RU" dirty="0"/>
              <a:t>работа с внешними устройствами</a:t>
            </a:r>
          </a:p>
          <a:p>
            <a:pPr lvl="1"/>
            <a:r>
              <a:rPr lang="ru-RU" dirty="0"/>
              <a:t>визуализация внутренней структуры процессора</a:t>
            </a:r>
          </a:p>
          <a:p>
            <a:pPr lvl="1"/>
            <a:r>
              <a:rPr lang="ru-RU" dirty="0"/>
              <a:t>отладка программ</a:t>
            </a:r>
          </a:p>
          <a:p>
            <a:r>
              <a:rPr lang="ru-RU" dirty="0"/>
              <a:t>Позволяет увидеть, как реально выполняется программа, проследить изменения памяти, регистров и флагов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564EF0-F366-0E9A-017C-7E9FBA8F1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425" y="1894054"/>
            <a:ext cx="4143375" cy="3158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9B58B2-C712-F721-3CD8-74EE5907CDDE}"/>
              </a:ext>
            </a:extLst>
          </p:cNvPr>
          <p:cNvSpPr txBox="1"/>
          <p:nvPr/>
        </p:nvSpPr>
        <p:spPr>
          <a:xfrm>
            <a:off x="7516317" y="5784811"/>
            <a:ext cx="6098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https://zic-homepage.narod.ru/Index.htm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40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49F25-EADE-C4C7-ED16-5BD927D8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RunCPM</a:t>
            </a:r>
            <a:r>
              <a:rPr lang="ru-RU" dirty="0"/>
              <a:t> — эмуляция системы CP/M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DAFB8-08A4-6917-10EE-20883731C8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/>
              <a:t>RunCPM</a:t>
            </a:r>
            <a:endParaRPr lang="ru-RU" dirty="0"/>
          </a:p>
          <a:p>
            <a:pPr lvl="1"/>
            <a:r>
              <a:rPr lang="ru-RU" dirty="0"/>
              <a:t>Эмулятор операционной системы CP/M</a:t>
            </a:r>
          </a:p>
          <a:p>
            <a:pPr lvl="1"/>
            <a:r>
              <a:rPr lang="ru-RU" dirty="0"/>
              <a:t>Работает с программами для Intel 8080 / Z80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https://github.com/MockbaTheBorg/RunCPM</a:t>
            </a:r>
            <a:endParaRPr lang="ru-RU" dirty="0"/>
          </a:p>
          <a:p>
            <a:r>
              <a:rPr lang="ru-RU" dirty="0"/>
              <a:t>Что это даёт</a:t>
            </a:r>
          </a:p>
          <a:p>
            <a:pPr lvl="1"/>
            <a:r>
              <a:rPr lang="ru-RU" dirty="0"/>
              <a:t>полноценная среда выполнения:</a:t>
            </a:r>
          </a:p>
          <a:p>
            <a:pPr lvl="1"/>
            <a:r>
              <a:rPr lang="ru-RU" dirty="0"/>
              <a:t>файловая система </a:t>
            </a:r>
          </a:p>
          <a:p>
            <a:pPr lvl="1"/>
            <a:r>
              <a:rPr lang="ru-RU" dirty="0"/>
              <a:t>загрузка программ (.COM) </a:t>
            </a:r>
          </a:p>
          <a:p>
            <a:pPr lvl="1"/>
            <a:r>
              <a:rPr lang="ru-RU" dirty="0"/>
              <a:t>консоль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2ADB2-C18E-A935-1069-498D71C48E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Возможности:</a:t>
            </a:r>
          </a:p>
          <a:p>
            <a:pPr lvl="1"/>
            <a:r>
              <a:rPr lang="ru-RU" dirty="0"/>
              <a:t>запуск программ:</a:t>
            </a:r>
          </a:p>
          <a:p>
            <a:pPr lvl="2"/>
            <a:r>
              <a:rPr lang="en-US" dirty="0"/>
              <a:t>A&gt;HELLO</a:t>
            </a:r>
          </a:p>
          <a:p>
            <a:pPr lvl="1"/>
            <a:r>
              <a:rPr lang="ru-RU" dirty="0"/>
              <a:t>работа с файлами:</a:t>
            </a:r>
          </a:p>
          <a:p>
            <a:pPr lvl="2"/>
            <a:r>
              <a:rPr lang="en-US" dirty="0"/>
              <a:t>DIR</a:t>
            </a:r>
            <a:br>
              <a:rPr lang="en-US" dirty="0"/>
            </a:br>
            <a:r>
              <a:rPr lang="en-US" dirty="0"/>
              <a:t>TYPE FILE.TXT</a:t>
            </a:r>
          </a:p>
          <a:p>
            <a:pPr lvl="1"/>
            <a:r>
              <a:rPr lang="ru-RU" dirty="0"/>
              <a:t>системные вызовы (</a:t>
            </a:r>
            <a:r>
              <a:rPr lang="en-US" dirty="0"/>
              <a:t>BDOS)</a:t>
            </a:r>
          </a:p>
          <a:p>
            <a:r>
              <a:rPr lang="ru-RU" dirty="0"/>
              <a:t>Зачем он нужен</a:t>
            </a:r>
          </a:p>
          <a:p>
            <a:pPr lvl="1"/>
            <a:r>
              <a:rPr lang="ru-RU" dirty="0"/>
              <a:t>понять, как программы работают в операционной системе</a:t>
            </a:r>
          </a:p>
          <a:p>
            <a:pPr lvl="1"/>
            <a:r>
              <a:rPr lang="ru-RU" dirty="0"/>
              <a:t>увидеть: загрузку программы, выполнение, взаимодействие с ОС</a:t>
            </a:r>
          </a:p>
        </p:txBody>
      </p:sp>
    </p:spTree>
    <p:extLst>
      <p:ext uri="{BB962C8B-B14F-4D97-AF65-F5344CB8AC3E}">
        <p14:creationId xmlns:p14="http://schemas.microsoft.com/office/powerpoint/2010/main" val="279147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F01944-CEED-01C7-7B01-B02FC809D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Программа </a:t>
            </a:r>
            <a:r>
              <a:rPr lang="en-US" dirty="0"/>
              <a:t>Hello World</a:t>
            </a:r>
            <a:r>
              <a:rPr lang="ru-RU" dirty="0"/>
              <a:t> для </a:t>
            </a:r>
            <a:r>
              <a:rPr lang="en-US" dirty="0"/>
              <a:t>CP/M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6A1420-B94A-BACD-F115-C24E4FF4AD94}"/>
              </a:ext>
            </a:extLst>
          </p:cNvPr>
          <p:cNvSpPr txBox="1"/>
          <p:nvPr/>
        </p:nvSpPr>
        <p:spPr>
          <a:xfrm>
            <a:off x="1011382" y="1690688"/>
            <a:ext cx="512113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Hello.asm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ORG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100H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BDOS	equ	0005h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MVI C,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C –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номер функции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print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LXI D, MSG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DE –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адрес строки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CALL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BDOS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RET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MSG: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'HELLO, WORLD!$'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86F45-007B-8BB3-9234-B8BF879C0085}"/>
              </a:ext>
            </a:extLst>
          </p:cNvPr>
          <p:cNvSpPr txBox="1"/>
          <p:nvPr/>
        </p:nvSpPr>
        <p:spPr>
          <a:xfrm>
            <a:off x="6305696" y="1690688"/>
            <a:ext cx="5583382" cy="443198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A0&gt;ASM HELLO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CP/M ASSEMBLER - VER 2.0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0117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000H USE FACTOR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END OF ASSEMBLY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RunCPM</a:t>
            </a:r>
            <a:r>
              <a:rPr lang="en-US" sz="1600" dirty="0">
                <a:latin typeface="Consolas" panose="020B0609020204030204" pitchFamily="49" charset="0"/>
              </a:rPr>
              <a:t> Version 6.9 (CCP-INTERNAL v3.3) - DEBUG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A0&gt;LOAD HELLO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FIRST ADDRESS 0100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LAST  ADDRESS 0116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BYTES READ    0017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RECORDS WRITTEN 01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A0&gt;HELLO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09365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28DC9-9C3C-A2CC-2D1B-C6A5E949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7AE58-4C23-89C1-89FA-C0D163090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Программа – последовательность машинных кодов в памяти, которые процессор выполняет шаг за шагом</a:t>
            </a:r>
          </a:p>
          <a:p>
            <a:r>
              <a:rPr lang="en-US" dirty="0"/>
              <a:t>ISA</a:t>
            </a:r>
            <a:r>
              <a:rPr lang="ru-RU" dirty="0"/>
              <a:t> описывает архитектуру процессора</a:t>
            </a:r>
          </a:p>
          <a:p>
            <a:pPr lvl="1"/>
            <a:r>
              <a:rPr lang="ru-RU" dirty="0"/>
              <a:t>Инструкции, регистры, работа с памятью</a:t>
            </a:r>
          </a:p>
          <a:p>
            <a:r>
              <a:rPr lang="ru-RU" dirty="0"/>
              <a:t>На базе архитектуры </a:t>
            </a:r>
            <a:r>
              <a:rPr lang="en-US" dirty="0"/>
              <a:t>Intel 8080</a:t>
            </a:r>
            <a:r>
              <a:rPr lang="ru-RU" dirty="0"/>
              <a:t> пощупали работу процессора</a:t>
            </a:r>
            <a:endParaRPr lang="en-US" dirty="0"/>
          </a:p>
          <a:p>
            <a:pPr lvl="1"/>
            <a:r>
              <a:rPr lang="ru-RU" dirty="0"/>
              <a:t>Кодирование инструкций</a:t>
            </a:r>
          </a:p>
          <a:p>
            <a:pPr lvl="1"/>
            <a:r>
              <a:rPr lang="ru-RU" dirty="0"/>
              <a:t>Выполнение команд</a:t>
            </a:r>
          </a:p>
          <a:p>
            <a:r>
              <a:rPr lang="ru-RU" dirty="0"/>
              <a:t>Теперь можно переходить к ассемблеру для «взрослых» процессоров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7654</Words>
  <Application>Microsoft Office PowerPoint</Application>
  <PresentationFormat>Widescreen</PresentationFormat>
  <Paragraphs>960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Consolas</vt:lpstr>
      <vt:lpstr>Office Theme</vt:lpstr>
      <vt:lpstr>Программирование на ассемблере intel 8080</vt:lpstr>
      <vt:lpstr>От C к машинному коду</vt:lpstr>
      <vt:lpstr>Что будем изучать</vt:lpstr>
      <vt:lpstr>Историческая справка</vt:lpstr>
      <vt:lpstr>Intel 8080 в СССР</vt:lpstr>
      <vt:lpstr>Архитектура процессора Intel 8080</vt:lpstr>
      <vt:lpstr>ISA — Instruction Set Architecture</vt:lpstr>
      <vt:lpstr>Общая архитектура процессора</vt:lpstr>
      <vt:lpstr>Регистры процессора</vt:lpstr>
      <vt:lpstr>Как Intel 8080 взаимодействует с памятью</vt:lpstr>
      <vt:lpstr>Структурная схема процессора Intel 8080</vt:lpstr>
      <vt:lpstr>Инструкции перемещения данных</vt:lpstr>
      <vt:lpstr>Пересылка данных на C и 8080</vt:lpstr>
      <vt:lpstr>Арифметика и изменение данных</vt:lpstr>
      <vt:lpstr>Арифметика (C vs Intel 8080)</vt:lpstr>
      <vt:lpstr>Управление выполнением программы</vt:lpstr>
      <vt:lpstr>MemCopy на Intel8080</vt:lpstr>
      <vt:lpstr>Кодирование машинных инструкций</vt:lpstr>
      <vt:lpstr>Как представить инструкции в виде чисел</vt:lpstr>
      <vt:lpstr>Кодирование на примере MOV</vt:lpstr>
      <vt:lpstr>Кодирование MVI и LXI</vt:lpstr>
      <vt:lpstr>Простые команды</vt:lpstr>
      <vt:lpstr>Карта инструкций процессора Intel 8080</vt:lpstr>
      <vt:lpstr>Машинный код программы</vt:lpstr>
      <vt:lpstr>Эмулятор микропроцессора КР580ВМ80</vt:lpstr>
      <vt:lpstr>RunCPM — эмуляция системы CP/M</vt:lpstr>
      <vt:lpstr>Программа Hello World для CP/M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157</cp:revision>
  <dcterms:created xsi:type="dcterms:W3CDTF">2026-04-17T21:22:02Z</dcterms:created>
  <dcterms:modified xsi:type="dcterms:W3CDTF">2026-04-18T10:44:52Z</dcterms:modified>
</cp:coreProperties>
</file>