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6" r:id="rId2"/>
    <p:sldId id="264" r:id="rId3"/>
    <p:sldId id="257" r:id="rId4"/>
    <p:sldId id="258" r:id="rId5"/>
    <p:sldId id="259" r:id="rId6"/>
    <p:sldId id="260" r:id="rId7"/>
    <p:sldId id="261" r:id="rId8"/>
    <p:sldId id="262" r:id="rId9"/>
    <p:sldId id="287" r:id="rId10"/>
    <p:sldId id="263" r:id="rId11"/>
    <p:sldId id="265" r:id="rId12"/>
    <p:sldId id="266" r:id="rId13"/>
    <p:sldId id="267" r:id="rId14"/>
    <p:sldId id="268" r:id="rId15"/>
    <p:sldId id="269" r:id="rId16"/>
    <p:sldId id="270" r:id="rId17"/>
    <p:sldId id="271" r:id="rId18"/>
    <p:sldId id="272" r:id="rId19"/>
    <p:sldId id="288" r:id="rId20"/>
    <p:sldId id="273" r:id="rId21"/>
    <p:sldId id="274" r:id="rId22"/>
    <p:sldId id="275" r:id="rId23"/>
    <p:sldId id="286" r:id="rId24"/>
    <p:sldId id="276" r:id="rId25"/>
    <p:sldId id="282" r:id="rId26"/>
    <p:sldId id="277" r:id="rId27"/>
    <p:sldId id="278" r:id="rId28"/>
    <p:sldId id="279" r:id="rId29"/>
    <p:sldId id="280" r:id="rId30"/>
    <p:sldId id="289" r:id="rId31"/>
    <p:sldId id="281" r:id="rId32"/>
    <p:sldId id="283" r:id="rId33"/>
    <p:sldId id="284" r:id="rId34"/>
    <p:sldId id="295" r:id="rId35"/>
    <p:sldId id="285" r:id="rId36"/>
    <p:sldId id="290" r:id="rId37"/>
    <p:sldId id="291" r:id="rId38"/>
    <p:sldId id="292" r:id="rId39"/>
    <p:sldId id="293" r:id="rId40"/>
    <p:sldId id="294" r:id="rId41"/>
    <p:sldId id="296" r:id="rId42"/>
    <p:sldId id="297" r:id="rId43"/>
    <p:sldId id="298" r:id="rId44"/>
    <p:sldId id="299" r:id="rId45"/>
    <p:sldId id="300" r:id="rId46"/>
    <p:sldId id="301" r:id="rId47"/>
    <p:sldId id="303" r:id="rId48"/>
    <p:sldId id="302" r:id="rId49"/>
    <p:sldId id="304" r:id="rId50"/>
    <p:sldId id="305" r:id="rId51"/>
    <p:sldId id="306"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6271" autoAdjust="0"/>
  </p:normalViewPr>
  <p:slideViewPr>
    <p:cSldViewPr snapToGrid="0" showGuides="1">
      <p:cViewPr varScale="1">
        <p:scale>
          <a:sx n="72" d="100"/>
          <a:sy n="72" d="100"/>
        </p:scale>
        <p:origin x="1992" y="294"/>
      </p:cViewPr>
      <p:guideLst>
        <p:guide orient="horz" pos="2160"/>
        <p:guide pos="3840"/>
      </p:guideLst>
    </p:cSldViewPr>
  </p:slideViewPr>
  <p:notesTextViewPr>
    <p:cViewPr>
      <p:scale>
        <a:sx n="3" d="2"/>
        <a:sy n="3" d="2"/>
      </p:scale>
      <p:origin x="-6" y="-18"/>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DDDD3E-D2EC-48CC-AD37-0F76DAE963B3}" type="datetimeFigureOut">
              <a:rPr lang="en-US" smtClean="0"/>
              <a:t>2/14/2026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945CA0-E94A-4FB7-A4CA-C1968BB52B92}" type="slidenum">
              <a:rPr lang="en-US" smtClean="0"/>
              <a:t>‹#›</a:t>
            </a:fld>
            <a:endParaRPr lang="en-US"/>
          </a:p>
        </p:txBody>
      </p:sp>
    </p:spTree>
    <p:extLst>
      <p:ext uri="{BB962C8B-B14F-4D97-AF65-F5344CB8AC3E}">
        <p14:creationId xmlns:p14="http://schemas.microsoft.com/office/powerpoint/2010/main" val="1642343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B945CA0-E94A-4FB7-A4CA-C1968BB52B92}" type="slidenum">
              <a:rPr lang="en-US" smtClean="0"/>
              <a:t>1</a:t>
            </a:fld>
            <a:endParaRPr lang="en-US"/>
          </a:p>
        </p:txBody>
      </p:sp>
    </p:spTree>
    <p:extLst>
      <p:ext uri="{BB962C8B-B14F-4D97-AF65-F5344CB8AC3E}">
        <p14:creationId xmlns:p14="http://schemas.microsoft.com/office/powerpoint/2010/main" val="3604258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B945CA0-E94A-4FB7-A4CA-C1968BB52B92}" type="slidenum">
              <a:rPr lang="en-US" smtClean="0"/>
              <a:t>2</a:t>
            </a:fld>
            <a:endParaRPr lang="en-US"/>
          </a:p>
        </p:txBody>
      </p:sp>
    </p:spTree>
    <p:extLst>
      <p:ext uri="{BB962C8B-B14F-4D97-AF65-F5344CB8AC3E}">
        <p14:creationId xmlns:p14="http://schemas.microsoft.com/office/powerpoint/2010/main" val="794997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Иногда программе нужно принимать решение.</a:t>
            </a:r>
            <a:r>
              <a:rPr lang="en-US" dirty="0"/>
              <a:t> </a:t>
            </a:r>
            <a:r>
              <a:rPr lang="ru-RU" dirty="0"/>
              <a:t>Не весь код должен выполняться всегда.</a:t>
            </a:r>
          </a:p>
          <a:p>
            <a:r>
              <a:rPr lang="ru-RU" dirty="0"/>
              <a:t>Например, если число положительное — делаем одно, если нет — ничего не делаем.</a:t>
            </a:r>
          </a:p>
          <a:p>
            <a:r>
              <a:rPr lang="ru-RU" dirty="0"/>
              <a:t>Для этого используется оператор </a:t>
            </a:r>
            <a:r>
              <a:rPr lang="ru-RU" sz="1200" kern="1200" dirty="0" err="1">
                <a:solidFill>
                  <a:schemeClr val="tx1"/>
                </a:solidFill>
                <a:latin typeface="+mn-lt"/>
                <a:ea typeface="+mn-ea"/>
                <a:cs typeface="+mn-cs"/>
              </a:rPr>
              <a:t>if</a:t>
            </a:r>
            <a:r>
              <a:rPr lang="ru-RU" dirty="0"/>
              <a:t>.</a:t>
            </a:r>
          </a:p>
          <a:p>
            <a:r>
              <a:rPr lang="ru-RU" dirty="0"/>
              <a:t>Общая форма очень простая:</a:t>
            </a:r>
            <a:r>
              <a:rPr lang="en-US" dirty="0"/>
              <a:t> </a:t>
            </a:r>
            <a:r>
              <a:rPr lang="ru-RU" dirty="0"/>
              <a:t>мы пишем условие в круглых скобках, а затем блок кода в фигурных.</a:t>
            </a:r>
          </a:p>
          <a:p>
            <a:r>
              <a:rPr lang="ru-RU" dirty="0"/>
              <a:t>Если условие истинно — блок выполняется.</a:t>
            </a:r>
            <a:br>
              <a:rPr lang="ru-RU" dirty="0"/>
            </a:br>
            <a:r>
              <a:rPr lang="ru-RU" dirty="0"/>
              <a:t>Если условие ложно — блок просто пропускается.</a:t>
            </a:r>
          </a:p>
          <a:p>
            <a:r>
              <a:rPr lang="ru-RU" dirty="0"/>
              <a:t>Обратите внимание: </a:t>
            </a:r>
            <a:r>
              <a:rPr lang="ru-RU" sz="1200" kern="1200" dirty="0" err="1">
                <a:solidFill>
                  <a:schemeClr val="tx1"/>
                </a:solidFill>
                <a:latin typeface="+mn-lt"/>
                <a:ea typeface="+mn-ea"/>
                <a:cs typeface="+mn-cs"/>
              </a:rPr>
              <a:t>if</a:t>
            </a:r>
            <a:r>
              <a:rPr lang="ru-RU" dirty="0"/>
              <a:t> сам по себе ничего не «повторяет», он просто выбирает — выполнять код или нет.</a:t>
            </a:r>
          </a:p>
          <a:p>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3</a:t>
            </a:fld>
            <a:endParaRPr lang="en-US"/>
          </a:p>
        </p:txBody>
      </p:sp>
    </p:spTree>
    <p:extLst>
      <p:ext uri="{BB962C8B-B14F-4D97-AF65-F5344CB8AC3E}">
        <p14:creationId xmlns:p14="http://schemas.microsoft.com/office/powerpoint/2010/main" val="359823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Теперь важный вопрос: что такое условие?</a:t>
            </a:r>
          </a:p>
          <a:p>
            <a:r>
              <a:rPr lang="ru-RU" dirty="0"/>
              <a:t>В C условие — это </a:t>
            </a:r>
            <a:r>
              <a:rPr lang="ru-RU" b="1" dirty="0"/>
              <a:t>выражение</a:t>
            </a:r>
            <a:r>
              <a:rPr lang="ru-RU" dirty="0"/>
              <a:t>.</a:t>
            </a:r>
            <a:br>
              <a:rPr lang="ru-RU" dirty="0"/>
            </a:br>
            <a:r>
              <a:rPr lang="ru-RU" dirty="0"/>
              <a:t>И это принципиально.</a:t>
            </a:r>
          </a:p>
          <a:p>
            <a:r>
              <a:rPr lang="ru-RU" dirty="0"/>
              <a:t>В C нет отдельного «логического типа условия», как в некоторых языках.</a:t>
            </a:r>
            <a:br>
              <a:rPr lang="ru-RU" dirty="0"/>
            </a:br>
            <a:r>
              <a:rPr lang="ru-RU" dirty="0"/>
              <a:t>Любое выражение можно использовать как условие.</a:t>
            </a:r>
          </a:p>
          <a:p>
            <a:r>
              <a:rPr lang="ru-RU" dirty="0"/>
              <a:t>Правило простое:</a:t>
            </a:r>
          </a:p>
          <a:p>
            <a:pPr marL="171450" indent="-171450">
              <a:buFont typeface="Arial" panose="020B0604020202020204" pitchFamily="34" charset="0"/>
              <a:buChar char="•"/>
            </a:pPr>
            <a:r>
              <a:rPr lang="ru-RU" dirty="0"/>
              <a:t>0 — это ложь</a:t>
            </a:r>
          </a:p>
          <a:p>
            <a:pPr marL="171450" indent="-171450">
              <a:buFont typeface="Arial" panose="020B0604020202020204" pitchFamily="34" charset="0"/>
              <a:buChar char="•"/>
            </a:pPr>
            <a:r>
              <a:rPr lang="ru-RU" dirty="0"/>
              <a:t>любое ненулевое значение — это истина</a:t>
            </a:r>
          </a:p>
          <a:p>
            <a:r>
              <a:rPr lang="ru-RU" dirty="0"/>
              <a:t>Посмотрите на пример.</a:t>
            </a:r>
          </a:p>
          <a:p>
            <a:r>
              <a:rPr lang="ru-RU" dirty="0"/>
              <a:t>Переменная </a:t>
            </a:r>
            <a:r>
              <a:rPr lang="ru-RU" sz="1200" kern="1200" dirty="0">
                <a:solidFill>
                  <a:schemeClr val="tx1"/>
                </a:solidFill>
                <a:latin typeface="+mn-lt"/>
                <a:ea typeface="+mn-ea"/>
                <a:cs typeface="+mn-cs"/>
              </a:rPr>
              <a:t>x</a:t>
            </a:r>
            <a:r>
              <a:rPr lang="ru-RU" dirty="0"/>
              <a:t> равна 5.</a:t>
            </a:r>
            <a:r>
              <a:rPr lang="en-US" dirty="0"/>
              <a:t> </a:t>
            </a:r>
            <a:r>
              <a:rPr lang="ru-RU" dirty="0"/>
              <a:t>В условии мы просто пишем </a:t>
            </a:r>
            <a:r>
              <a:rPr lang="ru-RU" sz="1200" kern="1200" dirty="0" err="1">
                <a:solidFill>
                  <a:schemeClr val="tx1"/>
                </a:solidFill>
                <a:latin typeface="+mn-lt"/>
                <a:ea typeface="+mn-ea"/>
                <a:cs typeface="+mn-cs"/>
              </a:rPr>
              <a:t>if</a:t>
            </a:r>
            <a:r>
              <a:rPr lang="ru-RU" sz="1200" kern="1200" dirty="0">
                <a:solidFill>
                  <a:schemeClr val="tx1"/>
                </a:solidFill>
                <a:latin typeface="+mn-lt"/>
                <a:ea typeface="+mn-ea"/>
                <a:cs typeface="+mn-cs"/>
              </a:rPr>
              <a:t> (x)</a:t>
            </a:r>
            <a:r>
              <a:rPr lang="ru-RU" dirty="0"/>
              <a:t>.</a:t>
            </a:r>
          </a:p>
          <a:p>
            <a:r>
              <a:rPr lang="ru-RU" dirty="0"/>
              <a:t>Так как 5 — это ненулевое значение, условие считается истинным, и блок выполнится.</a:t>
            </a:r>
          </a:p>
          <a:p>
            <a:r>
              <a:rPr lang="ru-RU" dirty="0"/>
              <a:t>Это важная особенность C.</a:t>
            </a:r>
            <a:br>
              <a:rPr lang="ru-RU" dirty="0"/>
            </a:br>
            <a:r>
              <a:rPr lang="ru-RU" dirty="0"/>
              <a:t>Иногда она удобна, иногда может приводить к ошибкам — об этом поговорим позже.</a:t>
            </a:r>
          </a:p>
          <a:p>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4</a:t>
            </a:fld>
            <a:endParaRPr lang="en-US"/>
          </a:p>
        </p:txBody>
      </p:sp>
    </p:spTree>
    <p:extLst>
      <p:ext uri="{BB962C8B-B14F-4D97-AF65-F5344CB8AC3E}">
        <p14:creationId xmlns:p14="http://schemas.microsoft.com/office/powerpoint/2010/main" val="33067341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Иногда нам нужно выполнить альтернативное действие, если условие ложно.</a:t>
            </a:r>
          </a:p>
          <a:p>
            <a:r>
              <a:rPr lang="ru-RU" dirty="0"/>
              <a:t>Для этого используется конструкция </a:t>
            </a:r>
            <a:r>
              <a:rPr lang="ru-RU" sz="1200" kern="1200" dirty="0" err="1">
                <a:solidFill>
                  <a:schemeClr val="tx1"/>
                </a:solidFill>
                <a:latin typeface="+mn-lt"/>
                <a:ea typeface="+mn-ea"/>
                <a:cs typeface="+mn-cs"/>
              </a:rPr>
              <a:t>if</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else</a:t>
            </a:r>
            <a:r>
              <a:rPr lang="ru-RU" dirty="0"/>
              <a:t>.</a:t>
            </a:r>
          </a:p>
          <a:p>
            <a:r>
              <a:rPr lang="ru-RU" dirty="0"/>
              <a:t>Если условие истинно — выполняется первый блок.</a:t>
            </a:r>
            <a:br>
              <a:rPr lang="ru-RU" dirty="0"/>
            </a:br>
            <a:r>
              <a:rPr lang="ru-RU" dirty="0"/>
              <a:t>Если ложно — выполняется второй.</a:t>
            </a:r>
          </a:p>
          <a:p>
            <a:r>
              <a:rPr lang="ru-RU" dirty="0"/>
              <a:t>В примере мы проверяем остаток от деления на 2.</a:t>
            </a:r>
          </a:p>
          <a:p>
            <a:r>
              <a:rPr lang="ru-RU" dirty="0"/>
              <a:t>Если остаток равен 0 — число чётное.</a:t>
            </a:r>
            <a:br>
              <a:rPr lang="ru-RU" dirty="0"/>
            </a:br>
            <a:r>
              <a:rPr lang="ru-RU" dirty="0"/>
              <a:t>Во всех остальных случаях — нечётное.</a:t>
            </a:r>
          </a:p>
          <a:p>
            <a:r>
              <a:rPr lang="ru-RU" dirty="0"/>
              <a:t>Обратите внимание: выполняется ровно один из блоков.</a:t>
            </a:r>
          </a:p>
          <a:p>
            <a:r>
              <a:rPr lang="ru-RU" sz="1200" kern="1200" dirty="0" err="1">
                <a:solidFill>
                  <a:schemeClr val="tx1"/>
                </a:solidFill>
                <a:latin typeface="+mn-lt"/>
                <a:ea typeface="+mn-ea"/>
                <a:cs typeface="+mn-cs"/>
              </a:rPr>
              <a:t>else</a:t>
            </a:r>
            <a:r>
              <a:rPr lang="ru-RU" dirty="0"/>
              <a:t> — это именно «иначе».</a:t>
            </a:r>
          </a:p>
          <a:p>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5</a:t>
            </a:fld>
            <a:endParaRPr lang="en-US"/>
          </a:p>
        </p:txBody>
      </p:sp>
    </p:spTree>
    <p:extLst>
      <p:ext uri="{BB962C8B-B14F-4D97-AF65-F5344CB8AC3E}">
        <p14:creationId xmlns:p14="http://schemas.microsoft.com/office/powerpoint/2010/main" val="24774565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Часто бывает больше двух вариантов.</a:t>
            </a:r>
          </a:p>
          <a:p>
            <a:r>
              <a:rPr lang="ru-RU" dirty="0"/>
              <a:t>Например: число может быть положительным, отрицательным или нулём.</a:t>
            </a:r>
          </a:p>
          <a:p>
            <a:r>
              <a:rPr lang="ru-RU" dirty="0"/>
              <a:t>Для этого используется конструкция </a:t>
            </a:r>
            <a:r>
              <a:rPr lang="ru-RU" sz="1200" kern="1200" dirty="0" err="1">
                <a:solidFill>
                  <a:schemeClr val="tx1"/>
                </a:solidFill>
                <a:latin typeface="+mn-lt"/>
                <a:ea typeface="+mn-ea"/>
                <a:cs typeface="+mn-cs"/>
              </a:rPr>
              <a:t>else</a:t>
            </a:r>
            <a:r>
              <a:rPr lang="ru-RU" sz="1200" kern="1200" dirty="0">
                <a:solidFill>
                  <a:schemeClr val="tx1"/>
                </a:solidFill>
                <a:latin typeface="+mn-lt"/>
                <a:ea typeface="+mn-ea"/>
                <a:cs typeface="+mn-cs"/>
              </a:rPr>
              <a:t> </a:t>
            </a:r>
            <a:r>
              <a:rPr lang="ru-RU" sz="1200" kern="1200" dirty="0" err="1">
                <a:solidFill>
                  <a:schemeClr val="tx1"/>
                </a:solidFill>
                <a:latin typeface="+mn-lt"/>
                <a:ea typeface="+mn-ea"/>
                <a:cs typeface="+mn-cs"/>
              </a:rPr>
              <a:t>if</a:t>
            </a:r>
            <a:r>
              <a:rPr lang="ru-RU" dirty="0"/>
              <a:t>.</a:t>
            </a:r>
          </a:p>
          <a:p>
            <a:r>
              <a:rPr lang="ru-RU" dirty="0"/>
              <a:t>Проверки идут сверху вниз.</a:t>
            </a:r>
            <a:br>
              <a:rPr lang="ru-RU" dirty="0"/>
            </a:br>
            <a:r>
              <a:rPr lang="ru-RU" dirty="0"/>
              <a:t>Как только одно условие оказалось истинным — остальные уже не проверяются.</a:t>
            </a:r>
          </a:p>
          <a:p>
            <a:r>
              <a:rPr lang="ru-RU" dirty="0"/>
              <a:t>Это важно:</a:t>
            </a:r>
            <a:r>
              <a:rPr lang="en-US" dirty="0"/>
              <a:t> </a:t>
            </a:r>
            <a:r>
              <a:rPr lang="ru-RU" dirty="0"/>
              <a:t>выполняется </a:t>
            </a:r>
            <a:r>
              <a:rPr lang="ru-RU" b="1" dirty="0"/>
              <a:t>только одна ветка</a:t>
            </a:r>
            <a:r>
              <a:rPr lang="ru-RU" dirty="0"/>
              <a:t> всей цепочки.</a:t>
            </a:r>
          </a:p>
          <a:p>
            <a:r>
              <a:rPr lang="ru-RU" dirty="0"/>
              <a:t>Поэтому порядок условий имеет значение.</a:t>
            </a:r>
          </a:p>
          <a:p>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6</a:t>
            </a:fld>
            <a:endParaRPr lang="en-US"/>
          </a:p>
        </p:txBody>
      </p:sp>
    </p:spTree>
    <p:extLst>
      <p:ext uri="{BB962C8B-B14F-4D97-AF65-F5344CB8AC3E}">
        <p14:creationId xmlns:p14="http://schemas.microsoft.com/office/powerpoint/2010/main" val="10976426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kern="1200" dirty="0" err="1">
                <a:solidFill>
                  <a:schemeClr val="tx1"/>
                </a:solidFill>
                <a:latin typeface="+mn-lt"/>
                <a:ea typeface="+mn-ea"/>
                <a:cs typeface="+mn-cs"/>
              </a:rPr>
              <a:t>if</a:t>
            </a:r>
            <a:r>
              <a:rPr lang="ru-RU" dirty="0"/>
              <a:t> можно вкладывать друг в друга.</a:t>
            </a:r>
          </a:p>
          <a:p>
            <a:r>
              <a:rPr lang="ru-RU" dirty="0"/>
              <a:t>Сначала проверяем, что число положительное.</a:t>
            </a:r>
            <a:r>
              <a:rPr lang="en-US" dirty="0"/>
              <a:t> </a:t>
            </a:r>
            <a:r>
              <a:rPr lang="ru-RU" dirty="0"/>
              <a:t>Затем внутри этого блока проверяем, чётное ли оно.</a:t>
            </a:r>
          </a:p>
          <a:p>
            <a:r>
              <a:rPr lang="ru-RU" dirty="0"/>
              <a:t>То есть второе условие проверяется только если первое истинно.</a:t>
            </a:r>
            <a:r>
              <a:rPr lang="en-US" dirty="0"/>
              <a:t> </a:t>
            </a:r>
            <a:r>
              <a:rPr lang="ru-RU" dirty="0"/>
              <a:t>Это позволяет строить более сложную логику.</a:t>
            </a:r>
          </a:p>
          <a:p>
            <a:r>
              <a:rPr lang="ru-RU" dirty="0"/>
              <a:t>Очень важно использовать фигурные скобки.</a:t>
            </a:r>
            <a:r>
              <a:rPr lang="en-US" dirty="0"/>
              <a:t> </a:t>
            </a:r>
            <a:r>
              <a:rPr lang="ru-RU" dirty="0"/>
              <a:t>Даже если в блоке одна инструкция — лучше писать скобки всегда.</a:t>
            </a:r>
            <a:br>
              <a:rPr lang="ru-RU" dirty="0"/>
            </a:br>
            <a:r>
              <a:rPr lang="ru-RU" dirty="0"/>
              <a:t>Это снижает количество ошибок.</a:t>
            </a:r>
          </a:p>
          <a:p>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7</a:t>
            </a:fld>
            <a:endParaRPr lang="en-US"/>
          </a:p>
        </p:txBody>
      </p:sp>
    </p:spTree>
    <p:extLst>
      <p:ext uri="{BB962C8B-B14F-4D97-AF65-F5344CB8AC3E}">
        <p14:creationId xmlns:p14="http://schemas.microsoft.com/office/powerpoint/2010/main" val="33315517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Первая распространённая ошибка — пропущенные скобки. В этом примере кажется, что оба </a:t>
            </a:r>
            <a:r>
              <a:rPr lang="ru-RU" sz="1200" kern="1200" dirty="0" err="1">
                <a:solidFill>
                  <a:schemeClr val="tx1"/>
                </a:solidFill>
                <a:latin typeface="+mn-lt"/>
                <a:ea typeface="+mn-ea"/>
                <a:cs typeface="+mn-cs"/>
              </a:rPr>
              <a:t>printf</a:t>
            </a:r>
            <a:r>
              <a:rPr lang="ru-RU" dirty="0"/>
              <a:t> относятся к </a:t>
            </a:r>
            <a:r>
              <a:rPr lang="ru-RU" sz="1200" kern="1200" dirty="0" err="1">
                <a:solidFill>
                  <a:schemeClr val="tx1"/>
                </a:solidFill>
                <a:latin typeface="+mn-lt"/>
                <a:ea typeface="+mn-ea"/>
                <a:cs typeface="+mn-cs"/>
              </a:rPr>
              <a:t>if</a:t>
            </a:r>
            <a:r>
              <a:rPr lang="ru-RU" dirty="0"/>
              <a:t>.</a:t>
            </a:r>
            <a:br>
              <a:rPr lang="ru-RU" dirty="0"/>
            </a:br>
            <a:r>
              <a:rPr lang="ru-RU" dirty="0"/>
              <a:t>Но на самом деле — только первая строка. Вторая выполняется всегда. Компилятор здесь не ошибается — это корректный синтаксис. Но логика программы становится неправильной.</a:t>
            </a:r>
          </a:p>
          <a:p>
            <a:endParaRPr lang="ru-RU" dirty="0"/>
          </a:p>
          <a:p>
            <a:r>
              <a:rPr lang="ru-RU" dirty="0"/>
              <a:t>Вторая ошибка — путаница между </a:t>
            </a:r>
            <a:r>
              <a:rPr lang="ru-RU" sz="1200" kern="1200" dirty="0">
                <a:solidFill>
                  <a:schemeClr val="tx1"/>
                </a:solidFill>
                <a:latin typeface="+mn-lt"/>
                <a:ea typeface="+mn-ea"/>
                <a:cs typeface="+mn-cs"/>
              </a:rPr>
              <a:t>=</a:t>
            </a:r>
            <a:r>
              <a:rPr lang="ru-RU" dirty="0"/>
              <a:t> и </a:t>
            </a:r>
            <a:r>
              <a:rPr lang="ru-RU" sz="1200" kern="1200" dirty="0">
                <a:solidFill>
                  <a:schemeClr val="tx1"/>
                </a:solidFill>
                <a:latin typeface="+mn-lt"/>
                <a:ea typeface="+mn-ea"/>
                <a:cs typeface="+mn-cs"/>
              </a:rPr>
              <a:t>==</a:t>
            </a:r>
            <a:r>
              <a:rPr lang="ru-RU" dirty="0"/>
              <a:t>.</a:t>
            </a:r>
          </a:p>
          <a:p>
            <a:r>
              <a:rPr lang="ru-RU" sz="1200" kern="1200" dirty="0">
                <a:solidFill>
                  <a:schemeClr val="tx1"/>
                </a:solidFill>
                <a:latin typeface="+mn-lt"/>
                <a:ea typeface="+mn-ea"/>
                <a:cs typeface="+mn-cs"/>
              </a:rPr>
              <a:t>=</a:t>
            </a:r>
            <a:r>
              <a:rPr lang="ru-RU" dirty="0"/>
              <a:t> — это присваивание.</a:t>
            </a:r>
            <a:br>
              <a:rPr lang="ru-RU" dirty="0"/>
            </a:br>
            <a:r>
              <a:rPr lang="ru-RU" sz="1200" kern="1200" dirty="0">
                <a:solidFill>
                  <a:schemeClr val="tx1"/>
                </a:solidFill>
                <a:latin typeface="+mn-lt"/>
                <a:ea typeface="+mn-ea"/>
                <a:cs typeface="+mn-cs"/>
              </a:rPr>
              <a:t>==</a:t>
            </a:r>
            <a:r>
              <a:rPr lang="ru-RU" dirty="0"/>
              <a:t> — это сравнение.</a:t>
            </a:r>
          </a:p>
          <a:p>
            <a:r>
              <a:rPr lang="ru-RU" dirty="0"/>
              <a:t>Если написать </a:t>
            </a:r>
            <a:r>
              <a:rPr lang="ru-RU" sz="1200" kern="1200" dirty="0" err="1">
                <a:solidFill>
                  <a:schemeClr val="tx1"/>
                </a:solidFill>
                <a:latin typeface="+mn-lt"/>
                <a:ea typeface="+mn-ea"/>
                <a:cs typeface="+mn-cs"/>
              </a:rPr>
              <a:t>if</a:t>
            </a:r>
            <a:r>
              <a:rPr lang="ru-RU" sz="1200" kern="1200" dirty="0">
                <a:solidFill>
                  <a:schemeClr val="tx1"/>
                </a:solidFill>
                <a:latin typeface="+mn-lt"/>
                <a:ea typeface="+mn-ea"/>
                <a:cs typeface="+mn-cs"/>
              </a:rPr>
              <a:t> (x = 5)</a:t>
            </a:r>
            <a:r>
              <a:rPr lang="ru-RU" dirty="0"/>
              <a:t>, то переменной </a:t>
            </a:r>
            <a:r>
              <a:rPr lang="ru-RU" sz="1200" kern="1200" dirty="0">
                <a:solidFill>
                  <a:schemeClr val="tx1"/>
                </a:solidFill>
                <a:latin typeface="+mn-lt"/>
                <a:ea typeface="+mn-ea"/>
                <a:cs typeface="+mn-cs"/>
              </a:rPr>
              <a:t>x</a:t>
            </a:r>
            <a:r>
              <a:rPr lang="ru-RU" dirty="0"/>
              <a:t> будет присвоено значение 5. А так как 5 — ненулевое значение, условие будет истинным.</a:t>
            </a:r>
          </a:p>
          <a:p>
            <a:r>
              <a:rPr lang="ru-RU" dirty="0"/>
              <a:t>Это очень частая логическая ошибка. Компилятор часто предупреждает, но это всё равно логическая ошибка.</a:t>
            </a:r>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8</a:t>
            </a:fld>
            <a:endParaRPr lang="en-US"/>
          </a:p>
        </p:txBody>
      </p:sp>
    </p:spTree>
    <p:extLst>
      <p:ext uri="{BB962C8B-B14F-4D97-AF65-F5344CB8AC3E}">
        <p14:creationId xmlns:p14="http://schemas.microsoft.com/office/powerpoint/2010/main" val="1663179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Взглянем, </a:t>
            </a:r>
            <a:r>
              <a:rPr lang="ru-RU" i="1" dirty="0"/>
              <a:t>как компилятор реализует ветвление</a:t>
            </a:r>
            <a:r>
              <a:rPr lang="ru-RU" dirty="0"/>
              <a:t>. В C программа делает одну вещь: читает символ через </a:t>
            </a:r>
            <a:r>
              <a:rPr lang="ru-RU" sz="1200" kern="1200" dirty="0" err="1">
                <a:solidFill>
                  <a:schemeClr val="tx1"/>
                </a:solidFill>
                <a:latin typeface="+mn-lt"/>
                <a:ea typeface="+mn-ea"/>
                <a:cs typeface="+mn-cs"/>
              </a:rPr>
              <a:t>getchar</a:t>
            </a:r>
            <a:r>
              <a:rPr lang="ru-RU" sz="1200" kern="1200" dirty="0">
                <a:solidFill>
                  <a:schemeClr val="tx1"/>
                </a:solidFill>
                <a:latin typeface="+mn-lt"/>
                <a:ea typeface="+mn-ea"/>
                <a:cs typeface="+mn-cs"/>
              </a:rPr>
              <a:t>()</a:t>
            </a:r>
            <a:r>
              <a:rPr lang="ru-RU" dirty="0"/>
              <a:t>, затем проверяет, равен ли он </a:t>
            </a:r>
            <a:r>
              <a:rPr lang="ru-RU" sz="1200" kern="1200" dirty="0">
                <a:solidFill>
                  <a:schemeClr val="tx1"/>
                </a:solidFill>
                <a:latin typeface="+mn-lt"/>
                <a:ea typeface="+mn-ea"/>
                <a:cs typeface="+mn-cs"/>
              </a:rPr>
              <a:t>EOF</a:t>
            </a:r>
            <a:r>
              <a:rPr lang="ru-RU" dirty="0"/>
              <a:t>. Если равен, печатает строку </a:t>
            </a:r>
            <a:r>
              <a:rPr lang="ru-RU" sz="1200" kern="1200" dirty="0">
                <a:solidFill>
                  <a:schemeClr val="tx1"/>
                </a:solidFill>
                <a:latin typeface="+mn-lt"/>
                <a:ea typeface="+mn-ea"/>
                <a:cs typeface="+mn-cs"/>
              </a:rPr>
              <a:t>"EOF"</a:t>
            </a:r>
            <a:r>
              <a:rPr lang="ru-RU" dirty="0"/>
              <a:t>, иначе выводит сам символ.</a:t>
            </a:r>
            <a:endParaRPr lang="en-US" dirty="0"/>
          </a:p>
          <a:p>
            <a:endParaRPr lang="ru-RU" dirty="0"/>
          </a:p>
          <a:p>
            <a:r>
              <a:rPr lang="ru-RU" dirty="0"/>
              <a:t>В ассемблере сначала вызывается </a:t>
            </a:r>
            <a:r>
              <a:rPr lang="ru-RU" sz="1200" kern="1200" dirty="0" err="1">
                <a:solidFill>
                  <a:schemeClr val="tx1"/>
                </a:solidFill>
                <a:latin typeface="+mn-lt"/>
                <a:ea typeface="+mn-ea"/>
                <a:cs typeface="+mn-cs"/>
              </a:rPr>
              <a:t>getc</a:t>
            </a:r>
            <a:r>
              <a:rPr lang="ru-RU" dirty="0"/>
              <a:t>, и результат оказывается в регистре </a:t>
            </a:r>
            <a:r>
              <a:rPr lang="ru-RU" sz="1200" kern="1200" dirty="0" err="1">
                <a:solidFill>
                  <a:schemeClr val="tx1"/>
                </a:solidFill>
                <a:latin typeface="+mn-lt"/>
                <a:ea typeface="+mn-ea"/>
                <a:cs typeface="+mn-cs"/>
              </a:rPr>
              <a:t>eax</a:t>
            </a:r>
            <a:r>
              <a:rPr lang="ru-RU" dirty="0"/>
              <a:t>. Дальше идёт строка </a:t>
            </a:r>
            <a:r>
              <a:rPr lang="ru-RU" sz="1200" kern="1200" dirty="0" err="1">
                <a:solidFill>
                  <a:schemeClr val="tx1"/>
                </a:solidFill>
                <a:latin typeface="+mn-lt"/>
                <a:ea typeface="+mn-ea"/>
                <a:cs typeface="+mn-cs"/>
              </a:rPr>
              <a:t>cmp</a:t>
            </a:r>
            <a:r>
              <a:rPr lang="ru-RU" sz="1200" kern="1200" dirty="0">
                <a:solidFill>
                  <a:schemeClr val="tx1"/>
                </a:solidFill>
                <a:latin typeface="+mn-lt"/>
                <a:ea typeface="+mn-ea"/>
                <a:cs typeface="+mn-cs"/>
              </a:rPr>
              <a:t> </a:t>
            </a:r>
            <a:r>
              <a:rPr lang="ru-RU" sz="1200" kern="1200" dirty="0" err="1">
                <a:solidFill>
                  <a:schemeClr val="tx1"/>
                </a:solidFill>
                <a:latin typeface="+mn-lt"/>
                <a:ea typeface="+mn-ea"/>
                <a:cs typeface="+mn-cs"/>
              </a:rPr>
              <a:t>eax</a:t>
            </a:r>
            <a:r>
              <a:rPr lang="ru-RU" sz="1200" kern="1200" dirty="0">
                <a:solidFill>
                  <a:schemeClr val="tx1"/>
                </a:solidFill>
                <a:latin typeface="+mn-lt"/>
                <a:ea typeface="+mn-ea"/>
                <a:cs typeface="+mn-cs"/>
              </a:rPr>
              <a:t>, -1</a:t>
            </a:r>
            <a:r>
              <a:rPr lang="ru-RU" dirty="0"/>
              <a:t> — это сравнение с </a:t>
            </a:r>
            <a:r>
              <a:rPr lang="ru-RU" sz="1200" kern="1200" dirty="0">
                <a:solidFill>
                  <a:schemeClr val="tx1"/>
                </a:solidFill>
                <a:latin typeface="+mn-lt"/>
                <a:ea typeface="+mn-ea"/>
                <a:cs typeface="+mn-cs"/>
              </a:rPr>
              <a:t>-1</a:t>
            </a:r>
            <a:r>
              <a:rPr lang="ru-RU" dirty="0"/>
              <a:t>, потому что </a:t>
            </a:r>
            <a:r>
              <a:rPr lang="ru-RU" sz="1200" kern="1200" dirty="0">
                <a:solidFill>
                  <a:schemeClr val="tx1"/>
                </a:solidFill>
                <a:latin typeface="+mn-lt"/>
                <a:ea typeface="+mn-ea"/>
                <a:cs typeface="+mn-cs"/>
              </a:rPr>
              <a:t>EOF</a:t>
            </a:r>
            <a:r>
              <a:rPr lang="ru-RU" dirty="0"/>
              <a:t> обычно представлен как </a:t>
            </a:r>
            <a:r>
              <a:rPr lang="ru-RU" sz="1200" kern="1200" dirty="0">
                <a:solidFill>
                  <a:schemeClr val="tx1"/>
                </a:solidFill>
                <a:latin typeface="+mn-lt"/>
                <a:ea typeface="+mn-ea"/>
                <a:cs typeface="+mn-cs"/>
              </a:rPr>
              <a:t>-1</a:t>
            </a:r>
            <a:r>
              <a:rPr lang="ru-RU" dirty="0"/>
              <a:t>. Следующая инструкция </a:t>
            </a:r>
            <a:r>
              <a:rPr lang="ru-RU" sz="1200" kern="1200" dirty="0" err="1">
                <a:solidFill>
                  <a:schemeClr val="tx1"/>
                </a:solidFill>
                <a:latin typeface="+mn-lt"/>
                <a:ea typeface="+mn-ea"/>
                <a:cs typeface="+mn-cs"/>
              </a:rPr>
              <a:t>je</a:t>
            </a:r>
            <a:r>
              <a:rPr lang="ru-RU" sz="1200" kern="1200" dirty="0">
                <a:solidFill>
                  <a:schemeClr val="tx1"/>
                </a:solidFill>
                <a:latin typeface="+mn-lt"/>
                <a:ea typeface="+mn-ea"/>
                <a:cs typeface="+mn-cs"/>
              </a:rPr>
              <a:t> .L6</a:t>
            </a:r>
            <a:r>
              <a:rPr lang="ru-RU" dirty="0"/>
              <a:t> означает </a:t>
            </a:r>
            <a:r>
              <a:rPr lang="ru-RU" i="1" dirty="0" err="1"/>
              <a:t>jump</a:t>
            </a:r>
            <a:r>
              <a:rPr lang="ru-RU" i="1" dirty="0"/>
              <a:t> </a:t>
            </a:r>
            <a:r>
              <a:rPr lang="ru-RU" i="1" dirty="0" err="1"/>
              <a:t>if</a:t>
            </a:r>
            <a:r>
              <a:rPr lang="ru-RU" i="1" dirty="0"/>
              <a:t> </a:t>
            </a:r>
            <a:r>
              <a:rPr lang="ru-RU" i="1" dirty="0" err="1"/>
              <a:t>equal</a:t>
            </a:r>
            <a:r>
              <a:rPr lang="ru-RU" dirty="0"/>
              <a:t>, то есть «перейти, если равно». Это и есть реализация условия </a:t>
            </a:r>
            <a:r>
              <a:rPr lang="ru-RU" sz="1200" kern="1200" dirty="0" err="1">
                <a:solidFill>
                  <a:schemeClr val="tx1"/>
                </a:solidFill>
                <a:latin typeface="+mn-lt"/>
                <a:ea typeface="+mn-ea"/>
                <a:cs typeface="+mn-cs"/>
              </a:rPr>
              <a:t>if</a:t>
            </a:r>
            <a:r>
              <a:rPr lang="ru-RU" sz="1200" kern="1200" dirty="0">
                <a:solidFill>
                  <a:schemeClr val="tx1"/>
                </a:solidFill>
                <a:latin typeface="+mn-lt"/>
                <a:ea typeface="+mn-ea"/>
                <a:cs typeface="+mn-cs"/>
              </a:rPr>
              <a:t> (c == EOF)</a:t>
            </a:r>
            <a:r>
              <a:rPr lang="ru-RU" dirty="0"/>
              <a:t>.</a:t>
            </a:r>
          </a:p>
          <a:p>
            <a:endParaRPr lang="ru-RU" dirty="0"/>
          </a:p>
          <a:p>
            <a:r>
              <a:rPr lang="ru-RU" dirty="0"/>
              <a:t>Если сравнение показало, что </a:t>
            </a:r>
            <a:r>
              <a:rPr lang="ru-RU" sz="1200" kern="1200" dirty="0" err="1">
                <a:solidFill>
                  <a:schemeClr val="tx1"/>
                </a:solidFill>
                <a:latin typeface="+mn-lt"/>
                <a:ea typeface="+mn-ea"/>
                <a:cs typeface="+mn-cs"/>
              </a:rPr>
              <a:t>eax</a:t>
            </a:r>
            <a:r>
              <a:rPr lang="ru-RU" dirty="0"/>
              <a:t> </a:t>
            </a:r>
            <a:r>
              <a:rPr lang="ru-RU" b="1" dirty="0"/>
              <a:t>не</a:t>
            </a:r>
            <a:r>
              <a:rPr lang="ru-RU" dirty="0"/>
              <a:t> равен </a:t>
            </a:r>
            <a:r>
              <a:rPr lang="ru-RU" sz="1200" kern="1200" dirty="0">
                <a:solidFill>
                  <a:schemeClr val="tx1"/>
                </a:solidFill>
                <a:latin typeface="+mn-lt"/>
                <a:ea typeface="+mn-ea"/>
                <a:cs typeface="+mn-cs"/>
              </a:rPr>
              <a:t>-1</a:t>
            </a:r>
            <a:r>
              <a:rPr lang="ru-RU" dirty="0"/>
              <a:t>, переход не выполняется, и выполнение идёт дальше по строкам, которые соответствуют ветке </a:t>
            </a:r>
            <a:r>
              <a:rPr lang="ru-RU" sz="1200" kern="1200" dirty="0" err="1">
                <a:solidFill>
                  <a:schemeClr val="tx1"/>
                </a:solidFill>
                <a:latin typeface="+mn-lt"/>
                <a:ea typeface="+mn-ea"/>
                <a:cs typeface="+mn-cs"/>
              </a:rPr>
              <a:t>else</a:t>
            </a:r>
            <a:r>
              <a:rPr lang="ru-RU" dirty="0"/>
              <a:t>. Мы видим подготовку аргументов и вызов </a:t>
            </a:r>
            <a:r>
              <a:rPr lang="ru-RU" sz="1200" kern="1200" dirty="0" err="1">
                <a:solidFill>
                  <a:schemeClr val="tx1"/>
                </a:solidFill>
                <a:latin typeface="+mn-lt"/>
                <a:ea typeface="+mn-ea"/>
                <a:cs typeface="+mn-cs"/>
              </a:rPr>
              <a:t>putc</a:t>
            </a:r>
            <a:r>
              <a:rPr lang="ru-RU" dirty="0"/>
              <a:t>, который выводит символ. После этого управление попадает в общий участок завершения программы, который начинается с метки </a:t>
            </a:r>
            <a:r>
              <a:rPr lang="ru-RU" sz="1200" kern="1200" dirty="0">
                <a:solidFill>
                  <a:schemeClr val="tx1"/>
                </a:solidFill>
                <a:latin typeface="+mn-lt"/>
                <a:ea typeface="+mn-ea"/>
                <a:cs typeface="+mn-cs"/>
              </a:rPr>
              <a:t>.L3</a:t>
            </a:r>
            <a:r>
              <a:rPr lang="ru-RU" dirty="0"/>
              <a:t>.</a:t>
            </a:r>
          </a:p>
          <a:p>
            <a:endParaRPr lang="ru-RU" dirty="0"/>
          </a:p>
          <a:p>
            <a:r>
              <a:rPr lang="ru-RU" dirty="0"/>
              <a:t>Если же значение было равно </a:t>
            </a:r>
            <a:r>
              <a:rPr lang="ru-RU" sz="1200" kern="1200" dirty="0">
                <a:solidFill>
                  <a:schemeClr val="tx1"/>
                </a:solidFill>
                <a:latin typeface="+mn-lt"/>
                <a:ea typeface="+mn-ea"/>
                <a:cs typeface="+mn-cs"/>
              </a:rPr>
              <a:t>EOF</a:t>
            </a:r>
            <a:r>
              <a:rPr lang="ru-RU" dirty="0"/>
              <a:t>, срабатывает </a:t>
            </a:r>
            <a:r>
              <a:rPr lang="ru-RU" sz="1200" kern="1200" dirty="0" err="1">
                <a:solidFill>
                  <a:schemeClr val="tx1"/>
                </a:solidFill>
                <a:latin typeface="+mn-lt"/>
                <a:ea typeface="+mn-ea"/>
                <a:cs typeface="+mn-cs"/>
              </a:rPr>
              <a:t>je</a:t>
            </a:r>
            <a:r>
              <a:rPr lang="ru-RU" sz="1200" kern="1200" dirty="0">
                <a:solidFill>
                  <a:schemeClr val="tx1"/>
                </a:solidFill>
                <a:latin typeface="+mn-lt"/>
                <a:ea typeface="+mn-ea"/>
                <a:cs typeface="+mn-cs"/>
              </a:rPr>
              <a:t> .L6</a:t>
            </a:r>
            <a:r>
              <a:rPr lang="ru-RU" dirty="0"/>
              <a:t>, и мы попадаем на метку </a:t>
            </a:r>
            <a:r>
              <a:rPr lang="ru-RU" sz="1200" kern="1200" dirty="0">
                <a:solidFill>
                  <a:schemeClr val="tx1"/>
                </a:solidFill>
                <a:latin typeface="+mn-lt"/>
                <a:ea typeface="+mn-ea"/>
                <a:cs typeface="+mn-cs"/>
              </a:rPr>
              <a:t>.L6</a:t>
            </a:r>
            <a:r>
              <a:rPr lang="ru-RU" dirty="0"/>
              <a:t>, то есть в ветку </a:t>
            </a:r>
            <a:r>
              <a:rPr lang="ru-RU" sz="1200" kern="1200" dirty="0" err="1">
                <a:solidFill>
                  <a:schemeClr val="tx1"/>
                </a:solidFill>
                <a:latin typeface="+mn-lt"/>
                <a:ea typeface="+mn-ea"/>
                <a:cs typeface="+mn-cs"/>
              </a:rPr>
              <a:t>if</a:t>
            </a:r>
            <a:r>
              <a:rPr lang="ru-RU" dirty="0"/>
              <a:t>. Там загружается адрес строки </a:t>
            </a:r>
            <a:r>
              <a:rPr lang="ru-RU" sz="1200" kern="1200" dirty="0">
                <a:solidFill>
                  <a:schemeClr val="tx1"/>
                </a:solidFill>
                <a:latin typeface="+mn-lt"/>
                <a:ea typeface="+mn-ea"/>
                <a:cs typeface="+mn-cs"/>
              </a:rPr>
              <a:t>"EOF"</a:t>
            </a:r>
            <a:r>
              <a:rPr lang="ru-RU" dirty="0"/>
              <a:t> и вызывается </a:t>
            </a:r>
            <a:r>
              <a:rPr lang="ru-RU" sz="1200" kern="1200" dirty="0" err="1">
                <a:solidFill>
                  <a:schemeClr val="tx1"/>
                </a:solidFill>
                <a:latin typeface="+mn-lt"/>
                <a:ea typeface="+mn-ea"/>
                <a:cs typeface="+mn-cs"/>
              </a:rPr>
              <a:t>puts</a:t>
            </a:r>
            <a:r>
              <a:rPr lang="ru-RU" dirty="0"/>
              <a:t>. После этого выполняется </a:t>
            </a:r>
            <a:r>
              <a:rPr lang="ru-RU" sz="1200" kern="1200" dirty="0" err="1">
                <a:solidFill>
                  <a:schemeClr val="tx1"/>
                </a:solidFill>
                <a:latin typeface="+mn-lt"/>
                <a:ea typeface="+mn-ea"/>
                <a:cs typeface="+mn-cs"/>
              </a:rPr>
              <a:t>jmp</a:t>
            </a:r>
            <a:r>
              <a:rPr lang="ru-RU" sz="1200" kern="1200" dirty="0">
                <a:solidFill>
                  <a:schemeClr val="tx1"/>
                </a:solidFill>
                <a:latin typeface="+mn-lt"/>
                <a:ea typeface="+mn-ea"/>
                <a:cs typeface="+mn-cs"/>
              </a:rPr>
              <a:t> .L3</a:t>
            </a:r>
            <a:r>
              <a:rPr lang="ru-RU" dirty="0"/>
              <a:t>, то есть безусловный переход в общий «хвост» программы, чтобы не дублировать код завершения.</a:t>
            </a:r>
          </a:p>
          <a:p>
            <a:endParaRPr lang="ru-RU" dirty="0"/>
          </a:p>
          <a:p>
            <a:r>
              <a:rPr lang="ru-RU" dirty="0"/>
              <a:t>Важно заметить общий принцип: </a:t>
            </a:r>
            <a:r>
              <a:rPr lang="ru-RU" b="1" dirty="0" err="1"/>
              <a:t>if</a:t>
            </a:r>
            <a:r>
              <a:rPr lang="ru-RU" b="1" dirty="0"/>
              <a:t>–</a:t>
            </a:r>
            <a:r>
              <a:rPr lang="ru-RU" b="1" dirty="0" err="1"/>
              <a:t>else</a:t>
            </a:r>
            <a:r>
              <a:rPr lang="ru-RU" b="1" dirty="0"/>
              <a:t> на уровне процессора — это сравнение и условный переход к одной из веток</a:t>
            </a:r>
            <a:r>
              <a:rPr lang="ru-RU" dirty="0"/>
              <a:t>, а затем обычно есть общий участок кода, куда обе ветки сходятся. Никакой отдельной магии для </a:t>
            </a:r>
            <a:r>
              <a:rPr lang="ru-RU" sz="1200" kern="1200" dirty="0" err="1">
                <a:solidFill>
                  <a:schemeClr val="tx1"/>
                </a:solidFill>
                <a:latin typeface="+mn-lt"/>
                <a:ea typeface="+mn-ea"/>
                <a:cs typeface="+mn-cs"/>
              </a:rPr>
              <a:t>if</a:t>
            </a:r>
            <a:r>
              <a:rPr lang="ru-RU" dirty="0"/>
              <a:t> и </a:t>
            </a:r>
            <a:r>
              <a:rPr lang="ru-RU" sz="1200" kern="1200" dirty="0" err="1">
                <a:solidFill>
                  <a:schemeClr val="tx1"/>
                </a:solidFill>
                <a:latin typeface="+mn-lt"/>
                <a:ea typeface="+mn-ea"/>
                <a:cs typeface="+mn-cs"/>
              </a:rPr>
              <a:t>else</a:t>
            </a:r>
            <a:r>
              <a:rPr lang="ru-RU" dirty="0"/>
              <a:t> нет: всё строится на </a:t>
            </a:r>
            <a:r>
              <a:rPr lang="ru-RU" sz="1200" kern="1200" dirty="0" err="1">
                <a:solidFill>
                  <a:schemeClr val="tx1"/>
                </a:solidFill>
                <a:latin typeface="+mn-lt"/>
                <a:ea typeface="+mn-ea"/>
                <a:cs typeface="+mn-cs"/>
              </a:rPr>
              <a:t>cmp</a:t>
            </a:r>
            <a:r>
              <a:rPr lang="ru-RU" dirty="0"/>
              <a:t> и переходах вроде </a:t>
            </a:r>
            <a:r>
              <a:rPr lang="ru-RU" sz="1200" kern="1200" dirty="0" err="1">
                <a:solidFill>
                  <a:schemeClr val="tx1"/>
                </a:solidFill>
                <a:latin typeface="+mn-lt"/>
                <a:ea typeface="+mn-ea"/>
                <a:cs typeface="+mn-cs"/>
              </a:rPr>
              <a:t>je</a:t>
            </a:r>
            <a:r>
              <a:rPr lang="ru-RU" dirty="0"/>
              <a:t> и </a:t>
            </a:r>
            <a:r>
              <a:rPr lang="ru-RU" sz="1200" kern="1200" dirty="0" err="1">
                <a:solidFill>
                  <a:schemeClr val="tx1"/>
                </a:solidFill>
                <a:latin typeface="+mn-lt"/>
                <a:ea typeface="+mn-ea"/>
                <a:cs typeface="+mn-cs"/>
              </a:rPr>
              <a:t>jmp</a:t>
            </a:r>
            <a:r>
              <a:rPr lang="ru-RU" dirty="0"/>
              <a: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Обратите внимание: компилятор мог подставить </a:t>
            </a:r>
            <a:r>
              <a:rPr lang="ru-RU" sz="1200" kern="1200" dirty="0" err="1">
                <a:solidFill>
                  <a:schemeClr val="tx1"/>
                </a:solidFill>
                <a:latin typeface="+mn-lt"/>
                <a:ea typeface="+mn-ea"/>
                <a:cs typeface="+mn-cs"/>
              </a:rPr>
              <a:t>getc</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putc</a:t>
            </a:r>
            <a:r>
              <a:rPr lang="ru-RU" dirty="0"/>
              <a:t> вместо </a:t>
            </a:r>
            <a:r>
              <a:rPr lang="ru-RU" sz="1200" kern="1200" dirty="0" err="1">
                <a:solidFill>
                  <a:schemeClr val="tx1"/>
                </a:solidFill>
                <a:latin typeface="+mn-lt"/>
                <a:ea typeface="+mn-ea"/>
                <a:cs typeface="+mn-cs"/>
              </a:rPr>
              <a:t>getchar</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putchar</a:t>
            </a:r>
            <a:r>
              <a:rPr lang="ru-RU" dirty="0"/>
              <a:t>, смысл тот же.</a:t>
            </a:r>
          </a:p>
          <a:p>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9</a:t>
            </a:fld>
            <a:endParaRPr lang="en-US"/>
          </a:p>
        </p:txBody>
      </p:sp>
    </p:spTree>
    <p:extLst>
      <p:ext uri="{BB962C8B-B14F-4D97-AF65-F5344CB8AC3E}">
        <p14:creationId xmlns:p14="http://schemas.microsoft.com/office/powerpoint/2010/main" val="1681518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Подведём итог.</a:t>
            </a:r>
          </a:p>
          <a:p>
            <a:r>
              <a:rPr lang="ru-RU" dirty="0"/>
              <a:t>Условие в C — это выражение.</a:t>
            </a:r>
            <a:br>
              <a:rPr lang="ru-RU" dirty="0"/>
            </a:br>
            <a:r>
              <a:rPr lang="ru-RU" dirty="0"/>
              <a:t>0 — ложь.</a:t>
            </a:r>
            <a:br>
              <a:rPr lang="ru-RU" dirty="0"/>
            </a:br>
            <a:r>
              <a:rPr lang="ru-RU" dirty="0"/>
              <a:t>Любое ненулевое значение — истина.</a:t>
            </a:r>
          </a:p>
          <a:p>
            <a:r>
              <a:rPr lang="ru-RU" sz="1200" kern="1200" dirty="0" err="1">
                <a:solidFill>
                  <a:schemeClr val="tx1"/>
                </a:solidFill>
                <a:latin typeface="+mn-lt"/>
                <a:ea typeface="+mn-ea"/>
                <a:cs typeface="+mn-cs"/>
              </a:rPr>
              <a:t>else</a:t>
            </a:r>
            <a:r>
              <a:rPr lang="ru-RU" dirty="0"/>
              <a:t> используется для альтернативной ветки.</a:t>
            </a:r>
            <a:br>
              <a:rPr lang="ru-RU" dirty="0"/>
            </a:br>
            <a:r>
              <a:rPr lang="ru-RU" sz="1200" kern="1200" dirty="0" err="1">
                <a:solidFill>
                  <a:schemeClr val="tx1"/>
                </a:solidFill>
                <a:latin typeface="+mn-lt"/>
                <a:ea typeface="+mn-ea"/>
                <a:cs typeface="+mn-cs"/>
              </a:rPr>
              <a:t>else</a:t>
            </a:r>
            <a:r>
              <a:rPr lang="ru-RU" sz="1200" kern="1200" dirty="0">
                <a:solidFill>
                  <a:schemeClr val="tx1"/>
                </a:solidFill>
                <a:latin typeface="+mn-lt"/>
                <a:ea typeface="+mn-ea"/>
                <a:cs typeface="+mn-cs"/>
              </a:rPr>
              <a:t> </a:t>
            </a:r>
            <a:r>
              <a:rPr lang="ru-RU" sz="1200" kern="1200" dirty="0" err="1">
                <a:solidFill>
                  <a:schemeClr val="tx1"/>
                </a:solidFill>
                <a:latin typeface="+mn-lt"/>
                <a:ea typeface="+mn-ea"/>
                <a:cs typeface="+mn-cs"/>
              </a:rPr>
              <a:t>if</a:t>
            </a:r>
            <a:r>
              <a:rPr lang="ru-RU" dirty="0"/>
              <a:t> позволяет построить цепочку проверок.</a:t>
            </a:r>
          </a:p>
          <a:p>
            <a:r>
              <a:rPr lang="ru-RU" sz="1200" kern="1200" dirty="0" err="1">
                <a:solidFill>
                  <a:schemeClr val="tx1"/>
                </a:solidFill>
                <a:latin typeface="+mn-lt"/>
                <a:ea typeface="+mn-ea"/>
                <a:cs typeface="+mn-cs"/>
              </a:rPr>
              <a:t>if</a:t>
            </a:r>
            <a:r>
              <a:rPr lang="ru-RU" dirty="0"/>
              <a:t> — это базовый инструмент управления логикой программы.</a:t>
            </a:r>
            <a:br>
              <a:rPr lang="ru-RU" dirty="0"/>
            </a:br>
            <a:r>
              <a:rPr lang="ru-RU" dirty="0"/>
              <a:t>Практически любая нетривиальная программа без него невозможна.</a:t>
            </a:r>
          </a:p>
          <a:p>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10</a:t>
            </a:fld>
            <a:endParaRPr lang="en-US"/>
          </a:p>
        </p:txBody>
      </p:sp>
    </p:spTree>
    <p:extLst>
      <p:ext uri="{BB962C8B-B14F-4D97-AF65-F5344CB8AC3E}">
        <p14:creationId xmlns:p14="http://schemas.microsoft.com/office/powerpoint/2010/main" val="1559773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B945CA0-E94A-4FB7-A4CA-C1968BB52B92}" type="slidenum">
              <a:rPr lang="en-US" smtClean="0"/>
              <a:t>11</a:t>
            </a:fld>
            <a:endParaRPr lang="en-US"/>
          </a:p>
        </p:txBody>
      </p:sp>
    </p:spTree>
    <p:extLst>
      <p:ext uri="{BB962C8B-B14F-4D97-AF65-F5344CB8AC3E}">
        <p14:creationId xmlns:p14="http://schemas.microsoft.com/office/powerpoint/2010/main" val="12793777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Иногда нам нужно проверить одну и ту же переменную на равенство нескольким значениям.</a:t>
            </a:r>
          </a:p>
          <a:p>
            <a:r>
              <a:rPr lang="ru-RU" dirty="0"/>
              <a:t>Можно написать длинную цепочку </a:t>
            </a:r>
            <a:r>
              <a:rPr lang="ru-RU" sz="1200" kern="1200" dirty="0" err="1">
                <a:solidFill>
                  <a:schemeClr val="tx1"/>
                </a:solidFill>
                <a:latin typeface="+mn-lt"/>
                <a:ea typeface="+mn-ea"/>
                <a:cs typeface="+mn-cs"/>
              </a:rPr>
              <a:t>if</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else</a:t>
            </a:r>
            <a:r>
              <a:rPr lang="ru-RU" sz="1200" kern="1200" dirty="0">
                <a:solidFill>
                  <a:schemeClr val="tx1"/>
                </a:solidFill>
                <a:latin typeface="+mn-lt"/>
                <a:ea typeface="+mn-ea"/>
                <a:cs typeface="+mn-cs"/>
              </a:rPr>
              <a:t> </a:t>
            </a:r>
            <a:r>
              <a:rPr lang="ru-RU" sz="1200" kern="1200" dirty="0" err="1">
                <a:solidFill>
                  <a:schemeClr val="tx1"/>
                </a:solidFill>
                <a:latin typeface="+mn-lt"/>
                <a:ea typeface="+mn-ea"/>
                <a:cs typeface="+mn-cs"/>
              </a:rPr>
              <a:t>if</a:t>
            </a:r>
            <a:r>
              <a:rPr lang="ru-RU" dirty="0"/>
              <a:t>.</a:t>
            </a:r>
            <a:br>
              <a:rPr lang="ru-RU" dirty="0"/>
            </a:br>
            <a:r>
              <a:rPr lang="ru-RU" dirty="0"/>
              <a:t>Но такой код быстро становится громоздким и хуже читается.</a:t>
            </a:r>
          </a:p>
          <a:p>
            <a:r>
              <a:rPr lang="ru-RU" dirty="0"/>
              <a:t>Когда мы сравниваем </a:t>
            </a:r>
            <a:r>
              <a:rPr lang="ru-RU" b="1" dirty="0"/>
              <a:t>одну переменную</a:t>
            </a:r>
            <a:r>
              <a:rPr lang="en-US" b="1" dirty="0"/>
              <a:t> </a:t>
            </a:r>
            <a:r>
              <a:rPr lang="ru-RU" dirty="0"/>
              <a:t>с набором </a:t>
            </a:r>
            <a:r>
              <a:rPr lang="ru-RU" b="1" dirty="0"/>
              <a:t>фиксированных констант</a:t>
            </a:r>
            <a:r>
              <a:rPr lang="ru-RU" dirty="0"/>
              <a:t>,</a:t>
            </a:r>
            <a:r>
              <a:rPr lang="en-US" dirty="0"/>
              <a:t> </a:t>
            </a:r>
            <a:r>
              <a:rPr lang="ru-RU" dirty="0"/>
              <a:t>в C существует более удобная конструкция — </a:t>
            </a:r>
            <a:r>
              <a:rPr lang="ru-RU" sz="1200" kern="1200" dirty="0" err="1">
                <a:solidFill>
                  <a:schemeClr val="tx1"/>
                </a:solidFill>
                <a:latin typeface="+mn-lt"/>
                <a:ea typeface="+mn-ea"/>
                <a:cs typeface="+mn-cs"/>
              </a:rPr>
              <a:t>switch</a:t>
            </a:r>
            <a:r>
              <a:rPr lang="ru-RU" dirty="0"/>
              <a:t>.</a:t>
            </a:r>
          </a:p>
          <a:p>
            <a:r>
              <a:rPr lang="ru-RU" dirty="0"/>
              <a:t>Она делает код компактнее и </a:t>
            </a:r>
            <a:r>
              <a:rPr lang="ru-RU" dirty="0" err="1"/>
              <a:t>структурированнее</a:t>
            </a:r>
            <a:r>
              <a:rPr lang="ru-RU" dirty="0"/>
              <a:t>.</a:t>
            </a:r>
          </a:p>
          <a:p>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12</a:t>
            </a:fld>
            <a:endParaRPr lang="en-US"/>
          </a:p>
        </p:txBody>
      </p:sp>
    </p:spTree>
    <p:extLst>
      <p:ext uri="{BB962C8B-B14F-4D97-AF65-F5344CB8AC3E}">
        <p14:creationId xmlns:p14="http://schemas.microsoft.com/office/powerpoint/2010/main" val="40624080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kern="1200" dirty="0" err="1">
                <a:solidFill>
                  <a:schemeClr val="tx1"/>
                </a:solidFill>
                <a:latin typeface="+mn-lt"/>
                <a:ea typeface="+mn-ea"/>
                <a:cs typeface="+mn-cs"/>
              </a:rPr>
              <a:t>switch</a:t>
            </a:r>
            <a:r>
              <a:rPr lang="ru-RU" dirty="0"/>
              <a:t> работает следующим образом.</a:t>
            </a:r>
            <a:r>
              <a:rPr lang="en-US" dirty="0"/>
              <a:t> </a:t>
            </a:r>
            <a:r>
              <a:rPr lang="ru-RU" dirty="0"/>
              <a:t>Сначала вычисляется выражение в круглых скобках.</a:t>
            </a:r>
            <a:br>
              <a:rPr lang="ru-RU" dirty="0"/>
            </a:br>
            <a:r>
              <a:rPr lang="ru-RU" dirty="0"/>
              <a:t>Затем его значение сравнивается с каждым </a:t>
            </a:r>
            <a:r>
              <a:rPr lang="ru-RU" sz="1200" kern="1200" dirty="0" err="1">
                <a:solidFill>
                  <a:schemeClr val="tx1"/>
                </a:solidFill>
                <a:latin typeface="+mn-lt"/>
                <a:ea typeface="+mn-ea"/>
                <a:cs typeface="+mn-cs"/>
              </a:rPr>
              <a:t>case</a:t>
            </a:r>
            <a:r>
              <a:rPr lang="ru-RU" dirty="0"/>
              <a:t>.</a:t>
            </a:r>
            <a:r>
              <a:rPr lang="en-US" dirty="0"/>
              <a:t> </a:t>
            </a:r>
            <a:r>
              <a:rPr lang="ru-RU" dirty="0"/>
              <a:t>Каждый </a:t>
            </a:r>
            <a:r>
              <a:rPr lang="ru-RU" sz="1200" kern="1200" dirty="0" err="1">
                <a:solidFill>
                  <a:schemeClr val="tx1"/>
                </a:solidFill>
                <a:latin typeface="+mn-lt"/>
                <a:ea typeface="+mn-ea"/>
                <a:cs typeface="+mn-cs"/>
              </a:rPr>
              <a:t>case</a:t>
            </a:r>
            <a:r>
              <a:rPr lang="ru-RU" dirty="0"/>
              <a:t> — это константа.</a:t>
            </a:r>
            <a:br>
              <a:rPr lang="ru-RU" dirty="0"/>
            </a:br>
            <a:r>
              <a:rPr lang="ru-RU" dirty="0"/>
              <a:t>Если найдено совпадение — выполнение начинается с соответствующей метки.</a:t>
            </a:r>
          </a:p>
          <a:p>
            <a:r>
              <a:rPr lang="ru-RU" dirty="0"/>
              <a:t>Ключевое слово </a:t>
            </a:r>
            <a:r>
              <a:rPr lang="ru-RU" sz="1200" kern="1200" dirty="0" err="1">
                <a:solidFill>
                  <a:schemeClr val="tx1"/>
                </a:solidFill>
                <a:latin typeface="+mn-lt"/>
                <a:ea typeface="+mn-ea"/>
                <a:cs typeface="+mn-cs"/>
              </a:rPr>
              <a:t>break</a:t>
            </a:r>
            <a:r>
              <a:rPr lang="ru-RU" dirty="0"/>
              <a:t> завершает выполнение </a:t>
            </a:r>
            <a:r>
              <a:rPr lang="ru-RU" sz="1200" kern="1200" dirty="0" err="1">
                <a:solidFill>
                  <a:schemeClr val="tx1"/>
                </a:solidFill>
                <a:latin typeface="+mn-lt"/>
                <a:ea typeface="+mn-ea"/>
                <a:cs typeface="+mn-cs"/>
              </a:rPr>
              <a:t>switch</a:t>
            </a:r>
            <a:r>
              <a:rPr lang="ru-RU" dirty="0"/>
              <a:t>.</a:t>
            </a:r>
            <a:br>
              <a:rPr lang="ru-RU" dirty="0"/>
            </a:br>
            <a:r>
              <a:rPr lang="ru-RU" dirty="0"/>
              <a:t>Если его не написать — произойдёт особое поведение, о котором поговорим отдельно.</a:t>
            </a:r>
          </a:p>
          <a:p>
            <a:r>
              <a:rPr lang="ru-RU" sz="1200" kern="1200" dirty="0" err="1">
                <a:solidFill>
                  <a:schemeClr val="tx1"/>
                </a:solidFill>
                <a:latin typeface="+mn-lt"/>
                <a:ea typeface="+mn-ea"/>
                <a:cs typeface="+mn-cs"/>
              </a:rPr>
              <a:t>default</a:t>
            </a:r>
            <a:r>
              <a:rPr lang="ru-RU" dirty="0"/>
              <a:t> — это ветка «во всех остальных случаях».</a:t>
            </a:r>
          </a:p>
          <a:p>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13</a:t>
            </a:fld>
            <a:endParaRPr lang="en-US"/>
          </a:p>
        </p:txBody>
      </p:sp>
    </p:spTree>
    <p:extLst>
      <p:ext uri="{BB962C8B-B14F-4D97-AF65-F5344CB8AC3E}">
        <p14:creationId xmlns:p14="http://schemas.microsoft.com/office/powerpoint/2010/main" val="4235141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Здесь мы читаем число и интерпретируем его как команду.</a:t>
            </a:r>
          </a:p>
          <a:p>
            <a:pPr marL="171450" indent="-171450">
              <a:buFont typeface="Arial" panose="020B0604020202020204" pitchFamily="34" charset="0"/>
              <a:buChar char="•"/>
            </a:pPr>
            <a:r>
              <a:rPr lang="ru-RU" dirty="0"/>
              <a:t>Если пользователь ввёл 1 — выводим «Старт».</a:t>
            </a:r>
            <a:br>
              <a:rPr lang="ru-RU" dirty="0"/>
            </a:br>
            <a:r>
              <a:rPr lang="ru-RU" dirty="0"/>
              <a:t>Если 2 — «Стоп».</a:t>
            </a:r>
            <a:br>
              <a:rPr lang="ru-RU" dirty="0"/>
            </a:br>
            <a:r>
              <a:rPr lang="ru-RU" dirty="0"/>
              <a:t>Если 3 — «Пауза».</a:t>
            </a:r>
          </a:p>
          <a:p>
            <a:r>
              <a:rPr lang="ru-RU" dirty="0"/>
              <a:t>Если значение не совпало ни с одним </a:t>
            </a:r>
            <a:r>
              <a:rPr lang="ru-RU" sz="1200" kern="1200" dirty="0" err="1">
                <a:solidFill>
                  <a:schemeClr val="tx1"/>
                </a:solidFill>
                <a:latin typeface="+mn-lt"/>
                <a:ea typeface="+mn-ea"/>
                <a:cs typeface="+mn-cs"/>
              </a:rPr>
              <a:t>case</a:t>
            </a:r>
            <a:r>
              <a:rPr lang="ru-RU" dirty="0"/>
              <a:t>, выполняется блок </a:t>
            </a:r>
            <a:r>
              <a:rPr lang="ru-RU" sz="1200" kern="1200" dirty="0" err="1">
                <a:solidFill>
                  <a:schemeClr val="tx1"/>
                </a:solidFill>
                <a:latin typeface="+mn-lt"/>
                <a:ea typeface="+mn-ea"/>
                <a:cs typeface="+mn-cs"/>
              </a:rPr>
              <a:t>default</a:t>
            </a:r>
            <a:r>
              <a:rPr lang="ru-RU" dirty="0"/>
              <a:t>.</a:t>
            </a:r>
          </a:p>
          <a:p>
            <a:r>
              <a:rPr lang="ru-RU" dirty="0"/>
              <a:t>Обратите внимание: </a:t>
            </a:r>
            <a:r>
              <a:rPr lang="ru-RU" sz="1200" kern="1200" dirty="0" err="1">
                <a:solidFill>
                  <a:schemeClr val="tx1"/>
                </a:solidFill>
                <a:latin typeface="+mn-lt"/>
                <a:ea typeface="+mn-ea"/>
                <a:cs typeface="+mn-cs"/>
              </a:rPr>
              <a:t>switch</a:t>
            </a:r>
            <a:r>
              <a:rPr lang="ru-RU" dirty="0"/>
              <a:t> удобно использовать для реализации меню или простых командных интерфейсов.</a:t>
            </a:r>
          </a:p>
          <a:p>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14</a:t>
            </a:fld>
            <a:endParaRPr lang="en-US"/>
          </a:p>
        </p:txBody>
      </p:sp>
    </p:spTree>
    <p:extLst>
      <p:ext uri="{BB962C8B-B14F-4D97-AF65-F5344CB8AC3E}">
        <p14:creationId xmlns:p14="http://schemas.microsoft.com/office/powerpoint/2010/main" val="8495185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Очень важная особенность </a:t>
            </a:r>
            <a:r>
              <a:rPr lang="ru-RU" sz="1200" kern="1200" dirty="0" err="1">
                <a:solidFill>
                  <a:schemeClr val="tx1"/>
                </a:solidFill>
                <a:latin typeface="+mn-lt"/>
                <a:ea typeface="+mn-ea"/>
                <a:cs typeface="+mn-cs"/>
              </a:rPr>
              <a:t>switch</a:t>
            </a:r>
            <a:r>
              <a:rPr lang="ru-RU" dirty="0"/>
              <a:t>.</a:t>
            </a:r>
          </a:p>
          <a:p>
            <a:r>
              <a:rPr lang="ru-RU" dirty="0"/>
              <a:t>Если после блока </a:t>
            </a:r>
            <a:r>
              <a:rPr lang="ru-RU" sz="1200" kern="1200" dirty="0" err="1">
                <a:solidFill>
                  <a:schemeClr val="tx1"/>
                </a:solidFill>
                <a:latin typeface="+mn-lt"/>
                <a:ea typeface="+mn-ea"/>
                <a:cs typeface="+mn-cs"/>
              </a:rPr>
              <a:t>case</a:t>
            </a:r>
            <a:r>
              <a:rPr lang="ru-RU" dirty="0"/>
              <a:t> нет </a:t>
            </a:r>
            <a:r>
              <a:rPr lang="ru-RU" sz="1200" kern="1200" dirty="0" err="1">
                <a:solidFill>
                  <a:schemeClr val="tx1"/>
                </a:solidFill>
                <a:latin typeface="+mn-lt"/>
                <a:ea typeface="+mn-ea"/>
                <a:cs typeface="+mn-cs"/>
              </a:rPr>
              <a:t>break</a:t>
            </a:r>
            <a:r>
              <a:rPr lang="ru-RU" dirty="0"/>
              <a:t>,</a:t>
            </a:r>
            <a:br>
              <a:rPr lang="ru-RU" dirty="0"/>
            </a:br>
            <a:r>
              <a:rPr lang="ru-RU" dirty="0"/>
              <a:t>выполнение не останавливается.</a:t>
            </a:r>
          </a:p>
          <a:p>
            <a:r>
              <a:rPr lang="ru-RU" dirty="0"/>
              <a:t>Оно «проваливается» в следующий </a:t>
            </a:r>
            <a:r>
              <a:rPr lang="ru-RU" sz="1200" kern="1200" dirty="0" err="1">
                <a:solidFill>
                  <a:schemeClr val="tx1"/>
                </a:solidFill>
                <a:latin typeface="+mn-lt"/>
                <a:ea typeface="+mn-ea"/>
                <a:cs typeface="+mn-cs"/>
              </a:rPr>
              <a:t>case</a:t>
            </a:r>
            <a:r>
              <a:rPr lang="ru-RU" dirty="0"/>
              <a:t>.</a:t>
            </a:r>
          </a:p>
          <a:p>
            <a:r>
              <a:rPr lang="ru-RU" dirty="0"/>
              <a:t>Это поведение называется </a:t>
            </a:r>
            <a:r>
              <a:rPr lang="ru-RU" dirty="0" err="1"/>
              <a:t>fallthrough</a:t>
            </a:r>
            <a:r>
              <a:rPr lang="ru-RU" dirty="0"/>
              <a:t>.</a:t>
            </a:r>
          </a:p>
          <a:p>
            <a:r>
              <a:rPr lang="ru-RU" dirty="0"/>
              <a:t>Иногда это ошибка, если программист забыл </a:t>
            </a:r>
            <a:r>
              <a:rPr lang="ru-RU" sz="1200" kern="1200" dirty="0" err="1">
                <a:solidFill>
                  <a:schemeClr val="tx1"/>
                </a:solidFill>
                <a:latin typeface="+mn-lt"/>
                <a:ea typeface="+mn-ea"/>
                <a:cs typeface="+mn-cs"/>
              </a:rPr>
              <a:t>break</a:t>
            </a:r>
            <a:r>
              <a:rPr lang="ru-RU" dirty="0"/>
              <a:t>.</a:t>
            </a:r>
            <a:br>
              <a:rPr lang="ru-RU" dirty="0"/>
            </a:br>
            <a:r>
              <a:rPr lang="ru-RU" dirty="0"/>
              <a:t>Иногда — сознательное решение.</a:t>
            </a:r>
          </a:p>
          <a:p>
            <a:r>
              <a:rPr lang="ru-RU" dirty="0"/>
              <a:t>Поэтому в большинстве случаев </a:t>
            </a:r>
            <a:r>
              <a:rPr lang="ru-RU" sz="1200" kern="1200" dirty="0" err="1">
                <a:solidFill>
                  <a:schemeClr val="tx1"/>
                </a:solidFill>
                <a:latin typeface="+mn-lt"/>
                <a:ea typeface="+mn-ea"/>
                <a:cs typeface="+mn-cs"/>
              </a:rPr>
              <a:t>break</a:t>
            </a:r>
            <a:r>
              <a:rPr lang="ru-RU" dirty="0"/>
              <a:t> писать обязательно.</a:t>
            </a:r>
          </a:p>
          <a:p>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15</a:t>
            </a:fld>
            <a:endParaRPr lang="en-US"/>
          </a:p>
        </p:txBody>
      </p:sp>
    </p:spTree>
    <p:extLst>
      <p:ext uri="{BB962C8B-B14F-4D97-AF65-F5344CB8AC3E}">
        <p14:creationId xmlns:p14="http://schemas.microsoft.com/office/powerpoint/2010/main" val="1629882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Здесь показан пример осознанного использования </a:t>
            </a:r>
            <a:r>
              <a:rPr lang="ru-RU" dirty="0" err="1"/>
              <a:t>fallthrough</a:t>
            </a:r>
            <a:r>
              <a:rPr lang="ru-RU" dirty="0"/>
              <a:t> — то есть «проваливания» в следующий </a:t>
            </a:r>
            <a:r>
              <a:rPr lang="ru-RU" sz="1200" kern="1200" dirty="0" err="1">
                <a:solidFill>
                  <a:schemeClr val="tx1"/>
                </a:solidFill>
                <a:latin typeface="+mn-lt"/>
                <a:ea typeface="+mn-ea"/>
                <a:cs typeface="+mn-cs"/>
              </a:rPr>
              <a:t>case</a:t>
            </a:r>
            <a:r>
              <a:rPr lang="ru-RU" dirty="0"/>
              <a:t>.</a:t>
            </a:r>
          </a:p>
          <a:p>
            <a:r>
              <a:rPr lang="ru-RU" dirty="0"/>
              <a:t>Мы читаем символ с помощью </a:t>
            </a:r>
            <a:r>
              <a:rPr lang="ru-RU" sz="1200" kern="1200" dirty="0" err="1">
                <a:solidFill>
                  <a:schemeClr val="tx1"/>
                </a:solidFill>
                <a:latin typeface="+mn-lt"/>
                <a:ea typeface="+mn-ea"/>
                <a:cs typeface="+mn-cs"/>
              </a:rPr>
              <a:t>getchar</a:t>
            </a:r>
            <a:r>
              <a:rPr lang="ru-RU" sz="1200" kern="1200" dirty="0">
                <a:solidFill>
                  <a:schemeClr val="tx1"/>
                </a:solidFill>
                <a:latin typeface="+mn-lt"/>
                <a:ea typeface="+mn-ea"/>
                <a:cs typeface="+mn-cs"/>
              </a:rPr>
              <a:t>()</a:t>
            </a:r>
            <a:r>
              <a:rPr lang="ru-RU" dirty="0"/>
              <a:t>. Переменная </a:t>
            </a:r>
            <a:r>
              <a:rPr lang="ru-RU" sz="1200" kern="1200" dirty="0" err="1">
                <a:solidFill>
                  <a:schemeClr val="tx1"/>
                </a:solidFill>
                <a:latin typeface="+mn-lt"/>
                <a:ea typeface="+mn-ea"/>
                <a:cs typeface="+mn-cs"/>
              </a:rPr>
              <a:t>letter</a:t>
            </a:r>
            <a:r>
              <a:rPr lang="ru-RU" dirty="0"/>
              <a:t> имеет тип </a:t>
            </a:r>
            <a:r>
              <a:rPr lang="ru-RU" sz="1200" kern="1200" dirty="0" err="1">
                <a:solidFill>
                  <a:schemeClr val="tx1"/>
                </a:solidFill>
                <a:latin typeface="+mn-lt"/>
                <a:ea typeface="+mn-ea"/>
                <a:cs typeface="+mn-cs"/>
              </a:rPr>
              <a:t>int</a:t>
            </a:r>
            <a:r>
              <a:rPr lang="ru-RU" dirty="0"/>
              <a:t>, потому что </a:t>
            </a:r>
            <a:r>
              <a:rPr lang="ru-RU" sz="1200" kern="1200" dirty="0" err="1">
                <a:solidFill>
                  <a:schemeClr val="tx1"/>
                </a:solidFill>
                <a:latin typeface="+mn-lt"/>
                <a:ea typeface="+mn-ea"/>
                <a:cs typeface="+mn-cs"/>
              </a:rPr>
              <a:t>getchar</a:t>
            </a:r>
            <a:r>
              <a:rPr lang="ru-RU" sz="1200" kern="1200" dirty="0">
                <a:solidFill>
                  <a:schemeClr val="tx1"/>
                </a:solidFill>
                <a:latin typeface="+mn-lt"/>
                <a:ea typeface="+mn-ea"/>
                <a:cs typeface="+mn-cs"/>
              </a:rPr>
              <a:t>()</a:t>
            </a:r>
            <a:r>
              <a:rPr lang="ru-RU" dirty="0"/>
              <a:t> может вернуть не только символ, но и специальное значение </a:t>
            </a:r>
            <a:r>
              <a:rPr lang="ru-RU" sz="1200" kern="1200" dirty="0">
                <a:solidFill>
                  <a:schemeClr val="tx1"/>
                </a:solidFill>
                <a:latin typeface="+mn-lt"/>
                <a:ea typeface="+mn-ea"/>
                <a:cs typeface="+mn-cs"/>
              </a:rPr>
              <a:t>EOF</a:t>
            </a:r>
            <a:r>
              <a:rPr lang="ru-RU" dirty="0"/>
              <a:t>.</a:t>
            </a:r>
          </a:p>
          <a:p>
            <a:r>
              <a:rPr lang="ru-RU" dirty="0"/>
              <a:t>Дальше идёт </a:t>
            </a:r>
            <a:r>
              <a:rPr lang="ru-RU" sz="1200" kern="1200" dirty="0" err="1">
                <a:solidFill>
                  <a:schemeClr val="tx1"/>
                </a:solidFill>
                <a:latin typeface="+mn-lt"/>
                <a:ea typeface="+mn-ea"/>
                <a:cs typeface="+mn-cs"/>
              </a:rPr>
              <a:t>switch</a:t>
            </a:r>
            <a:r>
              <a:rPr lang="ru-RU" dirty="0"/>
              <a:t>. Если символ — одна из гласных букв, выполнение начнётся с соответствующего </a:t>
            </a:r>
            <a:r>
              <a:rPr lang="ru-RU" sz="1200" kern="1200" dirty="0" err="1">
                <a:solidFill>
                  <a:schemeClr val="tx1"/>
                </a:solidFill>
                <a:latin typeface="+mn-lt"/>
                <a:ea typeface="+mn-ea"/>
                <a:cs typeface="+mn-cs"/>
              </a:rPr>
              <a:t>case</a:t>
            </a:r>
            <a:r>
              <a:rPr lang="ru-RU" dirty="0"/>
              <a:t>.</a:t>
            </a:r>
            <a:br>
              <a:rPr lang="ru-RU" dirty="0"/>
            </a:br>
            <a:r>
              <a:rPr lang="ru-RU" dirty="0"/>
              <a:t>Так как между ними нет </a:t>
            </a:r>
            <a:r>
              <a:rPr lang="ru-RU" sz="1200" kern="1200" dirty="0" err="1">
                <a:solidFill>
                  <a:schemeClr val="tx1"/>
                </a:solidFill>
                <a:latin typeface="+mn-lt"/>
                <a:ea typeface="+mn-ea"/>
                <a:cs typeface="+mn-cs"/>
              </a:rPr>
              <a:t>break</a:t>
            </a:r>
            <a:r>
              <a:rPr lang="ru-RU" dirty="0"/>
              <a:t>, управление «проваливается» вниз, пока не дойдёт до строки:</a:t>
            </a:r>
          </a:p>
          <a:p>
            <a:pPr rtl="0"/>
            <a:endParaRPr lang="ru-RU" sz="1200" kern="1200" dirty="0">
              <a:solidFill>
                <a:schemeClr val="tx1"/>
              </a:solidFill>
              <a:latin typeface="+mn-lt"/>
              <a:ea typeface="+mn-ea"/>
              <a:cs typeface="+mn-cs"/>
            </a:endParaRPr>
          </a:p>
          <a:p>
            <a:pPr rtl="0"/>
            <a:r>
              <a:rPr lang="ru-RU" sz="1200" kern="1200" dirty="0" err="1">
                <a:solidFill>
                  <a:schemeClr val="tx1"/>
                </a:solidFill>
                <a:latin typeface="+mn-lt"/>
                <a:ea typeface="+mn-ea"/>
                <a:cs typeface="+mn-cs"/>
              </a:rPr>
              <a:t>printf</a:t>
            </a:r>
            <a:r>
              <a:rPr lang="ru-RU" sz="1200" kern="1200" dirty="0">
                <a:solidFill>
                  <a:schemeClr val="tx1"/>
                </a:solidFill>
                <a:latin typeface="+mn-lt"/>
                <a:ea typeface="+mn-ea"/>
                <a:cs typeface="+mn-cs"/>
              </a:rPr>
              <a:t>("Гласная\n");</a:t>
            </a:r>
          </a:p>
          <a:p>
            <a:pPr rtl="0"/>
            <a:endParaRPr lang="ru-RU" sz="1200" kern="1200" dirty="0">
              <a:solidFill>
                <a:schemeClr val="tx1"/>
              </a:solidFill>
              <a:latin typeface="+mn-lt"/>
              <a:ea typeface="+mn-ea"/>
              <a:cs typeface="+mn-cs"/>
            </a:endParaRPr>
          </a:p>
          <a:p>
            <a:r>
              <a:rPr lang="ru-RU" dirty="0"/>
              <a:t>После этого выполняется </a:t>
            </a:r>
            <a:r>
              <a:rPr lang="ru-RU" sz="1200" kern="1200" dirty="0" err="1">
                <a:solidFill>
                  <a:schemeClr val="tx1"/>
                </a:solidFill>
                <a:latin typeface="+mn-lt"/>
                <a:ea typeface="+mn-ea"/>
                <a:cs typeface="+mn-cs"/>
              </a:rPr>
              <a:t>break</a:t>
            </a:r>
            <a:r>
              <a:rPr lang="ru-RU" dirty="0"/>
              <a:t>, и </a:t>
            </a:r>
            <a:r>
              <a:rPr lang="ru-RU" sz="1200" kern="1200" dirty="0" err="1">
                <a:solidFill>
                  <a:schemeClr val="tx1"/>
                </a:solidFill>
                <a:latin typeface="+mn-lt"/>
                <a:ea typeface="+mn-ea"/>
                <a:cs typeface="+mn-cs"/>
              </a:rPr>
              <a:t>switch</a:t>
            </a:r>
            <a:r>
              <a:rPr lang="ru-RU" dirty="0"/>
              <a:t> завершается. Теперь обратите внимание на ветку </a:t>
            </a:r>
            <a:r>
              <a:rPr lang="ru-RU" sz="1200" kern="1200" dirty="0" err="1">
                <a:solidFill>
                  <a:schemeClr val="tx1"/>
                </a:solidFill>
                <a:latin typeface="+mn-lt"/>
                <a:ea typeface="+mn-ea"/>
                <a:cs typeface="+mn-cs"/>
              </a:rPr>
              <a:t>default</a:t>
            </a:r>
            <a:r>
              <a:rPr lang="ru-RU" dirty="0"/>
              <a:t>. Если символ не совпал ни с одной гласной, выполнение начнётся с </a:t>
            </a:r>
            <a:r>
              <a:rPr lang="ru-RU" sz="1200" kern="1200" dirty="0" err="1">
                <a:solidFill>
                  <a:schemeClr val="tx1"/>
                </a:solidFill>
                <a:latin typeface="+mn-lt"/>
                <a:ea typeface="+mn-ea"/>
                <a:cs typeface="+mn-cs"/>
              </a:rPr>
              <a:t>default</a:t>
            </a:r>
            <a:r>
              <a:rPr lang="ru-RU" dirty="0"/>
              <a:t>, и будет выведено «Не гласная». </a:t>
            </a:r>
            <a:r>
              <a:rPr lang="ru-RU" sz="1200" kern="1200" dirty="0" err="1">
                <a:solidFill>
                  <a:schemeClr val="tx1"/>
                </a:solidFill>
                <a:latin typeface="+mn-lt"/>
                <a:ea typeface="+mn-ea"/>
                <a:cs typeface="+mn-cs"/>
              </a:rPr>
              <a:t>default</a:t>
            </a:r>
            <a:r>
              <a:rPr lang="ru-RU" dirty="0"/>
              <a:t> — это просто ещё одна метка в </a:t>
            </a:r>
            <a:r>
              <a:rPr lang="ru-RU" sz="1200" kern="1200" dirty="0" err="1">
                <a:solidFill>
                  <a:schemeClr val="tx1"/>
                </a:solidFill>
                <a:latin typeface="+mn-lt"/>
                <a:ea typeface="+mn-ea"/>
                <a:cs typeface="+mn-cs"/>
              </a:rPr>
              <a:t>switch</a:t>
            </a:r>
            <a:r>
              <a:rPr lang="ru-RU" dirty="0"/>
              <a:t>, и без </a:t>
            </a:r>
            <a:r>
              <a:rPr lang="ru-RU" sz="1200" kern="1200" dirty="0" err="1">
                <a:solidFill>
                  <a:schemeClr val="tx1"/>
                </a:solidFill>
                <a:latin typeface="+mn-lt"/>
                <a:ea typeface="+mn-ea"/>
                <a:cs typeface="+mn-cs"/>
              </a:rPr>
              <a:t>break</a:t>
            </a:r>
            <a:r>
              <a:rPr lang="ru-RU" dirty="0"/>
              <a:t> управление продолжает выполняться дальше.</a:t>
            </a:r>
          </a:p>
          <a:p>
            <a:r>
              <a:rPr lang="ru-RU" dirty="0"/>
              <a:t>Поэтому выполнение продолжится дальше — к </a:t>
            </a:r>
            <a:r>
              <a:rPr lang="ru-RU" sz="1200" kern="1200" dirty="0" err="1">
                <a:solidFill>
                  <a:schemeClr val="tx1"/>
                </a:solidFill>
                <a:latin typeface="+mn-lt"/>
                <a:ea typeface="+mn-ea"/>
                <a:cs typeface="+mn-cs"/>
              </a:rPr>
              <a:t>case</a:t>
            </a:r>
            <a:r>
              <a:rPr lang="ru-RU" sz="1200" kern="1200" dirty="0">
                <a:solidFill>
                  <a:schemeClr val="tx1"/>
                </a:solidFill>
                <a:latin typeface="+mn-lt"/>
                <a:ea typeface="+mn-ea"/>
                <a:cs typeface="+mn-cs"/>
              </a:rPr>
              <a:t> EOF</a:t>
            </a:r>
            <a:r>
              <a:rPr lang="ru-RU" dirty="0"/>
              <a:t>. А в </a:t>
            </a:r>
            <a:r>
              <a:rPr lang="ru-RU" sz="1200" kern="1200" dirty="0" err="1">
                <a:solidFill>
                  <a:schemeClr val="tx1"/>
                </a:solidFill>
                <a:latin typeface="+mn-lt"/>
                <a:ea typeface="+mn-ea"/>
                <a:cs typeface="+mn-cs"/>
              </a:rPr>
              <a:t>case</a:t>
            </a:r>
            <a:r>
              <a:rPr lang="ru-RU" sz="1200" kern="1200" dirty="0">
                <a:solidFill>
                  <a:schemeClr val="tx1"/>
                </a:solidFill>
                <a:latin typeface="+mn-lt"/>
                <a:ea typeface="+mn-ea"/>
                <a:cs typeface="+mn-cs"/>
              </a:rPr>
              <a:t> EOF</a:t>
            </a:r>
            <a:r>
              <a:rPr lang="ru-RU" dirty="0"/>
              <a:t> ничего не происходит.</a:t>
            </a:r>
          </a:p>
          <a:p>
            <a:r>
              <a:rPr lang="ru-RU" dirty="0"/>
              <a:t>Таким образом:</a:t>
            </a:r>
          </a:p>
          <a:p>
            <a:pPr marL="228600" indent="-228600">
              <a:buFont typeface="+mj-lt"/>
              <a:buAutoNum type="arabicPeriod"/>
            </a:pPr>
            <a:r>
              <a:rPr lang="ru-RU" dirty="0"/>
              <a:t>если введена гласная — выводится «Гласная»</a:t>
            </a:r>
          </a:p>
          <a:p>
            <a:pPr marL="228600" indent="-228600">
              <a:buFont typeface="+mj-lt"/>
              <a:buAutoNum type="arabicPeriod"/>
            </a:pPr>
            <a:r>
              <a:rPr lang="ru-RU" dirty="0"/>
              <a:t>если введена согласная — выводится «Согласная»</a:t>
            </a:r>
          </a:p>
          <a:p>
            <a:pPr marL="228600" indent="-228600">
              <a:buFont typeface="+mj-lt"/>
              <a:buAutoNum type="arabicPeriod"/>
            </a:pPr>
            <a:r>
              <a:rPr lang="ru-RU" dirty="0"/>
              <a:t>если получен </a:t>
            </a:r>
            <a:r>
              <a:rPr lang="ru-RU" sz="1200" kern="1200" dirty="0">
                <a:solidFill>
                  <a:schemeClr val="tx1"/>
                </a:solidFill>
                <a:latin typeface="+mn-lt"/>
                <a:ea typeface="+mn-ea"/>
                <a:cs typeface="+mn-cs"/>
              </a:rPr>
              <a:t>EOF</a:t>
            </a:r>
            <a:r>
              <a:rPr lang="ru-RU" dirty="0"/>
              <a:t> — не выводится ничего</a:t>
            </a:r>
          </a:p>
          <a:p>
            <a:r>
              <a:rPr lang="ru-RU" dirty="0"/>
              <a:t>Здесь </a:t>
            </a:r>
            <a:r>
              <a:rPr lang="ru-RU" dirty="0" err="1"/>
              <a:t>fallthrough</a:t>
            </a:r>
            <a:r>
              <a:rPr lang="ru-RU" dirty="0"/>
              <a:t> используется сознательно: мы позволяем </a:t>
            </a:r>
            <a:r>
              <a:rPr lang="ru-RU" sz="1200" kern="1200" dirty="0" err="1">
                <a:solidFill>
                  <a:schemeClr val="tx1"/>
                </a:solidFill>
                <a:latin typeface="+mn-lt"/>
                <a:ea typeface="+mn-ea"/>
                <a:cs typeface="+mn-cs"/>
              </a:rPr>
              <a:t>default</a:t>
            </a:r>
            <a:r>
              <a:rPr lang="ru-RU" dirty="0"/>
              <a:t> «дотечь» до </a:t>
            </a:r>
            <a:r>
              <a:rPr lang="ru-RU" sz="1200" kern="1200" dirty="0" err="1">
                <a:solidFill>
                  <a:schemeClr val="tx1"/>
                </a:solidFill>
                <a:latin typeface="+mn-lt"/>
                <a:ea typeface="+mn-ea"/>
                <a:cs typeface="+mn-cs"/>
              </a:rPr>
              <a:t>case</a:t>
            </a:r>
            <a:r>
              <a:rPr lang="ru-RU" sz="1200" kern="1200" dirty="0">
                <a:solidFill>
                  <a:schemeClr val="tx1"/>
                </a:solidFill>
                <a:latin typeface="+mn-lt"/>
                <a:ea typeface="+mn-ea"/>
                <a:cs typeface="+mn-cs"/>
              </a:rPr>
              <a:t> EOF</a:t>
            </a:r>
            <a:r>
              <a:rPr lang="ru-RU" dirty="0"/>
              <a:t>, чтобы не дублировать </a:t>
            </a:r>
            <a:r>
              <a:rPr lang="ru-RU" sz="1200" kern="1200" dirty="0" err="1">
                <a:solidFill>
                  <a:schemeClr val="tx1"/>
                </a:solidFill>
                <a:latin typeface="+mn-lt"/>
                <a:ea typeface="+mn-ea"/>
                <a:cs typeface="+mn-cs"/>
              </a:rPr>
              <a:t>break</a:t>
            </a:r>
            <a:r>
              <a:rPr lang="ru-RU" dirty="0"/>
              <a:t>. Это пример того, что </a:t>
            </a:r>
            <a:r>
              <a:rPr lang="ru-RU" dirty="0" err="1"/>
              <a:t>fallthrough</a:t>
            </a:r>
            <a:r>
              <a:rPr lang="ru-RU" dirty="0"/>
              <a:t> — не всегда ошибка.</a:t>
            </a:r>
            <a:br>
              <a:rPr lang="ru-RU" dirty="0"/>
            </a:br>
            <a:r>
              <a:rPr lang="ru-RU" dirty="0"/>
              <a:t>Иногда это инструмент, который делает код компактнее.</a:t>
            </a:r>
          </a:p>
          <a:p>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16</a:t>
            </a:fld>
            <a:endParaRPr lang="en-US"/>
          </a:p>
        </p:txBody>
      </p:sp>
    </p:spTree>
    <p:extLst>
      <p:ext uri="{BB962C8B-B14F-4D97-AF65-F5344CB8AC3E}">
        <p14:creationId xmlns:p14="http://schemas.microsoft.com/office/powerpoint/2010/main" val="20563972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kern="1200" dirty="0" err="1">
                <a:solidFill>
                  <a:schemeClr val="tx1"/>
                </a:solidFill>
                <a:latin typeface="+mn-lt"/>
                <a:ea typeface="+mn-ea"/>
                <a:cs typeface="+mn-cs"/>
              </a:rPr>
              <a:t>switch</a:t>
            </a:r>
            <a:r>
              <a:rPr lang="ru-RU" dirty="0"/>
              <a:t> не является универсальной заменой </a:t>
            </a:r>
            <a:r>
              <a:rPr lang="ru-RU" sz="1200" kern="1200" dirty="0" err="1">
                <a:solidFill>
                  <a:schemeClr val="tx1"/>
                </a:solidFill>
                <a:latin typeface="+mn-lt"/>
                <a:ea typeface="+mn-ea"/>
                <a:cs typeface="+mn-cs"/>
              </a:rPr>
              <a:t>if</a:t>
            </a:r>
            <a:r>
              <a:rPr lang="ru-RU" dirty="0"/>
              <a:t>.</a:t>
            </a:r>
          </a:p>
          <a:p>
            <a:r>
              <a:rPr lang="ru-RU" dirty="0"/>
              <a:t>Он работает только с целочисленными типами:</a:t>
            </a:r>
            <a:br>
              <a:rPr lang="ru-RU" dirty="0"/>
            </a:br>
            <a:r>
              <a:rPr lang="ru-RU" sz="1200" kern="1200" dirty="0" err="1">
                <a:solidFill>
                  <a:schemeClr val="tx1"/>
                </a:solidFill>
                <a:latin typeface="+mn-lt"/>
                <a:ea typeface="+mn-ea"/>
                <a:cs typeface="+mn-cs"/>
              </a:rPr>
              <a:t>int</a:t>
            </a:r>
            <a:r>
              <a:rPr lang="ru-RU" dirty="0"/>
              <a:t>, </a:t>
            </a:r>
            <a:r>
              <a:rPr lang="ru-RU" sz="1200" kern="1200" dirty="0" err="1">
                <a:solidFill>
                  <a:schemeClr val="tx1"/>
                </a:solidFill>
                <a:latin typeface="+mn-lt"/>
                <a:ea typeface="+mn-ea"/>
                <a:cs typeface="+mn-cs"/>
              </a:rPr>
              <a:t>char</a:t>
            </a:r>
            <a:r>
              <a:rPr lang="ru-RU" dirty="0"/>
              <a:t>, </a:t>
            </a:r>
            <a:r>
              <a:rPr lang="ru-RU" sz="1200" kern="1200" dirty="0" err="1">
                <a:solidFill>
                  <a:schemeClr val="tx1"/>
                </a:solidFill>
                <a:latin typeface="+mn-lt"/>
                <a:ea typeface="+mn-ea"/>
                <a:cs typeface="+mn-cs"/>
              </a:rPr>
              <a:t>enum</a:t>
            </a:r>
            <a:r>
              <a:rPr lang="ru-RU" dirty="0"/>
              <a:t> и подобными.</a:t>
            </a:r>
          </a:p>
          <a:p>
            <a:r>
              <a:rPr lang="ru-RU" dirty="0"/>
              <a:t>Значения в </a:t>
            </a:r>
            <a:r>
              <a:rPr lang="ru-RU" sz="1200" kern="1200" dirty="0" err="1">
                <a:solidFill>
                  <a:schemeClr val="tx1"/>
                </a:solidFill>
                <a:latin typeface="+mn-lt"/>
                <a:ea typeface="+mn-ea"/>
                <a:cs typeface="+mn-cs"/>
              </a:rPr>
              <a:t>case</a:t>
            </a:r>
            <a:r>
              <a:rPr lang="ru-RU" dirty="0"/>
              <a:t> должны быть известны на этапе компиляции.</a:t>
            </a:r>
            <a:br>
              <a:rPr lang="ru-RU" dirty="0"/>
            </a:br>
            <a:r>
              <a:rPr lang="ru-RU" dirty="0"/>
              <a:t>Переменные использовать нельзя.</a:t>
            </a:r>
          </a:p>
          <a:p>
            <a:r>
              <a:rPr lang="ru-RU" dirty="0"/>
              <a:t>Также нельзя писать диапазоны вроде «от 1 до 10».</a:t>
            </a:r>
          </a:p>
          <a:p>
            <a:r>
              <a:rPr lang="ru-RU" dirty="0"/>
              <a:t>Если нужны сложные условия — сравнения больше, меньше, логические операции — используем </a:t>
            </a:r>
            <a:r>
              <a:rPr lang="ru-RU" sz="1200" kern="1200" dirty="0" err="1">
                <a:solidFill>
                  <a:schemeClr val="tx1"/>
                </a:solidFill>
                <a:latin typeface="+mn-lt"/>
                <a:ea typeface="+mn-ea"/>
                <a:cs typeface="+mn-cs"/>
              </a:rPr>
              <a:t>if</a:t>
            </a:r>
            <a:r>
              <a:rPr lang="ru-RU" dirty="0"/>
              <a:t>.</a:t>
            </a:r>
          </a:p>
          <a:p>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17</a:t>
            </a:fld>
            <a:endParaRPr lang="en-US"/>
          </a:p>
        </p:txBody>
      </p:sp>
    </p:spTree>
    <p:extLst>
      <p:ext uri="{BB962C8B-B14F-4D97-AF65-F5344CB8AC3E}">
        <p14:creationId xmlns:p14="http://schemas.microsoft.com/office/powerpoint/2010/main" val="36180840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kern="1200" dirty="0" err="1">
                <a:solidFill>
                  <a:schemeClr val="tx1"/>
                </a:solidFill>
                <a:latin typeface="+mn-lt"/>
                <a:ea typeface="+mn-ea"/>
                <a:cs typeface="+mn-cs"/>
              </a:rPr>
              <a:t>switch</a:t>
            </a:r>
            <a:r>
              <a:rPr lang="ru-RU" dirty="0"/>
              <a:t> удобен, когда у нас есть дискретный набор значений.</a:t>
            </a:r>
          </a:p>
          <a:p>
            <a:r>
              <a:rPr lang="ru-RU" dirty="0"/>
              <a:t>Например: меню, команды, коды состояний.</a:t>
            </a:r>
          </a:p>
          <a:p>
            <a:r>
              <a:rPr lang="ru-RU" dirty="0"/>
              <a:t>Если же нужно проверить диапазон — например, </a:t>
            </a:r>
            <a:r>
              <a:rPr lang="ru-RU" sz="1200" kern="1200" dirty="0">
                <a:solidFill>
                  <a:schemeClr val="tx1"/>
                </a:solidFill>
                <a:latin typeface="+mn-lt"/>
                <a:ea typeface="+mn-ea"/>
                <a:cs typeface="+mn-cs"/>
              </a:rPr>
              <a:t>x &gt; 0 &amp;&amp; x &lt; 10</a:t>
            </a:r>
            <a:r>
              <a:rPr lang="ru-RU" dirty="0"/>
              <a:t> —</a:t>
            </a:r>
            <a:br>
              <a:rPr lang="ru-RU" dirty="0"/>
            </a:br>
            <a:r>
              <a:rPr lang="ru-RU" sz="1200" kern="1200" dirty="0" err="1">
                <a:solidFill>
                  <a:schemeClr val="tx1"/>
                </a:solidFill>
                <a:latin typeface="+mn-lt"/>
                <a:ea typeface="+mn-ea"/>
                <a:cs typeface="+mn-cs"/>
              </a:rPr>
              <a:t>switch</a:t>
            </a:r>
            <a:r>
              <a:rPr lang="ru-RU" dirty="0"/>
              <a:t> не подходит.</a:t>
            </a:r>
          </a:p>
          <a:p>
            <a:r>
              <a:rPr lang="ru-RU" dirty="0"/>
              <a:t>В этом случае остаётся </a:t>
            </a:r>
            <a:r>
              <a:rPr lang="ru-RU" sz="1200" kern="1200" dirty="0" err="1">
                <a:solidFill>
                  <a:schemeClr val="tx1"/>
                </a:solidFill>
                <a:latin typeface="+mn-lt"/>
                <a:ea typeface="+mn-ea"/>
                <a:cs typeface="+mn-cs"/>
              </a:rPr>
              <a:t>if</a:t>
            </a:r>
            <a:r>
              <a:rPr lang="ru-RU" dirty="0"/>
              <a:t>.</a:t>
            </a:r>
          </a:p>
          <a:p>
            <a:r>
              <a:rPr lang="ru-RU" dirty="0"/>
              <a:t>Важно выбирать конструкцию, которая делает код понятнее.</a:t>
            </a:r>
          </a:p>
          <a:p>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18</a:t>
            </a:fld>
            <a:endParaRPr lang="en-US"/>
          </a:p>
        </p:txBody>
      </p:sp>
    </p:spTree>
    <p:extLst>
      <p:ext uri="{BB962C8B-B14F-4D97-AF65-F5344CB8AC3E}">
        <p14:creationId xmlns:p14="http://schemas.microsoft.com/office/powerpoint/2010/main" val="26088036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Здесь особенно важно не разбирать каждую инструкцию, а увидеть </a:t>
            </a:r>
            <a:r>
              <a:rPr lang="ru-RU" i="1" dirty="0"/>
              <a:t>идею оптимизации</a:t>
            </a:r>
            <a:r>
              <a:rPr lang="ru-RU" dirty="0"/>
              <a:t>. В языке C значения в </a:t>
            </a:r>
            <a:r>
              <a:rPr lang="ru-RU" sz="1200" kern="1200" dirty="0" err="1">
                <a:solidFill>
                  <a:schemeClr val="tx1"/>
                </a:solidFill>
                <a:latin typeface="+mn-lt"/>
                <a:ea typeface="+mn-ea"/>
                <a:cs typeface="+mn-cs"/>
              </a:rPr>
              <a:t>case</a:t>
            </a:r>
            <a:r>
              <a:rPr lang="ru-RU" dirty="0"/>
              <a:t> обязаны быть </a:t>
            </a:r>
            <a:r>
              <a:rPr lang="ru-RU" b="1" dirty="0"/>
              <a:t>константами времени компиляции</a:t>
            </a:r>
            <a:r>
              <a:rPr lang="ru-RU" dirty="0"/>
              <a:t>. Именно это ограничение даёт компилятору возможность сгенерировать максимально эффективный код.</a:t>
            </a:r>
          </a:p>
          <a:p>
            <a:endParaRPr lang="ru-RU" dirty="0"/>
          </a:p>
          <a:p>
            <a:r>
              <a:rPr lang="ru-RU" dirty="0"/>
              <a:t>Посмотрите, что происходит. Сначала проверяется случай </a:t>
            </a:r>
            <a:r>
              <a:rPr lang="ru-RU" sz="1200" kern="1200" dirty="0">
                <a:solidFill>
                  <a:schemeClr val="tx1"/>
                </a:solidFill>
                <a:latin typeface="+mn-lt"/>
                <a:ea typeface="+mn-ea"/>
                <a:cs typeface="+mn-cs"/>
              </a:rPr>
              <a:t>EOF</a:t>
            </a:r>
            <a:r>
              <a:rPr lang="ru-RU" dirty="0"/>
              <a:t>. Затем из кода символа вычитается 97 — это код буквы </a:t>
            </a:r>
            <a:r>
              <a:rPr lang="ru-RU" sz="1200" kern="1200" dirty="0">
                <a:solidFill>
                  <a:schemeClr val="tx1"/>
                </a:solidFill>
                <a:latin typeface="+mn-lt"/>
                <a:ea typeface="+mn-ea"/>
                <a:cs typeface="+mn-cs"/>
              </a:rPr>
              <a:t>'a'</a:t>
            </a:r>
            <a:r>
              <a:rPr lang="ru-RU" dirty="0"/>
              <a:t>, то есть компилятор фактически переводит символ в порядковый номер относительно </a:t>
            </a:r>
            <a:r>
              <a:rPr lang="ru-RU" sz="1200" kern="1200" dirty="0">
                <a:solidFill>
                  <a:schemeClr val="tx1"/>
                </a:solidFill>
                <a:latin typeface="+mn-lt"/>
                <a:ea typeface="+mn-ea"/>
                <a:cs typeface="+mn-cs"/>
              </a:rPr>
              <a:t>'a'</a:t>
            </a:r>
            <a:r>
              <a:rPr lang="ru-RU" dirty="0"/>
              <a:t>. После этого выполняется проверка диапазона, чтобы убедиться, что символ лежит в пределах букв.</a:t>
            </a:r>
          </a:p>
          <a:p>
            <a:endParaRPr lang="ru-RU" dirty="0"/>
          </a:p>
          <a:p>
            <a:r>
              <a:rPr lang="ru-RU" dirty="0"/>
              <a:t>Далее используется инструкция </a:t>
            </a:r>
            <a:r>
              <a:rPr lang="ru-RU" sz="1200" kern="1200" dirty="0" err="1">
                <a:solidFill>
                  <a:schemeClr val="tx1"/>
                </a:solidFill>
                <a:latin typeface="+mn-lt"/>
                <a:ea typeface="+mn-ea"/>
                <a:cs typeface="+mn-cs"/>
              </a:rPr>
              <a:t>bt</a:t>
            </a:r>
            <a:r>
              <a:rPr lang="ru-RU" dirty="0"/>
              <a:t> — </a:t>
            </a:r>
            <a:r>
              <a:rPr lang="ru-RU" i="1" dirty="0" err="1"/>
              <a:t>bit</a:t>
            </a:r>
            <a:r>
              <a:rPr lang="ru-RU" i="1" dirty="0"/>
              <a:t> </a:t>
            </a:r>
            <a:r>
              <a:rPr lang="ru-RU" i="1" dirty="0" err="1"/>
              <a:t>test</a:t>
            </a:r>
            <a:r>
              <a:rPr lang="ru-RU" dirty="0"/>
              <a:t>. В регистре </a:t>
            </a:r>
            <a:r>
              <a:rPr lang="ru-RU" sz="1200" kern="1200" dirty="0" err="1">
                <a:solidFill>
                  <a:schemeClr val="tx1"/>
                </a:solidFill>
                <a:latin typeface="+mn-lt"/>
                <a:ea typeface="+mn-ea"/>
                <a:cs typeface="+mn-cs"/>
              </a:rPr>
              <a:t>edx</a:t>
            </a:r>
            <a:r>
              <a:rPr lang="ru-RU" dirty="0"/>
              <a:t> заранее зашита битовая маска, где установлены биты, соответствующие гласным буквам. Инструкция </a:t>
            </a:r>
            <a:r>
              <a:rPr lang="ru-RU" sz="1200" kern="1200" dirty="0" err="1">
                <a:solidFill>
                  <a:schemeClr val="tx1"/>
                </a:solidFill>
                <a:latin typeface="+mn-lt"/>
                <a:ea typeface="+mn-ea"/>
                <a:cs typeface="+mn-cs"/>
              </a:rPr>
              <a:t>bt</a:t>
            </a:r>
            <a:r>
              <a:rPr lang="ru-RU" sz="1200" kern="1200" dirty="0">
                <a:solidFill>
                  <a:schemeClr val="tx1"/>
                </a:solidFill>
                <a:latin typeface="+mn-lt"/>
                <a:ea typeface="+mn-ea"/>
                <a:cs typeface="+mn-cs"/>
              </a:rPr>
              <a:t> </a:t>
            </a:r>
            <a:r>
              <a:rPr lang="ru-RU" sz="1200" kern="1200" dirty="0" err="1">
                <a:solidFill>
                  <a:schemeClr val="tx1"/>
                </a:solidFill>
                <a:latin typeface="+mn-lt"/>
                <a:ea typeface="+mn-ea"/>
                <a:cs typeface="+mn-cs"/>
              </a:rPr>
              <a:t>rdx</a:t>
            </a:r>
            <a:r>
              <a:rPr lang="ru-RU" sz="1200" kern="1200" dirty="0">
                <a:solidFill>
                  <a:schemeClr val="tx1"/>
                </a:solidFill>
                <a:latin typeface="+mn-lt"/>
                <a:ea typeface="+mn-ea"/>
                <a:cs typeface="+mn-cs"/>
              </a:rPr>
              <a:t>, </a:t>
            </a:r>
            <a:r>
              <a:rPr lang="ru-RU" sz="1200" kern="1200" dirty="0" err="1">
                <a:solidFill>
                  <a:schemeClr val="tx1"/>
                </a:solidFill>
                <a:latin typeface="+mn-lt"/>
                <a:ea typeface="+mn-ea"/>
                <a:cs typeface="+mn-cs"/>
              </a:rPr>
              <a:t>rax</a:t>
            </a:r>
            <a:r>
              <a:rPr lang="ru-RU" dirty="0"/>
              <a:t> проверяет, установлен ли бит с номером </a:t>
            </a:r>
            <a:r>
              <a:rPr lang="ru-RU" sz="1200" kern="1200" dirty="0" err="1">
                <a:solidFill>
                  <a:schemeClr val="tx1"/>
                </a:solidFill>
                <a:latin typeface="+mn-lt"/>
                <a:ea typeface="+mn-ea"/>
                <a:cs typeface="+mn-cs"/>
              </a:rPr>
              <a:t>rax</a:t>
            </a:r>
            <a:r>
              <a:rPr lang="ru-RU" dirty="0"/>
              <a:t>. Если бит установлен, выполняется переход к печати </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vowel</a:t>
            </a:r>
            <a:r>
              <a:rPr lang="ru-RU" sz="1200" kern="1200" dirty="0">
                <a:solidFill>
                  <a:schemeClr val="tx1"/>
                </a:solidFill>
                <a:latin typeface="+mn-lt"/>
                <a:ea typeface="+mn-ea"/>
                <a:cs typeface="+mn-cs"/>
              </a:rPr>
              <a:t>"</a:t>
            </a:r>
            <a:r>
              <a:rPr lang="ru-RU" dirty="0"/>
              <a:t>.</a:t>
            </a:r>
          </a:p>
          <a:p>
            <a:endParaRPr lang="ru-RU" dirty="0"/>
          </a:p>
          <a:p>
            <a:r>
              <a:rPr lang="ru-RU" dirty="0"/>
              <a:t>Таким образом проверка «гласная или нет» выполняется буквально несколькими машинными инструкциями — без последовательных сравнений, без длинной цепочки переходов.</a:t>
            </a:r>
          </a:p>
          <a:p>
            <a:endParaRPr lang="ru-RU" dirty="0"/>
          </a:p>
          <a:p>
            <a:r>
              <a:rPr lang="ru-RU" dirty="0"/>
              <a:t>И это возможно именно потому, что значения </a:t>
            </a:r>
            <a:r>
              <a:rPr lang="ru-RU" sz="1200" kern="1200" dirty="0" err="1">
                <a:solidFill>
                  <a:schemeClr val="tx1"/>
                </a:solidFill>
                <a:latin typeface="+mn-lt"/>
                <a:ea typeface="+mn-ea"/>
                <a:cs typeface="+mn-cs"/>
              </a:rPr>
              <a:t>case</a:t>
            </a:r>
            <a:r>
              <a:rPr lang="ru-RU" dirty="0"/>
              <a:t> известны на этапе компиляции. Если бы </a:t>
            </a:r>
            <a:r>
              <a:rPr lang="ru-RU" sz="1200" kern="1200" dirty="0" err="1">
                <a:solidFill>
                  <a:schemeClr val="tx1"/>
                </a:solidFill>
                <a:latin typeface="+mn-lt"/>
                <a:ea typeface="+mn-ea"/>
                <a:cs typeface="+mn-cs"/>
              </a:rPr>
              <a:t>case</a:t>
            </a:r>
            <a:r>
              <a:rPr lang="ru-RU" dirty="0"/>
              <a:t> могли быть переменными или произвольными выражениями, компилятор не смог бы построить такую компактную и эффективную структуру. Это хороший пример того, как ограничения языка позволяют генерировать быстрый машинный код.</a:t>
            </a:r>
          </a:p>
          <a:p>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19</a:t>
            </a:fld>
            <a:endParaRPr lang="en-US"/>
          </a:p>
        </p:txBody>
      </p:sp>
    </p:spTree>
    <p:extLst>
      <p:ext uri="{BB962C8B-B14F-4D97-AF65-F5344CB8AC3E}">
        <p14:creationId xmlns:p14="http://schemas.microsoft.com/office/powerpoint/2010/main" val="14257703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Итак, </a:t>
            </a:r>
            <a:r>
              <a:rPr lang="ru-RU" sz="1200" kern="1200" dirty="0" err="1">
                <a:solidFill>
                  <a:schemeClr val="tx1"/>
                </a:solidFill>
                <a:latin typeface="+mn-lt"/>
                <a:ea typeface="+mn-ea"/>
                <a:cs typeface="+mn-cs"/>
              </a:rPr>
              <a:t>switch</a:t>
            </a:r>
            <a:r>
              <a:rPr lang="ru-RU" dirty="0"/>
              <a:t> — это конструкция выбора из набора значений.</a:t>
            </a:r>
          </a:p>
          <a:p>
            <a:r>
              <a:rPr lang="ru-RU" dirty="0"/>
              <a:t>Она делает код компактнее по сравнению с длинной цепочкой </a:t>
            </a:r>
            <a:r>
              <a:rPr lang="ru-RU" sz="1200" kern="1200" dirty="0" err="1">
                <a:solidFill>
                  <a:schemeClr val="tx1"/>
                </a:solidFill>
                <a:latin typeface="+mn-lt"/>
                <a:ea typeface="+mn-ea"/>
                <a:cs typeface="+mn-cs"/>
              </a:rPr>
              <a:t>if</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else</a:t>
            </a:r>
            <a:r>
              <a:rPr lang="ru-RU" dirty="0"/>
              <a:t>.</a:t>
            </a:r>
          </a:p>
          <a:p>
            <a:r>
              <a:rPr lang="ru-RU" dirty="0"/>
              <a:t>Но нужно помнить про </a:t>
            </a:r>
            <a:r>
              <a:rPr lang="ru-RU" sz="1200" kern="1200" dirty="0" err="1">
                <a:solidFill>
                  <a:schemeClr val="tx1"/>
                </a:solidFill>
                <a:latin typeface="+mn-lt"/>
                <a:ea typeface="+mn-ea"/>
                <a:cs typeface="+mn-cs"/>
              </a:rPr>
              <a:t>break</a:t>
            </a:r>
            <a:br>
              <a:rPr lang="ru-RU" dirty="0"/>
            </a:br>
            <a:r>
              <a:rPr lang="ru-RU" dirty="0"/>
              <a:t>и понимать ограничения этой конструкции.</a:t>
            </a:r>
          </a:p>
          <a:p>
            <a:r>
              <a:rPr lang="ru-RU" dirty="0"/>
              <a:t>Теперь у вас есть два инструмента ветвления:</a:t>
            </a:r>
            <a:br>
              <a:rPr lang="ru-RU" dirty="0"/>
            </a:br>
            <a:r>
              <a:rPr lang="ru-RU" dirty="0"/>
              <a:t>гибкий </a:t>
            </a:r>
            <a:r>
              <a:rPr lang="ru-RU" sz="1200" kern="1200" dirty="0" err="1">
                <a:solidFill>
                  <a:schemeClr val="tx1"/>
                </a:solidFill>
                <a:latin typeface="+mn-lt"/>
                <a:ea typeface="+mn-ea"/>
                <a:cs typeface="+mn-cs"/>
              </a:rPr>
              <a:t>if</a:t>
            </a:r>
            <a:r>
              <a:rPr lang="ru-RU" dirty="0"/>
              <a:t> и структурированный </a:t>
            </a:r>
            <a:r>
              <a:rPr lang="ru-RU" sz="1200" kern="1200" dirty="0" err="1">
                <a:solidFill>
                  <a:schemeClr val="tx1"/>
                </a:solidFill>
                <a:latin typeface="+mn-lt"/>
                <a:ea typeface="+mn-ea"/>
                <a:cs typeface="+mn-cs"/>
              </a:rPr>
              <a:t>switch</a:t>
            </a:r>
            <a:r>
              <a:rPr lang="ru-RU" dirty="0"/>
              <a:t>.</a:t>
            </a:r>
          </a:p>
          <a:p>
            <a:r>
              <a:rPr lang="ru-RU" dirty="0"/>
              <a:t>Следующий шаг — циклы </a:t>
            </a:r>
            <a:r>
              <a:rPr lang="ru-RU" sz="1200" kern="1200" dirty="0" err="1">
                <a:solidFill>
                  <a:schemeClr val="tx1"/>
                </a:solidFill>
                <a:latin typeface="+mn-lt"/>
                <a:ea typeface="+mn-ea"/>
                <a:cs typeface="+mn-cs"/>
              </a:rPr>
              <a:t>for</a:t>
            </a:r>
            <a:r>
              <a:rPr lang="ru-RU" dirty="0"/>
              <a:t> и </a:t>
            </a:r>
            <a:r>
              <a:rPr lang="ru-RU" sz="1200" kern="1200" dirty="0" err="1">
                <a:solidFill>
                  <a:schemeClr val="tx1"/>
                </a:solidFill>
                <a:latin typeface="+mn-lt"/>
                <a:ea typeface="+mn-ea"/>
                <a:cs typeface="+mn-cs"/>
              </a:rPr>
              <a:t>do-while</a:t>
            </a:r>
            <a:r>
              <a:rPr lang="ru-RU" dirty="0"/>
              <a:t>, которые позволят повторять действия.</a:t>
            </a:r>
          </a:p>
          <a:p>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20</a:t>
            </a:fld>
            <a:endParaRPr lang="en-US"/>
          </a:p>
        </p:txBody>
      </p:sp>
    </p:spTree>
    <p:extLst>
      <p:ext uri="{BB962C8B-B14F-4D97-AF65-F5344CB8AC3E}">
        <p14:creationId xmlns:p14="http://schemas.microsoft.com/office/powerpoint/2010/main" val="20014093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B945CA0-E94A-4FB7-A4CA-C1968BB52B92}" type="slidenum">
              <a:rPr lang="en-US" smtClean="0"/>
              <a:t>21</a:t>
            </a:fld>
            <a:endParaRPr lang="en-US"/>
          </a:p>
        </p:txBody>
      </p:sp>
    </p:spTree>
    <p:extLst>
      <p:ext uri="{BB962C8B-B14F-4D97-AF65-F5344CB8AC3E}">
        <p14:creationId xmlns:p14="http://schemas.microsoft.com/office/powerpoint/2010/main" val="28583003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B945CA0-E94A-4FB7-A4CA-C1968BB52B92}" type="slidenum">
              <a:rPr lang="en-US" smtClean="0"/>
              <a:t>22</a:t>
            </a:fld>
            <a:endParaRPr lang="en-US"/>
          </a:p>
        </p:txBody>
      </p:sp>
    </p:spTree>
    <p:extLst>
      <p:ext uri="{BB962C8B-B14F-4D97-AF65-F5344CB8AC3E}">
        <p14:creationId xmlns:p14="http://schemas.microsoft.com/office/powerpoint/2010/main" val="40357679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1"/>
              <a:t>🎤 Текст докладчика — слайд «Цикл while на ассемблере» (кратко)</a:t>
            </a:r>
          </a:p>
          <a:p>
            <a:r>
              <a:rPr lang="ru-RU"/>
              <a:t>Здесь </a:t>
            </a:r>
            <a:r>
              <a:rPr lang="ru-RU" dirty="0"/>
              <a:t>нам важно увидеть не детали вызовов функций, а </a:t>
            </a:r>
            <a:r>
              <a:rPr lang="ru-RU" b="1" dirty="0"/>
              <a:t>управляющие инструкции</a:t>
            </a:r>
            <a:r>
              <a:rPr lang="ru-RU" dirty="0"/>
              <a:t>. На уровне процессора цикла </a:t>
            </a:r>
            <a:r>
              <a:rPr lang="ru-RU" sz="1200" kern="1200" dirty="0" err="1">
                <a:solidFill>
                  <a:schemeClr val="tx1"/>
                </a:solidFill>
                <a:latin typeface="+mn-lt"/>
                <a:ea typeface="+mn-ea"/>
                <a:cs typeface="+mn-cs"/>
              </a:rPr>
              <a:t>while</a:t>
            </a:r>
            <a:r>
              <a:rPr lang="ru-RU" dirty="0"/>
              <a:t> не существует. Есть только сравнение и переходы.</a:t>
            </a:r>
          </a:p>
          <a:p>
            <a:endParaRPr lang="ru-RU" dirty="0"/>
          </a:p>
          <a:p>
            <a:r>
              <a:rPr lang="ru-RU" dirty="0"/>
              <a:t>Сначала выполняется переход к метке проверки условия. Затем вызывается </a:t>
            </a:r>
            <a:r>
              <a:rPr lang="ru-RU" sz="1200" kern="1200" dirty="0" err="1">
                <a:solidFill>
                  <a:schemeClr val="tx1"/>
                </a:solidFill>
                <a:latin typeface="+mn-lt"/>
                <a:ea typeface="+mn-ea"/>
                <a:cs typeface="+mn-cs"/>
              </a:rPr>
              <a:t>getc</a:t>
            </a:r>
            <a:r>
              <a:rPr lang="ru-RU" dirty="0"/>
              <a:t>, результат помещается в регистр </a:t>
            </a:r>
            <a:r>
              <a:rPr lang="ru-RU" sz="1200" kern="1200" dirty="0" err="1">
                <a:solidFill>
                  <a:schemeClr val="tx1"/>
                </a:solidFill>
                <a:latin typeface="+mn-lt"/>
                <a:ea typeface="+mn-ea"/>
                <a:cs typeface="+mn-cs"/>
              </a:rPr>
              <a:t>eax</a:t>
            </a:r>
            <a:r>
              <a:rPr lang="ru-RU" dirty="0"/>
              <a:t>, и выполняется инструкция </a:t>
            </a:r>
            <a:r>
              <a:rPr lang="ru-RU" sz="1200" kern="1200" dirty="0" err="1">
                <a:solidFill>
                  <a:schemeClr val="tx1"/>
                </a:solidFill>
                <a:latin typeface="+mn-lt"/>
                <a:ea typeface="+mn-ea"/>
                <a:cs typeface="+mn-cs"/>
              </a:rPr>
              <a:t>cmp</a:t>
            </a:r>
            <a:r>
              <a:rPr lang="ru-RU" sz="1200" kern="1200" dirty="0">
                <a:solidFill>
                  <a:schemeClr val="tx1"/>
                </a:solidFill>
                <a:latin typeface="+mn-lt"/>
                <a:ea typeface="+mn-ea"/>
                <a:cs typeface="+mn-cs"/>
              </a:rPr>
              <a:t> </a:t>
            </a:r>
            <a:r>
              <a:rPr lang="ru-RU" sz="1200" kern="1200" dirty="0" err="1">
                <a:solidFill>
                  <a:schemeClr val="tx1"/>
                </a:solidFill>
                <a:latin typeface="+mn-lt"/>
                <a:ea typeface="+mn-ea"/>
                <a:cs typeface="+mn-cs"/>
              </a:rPr>
              <a:t>eax</a:t>
            </a:r>
            <a:r>
              <a:rPr lang="ru-RU" sz="1200" kern="1200" dirty="0">
                <a:solidFill>
                  <a:schemeClr val="tx1"/>
                </a:solidFill>
                <a:latin typeface="+mn-lt"/>
                <a:ea typeface="+mn-ea"/>
                <a:cs typeface="+mn-cs"/>
              </a:rPr>
              <a:t>, -1</a:t>
            </a:r>
            <a:r>
              <a:rPr lang="ru-RU" dirty="0"/>
              <a:t>, то есть сравнение с </a:t>
            </a:r>
            <a:r>
              <a:rPr lang="ru-RU" sz="1200" kern="1200" dirty="0">
                <a:solidFill>
                  <a:schemeClr val="tx1"/>
                </a:solidFill>
                <a:latin typeface="+mn-lt"/>
                <a:ea typeface="+mn-ea"/>
                <a:cs typeface="+mn-cs"/>
              </a:rPr>
              <a:t>EOF</a:t>
            </a:r>
            <a:r>
              <a:rPr lang="ru-RU" dirty="0"/>
              <a:t>. После этого используется условный переход </a:t>
            </a:r>
            <a:r>
              <a:rPr lang="ru-RU" sz="1200" kern="1200" dirty="0" err="1">
                <a:solidFill>
                  <a:schemeClr val="tx1"/>
                </a:solidFill>
                <a:latin typeface="+mn-lt"/>
                <a:ea typeface="+mn-ea"/>
                <a:cs typeface="+mn-cs"/>
              </a:rPr>
              <a:t>jne</a:t>
            </a:r>
            <a:r>
              <a:rPr lang="ru-RU" sz="1200" kern="1200" dirty="0">
                <a:solidFill>
                  <a:schemeClr val="tx1"/>
                </a:solidFill>
                <a:latin typeface="+mn-lt"/>
                <a:ea typeface="+mn-ea"/>
                <a:cs typeface="+mn-cs"/>
              </a:rPr>
              <a:t> .L3</a:t>
            </a:r>
            <a:r>
              <a:rPr lang="ru-RU" dirty="0"/>
              <a:t> — </a:t>
            </a:r>
            <a:r>
              <a:rPr lang="ru-RU" i="1" dirty="0" err="1"/>
              <a:t>jump</a:t>
            </a:r>
            <a:r>
              <a:rPr lang="ru-RU" i="1" dirty="0"/>
              <a:t> </a:t>
            </a:r>
            <a:r>
              <a:rPr lang="ru-RU" i="1" dirty="0" err="1"/>
              <a:t>if</a:t>
            </a:r>
            <a:r>
              <a:rPr lang="ru-RU" i="1" dirty="0"/>
              <a:t> </a:t>
            </a:r>
            <a:r>
              <a:rPr lang="ru-RU" i="1" dirty="0" err="1"/>
              <a:t>not</a:t>
            </a:r>
            <a:r>
              <a:rPr lang="ru-RU" i="1" dirty="0"/>
              <a:t> </a:t>
            </a:r>
            <a:r>
              <a:rPr lang="ru-RU" i="1" dirty="0" err="1"/>
              <a:t>equal</a:t>
            </a:r>
            <a:r>
              <a:rPr lang="ru-RU" dirty="0"/>
              <a:t>. Если значение не равно </a:t>
            </a:r>
            <a:r>
              <a:rPr lang="ru-RU" sz="1200" kern="1200" dirty="0">
                <a:solidFill>
                  <a:schemeClr val="tx1"/>
                </a:solidFill>
                <a:latin typeface="+mn-lt"/>
                <a:ea typeface="+mn-ea"/>
                <a:cs typeface="+mn-cs"/>
              </a:rPr>
              <a:t>EOF</a:t>
            </a:r>
            <a:r>
              <a:rPr lang="ru-RU" dirty="0"/>
              <a:t>, управление передаётся к телу цикла.</a:t>
            </a:r>
          </a:p>
          <a:p>
            <a:endParaRPr lang="ru-RU" dirty="0"/>
          </a:p>
          <a:p>
            <a:r>
              <a:rPr lang="ru-RU" dirty="0"/>
              <a:t>После выполнения тела происходит возврат к проверке условия, и всё повторяется. Таким образом, любой цикл </a:t>
            </a:r>
            <a:r>
              <a:rPr lang="ru-RU" sz="1200" kern="1200" dirty="0" err="1">
                <a:solidFill>
                  <a:schemeClr val="tx1"/>
                </a:solidFill>
                <a:latin typeface="+mn-lt"/>
                <a:ea typeface="+mn-ea"/>
                <a:cs typeface="+mn-cs"/>
              </a:rPr>
              <a:t>while</a:t>
            </a:r>
            <a:r>
              <a:rPr lang="ru-RU" dirty="0"/>
              <a:t> на уровне ассемблера — это </a:t>
            </a:r>
            <a:r>
              <a:rPr lang="ru-RU" b="1" dirty="0"/>
              <a:t>проверка условия и условный переход назад или вперёд</a:t>
            </a:r>
            <a:r>
              <a:rPr lang="ru-RU" dirty="0"/>
              <a:t>. Управляющая логика реализуется исключительно через инструкции сравнения (</a:t>
            </a:r>
            <a:r>
              <a:rPr lang="ru-RU" sz="1200" kern="1200" dirty="0" err="1">
                <a:solidFill>
                  <a:schemeClr val="tx1"/>
                </a:solidFill>
                <a:latin typeface="+mn-lt"/>
                <a:ea typeface="+mn-ea"/>
                <a:cs typeface="+mn-cs"/>
              </a:rPr>
              <a:t>cmp</a:t>
            </a:r>
            <a:r>
              <a:rPr lang="ru-RU" dirty="0"/>
              <a:t>) и переходов (</a:t>
            </a:r>
            <a:r>
              <a:rPr lang="ru-RU" sz="1200" kern="1200" dirty="0" err="1">
                <a:solidFill>
                  <a:schemeClr val="tx1"/>
                </a:solidFill>
                <a:latin typeface="+mn-lt"/>
                <a:ea typeface="+mn-ea"/>
                <a:cs typeface="+mn-cs"/>
              </a:rPr>
              <a:t>jne</a:t>
            </a:r>
            <a:r>
              <a:rPr lang="ru-RU" dirty="0"/>
              <a:t>, </a:t>
            </a:r>
            <a:r>
              <a:rPr lang="ru-RU" sz="1200" kern="1200" dirty="0" err="1">
                <a:solidFill>
                  <a:schemeClr val="tx1"/>
                </a:solidFill>
                <a:latin typeface="+mn-lt"/>
                <a:ea typeface="+mn-ea"/>
                <a:cs typeface="+mn-cs"/>
              </a:rPr>
              <a:t>jmp</a:t>
            </a:r>
            <a:r>
              <a:rPr lang="ru-RU" dirty="0"/>
              <a:t>).</a:t>
            </a:r>
          </a:p>
        </p:txBody>
      </p:sp>
      <p:sp>
        <p:nvSpPr>
          <p:cNvPr id="4" name="Slide Number Placeholder 3"/>
          <p:cNvSpPr>
            <a:spLocks noGrp="1"/>
          </p:cNvSpPr>
          <p:nvPr>
            <p:ph type="sldNum" sz="quarter" idx="5"/>
          </p:nvPr>
        </p:nvSpPr>
        <p:spPr/>
        <p:txBody>
          <a:bodyPr/>
          <a:lstStyle/>
          <a:p>
            <a:fld id="{CB945CA0-E94A-4FB7-A4CA-C1968BB52B92}" type="slidenum">
              <a:rPr lang="en-US" smtClean="0"/>
              <a:t>23</a:t>
            </a:fld>
            <a:endParaRPr lang="en-US"/>
          </a:p>
        </p:txBody>
      </p:sp>
    </p:spTree>
    <p:extLst>
      <p:ext uri="{BB962C8B-B14F-4D97-AF65-F5344CB8AC3E}">
        <p14:creationId xmlns:p14="http://schemas.microsoft.com/office/powerpoint/2010/main" val="10475609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практике цикл часто состоит из трёх логических частей: сначала мы инициализируем переменную, затем проверяем условие продолжения, и в конце каждой итерации изменяем эту переменную. Такой шаблон используется постоянно, особенно при переборе чисел или элементов массива. Чтобы сделать эту конструкцию более компактной и наглядной, в языке C существует цикл </a:t>
            </a:r>
            <a:r>
              <a:rPr lang="ru-RU" sz="1200" kern="1200" dirty="0" err="1">
                <a:solidFill>
                  <a:schemeClr val="tx1"/>
                </a:solidFill>
                <a:latin typeface="+mn-lt"/>
                <a:ea typeface="+mn-ea"/>
                <a:cs typeface="+mn-cs"/>
              </a:rPr>
              <a:t>for</a:t>
            </a:r>
            <a:r>
              <a:rPr lang="ru-RU" dirty="0"/>
              <a:t>.</a:t>
            </a:r>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24</a:t>
            </a:fld>
            <a:endParaRPr lang="en-US"/>
          </a:p>
        </p:txBody>
      </p:sp>
    </p:spTree>
    <p:extLst>
      <p:ext uri="{BB962C8B-B14F-4D97-AF65-F5344CB8AC3E}">
        <p14:creationId xmlns:p14="http://schemas.microsoft.com/office/powerpoint/2010/main" val="12753148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B945CA0-E94A-4FB7-A4CA-C1968BB52B92}" type="slidenum">
              <a:rPr lang="en-US" smtClean="0"/>
              <a:t>25</a:t>
            </a:fld>
            <a:endParaRPr lang="en-US"/>
          </a:p>
        </p:txBody>
      </p:sp>
    </p:spTree>
    <p:extLst>
      <p:ext uri="{BB962C8B-B14F-4D97-AF65-F5344CB8AC3E}">
        <p14:creationId xmlns:p14="http://schemas.microsoft.com/office/powerpoint/2010/main" val="28490321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Цикл </a:t>
            </a:r>
            <a:r>
              <a:rPr lang="ru-RU" sz="1200" kern="1200" dirty="0" err="1">
                <a:solidFill>
                  <a:schemeClr val="tx1"/>
                </a:solidFill>
                <a:latin typeface="+mn-lt"/>
                <a:ea typeface="+mn-ea"/>
                <a:cs typeface="+mn-cs"/>
              </a:rPr>
              <a:t>for</a:t>
            </a:r>
            <a:r>
              <a:rPr lang="ru-RU" dirty="0"/>
              <a:t> состоит из трёх частей, которые записываются в круглых скобках и разделяются точками с запятой. </a:t>
            </a:r>
          </a:p>
          <a:p>
            <a:endParaRPr lang="ru-RU" dirty="0"/>
          </a:p>
          <a:p>
            <a:r>
              <a:rPr lang="ru-RU" dirty="0"/>
              <a:t>Первая часть — </a:t>
            </a:r>
            <a:r>
              <a:rPr lang="ru-RU" sz="1200" b="1" kern="1200" dirty="0" err="1">
                <a:solidFill>
                  <a:schemeClr val="tx1"/>
                </a:solidFill>
                <a:latin typeface="+mn-lt"/>
                <a:ea typeface="+mn-ea"/>
                <a:cs typeface="+mn-cs"/>
              </a:rPr>
              <a:t>init</a:t>
            </a:r>
            <a:r>
              <a:rPr lang="ru-RU" dirty="0"/>
              <a:t> — выполняется ровно один раз перед началом цикла. Обычно здесь объявляется и инициализируется переменная-счётчик. Вторая часть — </a:t>
            </a:r>
            <a:r>
              <a:rPr lang="ru-RU" sz="1200" b="1" kern="1200" dirty="0" err="1">
                <a:solidFill>
                  <a:schemeClr val="tx1"/>
                </a:solidFill>
                <a:latin typeface="+mn-lt"/>
                <a:ea typeface="+mn-ea"/>
                <a:cs typeface="+mn-cs"/>
              </a:rPr>
              <a:t>condition</a:t>
            </a:r>
            <a:r>
              <a:rPr lang="ru-RU" dirty="0"/>
              <a:t> — это условие продолжения цикла, оно проверяется перед каждой итерацией, и если оно становится ложным, цикл завершается. Третья часть — </a:t>
            </a:r>
            <a:r>
              <a:rPr lang="ru-RU" sz="1200" b="1" kern="1200" dirty="0" err="1">
                <a:solidFill>
                  <a:schemeClr val="tx1"/>
                </a:solidFill>
                <a:latin typeface="+mn-lt"/>
                <a:ea typeface="+mn-ea"/>
                <a:cs typeface="+mn-cs"/>
              </a:rPr>
              <a:t>step</a:t>
            </a:r>
            <a:r>
              <a:rPr lang="ru-RU" dirty="0"/>
              <a:t> — выполняется после каждой итерации, то есть после выполнения тела цикла, и чаще всего используется для изменения счётчика.</a:t>
            </a:r>
          </a:p>
          <a:p>
            <a:endParaRPr lang="ru-RU" dirty="0"/>
          </a:p>
          <a:p>
            <a:r>
              <a:rPr lang="ru-RU" dirty="0"/>
              <a:t>Важно понимать порядок выполнения: сначала выполняется </a:t>
            </a:r>
            <a:r>
              <a:rPr lang="ru-RU" sz="1200" b="1" kern="1200" dirty="0" err="1">
                <a:solidFill>
                  <a:schemeClr val="tx1"/>
                </a:solidFill>
                <a:latin typeface="+mn-lt"/>
                <a:ea typeface="+mn-ea"/>
                <a:cs typeface="+mn-cs"/>
              </a:rPr>
              <a:t>init</a:t>
            </a:r>
            <a:r>
              <a:rPr lang="ru-RU" dirty="0"/>
              <a:t>, затем проверяется </a:t>
            </a:r>
            <a:r>
              <a:rPr lang="ru-RU" sz="1200" b="1" kern="1200" dirty="0" err="1">
                <a:solidFill>
                  <a:schemeClr val="tx1"/>
                </a:solidFill>
                <a:latin typeface="+mn-lt"/>
                <a:ea typeface="+mn-ea"/>
                <a:cs typeface="+mn-cs"/>
              </a:rPr>
              <a:t>condition</a:t>
            </a:r>
            <a:r>
              <a:rPr lang="ru-RU" dirty="0"/>
              <a:t>, если условие истинно — выполняется тело цикла, затем выполняется </a:t>
            </a:r>
            <a:r>
              <a:rPr lang="ru-RU" sz="1200" b="1" kern="1200" dirty="0" err="1">
                <a:solidFill>
                  <a:schemeClr val="tx1"/>
                </a:solidFill>
                <a:latin typeface="+mn-lt"/>
                <a:ea typeface="+mn-ea"/>
                <a:cs typeface="+mn-cs"/>
              </a:rPr>
              <a:t>step</a:t>
            </a:r>
            <a:r>
              <a:rPr lang="ru-RU" dirty="0"/>
              <a:t>, и после этого снова проверяется </a:t>
            </a:r>
            <a:r>
              <a:rPr lang="ru-RU" sz="1200" b="1" kern="1200" dirty="0" err="1">
                <a:solidFill>
                  <a:schemeClr val="tx1"/>
                </a:solidFill>
                <a:latin typeface="+mn-lt"/>
                <a:ea typeface="+mn-ea"/>
                <a:cs typeface="+mn-cs"/>
              </a:rPr>
              <a:t>condition</a:t>
            </a:r>
            <a:r>
              <a:rPr lang="ru-RU" dirty="0"/>
              <a:t>. Таким образом, </a:t>
            </a:r>
            <a:r>
              <a:rPr lang="ru-RU" sz="1200" b="1" kern="1200" dirty="0" err="1">
                <a:solidFill>
                  <a:schemeClr val="tx1"/>
                </a:solidFill>
                <a:latin typeface="+mn-lt"/>
                <a:ea typeface="+mn-ea"/>
                <a:cs typeface="+mn-cs"/>
              </a:rPr>
              <a:t>for</a:t>
            </a:r>
            <a:r>
              <a:rPr lang="ru-RU" dirty="0"/>
              <a:t> — это компактная запись цикла с управляемым счётчиком, где вся логика управления повторением собрана в одной строке, что делает код более читаемым и структурированным.</a:t>
            </a:r>
          </a:p>
          <a:p>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26</a:t>
            </a:fld>
            <a:endParaRPr lang="en-US"/>
          </a:p>
        </p:txBody>
      </p:sp>
    </p:spTree>
    <p:extLst>
      <p:ext uri="{BB962C8B-B14F-4D97-AF65-F5344CB8AC3E}">
        <p14:creationId xmlns:p14="http://schemas.microsoft.com/office/powerpoint/2010/main" val="33244384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этом примере мы объявляем переменную </a:t>
            </a:r>
            <a:r>
              <a:rPr lang="ru-RU" sz="1200" kern="1200" dirty="0">
                <a:solidFill>
                  <a:schemeClr val="tx1"/>
                </a:solidFill>
                <a:latin typeface="+mn-lt"/>
                <a:ea typeface="+mn-ea"/>
                <a:cs typeface="+mn-cs"/>
              </a:rPr>
              <a:t>i</a:t>
            </a:r>
            <a:r>
              <a:rPr lang="ru-RU" dirty="0"/>
              <a:t> прямо в части </a:t>
            </a:r>
            <a:r>
              <a:rPr lang="ru-RU" sz="1200" kern="1200" dirty="0" err="1">
                <a:solidFill>
                  <a:schemeClr val="tx1"/>
                </a:solidFill>
                <a:latin typeface="+mn-lt"/>
                <a:ea typeface="+mn-ea"/>
                <a:cs typeface="+mn-cs"/>
              </a:rPr>
              <a:t>init</a:t>
            </a:r>
            <a:r>
              <a:rPr lang="ru-RU" dirty="0"/>
              <a:t> заголовка цикла. Она инициализируется значением 0, затем перед каждой итерацией проверяется условие </a:t>
            </a:r>
            <a:r>
              <a:rPr lang="ru-RU" sz="1200" kern="1200" dirty="0">
                <a:solidFill>
                  <a:schemeClr val="tx1"/>
                </a:solidFill>
                <a:latin typeface="+mn-lt"/>
                <a:ea typeface="+mn-ea"/>
                <a:cs typeface="+mn-cs"/>
              </a:rPr>
              <a:t>i &lt; 10</a:t>
            </a:r>
            <a:r>
              <a:rPr lang="ru-RU" dirty="0"/>
              <a:t>. Если условие истинно, выполняется тело цикла, после чего выполняется шаг </a:t>
            </a:r>
            <a:r>
              <a:rPr lang="ru-RU" sz="1200" kern="1200" dirty="0">
                <a:solidFill>
                  <a:schemeClr val="tx1"/>
                </a:solidFill>
                <a:latin typeface="+mn-lt"/>
                <a:ea typeface="+mn-ea"/>
                <a:cs typeface="+mn-cs"/>
              </a:rPr>
              <a:t>i++</a:t>
            </a:r>
            <a:r>
              <a:rPr lang="ru-RU" dirty="0"/>
              <a:t>, то есть переменная увеличивается на единицу. Затем условие снова проверяется, и процесс повторяется.</a:t>
            </a:r>
            <a:endParaRPr lang="en-US" dirty="0"/>
          </a:p>
          <a:p>
            <a:endParaRPr lang="ru-RU" dirty="0"/>
          </a:p>
          <a:p>
            <a:r>
              <a:rPr lang="ru-RU" dirty="0"/>
              <a:t>По логике выполнения это полностью эквивалентно варианту с </a:t>
            </a:r>
            <a:r>
              <a:rPr lang="ru-RU" sz="1200" b="1" kern="1200" dirty="0" err="1">
                <a:solidFill>
                  <a:schemeClr val="tx1"/>
                </a:solidFill>
                <a:latin typeface="+mn-lt"/>
                <a:ea typeface="+mn-ea"/>
                <a:cs typeface="+mn-cs"/>
              </a:rPr>
              <a:t>while</a:t>
            </a:r>
            <a:r>
              <a:rPr lang="ru-RU" dirty="0"/>
              <a:t>, который приведён ниже. Разница только в записи: в </a:t>
            </a:r>
            <a:r>
              <a:rPr lang="ru-RU" sz="1200" kern="1200" dirty="0" err="1">
                <a:solidFill>
                  <a:schemeClr val="tx1"/>
                </a:solidFill>
                <a:latin typeface="+mn-lt"/>
                <a:ea typeface="+mn-ea"/>
                <a:cs typeface="+mn-cs"/>
              </a:rPr>
              <a:t>for</a:t>
            </a:r>
            <a:r>
              <a:rPr lang="ru-RU" dirty="0"/>
              <a:t> инициализация, условие и шаг изменения переменной собраны в одном месте, поэтому структура цикла сразу видна при чтении кода.</a:t>
            </a:r>
            <a:endParaRPr lang="en-US" dirty="0"/>
          </a:p>
          <a:p>
            <a:endParaRPr lang="ru-RU" dirty="0"/>
          </a:p>
          <a:p>
            <a:r>
              <a:rPr lang="ru-RU" dirty="0"/>
              <a:t>Обратите внимание на важный момент: переменная </a:t>
            </a:r>
            <a:r>
              <a:rPr lang="ru-RU" sz="1200" b="1" kern="1200" dirty="0">
                <a:solidFill>
                  <a:schemeClr val="tx1"/>
                </a:solidFill>
                <a:latin typeface="+mn-lt"/>
                <a:ea typeface="+mn-ea"/>
                <a:cs typeface="+mn-cs"/>
              </a:rPr>
              <a:t>i</a:t>
            </a:r>
            <a:r>
              <a:rPr lang="ru-RU" b="1" dirty="0"/>
              <a:t>,</a:t>
            </a:r>
            <a:r>
              <a:rPr lang="ru-RU" dirty="0"/>
              <a:t> объявленная в части </a:t>
            </a:r>
            <a:r>
              <a:rPr lang="ru-RU" sz="1200" b="1" kern="1200" dirty="0" err="1">
                <a:solidFill>
                  <a:schemeClr val="tx1"/>
                </a:solidFill>
                <a:latin typeface="+mn-lt"/>
                <a:ea typeface="+mn-ea"/>
                <a:cs typeface="+mn-cs"/>
              </a:rPr>
              <a:t>init</a:t>
            </a:r>
            <a:r>
              <a:rPr lang="ru-RU" dirty="0"/>
              <a:t>, имеет область видимости, ограниченную самим циклом. Она существует только внутри конструкции </a:t>
            </a:r>
            <a:r>
              <a:rPr lang="ru-RU" sz="1200" kern="1200" dirty="0" err="1">
                <a:solidFill>
                  <a:schemeClr val="tx1"/>
                </a:solidFill>
                <a:latin typeface="+mn-lt"/>
                <a:ea typeface="+mn-ea"/>
                <a:cs typeface="+mn-cs"/>
              </a:rPr>
              <a:t>for</a:t>
            </a:r>
            <a:r>
              <a:rPr lang="ru-RU" dirty="0"/>
              <a:t>, включая его тело. После завершения цикла эта переменная перестаёт существовать, и обратиться к ней уже нельзя. Это удобно, потому что переменная-счётчик не «засоряет» внешнюю область видимости и не может быть случайно использована позже в программе.</a:t>
            </a:r>
          </a:p>
          <a:p>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27</a:t>
            </a:fld>
            <a:endParaRPr lang="en-US"/>
          </a:p>
        </p:txBody>
      </p:sp>
    </p:spTree>
    <p:extLst>
      <p:ext uri="{BB962C8B-B14F-4D97-AF65-F5344CB8AC3E}">
        <p14:creationId xmlns:p14="http://schemas.microsoft.com/office/powerpoint/2010/main" val="34365667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Цикл </a:t>
            </a:r>
            <a:r>
              <a:rPr lang="ru-RU" sz="1200" kern="1200" dirty="0" err="1">
                <a:solidFill>
                  <a:schemeClr val="tx1"/>
                </a:solidFill>
                <a:latin typeface="+mn-lt"/>
                <a:ea typeface="+mn-ea"/>
                <a:cs typeface="+mn-cs"/>
              </a:rPr>
              <a:t>for</a:t>
            </a:r>
            <a:r>
              <a:rPr lang="ru-RU" dirty="0"/>
              <a:t> гибче, чем кажется на первый взгляд. Формально каждая из трёх частей — это выражение, и любая из них может быть опущена. Если убрать условие, оно считается всегда истинным, и цикл становится бесконечным. Конструкция </a:t>
            </a:r>
            <a:r>
              <a:rPr lang="ru-RU" sz="1200" kern="1200" dirty="0" err="1">
                <a:solidFill>
                  <a:schemeClr val="tx1"/>
                </a:solidFill>
                <a:latin typeface="+mn-lt"/>
                <a:ea typeface="+mn-ea"/>
                <a:cs typeface="+mn-cs"/>
              </a:rPr>
              <a:t>for</a:t>
            </a:r>
            <a:r>
              <a:rPr lang="ru-RU" sz="1200" kern="1200" dirty="0">
                <a:solidFill>
                  <a:schemeClr val="tx1"/>
                </a:solidFill>
                <a:latin typeface="+mn-lt"/>
                <a:ea typeface="+mn-ea"/>
                <a:cs typeface="+mn-cs"/>
              </a:rPr>
              <a:t> (;;)</a:t>
            </a:r>
            <a:r>
              <a:rPr lang="ru-RU" dirty="0"/>
              <a:t> — это корректный способ записать бесконечный цикл, и по смыслу она полностью эквивалентна </a:t>
            </a:r>
            <a:r>
              <a:rPr lang="ru-RU" sz="1200" kern="1200" dirty="0" err="1">
                <a:solidFill>
                  <a:schemeClr val="tx1"/>
                </a:solidFill>
                <a:latin typeface="+mn-lt"/>
                <a:ea typeface="+mn-ea"/>
                <a:cs typeface="+mn-cs"/>
              </a:rPr>
              <a:t>while</a:t>
            </a:r>
            <a:r>
              <a:rPr lang="ru-RU" sz="1200" kern="1200" dirty="0">
                <a:solidFill>
                  <a:schemeClr val="tx1"/>
                </a:solidFill>
                <a:latin typeface="+mn-lt"/>
                <a:ea typeface="+mn-ea"/>
                <a:cs typeface="+mn-cs"/>
              </a:rPr>
              <a:t> (1)</a:t>
            </a:r>
            <a:r>
              <a:rPr lang="ru-RU" dirty="0"/>
              <a:t>. Завершение такого цикла обычно происходит с помощью </a:t>
            </a:r>
            <a:r>
              <a:rPr lang="ru-RU" sz="1200" kern="1200" dirty="0" err="1">
                <a:solidFill>
                  <a:schemeClr val="tx1"/>
                </a:solidFill>
                <a:latin typeface="+mn-lt"/>
                <a:ea typeface="+mn-ea"/>
                <a:cs typeface="+mn-cs"/>
              </a:rPr>
              <a:t>break</a:t>
            </a:r>
            <a:r>
              <a:rPr lang="ru-RU" dirty="0"/>
              <a:t>.</a:t>
            </a:r>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28</a:t>
            </a:fld>
            <a:endParaRPr lang="en-US"/>
          </a:p>
        </p:txBody>
      </p:sp>
    </p:spTree>
    <p:extLst>
      <p:ext uri="{BB962C8B-B14F-4D97-AF65-F5344CB8AC3E}">
        <p14:creationId xmlns:p14="http://schemas.microsoft.com/office/powerpoint/2010/main" val="13529831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Кроме того, в каждой части заголовка можно использовать </a:t>
            </a:r>
            <a:r>
              <a:rPr lang="ru-RU" i="1" dirty="0"/>
              <a:t>несколько выражений</a:t>
            </a:r>
            <a:r>
              <a:rPr lang="ru-RU" dirty="0"/>
              <a:t>, разделённых запятой. Это называется оператором запятая, и выражения выполняются слева направо. В приведённом примере мы одновременно объявляем две переменные — </a:t>
            </a:r>
            <a:r>
              <a:rPr lang="ru-RU" sz="1200" kern="1200" dirty="0">
                <a:solidFill>
                  <a:schemeClr val="tx1"/>
                </a:solidFill>
                <a:latin typeface="+mn-lt"/>
                <a:ea typeface="+mn-ea"/>
                <a:cs typeface="+mn-cs"/>
              </a:rPr>
              <a:t>i</a:t>
            </a:r>
            <a:r>
              <a:rPr lang="ru-RU" dirty="0"/>
              <a:t> и </a:t>
            </a:r>
            <a:r>
              <a:rPr lang="ru-RU" sz="1200" kern="1200" dirty="0">
                <a:solidFill>
                  <a:schemeClr val="tx1"/>
                </a:solidFill>
                <a:latin typeface="+mn-lt"/>
                <a:ea typeface="+mn-ea"/>
                <a:cs typeface="+mn-cs"/>
              </a:rPr>
              <a:t>j</a:t>
            </a:r>
            <a:r>
              <a:rPr lang="ru-RU" dirty="0"/>
              <a:t>. Условие проверяет, что </a:t>
            </a:r>
            <a:r>
              <a:rPr lang="ru-RU" sz="1200" kern="1200" dirty="0">
                <a:solidFill>
                  <a:schemeClr val="tx1"/>
                </a:solidFill>
                <a:latin typeface="+mn-lt"/>
                <a:ea typeface="+mn-ea"/>
                <a:cs typeface="+mn-cs"/>
              </a:rPr>
              <a:t>i</a:t>
            </a:r>
            <a:r>
              <a:rPr lang="ru-RU" dirty="0"/>
              <a:t> меньше </a:t>
            </a:r>
            <a:r>
              <a:rPr lang="ru-RU" sz="1200" kern="1200" dirty="0">
                <a:solidFill>
                  <a:schemeClr val="tx1"/>
                </a:solidFill>
                <a:latin typeface="+mn-lt"/>
                <a:ea typeface="+mn-ea"/>
                <a:cs typeface="+mn-cs"/>
              </a:rPr>
              <a:t>j</a:t>
            </a:r>
            <a:r>
              <a:rPr lang="ru-RU" dirty="0"/>
              <a:t>, а в шаге цикла одновременно увеличивается </a:t>
            </a:r>
            <a:r>
              <a:rPr lang="ru-RU" sz="1200" kern="1200" dirty="0">
                <a:solidFill>
                  <a:schemeClr val="tx1"/>
                </a:solidFill>
                <a:latin typeface="+mn-lt"/>
                <a:ea typeface="+mn-ea"/>
                <a:cs typeface="+mn-cs"/>
              </a:rPr>
              <a:t>i</a:t>
            </a:r>
            <a:r>
              <a:rPr lang="ru-RU" dirty="0"/>
              <a:t> и уменьшается </a:t>
            </a:r>
            <a:r>
              <a:rPr lang="ru-RU" sz="1200" kern="1200" dirty="0">
                <a:solidFill>
                  <a:schemeClr val="tx1"/>
                </a:solidFill>
                <a:latin typeface="+mn-lt"/>
                <a:ea typeface="+mn-ea"/>
                <a:cs typeface="+mn-cs"/>
              </a:rPr>
              <a:t>j</a:t>
            </a:r>
            <a:r>
              <a:rPr lang="ru-RU" dirty="0"/>
              <a:t>. Такой приём удобен, например, при обходе массива с двух сторон.</a:t>
            </a:r>
          </a:p>
          <a:p>
            <a:endParaRPr lang="ru-RU" dirty="0"/>
          </a:p>
          <a:p>
            <a:r>
              <a:rPr lang="ru-RU" dirty="0"/>
              <a:t>Важно понимать, что запятая здесь — это не просто разделитель, а оператор, позволяющий выполнить несколько выражений последовательно. Однако использовать эту возможность стоит аккуратно, чтобы код оставался </a:t>
            </a:r>
            <a:r>
              <a:rPr lang="ru-RU" b="1" dirty="0"/>
              <a:t>понятным и читаемым</a:t>
            </a:r>
            <a:r>
              <a:rPr lang="ru-RU" dirty="0"/>
              <a:t>, а не перегруженным.</a:t>
            </a:r>
          </a:p>
          <a:p>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29</a:t>
            </a:fld>
            <a:endParaRPr lang="en-US"/>
          </a:p>
        </p:txBody>
      </p:sp>
    </p:spTree>
    <p:extLst>
      <p:ext uri="{BB962C8B-B14F-4D97-AF65-F5344CB8AC3E}">
        <p14:creationId xmlns:p14="http://schemas.microsoft.com/office/powerpoint/2010/main" val="32723481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Здесь снова важно увидеть структуру управления. Цикл </a:t>
            </a:r>
            <a:r>
              <a:rPr lang="ru-RU" sz="1200" kern="1200" dirty="0" err="1">
                <a:solidFill>
                  <a:schemeClr val="tx1"/>
                </a:solidFill>
                <a:latin typeface="+mn-lt"/>
                <a:ea typeface="+mn-ea"/>
                <a:cs typeface="+mn-cs"/>
              </a:rPr>
              <a:t>for</a:t>
            </a:r>
            <a:r>
              <a:rPr lang="ru-RU" dirty="0"/>
              <a:t> на уровне ассемблера ничем принципиально не отличается от </a:t>
            </a:r>
            <a:r>
              <a:rPr lang="ru-RU" sz="1200" kern="1200" dirty="0" err="1">
                <a:solidFill>
                  <a:schemeClr val="tx1"/>
                </a:solidFill>
                <a:latin typeface="+mn-lt"/>
                <a:ea typeface="+mn-ea"/>
                <a:cs typeface="+mn-cs"/>
              </a:rPr>
              <a:t>while</a:t>
            </a:r>
            <a:r>
              <a:rPr lang="ru-RU" dirty="0"/>
              <a:t>. Нет отдельной инструкции «</a:t>
            </a:r>
            <a:r>
              <a:rPr lang="ru-RU" dirty="0" err="1"/>
              <a:t>for</a:t>
            </a:r>
            <a:r>
              <a:rPr lang="ru-RU" dirty="0"/>
              <a:t>» — есть инициализация, сравнение и переход.</a:t>
            </a:r>
          </a:p>
          <a:p>
            <a:r>
              <a:rPr lang="ru-RU" dirty="0"/>
              <a:t>В начале в регистр </a:t>
            </a:r>
            <a:r>
              <a:rPr lang="ru-RU" sz="1200" kern="1200" dirty="0" err="1">
                <a:solidFill>
                  <a:schemeClr val="tx1"/>
                </a:solidFill>
                <a:latin typeface="+mn-lt"/>
                <a:ea typeface="+mn-ea"/>
                <a:cs typeface="+mn-cs"/>
              </a:rPr>
              <a:t>ebx</a:t>
            </a:r>
            <a:r>
              <a:rPr lang="ru-RU" dirty="0"/>
              <a:t> загружается значение 65 — это символ </a:t>
            </a:r>
            <a:r>
              <a:rPr lang="ru-RU" sz="1200" kern="1200" dirty="0">
                <a:solidFill>
                  <a:schemeClr val="tx1"/>
                </a:solidFill>
                <a:latin typeface="+mn-lt"/>
                <a:ea typeface="+mn-ea"/>
                <a:cs typeface="+mn-cs"/>
              </a:rPr>
              <a:t>'A'</a:t>
            </a:r>
            <a:r>
              <a:rPr lang="ru-RU" dirty="0"/>
              <a:t>. Это соответствует части </a:t>
            </a:r>
            <a:r>
              <a:rPr lang="ru-RU" sz="1200" kern="1200" dirty="0" err="1">
                <a:solidFill>
                  <a:schemeClr val="tx1"/>
                </a:solidFill>
                <a:latin typeface="+mn-lt"/>
                <a:ea typeface="+mn-ea"/>
                <a:cs typeface="+mn-cs"/>
              </a:rPr>
              <a:t>int</a:t>
            </a:r>
            <a:r>
              <a:rPr lang="ru-RU" sz="1200" kern="1200" dirty="0">
                <a:solidFill>
                  <a:schemeClr val="tx1"/>
                </a:solidFill>
                <a:latin typeface="+mn-lt"/>
                <a:ea typeface="+mn-ea"/>
                <a:cs typeface="+mn-cs"/>
              </a:rPr>
              <a:t> c = 'A'</a:t>
            </a:r>
            <a:r>
              <a:rPr lang="ru-RU" dirty="0"/>
              <a:t> в заголовке цикла. Далее идёт метка </a:t>
            </a:r>
            <a:r>
              <a:rPr lang="ru-RU" sz="1200" kern="1200" dirty="0">
                <a:solidFill>
                  <a:schemeClr val="tx1"/>
                </a:solidFill>
                <a:latin typeface="+mn-lt"/>
                <a:ea typeface="+mn-ea"/>
                <a:cs typeface="+mn-cs"/>
              </a:rPr>
              <a:t>.L2</a:t>
            </a:r>
            <a:r>
              <a:rPr lang="ru-RU" dirty="0"/>
              <a:t> — это начало тела цикла. Сначала значение регистра передаётся в </a:t>
            </a:r>
            <a:r>
              <a:rPr lang="ru-RU" sz="1200" kern="1200" dirty="0" err="1">
                <a:solidFill>
                  <a:schemeClr val="tx1"/>
                </a:solidFill>
                <a:latin typeface="+mn-lt"/>
                <a:ea typeface="+mn-ea"/>
                <a:cs typeface="+mn-cs"/>
              </a:rPr>
              <a:t>putchar</a:t>
            </a:r>
            <a:r>
              <a:rPr lang="ru-RU" dirty="0"/>
              <a:t>, затем выполняется </a:t>
            </a:r>
            <a:r>
              <a:rPr lang="ru-RU" sz="1200" kern="1200" dirty="0" err="1">
                <a:solidFill>
                  <a:schemeClr val="tx1"/>
                </a:solidFill>
                <a:latin typeface="+mn-lt"/>
                <a:ea typeface="+mn-ea"/>
                <a:cs typeface="+mn-cs"/>
              </a:rPr>
              <a:t>inc</a:t>
            </a:r>
            <a:r>
              <a:rPr lang="ru-RU" sz="1200" kern="1200" dirty="0">
                <a:solidFill>
                  <a:schemeClr val="tx1"/>
                </a:solidFill>
                <a:latin typeface="+mn-lt"/>
                <a:ea typeface="+mn-ea"/>
                <a:cs typeface="+mn-cs"/>
              </a:rPr>
              <a:t> </a:t>
            </a:r>
            <a:r>
              <a:rPr lang="ru-RU" sz="1200" kern="1200" dirty="0" err="1">
                <a:solidFill>
                  <a:schemeClr val="tx1"/>
                </a:solidFill>
                <a:latin typeface="+mn-lt"/>
                <a:ea typeface="+mn-ea"/>
                <a:cs typeface="+mn-cs"/>
              </a:rPr>
              <a:t>ebx</a:t>
            </a:r>
            <a:r>
              <a:rPr lang="ru-RU" dirty="0"/>
              <a:t>, то есть шаг </a:t>
            </a:r>
            <a:r>
              <a:rPr lang="ru-RU" sz="1200" kern="1200" dirty="0">
                <a:solidFill>
                  <a:schemeClr val="tx1"/>
                </a:solidFill>
                <a:latin typeface="+mn-lt"/>
                <a:ea typeface="+mn-ea"/>
                <a:cs typeface="+mn-cs"/>
              </a:rPr>
              <a:t>++c</a:t>
            </a:r>
            <a:r>
              <a:rPr lang="ru-RU" dirty="0"/>
              <a:t>. После этого идёт сравнение </a:t>
            </a:r>
            <a:r>
              <a:rPr lang="ru-RU" sz="1200" kern="1200" dirty="0" err="1">
                <a:solidFill>
                  <a:schemeClr val="tx1"/>
                </a:solidFill>
                <a:latin typeface="+mn-lt"/>
                <a:ea typeface="+mn-ea"/>
                <a:cs typeface="+mn-cs"/>
              </a:rPr>
              <a:t>cmp</a:t>
            </a:r>
            <a:r>
              <a:rPr lang="ru-RU" sz="1200" kern="1200" dirty="0">
                <a:solidFill>
                  <a:schemeClr val="tx1"/>
                </a:solidFill>
                <a:latin typeface="+mn-lt"/>
                <a:ea typeface="+mn-ea"/>
                <a:cs typeface="+mn-cs"/>
              </a:rPr>
              <a:t> </a:t>
            </a:r>
            <a:r>
              <a:rPr lang="ru-RU" sz="1200" kern="1200" dirty="0" err="1">
                <a:solidFill>
                  <a:schemeClr val="tx1"/>
                </a:solidFill>
                <a:latin typeface="+mn-lt"/>
                <a:ea typeface="+mn-ea"/>
                <a:cs typeface="+mn-cs"/>
              </a:rPr>
              <a:t>ebx</a:t>
            </a:r>
            <a:r>
              <a:rPr lang="ru-RU" sz="1200" kern="1200" dirty="0">
                <a:solidFill>
                  <a:schemeClr val="tx1"/>
                </a:solidFill>
                <a:latin typeface="+mn-lt"/>
                <a:ea typeface="+mn-ea"/>
                <a:cs typeface="+mn-cs"/>
              </a:rPr>
              <a:t>, 91</a:t>
            </a:r>
            <a:r>
              <a:rPr lang="ru-RU" dirty="0"/>
              <a:t>, где 91 — это </a:t>
            </a:r>
            <a:r>
              <a:rPr lang="ru-RU" sz="1200" kern="1200" dirty="0">
                <a:solidFill>
                  <a:schemeClr val="tx1"/>
                </a:solidFill>
                <a:latin typeface="+mn-lt"/>
                <a:ea typeface="+mn-ea"/>
                <a:cs typeface="+mn-cs"/>
              </a:rPr>
              <a:t>'Z' + 1</a:t>
            </a:r>
            <a:r>
              <a:rPr lang="ru-RU" dirty="0"/>
              <a:t>, и условный переход </a:t>
            </a:r>
            <a:r>
              <a:rPr lang="ru-RU" sz="1200" kern="1200" dirty="0" err="1">
                <a:solidFill>
                  <a:schemeClr val="tx1"/>
                </a:solidFill>
                <a:latin typeface="+mn-lt"/>
                <a:ea typeface="+mn-ea"/>
                <a:cs typeface="+mn-cs"/>
              </a:rPr>
              <a:t>jne</a:t>
            </a:r>
            <a:r>
              <a:rPr lang="ru-RU" sz="1200" kern="1200" dirty="0">
                <a:solidFill>
                  <a:schemeClr val="tx1"/>
                </a:solidFill>
                <a:latin typeface="+mn-lt"/>
                <a:ea typeface="+mn-ea"/>
                <a:cs typeface="+mn-cs"/>
              </a:rPr>
              <a:t> .L2</a:t>
            </a:r>
            <a:r>
              <a:rPr lang="ru-RU" dirty="0"/>
              <a:t>, который возвращает выполнение к началу цикла.</a:t>
            </a:r>
          </a:p>
          <a:p>
            <a:endParaRPr lang="ru-RU" dirty="0"/>
          </a:p>
          <a:p>
            <a:r>
              <a:rPr lang="ru-RU" dirty="0"/>
              <a:t>Обратите внимание на важную деталь: компилятор </a:t>
            </a:r>
            <a:r>
              <a:rPr lang="ru-RU" b="1" dirty="0"/>
              <a:t>перенёс проверку условия в конец цикла</a:t>
            </a:r>
            <a:r>
              <a:rPr lang="ru-RU" dirty="0"/>
              <a:t>. В исходном коде условие записано в заголовке </a:t>
            </a:r>
            <a:r>
              <a:rPr lang="ru-RU" sz="1200" kern="1200" dirty="0" err="1">
                <a:solidFill>
                  <a:schemeClr val="tx1"/>
                </a:solidFill>
                <a:latin typeface="+mn-lt"/>
                <a:ea typeface="+mn-ea"/>
                <a:cs typeface="+mn-cs"/>
              </a:rPr>
              <a:t>for</a:t>
            </a:r>
            <a:r>
              <a:rPr lang="ru-RU" dirty="0"/>
              <a:t>, то есть логически проверяется перед итерацией. Однако компилятор увидел, что перед первой итерацией условие </a:t>
            </a:r>
            <a:r>
              <a:rPr lang="ru-RU" sz="1200" kern="1200" dirty="0">
                <a:solidFill>
                  <a:schemeClr val="tx1"/>
                </a:solidFill>
                <a:latin typeface="+mn-lt"/>
                <a:ea typeface="+mn-ea"/>
                <a:cs typeface="+mn-cs"/>
              </a:rPr>
              <a:t>c &lt;= 'Z'</a:t>
            </a:r>
            <a:r>
              <a:rPr lang="ru-RU" dirty="0"/>
              <a:t> при </a:t>
            </a:r>
            <a:r>
              <a:rPr lang="ru-RU" sz="1200" kern="1200" dirty="0">
                <a:solidFill>
                  <a:schemeClr val="tx1"/>
                </a:solidFill>
                <a:latin typeface="+mn-lt"/>
                <a:ea typeface="+mn-ea"/>
                <a:cs typeface="+mn-cs"/>
              </a:rPr>
              <a:t>c = 'A'</a:t>
            </a:r>
            <a:r>
              <a:rPr lang="ru-RU" dirty="0"/>
              <a:t> гарантированно истинно. Поэтому он сгенерировал более компактный код, в котором первая итерация выполняется без предварительной проверки, а сравнение делается уже после шага.</a:t>
            </a:r>
          </a:p>
          <a:p>
            <a:endParaRPr lang="ru-RU" dirty="0"/>
          </a:p>
          <a:p>
            <a:r>
              <a:rPr lang="ru-RU" dirty="0"/>
              <a:t>Это пример простой оптимизации: компилятор анализирует код и перестраивает его так, чтобы сохранить смысл программы, но сделать выполнение более эффективным. И снова мы видим, что вся логика цикла в итоге сводится к </a:t>
            </a:r>
            <a:r>
              <a:rPr lang="ru-RU" b="1" dirty="0"/>
              <a:t>сравнению и условному переходу назад</a:t>
            </a:r>
            <a:r>
              <a:rPr lang="ru-RU" dirty="0"/>
              <a:t>.</a:t>
            </a:r>
          </a:p>
          <a:p>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30</a:t>
            </a:fld>
            <a:endParaRPr lang="en-US"/>
          </a:p>
        </p:txBody>
      </p:sp>
    </p:spTree>
    <p:extLst>
      <p:ext uri="{BB962C8B-B14F-4D97-AF65-F5344CB8AC3E}">
        <p14:creationId xmlns:p14="http://schemas.microsoft.com/office/powerpoint/2010/main" val="2652794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B945CA0-E94A-4FB7-A4CA-C1968BB52B92}" type="slidenum">
              <a:rPr lang="en-US" smtClean="0"/>
              <a:t>31</a:t>
            </a:fld>
            <a:endParaRPr lang="en-US"/>
          </a:p>
        </p:txBody>
      </p:sp>
    </p:spTree>
    <p:extLst>
      <p:ext uri="{BB962C8B-B14F-4D97-AF65-F5344CB8AC3E}">
        <p14:creationId xmlns:p14="http://schemas.microsoft.com/office/powerpoint/2010/main" val="10394991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отличие от </a:t>
            </a:r>
            <a:r>
              <a:rPr lang="ru-RU" sz="1200" kern="1200" dirty="0" err="1">
                <a:solidFill>
                  <a:schemeClr val="tx1"/>
                </a:solidFill>
                <a:latin typeface="+mn-lt"/>
                <a:ea typeface="+mn-ea"/>
                <a:cs typeface="+mn-cs"/>
              </a:rPr>
              <a:t>while</a:t>
            </a:r>
            <a:r>
              <a:rPr lang="ru-RU" dirty="0"/>
              <a:t>, цикл </a:t>
            </a:r>
            <a:r>
              <a:rPr lang="ru-RU" sz="1200" kern="1200" dirty="0" err="1">
                <a:solidFill>
                  <a:schemeClr val="tx1"/>
                </a:solidFill>
                <a:latin typeface="+mn-lt"/>
                <a:ea typeface="+mn-ea"/>
                <a:cs typeface="+mn-cs"/>
              </a:rPr>
              <a:t>do-while</a:t>
            </a:r>
            <a:r>
              <a:rPr lang="ru-RU" dirty="0"/>
              <a:t> сначала выполняет тело, а затем проверяет условие. Это означает, что тело выполнится хотя бы один раз, даже если условие изначально ложно. Такая конструкция используется, когда действие должно быть выполнено обязательно, а повторение зависит от результата.</a:t>
            </a:r>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32</a:t>
            </a:fld>
            <a:endParaRPr lang="en-US"/>
          </a:p>
        </p:txBody>
      </p:sp>
    </p:spTree>
    <p:extLst>
      <p:ext uri="{BB962C8B-B14F-4D97-AF65-F5344CB8AC3E}">
        <p14:creationId xmlns:p14="http://schemas.microsoft.com/office/powerpoint/2010/main" val="40149328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Здесь мы просим пользователя ввести положительное число. Независимо от значения переменной </a:t>
            </a:r>
            <a:r>
              <a:rPr lang="ru-RU" sz="1200" kern="1200" dirty="0">
                <a:solidFill>
                  <a:schemeClr val="tx1"/>
                </a:solidFill>
                <a:latin typeface="+mn-lt"/>
                <a:ea typeface="+mn-ea"/>
                <a:cs typeface="+mn-cs"/>
              </a:rPr>
              <a:t>n</a:t>
            </a:r>
            <a:r>
              <a:rPr lang="ru-RU" dirty="0"/>
              <a:t> тело цикла выполнится хотя бы один раз, потому что нам нужно получить ввод. После выполнения тела проверяется условие. Если число оказалось неположительным, цикл повторится. Если число корректное, выполнение продолжится дальше.</a:t>
            </a:r>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33</a:t>
            </a:fld>
            <a:endParaRPr lang="en-US"/>
          </a:p>
        </p:txBody>
      </p:sp>
    </p:spTree>
    <p:extLst>
      <p:ext uri="{BB962C8B-B14F-4D97-AF65-F5344CB8AC3E}">
        <p14:creationId xmlns:p14="http://schemas.microsoft.com/office/powerpoint/2010/main" val="30982595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Здесь мы снова смотрим на код поверхностно и обращаем внимание на </a:t>
            </a:r>
            <a:r>
              <a:rPr lang="ru-RU" b="1" dirty="0"/>
              <a:t>управляющие инструкции</a:t>
            </a:r>
            <a:r>
              <a:rPr lang="ru-RU" dirty="0"/>
              <a:t>. Главное отличие </a:t>
            </a:r>
            <a:r>
              <a:rPr lang="ru-RU" sz="1200" kern="1200" dirty="0" err="1">
                <a:solidFill>
                  <a:schemeClr val="tx1"/>
                </a:solidFill>
                <a:latin typeface="+mn-lt"/>
                <a:ea typeface="+mn-ea"/>
                <a:cs typeface="+mn-cs"/>
              </a:rPr>
              <a:t>do-while</a:t>
            </a:r>
            <a:r>
              <a:rPr lang="ru-RU" dirty="0"/>
              <a:t> от </a:t>
            </a:r>
            <a:r>
              <a:rPr lang="ru-RU" sz="1200" kern="1200" dirty="0" err="1">
                <a:solidFill>
                  <a:schemeClr val="tx1"/>
                </a:solidFill>
                <a:latin typeface="+mn-lt"/>
                <a:ea typeface="+mn-ea"/>
                <a:cs typeface="+mn-cs"/>
              </a:rPr>
              <a:t>while</a:t>
            </a:r>
            <a:r>
              <a:rPr lang="ru-RU" dirty="0"/>
              <a:t> в том, что </a:t>
            </a:r>
            <a:r>
              <a:rPr lang="ru-RU" b="1" dirty="0"/>
              <a:t>тело выполняется хотя бы один раз</a:t>
            </a:r>
            <a:r>
              <a:rPr lang="ru-RU" dirty="0"/>
              <a:t>, а проверка условия происходит в конце. Это сразу видно по структуре ассемблера: выполнение начинается с метки </a:t>
            </a:r>
            <a:r>
              <a:rPr lang="ru-RU" sz="1200" kern="1200" dirty="0">
                <a:solidFill>
                  <a:schemeClr val="tx1"/>
                </a:solidFill>
                <a:latin typeface="+mn-lt"/>
                <a:ea typeface="+mn-ea"/>
                <a:cs typeface="+mn-cs"/>
              </a:rPr>
              <a:t>.L2</a:t>
            </a:r>
            <a:r>
              <a:rPr lang="ru-RU" dirty="0"/>
              <a:t>, то есть с тела цикла, без предварительной проверки.</a:t>
            </a:r>
          </a:p>
          <a:p>
            <a:endParaRPr lang="ru-RU" dirty="0"/>
          </a:p>
          <a:p>
            <a:r>
              <a:rPr lang="ru-RU" dirty="0"/>
              <a:t>Внутри цикла вызывается </a:t>
            </a:r>
            <a:r>
              <a:rPr lang="ru-RU" sz="1200" kern="1200" dirty="0" err="1">
                <a:solidFill>
                  <a:schemeClr val="tx1"/>
                </a:solidFill>
                <a:latin typeface="+mn-lt"/>
                <a:ea typeface="+mn-ea"/>
                <a:cs typeface="+mn-cs"/>
              </a:rPr>
              <a:t>getchar</a:t>
            </a:r>
            <a:r>
              <a:rPr lang="ru-RU" dirty="0"/>
              <a:t>, результат возвращается в </a:t>
            </a:r>
            <a:r>
              <a:rPr lang="ru-RU" sz="1200" kern="1200" dirty="0" err="1">
                <a:solidFill>
                  <a:schemeClr val="tx1"/>
                </a:solidFill>
                <a:latin typeface="+mn-lt"/>
                <a:ea typeface="+mn-ea"/>
                <a:cs typeface="+mn-cs"/>
              </a:rPr>
              <a:t>eax</a:t>
            </a:r>
            <a:r>
              <a:rPr lang="ru-RU" dirty="0"/>
              <a:t>. Дальше идёт проверка первого условия: </a:t>
            </a:r>
            <a:r>
              <a:rPr lang="ru-RU" sz="1200" kern="1200" dirty="0" err="1">
                <a:solidFill>
                  <a:schemeClr val="tx1"/>
                </a:solidFill>
                <a:latin typeface="+mn-lt"/>
                <a:ea typeface="+mn-ea"/>
                <a:cs typeface="+mn-cs"/>
              </a:rPr>
              <a:t>cmp</a:t>
            </a:r>
            <a:r>
              <a:rPr lang="ru-RU" sz="1200" kern="1200" dirty="0">
                <a:solidFill>
                  <a:schemeClr val="tx1"/>
                </a:solidFill>
                <a:latin typeface="+mn-lt"/>
                <a:ea typeface="+mn-ea"/>
                <a:cs typeface="+mn-cs"/>
              </a:rPr>
              <a:t> </a:t>
            </a:r>
            <a:r>
              <a:rPr lang="ru-RU" sz="1200" kern="1200" dirty="0" err="1">
                <a:solidFill>
                  <a:schemeClr val="tx1"/>
                </a:solidFill>
                <a:latin typeface="+mn-lt"/>
                <a:ea typeface="+mn-ea"/>
                <a:cs typeface="+mn-cs"/>
              </a:rPr>
              <a:t>eax</a:t>
            </a:r>
            <a:r>
              <a:rPr lang="ru-RU" sz="1200" kern="1200" dirty="0">
                <a:solidFill>
                  <a:schemeClr val="tx1"/>
                </a:solidFill>
                <a:latin typeface="+mn-lt"/>
                <a:ea typeface="+mn-ea"/>
                <a:cs typeface="+mn-cs"/>
              </a:rPr>
              <a:t>, -1</a:t>
            </a:r>
            <a:r>
              <a:rPr lang="ru-RU" dirty="0"/>
              <a:t> и переход </a:t>
            </a:r>
            <a:r>
              <a:rPr lang="ru-RU" sz="1200" kern="1200" dirty="0" err="1">
                <a:solidFill>
                  <a:schemeClr val="tx1"/>
                </a:solidFill>
                <a:latin typeface="+mn-lt"/>
                <a:ea typeface="+mn-ea"/>
                <a:cs typeface="+mn-cs"/>
              </a:rPr>
              <a:t>je</a:t>
            </a:r>
            <a:r>
              <a:rPr lang="ru-RU" sz="1200" kern="1200" dirty="0">
                <a:solidFill>
                  <a:schemeClr val="tx1"/>
                </a:solidFill>
                <a:latin typeface="+mn-lt"/>
                <a:ea typeface="+mn-ea"/>
                <a:cs typeface="+mn-cs"/>
              </a:rPr>
              <a:t> .L4</a:t>
            </a:r>
            <a:r>
              <a:rPr lang="ru-RU" dirty="0"/>
              <a:t>. Это соответствует проверке </a:t>
            </a:r>
            <a:r>
              <a:rPr lang="ru-RU" sz="1200" kern="1200" dirty="0">
                <a:solidFill>
                  <a:schemeClr val="tx1"/>
                </a:solidFill>
                <a:latin typeface="+mn-lt"/>
                <a:ea typeface="+mn-ea"/>
                <a:cs typeface="+mn-cs"/>
              </a:rPr>
              <a:t>c != EOF</a:t>
            </a:r>
            <a:r>
              <a:rPr lang="ru-RU" dirty="0"/>
              <a:t>. Если прочитали </a:t>
            </a:r>
            <a:r>
              <a:rPr lang="ru-RU" sz="1200" kern="1200" dirty="0">
                <a:solidFill>
                  <a:schemeClr val="tx1"/>
                </a:solidFill>
                <a:latin typeface="+mn-lt"/>
                <a:ea typeface="+mn-ea"/>
                <a:cs typeface="+mn-cs"/>
              </a:rPr>
              <a:t>EOF</a:t>
            </a:r>
            <a:r>
              <a:rPr lang="ru-RU" dirty="0"/>
              <a:t>, условие становится ложным, и выполнение выходит из цикла на </a:t>
            </a:r>
            <a:r>
              <a:rPr lang="ru-RU" sz="1200" kern="1200" dirty="0">
                <a:solidFill>
                  <a:schemeClr val="tx1"/>
                </a:solidFill>
                <a:latin typeface="+mn-lt"/>
                <a:ea typeface="+mn-ea"/>
                <a:cs typeface="+mn-cs"/>
              </a:rPr>
              <a:t>.L4</a:t>
            </a:r>
            <a:r>
              <a:rPr lang="ru-RU" dirty="0"/>
              <a:t>.</a:t>
            </a:r>
          </a:p>
          <a:p>
            <a:endParaRPr lang="ru-RU" dirty="0"/>
          </a:p>
          <a:p>
            <a:r>
              <a:rPr lang="ru-RU" dirty="0"/>
              <a:t>Если это не </a:t>
            </a:r>
            <a:r>
              <a:rPr lang="ru-RU" sz="1200" kern="1200" dirty="0">
                <a:solidFill>
                  <a:schemeClr val="tx1"/>
                </a:solidFill>
                <a:latin typeface="+mn-lt"/>
                <a:ea typeface="+mn-ea"/>
                <a:cs typeface="+mn-cs"/>
              </a:rPr>
              <a:t>EOF</a:t>
            </a:r>
            <a:r>
              <a:rPr lang="ru-RU" dirty="0"/>
              <a:t>, компилятор проверяет второе условие: </a:t>
            </a:r>
            <a:r>
              <a:rPr lang="ru-RU" sz="1200" kern="1200" dirty="0" err="1">
                <a:solidFill>
                  <a:schemeClr val="tx1"/>
                </a:solidFill>
                <a:latin typeface="+mn-lt"/>
                <a:ea typeface="+mn-ea"/>
                <a:cs typeface="+mn-cs"/>
              </a:rPr>
              <a:t>cmp</a:t>
            </a:r>
            <a:r>
              <a:rPr lang="ru-RU" sz="1200" kern="1200" dirty="0">
                <a:solidFill>
                  <a:schemeClr val="tx1"/>
                </a:solidFill>
                <a:latin typeface="+mn-lt"/>
                <a:ea typeface="+mn-ea"/>
                <a:cs typeface="+mn-cs"/>
              </a:rPr>
              <a:t> </a:t>
            </a:r>
            <a:r>
              <a:rPr lang="ru-RU" sz="1200" kern="1200" dirty="0" err="1">
                <a:solidFill>
                  <a:schemeClr val="tx1"/>
                </a:solidFill>
                <a:latin typeface="+mn-lt"/>
                <a:ea typeface="+mn-ea"/>
                <a:cs typeface="+mn-cs"/>
              </a:rPr>
              <a:t>eax</a:t>
            </a:r>
            <a:r>
              <a:rPr lang="ru-RU" sz="1200" kern="1200" dirty="0">
                <a:solidFill>
                  <a:schemeClr val="tx1"/>
                </a:solidFill>
                <a:latin typeface="+mn-lt"/>
                <a:ea typeface="+mn-ea"/>
                <a:cs typeface="+mn-cs"/>
              </a:rPr>
              <a:t>, 65</a:t>
            </a:r>
            <a:r>
              <a:rPr lang="ru-RU" dirty="0"/>
              <a:t>, где 65 — это код символа </a:t>
            </a:r>
            <a:r>
              <a:rPr lang="ru-RU" sz="1200" kern="1200" dirty="0">
                <a:solidFill>
                  <a:schemeClr val="tx1"/>
                </a:solidFill>
                <a:latin typeface="+mn-lt"/>
                <a:ea typeface="+mn-ea"/>
                <a:cs typeface="+mn-cs"/>
              </a:rPr>
              <a:t>'A'</a:t>
            </a:r>
            <a:r>
              <a:rPr lang="ru-RU" dirty="0"/>
              <a:t>. Инструкция </a:t>
            </a:r>
            <a:r>
              <a:rPr lang="ru-RU" sz="1200" kern="1200" dirty="0" err="1">
                <a:solidFill>
                  <a:schemeClr val="tx1"/>
                </a:solidFill>
                <a:latin typeface="+mn-lt"/>
                <a:ea typeface="+mn-ea"/>
                <a:cs typeface="+mn-cs"/>
              </a:rPr>
              <a:t>jne</a:t>
            </a:r>
            <a:r>
              <a:rPr lang="ru-RU" sz="1200" kern="1200" dirty="0">
                <a:solidFill>
                  <a:schemeClr val="tx1"/>
                </a:solidFill>
                <a:latin typeface="+mn-lt"/>
                <a:ea typeface="+mn-ea"/>
                <a:cs typeface="+mn-cs"/>
              </a:rPr>
              <a:t> .L2</a:t>
            </a:r>
            <a:r>
              <a:rPr lang="ru-RU" dirty="0"/>
              <a:t> означает, что если символ </a:t>
            </a:r>
            <a:r>
              <a:rPr lang="ru-RU" b="1" dirty="0"/>
              <a:t>не</a:t>
            </a:r>
            <a:r>
              <a:rPr lang="ru-RU" dirty="0"/>
              <a:t> равен </a:t>
            </a:r>
            <a:r>
              <a:rPr lang="ru-RU" sz="1200" kern="1200" dirty="0">
                <a:solidFill>
                  <a:schemeClr val="tx1"/>
                </a:solidFill>
                <a:latin typeface="+mn-lt"/>
                <a:ea typeface="+mn-ea"/>
                <a:cs typeface="+mn-cs"/>
              </a:rPr>
              <a:t>'A'</a:t>
            </a:r>
            <a:r>
              <a:rPr lang="ru-RU" dirty="0"/>
              <a:t>, то нужно повторить цикл, то есть вернуться к началу и снова вызвать </a:t>
            </a:r>
            <a:r>
              <a:rPr lang="ru-RU" sz="1200" kern="1200" dirty="0" err="1">
                <a:solidFill>
                  <a:schemeClr val="tx1"/>
                </a:solidFill>
                <a:latin typeface="+mn-lt"/>
                <a:ea typeface="+mn-ea"/>
                <a:cs typeface="+mn-cs"/>
              </a:rPr>
              <a:t>getchar</a:t>
            </a:r>
            <a:r>
              <a:rPr lang="ru-RU" dirty="0"/>
              <a:t>. Если же символ равен </a:t>
            </a:r>
            <a:r>
              <a:rPr lang="ru-RU" sz="1200" kern="1200" dirty="0">
                <a:solidFill>
                  <a:schemeClr val="tx1"/>
                </a:solidFill>
                <a:latin typeface="+mn-lt"/>
                <a:ea typeface="+mn-ea"/>
                <a:cs typeface="+mn-cs"/>
              </a:rPr>
              <a:t>'A'</a:t>
            </a:r>
            <a:r>
              <a:rPr lang="ru-RU" dirty="0"/>
              <a:t>, переход не выполняется, и выполнение тоже попадает на </a:t>
            </a:r>
            <a:r>
              <a:rPr lang="ru-RU" sz="1200" kern="1200" dirty="0">
                <a:solidFill>
                  <a:schemeClr val="tx1"/>
                </a:solidFill>
                <a:latin typeface="+mn-lt"/>
                <a:ea typeface="+mn-ea"/>
                <a:cs typeface="+mn-cs"/>
              </a:rPr>
              <a:t>.L4</a:t>
            </a:r>
            <a:r>
              <a:rPr lang="ru-RU" dirty="0"/>
              <a:t>, то есть цикл заканчивается.</a:t>
            </a:r>
          </a:p>
          <a:p>
            <a:endParaRPr lang="ru-RU" dirty="0"/>
          </a:p>
          <a:p>
            <a:r>
              <a:rPr lang="ru-RU" dirty="0"/>
              <a:t>Обратите внимание, как выражение </a:t>
            </a:r>
            <a:r>
              <a:rPr lang="ru-RU" sz="1200" kern="1200" dirty="0">
                <a:solidFill>
                  <a:schemeClr val="tx1"/>
                </a:solidFill>
                <a:latin typeface="+mn-lt"/>
                <a:ea typeface="+mn-ea"/>
                <a:cs typeface="+mn-cs"/>
              </a:rPr>
              <a:t>c != EOF &amp;&amp; c != 'A'</a:t>
            </a:r>
            <a:r>
              <a:rPr lang="ru-RU" dirty="0"/>
              <a:t> реализовано через последовательность сравнений и переходов. Сначала проверяется </a:t>
            </a:r>
            <a:r>
              <a:rPr lang="ru-RU" sz="1200" kern="1200" dirty="0">
                <a:solidFill>
                  <a:schemeClr val="tx1"/>
                </a:solidFill>
                <a:latin typeface="+mn-lt"/>
                <a:ea typeface="+mn-ea"/>
                <a:cs typeface="+mn-cs"/>
              </a:rPr>
              <a:t>EOF</a:t>
            </a:r>
            <a:r>
              <a:rPr lang="ru-RU" dirty="0"/>
              <a:t>, и только если это не </a:t>
            </a:r>
            <a:r>
              <a:rPr lang="ru-RU" sz="1200" kern="1200" dirty="0">
                <a:solidFill>
                  <a:schemeClr val="tx1"/>
                </a:solidFill>
                <a:latin typeface="+mn-lt"/>
                <a:ea typeface="+mn-ea"/>
                <a:cs typeface="+mn-cs"/>
              </a:rPr>
              <a:t>EOF</a:t>
            </a:r>
            <a:r>
              <a:rPr lang="ru-RU" dirty="0"/>
              <a:t>, проверяется </a:t>
            </a:r>
            <a:r>
              <a:rPr lang="ru-RU" sz="1200" kern="1200" dirty="0">
                <a:solidFill>
                  <a:schemeClr val="tx1"/>
                </a:solidFill>
                <a:latin typeface="+mn-lt"/>
                <a:ea typeface="+mn-ea"/>
                <a:cs typeface="+mn-cs"/>
              </a:rPr>
              <a:t>'A'</a:t>
            </a:r>
            <a:r>
              <a:rPr lang="ru-RU" dirty="0"/>
              <a:t>. Это соответствует логике </a:t>
            </a:r>
            <a:r>
              <a:rPr lang="ru-RU" sz="1200" kern="1200" dirty="0">
                <a:solidFill>
                  <a:schemeClr val="tx1"/>
                </a:solidFill>
                <a:latin typeface="+mn-lt"/>
                <a:ea typeface="+mn-ea"/>
                <a:cs typeface="+mn-cs"/>
              </a:rPr>
              <a:t>&amp;&amp;</a:t>
            </a:r>
            <a:r>
              <a:rPr lang="ru-RU" dirty="0"/>
              <a:t>: второе условие имеет смысл проверять только если первое истинно. В итоге </a:t>
            </a:r>
            <a:r>
              <a:rPr lang="ru-RU" sz="1200" kern="1200" dirty="0" err="1">
                <a:solidFill>
                  <a:schemeClr val="tx1"/>
                </a:solidFill>
                <a:latin typeface="+mn-lt"/>
                <a:ea typeface="+mn-ea"/>
                <a:cs typeface="+mn-cs"/>
              </a:rPr>
              <a:t>do-while</a:t>
            </a:r>
            <a:r>
              <a:rPr lang="ru-RU" dirty="0"/>
              <a:t> на уровне ассемблера снова сводится к простому принципу: </a:t>
            </a:r>
            <a:r>
              <a:rPr lang="ru-RU" b="1" dirty="0"/>
              <a:t>выполнить тело, затем сравнить значения и сделать условный переход назад, если цикл должен продолжаться</a:t>
            </a:r>
            <a:r>
              <a:rPr lang="ru-RU" dirty="0"/>
              <a:t>.</a:t>
            </a:r>
          </a:p>
          <a:p>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34</a:t>
            </a:fld>
            <a:endParaRPr lang="en-US"/>
          </a:p>
        </p:txBody>
      </p:sp>
    </p:spTree>
    <p:extLst>
      <p:ext uri="{BB962C8B-B14F-4D97-AF65-F5344CB8AC3E}">
        <p14:creationId xmlns:p14="http://schemas.microsoft.com/office/powerpoint/2010/main" val="13413649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Все три цикла позволяют организовать повторение действий. Разница заключается в удобстве и читаемости. Если основной акцент на условии — часто используют </a:t>
            </a:r>
            <a:r>
              <a:rPr lang="ru-RU" sz="1200" kern="1200" dirty="0" err="1">
                <a:solidFill>
                  <a:schemeClr val="tx1"/>
                </a:solidFill>
                <a:latin typeface="+mn-lt"/>
                <a:ea typeface="+mn-ea"/>
                <a:cs typeface="+mn-cs"/>
              </a:rPr>
              <a:t>while</a:t>
            </a:r>
            <a:r>
              <a:rPr lang="ru-RU" dirty="0"/>
              <a:t>. Если есть счётчик или перебор значений — удобнее </a:t>
            </a:r>
            <a:r>
              <a:rPr lang="ru-RU" sz="1200" kern="1200" dirty="0" err="1">
                <a:solidFill>
                  <a:schemeClr val="tx1"/>
                </a:solidFill>
                <a:latin typeface="+mn-lt"/>
                <a:ea typeface="+mn-ea"/>
                <a:cs typeface="+mn-cs"/>
              </a:rPr>
              <a:t>for</a:t>
            </a:r>
            <a:r>
              <a:rPr lang="ru-RU" dirty="0"/>
              <a:t>. Если действие должно быть выполнено хотя бы один раз — подходит </a:t>
            </a:r>
            <a:r>
              <a:rPr lang="ru-RU" sz="1200" kern="1200" dirty="0" err="1">
                <a:solidFill>
                  <a:schemeClr val="tx1"/>
                </a:solidFill>
                <a:latin typeface="+mn-lt"/>
                <a:ea typeface="+mn-ea"/>
                <a:cs typeface="+mn-cs"/>
              </a:rPr>
              <a:t>do-while</a:t>
            </a:r>
            <a:r>
              <a:rPr lang="ru-RU" dirty="0"/>
              <a:t>. С точки зрения возможностей языка они эквивалентны, но правильный выбор конструкции делает программу более понятной.</a:t>
            </a:r>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35</a:t>
            </a:fld>
            <a:endParaRPr lang="en-US"/>
          </a:p>
        </p:txBody>
      </p:sp>
    </p:spTree>
    <p:extLst>
      <p:ext uri="{BB962C8B-B14F-4D97-AF65-F5344CB8AC3E}">
        <p14:creationId xmlns:p14="http://schemas.microsoft.com/office/powerpoint/2010/main" val="6649717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B945CA0-E94A-4FB7-A4CA-C1968BB52B92}" type="slidenum">
              <a:rPr lang="en-US" smtClean="0"/>
              <a:t>36</a:t>
            </a:fld>
            <a:endParaRPr lang="en-US"/>
          </a:p>
        </p:txBody>
      </p:sp>
    </p:spTree>
    <p:extLst>
      <p:ext uri="{BB962C8B-B14F-4D97-AF65-F5344CB8AC3E}">
        <p14:creationId xmlns:p14="http://schemas.microsoft.com/office/powerpoint/2010/main" val="39237932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До сих пор мы работали с отдельными переменными. Но если нам нужно хранить десять, сто или тысячу чисел одного типа, объявлять каждую переменную отдельно неудобно и непрактично. Для этого существует массив.</a:t>
            </a:r>
            <a:endParaRPr lang="en-US" dirty="0"/>
          </a:p>
          <a:p>
            <a:endParaRPr lang="en-US" b="1" dirty="0"/>
          </a:p>
          <a:p>
            <a:r>
              <a:rPr lang="ru-RU" b="1" dirty="0"/>
              <a:t>Массив — это фиксированная последовательность элементов одного типа</a:t>
            </a:r>
            <a:r>
              <a:rPr lang="ru-RU" dirty="0"/>
              <a:t>, расположенных подряд в памяти. Он позволяет обращаться к данным по индексу, а не по имени каждой переменной. Это делает программы компактнее и </a:t>
            </a:r>
            <a:r>
              <a:rPr lang="ru-RU" dirty="0" err="1"/>
              <a:t>структурированнее</a:t>
            </a:r>
            <a:r>
              <a:rPr lang="ru-RU" dirty="0"/>
              <a:t>.</a:t>
            </a:r>
          </a:p>
          <a:p>
            <a:br>
              <a:rPr lang="ru-RU" dirty="0"/>
            </a:br>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37</a:t>
            </a:fld>
            <a:endParaRPr lang="en-US"/>
          </a:p>
        </p:txBody>
      </p:sp>
    </p:spTree>
    <p:extLst>
      <p:ext uri="{BB962C8B-B14F-4D97-AF65-F5344CB8AC3E}">
        <p14:creationId xmlns:p14="http://schemas.microsoft.com/office/powerpoint/2010/main" val="39455709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Массив объявляется указанием типа, имени и размера в квадратных скобках. Число в скобках — это </a:t>
            </a:r>
            <a:r>
              <a:rPr lang="ru-RU" b="1" dirty="0"/>
              <a:t>количество элементов</a:t>
            </a:r>
            <a:r>
              <a:rPr lang="ru-RU" dirty="0"/>
              <a:t>, а не последний индекс. Если массив объявлен как </a:t>
            </a:r>
            <a:r>
              <a:rPr lang="ru-RU" sz="1200" kern="1200" dirty="0" err="1">
                <a:solidFill>
                  <a:schemeClr val="tx1"/>
                </a:solidFill>
                <a:latin typeface="+mn-lt"/>
                <a:ea typeface="+mn-ea"/>
                <a:cs typeface="+mn-cs"/>
              </a:rPr>
              <a:t>int</a:t>
            </a:r>
            <a:r>
              <a:rPr lang="ru-RU" sz="1200" kern="1200" dirty="0">
                <a:solidFill>
                  <a:schemeClr val="tx1"/>
                </a:solidFill>
                <a:latin typeface="+mn-lt"/>
                <a:ea typeface="+mn-ea"/>
                <a:cs typeface="+mn-cs"/>
              </a:rPr>
              <a:t> a[10]</a:t>
            </a:r>
            <a:r>
              <a:rPr lang="ru-RU" dirty="0"/>
              <a:t>, допустимые индексы — от 0 до 9. В языке C индексация начинается с нуля. Это важная особенность, к которой нужно привыкнуть. Размер массива должен быть известен во время компиляции, если речь идёт о статическом массиве.</a:t>
            </a:r>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38</a:t>
            </a:fld>
            <a:endParaRPr lang="en-US"/>
          </a:p>
        </p:txBody>
      </p:sp>
    </p:spTree>
    <p:extLst>
      <p:ext uri="{BB962C8B-B14F-4D97-AF65-F5344CB8AC3E}">
        <p14:creationId xmlns:p14="http://schemas.microsoft.com/office/powerpoint/2010/main" val="34040300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 элементам массива обращаются с помощью индекса в квадратных скобках. Индекс — это выражение целого типа, поэтому можно писать не только число, но и переменную или арифметическое выражение. Например, </a:t>
            </a:r>
            <a:r>
              <a:rPr lang="ru-RU" sz="1200" kern="1200" dirty="0">
                <a:solidFill>
                  <a:schemeClr val="tx1"/>
                </a:solidFill>
                <a:latin typeface="+mn-lt"/>
                <a:ea typeface="+mn-ea"/>
                <a:cs typeface="+mn-cs"/>
              </a:rPr>
              <a:t>a[i]</a:t>
            </a:r>
            <a:r>
              <a:rPr lang="ru-RU" dirty="0"/>
              <a:t> означает «элемент с номером i». Важно помнить, что </a:t>
            </a:r>
            <a:r>
              <a:rPr lang="ru-RU" b="1" dirty="0"/>
              <a:t>индекс должен попадать в допустимый диапазон</a:t>
            </a:r>
            <a:r>
              <a:rPr lang="ru-RU" dirty="0"/>
              <a:t>, иначе программа будет работать некорректно. Пока мы просто будем считать, что индексы всегда корректны.</a:t>
            </a:r>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39</a:t>
            </a:fld>
            <a:endParaRPr lang="en-US"/>
          </a:p>
        </p:txBody>
      </p:sp>
    </p:spTree>
    <p:extLst>
      <p:ext uri="{BB962C8B-B14F-4D97-AF65-F5344CB8AC3E}">
        <p14:creationId xmlns:p14="http://schemas.microsoft.com/office/powerpoint/2010/main" val="24594824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Массив можно инициализировать при объявлении, перечислив значения в фигурных скобках. Если количество элементов указано явно, компилятор проверит, что значений не больше, чем размер массива. Если размер не указан, компилятор сам определит его по числу элементов в списке инициализации. Это удобно, когда размер очевиден из данных.</a:t>
            </a:r>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40</a:t>
            </a:fld>
            <a:endParaRPr lang="en-US"/>
          </a:p>
        </p:txBody>
      </p:sp>
    </p:spTree>
    <p:extLst>
      <p:ext uri="{BB962C8B-B14F-4D97-AF65-F5344CB8AC3E}">
        <p14:creationId xmlns:p14="http://schemas.microsoft.com/office/powerpoint/2010/main" val="13449831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Оператор </a:t>
            </a:r>
            <a:r>
              <a:rPr lang="ru-RU" sz="1200" kern="1200" dirty="0" err="1">
                <a:solidFill>
                  <a:schemeClr val="tx1"/>
                </a:solidFill>
                <a:latin typeface="+mn-lt"/>
                <a:ea typeface="+mn-ea"/>
                <a:cs typeface="+mn-cs"/>
              </a:rPr>
              <a:t>sizeof</a:t>
            </a:r>
            <a:r>
              <a:rPr lang="ru-RU" dirty="0"/>
              <a:t> позволяет узнать размер массива в байтах. Если массив содержит 10 элементов типа </a:t>
            </a:r>
            <a:r>
              <a:rPr lang="ru-RU" sz="1200" kern="1200" dirty="0" err="1">
                <a:solidFill>
                  <a:schemeClr val="tx1"/>
                </a:solidFill>
                <a:latin typeface="+mn-lt"/>
                <a:ea typeface="+mn-ea"/>
                <a:cs typeface="+mn-cs"/>
              </a:rPr>
              <a:t>int</a:t>
            </a:r>
            <a:r>
              <a:rPr lang="ru-RU" dirty="0"/>
              <a:t>, результат будет равен </a:t>
            </a:r>
            <a:r>
              <a:rPr lang="ru-RU" sz="1200" kern="1200" dirty="0">
                <a:solidFill>
                  <a:schemeClr val="tx1"/>
                </a:solidFill>
                <a:latin typeface="+mn-lt"/>
                <a:ea typeface="+mn-ea"/>
                <a:cs typeface="+mn-cs"/>
              </a:rPr>
              <a:t>10 * </a:t>
            </a:r>
            <a:r>
              <a:rPr lang="ru-RU" sz="1200" kern="1200" dirty="0" err="1">
                <a:solidFill>
                  <a:schemeClr val="tx1"/>
                </a:solidFill>
                <a:latin typeface="+mn-lt"/>
                <a:ea typeface="+mn-ea"/>
                <a:cs typeface="+mn-cs"/>
              </a:rPr>
              <a:t>sizeof</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int</a:t>
            </a:r>
            <a:r>
              <a:rPr lang="ru-RU" sz="1200" kern="1200" dirty="0">
                <a:solidFill>
                  <a:schemeClr val="tx1"/>
                </a:solidFill>
                <a:latin typeface="+mn-lt"/>
                <a:ea typeface="+mn-ea"/>
                <a:cs typeface="+mn-cs"/>
              </a:rPr>
              <a:t>)</a:t>
            </a:r>
            <a:r>
              <a:rPr lang="ru-RU" dirty="0"/>
              <a:t>. Чтобы узнать количество элементов, можно разделить общий размер массива на размер одного элемента. Это полезный приём, когда размер массива известен компилятору. Важно понимать, что здесь </a:t>
            </a:r>
            <a:r>
              <a:rPr lang="ru-RU" sz="1200" kern="1200" dirty="0" err="1">
                <a:solidFill>
                  <a:schemeClr val="tx1"/>
                </a:solidFill>
                <a:latin typeface="+mn-lt"/>
                <a:ea typeface="+mn-ea"/>
                <a:cs typeface="+mn-cs"/>
              </a:rPr>
              <a:t>sizeof</a:t>
            </a:r>
            <a:r>
              <a:rPr lang="ru-RU" dirty="0"/>
              <a:t> работает именно с самим массивом, а не с указателем — к указателям мы вернёмся позже.</a:t>
            </a:r>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41</a:t>
            </a:fld>
            <a:endParaRPr lang="en-US"/>
          </a:p>
        </p:txBody>
      </p:sp>
    </p:spTree>
    <p:extLst>
      <p:ext uri="{BB962C8B-B14F-4D97-AF65-F5344CB8AC3E}">
        <p14:creationId xmlns:p14="http://schemas.microsoft.com/office/powerpoint/2010/main" val="17452663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Статический массив имеет </a:t>
            </a:r>
            <a:r>
              <a:rPr lang="ru-RU" b="1" dirty="0"/>
              <a:t>фиксированный размер</a:t>
            </a:r>
            <a:r>
              <a:rPr lang="ru-RU" dirty="0"/>
              <a:t>, который определяется на этапе компиляции. Это означает, что компилятор заранее выделяет под него определённую область памяти, и после запуска программы этот размер изменить нельзя. Если вы объявили </a:t>
            </a:r>
            <a:r>
              <a:rPr lang="ru-RU" sz="1200" kern="1200" dirty="0" err="1">
                <a:solidFill>
                  <a:schemeClr val="tx1"/>
                </a:solidFill>
                <a:latin typeface="+mn-lt"/>
                <a:ea typeface="+mn-ea"/>
                <a:cs typeface="+mn-cs"/>
              </a:rPr>
              <a:t>int</a:t>
            </a:r>
            <a:r>
              <a:rPr lang="ru-RU" sz="1200" kern="1200" dirty="0">
                <a:solidFill>
                  <a:schemeClr val="tx1"/>
                </a:solidFill>
                <a:latin typeface="+mn-lt"/>
                <a:ea typeface="+mn-ea"/>
                <a:cs typeface="+mn-cs"/>
              </a:rPr>
              <a:t> a[10];</a:t>
            </a:r>
            <a:r>
              <a:rPr lang="ru-RU" dirty="0"/>
              <a:t>, то элементов всегда будет ровно десять — ни больше, ни меньше. Поэтому количество элементов должно быть известно заранее, ещё до выполнения программы.</a:t>
            </a:r>
          </a:p>
          <a:p>
            <a:endParaRPr lang="ru-RU" dirty="0"/>
          </a:p>
          <a:p>
            <a:r>
              <a:rPr lang="ru-RU" dirty="0"/>
              <a:t>Второе важное ограничение связано с индексами. Допустимые индексы лежат в диапазоне от 0 до </a:t>
            </a:r>
            <a:r>
              <a:rPr lang="ru-RU" sz="1200" kern="1200" dirty="0" err="1">
                <a:solidFill>
                  <a:schemeClr val="tx1"/>
                </a:solidFill>
                <a:latin typeface="+mn-lt"/>
                <a:ea typeface="+mn-ea"/>
                <a:cs typeface="+mn-cs"/>
              </a:rPr>
              <a:t>size</a:t>
            </a:r>
            <a:r>
              <a:rPr lang="ru-RU" sz="1200" kern="1200" dirty="0">
                <a:solidFill>
                  <a:schemeClr val="tx1"/>
                </a:solidFill>
                <a:latin typeface="+mn-lt"/>
                <a:ea typeface="+mn-ea"/>
                <a:cs typeface="+mn-cs"/>
              </a:rPr>
              <a:t> - 1</a:t>
            </a:r>
            <a:r>
              <a:rPr lang="ru-RU" dirty="0"/>
              <a:t>. Язык C </a:t>
            </a:r>
            <a:r>
              <a:rPr lang="ru-RU" b="1" dirty="0"/>
              <a:t>не выполняет автоматическую проверку выхода за границы массива</a:t>
            </a:r>
            <a:r>
              <a:rPr lang="ru-RU" dirty="0"/>
              <a:t>. Если обратиться к </a:t>
            </a:r>
            <a:r>
              <a:rPr lang="ru-RU" sz="1200" kern="1200" dirty="0">
                <a:solidFill>
                  <a:schemeClr val="tx1"/>
                </a:solidFill>
                <a:latin typeface="+mn-lt"/>
                <a:ea typeface="+mn-ea"/>
                <a:cs typeface="+mn-cs"/>
              </a:rPr>
              <a:t>a[10]</a:t>
            </a:r>
            <a:r>
              <a:rPr lang="ru-RU" dirty="0"/>
              <a:t> в массиве из десяти элементов, компилятор этого не запретит, и программа может продолжить работу, но поведение будет некорректным. Это может привести к повреждению данных или непредсказуемым ошибкам.</a:t>
            </a:r>
          </a:p>
          <a:p>
            <a:endParaRPr lang="ru-RU" dirty="0"/>
          </a:p>
          <a:p>
            <a:r>
              <a:rPr lang="ru-RU" dirty="0"/>
              <a:t>Таким образом, статический массив — это просто </a:t>
            </a:r>
            <a:r>
              <a:rPr lang="ru-RU" b="1" dirty="0"/>
              <a:t>фиксированная непрерывная область памяти</a:t>
            </a:r>
            <a:r>
              <a:rPr lang="ru-RU" dirty="0"/>
              <a:t>, и ответственность за корректную работу с этой областью полностью лежит на программисте. Именно поэтому так важно аккуратно контролировать диапазоны индексов и использовать циклы с правильно заданными условиями.</a:t>
            </a:r>
          </a:p>
        </p:txBody>
      </p:sp>
      <p:sp>
        <p:nvSpPr>
          <p:cNvPr id="4" name="Slide Number Placeholder 3"/>
          <p:cNvSpPr>
            <a:spLocks noGrp="1"/>
          </p:cNvSpPr>
          <p:nvPr>
            <p:ph type="sldNum" sz="quarter" idx="5"/>
          </p:nvPr>
        </p:nvSpPr>
        <p:spPr/>
        <p:txBody>
          <a:bodyPr/>
          <a:lstStyle/>
          <a:p>
            <a:fld id="{CB945CA0-E94A-4FB7-A4CA-C1968BB52B92}" type="slidenum">
              <a:rPr lang="en-US" smtClean="0"/>
              <a:t>42</a:t>
            </a:fld>
            <a:endParaRPr lang="en-US"/>
          </a:p>
        </p:txBody>
      </p:sp>
    </p:spTree>
    <p:extLst>
      <p:ext uri="{BB962C8B-B14F-4D97-AF65-F5344CB8AC3E}">
        <p14:creationId xmlns:p14="http://schemas.microsoft.com/office/powerpoint/2010/main" val="31760732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Итак, массив — это </a:t>
            </a:r>
            <a:r>
              <a:rPr lang="ru-RU" b="1" dirty="0"/>
              <a:t>непрерывная последовательность элементов одного типа</a:t>
            </a:r>
            <a:r>
              <a:rPr lang="ru-RU" dirty="0"/>
              <a:t>, доступ к которым осуществляется по индексу. Размер статического массива фиксирован и известен компилятору. Индексация начинается с нуля, и за корректность индексов отвечает программист. В сочетании с циклом </a:t>
            </a:r>
            <a:r>
              <a:rPr lang="ru-RU" sz="1200" kern="1200" dirty="0" err="1">
                <a:solidFill>
                  <a:schemeClr val="tx1"/>
                </a:solidFill>
                <a:latin typeface="+mn-lt"/>
                <a:ea typeface="+mn-ea"/>
                <a:cs typeface="+mn-cs"/>
              </a:rPr>
              <a:t>for</a:t>
            </a:r>
            <a:r>
              <a:rPr lang="ru-RU" dirty="0"/>
              <a:t> массив становится мощным инструментом для обработки наборов данных.</a:t>
            </a:r>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43</a:t>
            </a:fld>
            <a:endParaRPr lang="en-US"/>
          </a:p>
        </p:txBody>
      </p:sp>
    </p:spTree>
    <p:extLst>
      <p:ext uri="{BB962C8B-B14F-4D97-AF65-F5344CB8AC3E}">
        <p14:creationId xmlns:p14="http://schemas.microsoft.com/office/powerpoint/2010/main" val="178895674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До сих пор мы рассматривали одномерные массивы — по сути, линейные последовательности элементов. Но во многих задачах данные естественно организованы в виде таблицы: строки и столбцы. Например, матрица чисел, игровое поле или таблица значений. Для этого используются двумерные массивы.</a:t>
            </a:r>
          </a:p>
          <a:p>
            <a:endParaRPr lang="ru-RU" dirty="0"/>
          </a:p>
          <a:p>
            <a:r>
              <a:rPr lang="ru-RU" dirty="0"/>
              <a:t>Запись </a:t>
            </a:r>
            <a:r>
              <a:rPr lang="ru-RU" sz="1200" kern="1200" dirty="0" err="1">
                <a:solidFill>
                  <a:schemeClr val="tx1"/>
                </a:solidFill>
                <a:latin typeface="+mn-lt"/>
                <a:ea typeface="+mn-ea"/>
                <a:cs typeface="+mn-cs"/>
              </a:rPr>
              <a:t>int</a:t>
            </a:r>
            <a:r>
              <a:rPr lang="ru-RU" sz="1200" kern="1200" dirty="0">
                <a:solidFill>
                  <a:schemeClr val="tx1"/>
                </a:solidFill>
                <a:latin typeface="+mn-lt"/>
                <a:ea typeface="+mn-ea"/>
                <a:cs typeface="+mn-cs"/>
              </a:rPr>
              <a:t> a[3][4];</a:t>
            </a:r>
            <a:r>
              <a:rPr lang="ru-RU" dirty="0"/>
              <a:t> означает, что мы объявляем массив из трёх элементов, каждый из которых сам является массивом из четырёх </a:t>
            </a:r>
            <a:r>
              <a:rPr lang="ru-RU" sz="1200" kern="1200" dirty="0" err="1">
                <a:solidFill>
                  <a:schemeClr val="tx1"/>
                </a:solidFill>
                <a:latin typeface="+mn-lt"/>
                <a:ea typeface="+mn-ea"/>
                <a:cs typeface="+mn-cs"/>
              </a:rPr>
              <a:t>int</a:t>
            </a:r>
            <a:r>
              <a:rPr lang="ru-RU" dirty="0"/>
              <a:t>. Иначе говоря, это </a:t>
            </a:r>
            <a:r>
              <a:rPr lang="ru-RU" b="1" dirty="0"/>
              <a:t>три строки по четыре элемента в каждой</a:t>
            </a:r>
            <a:r>
              <a:rPr lang="ru-RU" dirty="0"/>
              <a:t>. Общее количество элементов равно произведению размеров: </a:t>
            </a:r>
            <a:r>
              <a:rPr lang="ru-RU" sz="1200" kern="1200" dirty="0">
                <a:solidFill>
                  <a:schemeClr val="tx1"/>
                </a:solidFill>
                <a:latin typeface="+mn-lt"/>
                <a:ea typeface="+mn-ea"/>
                <a:cs typeface="+mn-cs"/>
              </a:rPr>
              <a:t>3 * 4 = 12</a:t>
            </a:r>
            <a:r>
              <a:rPr lang="ru-RU" dirty="0"/>
              <a:t>.</a:t>
            </a:r>
          </a:p>
          <a:p>
            <a:endParaRPr lang="ru-RU" dirty="0"/>
          </a:p>
          <a:p>
            <a:r>
              <a:rPr lang="ru-RU" dirty="0"/>
              <a:t>Обращение к элементу происходит через два индекса: </a:t>
            </a:r>
            <a:r>
              <a:rPr lang="ru-RU" sz="1200" kern="1200" dirty="0">
                <a:solidFill>
                  <a:schemeClr val="tx1"/>
                </a:solidFill>
                <a:latin typeface="+mn-lt"/>
                <a:ea typeface="+mn-ea"/>
                <a:cs typeface="+mn-cs"/>
              </a:rPr>
              <a:t>a[i][j]</a:t>
            </a:r>
            <a:r>
              <a:rPr lang="ru-RU" dirty="0"/>
              <a:t>. Первый индекс выбирает строку, второй — элемент внутри строки. Как и в одномерном массиве, индексация начинается с нуля, поэтому допустимые значения индексов в этом примере — </a:t>
            </a:r>
            <a:r>
              <a:rPr lang="ru-RU" sz="1200" kern="1200" dirty="0">
                <a:solidFill>
                  <a:schemeClr val="tx1"/>
                </a:solidFill>
                <a:latin typeface="+mn-lt"/>
                <a:ea typeface="+mn-ea"/>
                <a:cs typeface="+mn-cs"/>
              </a:rPr>
              <a:t>i</a:t>
            </a:r>
            <a:r>
              <a:rPr lang="ru-RU" dirty="0"/>
              <a:t> от 0 до 2 и </a:t>
            </a:r>
            <a:r>
              <a:rPr lang="ru-RU" sz="1200" kern="1200" dirty="0">
                <a:solidFill>
                  <a:schemeClr val="tx1"/>
                </a:solidFill>
                <a:latin typeface="+mn-lt"/>
                <a:ea typeface="+mn-ea"/>
                <a:cs typeface="+mn-cs"/>
              </a:rPr>
              <a:t>j</a:t>
            </a:r>
            <a:r>
              <a:rPr lang="ru-RU" dirty="0"/>
              <a:t> от 0 до 3.</a:t>
            </a:r>
          </a:p>
          <a:p>
            <a:endParaRPr lang="ru-RU" dirty="0"/>
          </a:p>
          <a:p>
            <a:r>
              <a:rPr lang="ru-RU" dirty="0"/>
              <a:t>Важно понимать, что двумерный массив — это не какая-то особая структура данных, а просто более сложная форма массива. Позже мы увидим, что в памяти он по-прежнему хранится линейно, а два индекса — это лишь удобный способ обращения к элементам.</a:t>
            </a:r>
          </a:p>
          <a:p>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44</a:t>
            </a:fld>
            <a:endParaRPr lang="en-US"/>
          </a:p>
        </p:txBody>
      </p:sp>
    </p:spTree>
    <p:extLst>
      <p:ext uri="{BB962C8B-B14F-4D97-AF65-F5344CB8AC3E}">
        <p14:creationId xmlns:p14="http://schemas.microsoft.com/office/powerpoint/2010/main" val="33679740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Двумерный массив можно инициализировать с помощью вложенных фигурных скобок, что делает структуру таблицы наглядной. Каждая внутренняя группа соответствует строке массива. Однако с точки зрения компилятора это просто последовательность значений, расположенных подряд в памяти. Поэтому допускается и плоская запись без внутренних скобок. Это ещё раз подчёркивает, что в памяти элементы идут непрерывно.</a:t>
            </a:r>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45</a:t>
            </a:fld>
            <a:endParaRPr lang="en-US"/>
          </a:p>
        </p:txBody>
      </p:sp>
    </p:spTree>
    <p:extLst>
      <p:ext uri="{BB962C8B-B14F-4D97-AF65-F5344CB8AC3E}">
        <p14:creationId xmlns:p14="http://schemas.microsoft.com/office/powerpoint/2010/main" val="36719730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Для обработки двумерного массива обычно используются </a:t>
            </a:r>
            <a:r>
              <a:rPr lang="ru-RU" b="1" dirty="0"/>
              <a:t>вложенные циклы</a:t>
            </a:r>
            <a:r>
              <a:rPr lang="ru-RU" dirty="0"/>
              <a:t>. Внешний цикл отвечает за перебор строк, а внутренний — за перебор элементов внутри каждой строки. В данном примере переменная </a:t>
            </a:r>
            <a:r>
              <a:rPr lang="ru-RU" sz="1200" kern="1200" dirty="0">
                <a:solidFill>
                  <a:schemeClr val="tx1"/>
                </a:solidFill>
                <a:latin typeface="+mn-lt"/>
                <a:ea typeface="+mn-ea"/>
                <a:cs typeface="+mn-cs"/>
              </a:rPr>
              <a:t>i</a:t>
            </a:r>
            <a:r>
              <a:rPr lang="ru-RU" dirty="0"/>
              <a:t> принимает значения от 0 до 2 и выбирает строку массива, а переменная </a:t>
            </a:r>
            <a:r>
              <a:rPr lang="ru-RU" sz="1200" kern="1200" dirty="0">
                <a:solidFill>
                  <a:schemeClr val="tx1"/>
                </a:solidFill>
                <a:latin typeface="+mn-lt"/>
                <a:ea typeface="+mn-ea"/>
                <a:cs typeface="+mn-cs"/>
              </a:rPr>
              <a:t>j</a:t>
            </a:r>
            <a:r>
              <a:rPr lang="ru-RU" dirty="0"/>
              <a:t> принимает значения от 0 до 3 и выбирает элемент внутри строки.</a:t>
            </a:r>
          </a:p>
          <a:p>
            <a:endParaRPr lang="ru-RU" dirty="0"/>
          </a:p>
          <a:p>
            <a:r>
              <a:rPr lang="ru-RU" dirty="0"/>
              <a:t>На каждой итерации внутреннего цикла мы обращаемся к элементу </a:t>
            </a:r>
            <a:r>
              <a:rPr lang="ru-RU" sz="1200" kern="1200" dirty="0">
                <a:solidFill>
                  <a:schemeClr val="tx1"/>
                </a:solidFill>
                <a:latin typeface="+mn-lt"/>
                <a:ea typeface="+mn-ea"/>
                <a:cs typeface="+mn-cs"/>
              </a:rPr>
              <a:t>a[i][j]</a:t>
            </a:r>
            <a:r>
              <a:rPr lang="ru-RU" dirty="0"/>
              <a:t> и выводим его. Когда внутренний цикл завершается, мы печатаем перевод строки, чтобы перейти к следующей строке таблицы. Таким образом структура вложенных циклов естественно отражает структуру данных: строка за строкой, элемент за элементом.</a:t>
            </a:r>
          </a:p>
          <a:p>
            <a:endParaRPr lang="ru-RU" dirty="0"/>
          </a:p>
          <a:p>
            <a:r>
              <a:rPr lang="ru-RU" dirty="0"/>
              <a:t>Важно, чтобы границы циклов точно соответствовали размерам массива. Если размеры изменятся, их нужно изменить и в условиях циклов. Именно поэтому на практике часто используют константы или вычисляют размеры через </a:t>
            </a:r>
            <a:r>
              <a:rPr lang="ru-RU" sz="1200" kern="1200" dirty="0" err="1">
                <a:solidFill>
                  <a:schemeClr val="tx1"/>
                </a:solidFill>
                <a:latin typeface="+mn-lt"/>
                <a:ea typeface="+mn-ea"/>
                <a:cs typeface="+mn-cs"/>
              </a:rPr>
              <a:t>sizeof</a:t>
            </a:r>
            <a:r>
              <a:rPr lang="ru-RU" dirty="0"/>
              <a:t>, чтобы избежать ошибок.</a:t>
            </a:r>
          </a:p>
          <a:p>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46</a:t>
            </a:fld>
            <a:endParaRPr lang="en-US"/>
          </a:p>
        </p:txBody>
      </p:sp>
    </p:spTree>
    <p:extLst>
      <p:ext uri="{BB962C8B-B14F-4D97-AF65-F5344CB8AC3E}">
        <p14:creationId xmlns:p14="http://schemas.microsoft.com/office/powerpoint/2010/main" val="248556661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Здесь показан простой, но реалистичный пример использования двумерного массива — вычисление суммы всех элементов матрицы. Мы объявляем массив </a:t>
            </a:r>
            <a:r>
              <a:rPr lang="ru-RU" sz="1200" kern="1200" dirty="0">
                <a:solidFill>
                  <a:schemeClr val="tx1"/>
                </a:solidFill>
                <a:latin typeface="+mn-lt"/>
                <a:ea typeface="+mn-ea"/>
                <a:cs typeface="+mn-cs"/>
              </a:rPr>
              <a:t>a[3][4]</a:t>
            </a:r>
            <a:r>
              <a:rPr lang="ru-RU" dirty="0"/>
              <a:t> и инициализируем его значениями, организованными по строкам. Затем вводим переменную </a:t>
            </a:r>
            <a:r>
              <a:rPr lang="ru-RU" sz="1200" kern="1200" dirty="0" err="1">
                <a:solidFill>
                  <a:schemeClr val="tx1"/>
                </a:solidFill>
                <a:latin typeface="+mn-lt"/>
                <a:ea typeface="+mn-ea"/>
                <a:cs typeface="+mn-cs"/>
              </a:rPr>
              <a:t>sum</a:t>
            </a:r>
            <a:r>
              <a:rPr lang="ru-RU" dirty="0"/>
              <a:t>, в которую будем накапливать результат.</a:t>
            </a:r>
            <a:endParaRPr lang="en-US" dirty="0"/>
          </a:p>
          <a:p>
            <a:endParaRPr lang="ru-RU" dirty="0"/>
          </a:p>
          <a:p>
            <a:r>
              <a:rPr lang="ru-RU" dirty="0"/>
              <a:t>Далее используются вложенные циклы: внешний цикл перебирает строки, внутренний — элементы внутри каждой строки. На каждой итерации значение текущего элемента добавляется к переменной </a:t>
            </a:r>
            <a:r>
              <a:rPr lang="ru-RU" sz="1200" kern="1200" dirty="0" err="1">
                <a:solidFill>
                  <a:schemeClr val="tx1"/>
                </a:solidFill>
                <a:latin typeface="+mn-lt"/>
                <a:ea typeface="+mn-ea"/>
                <a:cs typeface="+mn-cs"/>
              </a:rPr>
              <a:t>sum</a:t>
            </a:r>
            <a:r>
              <a:rPr lang="ru-RU" dirty="0"/>
              <a:t>. В конце программа выводит итоговую сумму.</a:t>
            </a:r>
            <a:endParaRPr lang="en-US" dirty="0"/>
          </a:p>
          <a:p>
            <a:endParaRPr lang="ru-RU" dirty="0"/>
          </a:p>
          <a:p>
            <a:r>
              <a:rPr lang="ru-RU" dirty="0"/>
              <a:t>Этот пример показывает типичный шаблон работы с таблицей данных: </a:t>
            </a:r>
            <a:r>
              <a:rPr lang="ru-RU" b="1" dirty="0"/>
              <a:t>вложенные циклы + доступ по двум индексам</a:t>
            </a:r>
            <a:r>
              <a:rPr lang="ru-RU" dirty="0"/>
              <a:t>. Именно так реализуются многие алгоритмы обработки матриц, изображений, игровых полей и других двумерных структур.</a:t>
            </a:r>
          </a:p>
          <a:p>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47</a:t>
            </a:fld>
            <a:endParaRPr lang="en-US"/>
          </a:p>
        </p:txBody>
      </p:sp>
    </p:spTree>
    <p:extLst>
      <p:ext uri="{BB962C8B-B14F-4D97-AF65-F5344CB8AC3E}">
        <p14:creationId xmlns:p14="http://schemas.microsoft.com/office/powerpoint/2010/main" val="24201928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Важно понимать, что в памяти нет «настоящих таблиц». Двумерный массив — это одна непрерывная область памяти. Сначала идут все элементы первой строки, затем второй, затем третьей. Такой способ хранения называется построчным, или </a:t>
            </a:r>
            <a:r>
              <a:rPr lang="ru-RU" dirty="0" err="1"/>
              <a:t>row-major</a:t>
            </a:r>
            <a:r>
              <a:rPr lang="ru-RU" dirty="0"/>
              <a:t> </a:t>
            </a:r>
            <a:r>
              <a:rPr lang="ru-RU" dirty="0" err="1"/>
              <a:t>order</a:t>
            </a:r>
            <a:r>
              <a:rPr lang="ru-RU" dirty="0"/>
              <a:t>. Это означает, что элементы </a:t>
            </a:r>
            <a:r>
              <a:rPr lang="ru-RU" sz="1200" kern="1200" dirty="0">
                <a:solidFill>
                  <a:schemeClr val="tx1"/>
                </a:solidFill>
                <a:latin typeface="+mn-lt"/>
                <a:ea typeface="+mn-ea"/>
                <a:cs typeface="+mn-cs"/>
              </a:rPr>
              <a:t>a[0][0]</a:t>
            </a:r>
            <a:r>
              <a:rPr lang="ru-RU" dirty="0"/>
              <a:t>, </a:t>
            </a:r>
            <a:r>
              <a:rPr lang="ru-RU" sz="1200" kern="1200" dirty="0">
                <a:solidFill>
                  <a:schemeClr val="tx1"/>
                </a:solidFill>
                <a:latin typeface="+mn-lt"/>
                <a:ea typeface="+mn-ea"/>
                <a:cs typeface="+mn-cs"/>
              </a:rPr>
              <a:t>a[0][1]</a:t>
            </a:r>
            <a:r>
              <a:rPr lang="ru-RU" dirty="0"/>
              <a:t>, </a:t>
            </a:r>
            <a:r>
              <a:rPr lang="ru-RU" sz="1200" kern="1200" dirty="0">
                <a:solidFill>
                  <a:schemeClr val="tx1"/>
                </a:solidFill>
                <a:latin typeface="+mn-lt"/>
                <a:ea typeface="+mn-ea"/>
                <a:cs typeface="+mn-cs"/>
              </a:rPr>
              <a:t>a[0][2]</a:t>
            </a:r>
            <a:r>
              <a:rPr lang="ru-RU" dirty="0"/>
              <a:t>, </a:t>
            </a:r>
            <a:r>
              <a:rPr lang="ru-RU" sz="1200" kern="1200" dirty="0">
                <a:solidFill>
                  <a:schemeClr val="tx1"/>
                </a:solidFill>
                <a:latin typeface="+mn-lt"/>
                <a:ea typeface="+mn-ea"/>
                <a:cs typeface="+mn-cs"/>
              </a:rPr>
              <a:t>a[0][3]</a:t>
            </a:r>
            <a:r>
              <a:rPr lang="ru-RU" dirty="0"/>
              <a:t> расположены подряд, затем сразу начинается следующая строка. Это знание станет особенно важным, когда мы будем говорить о работе с памятью и указателями.</a:t>
            </a:r>
          </a:p>
          <a:p>
            <a:br>
              <a:rPr lang="ru-RU" dirty="0"/>
            </a:br>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48</a:t>
            </a:fld>
            <a:endParaRPr lang="en-US"/>
          </a:p>
        </p:txBody>
      </p:sp>
    </p:spTree>
    <p:extLst>
      <p:ext uri="{BB962C8B-B14F-4D97-AF65-F5344CB8AC3E}">
        <p14:creationId xmlns:p14="http://schemas.microsoft.com/office/powerpoint/2010/main" val="218037113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языке C можно объявлять массивы не только двумерные, но и трёхмерные, четырёхмерные и так далее. Например, запись </a:t>
            </a:r>
            <a:r>
              <a:rPr lang="ru-RU" sz="1200" kern="1200" dirty="0" err="1">
                <a:solidFill>
                  <a:schemeClr val="tx1"/>
                </a:solidFill>
                <a:latin typeface="+mn-lt"/>
                <a:ea typeface="+mn-ea"/>
                <a:cs typeface="+mn-cs"/>
              </a:rPr>
              <a:t>int</a:t>
            </a:r>
            <a:r>
              <a:rPr lang="ru-RU" sz="1200" kern="1200" dirty="0">
                <a:solidFill>
                  <a:schemeClr val="tx1"/>
                </a:solidFill>
                <a:latin typeface="+mn-lt"/>
                <a:ea typeface="+mn-ea"/>
                <a:cs typeface="+mn-cs"/>
              </a:rPr>
              <a:t> a[2][3][4];</a:t>
            </a:r>
            <a:r>
              <a:rPr lang="ru-RU" dirty="0"/>
              <a:t> означает, что у нас есть массив из двух элементов, каждый из которых является массивом из трёх элементов, каждый из которых, в свою очередь, является массивом из четырёх </a:t>
            </a:r>
            <a:r>
              <a:rPr lang="ru-RU" sz="1200" kern="1200" dirty="0" err="1">
                <a:solidFill>
                  <a:schemeClr val="tx1"/>
                </a:solidFill>
                <a:latin typeface="+mn-lt"/>
                <a:ea typeface="+mn-ea"/>
                <a:cs typeface="+mn-cs"/>
              </a:rPr>
              <a:t>int</a:t>
            </a:r>
            <a:r>
              <a:rPr lang="ru-RU" dirty="0"/>
              <a:t>. Общее количество элементов равно произведению размеров: </a:t>
            </a:r>
            <a:r>
              <a:rPr lang="ru-RU" sz="1200" kern="1200" dirty="0">
                <a:solidFill>
                  <a:schemeClr val="tx1"/>
                </a:solidFill>
                <a:latin typeface="+mn-lt"/>
                <a:ea typeface="+mn-ea"/>
                <a:cs typeface="+mn-cs"/>
              </a:rPr>
              <a:t>2 * 3 * 4 = 24</a:t>
            </a:r>
            <a:r>
              <a:rPr lang="ru-RU" dirty="0"/>
              <a:t>.</a:t>
            </a:r>
          </a:p>
          <a:p>
            <a:endParaRPr lang="ru-RU" dirty="0"/>
          </a:p>
          <a:p>
            <a:r>
              <a:rPr lang="ru-RU" dirty="0"/>
              <a:t>С точки зрения синтаксиса это просто добавление ещё одного индекса. Обращение к элементу будет выглядеть как </a:t>
            </a:r>
            <a:r>
              <a:rPr lang="ru-RU" sz="1200" kern="1200" dirty="0">
                <a:solidFill>
                  <a:schemeClr val="tx1"/>
                </a:solidFill>
                <a:latin typeface="+mn-lt"/>
                <a:ea typeface="+mn-ea"/>
                <a:cs typeface="+mn-cs"/>
              </a:rPr>
              <a:t>a[i][j][k]</a:t>
            </a:r>
            <a:r>
              <a:rPr lang="ru-RU" dirty="0"/>
              <a:t>, где каждый индекс выбирает соответствующий уровень вложенности. Однако важно понимать, что в памяти никакого «трёхмерного пространства» не существует. Все элементы по-прежнему хранятся </a:t>
            </a:r>
            <a:r>
              <a:rPr lang="ru-RU" b="1" dirty="0"/>
              <a:t>в одной непрерывной области памяти</a:t>
            </a:r>
            <a:r>
              <a:rPr lang="ru-RU" dirty="0"/>
              <a:t>, просто компилятор вычисляет смещение на основе всех индексов.</a:t>
            </a:r>
          </a:p>
          <a:p>
            <a:endParaRPr lang="ru-RU" dirty="0"/>
          </a:p>
          <a:p>
            <a:r>
              <a:rPr lang="ru-RU" dirty="0"/>
              <a:t>Каждое новое измерение добавляет ещё один уровень структурирования данных, но физически всё остаётся линейной последовательностью значений. Именно поэтому количество элементов всегда равно произведению всех размеров. Это общее правило для многомерных статических массивов в C.</a:t>
            </a:r>
          </a:p>
        </p:txBody>
      </p:sp>
      <p:sp>
        <p:nvSpPr>
          <p:cNvPr id="4" name="Slide Number Placeholder 3"/>
          <p:cNvSpPr>
            <a:spLocks noGrp="1"/>
          </p:cNvSpPr>
          <p:nvPr>
            <p:ph type="sldNum" sz="quarter" idx="5"/>
          </p:nvPr>
        </p:nvSpPr>
        <p:spPr/>
        <p:txBody>
          <a:bodyPr/>
          <a:lstStyle/>
          <a:p>
            <a:fld id="{CB945CA0-E94A-4FB7-A4CA-C1968BB52B92}" type="slidenum">
              <a:rPr lang="en-US" smtClean="0"/>
              <a:t>49</a:t>
            </a:fld>
            <a:endParaRPr lang="en-US"/>
          </a:p>
        </p:txBody>
      </p:sp>
    </p:spTree>
    <p:extLst>
      <p:ext uri="{BB962C8B-B14F-4D97-AF65-F5344CB8AC3E}">
        <p14:creationId xmlns:p14="http://schemas.microsoft.com/office/powerpoint/2010/main" val="17101616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B945CA0-E94A-4FB7-A4CA-C1968BB52B92}" type="slidenum">
              <a:rPr lang="en-US" smtClean="0"/>
              <a:t>50</a:t>
            </a:fld>
            <a:endParaRPr lang="en-US"/>
          </a:p>
        </p:txBody>
      </p:sp>
    </p:spTree>
    <p:extLst>
      <p:ext uri="{BB962C8B-B14F-4D97-AF65-F5344CB8AC3E}">
        <p14:creationId xmlns:p14="http://schemas.microsoft.com/office/powerpoint/2010/main" val="11889179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Сегодня мы собрали набор инструментов, который позволяет писать более серьёзные программы: выбирать ветку выполнения, строить меню и обработчики команд, повторять действия циклом и обрабатывать наборы данных через массивы.</a:t>
            </a:r>
            <a:endParaRPr lang="en-US" dirty="0"/>
          </a:p>
          <a:p>
            <a:endParaRPr lang="ru-RU" dirty="0"/>
          </a:p>
          <a:p>
            <a:r>
              <a:rPr lang="ru-RU" dirty="0"/>
              <a:t>Важно, что все эти конструкции языка высокого уровня в итоге сводятся к простым механизмам выполнения: сравнениям и переходам, именно поэтому мы смотрели на ассемблер поверхностно.</a:t>
            </a:r>
          </a:p>
          <a:p>
            <a:r>
              <a:rPr lang="ru-RU" dirty="0"/>
              <a:t>На следующей лекции мы продолжим тему массивов и перейдём к строкам, потому что в C строка — это массив символов </a:t>
            </a:r>
            <a:r>
              <a:rPr lang="ru-RU" sz="1200" kern="1200" dirty="0" err="1">
                <a:solidFill>
                  <a:schemeClr val="tx1"/>
                </a:solidFill>
                <a:latin typeface="+mn-lt"/>
                <a:ea typeface="+mn-ea"/>
                <a:cs typeface="+mn-cs"/>
              </a:rPr>
              <a:t>char</a:t>
            </a:r>
            <a:r>
              <a:rPr lang="ru-RU" dirty="0"/>
              <a:t>, и это естественное продолжение текущего материала.</a:t>
            </a:r>
            <a:endParaRPr lang="en-US" dirty="0"/>
          </a:p>
        </p:txBody>
      </p:sp>
      <p:sp>
        <p:nvSpPr>
          <p:cNvPr id="4" name="Slide Number Placeholder 3"/>
          <p:cNvSpPr>
            <a:spLocks noGrp="1"/>
          </p:cNvSpPr>
          <p:nvPr>
            <p:ph type="sldNum" sz="quarter" idx="5"/>
          </p:nvPr>
        </p:nvSpPr>
        <p:spPr/>
        <p:txBody>
          <a:bodyPr/>
          <a:lstStyle/>
          <a:p>
            <a:fld id="{CB945CA0-E94A-4FB7-A4CA-C1968BB52B92}" type="slidenum">
              <a:rPr lang="en-US" smtClean="0"/>
              <a:t>51</a:t>
            </a:fld>
            <a:endParaRPr lang="en-US"/>
          </a:p>
        </p:txBody>
      </p:sp>
    </p:spTree>
    <p:extLst>
      <p:ext uri="{BB962C8B-B14F-4D97-AF65-F5344CB8AC3E}">
        <p14:creationId xmlns:p14="http://schemas.microsoft.com/office/powerpoint/2010/main" val="1031045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A5030-76ED-CA0E-CDF0-2273306925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13DE3D2-98D8-956B-7123-D9932C33A5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3B8717E-F5E6-D37C-4FC7-B2C8BC220EF8}"/>
              </a:ext>
            </a:extLst>
          </p:cNvPr>
          <p:cNvSpPr>
            <a:spLocks noGrp="1"/>
          </p:cNvSpPr>
          <p:nvPr>
            <p:ph type="dt" sz="half" idx="10"/>
          </p:nvPr>
        </p:nvSpPr>
        <p:spPr/>
        <p:txBody>
          <a:bodyPr/>
          <a:lstStyle/>
          <a:p>
            <a:fld id="{EC1B5487-7B97-42AF-BBA7-CB26E3075E79}" type="datetimeFigureOut">
              <a:rPr lang="en-US" smtClean="0"/>
              <a:t>2/14/2026</a:t>
            </a:fld>
            <a:endParaRPr lang="en-US"/>
          </a:p>
        </p:txBody>
      </p:sp>
      <p:sp>
        <p:nvSpPr>
          <p:cNvPr id="5" name="Footer Placeholder 4">
            <a:extLst>
              <a:ext uri="{FF2B5EF4-FFF2-40B4-BE49-F238E27FC236}">
                <a16:creationId xmlns:a16="http://schemas.microsoft.com/office/drawing/2014/main" id="{75FF32EE-9AEE-C996-F870-38013469F2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BF2CC2-63C3-5D27-DD1D-8658FC8DF50B}"/>
              </a:ext>
            </a:extLst>
          </p:cNvPr>
          <p:cNvSpPr>
            <a:spLocks noGrp="1"/>
          </p:cNvSpPr>
          <p:nvPr>
            <p:ph type="sldNum" sz="quarter" idx="12"/>
          </p:nvPr>
        </p:nvSpPr>
        <p:spPr/>
        <p:txBody>
          <a:bodyPr/>
          <a:lstStyle/>
          <a:p>
            <a:fld id="{F5725216-8C23-49B4-B0EB-A17BC46E181F}" type="slidenum">
              <a:rPr lang="en-US" smtClean="0"/>
              <a:t>‹#›</a:t>
            </a:fld>
            <a:endParaRPr lang="en-US"/>
          </a:p>
        </p:txBody>
      </p:sp>
    </p:spTree>
    <p:extLst>
      <p:ext uri="{BB962C8B-B14F-4D97-AF65-F5344CB8AC3E}">
        <p14:creationId xmlns:p14="http://schemas.microsoft.com/office/powerpoint/2010/main" val="3580816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44942-1E18-4E11-A870-D5AD418DD6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AABC4C-1B62-8B8D-4729-45A8A29659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AF8543-D3F3-477F-C555-93152777D7AF}"/>
              </a:ext>
            </a:extLst>
          </p:cNvPr>
          <p:cNvSpPr>
            <a:spLocks noGrp="1"/>
          </p:cNvSpPr>
          <p:nvPr>
            <p:ph type="dt" sz="half" idx="10"/>
          </p:nvPr>
        </p:nvSpPr>
        <p:spPr/>
        <p:txBody>
          <a:bodyPr/>
          <a:lstStyle/>
          <a:p>
            <a:fld id="{EC1B5487-7B97-42AF-BBA7-CB26E3075E79}" type="datetimeFigureOut">
              <a:rPr lang="en-US" smtClean="0"/>
              <a:t>2/14/2026</a:t>
            </a:fld>
            <a:endParaRPr lang="en-US"/>
          </a:p>
        </p:txBody>
      </p:sp>
      <p:sp>
        <p:nvSpPr>
          <p:cNvPr id="5" name="Footer Placeholder 4">
            <a:extLst>
              <a:ext uri="{FF2B5EF4-FFF2-40B4-BE49-F238E27FC236}">
                <a16:creationId xmlns:a16="http://schemas.microsoft.com/office/drawing/2014/main" id="{87D13A70-8E35-F4D4-FF53-5BBBCB5C33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9DC2D0-9634-3894-02D3-4396B772C6F2}"/>
              </a:ext>
            </a:extLst>
          </p:cNvPr>
          <p:cNvSpPr>
            <a:spLocks noGrp="1"/>
          </p:cNvSpPr>
          <p:nvPr>
            <p:ph type="sldNum" sz="quarter" idx="12"/>
          </p:nvPr>
        </p:nvSpPr>
        <p:spPr/>
        <p:txBody>
          <a:bodyPr/>
          <a:lstStyle/>
          <a:p>
            <a:fld id="{F5725216-8C23-49B4-B0EB-A17BC46E181F}" type="slidenum">
              <a:rPr lang="en-US" smtClean="0"/>
              <a:t>‹#›</a:t>
            </a:fld>
            <a:endParaRPr lang="en-US"/>
          </a:p>
        </p:txBody>
      </p:sp>
    </p:spTree>
    <p:extLst>
      <p:ext uri="{BB962C8B-B14F-4D97-AF65-F5344CB8AC3E}">
        <p14:creationId xmlns:p14="http://schemas.microsoft.com/office/powerpoint/2010/main" val="1695284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005F9-5656-79C0-1C8D-E1B1782A5E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915E8C0-136E-6333-7C40-9E3BF828C95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9C9C42-C675-FC5F-B434-C02DB16CFCE2}"/>
              </a:ext>
            </a:extLst>
          </p:cNvPr>
          <p:cNvSpPr>
            <a:spLocks noGrp="1"/>
          </p:cNvSpPr>
          <p:nvPr>
            <p:ph type="dt" sz="half" idx="10"/>
          </p:nvPr>
        </p:nvSpPr>
        <p:spPr/>
        <p:txBody>
          <a:bodyPr/>
          <a:lstStyle/>
          <a:p>
            <a:fld id="{EC1B5487-7B97-42AF-BBA7-CB26E3075E79}" type="datetimeFigureOut">
              <a:rPr lang="en-US" smtClean="0"/>
              <a:t>2/14/2026</a:t>
            </a:fld>
            <a:endParaRPr lang="en-US"/>
          </a:p>
        </p:txBody>
      </p:sp>
      <p:sp>
        <p:nvSpPr>
          <p:cNvPr id="5" name="Footer Placeholder 4">
            <a:extLst>
              <a:ext uri="{FF2B5EF4-FFF2-40B4-BE49-F238E27FC236}">
                <a16:creationId xmlns:a16="http://schemas.microsoft.com/office/drawing/2014/main" id="{266C3D4F-E0D7-0C81-A2CA-D5BC6F5155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E0BF55-DB8B-1CE6-6B2A-A68C31FEADE9}"/>
              </a:ext>
            </a:extLst>
          </p:cNvPr>
          <p:cNvSpPr>
            <a:spLocks noGrp="1"/>
          </p:cNvSpPr>
          <p:nvPr>
            <p:ph type="sldNum" sz="quarter" idx="12"/>
          </p:nvPr>
        </p:nvSpPr>
        <p:spPr/>
        <p:txBody>
          <a:bodyPr/>
          <a:lstStyle/>
          <a:p>
            <a:fld id="{F5725216-8C23-49B4-B0EB-A17BC46E181F}" type="slidenum">
              <a:rPr lang="en-US" smtClean="0"/>
              <a:t>‹#›</a:t>
            </a:fld>
            <a:endParaRPr lang="en-US"/>
          </a:p>
        </p:txBody>
      </p:sp>
    </p:spTree>
    <p:extLst>
      <p:ext uri="{BB962C8B-B14F-4D97-AF65-F5344CB8AC3E}">
        <p14:creationId xmlns:p14="http://schemas.microsoft.com/office/powerpoint/2010/main" val="1044776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182B5-F4EA-EE60-081B-74A7C5FAB9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B8A16F-C50A-0328-71EB-8DDDEB05A8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FD086F-45BE-68F8-C0A6-9FBB1048DB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1C92708-2C02-25BC-B556-D7596152F9BF}"/>
              </a:ext>
            </a:extLst>
          </p:cNvPr>
          <p:cNvSpPr>
            <a:spLocks noGrp="1"/>
          </p:cNvSpPr>
          <p:nvPr>
            <p:ph type="dt" sz="half" idx="10"/>
          </p:nvPr>
        </p:nvSpPr>
        <p:spPr/>
        <p:txBody>
          <a:bodyPr/>
          <a:lstStyle/>
          <a:p>
            <a:fld id="{EC1B5487-7B97-42AF-BBA7-CB26E3075E79}" type="datetimeFigureOut">
              <a:rPr lang="en-US" smtClean="0"/>
              <a:t>2/14/2026</a:t>
            </a:fld>
            <a:endParaRPr lang="en-US"/>
          </a:p>
        </p:txBody>
      </p:sp>
      <p:sp>
        <p:nvSpPr>
          <p:cNvPr id="6" name="Footer Placeholder 5">
            <a:extLst>
              <a:ext uri="{FF2B5EF4-FFF2-40B4-BE49-F238E27FC236}">
                <a16:creationId xmlns:a16="http://schemas.microsoft.com/office/drawing/2014/main" id="{8FDA1D00-137F-D290-2CDB-808BF1C4AC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3BA8C1-70C7-C93D-F56A-A0E610819A4C}"/>
              </a:ext>
            </a:extLst>
          </p:cNvPr>
          <p:cNvSpPr>
            <a:spLocks noGrp="1"/>
          </p:cNvSpPr>
          <p:nvPr>
            <p:ph type="sldNum" sz="quarter" idx="12"/>
          </p:nvPr>
        </p:nvSpPr>
        <p:spPr/>
        <p:txBody>
          <a:bodyPr/>
          <a:lstStyle/>
          <a:p>
            <a:fld id="{F5725216-8C23-49B4-B0EB-A17BC46E181F}" type="slidenum">
              <a:rPr lang="en-US" smtClean="0"/>
              <a:t>‹#›</a:t>
            </a:fld>
            <a:endParaRPr lang="en-US"/>
          </a:p>
        </p:txBody>
      </p:sp>
    </p:spTree>
    <p:extLst>
      <p:ext uri="{BB962C8B-B14F-4D97-AF65-F5344CB8AC3E}">
        <p14:creationId xmlns:p14="http://schemas.microsoft.com/office/powerpoint/2010/main" val="4226921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50B77-735B-3998-DE12-B11EA0E68B5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A0DF7C7-5738-EA5C-F045-36F34E2DC1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B47AC7-C2B8-629F-EE69-315DFBEA8B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72C016-A297-9B2F-EE02-FDB278623A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58B532-C39F-3B82-D47D-9646860E8B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DE6D98-156E-1E0A-945D-8F966E549652}"/>
              </a:ext>
            </a:extLst>
          </p:cNvPr>
          <p:cNvSpPr>
            <a:spLocks noGrp="1"/>
          </p:cNvSpPr>
          <p:nvPr>
            <p:ph type="dt" sz="half" idx="10"/>
          </p:nvPr>
        </p:nvSpPr>
        <p:spPr/>
        <p:txBody>
          <a:bodyPr/>
          <a:lstStyle/>
          <a:p>
            <a:fld id="{EC1B5487-7B97-42AF-BBA7-CB26E3075E79}" type="datetimeFigureOut">
              <a:rPr lang="en-US" smtClean="0"/>
              <a:t>2/14/2026</a:t>
            </a:fld>
            <a:endParaRPr lang="en-US"/>
          </a:p>
        </p:txBody>
      </p:sp>
      <p:sp>
        <p:nvSpPr>
          <p:cNvPr id="8" name="Footer Placeholder 7">
            <a:extLst>
              <a:ext uri="{FF2B5EF4-FFF2-40B4-BE49-F238E27FC236}">
                <a16:creationId xmlns:a16="http://schemas.microsoft.com/office/drawing/2014/main" id="{560FA49C-81C1-50C9-CFB0-32FA969142E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A230C04-E510-D482-5FDD-E55EE1F02622}"/>
              </a:ext>
            </a:extLst>
          </p:cNvPr>
          <p:cNvSpPr>
            <a:spLocks noGrp="1"/>
          </p:cNvSpPr>
          <p:nvPr>
            <p:ph type="sldNum" sz="quarter" idx="12"/>
          </p:nvPr>
        </p:nvSpPr>
        <p:spPr/>
        <p:txBody>
          <a:bodyPr/>
          <a:lstStyle/>
          <a:p>
            <a:fld id="{F5725216-8C23-49B4-B0EB-A17BC46E181F}" type="slidenum">
              <a:rPr lang="en-US" smtClean="0"/>
              <a:t>‹#›</a:t>
            </a:fld>
            <a:endParaRPr lang="en-US"/>
          </a:p>
        </p:txBody>
      </p:sp>
    </p:spTree>
    <p:extLst>
      <p:ext uri="{BB962C8B-B14F-4D97-AF65-F5344CB8AC3E}">
        <p14:creationId xmlns:p14="http://schemas.microsoft.com/office/powerpoint/2010/main" val="1938597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D188D-4C0B-5E6C-D2C2-BB19E45261F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7BE30E4-597C-96EB-3571-4FAEA0776C85}"/>
              </a:ext>
            </a:extLst>
          </p:cNvPr>
          <p:cNvSpPr>
            <a:spLocks noGrp="1"/>
          </p:cNvSpPr>
          <p:nvPr>
            <p:ph type="dt" sz="half" idx="10"/>
          </p:nvPr>
        </p:nvSpPr>
        <p:spPr/>
        <p:txBody>
          <a:bodyPr/>
          <a:lstStyle/>
          <a:p>
            <a:fld id="{EC1B5487-7B97-42AF-BBA7-CB26E3075E79}" type="datetimeFigureOut">
              <a:rPr lang="en-US" smtClean="0"/>
              <a:t>2/14/2026</a:t>
            </a:fld>
            <a:endParaRPr lang="en-US"/>
          </a:p>
        </p:txBody>
      </p:sp>
      <p:sp>
        <p:nvSpPr>
          <p:cNvPr id="4" name="Footer Placeholder 3">
            <a:extLst>
              <a:ext uri="{FF2B5EF4-FFF2-40B4-BE49-F238E27FC236}">
                <a16:creationId xmlns:a16="http://schemas.microsoft.com/office/drawing/2014/main" id="{2A7A7F4D-DAAB-3B4F-FD9C-B75D674DAFA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EE808C1-56A6-B9DE-68F7-61625516815C}"/>
              </a:ext>
            </a:extLst>
          </p:cNvPr>
          <p:cNvSpPr>
            <a:spLocks noGrp="1"/>
          </p:cNvSpPr>
          <p:nvPr>
            <p:ph type="sldNum" sz="quarter" idx="12"/>
          </p:nvPr>
        </p:nvSpPr>
        <p:spPr/>
        <p:txBody>
          <a:bodyPr/>
          <a:lstStyle/>
          <a:p>
            <a:fld id="{F5725216-8C23-49B4-B0EB-A17BC46E181F}" type="slidenum">
              <a:rPr lang="en-US" smtClean="0"/>
              <a:t>‹#›</a:t>
            </a:fld>
            <a:endParaRPr lang="en-US"/>
          </a:p>
        </p:txBody>
      </p:sp>
    </p:spTree>
    <p:extLst>
      <p:ext uri="{BB962C8B-B14F-4D97-AF65-F5344CB8AC3E}">
        <p14:creationId xmlns:p14="http://schemas.microsoft.com/office/powerpoint/2010/main" val="2113028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03E170-F02A-9A77-C0A2-BC913FC8780E}"/>
              </a:ext>
            </a:extLst>
          </p:cNvPr>
          <p:cNvSpPr>
            <a:spLocks noGrp="1"/>
          </p:cNvSpPr>
          <p:nvPr>
            <p:ph type="dt" sz="half" idx="10"/>
          </p:nvPr>
        </p:nvSpPr>
        <p:spPr/>
        <p:txBody>
          <a:bodyPr/>
          <a:lstStyle/>
          <a:p>
            <a:fld id="{EC1B5487-7B97-42AF-BBA7-CB26E3075E79}" type="datetimeFigureOut">
              <a:rPr lang="en-US" smtClean="0"/>
              <a:t>2/14/2026</a:t>
            </a:fld>
            <a:endParaRPr lang="en-US"/>
          </a:p>
        </p:txBody>
      </p:sp>
      <p:sp>
        <p:nvSpPr>
          <p:cNvPr id="3" name="Footer Placeholder 2">
            <a:extLst>
              <a:ext uri="{FF2B5EF4-FFF2-40B4-BE49-F238E27FC236}">
                <a16:creationId xmlns:a16="http://schemas.microsoft.com/office/drawing/2014/main" id="{0364C822-0931-8C37-B41B-C874DFA24A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991D95-A9C0-7F40-6288-2474B767B5EE}"/>
              </a:ext>
            </a:extLst>
          </p:cNvPr>
          <p:cNvSpPr>
            <a:spLocks noGrp="1"/>
          </p:cNvSpPr>
          <p:nvPr>
            <p:ph type="sldNum" sz="quarter" idx="12"/>
          </p:nvPr>
        </p:nvSpPr>
        <p:spPr/>
        <p:txBody>
          <a:bodyPr/>
          <a:lstStyle/>
          <a:p>
            <a:fld id="{F5725216-8C23-49B4-B0EB-A17BC46E181F}" type="slidenum">
              <a:rPr lang="en-US" smtClean="0"/>
              <a:t>‹#›</a:t>
            </a:fld>
            <a:endParaRPr lang="en-US"/>
          </a:p>
        </p:txBody>
      </p:sp>
    </p:spTree>
    <p:extLst>
      <p:ext uri="{BB962C8B-B14F-4D97-AF65-F5344CB8AC3E}">
        <p14:creationId xmlns:p14="http://schemas.microsoft.com/office/powerpoint/2010/main" val="48933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FC211-4C11-7FF7-FBAC-BB5F2A762B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88C774-DBFF-63E6-1661-2D96249810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148198-3FB2-7AA1-0AF8-D54BED7CF2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A2C09-5E93-D753-5372-536CB88F1AD3}"/>
              </a:ext>
            </a:extLst>
          </p:cNvPr>
          <p:cNvSpPr>
            <a:spLocks noGrp="1"/>
          </p:cNvSpPr>
          <p:nvPr>
            <p:ph type="dt" sz="half" idx="10"/>
          </p:nvPr>
        </p:nvSpPr>
        <p:spPr/>
        <p:txBody>
          <a:bodyPr/>
          <a:lstStyle/>
          <a:p>
            <a:fld id="{EC1B5487-7B97-42AF-BBA7-CB26E3075E79}" type="datetimeFigureOut">
              <a:rPr lang="en-US" smtClean="0"/>
              <a:t>2/14/2026</a:t>
            </a:fld>
            <a:endParaRPr lang="en-US"/>
          </a:p>
        </p:txBody>
      </p:sp>
      <p:sp>
        <p:nvSpPr>
          <p:cNvPr id="6" name="Footer Placeholder 5">
            <a:extLst>
              <a:ext uri="{FF2B5EF4-FFF2-40B4-BE49-F238E27FC236}">
                <a16:creationId xmlns:a16="http://schemas.microsoft.com/office/drawing/2014/main" id="{56F3188D-8476-76C2-45D6-E7F468EA36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8EBC47-1E17-B12F-FB63-AFA3B10DD03F}"/>
              </a:ext>
            </a:extLst>
          </p:cNvPr>
          <p:cNvSpPr>
            <a:spLocks noGrp="1"/>
          </p:cNvSpPr>
          <p:nvPr>
            <p:ph type="sldNum" sz="quarter" idx="12"/>
          </p:nvPr>
        </p:nvSpPr>
        <p:spPr/>
        <p:txBody>
          <a:bodyPr/>
          <a:lstStyle/>
          <a:p>
            <a:fld id="{F5725216-8C23-49B4-B0EB-A17BC46E181F}" type="slidenum">
              <a:rPr lang="en-US" smtClean="0"/>
              <a:t>‹#›</a:t>
            </a:fld>
            <a:endParaRPr lang="en-US"/>
          </a:p>
        </p:txBody>
      </p:sp>
    </p:spTree>
    <p:extLst>
      <p:ext uri="{BB962C8B-B14F-4D97-AF65-F5344CB8AC3E}">
        <p14:creationId xmlns:p14="http://schemas.microsoft.com/office/powerpoint/2010/main" val="150930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252B8-B1EF-B971-6E04-8001239378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05144F-698D-8508-0767-7ED1BCF48C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D7C4BFA-F752-D54A-F54C-05A9273A7C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454A48-C163-2BBE-78E3-C571B623D586}"/>
              </a:ext>
            </a:extLst>
          </p:cNvPr>
          <p:cNvSpPr>
            <a:spLocks noGrp="1"/>
          </p:cNvSpPr>
          <p:nvPr>
            <p:ph type="dt" sz="half" idx="10"/>
          </p:nvPr>
        </p:nvSpPr>
        <p:spPr/>
        <p:txBody>
          <a:bodyPr/>
          <a:lstStyle/>
          <a:p>
            <a:fld id="{EC1B5487-7B97-42AF-BBA7-CB26E3075E79}" type="datetimeFigureOut">
              <a:rPr lang="en-US" smtClean="0"/>
              <a:t>2/14/2026</a:t>
            </a:fld>
            <a:endParaRPr lang="en-US"/>
          </a:p>
        </p:txBody>
      </p:sp>
      <p:sp>
        <p:nvSpPr>
          <p:cNvPr id="6" name="Footer Placeholder 5">
            <a:extLst>
              <a:ext uri="{FF2B5EF4-FFF2-40B4-BE49-F238E27FC236}">
                <a16:creationId xmlns:a16="http://schemas.microsoft.com/office/drawing/2014/main" id="{46F1358D-30B0-5E31-FFCE-BF7AD80917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5B64C2-CCD3-0036-47B8-171977ECDB9D}"/>
              </a:ext>
            </a:extLst>
          </p:cNvPr>
          <p:cNvSpPr>
            <a:spLocks noGrp="1"/>
          </p:cNvSpPr>
          <p:nvPr>
            <p:ph type="sldNum" sz="quarter" idx="12"/>
          </p:nvPr>
        </p:nvSpPr>
        <p:spPr/>
        <p:txBody>
          <a:bodyPr/>
          <a:lstStyle/>
          <a:p>
            <a:fld id="{F5725216-8C23-49B4-B0EB-A17BC46E181F}" type="slidenum">
              <a:rPr lang="en-US" smtClean="0"/>
              <a:t>‹#›</a:t>
            </a:fld>
            <a:endParaRPr lang="en-US"/>
          </a:p>
        </p:txBody>
      </p:sp>
    </p:spTree>
    <p:extLst>
      <p:ext uri="{BB962C8B-B14F-4D97-AF65-F5344CB8AC3E}">
        <p14:creationId xmlns:p14="http://schemas.microsoft.com/office/powerpoint/2010/main" val="2480426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C563B-B6AE-DD02-4B42-CE2D403968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AF0CE5-2BE4-27DF-D406-F2A47871C9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C1049F-418B-AA37-FC1C-4E1BEE65F8EE}"/>
              </a:ext>
            </a:extLst>
          </p:cNvPr>
          <p:cNvSpPr>
            <a:spLocks noGrp="1"/>
          </p:cNvSpPr>
          <p:nvPr>
            <p:ph type="dt" sz="half" idx="10"/>
          </p:nvPr>
        </p:nvSpPr>
        <p:spPr/>
        <p:txBody>
          <a:bodyPr/>
          <a:lstStyle/>
          <a:p>
            <a:fld id="{EC1B5487-7B97-42AF-BBA7-CB26E3075E79}" type="datetimeFigureOut">
              <a:rPr lang="en-US" smtClean="0"/>
              <a:t>2/14/2026</a:t>
            </a:fld>
            <a:endParaRPr lang="en-US"/>
          </a:p>
        </p:txBody>
      </p:sp>
      <p:sp>
        <p:nvSpPr>
          <p:cNvPr id="5" name="Footer Placeholder 4">
            <a:extLst>
              <a:ext uri="{FF2B5EF4-FFF2-40B4-BE49-F238E27FC236}">
                <a16:creationId xmlns:a16="http://schemas.microsoft.com/office/drawing/2014/main" id="{A2CD4AED-3A7D-1010-562D-4903D47579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A8F8B8-EC45-B7A7-8096-1956912CE63B}"/>
              </a:ext>
            </a:extLst>
          </p:cNvPr>
          <p:cNvSpPr>
            <a:spLocks noGrp="1"/>
          </p:cNvSpPr>
          <p:nvPr>
            <p:ph type="sldNum" sz="quarter" idx="12"/>
          </p:nvPr>
        </p:nvSpPr>
        <p:spPr/>
        <p:txBody>
          <a:bodyPr/>
          <a:lstStyle/>
          <a:p>
            <a:fld id="{F5725216-8C23-49B4-B0EB-A17BC46E181F}" type="slidenum">
              <a:rPr lang="en-US" smtClean="0"/>
              <a:t>‹#›</a:t>
            </a:fld>
            <a:endParaRPr lang="en-US"/>
          </a:p>
        </p:txBody>
      </p:sp>
    </p:spTree>
    <p:extLst>
      <p:ext uri="{BB962C8B-B14F-4D97-AF65-F5344CB8AC3E}">
        <p14:creationId xmlns:p14="http://schemas.microsoft.com/office/powerpoint/2010/main" val="1722330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DCF6E5-86D0-A05F-48C6-0555651A3C5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AF52352-0D51-D748-29F9-0A85F50397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81CE22-09C5-9D2C-E389-AD6424DEA30A}"/>
              </a:ext>
            </a:extLst>
          </p:cNvPr>
          <p:cNvSpPr>
            <a:spLocks noGrp="1"/>
          </p:cNvSpPr>
          <p:nvPr>
            <p:ph type="dt" sz="half" idx="10"/>
          </p:nvPr>
        </p:nvSpPr>
        <p:spPr/>
        <p:txBody>
          <a:bodyPr/>
          <a:lstStyle/>
          <a:p>
            <a:fld id="{EC1B5487-7B97-42AF-BBA7-CB26E3075E79}" type="datetimeFigureOut">
              <a:rPr lang="en-US" smtClean="0"/>
              <a:t>2/14/2026</a:t>
            </a:fld>
            <a:endParaRPr lang="en-US"/>
          </a:p>
        </p:txBody>
      </p:sp>
      <p:sp>
        <p:nvSpPr>
          <p:cNvPr id="5" name="Footer Placeholder 4">
            <a:extLst>
              <a:ext uri="{FF2B5EF4-FFF2-40B4-BE49-F238E27FC236}">
                <a16:creationId xmlns:a16="http://schemas.microsoft.com/office/drawing/2014/main" id="{D543CBEF-7CF9-BEB9-B85E-71B7752A98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488C34-CDBC-BA60-2D23-BEB2147CC702}"/>
              </a:ext>
            </a:extLst>
          </p:cNvPr>
          <p:cNvSpPr>
            <a:spLocks noGrp="1"/>
          </p:cNvSpPr>
          <p:nvPr>
            <p:ph type="sldNum" sz="quarter" idx="12"/>
          </p:nvPr>
        </p:nvSpPr>
        <p:spPr/>
        <p:txBody>
          <a:bodyPr/>
          <a:lstStyle/>
          <a:p>
            <a:fld id="{F5725216-8C23-49B4-B0EB-A17BC46E181F}" type="slidenum">
              <a:rPr lang="en-US" smtClean="0"/>
              <a:t>‹#›</a:t>
            </a:fld>
            <a:endParaRPr lang="en-US"/>
          </a:p>
        </p:txBody>
      </p:sp>
    </p:spTree>
    <p:extLst>
      <p:ext uri="{BB962C8B-B14F-4D97-AF65-F5344CB8AC3E}">
        <p14:creationId xmlns:p14="http://schemas.microsoft.com/office/powerpoint/2010/main" val="642486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E38AC8-9293-C7D0-085B-6051EA0399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E439EFD-E68D-05C1-9C05-3D23DB7C25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9D3721-291F-E04E-C59F-95F3C023ED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C1B5487-7B97-42AF-BBA7-CB26E3075E79}" type="datetimeFigureOut">
              <a:rPr lang="en-US" smtClean="0"/>
              <a:t>2/14/2026</a:t>
            </a:fld>
            <a:endParaRPr lang="en-US"/>
          </a:p>
        </p:txBody>
      </p:sp>
      <p:sp>
        <p:nvSpPr>
          <p:cNvPr id="5" name="Footer Placeholder 4">
            <a:extLst>
              <a:ext uri="{FF2B5EF4-FFF2-40B4-BE49-F238E27FC236}">
                <a16:creationId xmlns:a16="http://schemas.microsoft.com/office/drawing/2014/main" id="{BE4B0FAC-9CE9-9FF0-79BB-B85552C654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3B1D87B-4AFE-8FED-3E70-DF8886F332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725216-8C23-49B4-B0EB-A17BC46E181F}" type="slidenum">
              <a:rPr lang="en-US" smtClean="0"/>
              <a:t>‹#›</a:t>
            </a:fld>
            <a:endParaRPr lang="en-US"/>
          </a:p>
        </p:txBody>
      </p:sp>
    </p:spTree>
    <p:extLst>
      <p:ext uri="{BB962C8B-B14F-4D97-AF65-F5344CB8AC3E}">
        <p14:creationId xmlns:p14="http://schemas.microsoft.com/office/powerpoint/2010/main" val="36386368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odbolt.org/z/j3Yq6E1zT" TargetMode="External"/><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godbolt.org/z/e5qchddzb" TargetMode="External"/><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godbolt.org/z/8dGjTfaMa" TargetMode="External"/><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godbolt.org/z/qWYcKbfja" TargetMode="External"/><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hyperlink" Target="https://godbolt.org/z/axqzsGqcG" TargetMode="External"/><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BD2F3-9DAE-9941-12BC-767A834AEE8C}"/>
              </a:ext>
            </a:extLst>
          </p:cNvPr>
          <p:cNvSpPr>
            <a:spLocks noGrp="1"/>
          </p:cNvSpPr>
          <p:nvPr>
            <p:ph type="ctrTitle"/>
          </p:nvPr>
        </p:nvSpPr>
        <p:spPr/>
        <p:txBody>
          <a:bodyPr/>
          <a:lstStyle/>
          <a:p>
            <a:r>
              <a:rPr lang="ru-RU" dirty="0"/>
              <a:t>Управление выполнением программы</a:t>
            </a:r>
            <a:endParaRPr lang="en-US" dirty="0"/>
          </a:p>
        </p:txBody>
      </p:sp>
      <p:sp>
        <p:nvSpPr>
          <p:cNvPr id="3" name="Subtitle 2">
            <a:extLst>
              <a:ext uri="{FF2B5EF4-FFF2-40B4-BE49-F238E27FC236}">
                <a16:creationId xmlns:a16="http://schemas.microsoft.com/office/drawing/2014/main" id="{5B5EA347-F49A-0290-5B98-E92FBFA6460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08894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51356-6C28-1185-0AA0-E8E3B20ED6FC}"/>
              </a:ext>
            </a:extLst>
          </p:cNvPr>
          <p:cNvSpPr>
            <a:spLocks noGrp="1"/>
          </p:cNvSpPr>
          <p:nvPr>
            <p:ph type="title"/>
          </p:nvPr>
        </p:nvSpPr>
        <p:spPr/>
        <p:txBody>
          <a:bodyPr/>
          <a:lstStyle/>
          <a:p>
            <a:r>
              <a:rPr lang="ru-RU" dirty="0"/>
              <a:t>Условный оператор </a:t>
            </a:r>
            <a:r>
              <a:rPr lang="en-US" dirty="0"/>
              <a:t>if</a:t>
            </a:r>
          </a:p>
        </p:txBody>
      </p:sp>
      <p:sp>
        <p:nvSpPr>
          <p:cNvPr id="4" name="Text Placeholder 3">
            <a:extLst>
              <a:ext uri="{FF2B5EF4-FFF2-40B4-BE49-F238E27FC236}">
                <a16:creationId xmlns:a16="http://schemas.microsoft.com/office/drawing/2014/main" id="{645600D3-6694-16A0-2529-4E99968A124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84934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18262-0515-F56C-7AF3-F11FD1D08B07}"/>
              </a:ext>
            </a:extLst>
          </p:cNvPr>
          <p:cNvSpPr>
            <a:spLocks noGrp="1"/>
          </p:cNvSpPr>
          <p:nvPr>
            <p:ph type="title"/>
          </p:nvPr>
        </p:nvSpPr>
        <p:spPr/>
        <p:txBody>
          <a:bodyPr/>
          <a:lstStyle/>
          <a:p>
            <a:r>
              <a:rPr lang="ru-RU" dirty="0"/>
              <a:t>Условный оператор </a:t>
            </a:r>
            <a:r>
              <a:rPr lang="en-US" dirty="0"/>
              <a:t>if</a:t>
            </a:r>
          </a:p>
        </p:txBody>
      </p:sp>
      <p:sp>
        <p:nvSpPr>
          <p:cNvPr id="3" name="Content Placeholder 2">
            <a:extLst>
              <a:ext uri="{FF2B5EF4-FFF2-40B4-BE49-F238E27FC236}">
                <a16:creationId xmlns:a16="http://schemas.microsoft.com/office/drawing/2014/main" id="{30FCABC5-6D92-3973-A965-A3CFC82CC79A}"/>
              </a:ext>
            </a:extLst>
          </p:cNvPr>
          <p:cNvSpPr>
            <a:spLocks noGrp="1"/>
          </p:cNvSpPr>
          <p:nvPr>
            <p:ph idx="1"/>
          </p:nvPr>
        </p:nvSpPr>
        <p:spPr/>
        <p:txBody>
          <a:bodyPr/>
          <a:lstStyle/>
          <a:p>
            <a:r>
              <a:rPr lang="ru-RU" dirty="0"/>
              <a:t>Иногда программа должна выполнять код</a:t>
            </a:r>
            <a:r>
              <a:rPr lang="en-US" dirty="0"/>
              <a:t> </a:t>
            </a:r>
            <a:r>
              <a:rPr lang="ru-RU" b="1" dirty="0"/>
              <a:t>только при выполнении условия</a:t>
            </a:r>
            <a:r>
              <a:rPr lang="ru-RU" dirty="0"/>
              <a:t>.</a:t>
            </a:r>
          </a:p>
          <a:p>
            <a:pPr lvl="1">
              <a:buNone/>
            </a:pPr>
            <a:r>
              <a:rPr lang="en-US" b="0" dirty="0">
                <a:solidFill>
                  <a:srgbClr val="8F08C4"/>
                </a:solidFill>
                <a:effectLst/>
                <a:latin typeface="Consolas" panose="020B0609020204030204" pitchFamily="49" charset="0"/>
              </a:rPr>
              <a:t>if</a:t>
            </a:r>
            <a:r>
              <a:rPr lang="en-US" b="0" dirty="0">
                <a:solidFill>
                  <a:srgbClr val="000000"/>
                </a:solidFill>
                <a:effectLst/>
                <a:latin typeface="Consolas" panose="020B0609020204030204" pitchFamily="49" charset="0"/>
              </a:rPr>
              <a:t> (condition) {</a:t>
            </a:r>
          </a:p>
          <a:p>
            <a:pPr lvl="1">
              <a:buNone/>
            </a:pP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a:t>
            </a:r>
            <a:r>
              <a:rPr lang="ru-RU" b="0" dirty="0">
                <a:solidFill>
                  <a:srgbClr val="008000"/>
                </a:solidFill>
                <a:effectLst/>
                <a:latin typeface="Consolas" panose="020B0609020204030204" pitchFamily="49" charset="0"/>
              </a:rPr>
              <a:t>код</a:t>
            </a:r>
            <a:endParaRPr lang="ru-RU" b="0" dirty="0">
              <a:solidFill>
                <a:srgbClr val="000000"/>
              </a:solidFill>
              <a:effectLst/>
              <a:latin typeface="Consolas" panose="020B0609020204030204" pitchFamily="49" charset="0"/>
            </a:endParaRPr>
          </a:p>
          <a:p>
            <a:pPr lvl="1">
              <a:buNone/>
            </a:pPr>
            <a:r>
              <a:rPr lang="ru-RU" b="0" dirty="0">
                <a:solidFill>
                  <a:srgbClr val="000000"/>
                </a:solidFill>
                <a:effectLst/>
                <a:latin typeface="Consolas" panose="020B0609020204030204" pitchFamily="49" charset="0"/>
              </a:rPr>
              <a:t>}</a:t>
            </a:r>
            <a:endParaRPr lang="en-US" dirty="0"/>
          </a:p>
          <a:p>
            <a:r>
              <a:rPr lang="ru-RU" dirty="0"/>
              <a:t>Если </a:t>
            </a:r>
            <a:r>
              <a:rPr lang="ru-RU" dirty="0" err="1"/>
              <a:t>condition</a:t>
            </a:r>
            <a:r>
              <a:rPr lang="ru-RU" dirty="0"/>
              <a:t> истинно</a:t>
            </a:r>
            <a:r>
              <a:rPr lang="en-US" dirty="0"/>
              <a:t>,</a:t>
            </a:r>
            <a:r>
              <a:rPr lang="ru-RU" dirty="0"/>
              <a:t> блок выполняется, иначе пропускается.</a:t>
            </a:r>
          </a:p>
          <a:p>
            <a:endParaRPr lang="en-US" dirty="0"/>
          </a:p>
        </p:txBody>
      </p:sp>
    </p:spTree>
    <p:extLst>
      <p:ext uri="{BB962C8B-B14F-4D97-AF65-F5344CB8AC3E}">
        <p14:creationId xmlns:p14="http://schemas.microsoft.com/office/powerpoint/2010/main" val="3569721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85763-337B-5A24-729B-BA639838F68F}"/>
              </a:ext>
            </a:extLst>
          </p:cNvPr>
          <p:cNvSpPr>
            <a:spLocks noGrp="1"/>
          </p:cNvSpPr>
          <p:nvPr>
            <p:ph type="title"/>
          </p:nvPr>
        </p:nvSpPr>
        <p:spPr/>
        <p:txBody>
          <a:bodyPr/>
          <a:lstStyle/>
          <a:p>
            <a:r>
              <a:rPr lang="ru-RU" dirty="0"/>
              <a:t>Что такое условие</a:t>
            </a:r>
            <a:r>
              <a:rPr lang="en-US" dirty="0"/>
              <a:t>?</a:t>
            </a:r>
          </a:p>
        </p:txBody>
      </p:sp>
      <p:sp>
        <p:nvSpPr>
          <p:cNvPr id="3" name="Content Placeholder 2">
            <a:extLst>
              <a:ext uri="{FF2B5EF4-FFF2-40B4-BE49-F238E27FC236}">
                <a16:creationId xmlns:a16="http://schemas.microsoft.com/office/drawing/2014/main" id="{925322D0-4DEE-5011-6AF2-8BCA4805E08A}"/>
              </a:ext>
            </a:extLst>
          </p:cNvPr>
          <p:cNvSpPr>
            <a:spLocks noGrp="1"/>
          </p:cNvSpPr>
          <p:nvPr>
            <p:ph idx="1"/>
          </p:nvPr>
        </p:nvSpPr>
        <p:spPr/>
        <p:txBody>
          <a:bodyPr>
            <a:normAutofit/>
          </a:bodyPr>
          <a:lstStyle/>
          <a:p>
            <a:r>
              <a:rPr lang="ru-RU" dirty="0"/>
              <a:t>Условие — это выражение.</a:t>
            </a:r>
          </a:p>
          <a:p>
            <a:r>
              <a:rPr lang="ru-RU" dirty="0"/>
              <a:t>В C:</a:t>
            </a:r>
          </a:p>
          <a:p>
            <a:pPr lvl="1"/>
            <a:r>
              <a:rPr lang="ru-RU" dirty="0"/>
              <a:t>0 – ложь</a:t>
            </a:r>
          </a:p>
          <a:p>
            <a:pPr lvl="1"/>
            <a:r>
              <a:rPr lang="ru-RU" dirty="0"/>
              <a:t>любое ненулевое значение </a:t>
            </a:r>
            <a:r>
              <a:rPr lang="en-US" dirty="0"/>
              <a:t>– </a:t>
            </a:r>
            <a:r>
              <a:rPr lang="ru-RU" dirty="0"/>
              <a:t>истина</a:t>
            </a:r>
          </a:p>
          <a:p>
            <a:r>
              <a:rPr lang="ru-RU" dirty="0"/>
              <a:t>Пример:</a:t>
            </a:r>
          </a:p>
          <a:p>
            <a:pPr lvl="1">
              <a:buNone/>
            </a:pP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x = </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a:t>
            </a:r>
          </a:p>
          <a:p>
            <a:pPr lvl="1">
              <a:buNone/>
            </a:pPr>
            <a:endParaRPr lang="en-US" b="0" dirty="0">
              <a:solidFill>
                <a:srgbClr val="000000"/>
              </a:solidFill>
              <a:effectLst/>
              <a:latin typeface="Consolas" panose="020B0609020204030204" pitchFamily="49" charset="0"/>
            </a:endParaRPr>
          </a:p>
          <a:p>
            <a:pPr lvl="1">
              <a:buNone/>
            </a:pPr>
            <a:r>
              <a:rPr lang="en-US" b="0" dirty="0">
                <a:solidFill>
                  <a:srgbClr val="8F08C4"/>
                </a:solidFill>
                <a:effectLst/>
                <a:latin typeface="Consolas" panose="020B0609020204030204" pitchFamily="49" charset="0"/>
              </a:rPr>
              <a:t>if</a:t>
            </a:r>
            <a:r>
              <a:rPr lang="en-US" b="0" dirty="0">
                <a:solidFill>
                  <a:srgbClr val="000000"/>
                </a:solidFill>
                <a:effectLst/>
                <a:latin typeface="Consolas" panose="020B0609020204030204" pitchFamily="49" charset="0"/>
              </a:rPr>
              <a:t> (x) {</a:t>
            </a:r>
          </a:p>
          <a:p>
            <a:pPr lvl="1">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en-US" b="0" dirty="0" err="1">
                <a:solidFill>
                  <a:srgbClr val="A31515"/>
                </a:solidFill>
                <a:effectLst/>
                <a:latin typeface="Consolas" panose="020B0609020204030204" pitchFamily="49" charset="0"/>
              </a:rPr>
              <a:t>Истина</a:t>
            </a:r>
            <a:r>
              <a:rPr lang="en-US" b="0" dirty="0">
                <a:solidFill>
                  <a:srgbClr val="B776FB"/>
                </a:solidFill>
                <a:effectLst/>
                <a:latin typeface="Consolas" panose="020B0609020204030204" pitchFamily="49" charset="0"/>
              </a:rPr>
              <a:t>\n</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lvl="1">
              <a:buNone/>
            </a:pPr>
            <a:r>
              <a:rPr lang="en-US" b="0" dirty="0">
                <a:solidFill>
                  <a:srgbClr val="000000"/>
                </a:solidFill>
                <a:effectLst/>
                <a:latin typeface="Consolas" panose="020B0609020204030204" pitchFamily="49" charset="0"/>
              </a:rPr>
              <a:t>}</a:t>
            </a:r>
          </a:p>
          <a:p>
            <a:pPr marL="457200" lvl="1" indent="0">
              <a:buNone/>
            </a:pPr>
            <a:endParaRPr lang="ru-RU" dirty="0"/>
          </a:p>
        </p:txBody>
      </p:sp>
    </p:spTree>
    <p:extLst>
      <p:ext uri="{BB962C8B-B14F-4D97-AF65-F5344CB8AC3E}">
        <p14:creationId xmlns:p14="http://schemas.microsoft.com/office/powerpoint/2010/main" val="1607809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A6E1A-27C1-D6CE-12A2-D413A354AAFD}"/>
              </a:ext>
            </a:extLst>
          </p:cNvPr>
          <p:cNvSpPr>
            <a:spLocks noGrp="1"/>
          </p:cNvSpPr>
          <p:nvPr>
            <p:ph type="title"/>
          </p:nvPr>
        </p:nvSpPr>
        <p:spPr/>
        <p:txBody>
          <a:bodyPr/>
          <a:lstStyle/>
          <a:p>
            <a:r>
              <a:rPr lang="en-US"/>
              <a:t>if – else</a:t>
            </a:r>
            <a:endParaRPr lang="en-US" dirty="0"/>
          </a:p>
        </p:txBody>
      </p:sp>
      <p:sp>
        <p:nvSpPr>
          <p:cNvPr id="3" name="Content Placeholder 2">
            <a:extLst>
              <a:ext uri="{FF2B5EF4-FFF2-40B4-BE49-F238E27FC236}">
                <a16:creationId xmlns:a16="http://schemas.microsoft.com/office/drawing/2014/main" id="{D3955811-BE05-C014-66A2-CF57872216B2}"/>
              </a:ext>
            </a:extLst>
          </p:cNvPr>
          <p:cNvSpPr>
            <a:spLocks noGrp="1"/>
          </p:cNvSpPr>
          <p:nvPr>
            <p:ph idx="1"/>
          </p:nvPr>
        </p:nvSpPr>
        <p:spPr/>
        <p:txBody>
          <a:bodyPr>
            <a:normAutofit fontScale="92500" lnSpcReduction="20000"/>
          </a:bodyPr>
          <a:lstStyle/>
          <a:p>
            <a:r>
              <a:rPr lang="ru-RU" dirty="0"/>
              <a:t>Форма инструкции </a:t>
            </a:r>
            <a:r>
              <a:rPr lang="en-US" dirty="0"/>
              <a:t>if</a:t>
            </a:r>
            <a:r>
              <a:rPr lang="ru-RU" dirty="0"/>
              <a:t>, в которой нужно выполнить альтернативный код (если условие ложно)</a:t>
            </a:r>
          </a:p>
          <a:p>
            <a:pPr lvl="1">
              <a:buNone/>
            </a:pPr>
            <a:r>
              <a:rPr lang="en-US" b="0" dirty="0">
                <a:solidFill>
                  <a:srgbClr val="8F08C4"/>
                </a:solidFill>
                <a:effectLst/>
                <a:latin typeface="Consolas" panose="020B0609020204030204" pitchFamily="49" charset="0"/>
              </a:rPr>
              <a:t>if</a:t>
            </a:r>
            <a:r>
              <a:rPr lang="en-US" b="0" dirty="0">
                <a:solidFill>
                  <a:srgbClr val="000000"/>
                </a:solidFill>
                <a:effectLst/>
                <a:latin typeface="Consolas" panose="020B0609020204030204" pitchFamily="49" charset="0"/>
              </a:rPr>
              <a:t> (condition) {</a:t>
            </a:r>
          </a:p>
          <a:p>
            <a:pPr lvl="1">
              <a:buNone/>
            </a:pP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a:t>
            </a:r>
            <a:r>
              <a:rPr lang="ru-RU" b="0" dirty="0">
                <a:solidFill>
                  <a:srgbClr val="008000"/>
                </a:solidFill>
                <a:effectLst/>
                <a:latin typeface="Consolas" panose="020B0609020204030204" pitchFamily="49" charset="0"/>
              </a:rPr>
              <a:t>если истина</a:t>
            </a:r>
            <a:endParaRPr lang="ru-RU" b="0" dirty="0">
              <a:solidFill>
                <a:srgbClr val="000000"/>
              </a:solidFill>
              <a:effectLst/>
              <a:latin typeface="Consolas" panose="020B0609020204030204" pitchFamily="49" charset="0"/>
            </a:endParaRPr>
          </a:p>
          <a:p>
            <a:pPr lvl="1">
              <a:buNone/>
            </a:pPr>
            <a:r>
              <a:rPr lang="ru-RU"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else</a:t>
            </a:r>
            <a:r>
              <a:rPr lang="en-US" b="0" dirty="0">
                <a:solidFill>
                  <a:srgbClr val="000000"/>
                </a:solidFill>
                <a:effectLst/>
                <a:latin typeface="Consolas" panose="020B0609020204030204" pitchFamily="49" charset="0"/>
              </a:rPr>
              <a:t> {</a:t>
            </a:r>
          </a:p>
          <a:p>
            <a:pPr lvl="1">
              <a:buNone/>
            </a:pP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a:t>
            </a:r>
            <a:r>
              <a:rPr lang="ru-RU" b="0" dirty="0">
                <a:solidFill>
                  <a:srgbClr val="008000"/>
                </a:solidFill>
                <a:effectLst/>
                <a:latin typeface="Consolas" panose="020B0609020204030204" pitchFamily="49" charset="0"/>
              </a:rPr>
              <a:t>если ложь</a:t>
            </a:r>
            <a:endParaRPr lang="ru-RU" b="0" dirty="0">
              <a:solidFill>
                <a:srgbClr val="000000"/>
              </a:solidFill>
              <a:effectLst/>
              <a:latin typeface="Consolas" panose="020B0609020204030204" pitchFamily="49" charset="0"/>
            </a:endParaRPr>
          </a:p>
          <a:p>
            <a:pPr lvl="1">
              <a:buNone/>
            </a:pPr>
            <a:r>
              <a:rPr lang="ru-RU" b="0" dirty="0">
                <a:solidFill>
                  <a:srgbClr val="000000"/>
                </a:solidFill>
                <a:effectLst/>
                <a:latin typeface="Consolas" panose="020B0609020204030204" pitchFamily="49" charset="0"/>
              </a:rPr>
              <a:t>}</a:t>
            </a:r>
          </a:p>
          <a:p>
            <a:pPr>
              <a:lnSpc>
                <a:spcPct val="120000"/>
              </a:lnSpc>
            </a:pPr>
            <a:r>
              <a:rPr lang="ru-RU" dirty="0"/>
              <a:t>Пример:</a:t>
            </a:r>
          </a:p>
          <a:p>
            <a:pPr lvl="1">
              <a:buNone/>
            </a:pPr>
            <a:r>
              <a:rPr lang="en-US" b="0" dirty="0">
                <a:solidFill>
                  <a:srgbClr val="8F08C4"/>
                </a:solidFill>
                <a:effectLst/>
                <a:latin typeface="Consolas" panose="020B0609020204030204" pitchFamily="49" charset="0"/>
              </a:rPr>
              <a:t>if</a:t>
            </a:r>
            <a:r>
              <a:rPr lang="en-US" b="0" dirty="0">
                <a:solidFill>
                  <a:srgbClr val="000000"/>
                </a:solidFill>
                <a:effectLst/>
                <a:latin typeface="Consolas" panose="020B0609020204030204" pitchFamily="49" charset="0"/>
              </a:rPr>
              <a:t> (x %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p>
          <a:p>
            <a:pPr lvl="1">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ru-RU" b="0" dirty="0">
                <a:solidFill>
                  <a:srgbClr val="A31515"/>
                </a:solidFill>
                <a:effectLst/>
                <a:latin typeface="Consolas" panose="020B0609020204030204" pitchFamily="49" charset="0"/>
              </a:rPr>
              <a:t>Чётное</a:t>
            </a:r>
            <a:r>
              <a:rPr lang="ru-RU" b="0" dirty="0">
                <a:solidFill>
                  <a:srgbClr val="B776FB"/>
                </a:solidFill>
                <a:effectLst/>
                <a:latin typeface="Consolas" panose="020B0609020204030204" pitchFamily="49" charset="0"/>
              </a:rPr>
              <a:t>\</a:t>
            </a:r>
            <a:r>
              <a:rPr lang="en-US" b="0" dirty="0">
                <a:solidFill>
                  <a:srgbClr val="B776FB"/>
                </a:solidFill>
                <a:effectLst/>
                <a:latin typeface="Consolas" panose="020B0609020204030204" pitchFamily="49" charset="0"/>
              </a:rPr>
              <a:t>n</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lvl="1">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else</a:t>
            </a:r>
            <a:r>
              <a:rPr lang="en-US" b="0" dirty="0">
                <a:solidFill>
                  <a:srgbClr val="000000"/>
                </a:solidFill>
                <a:effectLst/>
                <a:latin typeface="Consolas" panose="020B0609020204030204" pitchFamily="49" charset="0"/>
              </a:rPr>
              <a:t> {</a:t>
            </a:r>
          </a:p>
          <a:p>
            <a:pPr lvl="1">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ru-RU" b="0" dirty="0">
                <a:solidFill>
                  <a:srgbClr val="A31515"/>
                </a:solidFill>
                <a:effectLst/>
                <a:latin typeface="Consolas" panose="020B0609020204030204" pitchFamily="49" charset="0"/>
              </a:rPr>
              <a:t>Нечётное</a:t>
            </a:r>
            <a:r>
              <a:rPr lang="ru-RU" b="0" dirty="0">
                <a:solidFill>
                  <a:srgbClr val="B776FB"/>
                </a:solidFill>
                <a:effectLst/>
                <a:latin typeface="Consolas" panose="020B0609020204030204" pitchFamily="49" charset="0"/>
              </a:rPr>
              <a:t>\</a:t>
            </a:r>
            <a:r>
              <a:rPr lang="en-US" b="0" dirty="0">
                <a:solidFill>
                  <a:srgbClr val="B776FB"/>
                </a:solidFill>
                <a:effectLst/>
                <a:latin typeface="Consolas" panose="020B0609020204030204" pitchFamily="49" charset="0"/>
              </a:rPr>
              <a:t>n</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lvl="1">
              <a:buNone/>
            </a:pP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11475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0951B-AD69-1E3B-5EF7-5963EDA79D9B}"/>
              </a:ext>
            </a:extLst>
          </p:cNvPr>
          <p:cNvSpPr>
            <a:spLocks noGrp="1"/>
          </p:cNvSpPr>
          <p:nvPr>
            <p:ph type="title"/>
          </p:nvPr>
        </p:nvSpPr>
        <p:spPr/>
        <p:txBody>
          <a:bodyPr/>
          <a:lstStyle/>
          <a:p>
            <a:r>
              <a:rPr lang="ru-RU" dirty="0"/>
              <a:t>Цепочка условий</a:t>
            </a:r>
            <a:endParaRPr lang="en-US" dirty="0"/>
          </a:p>
        </p:txBody>
      </p:sp>
      <p:sp>
        <p:nvSpPr>
          <p:cNvPr id="3" name="Content Placeholder 2">
            <a:extLst>
              <a:ext uri="{FF2B5EF4-FFF2-40B4-BE49-F238E27FC236}">
                <a16:creationId xmlns:a16="http://schemas.microsoft.com/office/drawing/2014/main" id="{470C1579-498D-6867-57D2-BEC9E6D329EF}"/>
              </a:ext>
            </a:extLst>
          </p:cNvPr>
          <p:cNvSpPr>
            <a:spLocks noGrp="1"/>
          </p:cNvSpPr>
          <p:nvPr>
            <p:ph idx="1"/>
          </p:nvPr>
        </p:nvSpPr>
        <p:spPr/>
        <p:txBody>
          <a:bodyPr>
            <a:normAutofit/>
          </a:bodyPr>
          <a:lstStyle/>
          <a:p>
            <a:r>
              <a:rPr lang="ru-RU" dirty="0"/>
              <a:t>Позволяет проверять несколько вариантов:</a:t>
            </a:r>
          </a:p>
          <a:p>
            <a:pPr lvl="1">
              <a:buNone/>
            </a:pPr>
            <a:r>
              <a:rPr lang="en-US" b="0" dirty="0">
                <a:solidFill>
                  <a:srgbClr val="8F08C4"/>
                </a:solidFill>
                <a:effectLst/>
                <a:latin typeface="Consolas" panose="020B0609020204030204" pitchFamily="49" charset="0"/>
              </a:rPr>
              <a:t>if</a:t>
            </a:r>
            <a:r>
              <a:rPr lang="en-US" b="0" dirty="0">
                <a:solidFill>
                  <a:srgbClr val="000000"/>
                </a:solidFill>
                <a:effectLst/>
                <a:latin typeface="Consolas" panose="020B0609020204030204" pitchFamily="49" charset="0"/>
              </a:rPr>
              <a:t> (x &gt;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p>
          <a:p>
            <a:pPr lvl="1">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ru-RU" b="0" dirty="0">
                <a:solidFill>
                  <a:srgbClr val="A31515"/>
                </a:solidFill>
                <a:effectLst/>
                <a:latin typeface="Consolas" panose="020B0609020204030204" pitchFamily="49" charset="0"/>
              </a:rPr>
              <a:t>Положительное</a:t>
            </a:r>
            <a:r>
              <a:rPr lang="ru-RU" b="0" dirty="0">
                <a:solidFill>
                  <a:srgbClr val="B776FB"/>
                </a:solidFill>
                <a:effectLst/>
                <a:latin typeface="Consolas" panose="020B0609020204030204" pitchFamily="49" charset="0"/>
              </a:rPr>
              <a:t>\</a:t>
            </a:r>
            <a:r>
              <a:rPr lang="en-US" b="0" dirty="0">
                <a:solidFill>
                  <a:srgbClr val="B776FB"/>
                </a:solidFill>
                <a:effectLst/>
                <a:latin typeface="Consolas" panose="020B0609020204030204" pitchFamily="49" charset="0"/>
              </a:rPr>
              <a:t>n</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lvl="1">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else</a:t>
            </a: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if</a:t>
            </a:r>
            <a:r>
              <a:rPr lang="en-US" b="0" dirty="0">
                <a:solidFill>
                  <a:srgbClr val="000000"/>
                </a:solidFill>
                <a:effectLst/>
                <a:latin typeface="Consolas" panose="020B0609020204030204" pitchFamily="49" charset="0"/>
              </a:rPr>
              <a:t> (x &lt;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p>
          <a:p>
            <a:pPr lvl="1">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ru-RU" b="0" dirty="0">
                <a:solidFill>
                  <a:srgbClr val="A31515"/>
                </a:solidFill>
                <a:effectLst/>
                <a:latin typeface="Consolas" panose="020B0609020204030204" pitchFamily="49" charset="0"/>
              </a:rPr>
              <a:t>Отрицательное</a:t>
            </a:r>
            <a:r>
              <a:rPr lang="ru-RU" b="0" dirty="0">
                <a:solidFill>
                  <a:srgbClr val="B776FB"/>
                </a:solidFill>
                <a:effectLst/>
                <a:latin typeface="Consolas" panose="020B0609020204030204" pitchFamily="49" charset="0"/>
              </a:rPr>
              <a:t>\</a:t>
            </a:r>
            <a:r>
              <a:rPr lang="en-US" b="0" dirty="0">
                <a:solidFill>
                  <a:srgbClr val="B776FB"/>
                </a:solidFill>
                <a:effectLst/>
                <a:latin typeface="Consolas" panose="020B0609020204030204" pitchFamily="49" charset="0"/>
              </a:rPr>
              <a:t>n</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lvl="1">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else</a:t>
            </a:r>
            <a:r>
              <a:rPr lang="en-US" b="0" dirty="0">
                <a:solidFill>
                  <a:srgbClr val="000000"/>
                </a:solidFill>
                <a:effectLst/>
                <a:latin typeface="Consolas" panose="020B0609020204030204" pitchFamily="49" charset="0"/>
              </a:rPr>
              <a:t> {</a:t>
            </a:r>
          </a:p>
          <a:p>
            <a:pPr lvl="1">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ru-RU" b="0" dirty="0">
                <a:solidFill>
                  <a:srgbClr val="A31515"/>
                </a:solidFill>
                <a:effectLst/>
                <a:latin typeface="Consolas" panose="020B0609020204030204" pitchFamily="49" charset="0"/>
              </a:rPr>
              <a:t>Ноль</a:t>
            </a:r>
            <a:r>
              <a:rPr lang="ru-RU" b="0" dirty="0">
                <a:solidFill>
                  <a:srgbClr val="B776FB"/>
                </a:solidFill>
                <a:effectLst/>
                <a:latin typeface="Consolas" panose="020B0609020204030204" pitchFamily="49" charset="0"/>
              </a:rPr>
              <a:t>\</a:t>
            </a:r>
            <a:r>
              <a:rPr lang="en-US" b="0" dirty="0">
                <a:solidFill>
                  <a:srgbClr val="B776FB"/>
                </a:solidFill>
                <a:effectLst/>
                <a:latin typeface="Consolas" panose="020B0609020204030204" pitchFamily="49" charset="0"/>
              </a:rPr>
              <a:t>n</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lvl="1">
              <a:buNone/>
            </a:pPr>
            <a:r>
              <a:rPr lang="en-US" b="0" dirty="0">
                <a:solidFill>
                  <a:srgbClr val="000000"/>
                </a:solidFill>
                <a:effectLst/>
                <a:latin typeface="Consolas" panose="020B0609020204030204" pitchFamily="49" charset="0"/>
              </a:rPr>
              <a:t>}</a:t>
            </a:r>
            <a:endParaRPr lang="ru-RU" dirty="0"/>
          </a:p>
          <a:p>
            <a:r>
              <a:rPr lang="ru-RU" dirty="0"/>
              <a:t>Выполняется только одна ветка</a:t>
            </a:r>
            <a:endParaRPr lang="en-US" dirty="0"/>
          </a:p>
        </p:txBody>
      </p:sp>
    </p:spTree>
    <p:extLst>
      <p:ext uri="{BB962C8B-B14F-4D97-AF65-F5344CB8AC3E}">
        <p14:creationId xmlns:p14="http://schemas.microsoft.com/office/powerpoint/2010/main" val="43489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EDF0A-2F8D-C2DE-EC65-49FFF5D43DCD}"/>
              </a:ext>
            </a:extLst>
          </p:cNvPr>
          <p:cNvSpPr>
            <a:spLocks noGrp="1"/>
          </p:cNvSpPr>
          <p:nvPr>
            <p:ph type="title"/>
          </p:nvPr>
        </p:nvSpPr>
        <p:spPr/>
        <p:txBody>
          <a:bodyPr/>
          <a:lstStyle/>
          <a:p>
            <a:r>
              <a:rPr lang="ru-RU" dirty="0"/>
              <a:t>Вложенные </a:t>
            </a:r>
            <a:r>
              <a:rPr lang="en-US" dirty="0"/>
              <a:t>if</a:t>
            </a:r>
          </a:p>
        </p:txBody>
      </p:sp>
      <p:sp>
        <p:nvSpPr>
          <p:cNvPr id="3" name="Content Placeholder 2">
            <a:extLst>
              <a:ext uri="{FF2B5EF4-FFF2-40B4-BE49-F238E27FC236}">
                <a16:creationId xmlns:a16="http://schemas.microsoft.com/office/drawing/2014/main" id="{03262EDD-881F-2122-D00B-0180A6259D10}"/>
              </a:ext>
            </a:extLst>
          </p:cNvPr>
          <p:cNvSpPr>
            <a:spLocks noGrp="1"/>
          </p:cNvSpPr>
          <p:nvPr>
            <p:ph idx="1"/>
          </p:nvPr>
        </p:nvSpPr>
        <p:spPr/>
        <p:txBody>
          <a:bodyPr/>
          <a:lstStyle/>
          <a:p>
            <a:pPr>
              <a:buNone/>
            </a:pPr>
            <a:r>
              <a:rPr lang="en-US" b="0" dirty="0">
                <a:solidFill>
                  <a:srgbClr val="8F08C4"/>
                </a:solidFill>
                <a:effectLst/>
                <a:latin typeface="Consolas" panose="020B0609020204030204" pitchFamily="49" charset="0"/>
              </a:rPr>
              <a:t>if</a:t>
            </a:r>
            <a:r>
              <a:rPr lang="en-US" b="0" dirty="0">
                <a:solidFill>
                  <a:srgbClr val="000000"/>
                </a:solidFill>
                <a:effectLst/>
                <a:latin typeface="Consolas" panose="020B0609020204030204" pitchFamily="49" charset="0"/>
              </a:rPr>
              <a:t> (x &gt;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if</a:t>
            </a:r>
            <a:r>
              <a:rPr lang="en-US" b="0" dirty="0">
                <a:solidFill>
                  <a:srgbClr val="000000"/>
                </a:solidFill>
                <a:effectLst/>
                <a:latin typeface="Consolas" panose="020B0609020204030204" pitchFamily="49" charset="0"/>
              </a:rPr>
              <a:t> (x %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ru-RU" b="0" dirty="0">
                <a:solidFill>
                  <a:srgbClr val="A31515"/>
                </a:solidFill>
                <a:effectLst/>
                <a:latin typeface="Consolas" panose="020B0609020204030204" pitchFamily="49" charset="0"/>
              </a:rPr>
              <a:t>Положительное чётное</a:t>
            </a:r>
            <a:r>
              <a:rPr lang="ru-RU" b="0" dirty="0">
                <a:solidFill>
                  <a:srgbClr val="B776FB"/>
                </a:solidFill>
                <a:effectLst/>
                <a:latin typeface="Consolas" panose="020B0609020204030204" pitchFamily="49" charset="0"/>
              </a:rPr>
              <a:t>\</a:t>
            </a:r>
            <a:r>
              <a:rPr lang="en-US" b="0" dirty="0">
                <a:solidFill>
                  <a:srgbClr val="B776FB"/>
                </a:solidFill>
                <a:effectLst/>
                <a:latin typeface="Consolas" panose="020B0609020204030204" pitchFamily="49" charset="0"/>
              </a:rPr>
              <a:t>n</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a:t>
            </a:r>
            <a:endParaRPr lang="ru-RU" dirty="0"/>
          </a:p>
          <a:p>
            <a:r>
              <a:rPr lang="ru-RU" dirty="0"/>
              <a:t>Важно использовать фигурные скобки</a:t>
            </a:r>
            <a:endParaRPr lang="en-US" dirty="0"/>
          </a:p>
        </p:txBody>
      </p:sp>
    </p:spTree>
    <p:extLst>
      <p:ext uri="{BB962C8B-B14F-4D97-AF65-F5344CB8AC3E}">
        <p14:creationId xmlns:p14="http://schemas.microsoft.com/office/powerpoint/2010/main" val="1782423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E9241-4049-E345-3BB5-BD42FF74691B}"/>
              </a:ext>
            </a:extLst>
          </p:cNvPr>
          <p:cNvSpPr>
            <a:spLocks noGrp="1"/>
          </p:cNvSpPr>
          <p:nvPr>
            <p:ph type="title"/>
          </p:nvPr>
        </p:nvSpPr>
        <p:spPr/>
        <p:txBody>
          <a:bodyPr/>
          <a:lstStyle/>
          <a:p>
            <a:r>
              <a:rPr lang="ru-RU" dirty="0"/>
              <a:t>Частые ошибки</a:t>
            </a:r>
            <a:endParaRPr lang="en-US" dirty="0"/>
          </a:p>
        </p:txBody>
      </p:sp>
      <p:sp>
        <p:nvSpPr>
          <p:cNvPr id="3" name="Content Placeholder 2">
            <a:extLst>
              <a:ext uri="{FF2B5EF4-FFF2-40B4-BE49-F238E27FC236}">
                <a16:creationId xmlns:a16="http://schemas.microsoft.com/office/drawing/2014/main" id="{D4AC383F-3574-A867-F4D1-9FC162E7672D}"/>
              </a:ext>
            </a:extLst>
          </p:cNvPr>
          <p:cNvSpPr>
            <a:spLocks noGrp="1"/>
          </p:cNvSpPr>
          <p:nvPr>
            <p:ph idx="1"/>
          </p:nvPr>
        </p:nvSpPr>
        <p:spPr/>
        <p:txBody>
          <a:bodyPr/>
          <a:lstStyle/>
          <a:p>
            <a:r>
              <a:rPr lang="ru-RU" dirty="0"/>
              <a:t>Пропущенные скобки</a:t>
            </a:r>
            <a:endParaRPr lang="en-US" dirty="0"/>
          </a:p>
          <a:p>
            <a:pPr lvl="1">
              <a:buNone/>
            </a:pPr>
            <a:r>
              <a:rPr lang="en-US" b="0" dirty="0">
                <a:solidFill>
                  <a:srgbClr val="8F08C4"/>
                </a:solidFill>
                <a:effectLst/>
                <a:latin typeface="Consolas" panose="020B0609020204030204" pitchFamily="49" charset="0"/>
              </a:rPr>
              <a:t>if</a:t>
            </a:r>
            <a:r>
              <a:rPr lang="en-US" b="0" dirty="0">
                <a:solidFill>
                  <a:srgbClr val="000000"/>
                </a:solidFill>
                <a:effectLst/>
                <a:latin typeface="Consolas" panose="020B0609020204030204" pitchFamily="49" charset="0"/>
              </a:rPr>
              <a:t> (x &gt;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pPr lvl="1">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en-US" b="0" dirty="0">
                <a:solidFill>
                  <a:srgbClr val="A31515"/>
                </a:solidFill>
                <a:effectLst/>
                <a:latin typeface="Consolas" panose="020B0609020204030204" pitchFamily="49" charset="0"/>
              </a:rPr>
              <a:t>A</a:t>
            </a:r>
            <a:r>
              <a:rPr lang="en-US" b="0" dirty="0">
                <a:solidFill>
                  <a:srgbClr val="B776FB"/>
                </a:solidFill>
                <a:effectLst/>
                <a:latin typeface="Consolas" panose="020B0609020204030204" pitchFamily="49" charset="0"/>
              </a:rPr>
              <a:t>\n</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lvl="1">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en-US" b="0" dirty="0">
                <a:solidFill>
                  <a:srgbClr val="A31515"/>
                </a:solidFill>
                <a:effectLst/>
                <a:latin typeface="Consolas" panose="020B0609020204030204" pitchFamily="49" charset="0"/>
              </a:rPr>
              <a:t>B</a:t>
            </a:r>
            <a:r>
              <a:rPr lang="en-US" b="0" dirty="0">
                <a:solidFill>
                  <a:srgbClr val="B776FB"/>
                </a:solidFill>
                <a:effectLst/>
                <a:latin typeface="Consolas" panose="020B0609020204030204" pitchFamily="49" charset="0"/>
              </a:rPr>
              <a:t>\n</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a:t>
            </a:r>
            <a:r>
              <a:rPr lang="en-US" b="0" dirty="0">
                <a:solidFill>
                  <a:srgbClr val="008000"/>
                </a:solidFill>
                <a:effectLst/>
                <a:latin typeface="Consolas" panose="020B0609020204030204" pitchFamily="49" charset="0"/>
              </a:rPr>
              <a:t>   // </a:t>
            </a:r>
            <a:r>
              <a:rPr lang="ru-RU" b="0" dirty="0">
                <a:solidFill>
                  <a:srgbClr val="008000"/>
                </a:solidFill>
                <a:effectLst/>
                <a:latin typeface="Consolas" panose="020B0609020204030204" pitchFamily="49" charset="0"/>
              </a:rPr>
              <a:t>выполняется всегда!</a:t>
            </a:r>
            <a:endParaRPr lang="ru-RU" dirty="0"/>
          </a:p>
          <a:p>
            <a:r>
              <a:rPr lang="ru-RU" dirty="0"/>
              <a:t>Путаница = и </a:t>
            </a:r>
            <a:r>
              <a:rPr lang="en-US" dirty="0"/>
              <a:t>==</a:t>
            </a:r>
          </a:p>
          <a:p>
            <a:pPr lvl="1">
              <a:buNone/>
            </a:pPr>
            <a:r>
              <a:rPr lang="en-US" b="0" dirty="0">
                <a:solidFill>
                  <a:srgbClr val="8F08C4"/>
                </a:solidFill>
                <a:effectLst/>
                <a:latin typeface="Consolas" panose="020B0609020204030204" pitchFamily="49" charset="0"/>
              </a:rPr>
              <a:t>if</a:t>
            </a:r>
            <a:r>
              <a:rPr lang="en-US" b="0" dirty="0">
                <a:solidFill>
                  <a:srgbClr val="000000"/>
                </a:solidFill>
                <a:effectLst/>
                <a:latin typeface="Consolas" panose="020B0609020204030204" pitchFamily="49" charset="0"/>
              </a:rPr>
              <a:t> (x = </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a:t>
            </a:r>
            <a:r>
              <a:rPr lang="en-US" b="0" dirty="0">
                <a:solidFill>
                  <a:srgbClr val="008000"/>
                </a:solidFill>
                <a:effectLst/>
                <a:latin typeface="Consolas" panose="020B0609020204030204" pitchFamily="49" charset="0"/>
              </a:rPr>
              <a:t>  // </a:t>
            </a:r>
            <a:r>
              <a:rPr lang="ru-RU" b="0" dirty="0">
                <a:solidFill>
                  <a:srgbClr val="008000"/>
                </a:solidFill>
                <a:effectLst/>
                <a:latin typeface="Consolas" panose="020B0609020204030204" pitchFamily="49" charset="0"/>
              </a:rPr>
              <a:t>Присваиваем </a:t>
            </a:r>
            <a:r>
              <a:rPr lang="en-US" b="0" dirty="0">
                <a:solidFill>
                  <a:srgbClr val="008000"/>
                </a:solidFill>
                <a:effectLst/>
                <a:latin typeface="Consolas" panose="020B0609020204030204" pitchFamily="49" charset="0"/>
              </a:rPr>
              <a:t>x</a:t>
            </a:r>
            <a:r>
              <a:rPr lang="ru-RU" b="0" dirty="0">
                <a:solidFill>
                  <a:srgbClr val="008000"/>
                </a:solidFill>
                <a:effectLst/>
                <a:latin typeface="Consolas" panose="020B0609020204030204" pitchFamily="49" charset="0"/>
              </a:rPr>
              <a:t> значение 5 и проверяем </a:t>
            </a:r>
            <a:r>
              <a:rPr lang="en-US" b="0" dirty="0">
                <a:solidFill>
                  <a:srgbClr val="008000"/>
                </a:solidFill>
                <a:effectLst/>
                <a:latin typeface="Consolas" panose="020B0609020204030204" pitchFamily="49" charset="0"/>
              </a:rPr>
              <a:t>x</a:t>
            </a:r>
            <a:endParaRPr lang="ru-RU" b="0" dirty="0">
              <a:solidFill>
                <a:srgbClr val="000000"/>
              </a:solidFill>
              <a:effectLst/>
              <a:latin typeface="Consolas" panose="020B0609020204030204" pitchFamily="49" charset="0"/>
            </a:endParaRPr>
          </a:p>
          <a:p>
            <a:pPr lvl="1">
              <a:buNone/>
            </a:pPr>
            <a:r>
              <a:rPr lang="ru-RU" b="0" dirty="0">
                <a:solidFill>
                  <a:srgbClr val="000000"/>
                </a:solidFill>
                <a:effectLst/>
                <a:latin typeface="Consolas" panose="020B0609020204030204" pitchFamily="49" charset="0"/>
              </a:rPr>
              <a:t>{ </a:t>
            </a:r>
          </a:p>
          <a:p>
            <a:pPr lvl="1">
              <a:buNone/>
            </a:pPr>
            <a:r>
              <a:rPr lang="ru-RU" b="0" dirty="0">
                <a:solidFill>
                  <a:srgbClr val="008000"/>
                </a:solidFill>
                <a:effectLst/>
                <a:latin typeface="Consolas" panose="020B0609020204030204" pitchFamily="49" charset="0"/>
              </a:rPr>
              <a:t>    //</a:t>
            </a:r>
            <a:r>
              <a:rPr lang="en-US" b="0" dirty="0">
                <a:solidFill>
                  <a:srgbClr val="008000"/>
                </a:solidFill>
                <a:effectLst/>
                <a:latin typeface="Consolas" panose="020B0609020204030204" pitchFamily="49" charset="0"/>
              </a:rPr>
              <a:t> …</a:t>
            </a:r>
            <a:r>
              <a:rPr lang="ru-RU" b="0" dirty="0">
                <a:solidFill>
                  <a:srgbClr val="008000"/>
                </a:solidFill>
                <a:effectLst/>
                <a:latin typeface="Consolas" panose="020B0609020204030204" pitchFamily="49" charset="0"/>
              </a:rPr>
              <a:t> </a:t>
            </a:r>
            <a:endParaRPr lang="ru-RU" b="0" dirty="0">
              <a:solidFill>
                <a:srgbClr val="000000"/>
              </a:solidFill>
              <a:effectLst/>
              <a:latin typeface="Consolas" panose="020B0609020204030204" pitchFamily="49" charset="0"/>
            </a:endParaRPr>
          </a:p>
          <a:p>
            <a:pPr lvl="1">
              <a:buNone/>
            </a:pPr>
            <a:r>
              <a:rPr lang="ru-RU"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34804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22FD81-4A5C-112D-449C-8D3385B70C78}"/>
              </a:ext>
            </a:extLst>
          </p:cNvPr>
          <p:cNvSpPr>
            <a:spLocks noGrp="1"/>
          </p:cNvSpPr>
          <p:nvPr>
            <p:ph type="title"/>
          </p:nvPr>
        </p:nvSpPr>
        <p:spPr/>
        <p:txBody>
          <a:bodyPr/>
          <a:lstStyle/>
          <a:p>
            <a:r>
              <a:rPr lang="en-US" dirty="0"/>
              <a:t>if-else </a:t>
            </a:r>
            <a:r>
              <a:rPr lang="ru-RU" dirty="0"/>
              <a:t>на ассемблере</a:t>
            </a:r>
            <a:endParaRPr lang="en-US" dirty="0"/>
          </a:p>
        </p:txBody>
      </p:sp>
      <p:sp>
        <p:nvSpPr>
          <p:cNvPr id="6" name="TextBox 5">
            <a:extLst>
              <a:ext uri="{FF2B5EF4-FFF2-40B4-BE49-F238E27FC236}">
                <a16:creationId xmlns:a16="http://schemas.microsoft.com/office/drawing/2014/main" id="{4A550B12-5836-0E7F-BD10-485F23A0F14A}"/>
              </a:ext>
            </a:extLst>
          </p:cNvPr>
          <p:cNvSpPr txBox="1"/>
          <p:nvPr/>
        </p:nvSpPr>
        <p:spPr>
          <a:xfrm>
            <a:off x="838200" y="1502688"/>
            <a:ext cx="4200331" cy="3139321"/>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#include</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&lt;</a:t>
            </a:r>
            <a:r>
              <a:rPr lang="en-US" b="0" dirty="0" err="1">
                <a:solidFill>
                  <a:srgbClr val="A31515"/>
                </a:solidFill>
                <a:effectLst/>
                <a:latin typeface="Consolas" panose="020B0609020204030204" pitchFamily="49" charset="0"/>
              </a:rPr>
              <a:t>stdio.h</a:t>
            </a:r>
            <a:r>
              <a:rPr lang="en-US" b="0" dirty="0">
                <a:solidFill>
                  <a:srgbClr val="0000FF"/>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pPr>
              <a:buNone/>
            </a:pP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main()</a:t>
            </a:r>
          </a:p>
          <a:p>
            <a:pPr>
              <a:buNone/>
            </a:pP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c = </a:t>
            </a:r>
            <a:r>
              <a:rPr lang="en-US" b="0" dirty="0" err="1">
                <a:solidFill>
                  <a:srgbClr val="000000"/>
                </a:solidFill>
                <a:effectLst/>
                <a:latin typeface="Consolas" panose="020B0609020204030204" pitchFamily="49" charset="0"/>
              </a:rPr>
              <a:t>getchar</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if</a:t>
            </a:r>
            <a:r>
              <a:rPr lang="en-US" b="0" dirty="0">
                <a:solidFill>
                  <a:srgbClr val="000000"/>
                </a:solidFill>
                <a:effectLst/>
                <a:latin typeface="Consolas" panose="020B0609020204030204" pitchFamily="49" charset="0"/>
              </a:rPr>
              <a:t> (</a:t>
            </a:r>
            <a:r>
              <a:rPr lang="en-US" b="0" dirty="0">
                <a:solidFill>
                  <a:srgbClr val="000000"/>
                </a:solidFill>
                <a:effectLst/>
                <a:highlight>
                  <a:srgbClr val="FFFF00"/>
                </a:highlight>
                <a:latin typeface="Consolas" panose="020B0609020204030204" pitchFamily="49" charset="0"/>
              </a:rPr>
              <a:t>c == EOF</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a:solidFill>
                  <a:srgbClr val="000000"/>
                </a:solidFill>
                <a:effectLst/>
                <a:highlight>
                  <a:srgbClr val="00FFFF"/>
                </a:highlight>
                <a:latin typeface="Consolas" panose="020B0609020204030204" pitchFamily="49" charset="0"/>
              </a:rPr>
              <a:t>puts(</a:t>
            </a:r>
            <a:r>
              <a:rPr lang="en-US" b="0" dirty="0">
                <a:solidFill>
                  <a:srgbClr val="A31515"/>
                </a:solidFill>
                <a:effectLst/>
                <a:highlight>
                  <a:srgbClr val="00FFFF"/>
                </a:highlight>
                <a:latin typeface="Consolas" panose="020B0609020204030204" pitchFamily="49" charset="0"/>
              </a:rPr>
              <a:t>"EOF"</a:t>
            </a:r>
            <a:r>
              <a:rPr lang="en-US" b="0" dirty="0">
                <a:solidFill>
                  <a:srgbClr val="000000"/>
                </a:solidFill>
                <a:effectLst/>
                <a:highlight>
                  <a:srgbClr val="00FFFF"/>
                </a:highlight>
                <a:latin typeface="Consolas" panose="020B0609020204030204" pitchFamily="49" charset="0"/>
              </a:rPr>
              <a:t>);</a:t>
            </a:r>
          </a:p>
          <a:p>
            <a:pPr>
              <a:buNone/>
            </a:pP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else</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err="1">
                <a:solidFill>
                  <a:srgbClr val="000000"/>
                </a:solidFill>
                <a:effectLst/>
                <a:highlight>
                  <a:srgbClr val="C0C0C0"/>
                </a:highlight>
                <a:latin typeface="Consolas" panose="020B0609020204030204" pitchFamily="49" charset="0"/>
              </a:rPr>
              <a:t>putchar</a:t>
            </a:r>
            <a:r>
              <a:rPr lang="en-US" b="0" dirty="0">
                <a:solidFill>
                  <a:srgbClr val="000000"/>
                </a:solidFill>
                <a:effectLst/>
                <a:highlight>
                  <a:srgbClr val="C0C0C0"/>
                </a:highlight>
                <a:latin typeface="Consolas" panose="020B0609020204030204" pitchFamily="49" charset="0"/>
              </a:rPr>
              <a:t>(c);</a:t>
            </a:r>
          </a:p>
          <a:p>
            <a:pPr>
              <a:buNone/>
            </a:pP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7969E996-B4BB-73FB-739F-AF7EDB13CE33}"/>
              </a:ext>
            </a:extLst>
          </p:cNvPr>
          <p:cNvSpPr txBox="1"/>
          <p:nvPr/>
        </p:nvSpPr>
        <p:spPr>
          <a:xfrm>
            <a:off x="6096000" y="1502688"/>
            <a:ext cx="6092890" cy="5355312"/>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.LC0</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.string</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"EOF"</a:t>
            </a: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main</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sub</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rsp</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8</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mov</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rdi</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QWORD</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PTR</a:t>
            </a:r>
            <a:r>
              <a:rPr lang="en-US" b="0" dirty="0">
                <a:solidFill>
                  <a:srgbClr val="000000"/>
                </a:solidFill>
                <a:effectLst/>
                <a:latin typeface="Consolas" panose="020B0609020204030204" pitchFamily="49" charset="0"/>
              </a:rPr>
              <a:t> </a:t>
            </a:r>
            <a:r>
              <a:rPr lang="en-US" b="0" dirty="0">
                <a:solidFill>
                  <a:srgbClr val="008080"/>
                </a:solidFill>
                <a:effectLst/>
                <a:latin typeface="Consolas" panose="020B0609020204030204" pitchFamily="49" charset="0"/>
              </a:rPr>
              <a:t>stdin</a:t>
            </a:r>
            <a:r>
              <a:rPr lang="en-US" b="0" dirty="0">
                <a:solidFill>
                  <a:srgbClr val="000000"/>
                </a:solidFill>
                <a:effectLst/>
                <a:latin typeface="Consolas" panose="020B0609020204030204" pitchFamily="49" charset="0"/>
              </a:rPr>
              <a:t>[</a:t>
            </a:r>
            <a:r>
              <a:rPr lang="en-US" b="0" dirty="0">
                <a:solidFill>
                  <a:srgbClr val="4864AA"/>
                </a:solidFill>
                <a:effectLst/>
                <a:latin typeface="Consolas" panose="020B0609020204030204" pitchFamily="49" charset="0"/>
              </a:rPr>
              <a:t>rip</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call</a:t>
            </a:r>
            <a:r>
              <a:rPr lang="en-US" b="0" dirty="0">
                <a:solidFill>
                  <a:srgbClr val="000000"/>
                </a:solidFill>
                <a:effectLst/>
                <a:latin typeface="Consolas" panose="020B0609020204030204" pitchFamily="49" charset="0"/>
              </a:rPr>
              <a:t>    </a:t>
            </a:r>
            <a:r>
              <a:rPr lang="en-US" b="0" dirty="0" err="1">
                <a:solidFill>
                  <a:srgbClr val="008080"/>
                </a:solidFill>
                <a:effectLst/>
                <a:latin typeface="Consolas" panose="020B0609020204030204" pitchFamily="49" charset="0"/>
              </a:rPr>
              <a:t>getc</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err="1">
                <a:solidFill>
                  <a:srgbClr val="0000FF"/>
                </a:solidFill>
                <a:effectLst/>
                <a:highlight>
                  <a:srgbClr val="FFFF00"/>
                </a:highlight>
                <a:latin typeface="Consolas" panose="020B0609020204030204" pitchFamily="49" charset="0"/>
              </a:rPr>
              <a:t>cmp</a:t>
            </a:r>
            <a:r>
              <a:rPr lang="en-US" b="0" dirty="0">
                <a:solidFill>
                  <a:srgbClr val="000000"/>
                </a:solidFill>
                <a:effectLst/>
                <a:highlight>
                  <a:srgbClr val="FFFF00"/>
                </a:highlight>
                <a:latin typeface="Consolas" panose="020B0609020204030204" pitchFamily="49" charset="0"/>
              </a:rPr>
              <a:t>     </a:t>
            </a:r>
            <a:r>
              <a:rPr lang="en-US" b="0" dirty="0" err="1">
                <a:solidFill>
                  <a:srgbClr val="4864AA"/>
                </a:solidFill>
                <a:effectLst/>
                <a:highlight>
                  <a:srgbClr val="FFFF00"/>
                </a:highlight>
                <a:latin typeface="Consolas" panose="020B0609020204030204" pitchFamily="49" charset="0"/>
              </a:rPr>
              <a:t>eax</a:t>
            </a:r>
            <a:r>
              <a:rPr lang="en-US" b="0" dirty="0">
                <a:solidFill>
                  <a:srgbClr val="000000"/>
                </a:solidFill>
                <a:effectLst/>
                <a:highlight>
                  <a:srgbClr val="FFFF00"/>
                </a:highlight>
                <a:latin typeface="Consolas" panose="020B0609020204030204" pitchFamily="49" charset="0"/>
              </a:rPr>
              <a:t>, -</a:t>
            </a:r>
            <a:r>
              <a:rPr lang="en-US" b="0" dirty="0">
                <a:solidFill>
                  <a:srgbClr val="098658"/>
                </a:solidFill>
                <a:effectLst/>
                <a:highlight>
                  <a:srgbClr val="FFFF00"/>
                </a:highlight>
                <a:latin typeface="Consolas" panose="020B0609020204030204" pitchFamily="49" charset="0"/>
              </a:rPr>
              <a:t>1</a:t>
            </a:r>
            <a:endParaRPr lang="en-US" b="0" dirty="0">
              <a:solidFill>
                <a:srgbClr val="000000"/>
              </a:solidFill>
              <a:effectLst/>
              <a:highlight>
                <a:srgbClr val="FFFF00"/>
              </a:highlight>
              <a:latin typeface="Consolas" panose="020B0609020204030204" pitchFamily="49" charset="0"/>
            </a:endParaRPr>
          </a:p>
          <a:p>
            <a:pPr>
              <a:buNone/>
            </a:pPr>
            <a:r>
              <a:rPr lang="en-US" b="0" dirty="0">
                <a:solidFill>
                  <a:srgbClr val="000000"/>
                </a:solidFill>
                <a:effectLst/>
                <a:highlight>
                  <a:srgbClr val="FFFF00"/>
                </a:highlight>
                <a:latin typeface="Consolas" panose="020B0609020204030204" pitchFamily="49" charset="0"/>
              </a:rPr>
              <a:t>        </a:t>
            </a:r>
            <a:r>
              <a:rPr lang="en-US" b="0" dirty="0">
                <a:solidFill>
                  <a:srgbClr val="0000FF"/>
                </a:solidFill>
                <a:effectLst/>
                <a:highlight>
                  <a:srgbClr val="FFFF00"/>
                </a:highlight>
                <a:latin typeface="Consolas" panose="020B0609020204030204" pitchFamily="49" charset="0"/>
              </a:rPr>
              <a:t>je</a:t>
            </a:r>
            <a:r>
              <a:rPr lang="en-US" b="0" dirty="0">
                <a:solidFill>
                  <a:srgbClr val="000000"/>
                </a:solidFill>
                <a:effectLst/>
                <a:highlight>
                  <a:srgbClr val="FFFF00"/>
                </a:highlight>
                <a:latin typeface="Consolas" panose="020B0609020204030204" pitchFamily="49" charset="0"/>
              </a:rPr>
              <a:t>      </a:t>
            </a:r>
            <a:r>
              <a:rPr lang="en-US" b="0" dirty="0">
                <a:solidFill>
                  <a:srgbClr val="008080"/>
                </a:solidFill>
                <a:effectLst/>
                <a:highlight>
                  <a:srgbClr val="FFFF00"/>
                </a:highlight>
                <a:latin typeface="Consolas" panose="020B0609020204030204" pitchFamily="49" charset="0"/>
              </a:rPr>
              <a:t>.L6</a:t>
            </a:r>
            <a:endParaRPr lang="en-US" b="0" dirty="0">
              <a:solidFill>
                <a:srgbClr val="000000"/>
              </a:solidFill>
              <a:effectLst/>
              <a:highlight>
                <a:srgbClr val="FFFF00"/>
              </a:highlight>
              <a:latin typeface="Consolas" panose="020B0609020204030204" pitchFamily="49" charset="0"/>
            </a:endParaRPr>
          </a:p>
          <a:p>
            <a:pPr>
              <a:buNone/>
            </a:pPr>
            <a:r>
              <a:rPr lang="en-US" b="0" dirty="0">
                <a:solidFill>
                  <a:srgbClr val="000000"/>
                </a:solidFill>
                <a:effectLst/>
                <a:highlight>
                  <a:srgbClr val="00FFFF"/>
                </a:highlight>
                <a:latin typeface="Consolas" panose="020B0609020204030204" pitchFamily="49" charset="0"/>
              </a:rPr>
              <a:t>        </a:t>
            </a:r>
            <a:r>
              <a:rPr lang="en-US" b="0" dirty="0">
                <a:solidFill>
                  <a:srgbClr val="0000FF"/>
                </a:solidFill>
                <a:effectLst/>
                <a:highlight>
                  <a:srgbClr val="00FFFF"/>
                </a:highlight>
                <a:latin typeface="Consolas" panose="020B0609020204030204" pitchFamily="49" charset="0"/>
              </a:rPr>
              <a:t>mov</a:t>
            </a:r>
            <a:r>
              <a:rPr lang="en-US" b="0" dirty="0">
                <a:solidFill>
                  <a:srgbClr val="000000"/>
                </a:solidFill>
                <a:effectLst/>
                <a:highlight>
                  <a:srgbClr val="00FFFF"/>
                </a:highlight>
                <a:latin typeface="Consolas" panose="020B0609020204030204" pitchFamily="49" charset="0"/>
              </a:rPr>
              <a:t>     </a:t>
            </a:r>
            <a:r>
              <a:rPr lang="en-US" b="0" dirty="0" err="1">
                <a:solidFill>
                  <a:srgbClr val="4864AA"/>
                </a:solidFill>
                <a:effectLst/>
                <a:highlight>
                  <a:srgbClr val="00FFFF"/>
                </a:highlight>
                <a:latin typeface="Consolas" panose="020B0609020204030204" pitchFamily="49" charset="0"/>
              </a:rPr>
              <a:t>rsi</a:t>
            </a:r>
            <a:r>
              <a:rPr lang="en-US" b="0" dirty="0">
                <a:solidFill>
                  <a:srgbClr val="000000"/>
                </a:solidFill>
                <a:effectLst/>
                <a:highlight>
                  <a:srgbClr val="00FFFF"/>
                </a:highlight>
                <a:latin typeface="Consolas" panose="020B0609020204030204" pitchFamily="49" charset="0"/>
              </a:rPr>
              <a:t>, </a:t>
            </a:r>
            <a:r>
              <a:rPr lang="en-US" b="0" dirty="0">
                <a:solidFill>
                  <a:srgbClr val="808080"/>
                </a:solidFill>
                <a:effectLst/>
                <a:highlight>
                  <a:srgbClr val="00FFFF"/>
                </a:highlight>
                <a:latin typeface="Consolas" panose="020B0609020204030204" pitchFamily="49" charset="0"/>
              </a:rPr>
              <a:t>QWORD</a:t>
            </a:r>
            <a:r>
              <a:rPr lang="en-US" b="0" dirty="0">
                <a:solidFill>
                  <a:srgbClr val="000000"/>
                </a:solidFill>
                <a:effectLst/>
                <a:highlight>
                  <a:srgbClr val="00FFFF"/>
                </a:highlight>
                <a:latin typeface="Consolas" panose="020B0609020204030204" pitchFamily="49" charset="0"/>
              </a:rPr>
              <a:t> </a:t>
            </a:r>
            <a:r>
              <a:rPr lang="en-US" b="0" dirty="0">
                <a:solidFill>
                  <a:srgbClr val="808080"/>
                </a:solidFill>
                <a:effectLst/>
                <a:highlight>
                  <a:srgbClr val="00FFFF"/>
                </a:highlight>
                <a:latin typeface="Consolas" panose="020B0609020204030204" pitchFamily="49" charset="0"/>
              </a:rPr>
              <a:t>PTR</a:t>
            </a:r>
            <a:r>
              <a:rPr lang="en-US" b="0" dirty="0">
                <a:solidFill>
                  <a:srgbClr val="000000"/>
                </a:solidFill>
                <a:effectLst/>
                <a:highlight>
                  <a:srgbClr val="00FFFF"/>
                </a:highlight>
                <a:latin typeface="Consolas" panose="020B0609020204030204" pitchFamily="49" charset="0"/>
              </a:rPr>
              <a:t> </a:t>
            </a:r>
            <a:r>
              <a:rPr lang="en-US" b="0" dirty="0" err="1">
                <a:solidFill>
                  <a:srgbClr val="008080"/>
                </a:solidFill>
                <a:effectLst/>
                <a:highlight>
                  <a:srgbClr val="00FFFF"/>
                </a:highlight>
                <a:latin typeface="Consolas" panose="020B0609020204030204" pitchFamily="49" charset="0"/>
              </a:rPr>
              <a:t>stdout</a:t>
            </a:r>
            <a:r>
              <a:rPr lang="en-US" b="0" dirty="0">
                <a:solidFill>
                  <a:srgbClr val="000000"/>
                </a:solidFill>
                <a:effectLst/>
                <a:highlight>
                  <a:srgbClr val="00FFFF"/>
                </a:highlight>
                <a:latin typeface="Consolas" panose="020B0609020204030204" pitchFamily="49" charset="0"/>
              </a:rPr>
              <a:t>[</a:t>
            </a:r>
            <a:r>
              <a:rPr lang="en-US" b="0" dirty="0">
                <a:solidFill>
                  <a:srgbClr val="4864AA"/>
                </a:solidFill>
                <a:effectLst/>
                <a:highlight>
                  <a:srgbClr val="00FFFF"/>
                </a:highlight>
                <a:latin typeface="Consolas" panose="020B0609020204030204" pitchFamily="49" charset="0"/>
              </a:rPr>
              <a:t>rip</a:t>
            </a:r>
            <a:r>
              <a:rPr lang="en-US" b="0" dirty="0">
                <a:solidFill>
                  <a:srgbClr val="000000"/>
                </a:solidFill>
                <a:effectLst/>
                <a:highlight>
                  <a:srgbClr val="00FFFF"/>
                </a:highlight>
                <a:latin typeface="Consolas" panose="020B0609020204030204" pitchFamily="49" charset="0"/>
              </a:rPr>
              <a:t>]</a:t>
            </a:r>
          </a:p>
          <a:p>
            <a:pPr>
              <a:buNone/>
            </a:pPr>
            <a:r>
              <a:rPr lang="en-US" b="0" dirty="0">
                <a:solidFill>
                  <a:srgbClr val="000000"/>
                </a:solidFill>
                <a:effectLst/>
                <a:highlight>
                  <a:srgbClr val="00FFFF"/>
                </a:highlight>
                <a:latin typeface="Consolas" panose="020B0609020204030204" pitchFamily="49" charset="0"/>
              </a:rPr>
              <a:t>        </a:t>
            </a:r>
            <a:r>
              <a:rPr lang="en-US" b="0" dirty="0">
                <a:solidFill>
                  <a:srgbClr val="0000FF"/>
                </a:solidFill>
                <a:effectLst/>
                <a:highlight>
                  <a:srgbClr val="00FFFF"/>
                </a:highlight>
                <a:latin typeface="Consolas" panose="020B0609020204030204" pitchFamily="49" charset="0"/>
              </a:rPr>
              <a:t>mov</a:t>
            </a:r>
            <a:r>
              <a:rPr lang="en-US" b="0" dirty="0">
                <a:solidFill>
                  <a:srgbClr val="000000"/>
                </a:solidFill>
                <a:effectLst/>
                <a:highlight>
                  <a:srgbClr val="00FFFF"/>
                </a:highlight>
                <a:latin typeface="Consolas" panose="020B0609020204030204" pitchFamily="49" charset="0"/>
              </a:rPr>
              <a:t>     </a:t>
            </a:r>
            <a:r>
              <a:rPr lang="en-US" b="0" dirty="0" err="1">
                <a:solidFill>
                  <a:srgbClr val="4864AA"/>
                </a:solidFill>
                <a:effectLst/>
                <a:highlight>
                  <a:srgbClr val="00FFFF"/>
                </a:highlight>
                <a:latin typeface="Consolas" panose="020B0609020204030204" pitchFamily="49" charset="0"/>
              </a:rPr>
              <a:t>edi</a:t>
            </a:r>
            <a:r>
              <a:rPr lang="en-US" b="0" dirty="0">
                <a:solidFill>
                  <a:srgbClr val="000000"/>
                </a:solidFill>
                <a:effectLst/>
                <a:highlight>
                  <a:srgbClr val="00FFFF"/>
                </a:highlight>
                <a:latin typeface="Consolas" panose="020B0609020204030204" pitchFamily="49" charset="0"/>
              </a:rPr>
              <a:t>, </a:t>
            </a:r>
            <a:r>
              <a:rPr lang="en-US" b="0" dirty="0" err="1">
                <a:solidFill>
                  <a:srgbClr val="4864AA"/>
                </a:solidFill>
                <a:effectLst/>
                <a:highlight>
                  <a:srgbClr val="00FFFF"/>
                </a:highlight>
                <a:latin typeface="Consolas" panose="020B0609020204030204" pitchFamily="49" charset="0"/>
              </a:rPr>
              <a:t>eax</a:t>
            </a:r>
            <a:endParaRPr lang="en-US" b="0" dirty="0">
              <a:solidFill>
                <a:srgbClr val="000000"/>
              </a:solidFill>
              <a:effectLst/>
              <a:highlight>
                <a:srgbClr val="00FFFF"/>
              </a:highlight>
              <a:latin typeface="Consolas" panose="020B0609020204030204" pitchFamily="49" charset="0"/>
            </a:endParaRPr>
          </a:p>
          <a:p>
            <a:pPr>
              <a:buNone/>
            </a:pPr>
            <a:r>
              <a:rPr lang="en-US" b="0" dirty="0">
                <a:solidFill>
                  <a:srgbClr val="000000"/>
                </a:solidFill>
                <a:effectLst/>
                <a:highlight>
                  <a:srgbClr val="00FFFF"/>
                </a:highlight>
                <a:latin typeface="Consolas" panose="020B0609020204030204" pitchFamily="49" charset="0"/>
              </a:rPr>
              <a:t>        </a:t>
            </a:r>
            <a:r>
              <a:rPr lang="en-US" b="0" dirty="0">
                <a:solidFill>
                  <a:srgbClr val="0000FF"/>
                </a:solidFill>
                <a:effectLst/>
                <a:highlight>
                  <a:srgbClr val="00FFFF"/>
                </a:highlight>
                <a:latin typeface="Consolas" panose="020B0609020204030204" pitchFamily="49" charset="0"/>
              </a:rPr>
              <a:t>call</a:t>
            </a:r>
            <a:r>
              <a:rPr lang="en-US" b="0" dirty="0">
                <a:solidFill>
                  <a:srgbClr val="000000"/>
                </a:solidFill>
                <a:effectLst/>
                <a:highlight>
                  <a:srgbClr val="00FFFF"/>
                </a:highlight>
                <a:latin typeface="Consolas" panose="020B0609020204030204" pitchFamily="49" charset="0"/>
              </a:rPr>
              <a:t>    </a:t>
            </a:r>
            <a:r>
              <a:rPr lang="en-US" b="0" dirty="0" err="1">
                <a:solidFill>
                  <a:srgbClr val="008080"/>
                </a:solidFill>
                <a:effectLst/>
                <a:highlight>
                  <a:srgbClr val="00FFFF"/>
                </a:highlight>
                <a:latin typeface="Consolas" panose="020B0609020204030204" pitchFamily="49" charset="0"/>
              </a:rPr>
              <a:t>putc</a:t>
            </a:r>
            <a:endParaRPr lang="en-US" b="0" dirty="0">
              <a:solidFill>
                <a:srgbClr val="000000"/>
              </a:solidFill>
              <a:effectLst/>
              <a:highlight>
                <a:srgbClr val="00FFFF"/>
              </a:highlight>
              <a:latin typeface="Consolas" panose="020B0609020204030204" pitchFamily="49" charset="0"/>
            </a:endParaRPr>
          </a:p>
          <a:p>
            <a:pPr>
              <a:buNone/>
            </a:pPr>
            <a:r>
              <a:rPr lang="en-US" b="0" dirty="0">
                <a:solidFill>
                  <a:srgbClr val="0000FF"/>
                </a:solidFill>
                <a:effectLst/>
                <a:latin typeface="Consolas" panose="020B0609020204030204" pitchFamily="49" charset="0"/>
              </a:rPr>
              <a:t>.L3</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xor</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eax</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eax</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add</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rsp</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8</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a:t>
            </a: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.L6</a:t>
            </a:r>
            <a:r>
              <a:rPr lang="en-US" b="0" dirty="0">
                <a:solidFill>
                  <a:srgbClr val="000000"/>
                </a:solidFill>
                <a:effectLst/>
                <a:latin typeface="Consolas" panose="020B0609020204030204" pitchFamily="49" charset="0"/>
              </a:rPr>
              <a:t>:</a:t>
            </a:r>
          </a:p>
          <a:p>
            <a:pPr>
              <a:buNone/>
            </a:pPr>
            <a:r>
              <a:rPr lang="en-US" b="0" dirty="0">
                <a:solidFill>
                  <a:srgbClr val="000000"/>
                </a:solidFill>
                <a:effectLst/>
                <a:highlight>
                  <a:srgbClr val="C0C0C0"/>
                </a:highlight>
                <a:latin typeface="Consolas" panose="020B0609020204030204" pitchFamily="49" charset="0"/>
              </a:rPr>
              <a:t>        </a:t>
            </a:r>
            <a:r>
              <a:rPr lang="en-US" b="0" dirty="0">
                <a:solidFill>
                  <a:srgbClr val="0000FF"/>
                </a:solidFill>
                <a:effectLst/>
                <a:highlight>
                  <a:srgbClr val="C0C0C0"/>
                </a:highlight>
                <a:latin typeface="Consolas" panose="020B0609020204030204" pitchFamily="49" charset="0"/>
              </a:rPr>
              <a:t>mov</a:t>
            </a:r>
            <a:r>
              <a:rPr lang="en-US" b="0" dirty="0">
                <a:solidFill>
                  <a:srgbClr val="000000"/>
                </a:solidFill>
                <a:effectLst/>
                <a:highlight>
                  <a:srgbClr val="C0C0C0"/>
                </a:highlight>
                <a:latin typeface="Consolas" panose="020B0609020204030204" pitchFamily="49" charset="0"/>
              </a:rPr>
              <a:t>     </a:t>
            </a:r>
            <a:r>
              <a:rPr lang="en-US" b="0" dirty="0" err="1">
                <a:solidFill>
                  <a:srgbClr val="4864AA"/>
                </a:solidFill>
                <a:effectLst/>
                <a:highlight>
                  <a:srgbClr val="C0C0C0"/>
                </a:highlight>
                <a:latin typeface="Consolas" panose="020B0609020204030204" pitchFamily="49" charset="0"/>
              </a:rPr>
              <a:t>edi</a:t>
            </a:r>
            <a:r>
              <a:rPr lang="en-US" b="0" dirty="0">
                <a:solidFill>
                  <a:srgbClr val="000000"/>
                </a:solidFill>
                <a:effectLst/>
                <a:highlight>
                  <a:srgbClr val="C0C0C0"/>
                </a:highlight>
                <a:latin typeface="Consolas" panose="020B0609020204030204" pitchFamily="49" charset="0"/>
              </a:rPr>
              <a:t>, </a:t>
            </a:r>
            <a:r>
              <a:rPr lang="en-US" b="0" dirty="0">
                <a:solidFill>
                  <a:srgbClr val="008080"/>
                </a:solidFill>
                <a:effectLst/>
                <a:highlight>
                  <a:srgbClr val="C0C0C0"/>
                </a:highlight>
                <a:latin typeface="Consolas" panose="020B0609020204030204" pitchFamily="49" charset="0"/>
              </a:rPr>
              <a:t>OFFSET</a:t>
            </a:r>
            <a:r>
              <a:rPr lang="en-US" b="0" dirty="0">
                <a:solidFill>
                  <a:srgbClr val="000000"/>
                </a:solidFill>
                <a:effectLst/>
                <a:highlight>
                  <a:srgbClr val="C0C0C0"/>
                </a:highlight>
                <a:latin typeface="Consolas" panose="020B0609020204030204" pitchFamily="49" charset="0"/>
              </a:rPr>
              <a:t> </a:t>
            </a:r>
            <a:r>
              <a:rPr lang="en-US" b="0" dirty="0">
                <a:solidFill>
                  <a:srgbClr val="008080"/>
                </a:solidFill>
                <a:effectLst/>
                <a:highlight>
                  <a:srgbClr val="C0C0C0"/>
                </a:highlight>
                <a:latin typeface="Consolas" panose="020B0609020204030204" pitchFamily="49" charset="0"/>
              </a:rPr>
              <a:t>FLAT</a:t>
            </a:r>
            <a:r>
              <a:rPr lang="en-US" b="0" dirty="0">
                <a:solidFill>
                  <a:srgbClr val="000000"/>
                </a:solidFill>
                <a:effectLst/>
                <a:highlight>
                  <a:srgbClr val="C0C0C0"/>
                </a:highlight>
                <a:latin typeface="Consolas" panose="020B0609020204030204" pitchFamily="49" charset="0"/>
              </a:rPr>
              <a:t>:</a:t>
            </a:r>
            <a:r>
              <a:rPr lang="en-US" b="0" dirty="0">
                <a:solidFill>
                  <a:srgbClr val="008080"/>
                </a:solidFill>
                <a:effectLst/>
                <a:highlight>
                  <a:srgbClr val="C0C0C0"/>
                </a:highlight>
                <a:latin typeface="Consolas" panose="020B0609020204030204" pitchFamily="49" charset="0"/>
              </a:rPr>
              <a:t>.LC0</a:t>
            </a:r>
            <a:endParaRPr lang="en-US" b="0" dirty="0">
              <a:solidFill>
                <a:srgbClr val="000000"/>
              </a:solidFill>
              <a:effectLst/>
              <a:highlight>
                <a:srgbClr val="C0C0C0"/>
              </a:highlight>
              <a:latin typeface="Consolas" panose="020B0609020204030204" pitchFamily="49" charset="0"/>
            </a:endParaRPr>
          </a:p>
          <a:p>
            <a:pPr>
              <a:buNone/>
            </a:pPr>
            <a:r>
              <a:rPr lang="en-US" b="0" dirty="0">
                <a:solidFill>
                  <a:srgbClr val="000000"/>
                </a:solidFill>
                <a:effectLst/>
                <a:highlight>
                  <a:srgbClr val="C0C0C0"/>
                </a:highlight>
                <a:latin typeface="Consolas" panose="020B0609020204030204" pitchFamily="49" charset="0"/>
              </a:rPr>
              <a:t>        </a:t>
            </a:r>
            <a:r>
              <a:rPr lang="en-US" b="0" dirty="0">
                <a:solidFill>
                  <a:srgbClr val="0000FF"/>
                </a:solidFill>
                <a:effectLst/>
                <a:highlight>
                  <a:srgbClr val="C0C0C0"/>
                </a:highlight>
                <a:latin typeface="Consolas" panose="020B0609020204030204" pitchFamily="49" charset="0"/>
              </a:rPr>
              <a:t>call</a:t>
            </a:r>
            <a:r>
              <a:rPr lang="en-US" b="0" dirty="0">
                <a:solidFill>
                  <a:srgbClr val="000000"/>
                </a:solidFill>
                <a:effectLst/>
                <a:highlight>
                  <a:srgbClr val="C0C0C0"/>
                </a:highlight>
                <a:latin typeface="Consolas" panose="020B0609020204030204" pitchFamily="49" charset="0"/>
              </a:rPr>
              <a:t>    </a:t>
            </a:r>
            <a:r>
              <a:rPr lang="en-US" b="0" dirty="0">
                <a:solidFill>
                  <a:srgbClr val="008080"/>
                </a:solidFill>
                <a:effectLst/>
                <a:highlight>
                  <a:srgbClr val="C0C0C0"/>
                </a:highlight>
                <a:latin typeface="Consolas" panose="020B0609020204030204" pitchFamily="49" charset="0"/>
              </a:rPr>
              <a:t>puts</a:t>
            </a:r>
            <a:endParaRPr lang="en-US" b="0" dirty="0">
              <a:solidFill>
                <a:srgbClr val="000000"/>
              </a:solidFill>
              <a:effectLst/>
              <a:highlight>
                <a:srgbClr val="C0C0C0"/>
              </a:highligh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jmp</a:t>
            </a:r>
            <a:r>
              <a:rPr lang="en-US" b="0" dirty="0">
                <a:solidFill>
                  <a:srgbClr val="000000"/>
                </a:solidFill>
                <a:effectLst/>
                <a:latin typeface="Consolas" panose="020B0609020204030204" pitchFamily="49" charset="0"/>
              </a:rPr>
              <a:t>     </a:t>
            </a:r>
            <a:r>
              <a:rPr lang="en-US" b="0" dirty="0">
                <a:solidFill>
                  <a:srgbClr val="008080"/>
                </a:solidFill>
                <a:effectLst/>
                <a:latin typeface="Consolas" panose="020B0609020204030204" pitchFamily="49" charset="0"/>
              </a:rPr>
              <a:t>.L3</a:t>
            </a:r>
            <a:endParaRPr lang="en-US" b="0" dirty="0">
              <a:solidFill>
                <a:srgbClr val="000000"/>
              </a:solidFill>
              <a:effectLst/>
              <a:latin typeface="Consolas" panose="020B0609020204030204" pitchFamily="49" charset="0"/>
            </a:endParaRPr>
          </a:p>
        </p:txBody>
      </p:sp>
      <p:sp>
        <p:nvSpPr>
          <p:cNvPr id="9" name="Freeform: Shape 8">
            <a:extLst>
              <a:ext uri="{FF2B5EF4-FFF2-40B4-BE49-F238E27FC236}">
                <a16:creationId xmlns:a16="http://schemas.microsoft.com/office/drawing/2014/main" id="{C43AB23A-79EC-39B5-93B5-CC862653F9C9}"/>
              </a:ext>
            </a:extLst>
          </p:cNvPr>
          <p:cNvSpPr/>
          <p:nvPr/>
        </p:nvSpPr>
        <p:spPr>
          <a:xfrm>
            <a:off x="8920065" y="3546686"/>
            <a:ext cx="3168331" cy="2238294"/>
          </a:xfrm>
          <a:custGeom>
            <a:avLst/>
            <a:gdLst>
              <a:gd name="csX0" fmla="*/ 0 w 3168331"/>
              <a:gd name="csY0" fmla="*/ 54930 h 2238294"/>
              <a:gd name="csX1" fmla="*/ 2649894 w 3168331"/>
              <a:gd name="csY1" fmla="*/ 92253 h 2238294"/>
              <a:gd name="csX2" fmla="*/ 3135086 w 3168331"/>
              <a:gd name="csY2" fmla="*/ 913347 h 2238294"/>
              <a:gd name="csX3" fmla="*/ 3004457 w 3168331"/>
              <a:gd name="csY3" fmla="*/ 1827747 h 2238294"/>
              <a:gd name="csX4" fmla="*/ 2034074 w 3168331"/>
              <a:gd name="csY4" fmla="*/ 2238294 h 2238294"/>
            </a:gdLst>
            <a:ahLst/>
            <a:cxnLst>
              <a:cxn ang="0">
                <a:pos x="csX0" y="csY0"/>
              </a:cxn>
              <a:cxn ang="0">
                <a:pos x="csX1" y="csY1"/>
              </a:cxn>
              <a:cxn ang="0">
                <a:pos x="csX2" y="csY2"/>
              </a:cxn>
              <a:cxn ang="0">
                <a:pos x="csX3" y="csY3"/>
              </a:cxn>
              <a:cxn ang="0">
                <a:pos x="csX4" y="csY4"/>
              </a:cxn>
            </a:cxnLst>
            <a:rect l="l" t="t" r="r" b="b"/>
            <a:pathLst>
              <a:path w="3168331" h="2238294">
                <a:moveTo>
                  <a:pt x="0" y="54930"/>
                </a:moveTo>
                <a:cubicBezTo>
                  <a:pt x="1063690" y="2057"/>
                  <a:pt x="2127380" y="-50816"/>
                  <a:pt x="2649894" y="92253"/>
                </a:cubicBezTo>
                <a:cubicBezTo>
                  <a:pt x="3172408" y="235322"/>
                  <a:pt x="3075992" y="624098"/>
                  <a:pt x="3135086" y="913347"/>
                </a:cubicBezTo>
                <a:cubicBezTo>
                  <a:pt x="3194180" y="1202596"/>
                  <a:pt x="3187959" y="1606923"/>
                  <a:pt x="3004457" y="1827747"/>
                </a:cubicBezTo>
                <a:cubicBezTo>
                  <a:pt x="2820955" y="2048571"/>
                  <a:pt x="2427514" y="2143432"/>
                  <a:pt x="2034074" y="2238294"/>
                </a:cubicBezTo>
              </a:path>
            </a:pathLst>
          </a:custGeom>
          <a:noFill/>
          <a:ln>
            <a:prstDash val="dash"/>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BD54AEDE-4AF9-80E9-4D07-DF1DA1219B34}"/>
              </a:ext>
            </a:extLst>
          </p:cNvPr>
          <p:cNvSpPr/>
          <p:nvPr/>
        </p:nvSpPr>
        <p:spPr>
          <a:xfrm>
            <a:off x="9125339" y="4696488"/>
            <a:ext cx="2483910" cy="2012443"/>
          </a:xfrm>
          <a:custGeom>
            <a:avLst/>
            <a:gdLst>
              <a:gd name="csX0" fmla="*/ 18661 w 2483910"/>
              <a:gd name="csY0" fmla="*/ 1984230 h 2012443"/>
              <a:gd name="csX1" fmla="*/ 2071396 w 2483910"/>
              <a:gd name="csY1" fmla="*/ 1834941 h 2012443"/>
              <a:gd name="csX2" fmla="*/ 2444620 w 2483910"/>
              <a:gd name="csY2" fmla="*/ 640622 h 2012443"/>
              <a:gd name="csX3" fmla="*/ 1492898 w 2483910"/>
              <a:gd name="csY3" fmla="*/ 62124 h 2012443"/>
              <a:gd name="csX4" fmla="*/ 0 w 2483910"/>
              <a:gd name="csY4" fmla="*/ 43463 h 2012443"/>
            </a:gdLst>
            <a:ahLst/>
            <a:cxnLst>
              <a:cxn ang="0">
                <a:pos x="csX0" y="csY0"/>
              </a:cxn>
              <a:cxn ang="0">
                <a:pos x="csX1" y="csY1"/>
              </a:cxn>
              <a:cxn ang="0">
                <a:pos x="csX2" y="csY2"/>
              </a:cxn>
              <a:cxn ang="0">
                <a:pos x="csX3" y="csY3"/>
              </a:cxn>
              <a:cxn ang="0">
                <a:pos x="csX4" y="csY4"/>
              </a:cxn>
            </a:cxnLst>
            <a:rect l="l" t="t" r="r" b="b"/>
            <a:pathLst>
              <a:path w="2483910" h="2012443">
                <a:moveTo>
                  <a:pt x="18661" y="1984230"/>
                </a:moveTo>
                <a:cubicBezTo>
                  <a:pt x="842865" y="2021553"/>
                  <a:pt x="1667070" y="2058876"/>
                  <a:pt x="2071396" y="1834941"/>
                </a:cubicBezTo>
                <a:cubicBezTo>
                  <a:pt x="2475723" y="1611006"/>
                  <a:pt x="2541036" y="936091"/>
                  <a:pt x="2444620" y="640622"/>
                </a:cubicBezTo>
                <a:cubicBezTo>
                  <a:pt x="2348204" y="345152"/>
                  <a:pt x="1900335" y="161650"/>
                  <a:pt x="1492898" y="62124"/>
                </a:cubicBezTo>
                <a:cubicBezTo>
                  <a:pt x="1085461" y="-37402"/>
                  <a:pt x="542730" y="3030"/>
                  <a:pt x="0" y="43463"/>
                </a:cubicBezTo>
              </a:path>
            </a:pathLst>
          </a:custGeom>
          <a:noFill/>
          <a:ln>
            <a:prstDash val="dash"/>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9D1ABA4-53E3-B091-0ADD-53CBF90BD24A}"/>
              </a:ext>
            </a:extLst>
          </p:cNvPr>
          <p:cNvSpPr txBox="1"/>
          <p:nvPr/>
        </p:nvSpPr>
        <p:spPr>
          <a:xfrm>
            <a:off x="20217" y="6358261"/>
            <a:ext cx="4589105" cy="369332"/>
          </a:xfrm>
          <a:prstGeom prst="rect">
            <a:avLst/>
          </a:prstGeom>
          <a:noFill/>
        </p:spPr>
        <p:txBody>
          <a:bodyPr wrap="square">
            <a:spAutoFit/>
          </a:bodyPr>
          <a:lstStyle/>
          <a:p>
            <a:r>
              <a:rPr lang="en-US" dirty="0">
                <a:hlinkClick r:id="rId3"/>
              </a:rPr>
              <a:t>https://godbolt.org/z/j3Yq6E1zT</a:t>
            </a:r>
            <a:endParaRPr lang="en-US" dirty="0"/>
          </a:p>
        </p:txBody>
      </p:sp>
      <p:pic>
        <p:nvPicPr>
          <p:cNvPr id="14" name="Picture 13">
            <a:extLst>
              <a:ext uri="{FF2B5EF4-FFF2-40B4-BE49-F238E27FC236}">
                <a16:creationId xmlns:a16="http://schemas.microsoft.com/office/drawing/2014/main" id="{33D63A4C-FAF7-61AF-1726-576B4874FF94}"/>
              </a:ext>
            </a:extLst>
          </p:cNvPr>
          <p:cNvPicPr>
            <a:picLocks noChangeAspect="1"/>
          </p:cNvPicPr>
          <p:nvPr/>
        </p:nvPicPr>
        <p:blipFill>
          <a:blip r:embed="rId4"/>
          <a:stretch>
            <a:fillRect/>
          </a:stretch>
        </p:blipFill>
        <p:spPr>
          <a:xfrm>
            <a:off x="9927771" y="149949"/>
            <a:ext cx="2044560" cy="2044560"/>
          </a:xfrm>
          <a:prstGeom prst="rect">
            <a:avLst/>
          </a:prstGeom>
        </p:spPr>
      </p:pic>
    </p:spTree>
    <p:extLst>
      <p:ext uri="{BB962C8B-B14F-4D97-AF65-F5344CB8AC3E}">
        <p14:creationId xmlns:p14="http://schemas.microsoft.com/office/powerpoint/2010/main" val="222858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B0CF1-B32A-E4D5-3A1C-BD8C8D12D3FA}"/>
              </a:ext>
            </a:extLst>
          </p:cNvPr>
          <p:cNvSpPr>
            <a:spLocks noGrp="1"/>
          </p:cNvSpPr>
          <p:nvPr>
            <p:ph type="title"/>
          </p:nvPr>
        </p:nvSpPr>
        <p:spPr/>
        <p:txBody>
          <a:bodyPr/>
          <a:lstStyle/>
          <a:p>
            <a:r>
              <a:rPr lang="ru-RU" dirty="0"/>
              <a:t>Итоги по </a:t>
            </a:r>
            <a:r>
              <a:rPr lang="en-US" dirty="0"/>
              <a:t>if</a:t>
            </a:r>
          </a:p>
        </p:txBody>
      </p:sp>
      <p:sp>
        <p:nvSpPr>
          <p:cNvPr id="3" name="Content Placeholder 2">
            <a:extLst>
              <a:ext uri="{FF2B5EF4-FFF2-40B4-BE49-F238E27FC236}">
                <a16:creationId xmlns:a16="http://schemas.microsoft.com/office/drawing/2014/main" id="{660D58E0-3BAB-512B-C016-0B6E9151F61D}"/>
              </a:ext>
            </a:extLst>
          </p:cNvPr>
          <p:cNvSpPr>
            <a:spLocks noGrp="1"/>
          </p:cNvSpPr>
          <p:nvPr>
            <p:ph idx="1"/>
          </p:nvPr>
        </p:nvSpPr>
        <p:spPr/>
        <p:txBody>
          <a:bodyPr/>
          <a:lstStyle/>
          <a:p>
            <a:r>
              <a:rPr lang="ru-RU" dirty="0"/>
              <a:t>Условие — выражение</a:t>
            </a:r>
          </a:p>
          <a:p>
            <a:r>
              <a:rPr lang="ru-RU" dirty="0"/>
              <a:t>0 → ложь</a:t>
            </a:r>
          </a:p>
          <a:p>
            <a:r>
              <a:rPr lang="ru-RU" dirty="0"/>
              <a:t>≠0 → истина</a:t>
            </a:r>
          </a:p>
          <a:p>
            <a:r>
              <a:rPr lang="ru-RU" dirty="0" err="1"/>
              <a:t>else</a:t>
            </a:r>
            <a:r>
              <a:rPr lang="ru-RU" dirty="0"/>
              <a:t> — альтернативная ветка</a:t>
            </a:r>
          </a:p>
          <a:p>
            <a:r>
              <a:rPr lang="ru-RU" dirty="0" err="1"/>
              <a:t>else</a:t>
            </a:r>
            <a:r>
              <a:rPr lang="ru-RU" dirty="0"/>
              <a:t> </a:t>
            </a:r>
            <a:r>
              <a:rPr lang="ru-RU" dirty="0" err="1"/>
              <a:t>if</a:t>
            </a:r>
            <a:r>
              <a:rPr lang="ru-RU" dirty="0"/>
              <a:t> — цепочка проверок</a:t>
            </a:r>
          </a:p>
        </p:txBody>
      </p:sp>
    </p:spTree>
    <p:extLst>
      <p:ext uri="{BB962C8B-B14F-4D97-AF65-F5344CB8AC3E}">
        <p14:creationId xmlns:p14="http://schemas.microsoft.com/office/powerpoint/2010/main" val="3050449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488C34-880E-9CE1-EFB4-44F9D29639B6}"/>
              </a:ext>
            </a:extLst>
          </p:cNvPr>
          <p:cNvSpPr>
            <a:spLocks noGrp="1"/>
          </p:cNvSpPr>
          <p:nvPr>
            <p:ph type="title"/>
          </p:nvPr>
        </p:nvSpPr>
        <p:spPr/>
        <p:txBody>
          <a:bodyPr/>
          <a:lstStyle/>
          <a:p>
            <a:r>
              <a:rPr lang="ru-RU" dirty="0"/>
              <a:t>Множественный выбор</a:t>
            </a:r>
            <a:endParaRPr lang="en-US" dirty="0"/>
          </a:p>
        </p:txBody>
      </p:sp>
      <p:sp>
        <p:nvSpPr>
          <p:cNvPr id="5" name="Text Placeholder 4">
            <a:extLst>
              <a:ext uri="{FF2B5EF4-FFF2-40B4-BE49-F238E27FC236}">
                <a16:creationId xmlns:a16="http://schemas.microsoft.com/office/drawing/2014/main" id="{1E5947D4-6AD9-B99F-3D62-BE005B8C1C4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588248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B964A2A-9B31-FE5A-1482-E2D839BCA0E3}"/>
              </a:ext>
            </a:extLst>
          </p:cNvPr>
          <p:cNvSpPr>
            <a:spLocks noGrp="1"/>
          </p:cNvSpPr>
          <p:nvPr>
            <p:ph type="title"/>
          </p:nvPr>
        </p:nvSpPr>
        <p:spPr/>
        <p:txBody>
          <a:bodyPr/>
          <a:lstStyle/>
          <a:p>
            <a:r>
              <a:rPr lang="ru-RU" dirty="0"/>
              <a:t>Когда множественный </a:t>
            </a:r>
            <a:r>
              <a:rPr lang="en-US" dirty="0"/>
              <a:t>if</a:t>
            </a:r>
            <a:r>
              <a:rPr lang="ru-RU" dirty="0"/>
              <a:t> неудобен</a:t>
            </a:r>
            <a:endParaRPr lang="en-US" dirty="0"/>
          </a:p>
        </p:txBody>
      </p:sp>
      <p:sp>
        <p:nvSpPr>
          <p:cNvPr id="5" name="Content Placeholder 4">
            <a:extLst>
              <a:ext uri="{FF2B5EF4-FFF2-40B4-BE49-F238E27FC236}">
                <a16:creationId xmlns:a16="http://schemas.microsoft.com/office/drawing/2014/main" id="{C63EECAE-601D-C56D-327D-5549FEED68F7}"/>
              </a:ext>
            </a:extLst>
          </p:cNvPr>
          <p:cNvSpPr>
            <a:spLocks noGrp="1"/>
          </p:cNvSpPr>
          <p:nvPr>
            <p:ph idx="1"/>
          </p:nvPr>
        </p:nvSpPr>
        <p:spPr/>
        <p:txBody>
          <a:bodyPr/>
          <a:lstStyle/>
          <a:p>
            <a:r>
              <a:rPr lang="ru-RU" dirty="0"/>
              <a:t>Если нужно сравнить одну переменную с несколькими </a:t>
            </a:r>
            <a:r>
              <a:rPr lang="ru-RU" b="1" dirty="0"/>
              <a:t>фиксированными</a:t>
            </a:r>
            <a:r>
              <a:rPr lang="ru-RU" dirty="0"/>
              <a:t> целыми значениями, цепочка </a:t>
            </a:r>
            <a:r>
              <a:rPr lang="ru-RU" dirty="0" err="1"/>
              <a:t>if</a:t>
            </a:r>
            <a:r>
              <a:rPr lang="ru-RU" dirty="0"/>
              <a:t>–</a:t>
            </a:r>
            <a:r>
              <a:rPr lang="ru-RU" dirty="0" err="1"/>
              <a:t>else</a:t>
            </a:r>
            <a:r>
              <a:rPr lang="ru-RU" dirty="0"/>
              <a:t> может быть неудобной.</a:t>
            </a:r>
          </a:p>
          <a:p>
            <a:pPr lvl="1">
              <a:buNone/>
            </a:pPr>
            <a:r>
              <a:rPr lang="en-US" b="0" dirty="0">
                <a:solidFill>
                  <a:srgbClr val="8F08C4"/>
                </a:solidFill>
                <a:effectLst/>
                <a:latin typeface="Consolas" panose="020B0609020204030204" pitchFamily="49" charset="0"/>
              </a:rPr>
              <a:t>if</a:t>
            </a:r>
            <a:r>
              <a:rPr lang="en-US" b="0" dirty="0">
                <a:solidFill>
                  <a:srgbClr val="000000"/>
                </a:solidFill>
                <a:effectLst/>
                <a:latin typeface="Consolas" panose="020B0609020204030204" pitchFamily="49" charset="0"/>
              </a:rPr>
              <a:t> (x ==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 ... }</a:t>
            </a:r>
          </a:p>
          <a:p>
            <a:pPr lvl="1">
              <a:buNone/>
            </a:pPr>
            <a:r>
              <a:rPr lang="en-US" b="0" dirty="0">
                <a:solidFill>
                  <a:srgbClr val="8F08C4"/>
                </a:solidFill>
                <a:effectLst/>
                <a:latin typeface="Consolas" panose="020B0609020204030204" pitchFamily="49" charset="0"/>
              </a:rPr>
              <a:t>else</a:t>
            </a: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if</a:t>
            </a:r>
            <a:r>
              <a:rPr lang="en-US" b="0" dirty="0">
                <a:solidFill>
                  <a:srgbClr val="000000"/>
                </a:solidFill>
                <a:effectLst/>
                <a:latin typeface="Consolas" panose="020B0609020204030204" pitchFamily="49" charset="0"/>
              </a:rPr>
              <a:t> (x ==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 ... }</a:t>
            </a:r>
          </a:p>
          <a:p>
            <a:pPr lvl="1">
              <a:buNone/>
            </a:pPr>
            <a:r>
              <a:rPr lang="en-US" b="0" dirty="0">
                <a:solidFill>
                  <a:srgbClr val="8F08C4"/>
                </a:solidFill>
                <a:effectLst/>
                <a:latin typeface="Consolas" panose="020B0609020204030204" pitchFamily="49" charset="0"/>
              </a:rPr>
              <a:t>else</a:t>
            </a: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if</a:t>
            </a:r>
            <a:r>
              <a:rPr lang="en-US" b="0" dirty="0">
                <a:solidFill>
                  <a:srgbClr val="000000"/>
                </a:solidFill>
                <a:effectLst/>
                <a:latin typeface="Consolas" panose="020B0609020204030204" pitchFamily="49" charset="0"/>
              </a:rPr>
              <a:t> (x == </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 { ... }</a:t>
            </a:r>
            <a:endParaRPr lang="ru-RU" dirty="0"/>
          </a:p>
          <a:p>
            <a:r>
              <a:rPr lang="ru-RU" dirty="0"/>
              <a:t>Для таких случаев используется </a:t>
            </a:r>
            <a:r>
              <a:rPr lang="ru-RU" dirty="0" err="1"/>
              <a:t>switch</a:t>
            </a:r>
            <a:r>
              <a:rPr lang="ru-RU" dirty="0"/>
              <a:t>.</a:t>
            </a:r>
            <a:endParaRPr lang="en-US" dirty="0"/>
          </a:p>
        </p:txBody>
      </p:sp>
    </p:spTree>
    <p:extLst>
      <p:ext uri="{BB962C8B-B14F-4D97-AF65-F5344CB8AC3E}">
        <p14:creationId xmlns:p14="http://schemas.microsoft.com/office/powerpoint/2010/main" val="3051420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CF318-CC1D-03AE-6909-78860B1DA032}"/>
              </a:ext>
            </a:extLst>
          </p:cNvPr>
          <p:cNvSpPr>
            <a:spLocks noGrp="1"/>
          </p:cNvSpPr>
          <p:nvPr>
            <p:ph type="title"/>
          </p:nvPr>
        </p:nvSpPr>
        <p:spPr/>
        <p:txBody>
          <a:bodyPr/>
          <a:lstStyle/>
          <a:p>
            <a:r>
              <a:rPr lang="ru-RU" dirty="0"/>
              <a:t>Общая форма </a:t>
            </a:r>
            <a:r>
              <a:rPr lang="en-US" dirty="0"/>
              <a:t>switch</a:t>
            </a:r>
          </a:p>
        </p:txBody>
      </p:sp>
      <p:sp>
        <p:nvSpPr>
          <p:cNvPr id="3" name="Content Placeholder 2">
            <a:extLst>
              <a:ext uri="{FF2B5EF4-FFF2-40B4-BE49-F238E27FC236}">
                <a16:creationId xmlns:a16="http://schemas.microsoft.com/office/drawing/2014/main" id="{AE2F4676-DAC9-7C94-D255-992B0AB471B6}"/>
              </a:ext>
            </a:extLst>
          </p:cNvPr>
          <p:cNvSpPr>
            <a:spLocks noGrp="1"/>
          </p:cNvSpPr>
          <p:nvPr>
            <p:ph idx="1"/>
          </p:nvPr>
        </p:nvSpPr>
        <p:spPr/>
        <p:txBody>
          <a:bodyPr>
            <a:normAutofit fontScale="85000" lnSpcReduction="20000"/>
          </a:bodyPr>
          <a:lstStyle/>
          <a:p>
            <a:r>
              <a:rPr lang="ru-RU" dirty="0"/>
              <a:t>Общая форма конструкции</a:t>
            </a:r>
            <a:endParaRPr lang="en-US" dirty="0"/>
          </a:p>
          <a:p>
            <a:pPr lvl="1">
              <a:buNone/>
            </a:pPr>
            <a:r>
              <a:rPr lang="en-US" b="0" dirty="0">
                <a:solidFill>
                  <a:srgbClr val="8F08C4"/>
                </a:solidFill>
                <a:effectLst/>
                <a:latin typeface="Consolas" panose="020B0609020204030204" pitchFamily="49" charset="0"/>
              </a:rPr>
              <a:t>switch</a:t>
            </a:r>
            <a:r>
              <a:rPr lang="en-US" b="0" dirty="0">
                <a:solidFill>
                  <a:srgbClr val="000000"/>
                </a:solidFill>
                <a:effectLst/>
                <a:latin typeface="Consolas" panose="020B0609020204030204" pitchFamily="49" charset="0"/>
              </a:rPr>
              <a:t> (expression) {</a:t>
            </a:r>
          </a:p>
          <a:p>
            <a:pPr lvl="1">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case</a:t>
            </a:r>
            <a:r>
              <a:rPr lang="en-US" b="0" dirty="0">
                <a:solidFill>
                  <a:srgbClr val="000000"/>
                </a:solidFill>
                <a:effectLst/>
                <a:latin typeface="Consolas" panose="020B0609020204030204" pitchFamily="49" charset="0"/>
              </a:rPr>
              <a:t> value1:</a:t>
            </a:r>
          </a:p>
          <a:p>
            <a:pPr lvl="1">
              <a:buNone/>
            </a:pP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a:t>
            </a:r>
            <a:r>
              <a:rPr lang="en-US" b="0" dirty="0" err="1">
                <a:solidFill>
                  <a:srgbClr val="008000"/>
                </a:solidFill>
                <a:effectLst/>
                <a:latin typeface="Consolas" panose="020B0609020204030204" pitchFamily="49" charset="0"/>
              </a:rPr>
              <a:t>код</a:t>
            </a:r>
            <a:endParaRPr lang="en-US" b="0" dirty="0">
              <a:solidFill>
                <a:srgbClr val="000000"/>
              </a:solidFill>
              <a:effectLst/>
              <a:latin typeface="Consolas" panose="020B0609020204030204" pitchFamily="49" charset="0"/>
            </a:endParaRPr>
          </a:p>
          <a:p>
            <a:pPr lvl="1">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break</a:t>
            </a:r>
            <a:r>
              <a:rPr lang="en-US" b="0" dirty="0">
                <a:solidFill>
                  <a:srgbClr val="000000"/>
                </a:solidFill>
                <a:effectLst/>
                <a:latin typeface="Consolas" panose="020B0609020204030204" pitchFamily="49" charset="0"/>
              </a:rPr>
              <a:t>;</a:t>
            </a:r>
          </a:p>
          <a:p>
            <a:pPr lvl="1">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case</a:t>
            </a:r>
            <a:r>
              <a:rPr lang="en-US" b="0" dirty="0">
                <a:solidFill>
                  <a:srgbClr val="000000"/>
                </a:solidFill>
                <a:effectLst/>
                <a:latin typeface="Consolas" panose="020B0609020204030204" pitchFamily="49" charset="0"/>
              </a:rPr>
              <a:t> value2:</a:t>
            </a:r>
          </a:p>
          <a:p>
            <a:pPr lvl="1">
              <a:buNone/>
            </a:pP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a:t>
            </a:r>
            <a:r>
              <a:rPr lang="en-US" b="0" dirty="0" err="1">
                <a:solidFill>
                  <a:srgbClr val="008000"/>
                </a:solidFill>
                <a:effectLst/>
                <a:latin typeface="Consolas" panose="020B0609020204030204" pitchFamily="49" charset="0"/>
              </a:rPr>
              <a:t>код</a:t>
            </a:r>
            <a:endParaRPr lang="en-US" b="0" dirty="0">
              <a:solidFill>
                <a:srgbClr val="000000"/>
              </a:solidFill>
              <a:effectLst/>
              <a:latin typeface="Consolas" panose="020B0609020204030204" pitchFamily="49" charset="0"/>
            </a:endParaRPr>
          </a:p>
          <a:p>
            <a:pPr lvl="1">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break</a:t>
            </a:r>
            <a:r>
              <a:rPr lang="en-US" b="0" dirty="0">
                <a:solidFill>
                  <a:srgbClr val="000000"/>
                </a:solidFill>
                <a:effectLst/>
                <a:latin typeface="Consolas" panose="020B0609020204030204" pitchFamily="49" charset="0"/>
              </a:rPr>
              <a:t>;</a:t>
            </a: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default</a:t>
            </a:r>
            <a:r>
              <a:rPr lang="en-US" b="0" dirty="0">
                <a:solidFill>
                  <a:srgbClr val="000000"/>
                </a:solidFill>
                <a:effectLst/>
                <a:latin typeface="Consolas" panose="020B0609020204030204" pitchFamily="49" charset="0"/>
              </a:rPr>
              <a:t>:</a:t>
            </a:r>
          </a:p>
          <a:p>
            <a:pPr lvl="1">
              <a:buNone/>
            </a:pP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a:t>
            </a:r>
            <a:r>
              <a:rPr lang="en-US" b="0" dirty="0" err="1">
                <a:solidFill>
                  <a:srgbClr val="008000"/>
                </a:solidFill>
                <a:effectLst/>
                <a:latin typeface="Consolas" panose="020B0609020204030204" pitchFamily="49" charset="0"/>
              </a:rPr>
              <a:t>код</a:t>
            </a:r>
            <a:endParaRPr lang="en-US" b="0" dirty="0">
              <a:solidFill>
                <a:srgbClr val="000000"/>
              </a:solidFill>
              <a:effectLst/>
              <a:latin typeface="Consolas" panose="020B0609020204030204" pitchFamily="49" charset="0"/>
            </a:endParaRPr>
          </a:p>
          <a:p>
            <a:pPr lvl="1">
              <a:buNone/>
            </a:pPr>
            <a:r>
              <a:rPr lang="en-US" b="0" dirty="0">
                <a:solidFill>
                  <a:srgbClr val="000000"/>
                </a:solidFill>
                <a:effectLst/>
                <a:latin typeface="Consolas" panose="020B0609020204030204" pitchFamily="49" charset="0"/>
              </a:rPr>
              <a:t>}</a:t>
            </a:r>
            <a:endParaRPr lang="en-US" dirty="0"/>
          </a:p>
          <a:p>
            <a:r>
              <a:rPr lang="en-US" b="1" dirty="0"/>
              <a:t>expression</a:t>
            </a:r>
            <a:r>
              <a:rPr lang="en-US" dirty="0"/>
              <a:t> </a:t>
            </a:r>
            <a:r>
              <a:rPr lang="ru-RU" dirty="0"/>
              <a:t>вычисляется один раз</a:t>
            </a:r>
          </a:p>
          <a:p>
            <a:r>
              <a:rPr lang="en-US" b="1" dirty="0"/>
              <a:t>case</a:t>
            </a:r>
            <a:r>
              <a:rPr lang="en-US" dirty="0"/>
              <a:t> — </a:t>
            </a:r>
            <a:r>
              <a:rPr lang="ru-RU" dirty="0"/>
              <a:t>константные значения</a:t>
            </a:r>
          </a:p>
          <a:p>
            <a:r>
              <a:rPr lang="en-US" b="1" dirty="0"/>
              <a:t>break</a:t>
            </a:r>
            <a:r>
              <a:rPr lang="en-US" dirty="0"/>
              <a:t> </a:t>
            </a:r>
            <a:r>
              <a:rPr lang="ru-RU" dirty="0"/>
              <a:t>завершает выполнение </a:t>
            </a:r>
            <a:r>
              <a:rPr lang="en-US" dirty="0"/>
              <a:t>switch</a:t>
            </a:r>
          </a:p>
          <a:p>
            <a:endParaRPr lang="en-US" dirty="0"/>
          </a:p>
        </p:txBody>
      </p:sp>
    </p:spTree>
    <p:extLst>
      <p:ext uri="{BB962C8B-B14F-4D97-AF65-F5344CB8AC3E}">
        <p14:creationId xmlns:p14="http://schemas.microsoft.com/office/powerpoint/2010/main" val="2958874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1D7D1-629B-63E6-DF28-04F705B42346}"/>
              </a:ext>
            </a:extLst>
          </p:cNvPr>
          <p:cNvSpPr>
            <a:spLocks noGrp="1"/>
          </p:cNvSpPr>
          <p:nvPr>
            <p:ph type="title"/>
          </p:nvPr>
        </p:nvSpPr>
        <p:spPr/>
        <p:txBody>
          <a:bodyPr/>
          <a:lstStyle/>
          <a:p>
            <a:r>
              <a:rPr lang="ru-RU" dirty="0"/>
              <a:t>Пример: обработка команды пользователя</a:t>
            </a:r>
            <a:endParaRPr lang="en-US" dirty="0"/>
          </a:p>
        </p:txBody>
      </p:sp>
      <p:sp>
        <p:nvSpPr>
          <p:cNvPr id="5" name="TextBox 4">
            <a:extLst>
              <a:ext uri="{FF2B5EF4-FFF2-40B4-BE49-F238E27FC236}">
                <a16:creationId xmlns:a16="http://schemas.microsoft.com/office/drawing/2014/main" id="{9E8C8905-28DB-604A-59C5-6C31B54AF48B}"/>
              </a:ext>
            </a:extLst>
          </p:cNvPr>
          <p:cNvSpPr txBox="1"/>
          <p:nvPr/>
        </p:nvSpPr>
        <p:spPr>
          <a:xfrm>
            <a:off x="838200" y="1968560"/>
            <a:ext cx="6093228" cy="4524315"/>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cmd</a:t>
            </a:r>
            <a:r>
              <a:rPr lang="en-US" b="0" dirty="0">
                <a:solidFill>
                  <a:srgbClr val="000000"/>
                </a:solidFill>
                <a:effectLst/>
                <a:latin typeface="Consolas" panose="020B0609020204030204" pitchFamily="49" charset="0"/>
              </a:rPr>
              <a:t>;</a:t>
            </a:r>
          </a:p>
          <a:p>
            <a:pPr>
              <a:buNone/>
            </a:pPr>
            <a:r>
              <a:rPr lang="en-US" b="0" dirty="0" err="1">
                <a:solidFill>
                  <a:srgbClr val="74531F"/>
                </a:solidFill>
                <a:effectLst/>
                <a:latin typeface="Consolas" panose="020B0609020204030204" pitchFamily="49" charset="0"/>
              </a:rPr>
              <a:t>scanf</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en-US" b="0" dirty="0">
                <a:solidFill>
                  <a:srgbClr val="1F377F"/>
                </a:solidFill>
                <a:effectLst/>
                <a:latin typeface="Consolas" panose="020B0609020204030204" pitchFamily="49" charset="0"/>
              </a:rPr>
              <a:t>%d</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 &amp;</a:t>
            </a:r>
            <a:r>
              <a:rPr lang="en-US" b="0" dirty="0" err="1">
                <a:solidFill>
                  <a:srgbClr val="808080"/>
                </a:solidFill>
                <a:effectLst/>
                <a:latin typeface="Consolas" panose="020B0609020204030204" pitchFamily="49" charset="0"/>
              </a:rPr>
              <a:t>cmd</a:t>
            </a:r>
            <a:r>
              <a:rPr lang="en-US" b="0" dirty="0">
                <a:solidFill>
                  <a:srgbClr val="000000"/>
                </a:solidFill>
                <a:effectLst/>
                <a:latin typeface="Consolas" panose="020B0609020204030204" pitchFamily="49" charset="0"/>
              </a:rPr>
              <a:t>);</a:t>
            </a:r>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a:p>
            <a:pPr>
              <a:buNone/>
            </a:pPr>
            <a:r>
              <a:rPr lang="en-US" b="0" dirty="0">
                <a:solidFill>
                  <a:srgbClr val="8F08C4"/>
                </a:solidFill>
                <a:effectLst/>
                <a:latin typeface="Consolas" panose="020B0609020204030204" pitchFamily="49" charset="0"/>
              </a:rPr>
              <a:t>switch</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cmd</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case</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ru-RU" b="0" dirty="0">
                <a:solidFill>
                  <a:srgbClr val="A31515"/>
                </a:solidFill>
                <a:effectLst/>
                <a:latin typeface="Consolas" panose="020B0609020204030204" pitchFamily="49" charset="0"/>
              </a:rPr>
              <a:t>Старт</a:t>
            </a:r>
            <a:r>
              <a:rPr lang="ru-RU" b="0" dirty="0">
                <a:solidFill>
                  <a:srgbClr val="B776FB"/>
                </a:solidFill>
                <a:effectLst/>
                <a:latin typeface="Consolas" panose="020B0609020204030204" pitchFamily="49" charset="0"/>
              </a:rPr>
              <a:t>\</a:t>
            </a:r>
            <a:r>
              <a:rPr lang="en-US" b="0" dirty="0">
                <a:solidFill>
                  <a:srgbClr val="B776FB"/>
                </a:solidFill>
                <a:effectLst/>
                <a:latin typeface="Consolas" panose="020B0609020204030204" pitchFamily="49" charset="0"/>
              </a:rPr>
              <a:t>n</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break</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case</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ru-RU" b="0" dirty="0">
                <a:solidFill>
                  <a:srgbClr val="A31515"/>
                </a:solidFill>
                <a:effectLst/>
                <a:latin typeface="Consolas" panose="020B0609020204030204" pitchFamily="49" charset="0"/>
              </a:rPr>
              <a:t>Стоп</a:t>
            </a:r>
            <a:r>
              <a:rPr lang="ru-RU" b="0" dirty="0">
                <a:solidFill>
                  <a:srgbClr val="B776FB"/>
                </a:solidFill>
                <a:effectLst/>
                <a:latin typeface="Consolas" panose="020B0609020204030204" pitchFamily="49" charset="0"/>
              </a:rPr>
              <a:t>\</a:t>
            </a:r>
            <a:r>
              <a:rPr lang="en-US" b="0" dirty="0">
                <a:solidFill>
                  <a:srgbClr val="B776FB"/>
                </a:solidFill>
                <a:effectLst/>
                <a:latin typeface="Consolas" panose="020B0609020204030204" pitchFamily="49" charset="0"/>
              </a:rPr>
              <a:t>n</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break</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case</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ru-RU" b="0" dirty="0">
                <a:solidFill>
                  <a:srgbClr val="A31515"/>
                </a:solidFill>
                <a:effectLst/>
                <a:latin typeface="Consolas" panose="020B0609020204030204" pitchFamily="49" charset="0"/>
              </a:rPr>
              <a:t>Пауза</a:t>
            </a:r>
            <a:r>
              <a:rPr lang="ru-RU" b="0" dirty="0">
                <a:solidFill>
                  <a:srgbClr val="B776FB"/>
                </a:solidFill>
                <a:effectLst/>
                <a:latin typeface="Consolas" panose="020B0609020204030204" pitchFamily="49" charset="0"/>
              </a:rPr>
              <a:t>\</a:t>
            </a:r>
            <a:r>
              <a:rPr lang="en-US" b="0" dirty="0">
                <a:solidFill>
                  <a:srgbClr val="B776FB"/>
                </a:solidFill>
                <a:effectLst/>
                <a:latin typeface="Consolas" panose="020B0609020204030204" pitchFamily="49" charset="0"/>
              </a:rPr>
              <a:t>n</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break</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default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ru-RU" b="0" dirty="0">
                <a:solidFill>
                  <a:srgbClr val="A31515"/>
                </a:solidFill>
                <a:effectLst/>
                <a:latin typeface="Consolas" panose="020B0609020204030204" pitchFamily="49" charset="0"/>
              </a:rPr>
              <a:t>Неизвестная команда</a:t>
            </a:r>
            <a:r>
              <a:rPr lang="ru-RU" b="0" dirty="0">
                <a:solidFill>
                  <a:srgbClr val="B776FB"/>
                </a:solidFill>
                <a:effectLst/>
                <a:latin typeface="Consolas" panose="020B0609020204030204" pitchFamily="49" charset="0"/>
              </a:rPr>
              <a:t>\</a:t>
            </a:r>
            <a:r>
              <a:rPr lang="en-US" b="0" dirty="0">
                <a:solidFill>
                  <a:srgbClr val="B776FB"/>
                </a:solidFill>
                <a:effectLst/>
                <a:latin typeface="Consolas" panose="020B0609020204030204" pitchFamily="49" charset="0"/>
              </a:rPr>
              <a:t>n</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9311560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FF2697F-7B3B-BBF8-5BDD-CC398E9E308F}"/>
              </a:ext>
            </a:extLst>
          </p:cNvPr>
          <p:cNvSpPr>
            <a:spLocks noGrp="1"/>
          </p:cNvSpPr>
          <p:nvPr>
            <p:ph type="title"/>
          </p:nvPr>
        </p:nvSpPr>
        <p:spPr/>
        <p:txBody>
          <a:bodyPr/>
          <a:lstStyle/>
          <a:p>
            <a:r>
              <a:rPr lang="ru-RU" dirty="0"/>
              <a:t>Как работает </a:t>
            </a:r>
            <a:r>
              <a:rPr lang="en-US" dirty="0"/>
              <a:t>break</a:t>
            </a:r>
          </a:p>
        </p:txBody>
      </p:sp>
      <p:sp>
        <p:nvSpPr>
          <p:cNvPr id="7" name="Content Placeholder 6">
            <a:extLst>
              <a:ext uri="{FF2B5EF4-FFF2-40B4-BE49-F238E27FC236}">
                <a16:creationId xmlns:a16="http://schemas.microsoft.com/office/drawing/2014/main" id="{E4E5702C-DDAD-054A-6EA2-A9816024570C}"/>
              </a:ext>
            </a:extLst>
          </p:cNvPr>
          <p:cNvSpPr>
            <a:spLocks noGrp="1"/>
          </p:cNvSpPr>
          <p:nvPr>
            <p:ph idx="1"/>
          </p:nvPr>
        </p:nvSpPr>
        <p:spPr/>
        <p:txBody>
          <a:bodyPr>
            <a:normAutofit fontScale="92500" lnSpcReduction="10000"/>
          </a:bodyPr>
          <a:lstStyle/>
          <a:p>
            <a:r>
              <a:rPr lang="ru-RU" dirty="0"/>
              <a:t>Если </a:t>
            </a:r>
            <a:r>
              <a:rPr lang="en-US" dirty="0"/>
              <a:t>break</a:t>
            </a:r>
            <a:r>
              <a:rPr lang="ru-RU" dirty="0"/>
              <a:t> отсутствует, выполнение продолжается в следующем </a:t>
            </a:r>
            <a:r>
              <a:rPr lang="en-US" dirty="0"/>
              <a:t>case</a:t>
            </a:r>
            <a:endParaRPr lang="ru-RU" dirty="0"/>
          </a:p>
          <a:p>
            <a:pPr lvl="1">
              <a:buNone/>
            </a:pPr>
            <a:r>
              <a:rPr lang="en-US" b="0" dirty="0">
                <a:solidFill>
                  <a:srgbClr val="8F08C4"/>
                </a:solidFill>
                <a:effectLst/>
                <a:latin typeface="Consolas" panose="020B0609020204030204" pitchFamily="49" charset="0"/>
              </a:rPr>
              <a:t>switch</a:t>
            </a:r>
            <a:r>
              <a:rPr lang="en-US" b="0" dirty="0">
                <a:solidFill>
                  <a:srgbClr val="000000"/>
                </a:solidFill>
                <a:effectLst/>
                <a:latin typeface="Consolas" panose="020B0609020204030204" pitchFamily="49" charset="0"/>
              </a:rPr>
              <a:t> (x) {</a:t>
            </a:r>
          </a:p>
          <a:p>
            <a:pPr lvl="1">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case</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pPr lvl="1">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en-US" b="0" dirty="0">
                <a:solidFill>
                  <a:srgbClr val="A31515"/>
                </a:solidFill>
                <a:effectLst/>
                <a:latin typeface="Consolas" panose="020B0609020204030204" pitchFamily="49" charset="0"/>
              </a:rPr>
              <a:t>A</a:t>
            </a:r>
            <a:r>
              <a:rPr lang="en-US" b="0" dirty="0">
                <a:solidFill>
                  <a:srgbClr val="B776FB"/>
                </a:solidFill>
                <a:effectLst/>
                <a:latin typeface="Consolas" panose="020B0609020204030204" pitchFamily="49" charset="0"/>
              </a:rPr>
              <a:t>\n</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lvl="1">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case</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p>
          <a:p>
            <a:pPr lvl="1">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en-US" b="0" dirty="0">
                <a:solidFill>
                  <a:srgbClr val="A31515"/>
                </a:solidFill>
                <a:effectLst/>
                <a:latin typeface="Consolas" panose="020B0609020204030204" pitchFamily="49" charset="0"/>
              </a:rPr>
              <a:t>B</a:t>
            </a:r>
            <a:r>
              <a:rPr lang="en-US" b="0" dirty="0">
                <a:solidFill>
                  <a:srgbClr val="B776FB"/>
                </a:solidFill>
                <a:effectLst/>
                <a:latin typeface="Consolas" panose="020B0609020204030204" pitchFamily="49" charset="0"/>
              </a:rPr>
              <a:t>\n</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lvl="1">
              <a:buNone/>
            </a:pPr>
            <a:r>
              <a:rPr lang="en-US" b="0" dirty="0">
                <a:solidFill>
                  <a:srgbClr val="000000"/>
                </a:solidFill>
                <a:effectLst/>
                <a:latin typeface="Consolas" panose="020B0609020204030204" pitchFamily="49" charset="0"/>
              </a:rPr>
              <a:t>}</a:t>
            </a:r>
            <a:endParaRPr lang="en-US" dirty="0"/>
          </a:p>
          <a:p>
            <a:r>
              <a:rPr lang="ru-RU" dirty="0"/>
              <a:t>Такое поведение называется </a:t>
            </a:r>
            <a:r>
              <a:rPr lang="en-US" b="1" dirty="0" err="1"/>
              <a:t>fallthrough</a:t>
            </a:r>
            <a:endParaRPr lang="ru-RU" b="1" dirty="0"/>
          </a:p>
          <a:p>
            <a:r>
              <a:rPr lang="ru-RU" dirty="0"/>
              <a:t>Если </a:t>
            </a:r>
            <a:r>
              <a:rPr lang="en-US" dirty="0">
                <a:latin typeface="Consolas" panose="020B0609020204030204" pitchFamily="49" charset="0"/>
              </a:rPr>
              <a:t>x == 1</a:t>
            </a:r>
            <a:r>
              <a:rPr lang="ru-RU" dirty="0"/>
              <a:t>, будет выведено:</a:t>
            </a:r>
            <a:endParaRPr lang="en-US" dirty="0"/>
          </a:p>
          <a:p>
            <a:pPr marL="457200" lvl="1" indent="0">
              <a:buNone/>
            </a:pPr>
            <a:r>
              <a:rPr lang="en-US" dirty="0">
                <a:latin typeface="Consolas" panose="020B0609020204030204" pitchFamily="49" charset="0"/>
              </a:rPr>
              <a:t>A</a:t>
            </a:r>
          </a:p>
          <a:p>
            <a:pPr marL="457200" lvl="1" indent="0">
              <a:buNone/>
            </a:pPr>
            <a:r>
              <a:rPr lang="en-US" dirty="0">
                <a:latin typeface="Consolas" panose="020B0609020204030204" pitchFamily="49" charset="0"/>
              </a:rPr>
              <a:t>B</a:t>
            </a:r>
            <a:endParaRPr lang="ru-RU" dirty="0">
              <a:latin typeface="Consolas" panose="020B0609020204030204" pitchFamily="49" charset="0"/>
            </a:endParaRPr>
          </a:p>
        </p:txBody>
      </p:sp>
    </p:spTree>
    <p:extLst>
      <p:ext uri="{BB962C8B-B14F-4D97-AF65-F5344CB8AC3E}">
        <p14:creationId xmlns:p14="http://schemas.microsoft.com/office/powerpoint/2010/main" val="18570992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43DE3-FDF6-4C08-57CB-330E4CBC938D}"/>
              </a:ext>
            </a:extLst>
          </p:cNvPr>
          <p:cNvSpPr>
            <a:spLocks noGrp="1"/>
          </p:cNvSpPr>
          <p:nvPr>
            <p:ph type="title"/>
          </p:nvPr>
        </p:nvSpPr>
        <p:spPr/>
        <p:txBody>
          <a:bodyPr/>
          <a:lstStyle/>
          <a:p>
            <a:r>
              <a:rPr lang="ru-RU" dirty="0"/>
              <a:t>Осознанный </a:t>
            </a:r>
            <a:r>
              <a:rPr lang="en-US" dirty="0" err="1"/>
              <a:t>fallthrough</a:t>
            </a:r>
            <a:endParaRPr lang="en-US" dirty="0"/>
          </a:p>
        </p:txBody>
      </p:sp>
      <p:sp>
        <p:nvSpPr>
          <p:cNvPr id="5" name="TextBox 4">
            <a:extLst>
              <a:ext uri="{FF2B5EF4-FFF2-40B4-BE49-F238E27FC236}">
                <a16:creationId xmlns:a16="http://schemas.microsoft.com/office/drawing/2014/main" id="{8D529553-F73B-C63D-4B20-6773828063D7}"/>
              </a:ext>
            </a:extLst>
          </p:cNvPr>
          <p:cNvSpPr txBox="1"/>
          <p:nvPr/>
        </p:nvSpPr>
        <p:spPr>
          <a:xfrm>
            <a:off x="838200" y="1946797"/>
            <a:ext cx="6093228" cy="4247317"/>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letter = </a:t>
            </a:r>
            <a:r>
              <a:rPr lang="en-US" b="0" dirty="0" err="1">
                <a:solidFill>
                  <a:srgbClr val="74531F"/>
                </a:solidFill>
                <a:effectLst/>
                <a:latin typeface="Consolas" panose="020B0609020204030204" pitchFamily="49" charset="0"/>
              </a:rPr>
              <a:t>getchar</a:t>
            </a:r>
            <a:r>
              <a:rPr lang="en-US" b="0" dirty="0">
                <a:solidFill>
                  <a:srgbClr val="000000"/>
                </a:solidFill>
                <a:effectLst/>
                <a:latin typeface="Consolas" panose="020B0609020204030204" pitchFamily="49" charset="0"/>
              </a:rPr>
              <a:t>();</a:t>
            </a:r>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a:p>
            <a:pPr>
              <a:buNone/>
            </a:pPr>
            <a:r>
              <a:rPr lang="en-US" b="0" dirty="0">
                <a:solidFill>
                  <a:srgbClr val="8F08C4"/>
                </a:solidFill>
                <a:effectLst/>
                <a:latin typeface="Consolas" panose="020B0609020204030204" pitchFamily="49" charset="0"/>
              </a:rPr>
              <a:t>switch</a:t>
            </a:r>
            <a:r>
              <a:rPr lang="en-US" b="0" dirty="0">
                <a:solidFill>
                  <a:srgbClr val="000000"/>
                </a:solidFill>
                <a:effectLst/>
                <a:latin typeface="Consolas" panose="020B0609020204030204" pitchFamily="49" charset="0"/>
              </a:rPr>
              <a:t> (letter) {</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case</a:t>
            </a:r>
            <a:r>
              <a:rPr lang="en-US" b="0" dirty="0">
                <a:solidFill>
                  <a:srgbClr val="000000"/>
                </a:solidFill>
                <a:effectLst/>
                <a:latin typeface="Consolas" panose="020B0609020204030204" pitchFamily="49" charset="0"/>
              </a:rPr>
              <a:t> </a:t>
            </a:r>
            <a:r>
              <a:rPr lang="en-US" b="0" dirty="0">
                <a:solidFill>
                  <a:srgbClr val="E21F1F"/>
                </a:solidFill>
                <a:effectLst/>
                <a:latin typeface="Consolas" panose="020B0609020204030204" pitchFamily="49" charset="0"/>
              </a:rPr>
              <a:t>'</a:t>
            </a:r>
            <a:r>
              <a:rPr lang="en-US" b="0" dirty="0">
                <a:solidFill>
                  <a:srgbClr val="A31515"/>
                </a:solidFill>
                <a:effectLst/>
                <a:latin typeface="Consolas" panose="020B0609020204030204" pitchFamily="49" charset="0"/>
              </a:rPr>
              <a:t>a</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case</a:t>
            </a:r>
            <a:r>
              <a:rPr lang="en-US" b="0" dirty="0">
                <a:solidFill>
                  <a:srgbClr val="000000"/>
                </a:solidFill>
                <a:effectLst/>
                <a:latin typeface="Consolas" panose="020B0609020204030204" pitchFamily="49" charset="0"/>
              </a:rPr>
              <a:t> </a:t>
            </a:r>
            <a:r>
              <a:rPr lang="en-US" b="0" dirty="0">
                <a:solidFill>
                  <a:srgbClr val="E21F1F"/>
                </a:solidFill>
                <a:effectLst/>
                <a:latin typeface="Consolas" panose="020B0609020204030204" pitchFamily="49" charset="0"/>
              </a:rPr>
              <a:t>'</a:t>
            </a:r>
            <a:r>
              <a:rPr lang="en-US" b="0" dirty="0">
                <a:solidFill>
                  <a:srgbClr val="A31515"/>
                </a:solidFill>
                <a:effectLst/>
                <a:latin typeface="Consolas" panose="020B0609020204030204" pitchFamily="49" charset="0"/>
              </a:rPr>
              <a:t>e</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case</a:t>
            </a:r>
            <a:r>
              <a:rPr lang="en-US" b="0" dirty="0">
                <a:solidFill>
                  <a:srgbClr val="000000"/>
                </a:solidFill>
                <a:effectLst/>
                <a:latin typeface="Consolas" panose="020B0609020204030204" pitchFamily="49" charset="0"/>
              </a:rPr>
              <a:t> </a:t>
            </a:r>
            <a:r>
              <a:rPr lang="en-US" b="0" dirty="0">
                <a:solidFill>
                  <a:srgbClr val="E21F1F"/>
                </a:solidFill>
                <a:effectLst/>
                <a:latin typeface="Consolas" panose="020B0609020204030204" pitchFamily="49" charset="0"/>
              </a:rPr>
              <a:t>'</a:t>
            </a:r>
            <a:r>
              <a:rPr lang="en-US" b="0" dirty="0" err="1">
                <a:solidFill>
                  <a:srgbClr val="A31515"/>
                </a:solidFill>
                <a:effectLst/>
                <a:latin typeface="Consolas" panose="020B0609020204030204" pitchFamily="49" charset="0"/>
              </a:rPr>
              <a:t>i</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case</a:t>
            </a:r>
            <a:r>
              <a:rPr lang="en-US" b="0" dirty="0">
                <a:solidFill>
                  <a:srgbClr val="000000"/>
                </a:solidFill>
                <a:effectLst/>
                <a:latin typeface="Consolas" panose="020B0609020204030204" pitchFamily="49" charset="0"/>
              </a:rPr>
              <a:t> </a:t>
            </a:r>
            <a:r>
              <a:rPr lang="en-US" b="0" dirty="0">
                <a:solidFill>
                  <a:srgbClr val="E21F1F"/>
                </a:solidFill>
                <a:effectLst/>
                <a:latin typeface="Consolas" panose="020B0609020204030204" pitchFamily="49" charset="0"/>
              </a:rPr>
              <a:t>'</a:t>
            </a:r>
            <a:r>
              <a:rPr lang="en-US" b="0" dirty="0">
                <a:solidFill>
                  <a:srgbClr val="A31515"/>
                </a:solidFill>
                <a:effectLst/>
                <a:latin typeface="Consolas" panose="020B0609020204030204" pitchFamily="49" charset="0"/>
              </a:rPr>
              <a:t>o</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case</a:t>
            </a:r>
            <a:r>
              <a:rPr lang="en-US" b="0" dirty="0">
                <a:solidFill>
                  <a:srgbClr val="000000"/>
                </a:solidFill>
                <a:effectLst/>
                <a:latin typeface="Consolas" panose="020B0609020204030204" pitchFamily="49" charset="0"/>
              </a:rPr>
              <a:t> </a:t>
            </a:r>
            <a:r>
              <a:rPr lang="en-US" b="0" dirty="0">
                <a:solidFill>
                  <a:srgbClr val="E21F1F"/>
                </a:solidFill>
                <a:effectLst/>
                <a:latin typeface="Consolas" panose="020B0609020204030204" pitchFamily="49" charset="0"/>
              </a:rPr>
              <a:t>'</a:t>
            </a:r>
            <a:r>
              <a:rPr lang="en-US" b="0" dirty="0">
                <a:solidFill>
                  <a:srgbClr val="A31515"/>
                </a:solidFill>
                <a:effectLst/>
                <a:latin typeface="Consolas" panose="020B0609020204030204" pitchFamily="49" charset="0"/>
              </a:rPr>
              <a:t>u</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puts</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ru-RU" b="0" dirty="0">
                <a:solidFill>
                  <a:srgbClr val="A31515"/>
                </a:solidFill>
                <a:effectLst/>
                <a:latin typeface="Consolas" panose="020B0609020204030204" pitchFamily="49" charset="0"/>
              </a:rPr>
              <a:t>Гласная</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break</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default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puts</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ru-RU" b="0" dirty="0">
                <a:solidFill>
                  <a:srgbClr val="A31515"/>
                </a:solidFill>
                <a:effectLst/>
                <a:latin typeface="Consolas" panose="020B0609020204030204" pitchFamily="49" charset="0"/>
              </a:rPr>
              <a:t>Не гласная</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case</a:t>
            </a:r>
            <a:r>
              <a:rPr lang="en-US" b="0" dirty="0">
                <a:solidFill>
                  <a:srgbClr val="000000"/>
                </a:solidFill>
                <a:effectLst/>
                <a:latin typeface="Consolas" panose="020B0609020204030204" pitchFamily="49" charset="0"/>
              </a:rPr>
              <a:t> EOF:</a:t>
            </a:r>
          </a:p>
          <a:p>
            <a:pPr>
              <a:buNone/>
            </a:pP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a:t>
            </a:r>
            <a:r>
              <a:rPr lang="ru-RU" b="0" dirty="0">
                <a:solidFill>
                  <a:srgbClr val="008000"/>
                </a:solidFill>
                <a:effectLst/>
                <a:latin typeface="Consolas" panose="020B0609020204030204" pitchFamily="49" charset="0"/>
              </a:rPr>
              <a:t>ничего не выводим</a:t>
            </a:r>
            <a:endParaRPr lang="ru-RU" b="0" dirty="0">
              <a:solidFill>
                <a:srgbClr val="000000"/>
              </a:solidFill>
              <a:effectLst/>
              <a:latin typeface="Consolas" panose="020B0609020204030204" pitchFamily="49" charset="0"/>
            </a:endParaRPr>
          </a:p>
          <a:p>
            <a:pPr>
              <a:buNone/>
            </a:pPr>
            <a:r>
              <a:rPr lang="ru-RU"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603787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B5282A-D10B-256B-C242-16A2034AE3DE}"/>
              </a:ext>
            </a:extLst>
          </p:cNvPr>
          <p:cNvSpPr>
            <a:spLocks noGrp="1"/>
          </p:cNvSpPr>
          <p:nvPr>
            <p:ph type="title"/>
          </p:nvPr>
        </p:nvSpPr>
        <p:spPr/>
        <p:txBody>
          <a:bodyPr/>
          <a:lstStyle/>
          <a:p>
            <a:r>
              <a:rPr lang="ru-RU" dirty="0"/>
              <a:t>Ограничения </a:t>
            </a:r>
            <a:r>
              <a:rPr lang="en-US" dirty="0"/>
              <a:t>switch</a:t>
            </a:r>
          </a:p>
        </p:txBody>
      </p:sp>
      <p:sp>
        <p:nvSpPr>
          <p:cNvPr id="4" name="Content Placeholder 3">
            <a:extLst>
              <a:ext uri="{FF2B5EF4-FFF2-40B4-BE49-F238E27FC236}">
                <a16:creationId xmlns:a16="http://schemas.microsoft.com/office/drawing/2014/main" id="{547AB6CF-F31C-7D88-C6C8-5BE28D31FA2C}"/>
              </a:ext>
            </a:extLst>
          </p:cNvPr>
          <p:cNvSpPr>
            <a:spLocks noGrp="1"/>
          </p:cNvSpPr>
          <p:nvPr>
            <p:ph idx="1"/>
          </p:nvPr>
        </p:nvSpPr>
        <p:spPr/>
        <p:txBody>
          <a:bodyPr>
            <a:normAutofit fontScale="92500" lnSpcReduction="10000"/>
          </a:bodyPr>
          <a:lstStyle/>
          <a:p>
            <a:r>
              <a:rPr lang="ru-RU" dirty="0"/>
              <a:t>Выражение </a:t>
            </a:r>
            <a:r>
              <a:rPr lang="ru-RU" b="1" dirty="0" err="1"/>
              <a:t>expression</a:t>
            </a:r>
            <a:r>
              <a:rPr lang="ru-RU" dirty="0"/>
              <a:t> должно иметь целочисленный тип</a:t>
            </a:r>
          </a:p>
          <a:p>
            <a:r>
              <a:rPr lang="ru-RU" b="1" dirty="0" err="1"/>
              <a:t>case</a:t>
            </a:r>
            <a:r>
              <a:rPr lang="ru-RU" dirty="0"/>
              <a:t> должны быть константами</a:t>
            </a:r>
          </a:p>
          <a:p>
            <a:r>
              <a:rPr lang="ru-RU" dirty="0"/>
              <a:t>нельзя использовать диапазоны</a:t>
            </a:r>
          </a:p>
          <a:p>
            <a:r>
              <a:rPr lang="ru-RU" dirty="0"/>
              <a:t>нельзя использовать переменные в </a:t>
            </a:r>
            <a:r>
              <a:rPr lang="ru-RU" dirty="0" err="1"/>
              <a:t>case</a:t>
            </a:r>
            <a:endParaRPr lang="ru-RU" dirty="0"/>
          </a:p>
          <a:p>
            <a:pPr lvl="1">
              <a:lnSpc>
                <a:spcPct val="100000"/>
              </a:lnSpc>
              <a:buNone/>
            </a:pP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x = </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a:t>
            </a:r>
          </a:p>
          <a:p>
            <a:pPr lvl="1">
              <a:lnSpc>
                <a:spcPct val="100000"/>
              </a:lnSpc>
              <a:buNone/>
            </a:pP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y = </a:t>
            </a:r>
            <a:r>
              <a:rPr lang="en-US" b="0" dirty="0">
                <a:solidFill>
                  <a:srgbClr val="098658"/>
                </a:solidFill>
                <a:effectLst/>
                <a:latin typeface="Consolas" panose="020B0609020204030204" pitchFamily="49" charset="0"/>
              </a:rPr>
              <a:t>7</a:t>
            </a:r>
            <a:r>
              <a:rPr lang="en-US" b="0" dirty="0">
                <a:solidFill>
                  <a:srgbClr val="000000"/>
                </a:solidFill>
                <a:effectLst/>
                <a:latin typeface="Consolas" panose="020B0609020204030204" pitchFamily="49" charset="0"/>
              </a:rPr>
              <a:t>;</a:t>
            </a:r>
          </a:p>
          <a:p>
            <a:pPr lvl="1">
              <a:lnSpc>
                <a:spcPct val="100000"/>
              </a:lnSpc>
              <a:buNone/>
            </a:pPr>
            <a:endParaRPr lang="en-US" b="0" dirty="0">
              <a:solidFill>
                <a:srgbClr val="000000"/>
              </a:solidFill>
              <a:effectLst/>
              <a:latin typeface="Consolas" panose="020B0609020204030204" pitchFamily="49" charset="0"/>
            </a:endParaRPr>
          </a:p>
          <a:p>
            <a:pPr lvl="1">
              <a:lnSpc>
                <a:spcPct val="100000"/>
              </a:lnSpc>
              <a:buNone/>
            </a:pPr>
            <a:r>
              <a:rPr lang="en-US" b="0" dirty="0">
                <a:solidFill>
                  <a:srgbClr val="8F08C4"/>
                </a:solidFill>
                <a:effectLst/>
                <a:latin typeface="Consolas" panose="020B0609020204030204" pitchFamily="49" charset="0"/>
              </a:rPr>
              <a:t>switch</a:t>
            </a:r>
            <a:r>
              <a:rPr lang="en-US" b="0" dirty="0">
                <a:solidFill>
                  <a:srgbClr val="000000"/>
                </a:solidFill>
                <a:effectLst/>
                <a:latin typeface="Consolas" panose="020B0609020204030204" pitchFamily="49" charset="0"/>
              </a:rPr>
              <a:t> (x)</a:t>
            </a:r>
          </a:p>
          <a:p>
            <a:pPr lvl="1">
              <a:lnSpc>
                <a:spcPct val="100000"/>
              </a:lnSpc>
              <a:buNone/>
            </a:pPr>
            <a:r>
              <a:rPr lang="en-US" b="0" dirty="0">
                <a:solidFill>
                  <a:srgbClr val="000000"/>
                </a:solidFill>
                <a:effectLst/>
                <a:latin typeface="Consolas" panose="020B0609020204030204" pitchFamily="49" charset="0"/>
              </a:rPr>
              <a:t>{</a:t>
            </a:r>
          </a:p>
          <a:p>
            <a:pPr lvl="1">
              <a:lnSpc>
                <a:spcPct val="100000"/>
              </a:lnSpc>
              <a:buNone/>
            </a:pPr>
            <a:r>
              <a:rPr lang="en-US" b="0" dirty="0">
                <a:solidFill>
                  <a:srgbClr val="8F08C4"/>
                </a:solidFill>
                <a:effectLst/>
                <a:latin typeface="Consolas" panose="020B0609020204030204" pitchFamily="49" charset="0"/>
              </a:rPr>
              <a:t>case</a:t>
            </a:r>
            <a:r>
              <a:rPr lang="en-US" b="0" dirty="0">
                <a:solidFill>
                  <a:srgbClr val="000000"/>
                </a:solidFill>
                <a:effectLst/>
                <a:latin typeface="Consolas" panose="020B0609020204030204" pitchFamily="49" charset="0"/>
              </a:rPr>
              <a:t> y:</a:t>
            </a:r>
            <a:r>
              <a:rPr lang="en-US" b="0" dirty="0">
                <a:solidFill>
                  <a:srgbClr val="008000"/>
                </a:solidFill>
                <a:effectLst/>
                <a:latin typeface="Consolas" panose="020B0609020204030204" pitchFamily="49" charset="0"/>
              </a:rPr>
              <a:t> // </a:t>
            </a:r>
            <a:r>
              <a:rPr lang="en-US" b="0" dirty="0" err="1">
                <a:solidFill>
                  <a:srgbClr val="008000"/>
                </a:solidFill>
                <a:effectLst/>
                <a:latin typeface="Consolas" panose="020B0609020204030204" pitchFamily="49" charset="0"/>
              </a:rPr>
              <a:t>ошибка</a:t>
            </a:r>
            <a:endParaRPr lang="en-US" b="0" dirty="0">
              <a:solidFill>
                <a:srgbClr val="000000"/>
              </a:solidFill>
              <a:effectLst/>
              <a:latin typeface="Consolas" panose="020B0609020204030204" pitchFamily="49" charset="0"/>
            </a:endParaRPr>
          </a:p>
          <a:p>
            <a:pPr lvl="1">
              <a:lnSpc>
                <a:spcPct val="100000"/>
              </a:lnSpc>
              <a:buNone/>
            </a:pPr>
            <a:r>
              <a:rPr lang="en-US" b="0" dirty="0">
                <a:solidFill>
                  <a:srgbClr val="000000"/>
                </a:solidFill>
                <a:effectLst/>
                <a:latin typeface="Consolas" panose="020B0609020204030204" pitchFamily="49" charset="0"/>
              </a:rPr>
              <a:t>}</a:t>
            </a:r>
            <a:endParaRPr lang="ru-RU" dirty="0"/>
          </a:p>
        </p:txBody>
      </p:sp>
    </p:spTree>
    <p:extLst>
      <p:ext uri="{BB962C8B-B14F-4D97-AF65-F5344CB8AC3E}">
        <p14:creationId xmlns:p14="http://schemas.microsoft.com/office/powerpoint/2010/main" val="8846721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50140-9D70-1AD9-007D-BE9407BEB979}"/>
              </a:ext>
            </a:extLst>
          </p:cNvPr>
          <p:cNvSpPr>
            <a:spLocks noGrp="1"/>
          </p:cNvSpPr>
          <p:nvPr>
            <p:ph type="title"/>
          </p:nvPr>
        </p:nvSpPr>
        <p:spPr/>
        <p:txBody>
          <a:bodyPr/>
          <a:lstStyle/>
          <a:p>
            <a:r>
              <a:rPr lang="en-US" dirty="0"/>
              <a:t>switch </a:t>
            </a:r>
            <a:r>
              <a:rPr lang="ru-RU" dirty="0"/>
              <a:t>или </a:t>
            </a:r>
            <a:r>
              <a:rPr lang="en-US" dirty="0"/>
              <a:t>if?</a:t>
            </a:r>
          </a:p>
        </p:txBody>
      </p:sp>
      <p:sp>
        <p:nvSpPr>
          <p:cNvPr id="3" name="Content Placeholder 2">
            <a:extLst>
              <a:ext uri="{FF2B5EF4-FFF2-40B4-BE49-F238E27FC236}">
                <a16:creationId xmlns:a16="http://schemas.microsoft.com/office/drawing/2014/main" id="{CFC88FDB-A0B5-222D-75F7-75E043BF6F43}"/>
              </a:ext>
            </a:extLst>
          </p:cNvPr>
          <p:cNvSpPr>
            <a:spLocks noGrp="1"/>
          </p:cNvSpPr>
          <p:nvPr>
            <p:ph idx="1"/>
          </p:nvPr>
        </p:nvSpPr>
        <p:spPr/>
        <p:txBody>
          <a:bodyPr>
            <a:normAutofit/>
          </a:bodyPr>
          <a:lstStyle/>
          <a:p>
            <a:r>
              <a:rPr lang="ru-RU" dirty="0"/>
              <a:t>Используйте </a:t>
            </a:r>
            <a:r>
              <a:rPr lang="ru-RU" dirty="0" err="1"/>
              <a:t>switch</a:t>
            </a:r>
            <a:r>
              <a:rPr lang="ru-RU" dirty="0"/>
              <a:t>, если:</a:t>
            </a:r>
          </a:p>
          <a:p>
            <a:pPr lvl="1"/>
            <a:r>
              <a:rPr lang="ru-RU" dirty="0"/>
              <a:t>сравнивается одно и то же выражение</a:t>
            </a:r>
          </a:p>
          <a:p>
            <a:pPr lvl="1"/>
            <a:r>
              <a:rPr lang="ru-RU" dirty="0"/>
              <a:t>проверяется равенство с константами</a:t>
            </a:r>
          </a:p>
          <a:p>
            <a:pPr lvl="1"/>
            <a:r>
              <a:rPr lang="ru-RU" dirty="0"/>
              <a:t>значений много</a:t>
            </a:r>
          </a:p>
          <a:p>
            <a:r>
              <a:rPr lang="ru-RU" dirty="0"/>
              <a:t>Используйте </a:t>
            </a:r>
            <a:r>
              <a:rPr lang="ru-RU" dirty="0" err="1"/>
              <a:t>if</a:t>
            </a:r>
            <a:r>
              <a:rPr lang="ru-RU" dirty="0"/>
              <a:t>, если:</a:t>
            </a:r>
          </a:p>
          <a:p>
            <a:pPr lvl="1"/>
            <a:r>
              <a:rPr lang="ru-RU" dirty="0"/>
              <a:t>условия сложные</a:t>
            </a:r>
          </a:p>
          <a:p>
            <a:pPr lvl="1"/>
            <a:r>
              <a:rPr lang="ru-RU" dirty="0"/>
              <a:t>есть диапазоны</a:t>
            </a:r>
          </a:p>
          <a:p>
            <a:pPr lvl="1"/>
            <a:r>
              <a:rPr lang="ru-RU" dirty="0"/>
              <a:t>используется логическая комбинация</a:t>
            </a:r>
          </a:p>
        </p:txBody>
      </p:sp>
    </p:spTree>
    <p:extLst>
      <p:ext uri="{BB962C8B-B14F-4D97-AF65-F5344CB8AC3E}">
        <p14:creationId xmlns:p14="http://schemas.microsoft.com/office/powerpoint/2010/main" val="23953309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E495ACE-C3AA-D552-826C-47D7F18E7F6F}"/>
              </a:ext>
            </a:extLst>
          </p:cNvPr>
          <p:cNvSpPr>
            <a:spLocks noGrp="1"/>
          </p:cNvSpPr>
          <p:nvPr>
            <p:ph type="title"/>
          </p:nvPr>
        </p:nvSpPr>
        <p:spPr/>
        <p:txBody>
          <a:bodyPr/>
          <a:lstStyle/>
          <a:p>
            <a:r>
              <a:rPr lang="en-US" dirty="0"/>
              <a:t>switch </a:t>
            </a:r>
            <a:r>
              <a:rPr lang="ru-RU" dirty="0"/>
              <a:t>на ассемблере</a:t>
            </a:r>
            <a:endParaRPr lang="en-US" dirty="0"/>
          </a:p>
        </p:txBody>
      </p:sp>
      <p:sp>
        <p:nvSpPr>
          <p:cNvPr id="8" name="TextBox 7">
            <a:extLst>
              <a:ext uri="{FF2B5EF4-FFF2-40B4-BE49-F238E27FC236}">
                <a16:creationId xmlns:a16="http://schemas.microsoft.com/office/drawing/2014/main" id="{66F55210-A720-D4AF-B2BD-208F8505FA8E}"/>
              </a:ext>
            </a:extLst>
          </p:cNvPr>
          <p:cNvSpPr txBox="1"/>
          <p:nvPr/>
        </p:nvSpPr>
        <p:spPr>
          <a:xfrm>
            <a:off x="838200" y="1690688"/>
            <a:ext cx="5257800" cy="5078313"/>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#include</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&lt;</a:t>
            </a:r>
            <a:r>
              <a:rPr lang="en-US" b="0" dirty="0" err="1">
                <a:solidFill>
                  <a:srgbClr val="A31515"/>
                </a:solidFill>
                <a:effectLst/>
                <a:latin typeface="Consolas" panose="020B0609020204030204" pitchFamily="49" charset="0"/>
              </a:rPr>
              <a:t>stdio.h</a:t>
            </a:r>
            <a:r>
              <a:rPr lang="en-US" b="0" dirty="0">
                <a:solidFill>
                  <a:srgbClr val="0000FF"/>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pPr>
              <a:buNone/>
            </a:pP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main() {</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letter = </a:t>
            </a:r>
            <a:r>
              <a:rPr lang="en-US" b="0" dirty="0" err="1">
                <a:solidFill>
                  <a:srgbClr val="000000"/>
                </a:solidFill>
                <a:effectLst/>
                <a:latin typeface="Consolas" panose="020B0609020204030204" pitchFamily="49" charset="0"/>
              </a:rPr>
              <a:t>getchar</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switch</a:t>
            </a:r>
            <a:r>
              <a:rPr lang="en-US" b="0" dirty="0">
                <a:solidFill>
                  <a:srgbClr val="000000"/>
                </a:solidFill>
                <a:effectLst/>
                <a:latin typeface="Consolas" panose="020B0609020204030204" pitchFamily="49" charset="0"/>
              </a:rPr>
              <a:t> (letter) {</a:t>
            </a:r>
          </a:p>
          <a:p>
            <a:pPr>
              <a:buNone/>
            </a:pPr>
            <a:r>
              <a:rPr lang="en-US" b="0" dirty="0">
                <a:solidFill>
                  <a:srgbClr val="000000"/>
                </a:solidFill>
                <a:effectLst/>
                <a:highlight>
                  <a:srgbClr val="FFFF00"/>
                </a:highlight>
                <a:latin typeface="Consolas" panose="020B0609020204030204" pitchFamily="49" charset="0"/>
              </a:rPr>
              <a:t>        </a:t>
            </a:r>
            <a:r>
              <a:rPr lang="en-US" b="0" dirty="0">
                <a:solidFill>
                  <a:srgbClr val="0000FF"/>
                </a:solidFill>
                <a:effectLst/>
                <a:highlight>
                  <a:srgbClr val="FFFF00"/>
                </a:highlight>
                <a:latin typeface="Consolas" panose="020B0609020204030204" pitchFamily="49" charset="0"/>
              </a:rPr>
              <a:t>case</a:t>
            </a:r>
            <a:r>
              <a:rPr lang="en-US" b="0" dirty="0">
                <a:solidFill>
                  <a:srgbClr val="000000"/>
                </a:solidFill>
                <a:effectLst/>
                <a:highlight>
                  <a:srgbClr val="FFFF00"/>
                </a:highlight>
                <a:latin typeface="Consolas" panose="020B0609020204030204" pitchFamily="49" charset="0"/>
              </a:rPr>
              <a:t> </a:t>
            </a:r>
            <a:r>
              <a:rPr lang="en-US" b="0" dirty="0">
                <a:solidFill>
                  <a:srgbClr val="A31515"/>
                </a:solidFill>
                <a:effectLst/>
                <a:highlight>
                  <a:srgbClr val="FFFF00"/>
                </a:highlight>
                <a:latin typeface="Consolas" panose="020B0609020204030204" pitchFamily="49" charset="0"/>
              </a:rPr>
              <a:t>'a'</a:t>
            </a:r>
            <a:r>
              <a:rPr lang="en-US" b="0" dirty="0">
                <a:solidFill>
                  <a:srgbClr val="000000"/>
                </a:solidFill>
                <a:effectLst/>
                <a:highlight>
                  <a:srgbClr val="FFFF00"/>
                </a:highlight>
                <a:latin typeface="Consolas" panose="020B0609020204030204" pitchFamily="49" charset="0"/>
              </a:rPr>
              <a:t>:</a:t>
            </a:r>
          </a:p>
          <a:p>
            <a:pPr>
              <a:buNone/>
            </a:pPr>
            <a:r>
              <a:rPr lang="en-US" b="0" dirty="0">
                <a:solidFill>
                  <a:srgbClr val="000000"/>
                </a:solidFill>
                <a:effectLst/>
                <a:highlight>
                  <a:srgbClr val="FFFF00"/>
                </a:highlight>
                <a:latin typeface="Consolas" panose="020B0609020204030204" pitchFamily="49" charset="0"/>
              </a:rPr>
              <a:t>        </a:t>
            </a:r>
            <a:r>
              <a:rPr lang="en-US" b="0" dirty="0">
                <a:solidFill>
                  <a:srgbClr val="0000FF"/>
                </a:solidFill>
                <a:effectLst/>
                <a:highlight>
                  <a:srgbClr val="FFFF00"/>
                </a:highlight>
                <a:latin typeface="Consolas" panose="020B0609020204030204" pitchFamily="49" charset="0"/>
              </a:rPr>
              <a:t>case</a:t>
            </a:r>
            <a:r>
              <a:rPr lang="en-US" b="0" dirty="0">
                <a:solidFill>
                  <a:srgbClr val="000000"/>
                </a:solidFill>
                <a:effectLst/>
                <a:highlight>
                  <a:srgbClr val="FFFF00"/>
                </a:highlight>
                <a:latin typeface="Consolas" panose="020B0609020204030204" pitchFamily="49" charset="0"/>
              </a:rPr>
              <a:t> </a:t>
            </a:r>
            <a:r>
              <a:rPr lang="en-US" b="0" dirty="0">
                <a:solidFill>
                  <a:srgbClr val="A31515"/>
                </a:solidFill>
                <a:effectLst/>
                <a:highlight>
                  <a:srgbClr val="FFFF00"/>
                </a:highlight>
                <a:latin typeface="Consolas" panose="020B0609020204030204" pitchFamily="49" charset="0"/>
              </a:rPr>
              <a:t>'e'</a:t>
            </a:r>
            <a:r>
              <a:rPr lang="en-US" b="0" dirty="0">
                <a:solidFill>
                  <a:srgbClr val="000000"/>
                </a:solidFill>
                <a:effectLst/>
                <a:highlight>
                  <a:srgbClr val="FFFF00"/>
                </a:highlight>
                <a:latin typeface="Consolas" panose="020B0609020204030204" pitchFamily="49" charset="0"/>
              </a:rPr>
              <a:t>:</a:t>
            </a:r>
          </a:p>
          <a:p>
            <a:pPr>
              <a:buNone/>
            </a:pPr>
            <a:r>
              <a:rPr lang="en-US" b="0" dirty="0">
                <a:solidFill>
                  <a:srgbClr val="000000"/>
                </a:solidFill>
                <a:effectLst/>
                <a:highlight>
                  <a:srgbClr val="FFFF00"/>
                </a:highlight>
                <a:latin typeface="Consolas" panose="020B0609020204030204" pitchFamily="49" charset="0"/>
              </a:rPr>
              <a:t>        </a:t>
            </a:r>
            <a:r>
              <a:rPr lang="en-US" b="0" dirty="0">
                <a:solidFill>
                  <a:srgbClr val="0000FF"/>
                </a:solidFill>
                <a:effectLst/>
                <a:highlight>
                  <a:srgbClr val="FFFF00"/>
                </a:highlight>
                <a:latin typeface="Consolas" panose="020B0609020204030204" pitchFamily="49" charset="0"/>
              </a:rPr>
              <a:t>case</a:t>
            </a:r>
            <a:r>
              <a:rPr lang="en-US" b="0" dirty="0">
                <a:solidFill>
                  <a:srgbClr val="000000"/>
                </a:solidFill>
                <a:effectLst/>
                <a:highlight>
                  <a:srgbClr val="FFFF00"/>
                </a:highlight>
                <a:latin typeface="Consolas" panose="020B0609020204030204" pitchFamily="49" charset="0"/>
              </a:rPr>
              <a:t> </a:t>
            </a:r>
            <a:r>
              <a:rPr lang="en-US" b="0" dirty="0">
                <a:solidFill>
                  <a:srgbClr val="A31515"/>
                </a:solidFill>
                <a:effectLst/>
                <a:highlight>
                  <a:srgbClr val="FFFF00"/>
                </a:highlight>
                <a:latin typeface="Consolas" panose="020B0609020204030204" pitchFamily="49" charset="0"/>
              </a:rPr>
              <a:t>'</a:t>
            </a:r>
            <a:r>
              <a:rPr lang="en-US" b="0" dirty="0" err="1">
                <a:solidFill>
                  <a:srgbClr val="A31515"/>
                </a:solidFill>
                <a:effectLst/>
                <a:highlight>
                  <a:srgbClr val="FFFF00"/>
                </a:highlight>
                <a:latin typeface="Consolas" panose="020B0609020204030204" pitchFamily="49" charset="0"/>
              </a:rPr>
              <a:t>i</a:t>
            </a:r>
            <a:r>
              <a:rPr lang="en-US" b="0" dirty="0">
                <a:solidFill>
                  <a:srgbClr val="A31515"/>
                </a:solidFill>
                <a:effectLst/>
                <a:highlight>
                  <a:srgbClr val="FFFF00"/>
                </a:highlight>
                <a:latin typeface="Consolas" panose="020B0609020204030204" pitchFamily="49" charset="0"/>
              </a:rPr>
              <a:t>'</a:t>
            </a:r>
            <a:r>
              <a:rPr lang="en-US" b="0" dirty="0">
                <a:solidFill>
                  <a:srgbClr val="000000"/>
                </a:solidFill>
                <a:effectLst/>
                <a:highlight>
                  <a:srgbClr val="FFFF00"/>
                </a:highlight>
                <a:latin typeface="Consolas" panose="020B0609020204030204" pitchFamily="49" charset="0"/>
              </a:rPr>
              <a:t>:</a:t>
            </a:r>
          </a:p>
          <a:p>
            <a:pPr>
              <a:buNone/>
            </a:pPr>
            <a:r>
              <a:rPr lang="en-US" b="0" dirty="0">
                <a:solidFill>
                  <a:srgbClr val="000000"/>
                </a:solidFill>
                <a:effectLst/>
                <a:highlight>
                  <a:srgbClr val="FFFF00"/>
                </a:highlight>
                <a:latin typeface="Consolas" panose="020B0609020204030204" pitchFamily="49" charset="0"/>
              </a:rPr>
              <a:t>        </a:t>
            </a:r>
            <a:r>
              <a:rPr lang="en-US" b="0" dirty="0">
                <a:solidFill>
                  <a:srgbClr val="0000FF"/>
                </a:solidFill>
                <a:effectLst/>
                <a:highlight>
                  <a:srgbClr val="FFFF00"/>
                </a:highlight>
                <a:latin typeface="Consolas" panose="020B0609020204030204" pitchFamily="49" charset="0"/>
              </a:rPr>
              <a:t>case</a:t>
            </a:r>
            <a:r>
              <a:rPr lang="en-US" b="0" dirty="0">
                <a:solidFill>
                  <a:srgbClr val="000000"/>
                </a:solidFill>
                <a:effectLst/>
                <a:highlight>
                  <a:srgbClr val="FFFF00"/>
                </a:highlight>
                <a:latin typeface="Consolas" panose="020B0609020204030204" pitchFamily="49" charset="0"/>
              </a:rPr>
              <a:t> </a:t>
            </a:r>
            <a:r>
              <a:rPr lang="en-US" b="0" dirty="0">
                <a:solidFill>
                  <a:srgbClr val="A31515"/>
                </a:solidFill>
                <a:effectLst/>
                <a:highlight>
                  <a:srgbClr val="FFFF00"/>
                </a:highlight>
                <a:latin typeface="Consolas" panose="020B0609020204030204" pitchFamily="49" charset="0"/>
              </a:rPr>
              <a:t>'o'</a:t>
            </a:r>
            <a:r>
              <a:rPr lang="en-US" b="0" dirty="0">
                <a:solidFill>
                  <a:srgbClr val="000000"/>
                </a:solidFill>
                <a:effectLst/>
                <a:highlight>
                  <a:srgbClr val="FFFF00"/>
                </a:highlight>
                <a:latin typeface="Consolas" panose="020B0609020204030204" pitchFamily="49" charset="0"/>
              </a:rPr>
              <a:t>:</a:t>
            </a:r>
          </a:p>
          <a:p>
            <a:pPr>
              <a:buNone/>
            </a:pPr>
            <a:r>
              <a:rPr lang="en-US" b="0" dirty="0">
                <a:solidFill>
                  <a:srgbClr val="000000"/>
                </a:solidFill>
                <a:effectLst/>
                <a:highlight>
                  <a:srgbClr val="FFFF00"/>
                </a:highlight>
                <a:latin typeface="Consolas" panose="020B0609020204030204" pitchFamily="49" charset="0"/>
              </a:rPr>
              <a:t>        </a:t>
            </a:r>
            <a:r>
              <a:rPr lang="en-US" b="0" dirty="0">
                <a:solidFill>
                  <a:srgbClr val="0000FF"/>
                </a:solidFill>
                <a:effectLst/>
                <a:highlight>
                  <a:srgbClr val="FFFF00"/>
                </a:highlight>
                <a:latin typeface="Consolas" panose="020B0609020204030204" pitchFamily="49" charset="0"/>
              </a:rPr>
              <a:t>case</a:t>
            </a:r>
            <a:r>
              <a:rPr lang="en-US" b="0" dirty="0">
                <a:solidFill>
                  <a:srgbClr val="000000"/>
                </a:solidFill>
                <a:effectLst/>
                <a:highlight>
                  <a:srgbClr val="FFFF00"/>
                </a:highlight>
                <a:latin typeface="Consolas" panose="020B0609020204030204" pitchFamily="49" charset="0"/>
              </a:rPr>
              <a:t> </a:t>
            </a:r>
            <a:r>
              <a:rPr lang="en-US" b="0" dirty="0">
                <a:solidFill>
                  <a:srgbClr val="A31515"/>
                </a:solidFill>
                <a:effectLst/>
                <a:highlight>
                  <a:srgbClr val="FFFF00"/>
                </a:highlight>
                <a:latin typeface="Consolas" panose="020B0609020204030204" pitchFamily="49" charset="0"/>
              </a:rPr>
              <a:t>'u'</a:t>
            </a:r>
            <a:r>
              <a:rPr lang="en-US" b="0" dirty="0">
                <a:solidFill>
                  <a:srgbClr val="000000"/>
                </a:solidFill>
                <a:effectLst/>
                <a:highlight>
                  <a:srgbClr val="FFFF00"/>
                </a:highlight>
                <a:latin typeface="Consolas" panose="020B0609020204030204" pitchFamily="49" charset="0"/>
              </a:rPr>
              <a:t>:</a:t>
            </a:r>
          </a:p>
          <a:p>
            <a:pPr>
              <a:buNone/>
            </a:pPr>
            <a:r>
              <a:rPr lang="en-US" b="0" dirty="0">
                <a:solidFill>
                  <a:srgbClr val="000000"/>
                </a:solidFill>
                <a:effectLst/>
                <a:latin typeface="Consolas" panose="020B0609020204030204" pitchFamily="49" charset="0"/>
              </a:rPr>
              <a:t>            puts(</a:t>
            </a:r>
            <a:r>
              <a:rPr lang="en-US" b="0" dirty="0">
                <a:solidFill>
                  <a:srgbClr val="A31515"/>
                </a:solidFill>
                <a:effectLst/>
                <a:latin typeface="Consolas" panose="020B0609020204030204" pitchFamily="49" charset="0"/>
              </a:rPr>
              <a:t>"vowel"</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break</a:t>
            </a:r>
            <a:r>
              <a:rPr lang="en-US" b="0" dirty="0">
                <a:solidFill>
                  <a:srgbClr val="000000"/>
                </a:solidFill>
                <a:effectLst/>
                <a:latin typeface="Consolas" panose="020B0609020204030204" pitchFamily="49" charset="0"/>
              </a:rPr>
              <a:t>;</a:t>
            </a:r>
          </a:p>
          <a:p>
            <a:pPr>
              <a:buNone/>
            </a:pPr>
            <a:r>
              <a:rPr lang="en-US" b="0" dirty="0">
                <a:solidFill>
                  <a:srgbClr val="000000"/>
                </a:solidFill>
                <a:effectLst/>
                <a:highlight>
                  <a:srgbClr val="00FFFF"/>
                </a:highlight>
                <a:latin typeface="Consolas" panose="020B0609020204030204" pitchFamily="49" charset="0"/>
              </a:rPr>
              <a:t>        </a:t>
            </a:r>
            <a:r>
              <a:rPr lang="en-US" b="0" dirty="0">
                <a:solidFill>
                  <a:srgbClr val="0000FF"/>
                </a:solidFill>
                <a:effectLst/>
                <a:highlight>
                  <a:srgbClr val="00FFFF"/>
                </a:highlight>
                <a:latin typeface="Consolas" panose="020B0609020204030204" pitchFamily="49" charset="0"/>
              </a:rPr>
              <a:t>default</a:t>
            </a:r>
            <a:r>
              <a:rPr lang="en-US" b="0" dirty="0">
                <a:solidFill>
                  <a:srgbClr val="000000"/>
                </a:solidFill>
                <a:effectLst/>
                <a:highlight>
                  <a:srgbClr val="00FFFF"/>
                </a:highlight>
                <a:latin typeface="Consolas" panose="020B0609020204030204" pitchFamily="49" charset="0"/>
              </a:rPr>
              <a:t>:</a:t>
            </a:r>
          </a:p>
          <a:p>
            <a:pPr>
              <a:buNone/>
            </a:pPr>
            <a:r>
              <a:rPr lang="en-US" b="0" dirty="0">
                <a:solidFill>
                  <a:srgbClr val="000000"/>
                </a:solidFill>
                <a:effectLst/>
                <a:latin typeface="Consolas" panose="020B0609020204030204" pitchFamily="49" charset="0"/>
              </a:rPr>
              <a:t>            puts(</a:t>
            </a:r>
            <a:r>
              <a:rPr lang="en-US" b="0" dirty="0">
                <a:solidFill>
                  <a:srgbClr val="A31515"/>
                </a:solidFill>
                <a:effectLst/>
                <a:latin typeface="Consolas" panose="020B0609020204030204" pitchFamily="49" charset="0"/>
              </a:rPr>
              <a:t>"not a vowel"</a:t>
            </a:r>
            <a:r>
              <a:rPr lang="en-US" b="0" dirty="0">
                <a:solidFill>
                  <a:srgbClr val="000000"/>
                </a:solidFill>
                <a:effectLst/>
                <a:latin typeface="Consolas" panose="020B0609020204030204" pitchFamily="49" charset="0"/>
              </a:rPr>
              <a:t>);</a:t>
            </a:r>
          </a:p>
          <a:p>
            <a:pPr>
              <a:buNone/>
            </a:pPr>
            <a:r>
              <a:rPr lang="en-US" b="0" dirty="0">
                <a:solidFill>
                  <a:srgbClr val="000000"/>
                </a:solidFill>
                <a:effectLst/>
                <a:highlight>
                  <a:srgbClr val="00FF00"/>
                </a:highlight>
                <a:latin typeface="Consolas" panose="020B0609020204030204" pitchFamily="49" charset="0"/>
              </a:rPr>
              <a:t>        </a:t>
            </a:r>
            <a:r>
              <a:rPr lang="en-US" b="0" dirty="0">
                <a:solidFill>
                  <a:srgbClr val="0000FF"/>
                </a:solidFill>
                <a:effectLst/>
                <a:highlight>
                  <a:srgbClr val="00FF00"/>
                </a:highlight>
                <a:latin typeface="Consolas" panose="020B0609020204030204" pitchFamily="49" charset="0"/>
              </a:rPr>
              <a:t>case</a:t>
            </a:r>
            <a:r>
              <a:rPr lang="en-US" b="0" dirty="0">
                <a:solidFill>
                  <a:srgbClr val="000000"/>
                </a:solidFill>
                <a:effectLst/>
                <a:highlight>
                  <a:srgbClr val="00FF00"/>
                </a:highlight>
                <a:latin typeface="Consolas" panose="020B0609020204030204" pitchFamily="49" charset="0"/>
              </a:rPr>
              <a:t> EOF:</a:t>
            </a:r>
          </a:p>
          <a:p>
            <a:pPr>
              <a:buNone/>
            </a:pP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a:t>
            </a:r>
            <a:r>
              <a:rPr lang="ru-RU" b="0" dirty="0">
                <a:solidFill>
                  <a:srgbClr val="008000"/>
                </a:solidFill>
                <a:effectLst/>
                <a:latin typeface="Consolas" panose="020B0609020204030204" pitchFamily="49" charset="0"/>
              </a:rPr>
              <a:t>ничего не выводим</a:t>
            </a:r>
            <a:endParaRPr lang="ru-RU" b="0" dirty="0">
              <a:solidFill>
                <a:srgbClr val="000000"/>
              </a:solidFill>
              <a:effectLst/>
              <a:latin typeface="Consolas" panose="020B0609020204030204" pitchFamily="49" charset="0"/>
            </a:endParaRPr>
          </a:p>
          <a:p>
            <a:pPr>
              <a:buNone/>
            </a:pPr>
            <a:r>
              <a:rPr lang="ru-RU" b="0" dirty="0">
                <a:solidFill>
                  <a:srgbClr val="000000"/>
                </a:solidFill>
                <a:effectLst/>
                <a:latin typeface="Consolas" panose="020B0609020204030204" pitchFamily="49" charset="0"/>
              </a:rPr>
              <a:t>    }</a:t>
            </a:r>
          </a:p>
          <a:p>
            <a:pPr>
              <a:buNone/>
            </a:pPr>
            <a:r>
              <a:rPr lang="ru-RU" b="0" dirty="0">
                <a:solidFill>
                  <a:srgbClr val="000000"/>
                </a:solidFill>
                <a:effectLst/>
                <a:latin typeface="Consolas" panose="020B0609020204030204" pitchFamily="49" charset="0"/>
              </a:rPr>
              <a:t>}</a:t>
            </a:r>
          </a:p>
        </p:txBody>
      </p:sp>
      <p:sp>
        <p:nvSpPr>
          <p:cNvPr id="10" name="TextBox 9">
            <a:extLst>
              <a:ext uri="{FF2B5EF4-FFF2-40B4-BE49-F238E27FC236}">
                <a16:creationId xmlns:a16="http://schemas.microsoft.com/office/drawing/2014/main" id="{368A04F5-376E-8FFD-3345-3B233D7C462C}"/>
              </a:ext>
            </a:extLst>
          </p:cNvPr>
          <p:cNvSpPr txBox="1"/>
          <p:nvPr/>
        </p:nvSpPr>
        <p:spPr>
          <a:xfrm>
            <a:off x="6096000" y="1690688"/>
            <a:ext cx="5757765" cy="5093702"/>
          </a:xfrm>
          <a:prstGeom prst="rect">
            <a:avLst/>
          </a:prstGeom>
          <a:noFill/>
        </p:spPr>
        <p:txBody>
          <a:bodyPr wrap="square">
            <a:spAutoFit/>
          </a:bodyPr>
          <a:lstStyle/>
          <a:p>
            <a:pPr>
              <a:buNone/>
            </a:pPr>
            <a:r>
              <a:rPr lang="en-US" sz="1300" b="0" dirty="0">
                <a:solidFill>
                  <a:srgbClr val="0000FF"/>
                </a:solidFill>
                <a:effectLst/>
                <a:latin typeface="Consolas" panose="020B0609020204030204" pitchFamily="49" charset="0"/>
              </a:rPr>
              <a:t>.LC0</a:t>
            </a:r>
            <a:r>
              <a:rPr lang="en-US" sz="1300" b="0" dirty="0">
                <a:solidFill>
                  <a:srgbClr val="000000"/>
                </a:solidFill>
                <a:effectLst/>
                <a:latin typeface="Consolas" panose="020B0609020204030204" pitchFamily="49" charset="0"/>
              </a:rPr>
              <a:t>:</a:t>
            </a:r>
          </a:p>
          <a:p>
            <a:pPr>
              <a:buNone/>
            </a:pPr>
            <a:r>
              <a:rPr lang="en-US" sz="1300" b="0" dirty="0">
                <a:solidFill>
                  <a:srgbClr val="000000"/>
                </a:solidFill>
                <a:effectLst/>
                <a:latin typeface="Consolas" panose="020B0609020204030204" pitchFamily="49" charset="0"/>
              </a:rPr>
              <a:t>        </a:t>
            </a:r>
            <a:r>
              <a:rPr lang="en-US" sz="1300" b="0" dirty="0">
                <a:solidFill>
                  <a:srgbClr val="0000FF"/>
                </a:solidFill>
                <a:effectLst/>
                <a:latin typeface="Consolas" panose="020B0609020204030204" pitchFamily="49" charset="0"/>
              </a:rPr>
              <a:t>.string</a:t>
            </a:r>
            <a:r>
              <a:rPr lang="en-US" sz="1300" b="0" dirty="0">
                <a:solidFill>
                  <a:srgbClr val="000000"/>
                </a:solidFill>
                <a:effectLst/>
                <a:latin typeface="Consolas" panose="020B0609020204030204" pitchFamily="49" charset="0"/>
              </a:rPr>
              <a:t> </a:t>
            </a:r>
            <a:r>
              <a:rPr lang="en-US" sz="1300" b="0" dirty="0">
                <a:solidFill>
                  <a:srgbClr val="A31515"/>
                </a:solidFill>
                <a:effectLst/>
                <a:latin typeface="Consolas" panose="020B0609020204030204" pitchFamily="49" charset="0"/>
              </a:rPr>
              <a:t>"vowel"</a:t>
            </a:r>
            <a:endParaRPr lang="en-US" sz="1300" b="0" dirty="0">
              <a:solidFill>
                <a:srgbClr val="000000"/>
              </a:solidFill>
              <a:effectLst/>
              <a:latin typeface="Consolas" panose="020B0609020204030204" pitchFamily="49" charset="0"/>
            </a:endParaRPr>
          </a:p>
          <a:p>
            <a:pPr>
              <a:buNone/>
            </a:pPr>
            <a:r>
              <a:rPr lang="en-US" sz="1300" b="0" dirty="0">
                <a:solidFill>
                  <a:srgbClr val="0000FF"/>
                </a:solidFill>
                <a:effectLst/>
                <a:latin typeface="Consolas" panose="020B0609020204030204" pitchFamily="49" charset="0"/>
              </a:rPr>
              <a:t>.LC1</a:t>
            </a:r>
            <a:r>
              <a:rPr lang="en-US" sz="1300" b="0" dirty="0">
                <a:solidFill>
                  <a:srgbClr val="000000"/>
                </a:solidFill>
                <a:effectLst/>
                <a:latin typeface="Consolas" panose="020B0609020204030204" pitchFamily="49" charset="0"/>
              </a:rPr>
              <a:t>:</a:t>
            </a:r>
          </a:p>
          <a:p>
            <a:pPr>
              <a:buNone/>
            </a:pPr>
            <a:r>
              <a:rPr lang="en-US" sz="1300" b="0" dirty="0">
                <a:solidFill>
                  <a:srgbClr val="000000"/>
                </a:solidFill>
                <a:effectLst/>
                <a:latin typeface="Consolas" panose="020B0609020204030204" pitchFamily="49" charset="0"/>
              </a:rPr>
              <a:t>        </a:t>
            </a:r>
            <a:r>
              <a:rPr lang="en-US" sz="1300" b="0" dirty="0">
                <a:solidFill>
                  <a:srgbClr val="0000FF"/>
                </a:solidFill>
                <a:effectLst/>
                <a:latin typeface="Consolas" panose="020B0609020204030204" pitchFamily="49" charset="0"/>
              </a:rPr>
              <a:t>.string</a:t>
            </a:r>
            <a:r>
              <a:rPr lang="en-US" sz="1300" b="0" dirty="0">
                <a:solidFill>
                  <a:srgbClr val="000000"/>
                </a:solidFill>
                <a:effectLst/>
                <a:latin typeface="Consolas" panose="020B0609020204030204" pitchFamily="49" charset="0"/>
              </a:rPr>
              <a:t> </a:t>
            </a:r>
            <a:r>
              <a:rPr lang="en-US" sz="1300" b="0" dirty="0">
                <a:solidFill>
                  <a:srgbClr val="A31515"/>
                </a:solidFill>
                <a:effectLst/>
                <a:latin typeface="Consolas" panose="020B0609020204030204" pitchFamily="49" charset="0"/>
              </a:rPr>
              <a:t>“not a vowel"</a:t>
            </a:r>
            <a:endParaRPr lang="en-US" sz="1300" b="0" dirty="0">
              <a:solidFill>
                <a:srgbClr val="000000"/>
              </a:solidFill>
              <a:effectLst/>
              <a:latin typeface="Consolas" panose="020B0609020204030204" pitchFamily="49" charset="0"/>
            </a:endParaRPr>
          </a:p>
          <a:p>
            <a:pPr>
              <a:buNone/>
            </a:pPr>
            <a:r>
              <a:rPr lang="en-US" sz="1300" b="0" dirty="0">
                <a:solidFill>
                  <a:srgbClr val="0000FF"/>
                </a:solidFill>
                <a:effectLst/>
                <a:latin typeface="Consolas" panose="020B0609020204030204" pitchFamily="49" charset="0"/>
              </a:rPr>
              <a:t>main</a:t>
            </a:r>
            <a:r>
              <a:rPr lang="en-US" sz="1300" b="0" dirty="0">
                <a:solidFill>
                  <a:srgbClr val="000000"/>
                </a:solidFill>
                <a:effectLst/>
                <a:latin typeface="Consolas" panose="020B0609020204030204" pitchFamily="49" charset="0"/>
              </a:rPr>
              <a:t>:</a:t>
            </a:r>
          </a:p>
          <a:p>
            <a:pPr>
              <a:buNone/>
            </a:pPr>
            <a:r>
              <a:rPr lang="en-US" sz="1300" b="0" dirty="0">
                <a:solidFill>
                  <a:srgbClr val="000000"/>
                </a:solidFill>
                <a:effectLst/>
                <a:latin typeface="Consolas" panose="020B0609020204030204" pitchFamily="49" charset="0"/>
              </a:rPr>
              <a:t>        </a:t>
            </a:r>
            <a:r>
              <a:rPr lang="en-US" sz="1300" b="0" dirty="0">
                <a:solidFill>
                  <a:srgbClr val="0000FF"/>
                </a:solidFill>
                <a:effectLst/>
                <a:latin typeface="Consolas" panose="020B0609020204030204" pitchFamily="49" charset="0"/>
              </a:rPr>
              <a:t>push</a:t>
            </a:r>
            <a:r>
              <a:rPr lang="en-US" sz="1300" b="0" dirty="0">
                <a:solidFill>
                  <a:srgbClr val="000000"/>
                </a:solidFill>
                <a:effectLst/>
                <a:latin typeface="Consolas" panose="020B0609020204030204" pitchFamily="49" charset="0"/>
              </a:rPr>
              <a:t>    </a:t>
            </a:r>
            <a:r>
              <a:rPr lang="en-US" sz="1300" b="0" dirty="0" err="1">
                <a:solidFill>
                  <a:srgbClr val="4864AA"/>
                </a:solidFill>
                <a:effectLst/>
                <a:latin typeface="Consolas" panose="020B0609020204030204" pitchFamily="49" charset="0"/>
              </a:rPr>
              <a:t>rcx</a:t>
            </a:r>
            <a:endParaRPr lang="en-US" sz="1300" b="0" dirty="0">
              <a:solidFill>
                <a:srgbClr val="000000"/>
              </a:solidFill>
              <a:effectLst/>
              <a:latin typeface="Consolas" panose="020B0609020204030204" pitchFamily="49" charset="0"/>
            </a:endParaRPr>
          </a:p>
          <a:p>
            <a:pPr>
              <a:buNone/>
            </a:pPr>
            <a:r>
              <a:rPr lang="en-US" sz="1300" b="0" dirty="0">
                <a:solidFill>
                  <a:srgbClr val="000000"/>
                </a:solidFill>
                <a:effectLst/>
                <a:latin typeface="Consolas" panose="020B0609020204030204" pitchFamily="49" charset="0"/>
              </a:rPr>
              <a:t>        </a:t>
            </a:r>
            <a:r>
              <a:rPr lang="en-US" sz="1300" b="0" dirty="0">
                <a:solidFill>
                  <a:srgbClr val="0000FF"/>
                </a:solidFill>
                <a:effectLst/>
                <a:latin typeface="Consolas" panose="020B0609020204030204" pitchFamily="49" charset="0"/>
              </a:rPr>
              <a:t>call</a:t>
            </a:r>
            <a:r>
              <a:rPr lang="en-US" sz="1300" b="0" dirty="0">
                <a:solidFill>
                  <a:srgbClr val="000000"/>
                </a:solidFill>
                <a:effectLst/>
                <a:latin typeface="Consolas" panose="020B0609020204030204" pitchFamily="49" charset="0"/>
              </a:rPr>
              <a:t>    </a:t>
            </a:r>
            <a:r>
              <a:rPr lang="en-US" sz="1300" b="0" dirty="0" err="1">
                <a:solidFill>
                  <a:srgbClr val="008080"/>
                </a:solidFill>
                <a:effectLst/>
                <a:latin typeface="Consolas" panose="020B0609020204030204" pitchFamily="49" charset="0"/>
              </a:rPr>
              <a:t>getchar</a:t>
            </a:r>
            <a:endParaRPr lang="en-US" sz="1300" b="0" dirty="0">
              <a:solidFill>
                <a:srgbClr val="000000"/>
              </a:solidFill>
              <a:effectLst/>
              <a:latin typeface="Consolas" panose="020B0609020204030204" pitchFamily="49" charset="0"/>
            </a:endParaRPr>
          </a:p>
          <a:p>
            <a:pPr>
              <a:buNone/>
            </a:pPr>
            <a:r>
              <a:rPr lang="en-US" sz="1300" b="0" dirty="0">
                <a:solidFill>
                  <a:srgbClr val="000000"/>
                </a:solidFill>
                <a:effectLst/>
                <a:highlight>
                  <a:srgbClr val="00FF00"/>
                </a:highlight>
                <a:latin typeface="Consolas" panose="020B0609020204030204" pitchFamily="49" charset="0"/>
              </a:rPr>
              <a:t>        </a:t>
            </a:r>
            <a:r>
              <a:rPr lang="en-US" sz="1300" b="0" dirty="0" err="1">
                <a:solidFill>
                  <a:srgbClr val="0000FF"/>
                </a:solidFill>
                <a:effectLst/>
                <a:highlight>
                  <a:srgbClr val="00FF00"/>
                </a:highlight>
                <a:latin typeface="Consolas" panose="020B0609020204030204" pitchFamily="49" charset="0"/>
              </a:rPr>
              <a:t>cmp</a:t>
            </a:r>
            <a:r>
              <a:rPr lang="en-US" sz="1300" b="0" dirty="0">
                <a:solidFill>
                  <a:srgbClr val="000000"/>
                </a:solidFill>
                <a:effectLst/>
                <a:highlight>
                  <a:srgbClr val="00FF00"/>
                </a:highlight>
                <a:latin typeface="Consolas" panose="020B0609020204030204" pitchFamily="49" charset="0"/>
              </a:rPr>
              <a:t>     </a:t>
            </a:r>
            <a:r>
              <a:rPr lang="en-US" sz="1300" b="0" dirty="0" err="1">
                <a:solidFill>
                  <a:srgbClr val="4864AA"/>
                </a:solidFill>
                <a:effectLst/>
                <a:highlight>
                  <a:srgbClr val="00FF00"/>
                </a:highlight>
                <a:latin typeface="Consolas" panose="020B0609020204030204" pitchFamily="49" charset="0"/>
              </a:rPr>
              <a:t>eax</a:t>
            </a:r>
            <a:r>
              <a:rPr lang="en-US" sz="1300" b="0" dirty="0">
                <a:solidFill>
                  <a:srgbClr val="000000"/>
                </a:solidFill>
                <a:effectLst/>
                <a:highlight>
                  <a:srgbClr val="00FF00"/>
                </a:highlight>
                <a:latin typeface="Consolas" panose="020B0609020204030204" pitchFamily="49" charset="0"/>
              </a:rPr>
              <a:t>, -</a:t>
            </a:r>
            <a:r>
              <a:rPr lang="en-US" sz="1300" b="0" dirty="0">
                <a:solidFill>
                  <a:srgbClr val="098658"/>
                </a:solidFill>
                <a:effectLst/>
                <a:highlight>
                  <a:srgbClr val="00FF00"/>
                </a:highlight>
                <a:latin typeface="Consolas" panose="020B0609020204030204" pitchFamily="49" charset="0"/>
              </a:rPr>
              <a:t>1</a:t>
            </a:r>
            <a:endParaRPr lang="en-US" sz="1300" b="0" dirty="0">
              <a:solidFill>
                <a:srgbClr val="000000"/>
              </a:solidFill>
              <a:effectLst/>
              <a:highlight>
                <a:srgbClr val="00FF00"/>
              </a:highlight>
              <a:latin typeface="Consolas" panose="020B0609020204030204" pitchFamily="49" charset="0"/>
            </a:endParaRPr>
          </a:p>
          <a:p>
            <a:pPr>
              <a:buNone/>
            </a:pPr>
            <a:r>
              <a:rPr lang="en-US" sz="1300" b="0" dirty="0">
                <a:solidFill>
                  <a:srgbClr val="000000"/>
                </a:solidFill>
                <a:effectLst/>
                <a:highlight>
                  <a:srgbClr val="00FF00"/>
                </a:highlight>
                <a:latin typeface="Consolas" panose="020B0609020204030204" pitchFamily="49" charset="0"/>
              </a:rPr>
              <a:t>        </a:t>
            </a:r>
            <a:r>
              <a:rPr lang="en-US" sz="1300" b="0" dirty="0">
                <a:solidFill>
                  <a:srgbClr val="0000FF"/>
                </a:solidFill>
                <a:effectLst/>
                <a:highlight>
                  <a:srgbClr val="00FF00"/>
                </a:highlight>
                <a:latin typeface="Consolas" panose="020B0609020204030204" pitchFamily="49" charset="0"/>
              </a:rPr>
              <a:t>je</a:t>
            </a:r>
            <a:r>
              <a:rPr lang="en-US" sz="1300" b="0" dirty="0">
                <a:solidFill>
                  <a:srgbClr val="000000"/>
                </a:solidFill>
                <a:effectLst/>
                <a:highlight>
                  <a:srgbClr val="00FF00"/>
                </a:highlight>
                <a:latin typeface="Consolas" panose="020B0609020204030204" pitchFamily="49" charset="0"/>
              </a:rPr>
              <a:t>      </a:t>
            </a:r>
            <a:r>
              <a:rPr lang="en-US" sz="1300" b="0" dirty="0">
                <a:solidFill>
                  <a:srgbClr val="008080"/>
                </a:solidFill>
                <a:effectLst/>
                <a:highlight>
                  <a:srgbClr val="00FF00"/>
                </a:highlight>
                <a:latin typeface="Consolas" panose="020B0609020204030204" pitchFamily="49" charset="0"/>
              </a:rPr>
              <a:t>.L2</a:t>
            </a:r>
            <a:endParaRPr lang="en-US" sz="1300" b="0" dirty="0">
              <a:solidFill>
                <a:srgbClr val="000000"/>
              </a:solidFill>
              <a:effectLst/>
              <a:highlight>
                <a:srgbClr val="00FF00"/>
              </a:highlight>
              <a:latin typeface="Consolas" panose="020B0609020204030204" pitchFamily="49" charset="0"/>
            </a:endParaRPr>
          </a:p>
          <a:p>
            <a:pPr>
              <a:buNone/>
            </a:pPr>
            <a:r>
              <a:rPr lang="en-US" sz="1300" b="0" dirty="0">
                <a:solidFill>
                  <a:srgbClr val="000000"/>
                </a:solidFill>
                <a:effectLst/>
                <a:highlight>
                  <a:srgbClr val="FFFF00"/>
                </a:highlight>
                <a:latin typeface="Consolas" panose="020B0609020204030204" pitchFamily="49" charset="0"/>
              </a:rPr>
              <a:t>        </a:t>
            </a:r>
            <a:r>
              <a:rPr lang="en-US" sz="1300" b="0" dirty="0">
                <a:solidFill>
                  <a:srgbClr val="0000FF"/>
                </a:solidFill>
                <a:effectLst/>
                <a:highlight>
                  <a:srgbClr val="FFFF00"/>
                </a:highlight>
                <a:latin typeface="Consolas" panose="020B0609020204030204" pitchFamily="49" charset="0"/>
              </a:rPr>
              <a:t>sub</a:t>
            </a:r>
            <a:r>
              <a:rPr lang="en-US" sz="1300" b="0" dirty="0">
                <a:solidFill>
                  <a:srgbClr val="000000"/>
                </a:solidFill>
                <a:effectLst/>
                <a:highlight>
                  <a:srgbClr val="FFFF00"/>
                </a:highlight>
                <a:latin typeface="Consolas" panose="020B0609020204030204" pitchFamily="49" charset="0"/>
              </a:rPr>
              <a:t>     </a:t>
            </a:r>
            <a:r>
              <a:rPr lang="en-US" sz="1300" b="0" dirty="0" err="1">
                <a:solidFill>
                  <a:srgbClr val="4864AA"/>
                </a:solidFill>
                <a:effectLst/>
                <a:highlight>
                  <a:srgbClr val="FFFF00"/>
                </a:highlight>
                <a:latin typeface="Consolas" panose="020B0609020204030204" pitchFamily="49" charset="0"/>
              </a:rPr>
              <a:t>eax</a:t>
            </a:r>
            <a:r>
              <a:rPr lang="en-US" sz="1300" b="0" dirty="0">
                <a:solidFill>
                  <a:srgbClr val="000000"/>
                </a:solidFill>
                <a:effectLst/>
                <a:highlight>
                  <a:srgbClr val="FFFF00"/>
                </a:highlight>
                <a:latin typeface="Consolas" panose="020B0609020204030204" pitchFamily="49" charset="0"/>
              </a:rPr>
              <a:t>, </a:t>
            </a:r>
            <a:r>
              <a:rPr lang="en-US" sz="1300" b="0" dirty="0">
                <a:solidFill>
                  <a:srgbClr val="098658"/>
                </a:solidFill>
                <a:effectLst/>
                <a:highlight>
                  <a:srgbClr val="FFFF00"/>
                </a:highlight>
                <a:latin typeface="Consolas" panose="020B0609020204030204" pitchFamily="49" charset="0"/>
              </a:rPr>
              <a:t>97</a:t>
            </a:r>
            <a:endParaRPr lang="en-US" sz="1300" b="0" dirty="0">
              <a:solidFill>
                <a:srgbClr val="000000"/>
              </a:solidFill>
              <a:effectLst/>
              <a:highlight>
                <a:srgbClr val="FFFF00"/>
              </a:highlight>
              <a:latin typeface="Consolas" panose="020B0609020204030204" pitchFamily="49" charset="0"/>
            </a:endParaRPr>
          </a:p>
          <a:p>
            <a:pPr>
              <a:buNone/>
            </a:pPr>
            <a:r>
              <a:rPr lang="en-US" sz="1300" b="0" dirty="0">
                <a:solidFill>
                  <a:srgbClr val="000000"/>
                </a:solidFill>
                <a:effectLst/>
                <a:highlight>
                  <a:srgbClr val="FFFF00"/>
                </a:highlight>
                <a:latin typeface="Consolas" panose="020B0609020204030204" pitchFamily="49" charset="0"/>
              </a:rPr>
              <a:t>        </a:t>
            </a:r>
            <a:r>
              <a:rPr lang="en-US" sz="1300" b="0" dirty="0" err="1">
                <a:solidFill>
                  <a:srgbClr val="0000FF"/>
                </a:solidFill>
                <a:effectLst/>
                <a:highlight>
                  <a:srgbClr val="FFFF00"/>
                </a:highlight>
                <a:latin typeface="Consolas" panose="020B0609020204030204" pitchFamily="49" charset="0"/>
              </a:rPr>
              <a:t>cmp</a:t>
            </a:r>
            <a:r>
              <a:rPr lang="en-US" sz="1300" b="0" dirty="0">
                <a:solidFill>
                  <a:srgbClr val="000000"/>
                </a:solidFill>
                <a:effectLst/>
                <a:highlight>
                  <a:srgbClr val="FFFF00"/>
                </a:highlight>
                <a:latin typeface="Consolas" panose="020B0609020204030204" pitchFamily="49" charset="0"/>
              </a:rPr>
              <a:t>     </a:t>
            </a:r>
            <a:r>
              <a:rPr lang="en-US" sz="1300" b="0" dirty="0" err="1">
                <a:solidFill>
                  <a:srgbClr val="4864AA"/>
                </a:solidFill>
                <a:effectLst/>
                <a:highlight>
                  <a:srgbClr val="FFFF00"/>
                </a:highlight>
                <a:latin typeface="Consolas" panose="020B0609020204030204" pitchFamily="49" charset="0"/>
              </a:rPr>
              <a:t>eax</a:t>
            </a:r>
            <a:r>
              <a:rPr lang="en-US" sz="1300" b="0" dirty="0">
                <a:solidFill>
                  <a:srgbClr val="000000"/>
                </a:solidFill>
                <a:effectLst/>
                <a:highlight>
                  <a:srgbClr val="FFFF00"/>
                </a:highlight>
                <a:latin typeface="Consolas" panose="020B0609020204030204" pitchFamily="49" charset="0"/>
              </a:rPr>
              <a:t>, </a:t>
            </a:r>
            <a:r>
              <a:rPr lang="en-US" sz="1300" b="0" dirty="0">
                <a:solidFill>
                  <a:srgbClr val="098658"/>
                </a:solidFill>
                <a:effectLst/>
                <a:highlight>
                  <a:srgbClr val="FFFF00"/>
                </a:highlight>
                <a:latin typeface="Consolas" panose="020B0609020204030204" pitchFamily="49" charset="0"/>
              </a:rPr>
              <a:t>20</a:t>
            </a:r>
            <a:endParaRPr lang="en-US" sz="1300" b="0" dirty="0">
              <a:solidFill>
                <a:srgbClr val="000000"/>
              </a:solidFill>
              <a:effectLst/>
              <a:highlight>
                <a:srgbClr val="FFFF00"/>
              </a:highlight>
              <a:latin typeface="Consolas" panose="020B0609020204030204" pitchFamily="49" charset="0"/>
            </a:endParaRPr>
          </a:p>
          <a:p>
            <a:pPr>
              <a:buNone/>
            </a:pPr>
            <a:r>
              <a:rPr lang="en-US" sz="1300" b="0" dirty="0">
                <a:solidFill>
                  <a:srgbClr val="000000"/>
                </a:solidFill>
                <a:effectLst/>
                <a:highlight>
                  <a:srgbClr val="00FFFF"/>
                </a:highlight>
                <a:latin typeface="Consolas" panose="020B0609020204030204" pitchFamily="49" charset="0"/>
              </a:rPr>
              <a:t>        </a:t>
            </a:r>
            <a:r>
              <a:rPr lang="en-US" sz="1300" b="0" dirty="0">
                <a:solidFill>
                  <a:srgbClr val="0000FF"/>
                </a:solidFill>
                <a:effectLst/>
                <a:highlight>
                  <a:srgbClr val="00FFFF"/>
                </a:highlight>
                <a:latin typeface="Consolas" panose="020B0609020204030204" pitchFamily="49" charset="0"/>
              </a:rPr>
              <a:t>ja</a:t>
            </a:r>
            <a:r>
              <a:rPr lang="en-US" sz="1300" b="0" dirty="0">
                <a:solidFill>
                  <a:srgbClr val="000000"/>
                </a:solidFill>
                <a:effectLst/>
                <a:highlight>
                  <a:srgbClr val="00FFFF"/>
                </a:highlight>
                <a:latin typeface="Consolas" panose="020B0609020204030204" pitchFamily="49" charset="0"/>
              </a:rPr>
              <a:t>      </a:t>
            </a:r>
            <a:r>
              <a:rPr lang="en-US" sz="1300" b="0" dirty="0">
                <a:solidFill>
                  <a:srgbClr val="008080"/>
                </a:solidFill>
                <a:effectLst/>
                <a:highlight>
                  <a:srgbClr val="00FFFF"/>
                </a:highlight>
                <a:latin typeface="Consolas" panose="020B0609020204030204" pitchFamily="49" charset="0"/>
              </a:rPr>
              <a:t>.L3</a:t>
            </a:r>
          </a:p>
          <a:p>
            <a:pPr>
              <a:buNone/>
            </a:pPr>
            <a:r>
              <a:rPr lang="en-US" sz="1300" dirty="0">
                <a:solidFill>
                  <a:srgbClr val="008080"/>
                </a:solidFill>
                <a:latin typeface="Consolas" panose="020B0609020204030204" pitchFamily="49" charset="0"/>
              </a:rPr>
              <a:t>                   </a:t>
            </a:r>
            <a:r>
              <a:rPr lang="en-US" sz="1300" b="0" dirty="0">
                <a:solidFill>
                  <a:srgbClr val="008080"/>
                </a:solidFill>
                <a:effectLst/>
                <a:latin typeface="Consolas" panose="020B0609020204030204" pitchFamily="49" charset="0"/>
              </a:rPr>
              <a:t>          </a:t>
            </a:r>
            <a:r>
              <a:rPr lang="en-US" sz="1300" b="0" dirty="0">
                <a:solidFill>
                  <a:srgbClr val="008000"/>
                </a:solidFill>
                <a:effectLst/>
                <a:latin typeface="Consolas" panose="020B0609020204030204" pitchFamily="49" charset="0"/>
              </a:rPr>
              <a:t># XWVU YSRQ</a:t>
            </a:r>
            <a:r>
              <a:rPr lang="en-US" sz="1300" b="0" dirty="0">
                <a:solidFill>
                  <a:srgbClr val="008080"/>
                </a:solidFill>
                <a:effectLst/>
                <a:latin typeface="Consolas" panose="020B0609020204030204" pitchFamily="49" charset="0"/>
              </a:rPr>
              <a:t> PONM LKJI HGFE DCBA</a:t>
            </a:r>
            <a:endParaRPr lang="en-US" sz="1300" b="0" dirty="0">
              <a:solidFill>
                <a:srgbClr val="000000"/>
              </a:solidFill>
              <a:effectLst/>
              <a:latin typeface="Consolas" panose="020B0609020204030204" pitchFamily="49" charset="0"/>
            </a:endParaRPr>
          </a:p>
          <a:p>
            <a:pPr>
              <a:buNone/>
            </a:pPr>
            <a:r>
              <a:rPr lang="en-US" sz="1300" b="0" dirty="0">
                <a:solidFill>
                  <a:srgbClr val="000000"/>
                </a:solidFill>
                <a:effectLst/>
                <a:latin typeface="Consolas" panose="020B0609020204030204" pitchFamily="49" charset="0"/>
              </a:rPr>
              <a:t>        </a:t>
            </a:r>
            <a:r>
              <a:rPr lang="en-US" sz="1300" b="0" dirty="0">
                <a:solidFill>
                  <a:srgbClr val="0000FF"/>
                </a:solidFill>
                <a:effectLst/>
                <a:highlight>
                  <a:srgbClr val="FFFF00"/>
                </a:highlight>
                <a:latin typeface="Consolas" panose="020B0609020204030204" pitchFamily="49" charset="0"/>
              </a:rPr>
              <a:t>mov</a:t>
            </a:r>
            <a:r>
              <a:rPr lang="en-US" sz="1300" b="0" dirty="0">
                <a:solidFill>
                  <a:srgbClr val="000000"/>
                </a:solidFill>
                <a:effectLst/>
                <a:highlight>
                  <a:srgbClr val="FFFF00"/>
                </a:highlight>
                <a:latin typeface="Consolas" panose="020B0609020204030204" pitchFamily="49" charset="0"/>
              </a:rPr>
              <a:t>     </a:t>
            </a:r>
            <a:r>
              <a:rPr lang="en-US" sz="1300" b="0" dirty="0" err="1">
                <a:solidFill>
                  <a:srgbClr val="4864AA"/>
                </a:solidFill>
                <a:effectLst/>
                <a:highlight>
                  <a:srgbClr val="FFFF00"/>
                </a:highlight>
                <a:latin typeface="Consolas" panose="020B0609020204030204" pitchFamily="49" charset="0"/>
              </a:rPr>
              <a:t>edx</a:t>
            </a:r>
            <a:r>
              <a:rPr lang="en-US" sz="1300" b="0" dirty="0">
                <a:solidFill>
                  <a:srgbClr val="000000"/>
                </a:solidFill>
                <a:effectLst/>
                <a:highlight>
                  <a:srgbClr val="FFFF00"/>
                </a:highlight>
                <a:latin typeface="Consolas" panose="020B0609020204030204" pitchFamily="49" charset="0"/>
              </a:rPr>
              <a:t>, </a:t>
            </a:r>
            <a:r>
              <a:rPr lang="en-US" sz="1300" b="0" dirty="0">
                <a:solidFill>
                  <a:srgbClr val="098658"/>
                </a:solidFill>
                <a:effectLst/>
                <a:highlight>
                  <a:srgbClr val="FFFF00"/>
                </a:highlight>
                <a:latin typeface="Consolas" panose="020B0609020204030204" pitchFamily="49" charset="0"/>
              </a:rPr>
              <a:t>1065233</a:t>
            </a:r>
            <a:r>
              <a:rPr lang="en-US" sz="1300" b="0" dirty="0">
                <a:solidFill>
                  <a:srgbClr val="098658"/>
                </a:solidFill>
                <a:effectLst/>
                <a:latin typeface="Consolas" panose="020B0609020204030204" pitchFamily="49" charset="0"/>
              </a:rPr>
              <a:t> </a:t>
            </a:r>
            <a:r>
              <a:rPr lang="en-US" sz="1300" b="0" dirty="0">
                <a:solidFill>
                  <a:srgbClr val="008000"/>
                </a:solidFill>
                <a:effectLst/>
                <a:latin typeface="Consolas" panose="020B0609020204030204" pitchFamily="49" charset="0"/>
              </a:rPr>
              <a:t># 0001 0000 0100 0001 0001 0001</a:t>
            </a:r>
            <a:endParaRPr lang="en-US" sz="1300" b="0" dirty="0">
              <a:solidFill>
                <a:srgbClr val="000000"/>
              </a:solidFill>
              <a:effectLst/>
              <a:latin typeface="Consolas" panose="020B0609020204030204" pitchFamily="49" charset="0"/>
            </a:endParaRPr>
          </a:p>
          <a:p>
            <a:pPr>
              <a:buNone/>
            </a:pPr>
            <a:r>
              <a:rPr lang="en-US" sz="1300" b="0" dirty="0">
                <a:solidFill>
                  <a:srgbClr val="000000"/>
                </a:solidFill>
                <a:effectLst/>
                <a:latin typeface="Consolas" panose="020B0609020204030204" pitchFamily="49" charset="0"/>
              </a:rPr>
              <a:t>        </a:t>
            </a:r>
            <a:r>
              <a:rPr lang="en-US" sz="1300" b="0" dirty="0">
                <a:solidFill>
                  <a:srgbClr val="0000FF"/>
                </a:solidFill>
                <a:effectLst/>
                <a:latin typeface="Consolas" panose="020B0609020204030204" pitchFamily="49" charset="0"/>
              </a:rPr>
              <a:t>mov</a:t>
            </a:r>
            <a:r>
              <a:rPr lang="en-US" sz="1300" b="0" dirty="0">
                <a:solidFill>
                  <a:srgbClr val="000000"/>
                </a:solidFill>
                <a:effectLst/>
                <a:latin typeface="Consolas" panose="020B0609020204030204" pitchFamily="49" charset="0"/>
              </a:rPr>
              <a:t>     </a:t>
            </a:r>
            <a:r>
              <a:rPr lang="en-US" sz="1300" b="0" dirty="0" err="1">
                <a:solidFill>
                  <a:srgbClr val="4864AA"/>
                </a:solidFill>
                <a:effectLst/>
                <a:latin typeface="Consolas" panose="020B0609020204030204" pitchFamily="49" charset="0"/>
              </a:rPr>
              <a:t>edi</a:t>
            </a:r>
            <a:r>
              <a:rPr lang="en-US" sz="1300" b="0" dirty="0">
                <a:solidFill>
                  <a:srgbClr val="000000"/>
                </a:solidFill>
                <a:effectLst/>
                <a:latin typeface="Consolas" panose="020B0609020204030204" pitchFamily="49" charset="0"/>
              </a:rPr>
              <a:t>, </a:t>
            </a:r>
            <a:r>
              <a:rPr lang="en-US" sz="1300" b="0" dirty="0">
                <a:solidFill>
                  <a:srgbClr val="008080"/>
                </a:solidFill>
                <a:effectLst/>
                <a:latin typeface="Consolas" panose="020B0609020204030204" pitchFamily="49" charset="0"/>
              </a:rPr>
              <a:t>OFFSET</a:t>
            </a:r>
            <a:r>
              <a:rPr lang="en-US" sz="1300" b="0" dirty="0">
                <a:solidFill>
                  <a:srgbClr val="000000"/>
                </a:solidFill>
                <a:effectLst/>
                <a:latin typeface="Consolas" panose="020B0609020204030204" pitchFamily="49" charset="0"/>
              </a:rPr>
              <a:t> </a:t>
            </a:r>
            <a:r>
              <a:rPr lang="en-US" sz="1300" b="0" dirty="0">
                <a:solidFill>
                  <a:srgbClr val="008080"/>
                </a:solidFill>
                <a:effectLst/>
                <a:latin typeface="Consolas" panose="020B0609020204030204" pitchFamily="49" charset="0"/>
              </a:rPr>
              <a:t>FLAT</a:t>
            </a:r>
            <a:r>
              <a:rPr lang="en-US" sz="1300" b="0" dirty="0">
                <a:solidFill>
                  <a:srgbClr val="000000"/>
                </a:solidFill>
                <a:effectLst/>
                <a:latin typeface="Consolas" panose="020B0609020204030204" pitchFamily="49" charset="0"/>
              </a:rPr>
              <a:t>:</a:t>
            </a:r>
            <a:r>
              <a:rPr lang="en-US" sz="1300" b="0" dirty="0">
                <a:solidFill>
                  <a:srgbClr val="008080"/>
                </a:solidFill>
                <a:effectLst/>
                <a:latin typeface="Consolas" panose="020B0609020204030204" pitchFamily="49" charset="0"/>
              </a:rPr>
              <a:t>.LC0</a:t>
            </a:r>
            <a:endParaRPr lang="en-US" sz="1300" b="0" dirty="0">
              <a:solidFill>
                <a:srgbClr val="000000"/>
              </a:solidFill>
              <a:effectLst/>
              <a:latin typeface="Consolas" panose="020B0609020204030204" pitchFamily="49" charset="0"/>
            </a:endParaRPr>
          </a:p>
          <a:p>
            <a:pPr>
              <a:buNone/>
            </a:pPr>
            <a:r>
              <a:rPr lang="en-US" sz="1300" b="0" dirty="0">
                <a:solidFill>
                  <a:srgbClr val="000000"/>
                </a:solidFill>
                <a:effectLst/>
                <a:latin typeface="Consolas" panose="020B0609020204030204" pitchFamily="49" charset="0"/>
              </a:rPr>
              <a:t>        </a:t>
            </a:r>
            <a:r>
              <a:rPr lang="en-US" sz="1300" b="0" dirty="0" err="1">
                <a:solidFill>
                  <a:srgbClr val="0000FF"/>
                </a:solidFill>
                <a:effectLst/>
                <a:highlight>
                  <a:srgbClr val="FFFF00"/>
                </a:highlight>
                <a:latin typeface="Consolas" panose="020B0609020204030204" pitchFamily="49" charset="0"/>
              </a:rPr>
              <a:t>bt</a:t>
            </a:r>
            <a:r>
              <a:rPr lang="en-US" sz="1300" b="0" dirty="0">
                <a:solidFill>
                  <a:srgbClr val="000000"/>
                </a:solidFill>
                <a:effectLst/>
                <a:highlight>
                  <a:srgbClr val="FFFF00"/>
                </a:highlight>
                <a:latin typeface="Consolas" panose="020B0609020204030204" pitchFamily="49" charset="0"/>
              </a:rPr>
              <a:t>      </a:t>
            </a:r>
            <a:r>
              <a:rPr lang="en-US" sz="1300" b="0" dirty="0" err="1">
                <a:solidFill>
                  <a:srgbClr val="4864AA"/>
                </a:solidFill>
                <a:effectLst/>
                <a:highlight>
                  <a:srgbClr val="FFFF00"/>
                </a:highlight>
                <a:latin typeface="Consolas" panose="020B0609020204030204" pitchFamily="49" charset="0"/>
              </a:rPr>
              <a:t>rdx</a:t>
            </a:r>
            <a:r>
              <a:rPr lang="en-US" sz="1300" b="0" dirty="0">
                <a:solidFill>
                  <a:srgbClr val="000000"/>
                </a:solidFill>
                <a:effectLst/>
                <a:highlight>
                  <a:srgbClr val="FFFF00"/>
                </a:highlight>
                <a:latin typeface="Consolas" panose="020B0609020204030204" pitchFamily="49" charset="0"/>
              </a:rPr>
              <a:t>, </a:t>
            </a:r>
            <a:r>
              <a:rPr lang="en-US" sz="1300" b="0" dirty="0" err="1">
                <a:solidFill>
                  <a:srgbClr val="4864AA"/>
                </a:solidFill>
                <a:effectLst/>
                <a:highlight>
                  <a:srgbClr val="FFFF00"/>
                </a:highlight>
                <a:latin typeface="Consolas" panose="020B0609020204030204" pitchFamily="49" charset="0"/>
              </a:rPr>
              <a:t>rax</a:t>
            </a:r>
            <a:endParaRPr lang="en-US" sz="1300" b="0" dirty="0">
              <a:solidFill>
                <a:srgbClr val="000000"/>
              </a:solidFill>
              <a:effectLst/>
              <a:highlight>
                <a:srgbClr val="FFFF00"/>
              </a:highlight>
              <a:latin typeface="Consolas" panose="020B0609020204030204" pitchFamily="49" charset="0"/>
            </a:endParaRPr>
          </a:p>
          <a:p>
            <a:pPr>
              <a:buNone/>
            </a:pPr>
            <a:r>
              <a:rPr lang="en-US" sz="1300" b="0" dirty="0">
                <a:solidFill>
                  <a:srgbClr val="000000"/>
                </a:solidFill>
                <a:effectLst/>
                <a:latin typeface="Consolas" panose="020B0609020204030204" pitchFamily="49" charset="0"/>
              </a:rPr>
              <a:t>        </a:t>
            </a:r>
            <a:r>
              <a:rPr lang="en-US" sz="1300" b="0" dirty="0" err="1">
                <a:solidFill>
                  <a:srgbClr val="0000FF"/>
                </a:solidFill>
                <a:effectLst/>
                <a:highlight>
                  <a:srgbClr val="FFFF00"/>
                </a:highlight>
                <a:latin typeface="Consolas" panose="020B0609020204030204" pitchFamily="49" charset="0"/>
              </a:rPr>
              <a:t>jc</a:t>
            </a:r>
            <a:r>
              <a:rPr lang="en-US" sz="1300" b="0" dirty="0">
                <a:solidFill>
                  <a:srgbClr val="000000"/>
                </a:solidFill>
                <a:effectLst/>
                <a:highlight>
                  <a:srgbClr val="FFFF00"/>
                </a:highlight>
                <a:latin typeface="Consolas" panose="020B0609020204030204" pitchFamily="49" charset="0"/>
              </a:rPr>
              <a:t>      </a:t>
            </a:r>
            <a:r>
              <a:rPr lang="en-US" sz="1300" b="0" dirty="0">
                <a:solidFill>
                  <a:srgbClr val="008080"/>
                </a:solidFill>
                <a:effectLst/>
                <a:highlight>
                  <a:srgbClr val="FFFF00"/>
                </a:highlight>
                <a:latin typeface="Consolas" panose="020B0609020204030204" pitchFamily="49" charset="0"/>
              </a:rPr>
              <a:t>.L11</a:t>
            </a:r>
            <a:endParaRPr lang="en-US" sz="1300" b="0" dirty="0">
              <a:solidFill>
                <a:srgbClr val="000000"/>
              </a:solidFill>
              <a:effectLst/>
              <a:highlight>
                <a:srgbClr val="FFFF00"/>
              </a:highlight>
              <a:latin typeface="Consolas" panose="020B0609020204030204" pitchFamily="49" charset="0"/>
            </a:endParaRPr>
          </a:p>
          <a:p>
            <a:pPr>
              <a:buNone/>
            </a:pPr>
            <a:r>
              <a:rPr lang="en-US" sz="1300" b="0" dirty="0">
                <a:solidFill>
                  <a:srgbClr val="0000FF"/>
                </a:solidFill>
                <a:effectLst/>
                <a:latin typeface="Consolas" panose="020B0609020204030204" pitchFamily="49" charset="0"/>
              </a:rPr>
              <a:t>.L3</a:t>
            </a:r>
            <a:r>
              <a:rPr lang="en-US" sz="1300" b="0" dirty="0">
                <a:solidFill>
                  <a:srgbClr val="000000"/>
                </a:solidFill>
                <a:effectLst/>
                <a:latin typeface="Consolas" panose="020B0609020204030204" pitchFamily="49" charset="0"/>
              </a:rPr>
              <a:t>:</a:t>
            </a:r>
          </a:p>
          <a:p>
            <a:pPr>
              <a:buNone/>
            </a:pPr>
            <a:r>
              <a:rPr lang="en-US" sz="1300" b="0" dirty="0">
                <a:solidFill>
                  <a:srgbClr val="000000"/>
                </a:solidFill>
                <a:effectLst/>
                <a:latin typeface="Consolas" panose="020B0609020204030204" pitchFamily="49" charset="0"/>
              </a:rPr>
              <a:t>        </a:t>
            </a:r>
            <a:r>
              <a:rPr lang="en-US" sz="1300" b="0" dirty="0">
                <a:solidFill>
                  <a:srgbClr val="0000FF"/>
                </a:solidFill>
                <a:effectLst/>
                <a:latin typeface="Consolas" panose="020B0609020204030204" pitchFamily="49" charset="0"/>
              </a:rPr>
              <a:t>mov</a:t>
            </a:r>
            <a:r>
              <a:rPr lang="en-US" sz="1300" b="0" dirty="0">
                <a:solidFill>
                  <a:srgbClr val="000000"/>
                </a:solidFill>
                <a:effectLst/>
                <a:latin typeface="Consolas" panose="020B0609020204030204" pitchFamily="49" charset="0"/>
              </a:rPr>
              <a:t>     </a:t>
            </a:r>
            <a:r>
              <a:rPr lang="en-US" sz="1300" b="0" dirty="0" err="1">
                <a:solidFill>
                  <a:srgbClr val="4864AA"/>
                </a:solidFill>
                <a:effectLst/>
                <a:latin typeface="Consolas" panose="020B0609020204030204" pitchFamily="49" charset="0"/>
              </a:rPr>
              <a:t>edi</a:t>
            </a:r>
            <a:r>
              <a:rPr lang="en-US" sz="1300" b="0" dirty="0">
                <a:solidFill>
                  <a:srgbClr val="000000"/>
                </a:solidFill>
                <a:effectLst/>
                <a:latin typeface="Consolas" panose="020B0609020204030204" pitchFamily="49" charset="0"/>
              </a:rPr>
              <a:t>, </a:t>
            </a:r>
            <a:r>
              <a:rPr lang="en-US" sz="1300" b="0" dirty="0">
                <a:solidFill>
                  <a:srgbClr val="008080"/>
                </a:solidFill>
                <a:effectLst/>
                <a:latin typeface="Consolas" panose="020B0609020204030204" pitchFamily="49" charset="0"/>
              </a:rPr>
              <a:t>OFFSET</a:t>
            </a:r>
            <a:r>
              <a:rPr lang="en-US" sz="1300" b="0" dirty="0">
                <a:solidFill>
                  <a:srgbClr val="000000"/>
                </a:solidFill>
                <a:effectLst/>
                <a:latin typeface="Consolas" panose="020B0609020204030204" pitchFamily="49" charset="0"/>
              </a:rPr>
              <a:t> </a:t>
            </a:r>
            <a:r>
              <a:rPr lang="en-US" sz="1300" b="0" dirty="0">
                <a:solidFill>
                  <a:srgbClr val="008080"/>
                </a:solidFill>
                <a:effectLst/>
                <a:latin typeface="Consolas" panose="020B0609020204030204" pitchFamily="49" charset="0"/>
              </a:rPr>
              <a:t>FLAT</a:t>
            </a:r>
            <a:r>
              <a:rPr lang="en-US" sz="1300" b="0" dirty="0">
                <a:solidFill>
                  <a:srgbClr val="000000"/>
                </a:solidFill>
                <a:effectLst/>
                <a:latin typeface="Consolas" panose="020B0609020204030204" pitchFamily="49" charset="0"/>
              </a:rPr>
              <a:t>:</a:t>
            </a:r>
            <a:r>
              <a:rPr lang="en-US" sz="1300" b="0" dirty="0">
                <a:solidFill>
                  <a:srgbClr val="008080"/>
                </a:solidFill>
                <a:effectLst/>
                <a:latin typeface="Consolas" panose="020B0609020204030204" pitchFamily="49" charset="0"/>
              </a:rPr>
              <a:t>.LC1</a:t>
            </a:r>
            <a:endParaRPr lang="en-US" sz="1300" b="0" dirty="0">
              <a:solidFill>
                <a:srgbClr val="000000"/>
              </a:solidFill>
              <a:effectLst/>
              <a:latin typeface="Consolas" panose="020B0609020204030204" pitchFamily="49" charset="0"/>
            </a:endParaRPr>
          </a:p>
          <a:p>
            <a:pPr>
              <a:buNone/>
            </a:pPr>
            <a:r>
              <a:rPr lang="en-US" sz="1300" b="0" dirty="0">
                <a:solidFill>
                  <a:srgbClr val="0000FF"/>
                </a:solidFill>
                <a:effectLst/>
                <a:latin typeface="Consolas" panose="020B0609020204030204" pitchFamily="49" charset="0"/>
              </a:rPr>
              <a:t>.L11</a:t>
            </a:r>
            <a:r>
              <a:rPr lang="en-US" sz="1300" b="0" dirty="0">
                <a:solidFill>
                  <a:srgbClr val="000000"/>
                </a:solidFill>
                <a:effectLst/>
                <a:latin typeface="Consolas" panose="020B0609020204030204" pitchFamily="49" charset="0"/>
              </a:rPr>
              <a:t>:</a:t>
            </a:r>
          </a:p>
          <a:p>
            <a:pPr>
              <a:buNone/>
            </a:pPr>
            <a:r>
              <a:rPr lang="en-US" sz="1300" b="0" dirty="0">
                <a:solidFill>
                  <a:srgbClr val="000000"/>
                </a:solidFill>
                <a:effectLst/>
                <a:latin typeface="Consolas" panose="020B0609020204030204" pitchFamily="49" charset="0"/>
              </a:rPr>
              <a:t>        </a:t>
            </a:r>
            <a:r>
              <a:rPr lang="en-US" sz="1300" b="0" dirty="0">
                <a:solidFill>
                  <a:srgbClr val="0000FF"/>
                </a:solidFill>
                <a:effectLst/>
                <a:latin typeface="Consolas" panose="020B0609020204030204" pitchFamily="49" charset="0"/>
              </a:rPr>
              <a:t>call</a:t>
            </a:r>
            <a:r>
              <a:rPr lang="en-US" sz="1300" b="0" dirty="0">
                <a:solidFill>
                  <a:srgbClr val="000000"/>
                </a:solidFill>
                <a:effectLst/>
                <a:latin typeface="Consolas" panose="020B0609020204030204" pitchFamily="49" charset="0"/>
              </a:rPr>
              <a:t>    </a:t>
            </a:r>
            <a:r>
              <a:rPr lang="en-US" sz="1300" b="0" dirty="0">
                <a:solidFill>
                  <a:srgbClr val="008080"/>
                </a:solidFill>
                <a:effectLst/>
                <a:latin typeface="Consolas" panose="020B0609020204030204" pitchFamily="49" charset="0"/>
              </a:rPr>
              <a:t>puts</a:t>
            </a:r>
            <a:endParaRPr lang="en-US" sz="1300" b="0" dirty="0">
              <a:solidFill>
                <a:srgbClr val="000000"/>
              </a:solidFill>
              <a:effectLst/>
              <a:latin typeface="Consolas" panose="020B0609020204030204" pitchFamily="49" charset="0"/>
            </a:endParaRPr>
          </a:p>
          <a:p>
            <a:pPr>
              <a:buNone/>
            </a:pPr>
            <a:r>
              <a:rPr lang="en-US" sz="1300" b="0" dirty="0">
                <a:solidFill>
                  <a:srgbClr val="0000FF"/>
                </a:solidFill>
                <a:effectLst/>
                <a:latin typeface="Consolas" panose="020B0609020204030204" pitchFamily="49" charset="0"/>
              </a:rPr>
              <a:t>.L2</a:t>
            </a:r>
            <a:r>
              <a:rPr lang="en-US" sz="1300" b="0" dirty="0">
                <a:solidFill>
                  <a:srgbClr val="000000"/>
                </a:solidFill>
                <a:effectLst/>
                <a:latin typeface="Consolas" panose="020B0609020204030204" pitchFamily="49" charset="0"/>
              </a:rPr>
              <a:t>:</a:t>
            </a:r>
          </a:p>
          <a:p>
            <a:pPr>
              <a:buNone/>
            </a:pPr>
            <a:r>
              <a:rPr lang="en-US" sz="1300" b="0" dirty="0">
                <a:solidFill>
                  <a:srgbClr val="000000"/>
                </a:solidFill>
                <a:effectLst/>
                <a:latin typeface="Consolas" panose="020B0609020204030204" pitchFamily="49" charset="0"/>
              </a:rPr>
              <a:t>        </a:t>
            </a:r>
            <a:r>
              <a:rPr lang="en-US" sz="1300" b="0" dirty="0" err="1">
                <a:solidFill>
                  <a:srgbClr val="0000FF"/>
                </a:solidFill>
                <a:effectLst/>
                <a:latin typeface="Consolas" panose="020B0609020204030204" pitchFamily="49" charset="0"/>
              </a:rPr>
              <a:t>xor</a:t>
            </a:r>
            <a:r>
              <a:rPr lang="en-US" sz="1300" b="0" dirty="0">
                <a:solidFill>
                  <a:srgbClr val="000000"/>
                </a:solidFill>
                <a:effectLst/>
                <a:latin typeface="Consolas" panose="020B0609020204030204" pitchFamily="49" charset="0"/>
              </a:rPr>
              <a:t>     </a:t>
            </a:r>
            <a:r>
              <a:rPr lang="en-US" sz="1300" b="0" dirty="0" err="1">
                <a:solidFill>
                  <a:srgbClr val="4864AA"/>
                </a:solidFill>
                <a:effectLst/>
                <a:latin typeface="Consolas" panose="020B0609020204030204" pitchFamily="49" charset="0"/>
              </a:rPr>
              <a:t>eax</a:t>
            </a:r>
            <a:r>
              <a:rPr lang="en-US" sz="1300" b="0" dirty="0">
                <a:solidFill>
                  <a:srgbClr val="000000"/>
                </a:solidFill>
                <a:effectLst/>
                <a:latin typeface="Consolas" panose="020B0609020204030204" pitchFamily="49" charset="0"/>
              </a:rPr>
              <a:t>, </a:t>
            </a:r>
            <a:r>
              <a:rPr lang="en-US" sz="1300" b="0" dirty="0" err="1">
                <a:solidFill>
                  <a:srgbClr val="4864AA"/>
                </a:solidFill>
                <a:effectLst/>
                <a:latin typeface="Consolas" panose="020B0609020204030204" pitchFamily="49" charset="0"/>
              </a:rPr>
              <a:t>eax</a:t>
            </a:r>
            <a:endParaRPr lang="en-US" sz="1300" b="0" dirty="0">
              <a:solidFill>
                <a:srgbClr val="000000"/>
              </a:solidFill>
              <a:effectLst/>
              <a:latin typeface="Consolas" panose="020B0609020204030204" pitchFamily="49" charset="0"/>
            </a:endParaRPr>
          </a:p>
          <a:p>
            <a:pPr>
              <a:buNone/>
            </a:pPr>
            <a:r>
              <a:rPr lang="en-US" sz="1300" b="0" dirty="0">
                <a:solidFill>
                  <a:srgbClr val="000000"/>
                </a:solidFill>
                <a:effectLst/>
                <a:latin typeface="Consolas" panose="020B0609020204030204" pitchFamily="49" charset="0"/>
              </a:rPr>
              <a:t>        </a:t>
            </a:r>
            <a:r>
              <a:rPr lang="en-US" sz="1300" b="0" dirty="0">
                <a:solidFill>
                  <a:srgbClr val="0000FF"/>
                </a:solidFill>
                <a:effectLst/>
                <a:latin typeface="Consolas" panose="020B0609020204030204" pitchFamily="49" charset="0"/>
              </a:rPr>
              <a:t>pop</a:t>
            </a:r>
            <a:r>
              <a:rPr lang="en-US" sz="1300" b="0" dirty="0">
                <a:solidFill>
                  <a:srgbClr val="000000"/>
                </a:solidFill>
                <a:effectLst/>
                <a:latin typeface="Consolas" panose="020B0609020204030204" pitchFamily="49" charset="0"/>
              </a:rPr>
              <a:t>     </a:t>
            </a:r>
            <a:r>
              <a:rPr lang="en-US" sz="1300" b="0" dirty="0" err="1">
                <a:solidFill>
                  <a:srgbClr val="4864AA"/>
                </a:solidFill>
                <a:effectLst/>
                <a:latin typeface="Consolas" panose="020B0609020204030204" pitchFamily="49" charset="0"/>
              </a:rPr>
              <a:t>rdx</a:t>
            </a:r>
            <a:endParaRPr lang="en-US" sz="1300" b="0" dirty="0">
              <a:solidFill>
                <a:srgbClr val="000000"/>
              </a:solidFill>
              <a:effectLst/>
              <a:latin typeface="Consolas" panose="020B0609020204030204" pitchFamily="49" charset="0"/>
            </a:endParaRPr>
          </a:p>
          <a:p>
            <a:pPr>
              <a:buNone/>
            </a:pPr>
            <a:r>
              <a:rPr lang="en-US" sz="1300" b="0" dirty="0">
                <a:solidFill>
                  <a:srgbClr val="000000"/>
                </a:solidFill>
                <a:effectLst/>
                <a:latin typeface="Consolas" panose="020B0609020204030204" pitchFamily="49" charset="0"/>
              </a:rPr>
              <a:t>        </a:t>
            </a:r>
            <a:r>
              <a:rPr lang="en-US" sz="1300" b="0" dirty="0">
                <a:solidFill>
                  <a:srgbClr val="0000FF"/>
                </a:solidFill>
                <a:effectLst/>
                <a:latin typeface="Consolas" panose="020B0609020204030204" pitchFamily="49" charset="0"/>
              </a:rPr>
              <a:t>ret</a:t>
            </a:r>
            <a:endParaRPr lang="en-US" sz="1300" b="0" dirty="0">
              <a:solidFill>
                <a:srgbClr val="000000"/>
              </a:solidFill>
              <a:effectLst/>
              <a:latin typeface="Consolas" panose="020B0609020204030204" pitchFamily="49" charset="0"/>
            </a:endParaRPr>
          </a:p>
        </p:txBody>
      </p:sp>
      <p:sp>
        <p:nvSpPr>
          <p:cNvPr id="12" name="TextBox 11">
            <a:extLst>
              <a:ext uri="{FF2B5EF4-FFF2-40B4-BE49-F238E27FC236}">
                <a16:creationId xmlns:a16="http://schemas.microsoft.com/office/drawing/2014/main" id="{36981C8D-8EBB-FC10-6AE9-6752A9BF4FFB}"/>
              </a:ext>
            </a:extLst>
          </p:cNvPr>
          <p:cNvSpPr txBox="1"/>
          <p:nvPr/>
        </p:nvSpPr>
        <p:spPr>
          <a:xfrm>
            <a:off x="8610600" y="180459"/>
            <a:ext cx="3467100" cy="369332"/>
          </a:xfrm>
          <a:prstGeom prst="rect">
            <a:avLst/>
          </a:prstGeom>
          <a:noFill/>
        </p:spPr>
        <p:txBody>
          <a:bodyPr wrap="square">
            <a:spAutoFit/>
          </a:bodyPr>
          <a:lstStyle/>
          <a:p>
            <a:r>
              <a:rPr lang="en-US" dirty="0">
                <a:hlinkClick r:id="rId3"/>
              </a:rPr>
              <a:t>https://godbolt.org/z/e5qchddzb</a:t>
            </a:r>
            <a:endParaRPr lang="en-US" dirty="0"/>
          </a:p>
        </p:txBody>
      </p:sp>
      <p:pic>
        <p:nvPicPr>
          <p:cNvPr id="14" name="Picture 13">
            <a:extLst>
              <a:ext uri="{FF2B5EF4-FFF2-40B4-BE49-F238E27FC236}">
                <a16:creationId xmlns:a16="http://schemas.microsoft.com/office/drawing/2014/main" id="{41A0A393-B61B-ED7A-01B7-CC74CF0F411F}"/>
              </a:ext>
            </a:extLst>
          </p:cNvPr>
          <p:cNvPicPr>
            <a:picLocks noChangeAspect="1"/>
          </p:cNvPicPr>
          <p:nvPr/>
        </p:nvPicPr>
        <p:blipFill>
          <a:blip r:embed="rId4"/>
          <a:stretch>
            <a:fillRect/>
          </a:stretch>
        </p:blipFill>
        <p:spPr>
          <a:xfrm>
            <a:off x="10096500" y="742575"/>
            <a:ext cx="1905000" cy="1898269"/>
          </a:xfrm>
          <a:prstGeom prst="rect">
            <a:avLst/>
          </a:prstGeom>
        </p:spPr>
      </p:pic>
      <p:sp>
        <p:nvSpPr>
          <p:cNvPr id="16" name="Freeform: Shape 15">
            <a:extLst>
              <a:ext uri="{FF2B5EF4-FFF2-40B4-BE49-F238E27FC236}">
                <a16:creationId xmlns:a16="http://schemas.microsoft.com/office/drawing/2014/main" id="{002C3353-19C8-2C39-40E5-C5984F93C228}"/>
              </a:ext>
            </a:extLst>
          </p:cNvPr>
          <p:cNvSpPr/>
          <p:nvPr/>
        </p:nvSpPr>
        <p:spPr>
          <a:xfrm>
            <a:off x="8267700" y="3416300"/>
            <a:ext cx="3761308" cy="2806745"/>
          </a:xfrm>
          <a:custGeom>
            <a:avLst/>
            <a:gdLst>
              <a:gd name="csX0" fmla="*/ 0 w 3761308"/>
              <a:gd name="csY0" fmla="*/ 0 h 2806745"/>
              <a:gd name="csX1" fmla="*/ 2590800 w 3761308"/>
              <a:gd name="csY1" fmla="*/ 88900 h 2806745"/>
              <a:gd name="csX2" fmla="*/ 3492500 w 3761308"/>
              <a:gd name="csY2" fmla="*/ 444500 h 2806745"/>
              <a:gd name="csX3" fmla="*/ 3746500 w 3761308"/>
              <a:gd name="csY3" fmla="*/ 1473200 h 2806745"/>
              <a:gd name="csX4" fmla="*/ 3543300 w 3761308"/>
              <a:gd name="csY4" fmla="*/ 2514600 h 2806745"/>
              <a:gd name="csX5" fmla="*/ 2032000 w 3761308"/>
              <a:gd name="csY5" fmla="*/ 2806700 h 2806745"/>
            </a:gdLst>
            <a:ahLst/>
            <a:cxnLst>
              <a:cxn ang="0">
                <a:pos x="csX0" y="csY0"/>
              </a:cxn>
              <a:cxn ang="0">
                <a:pos x="csX1" y="csY1"/>
              </a:cxn>
              <a:cxn ang="0">
                <a:pos x="csX2" y="csY2"/>
              </a:cxn>
              <a:cxn ang="0">
                <a:pos x="csX3" y="csY3"/>
              </a:cxn>
              <a:cxn ang="0">
                <a:pos x="csX4" y="csY4"/>
              </a:cxn>
              <a:cxn ang="0">
                <a:pos x="csX5" y="csY5"/>
              </a:cxn>
            </a:cxnLst>
            <a:rect l="l" t="t" r="r" b="b"/>
            <a:pathLst>
              <a:path w="3761308" h="2806745">
                <a:moveTo>
                  <a:pt x="0" y="0"/>
                </a:moveTo>
                <a:cubicBezTo>
                  <a:pt x="1004358" y="7408"/>
                  <a:pt x="2008717" y="14817"/>
                  <a:pt x="2590800" y="88900"/>
                </a:cubicBezTo>
                <a:cubicBezTo>
                  <a:pt x="3172883" y="162983"/>
                  <a:pt x="3299883" y="213783"/>
                  <a:pt x="3492500" y="444500"/>
                </a:cubicBezTo>
                <a:cubicBezTo>
                  <a:pt x="3685117" y="675217"/>
                  <a:pt x="3738033" y="1128183"/>
                  <a:pt x="3746500" y="1473200"/>
                </a:cubicBezTo>
                <a:cubicBezTo>
                  <a:pt x="3754967" y="1818217"/>
                  <a:pt x="3829050" y="2292350"/>
                  <a:pt x="3543300" y="2514600"/>
                </a:cubicBezTo>
                <a:cubicBezTo>
                  <a:pt x="3257550" y="2736850"/>
                  <a:pt x="2277533" y="2808817"/>
                  <a:pt x="2032000" y="2806700"/>
                </a:cubicBezTo>
              </a:path>
            </a:pathLst>
          </a:custGeom>
          <a:noFill/>
          <a:ln>
            <a:prstDash val="dash"/>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C1633E9-0F77-33E4-998B-9E537D8BE4C8}"/>
              </a:ext>
            </a:extLst>
          </p:cNvPr>
          <p:cNvSpPr/>
          <p:nvPr/>
        </p:nvSpPr>
        <p:spPr>
          <a:xfrm>
            <a:off x="8026400" y="3973138"/>
            <a:ext cx="3859093" cy="1271962"/>
          </a:xfrm>
          <a:custGeom>
            <a:avLst/>
            <a:gdLst>
              <a:gd name="csX0" fmla="*/ 0 w 3859093"/>
              <a:gd name="csY0" fmla="*/ 52762 h 1271962"/>
              <a:gd name="csX1" fmla="*/ 3048000 w 3859093"/>
              <a:gd name="csY1" fmla="*/ 14662 h 1271962"/>
              <a:gd name="csX2" fmla="*/ 3733800 w 3859093"/>
              <a:gd name="csY2" fmla="*/ 268662 h 1271962"/>
              <a:gd name="csX3" fmla="*/ 3771900 w 3859093"/>
              <a:gd name="csY3" fmla="*/ 852862 h 1271962"/>
              <a:gd name="csX4" fmla="*/ 2819400 w 3859093"/>
              <a:gd name="csY4" fmla="*/ 1271962 h 1271962"/>
            </a:gdLst>
            <a:ahLst/>
            <a:cxnLst>
              <a:cxn ang="0">
                <a:pos x="csX0" y="csY0"/>
              </a:cxn>
              <a:cxn ang="0">
                <a:pos x="csX1" y="csY1"/>
              </a:cxn>
              <a:cxn ang="0">
                <a:pos x="csX2" y="csY2"/>
              </a:cxn>
              <a:cxn ang="0">
                <a:pos x="csX3" y="csY3"/>
              </a:cxn>
              <a:cxn ang="0">
                <a:pos x="csX4" y="csY4"/>
              </a:cxn>
            </a:cxnLst>
            <a:rect l="l" t="t" r="r" b="b"/>
            <a:pathLst>
              <a:path w="3859093" h="1271962">
                <a:moveTo>
                  <a:pt x="0" y="52762"/>
                </a:moveTo>
                <a:cubicBezTo>
                  <a:pt x="1212850" y="15720"/>
                  <a:pt x="2425700" y="-21321"/>
                  <a:pt x="3048000" y="14662"/>
                </a:cubicBezTo>
                <a:cubicBezTo>
                  <a:pt x="3670300" y="50645"/>
                  <a:pt x="3613150" y="128962"/>
                  <a:pt x="3733800" y="268662"/>
                </a:cubicBezTo>
                <a:cubicBezTo>
                  <a:pt x="3854450" y="408362"/>
                  <a:pt x="3924300" y="685645"/>
                  <a:pt x="3771900" y="852862"/>
                </a:cubicBezTo>
                <a:cubicBezTo>
                  <a:pt x="3619500" y="1020079"/>
                  <a:pt x="3219450" y="1146020"/>
                  <a:pt x="2819400" y="1271962"/>
                </a:cubicBezTo>
              </a:path>
            </a:pathLst>
          </a:custGeom>
          <a:noFill/>
          <a:ln>
            <a:prstDash val="dash"/>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178570D1-C14A-BAB6-0CDC-FFB7960C3B15}"/>
              </a:ext>
            </a:extLst>
          </p:cNvPr>
          <p:cNvSpPr/>
          <p:nvPr/>
        </p:nvSpPr>
        <p:spPr>
          <a:xfrm>
            <a:off x="8267700" y="5016500"/>
            <a:ext cx="1911028" cy="825500"/>
          </a:xfrm>
          <a:custGeom>
            <a:avLst/>
            <a:gdLst>
              <a:gd name="csX0" fmla="*/ 0 w 1911028"/>
              <a:gd name="csY0" fmla="*/ 0 h 825500"/>
              <a:gd name="csX1" fmla="*/ 1549400 w 1911028"/>
              <a:gd name="csY1" fmla="*/ 177800 h 825500"/>
              <a:gd name="csX2" fmla="*/ 1828800 w 1911028"/>
              <a:gd name="csY2" fmla="*/ 571500 h 825500"/>
              <a:gd name="csX3" fmla="*/ 393700 w 1911028"/>
              <a:gd name="csY3" fmla="*/ 825500 h 825500"/>
            </a:gdLst>
            <a:ahLst/>
            <a:cxnLst>
              <a:cxn ang="0">
                <a:pos x="csX0" y="csY0"/>
              </a:cxn>
              <a:cxn ang="0">
                <a:pos x="csX1" y="csY1"/>
              </a:cxn>
              <a:cxn ang="0">
                <a:pos x="csX2" y="csY2"/>
              </a:cxn>
              <a:cxn ang="0">
                <a:pos x="csX3" y="csY3"/>
              </a:cxn>
            </a:cxnLst>
            <a:rect l="l" t="t" r="r" b="b"/>
            <a:pathLst>
              <a:path w="1911028" h="825500">
                <a:moveTo>
                  <a:pt x="0" y="0"/>
                </a:moveTo>
                <a:cubicBezTo>
                  <a:pt x="622300" y="41275"/>
                  <a:pt x="1244600" y="82550"/>
                  <a:pt x="1549400" y="177800"/>
                </a:cubicBezTo>
                <a:cubicBezTo>
                  <a:pt x="1854200" y="273050"/>
                  <a:pt x="2021417" y="463550"/>
                  <a:pt x="1828800" y="571500"/>
                </a:cubicBezTo>
                <a:cubicBezTo>
                  <a:pt x="1636183" y="679450"/>
                  <a:pt x="1014941" y="752475"/>
                  <a:pt x="393700" y="825500"/>
                </a:cubicBezTo>
              </a:path>
            </a:pathLst>
          </a:custGeom>
          <a:noFill/>
          <a:ln>
            <a:prstDash val="dash"/>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75092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58739-9276-5420-4C30-F17969AA6B0A}"/>
              </a:ext>
            </a:extLst>
          </p:cNvPr>
          <p:cNvSpPr>
            <a:spLocks noGrp="1"/>
          </p:cNvSpPr>
          <p:nvPr>
            <p:ph type="title"/>
          </p:nvPr>
        </p:nvSpPr>
        <p:spPr/>
        <p:txBody>
          <a:bodyPr/>
          <a:lstStyle/>
          <a:p>
            <a:r>
              <a:rPr lang="ru-RU" dirty="0"/>
              <a:t>Итоги по </a:t>
            </a:r>
            <a:r>
              <a:rPr lang="en-US" dirty="0"/>
              <a:t>switch</a:t>
            </a:r>
          </a:p>
        </p:txBody>
      </p:sp>
      <p:sp>
        <p:nvSpPr>
          <p:cNvPr id="3" name="Content Placeholder 2">
            <a:extLst>
              <a:ext uri="{FF2B5EF4-FFF2-40B4-BE49-F238E27FC236}">
                <a16:creationId xmlns:a16="http://schemas.microsoft.com/office/drawing/2014/main" id="{A31442C2-5D5C-A466-61CF-111BC2B564FF}"/>
              </a:ext>
            </a:extLst>
          </p:cNvPr>
          <p:cNvSpPr>
            <a:spLocks noGrp="1"/>
          </p:cNvSpPr>
          <p:nvPr>
            <p:ph idx="1"/>
          </p:nvPr>
        </p:nvSpPr>
        <p:spPr/>
        <p:txBody>
          <a:bodyPr/>
          <a:lstStyle/>
          <a:p>
            <a:r>
              <a:rPr lang="ru-RU" b="1" dirty="0" err="1"/>
              <a:t>switch</a:t>
            </a:r>
            <a:r>
              <a:rPr lang="ru-RU" dirty="0"/>
              <a:t>:</a:t>
            </a:r>
          </a:p>
          <a:p>
            <a:pPr lvl="1"/>
            <a:r>
              <a:rPr lang="ru-RU" dirty="0"/>
              <a:t>выбирает ветку по значению выражения</a:t>
            </a:r>
          </a:p>
          <a:p>
            <a:pPr lvl="1"/>
            <a:r>
              <a:rPr lang="ru-RU" dirty="0"/>
              <a:t>работает с целочисленными типами</a:t>
            </a:r>
          </a:p>
          <a:p>
            <a:pPr lvl="1"/>
            <a:r>
              <a:rPr lang="ru-RU" dirty="0"/>
              <a:t>использует </a:t>
            </a:r>
            <a:r>
              <a:rPr lang="ru-RU" dirty="0" err="1"/>
              <a:t>case</a:t>
            </a:r>
            <a:r>
              <a:rPr lang="ru-RU" dirty="0"/>
              <a:t> и </a:t>
            </a:r>
            <a:r>
              <a:rPr lang="ru-RU" dirty="0" err="1"/>
              <a:t>default</a:t>
            </a:r>
            <a:endParaRPr lang="ru-RU" dirty="0"/>
          </a:p>
          <a:p>
            <a:pPr lvl="1"/>
            <a:r>
              <a:rPr lang="ru-RU" dirty="0"/>
              <a:t>требует </a:t>
            </a:r>
            <a:r>
              <a:rPr lang="ru-RU" dirty="0" err="1"/>
              <a:t>break</a:t>
            </a:r>
            <a:r>
              <a:rPr lang="ru-RU" dirty="0"/>
              <a:t> для завершения ветки</a:t>
            </a:r>
          </a:p>
          <a:p>
            <a:pPr lvl="1"/>
            <a:r>
              <a:rPr lang="ru-RU" dirty="0"/>
              <a:t>поддерживает </a:t>
            </a:r>
            <a:r>
              <a:rPr lang="ru-RU" dirty="0" err="1"/>
              <a:t>fallthrough</a:t>
            </a:r>
            <a:endParaRPr lang="ru-RU" dirty="0"/>
          </a:p>
          <a:p>
            <a:r>
              <a:rPr lang="ru-RU" dirty="0"/>
              <a:t>Подходит для реализации меню и дискретных состояний.</a:t>
            </a:r>
          </a:p>
          <a:p>
            <a:endParaRPr lang="en-US" dirty="0"/>
          </a:p>
        </p:txBody>
      </p:sp>
    </p:spTree>
    <p:extLst>
      <p:ext uri="{BB962C8B-B14F-4D97-AF65-F5344CB8AC3E}">
        <p14:creationId xmlns:p14="http://schemas.microsoft.com/office/powerpoint/2010/main" val="13327622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2B4934-4D16-DCCA-2D48-DCF12946E5E9}"/>
              </a:ext>
            </a:extLst>
          </p:cNvPr>
          <p:cNvSpPr>
            <a:spLocks noGrp="1"/>
          </p:cNvSpPr>
          <p:nvPr>
            <p:ph type="title"/>
          </p:nvPr>
        </p:nvSpPr>
        <p:spPr/>
        <p:txBody>
          <a:bodyPr/>
          <a:lstStyle/>
          <a:p>
            <a:r>
              <a:rPr lang="ru-RU" dirty="0"/>
              <a:t>Цикл </a:t>
            </a:r>
            <a:r>
              <a:rPr lang="en-US" dirty="0"/>
              <a:t>while</a:t>
            </a:r>
          </a:p>
        </p:txBody>
      </p:sp>
      <p:sp>
        <p:nvSpPr>
          <p:cNvPr id="5" name="Text Placeholder 4">
            <a:extLst>
              <a:ext uri="{FF2B5EF4-FFF2-40B4-BE49-F238E27FC236}">
                <a16:creationId xmlns:a16="http://schemas.microsoft.com/office/drawing/2014/main" id="{492BB380-20B3-6191-2159-CF48C51DD23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144415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5690E5-6C36-DE5C-690C-9439019DFD16}"/>
              </a:ext>
            </a:extLst>
          </p:cNvPr>
          <p:cNvSpPr>
            <a:spLocks noGrp="1"/>
          </p:cNvSpPr>
          <p:nvPr>
            <p:ph type="title"/>
          </p:nvPr>
        </p:nvSpPr>
        <p:spPr/>
        <p:txBody>
          <a:bodyPr/>
          <a:lstStyle/>
          <a:p>
            <a:r>
              <a:rPr lang="ru-RU" dirty="0"/>
              <a:t>Цикл </a:t>
            </a:r>
            <a:r>
              <a:rPr lang="en-US" dirty="0"/>
              <a:t>while</a:t>
            </a:r>
          </a:p>
        </p:txBody>
      </p:sp>
      <p:sp>
        <p:nvSpPr>
          <p:cNvPr id="5" name="Content Placeholder 4">
            <a:extLst>
              <a:ext uri="{FF2B5EF4-FFF2-40B4-BE49-F238E27FC236}">
                <a16:creationId xmlns:a16="http://schemas.microsoft.com/office/drawing/2014/main" id="{B6F66857-398E-7FF3-32F8-CB99548029B2}"/>
              </a:ext>
            </a:extLst>
          </p:cNvPr>
          <p:cNvSpPr>
            <a:spLocks noGrp="1"/>
          </p:cNvSpPr>
          <p:nvPr>
            <p:ph idx="1"/>
          </p:nvPr>
        </p:nvSpPr>
        <p:spPr/>
        <p:txBody>
          <a:bodyPr>
            <a:normAutofit fontScale="92500" lnSpcReduction="10000"/>
          </a:bodyPr>
          <a:lstStyle/>
          <a:p>
            <a:r>
              <a:rPr lang="ru-RU" dirty="0"/>
              <a:t>Цикл </a:t>
            </a:r>
            <a:r>
              <a:rPr lang="ru-RU" dirty="0" err="1"/>
              <a:t>while</a:t>
            </a:r>
            <a:r>
              <a:rPr lang="ru-RU" dirty="0"/>
              <a:t> выполняет код, пока условие истинно.</a:t>
            </a:r>
          </a:p>
          <a:p>
            <a:pPr lvl="1">
              <a:buNone/>
            </a:pPr>
            <a:r>
              <a:rPr lang="en-US" b="0" dirty="0">
                <a:solidFill>
                  <a:srgbClr val="8F08C4"/>
                </a:solidFill>
                <a:effectLst/>
                <a:latin typeface="Consolas" panose="020B0609020204030204" pitchFamily="49" charset="0"/>
              </a:rPr>
              <a:t>while</a:t>
            </a:r>
            <a:r>
              <a:rPr lang="en-US" b="0" dirty="0">
                <a:solidFill>
                  <a:srgbClr val="000000"/>
                </a:solidFill>
                <a:effectLst/>
                <a:latin typeface="Consolas" panose="020B0609020204030204" pitchFamily="49" charset="0"/>
              </a:rPr>
              <a:t> (condition) {</a:t>
            </a:r>
          </a:p>
          <a:p>
            <a:pPr lvl="1">
              <a:buNone/>
            </a:pP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a:t>
            </a:r>
            <a:r>
              <a:rPr lang="ru-RU" b="0" dirty="0">
                <a:solidFill>
                  <a:srgbClr val="008000"/>
                </a:solidFill>
                <a:effectLst/>
                <a:latin typeface="Consolas" panose="020B0609020204030204" pitchFamily="49" charset="0"/>
              </a:rPr>
              <a:t>тело цикла</a:t>
            </a:r>
            <a:endParaRPr lang="ru-RU" b="0" dirty="0">
              <a:solidFill>
                <a:srgbClr val="000000"/>
              </a:solidFill>
              <a:effectLst/>
              <a:latin typeface="Consolas" panose="020B0609020204030204" pitchFamily="49" charset="0"/>
            </a:endParaRPr>
          </a:p>
          <a:p>
            <a:pPr lvl="1">
              <a:buNone/>
            </a:pPr>
            <a:r>
              <a:rPr lang="ru-RU" b="0" dirty="0">
                <a:solidFill>
                  <a:srgbClr val="000000"/>
                </a:solidFill>
                <a:effectLst/>
                <a:latin typeface="Consolas" panose="020B0609020204030204" pitchFamily="49" charset="0"/>
              </a:rPr>
              <a:t>}</a:t>
            </a:r>
          </a:p>
          <a:p>
            <a:pPr lvl="1"/>
            <a:r>
              <a:rPr lang="ru-RU" dirty="0"/>
              <a:t>условие проверяется перед каждой итерацией</a:t>
            </a:r>
          </a:p>
          <a:p>
            <a:pPr lvl="1"/>
            <a:r>
              <a:rPr lang="ru-RU" dirty="0"/>
              <a:t>если условие ложно с самого начала, тело не выполнится ни разу</a:t>
            </a:r>
          </a:p>
          <a:p>
            <a:r>
              <a:rPr lang="ru-RU" dirty="0"/>
              <a:t>Пример:</a:t>
            </a:r>
          </a:p>
          <a:p>
            <a:pPr lvl="1">
              <a:buNone/>
            </a:pP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pPr lvl="1">
              <a:buNone/>
            </a:pPr>
            <a:r>
              <a:rPr lang="en-US" b="0" dirty="0">
                <a:solidFill>
                  <a:srgbClr val="8F08C4"/>
                </a:solidFill>
                <a:effectLst/>
                <a:latin typeface="Consolas" panose="020B0609020204030204" pitchFamily="49" charset="0"/>
              </a:rPr>
              <a:t>while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 &lt; </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 {</a:t>
            </a:r>
          </a:p>
          <a:p>
            <a:pPr lvl="1">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en-US" b="0" dirty="0">
                <a:solidFill>
                  <a:srgbClr val="1F377F"/>
                </a:solidFill>
                <a:effectLst/>
                <a:latin typeface="Consolas" panose="020B0609020204030204" pitchFamily="49" charset="0"/>
              </a:rPr>
              <a:t>%d</a:t>
            </a:r>
            <a:r>
              <a:rPr lang="en-US" b="0" dirty="0">
                <a:solidFill>
                  <a:srgbClr val="B776FB"/>
                </a:solidFill>
                <a:effectLst/>
                <a:latin typeface="Consolas" panose="020B0609020204030204" pitchFamily="49" charset="0"/>
              </a:rPr>
              <a:t>\n</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a:t>
            </a:r>
          </a:p>
          <a:p>
            <a:pPr lvl="1">
              <a:buNone/>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a:t>
            </a:r>
          </a:p>
          <a:p>
            <a:pPr lvl="1">
              <a:buNone/>
            </a:pPr>
            <a:r>
              <a:rPr lang="en-US" b="0" dirty="0">
                <a:solidFill>
                  <a:srgbClr val="000000"/>
                </a:solidFill>
                <a:effectLst/>
                <a:latin typeface="Consolas" panose="020B0609020204030204" pitchFamily="49" charset="0"/>
              </a:rPr>
              <a:t>}</a:t>
            </a:r>
            <a:endParaRPr lang="ru-RU" dirty="0"/>
          </a:p>
        </p:txBody>
      </p:sp>
    </p:spTree>
    <p:extLst>
      <p:ext uri="{BB962C8B-B14F-4D97-AF65-F5344CB8AC3E}">
        <p14:creationId xmlns:p14="http://schemas.microsoft.com/office/powerpoint/2010/main" val="33485413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05BE43-A538-2B64-8504-B04C0B850E35}"/>
              </a:ext>
            </a:extLst>
          </p:cNvPr>
          <p:cNvSpPr>
            <a:spLocks noGrp="1"/>
          </p:cNvSpPr>
          <p:nvPr>
            <p:ph type="title"/>
          </p:nvPr>
        </p:nvSpPr>
        <p:spPr/>
        <p:txBody>
          <a:bodyPr/>
          <a:lstStyle/>
          <a:p>
            <a:r>
              <a:rPr lang="ru-RU" dirty="0"/>
              <a:t>Цикл </a:t>
            </a:r>
            <a:r>
              <a:rPr lang="en-US" dirty="0"/>
              <a:t>while</a:t>
            </a:r>
            <a:r>
              <a:rPr lang="ru-RU" dirty="0"/>
              <a:t> на ассемблере</a:t>
            </a:r>
            <a:endParaRPr lang="en-US" dirty="0"/>
          </a:p>
        </p:txBody>
      </p:sp>
      <p:sp>
        <p:nvSpPr>
          <p:cNvPr id="6" name="TextBox 5">
            <a:extLst>
              <a:ext uri="{FF2B5EF4-FFF2-40B4-BE49-F238E27FC236}">
                <a16:creationId xmlns:a16="http://schemas.microsoft.com/office/drawing/2014/main" id="{807AF12E-5525-FF5A-921D-EC3D2672DDF7}"/>
              </a:ext>
            </a:extLst>
          </p:cNvPr>
          <p:cNvSpPr txBox="1"/>
          <p:nvPr/>
        </p:nvSpPr>
        <p:spPr>
          <a:xfrm>
            <a:off x="838200" y="1991279"/>
            <a:ext cx="5058748" cy="3139321"/>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#include</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&lt;</a:t>
            </a:r>
            <a:r>
              <a:rPr lang="en-US" b="0" dirty="0" err="1">
                <a:solidFill>
                  <a:srgbClr val="A31515"/>
                </a:solidFill>
                <a:effectLst/>
                <a:latin typeface="Consolas" panose="020B0609020204030204" pitchFamily="49" charset="0"/>
              </a:rPr>
              <a:t>stdio.h</a:t>
            </a:r>
            <a:r>
              <a:rPr lang="en-US" b="0" dirty="0">
                <a:solidFill>
                  <a:srgbClr val="0000FF"/>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pPr>
              <a:buNone/>
            </a:pP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main()</a:t>
            </a:r>
          </a:p>
          <a:p>
            <a:pPr>
              <a:buNone/>
            </a:pP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c;</a:t>
            </a:r>
          </a:p>
          <a:p>
            <a:pPr>
              <a:buNone/>
            </a:pP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while</a:t>
            </a:r>
            <a:r>
              <a:rPr lang="en-US" b="0" dirty="0">
                <a:solidFill>
                  <a:srgbClr val="000000"/>
                </a:solidFill>
                <a:effectLst/>
                <a:latin typeface="Consolas" panose="020B0609020204030204" pitchFamily="49" charset="0"/>
              </a:rPr>
              <a:t> ((c = </a:t>
            </a:r>
            <a:r>
              <a:rPr lang="en-US" b="0" dirty="0" err="1">
                <a:solidFill>
                  <a:srgbClr val="000000"/>
                </a:solidFill>
                <a:effectLst/>
                <a:latin typeface="Consolas" panose="020B0609020204030204" pitchFamily="49" charset="0"/>
              </a:rPr>
              <a:t>getchar</a:t>
            </a:r>
            <a:r>
              <a:rPr lang="en-US" b="0" dirty="0">
                <a:solidFill>
                  <a:srgbClr val="000000"/>
                </a:solidFill>
                <a:effectLst/>
                <a:latin typeface="Consolas" panose="020B0609020204030204" pitchFamily="49" charset="0"/>
              </a:rPr>
              <a:t>()) != EOF)</a:t>
            </a:r>
          </a:p>
          <a:p>
            <a:pPr>
              <a:buNone/>
            </a:pP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putchar</a:t>
            </a:r>
            <a:r>
              <a:rPr lang="en-US" b="0" dirty="0">
                <a:solidFill>
                  <a:srgbClr val="000000"/>
                </a:solidFill>
                <a:effectLst/>
                <a:latin typeface="Consolas" panose="020B0609020204030204" pitchFamily="49" charset="0"/>
              </a:rPr>
              <a:t>(c);</a:t>
            </a:r>
          </a:p>
          <a:p>
            <a:pPr>
              <a:buNone/>
            </a:pP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AFBFF812-E8A7-5857-6042-11FF46D00F71}"/>
              </a:ext>
            </a:extLst>
          </p:cNvPr>
          <p:cNvSpPr txBox="1"/>
          <p:nvPr/>
        </p:nvSpPr>
        <p:spPr>
          <a:xfrm>
            <a:off x="6096000" y="1991279"/>
            <a:ext cx="5893838" cy="4247317"/>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main</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sub</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rsp</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8</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jmp</a:t>
            </a:r>
            <a:r>
              <a:rPr lang="en-US" b="0" dirty="0">
                <a:solidFill>
                  <a:srgbClr val="000000"/>
                </a:solidFill>
                <a:effectLst/>
                <a:latin typeface="Consolas" panose="020B0609020204030204" pitchFamily="49" charset="0"/>
              </a:rPr>
              <a:t>     </a:t>
            </a:r>
            <a:r>
              <a:rPr lang="en-US" b="0" dirty="0">
                <a:solidFill>
                  <a:srgbClr val="008080"/>
                </a:solidFill>
                <a:effectLst/>
                <a:latin typeface="Consolas" panose="020B0609020204030204" pitchFamily="49" charset="0"/>
              </a:rPr>
              <a:t>.L2</a:t>
            </a: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.L3</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mov</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rsi</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QWORD</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PTR</a:t>
            </a:r>
            <a:r>
              <a:rPr lang="en-US" b="0" dirty="0">
                <a:solidFill>
                  <a:srgbClr val="000000"/>
                </a:solidFill>
                <a:effectLst/>
                <a:latin typeface="Consolas" panose="020B0609020204030204" pitchFamily="49" charset="0"/>
              </a:rPr>
              <a:t> </a:t>
            </a:r>
            <a:r>
              <a:rPr lang="en-US" b="0" dirty="0" err="1">
                <a:solidFill>
                  <a:srgbClr val="008080"/>
                </a:solidFill>
                <a:effectLst/>
                <a:latin typeface="Consolas" panose="020B0609020204030204" pitchFamily="49" charset="0"/>
              </a:rPr>
              <a:t>stdout</a:t>
            </a:r>
            <a:r>
              <a:rPr lang="en-US" b="0" dirty="0">
                <a:solidFill>
                  <a:srgbClr val="000000"/>
                </a:solidFill>
                <a:effectLst/>
                <a:latin typeface="Consolas" panose="020B0609020204030204" pitchFamily="49" charset="0"/>
              </a:rPr>
              <a:t>[</a:t>
            </a:r>
            <a:r>
              <a:rPr lang="en-US" b="0" dirty="0">
                <a:solidFill>
                  <a:srgbClr val="4864AA"/>
                </a:solidFill>
                <a:effectLst/>
                <a:latin typeface="Consolas" panose="020B0609020204030204" pitchFamily="49" charset="0"/>
              </a:rPr>
              <a:t>rip</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mov</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edi</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eax</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call</a:t>
            </a:r>
            <a:r>
              <a:rPr lang="en-US" b="0" dirty="0">
                <a:solidFill>
                  <a:srgbClr val="000000"/>
                </a:solidFill>
                <a:effectLst/>
                <a:latin typeface="Consolas" panose="020B0609020204030204" pitchFamily="49" charset="0"/>
              </a:rPr>
              <a:t>    </a:t>
            </a:r>
            <a:r>
              <a:rPr lang="en-US" b="0" dirty="0" err="1">
                <a:solidFill>
                  <a:srgbClr val="008080"/>
                </a:solidFill>
                <a:effectLst/>
                <a:latin typeface="Consolas" panose="020B0609020204030204" pitchFamily="49" charset="0"/>
              </a:rPr>
              <a:t>putc</a:t>
            </a: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.L2</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mov</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rdi</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QWORD</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PTR</a:t>
            </a:r>
            <a:r>
              <a:rPr lang="en-US" b="0" dirty="0">
                <a:solidFill>
                  <a:srgbClr val="000000"/>
                </a:solidFill>
                <a:effectLst/>
                <a:latin typeface="Consolas" panose="020B0609020204030204" pitchFamily="49" charset="0"/>
              </a:rPr>
              <a:t> </a:t>
            </a:r>
            <a:r>
              <a:rPr lang="en-US" b="0" dirty="0">
                <a:solidFill>
                  <a:srgbClr val="008080"/>
                </a:solidFill>
                <a:effectLst/>
                <a:latin typeface="Consolas" panose="020B0609020204030204" pitchFamily="49" charset="0"/>
              </a:rPr>
              <a:t>stdin</a:t>
            </a:r>
            <a:r>
              <a:rPr lang="en-US" b="0" dirty="0">
                <a:solidFill>
                  <a:srgbClr val="000000"/>
                </a:solidFill>
                <a:effectLst/>
                <a:latin typeface="Consolas" panose="020B0609020204030204" pitchFamily="49" charset="0"/>
              </a:rPr>
              <a:t>[</a:t>
            </a:r>
            <a:r>
              <a:rPr lang="en-US" b="0" dirty="0">
                <a:solidFill>
                  <a:srgbClr val="4864AA"/>
                </a:solidFill>
                <a:effectLst/>
                <a:latin typeface="Consolas" panose="020B0609020204030204" pitchFamily="49" charset="0"/>
              </a:rPr>
              <a:t>rip</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call</a:t>
            </a:r>
            <a:r>
              <a:rPr lang="en-US" b="0" dirty="0">
                <a:solidFill>
                  <a:srgbClr val="000000"/>
                </a:solidFill>
                <a:effectLst/>
                <a:latin typeface="Consolas" panose="020B0609020204030204" pitchFamily="49" charset="0"/>
              </a:rPr>
              <a:t>    </a:t>
            </a:r>
            <a:r>
              <a:rPr lang="en-US" b="0" dirty="0" err="1">
                <a:solidFill>
                  <a:srgbClr val="008080"/>
                </a:solidFill>
                <a:effectLst/>
                <a:latin typeface="Consolas" panose="020B0609020204030204" pitchFamily="49" charset="0"/>
              </a:rPr>
              <a:t>getc</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cmp</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eax</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jne</a:t>
            </a:r>
            <a:r>
              <a:rPr lang="en-US" b="0" dirty="0">
                <a:solidFill>
                  <a:srgbClr val="000000"/>
                </a:solidFill>
                <a:effectLst/>
                <a:latin typeface="Consolas" panose="020B0609020204030204" pitchFamily="49" charset="0"/>
              </a:rPr>
              <a:t>     </a:t>
            </a:r>
            <a:r>
              <a:rPr lang="en-US" b="0" dirty="0">
                <a:solidFill>
                  <a:srgbClr val="008080"/>
                </a:solidFill>
                <a:effectLst/>
                <a:latin typeface="Consolas" panose="020B0609020204030204" pitchFamily="49" charset="0"/>
              </a:rPr>
              <a:t>.L3</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xor</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eax</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eax</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add</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rsp</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8</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a:t>
            </a:r>
            <a:endParaRPr lang="en-US" b="0" dirty="0">
              <a:solidFill>
                <a:srgbClr val="000000"/>
              </a:solidFill>
              <a:effectLst/>
              <a:latin typeface="Consolas" panose="020B0609020204030204" pitchFamily="49" charset="0"/>
            </a:endParaRPr>
          </a:p>
        </p:txBody>
      </p:sp>
      <p:sp>
        <p:nvSpPr>
          <p:cNvPr id="10" name="Freeform: Shape 9">
            <a:extLst>
              <a:ext uri="{FF2B5EF4-FFF2-40B4-BE49-F238E27FC236}">
                <a16:creationId xmlns:a16="http://schemas.microsoft.com/office/drawing/2014/main" id="{1B434AD6-ECC1-A3D8-1E98-040C5081958A}"/>
              </a:ext>
            </a:extLst>
          </p:cNvPr>
          <p:cNvSpPr/>
          <p:nvPr/>
        </p:nvSpPr>
        <p:spPr>
          <a:xfrm>
            <a:off x="9330612" y="2705877"/>
            <a:ext cx="2692216" cy="1418253"/>
          </a:xfrm>
          <a:custGeom>
            <a:avLst/>
            <a:gdLst>
              <a:gd name="csX0" fmla="*/ 0 w 2692216"/>
              <a:gd name="csY0" fmla="*/ 0 h 1418253"/>
              <a:gd name="csX1" fmla="*/ 2239347 w 2692216"/>
              <a:gd name="csY1" fmla="*/ 74645 h 1418253"/>
              <a:gd name="csX2" fmla="*/ 2500604 w 2692216"/>
              <a:gd name="csY2" fmla="*/ 895738 h 1418253"/>
              <a:gd name="csX3" fmla="*/ 0 w 2692216"/>
              <a:gd name="csY3" fmla="*/ 1418253 h 1418253"/>
            </a:gdLst>
            <a:ahLst/>
            <a:cxnLst>
              <a:cxn ang="0">
                <a:pos x="csX0" y="csY0"/>
              </a:cxn>
              <a:cxn ang="0">
                <a:pos x="csX1" y="csY1"/>
              </a:cxn>
              <a:cxn ang="0">
                <a:pos x="csX2" y="csY2"/>
              </a:cxn>
              <a:cxn ang="0">
                <a:pos x="csX3" y="csY3"/>
              </a:cxn>
            </a:cxnLst>
            <a:rect l="l" t="t" r="r" b="b"/>
            <a:pathLst>
              <a:path w="2692216" h="1418253">
                <a:moveTo>
                  <a:pt x="0" y="0"/>
                </a:moveTo>
                <a:lnTo>
                  <a:pt x="2239347" y="74645"/>
                </a:lnTo>
                <a:cubicBezTo>
                  <a:pt x="2656114" y="223935"/>
                  <a:pt x="2873828" y="671803"/>
                  <a:pt x="2500604" y="895738"/>
                </a:cubicBezTo>
                <a:cubicBezTo>
                  <a:pt x="2127380" y="1119673"/>
                  <a:pt x="1063690" y="1268963"/>
                  <a:pt x="0" y="1418253"/>
                </a:cubicBezTo>
              </a:path>
            </a:pathLst>
          </a:custGeom>
          <a:noFill/>
          <a:ln>
            <a:prstDash val="dash"/>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7D520B0A-6241-6E4C-7806-842284B0C299}"/>
              </a:ext>
            </a:extLst>
          </p:cNvPr>
          <p:cNvSpPr/>
          <p:nvPr/>
        </p:nvSpPr>
        <p:spPr>
          <a:xfrm>
            <a:off x="9144000" y="2947488"/>
            <a:ext cx="3019748" cy="2258994"/>
          </a:xfrm>
          <a:custGeom>
            <a:avLst/>
            <a:gdLst>
              <a:gd name="csX0" fmla="*/ 93306 w 3019748"/>
              <a:gd name="csY0" fmla="*/ 2258994 h 2258994"/>
              <a:gd name="csX1" fmla="*/ 2649894 w 3019748"/>
              <a:gd name="csY1" fmla="*/ 1755141 h 2258994"/>
              <a:gd name="csX2" fmla="*/ 2724539 w 3019748"/>
              <a:gd name="csY2" fmla="*/ 224920 h 2258994"/>
              <a:gd name="csX3" fmla="*/ 0 w 3019748"/>
              <a:gd name="csY3" fmla="*/ 38308 h 2258994"/>
            </a:gdLst>
            <a:ahLst/>
            <a:cxnLst>
              <a:cxn ang="0">
                <a:pos x="csX0" y="csY0"/>
              </a:cxn>
              <a:cxn ang="0">
                <a:pos x="csX1" y="csY1"/>
              </a:cxn>
              <a:cxn ang="0">
                <a:pos x="csX2" y="csY2"/>
              </a:cxn>
              <a:cxn ang="0">
                <a:pos x="csX3" y="csY3"/>
              </a:cxn>
            </a:cxnLst>
            <a:rect l="l" t="t" r="r" b="b"/>
            <a:pathLst>
              <a:path w="3019748" h="2258994">
                <a:moveTo>
                  <a:pt x="93306" y="2258994"/>
                </a:moveTo>
                <a:cubicBezTo>
                  <a:pt x="1152330" y="2176573"/>
                  <a:pt x="2211355" y="2094153"/>
                  <a:pt x="2649894" y="1755141"/>
                </a:cubicBezTo>
                <a:cubicBezTo>
                  <a:pt x="3088433" y="1416129"/>
                  <a:pt x="3166188" y="511059"/>
                  <a:pt x="2724539" y="224920"/>
                </a:cubicBezTo>
                <a:cubicBezTo>
                  <a:pt x="2282890" y="-61219"/>
                  <a:pt x="1141445" y="-11456"/>
                  <a:pt x="0" y="38308"/>
                </a:cubicBezTo>
              </a:path>
            </a:pathLst>
          </a:custGeom>
          <a:noFill/>
          <a:ln>
            <a:prstDash val="dash"/>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81B5F1A-FB89-5BD0-C0BE-D8CA240C6B34}"/>
              </a:ext>
            </a:extLst>
          </p:cNvPr>
          <p:cNvSpPr txBox="1"/>
          <p:nvPr/>
        </p:nvSpPr>
        <p:spPr>
          <a:xfrm>
            <a:off x="321129" y="6238596"/>
            <a:ext cx="6092890" cy="369332"/>
          </a:xfrm>
          <a:prstGeom prst="rect">
            <a:avLst/>
          </a:prstGeom>
          <a:noFill/>
        </p:spPr>
        <p:txBody>
          <a:bodyPr wrap="square">
            <a:spAutoFit/>
          </a:bodyPr>
          <a:lstStyle/>
          <a:p>
            <a:r>
              <a:rPr lang="en-US" dirty="0">
                <a:hlinkClick r:id="rId3"/>
              </a:rPr>
              <a:t>https://godbolt.org/z/8dGjTfaMa</a:t>
            </a:r>
            <a:endParaRPr lang="en-US" dirty="0"/>
          </a:p>
        </p:txBody>
      </p:sp>
      <p:pic>
        <p:nvPicPr>
          <p:cNvPr id="15" name="Picture 14">
            <a:extLst>
              <a:ext uri="{FF2B5EF4-FFF2-40B4-BE49-F238E27FC236}">
                <a16:creationId xmlns:a16="http://schemas.microsoft.com/office/drawing/2014/main" id="{D2F15627-C60C-0E37-752B-94087E34B036}"/>
              </a:ext>
            </a:extLst>
          </p:cNvPr>
          <p:cNvPicPr>
            <a:picLocks noChangeAspect="1"/>
          </p:cNvPicPr>
          <p:nvPr/>
        </p:nvPicPr>
        <p:blipFill>
          <a:blip r:embed="rId4"/>
          <a:stretch>
            <a:fillRect/>
          </a:stretch>
        </p:blipFill>
        <p:spPr>
          <a:xfrm>
            <a:off x="9975513" y="198957"/>
            <a:ext cx="2014325" cy="2028816"/>
          </a:xfrm>
          <a:prstGeom prst="rect">
            <a:avLst/>
          </a:prstGeom>
        </p:spPr>
      </p:pic>
    </p:spTree>
    <p:extLst>
      <p:ext uri="{BB962C8B-B14F-4D97-AF65-F5344CB8AC3E}">
        <p14:creationId xmlns:p14="http://schemas.microsoft.com/office/powerpoint/2010/main" val="13016865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48504-E1F8-158B-3A52-0682976C3896}"/>
              </a:ext>
            </a:extLst>
          </p:cNvPr>
          <p:cNvSpPr>
            <a:spLocks noGrp="1"/>
          </p:cNvSpPr>
          <p:nvPr>
            <p:ph type="title"/>
          </p:nvPr>
        </p:nvSpPr>
        <p:spPr/>
        <p:txBody>
          <a:bodyPr/>
          <a:lstStyle/>
          <a:p>
            <a:r>
              <a:rPr lang="ru-RU" dirty="0"/>
              <a:t>Когда </a:t>
            </a:r>
            <a:r>
              <a:rPr lang="en-US" dirty="0"/>
              <a:t>while </a:t>
            </a:r>
            <a:r>
              <a:rPr lang="ru-RU" dirty="0"/>
              <a:t>неудобен</a:t>
            </a:r>
            <a:endParaRPr lang="en-US" dirty="0"/>
          </a:p>
        </p:txBody>
      </p:sp>
      <p:sp>
        <p:nvSpPr>
          <p:cNvPr id="3" name="Content Placeholder 2">
            <a:extLst>
              <a:ext uri="{FF2B5EF4-FFF2-40B4-BE49-F238E27FC236}">
                <a16:creationId xmlns:a16="http://schemas.microsoft.com/office/drawing/2014/main" id="{4357B422-5BF6-5891-739E-1AD6FC1B6515}"/>
              </a:ext>
            </a:extLst>
          </p:cNvPr>
          <p:cNvSpPr>
            <a:spLocks noGrp="1"/>
          </p:cNvSpPr>
          <p:nvPr>
            <p:ph idx="1"/>
          </p:nvPr>
        </p:nvSpPr>
        <p:spPr/>
        <p:txBody>
          <a:bodyPr>
            <a:normAutofit lnSpcReduction="10000"/>
          </a:bodyPr>
          <a:lstStyle/>
          <a:p>
            <a:r>
              <a:rPr lang="ru-RU" dirty="0"/>
              <a:t>Часто цикл имеет три части:</a:t>
            </a:r>
          </a:p>
          <a:p>
            <a:pPr lvl="1"/>
            <a:r>
              <a:rPr lang="ru-RU" dirty="0"/>
              <a:t>инициализация</a:t>
            </a:r>
          </a:p>
          <a:p>
            <a:pPr lvl="1"/>
            <a:r>
              <a:rPr lang="ru-RU" dirty="0"/>
              <a:t>условие</a:t>
            </a:r>
          </a:p>
          <a:p>
            <a:pPr lvl="1"/>
            <a:r>
              <a:rPr lang="ru-RU" dirty="0"/>
              <a:t>изменение переменной</a:t>
            </a:r>
          </a:p>
          <a:p>
            <a:r>
              <a:rPr lang="ru-RU" dirty="0"/>
              <a:t>Пример:</a:t>
            </a:r>
          </a:p>
          <a:p>
            <a:pPr lvl="1">
              <a:buNone/>
            </a:pPr>
            <a:r>
              <a:rPr lang="nn-NO" b="0" dirty="0">
                <a:solidFill>
                  <a:srgbClr val="0000FF"/>
                </a:solidFill>
                <a:effectLst/>
                <a:latin typeface="Consolas" panose="020B0609020204030204" pitchFamily="49" charset="0"/>
              </a:rPr>
              <a:t>int</a:t>
            </a:r>
            <a:r>
              <a:rPr lang="nn-NO" b="0" dirty="0">
                <a:solidFill>
                  <a:srgbClr val="000000"/>
                </a:solidFill>
                <a:effectLst/>
                <a:latin typeface="Consolas" panose="020B0609020204030204" pitchFamily="49" charset="0"/>
              </a:rPr>
              <a:t> i = </a:t>
            </a:r>
            <a:r>
              <a:rPr lang="nn-NO" b="0" dirty="0">
                <a:solidFill>
                  <a:srgbClr val="098658"/>
                </a:solidFill>
                <a:effectLst/>
                <a:latin typeface="Consolas" panose="020B0609020204030204" pitchFamily="49" charset="0"/>
              </a:rPr>
              <a:t>0</a:t>
            </a:r>
            <a:r>
              <a:rPr lang="nn-NO" b="0" dirty="0">
                <a:solidFill>
                  <a:srgbClr val="000000"/>
                </a:solidFill>
                <a:effectLst/>
                <a:latin typeface="Consolas" panose="020B0609020204030204" pitchFamily="49" charset="0"/>
              </a:rPr>
              <a:t>;</a:t>
            </a:r>
          </a:p>
          <a:p>
            <a:pPr lvl="1">
              <a:buNone/>
            </a:pPr>
            <a:r>
              <a:rPr lang="nn-NO" b="0" dirty="0">
                <a:solidFill>
                  <a:srgbClr val="8F08C4"/>
                </a:solidFill>
                <a:effectLst/>
                <a:latin typeface="Consolas" panose="020B0609020204030204" pitchFamily="49" charset="0"/>
              </a:rPr>
              <a:t>while</a:t>
            </a:r>
            <a:r>
              <a:rPr lang="nn-NO" b="0" dirty="0">
                <a:solidFill>
                  <a:srgbClr val="000000"/>
                </a:solidFill>
                <a:effectLst/>
                <a:latin typeface="Consolas" panose="020B0609020204030204" pitchFamily="49" charset="0"/>
              </a:rPr>
              <a:t> (i &lt; </a:t>
            </a:r>
            <a:r>
              <a:rPr lang="nn-NO" b="0" dirty="0">
                <a:solidFill>
                  <a:srgbClr val="098658"/>
                </a:solidFill>
                <a:effectLst/>
                <a:latin typeface="Consolas" panose="020B0609020204030204" pitchFamily="49" charset="0"/>
              </a:rPr>
              <a:t>10</a:t>
            </a:r>
            <a:r>
              <a:rPr lang="nn-NO" b="0" dirty="0">
                <a:solidFill>
                  <a:srgbClr val="000000"/>
                </a:solidFill>
                <a:effectLst/>
                <a:latin typeface="Consolas" panose="020B0609020204030204" pitchFamily="49" charset="0"/>
              </a:rPr>
              <a:t>) {</a:t>
            </a:r>
          </a:p>
          <a:p>
            <a:pPr lvl="1">
              <a:buNone/>
            </a:pPr>
            <a:r>
              <a:rPr lang="nn-NO" b="0" dirty="0">
                <a:solidFill>
                  <a:srgbClr val="000000"/>
                </a:solidFill>
                <a:effectLst/>
                <a:latin typeface="Consolas" panose="020B0609020204030204" pitchFamily="49" charset="0"/>
              </a:rPr>
              <a:t>    </a:t>
            </a:r>
            <a:r>
              <a:rPr lang="nn-NO" b="0" dirty="0">
                <a:solidFill>
                  <a:srgbClr val="74531F"/>
                </a:solidFill>
                <a:effectLst/>
                <a:latin typeface="Consolas" panose="020B0609020204030204" pitchFamily="49" charset="0"/>
              </a:rPr>
              <a:t>printf</a:t>
            </a:r>
            <a:r>
              <a:rPr lang="nn-NO" b="0" dirty="0">
                <a:solidFill>
                  <a:srgbClr val="000000"/>
                </a:solidFill>
                <a:effectLst/>
                <a:latin typeface="Consolas" panose="020B0609020204030204" pitchFamily="49" charset="0"/>
              </a:rPr>
              <a:t>(</a:t>
            </a:r>
            <a:r>
              <a:rPr lang="nn-NO" b="0" dirty="0">
                <a:solidFill>
                  <a:srgbClr val="E21F1F"/>
                </a:solidFill>
                <a:effectLst/>
                <a:latin typeface="Consolas" panose="020B0609020204030204" pitchFamily="49" charset="0"/>
              </a:rPr>
              <a:t>"</a:t>
            </a:r>
            <a:r>
              <a:rPr lang="nn-NO" b="0" dirty="0">
                <a:solidFill>
                  <a:srgbClr val="1F377F"/>
                </a:solidFill>
                <a:effectLst/>
                <a:latin typeface="Consolas" panose="020B0609020204030204" pitchFamily="49" charset="0"/>
              </a:rPr>
              <a:t>%d</a:t>
            </a:r>
            <a:r>
              <a:rPr lang="nn-NO" b="0" dirty="0">
                <a:solidFill>
                  <a:srgbClr val="B776FB"/>
                </a:solidFill>
                <a:effectLst/>
                <a:latin typeface="Consolas" panose="020B0609020204030204" pitchFamily="49" charset="0"/>
              </a:rPr>
              <a:t>\n</a:t>
            </a:r>
            <a:r>
              <a:rPr lang="nn-NO" b="0" dirty="0">
                <a:solidFill>
                  <a:srgbClr val="E21F1F"/>
                </a:solidFill>
                <a:effectLst/>
                <a:latin typeface="Consolas" panose="020B0609020204030204" pitchFamily="49" charset="0"/>
              </a:rPr>
              <a:t>"</a:t>
            </a:r>
            <a:r>
              <a:rPr lang="nn-NO" b="0" dirty="0">
                <a:solidFill>
                  <a:srgbClr val="000000"/>
                </a:solidFill>
                <a:effectLst/>
                <a:latin typeface="Consolas" panose="020B0609020204030204" pitchFamily="49" charset="0"/>
              </a:rPr>
              <a:t>, i);</a:t>
            </a:r>
          </a:p>
          <a:p>
            <a:pPr lvl="1">
              <a:buNone/>
            </a:pPr>
            <a:r>
              <a:rPr lang="nn-NO" b="0" dirty="0">
                <a:solidFill>
                  <a:srgbClr val="000000"/>
                </a:solidFill>
                <a:effectLst/>
                <a:latin typeface="Consolas" panose="020B0609020204030204" pitchFamily="49" charset="0"/>
              </a:rPr>
              <a:t>    i++;</a:t>
            </a:r>
          </a:p>
          <a:p>
            <a:pPr lvl="1">
              <a:buNone/>
            </a:pPr>
            <a:r>
              <a:rPr lang="nn-NO" b="0" dirty="0">
                <a:solidFill>
                  <a:srgbClr val="000000"/>
                </a:solidFill>
                <a:effectLst/>
                <a:latin typeface="Consolas" panose="020B0609020204030204" pitchFamily="49" charset="0"/>
              </a:rPr>
              <a:t>}</a:t>
            </a:r>
            <a:endParaRPr lang="ru-RU" b="0" dirty="0">
              <a:solidFill>
                <a:srgbClr val="000000"/>
              </a:solidFill>
              <a:effectLst/>
              <a:latin typeface="Consolas" panose="020B0609020204030204" pitchFamily="49" charset="0"/>
            </a:endParaRPr>
          </a:p>
          <a:p>
            <a:r>
              <a:rPr lang="ru-RU" dirty="0"/>
              <a:t>Такой шаблон встречается очень часто</a:t>
            </a:r>
          </a:p>
        </p:txBody>
      </p:sp>
    </p:spTree>
    <p:extLst>
      <p:ext uri="{BB962C8B-B14F-4D97-AF65-F5344CB8AC3E}">
        <p14:creationId xmlns:p14="http://schemas.microsoft.com/office/powerpoint/2010/main" val="1929589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257033-9C93-A241-D706-C36CBC97D648}"/>
              </a:ext>
            </a:extLst>
          </p:cNvPr>
          <p:cNvSpPr>
            <a:spLocks noGrp="1"/>
          </p:cNvSpPr>
          <p:nvPr>
            <p:ph type="title"/>
          </p:nvPr>
        </p:nvSpPr>
        <p:spPr/>
        <p:txBody>
          <a:bodyPr/>
          <a:lstStyle/>
          <a:p>
            <a:r>
              <a:rPr lang="ru-RU" dirty="0"/>
              <a:t>Цикл </a:t>
            </a:r>
            <a:r>
              <a:rPr lang="en-US" dirty="0"/>
              <a:t>for</a:t>
            </a:r>
          </a:p>
        </p:txBody>
      </p:sp>
      <p:sp>
        <p:nvSpPr>
          <p:cNvPr id="5" name="Text Placeholder 4">
            <a:extLst>
              <a:ext uri="{FF2B5EF4-FFF2-40B4-BE49-F238E27FC236}">
                <a16:creationId xmlns:a16="http://schemas.microsoft.com/office/drawing/2014/main" id="{191D7788-962F-BD61-3741-323B07A6026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842750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712F5-52B8-EF14-325C-8E88C40625FE}"/>
              </a:ext>
            </a:extLst>
          </p:cNvPr>
          <p:cNvSpPr>
            <a:spLocks noGrp="1"/>
          </p:cNvSpPr>
          <p:nvPr>
            <p:ph type="title"/>
          </p:nvPr>
        </p:nvSpPr>
        <p:spPr/>
        <p:txBody>
          <a:bodyPr/>
          <a:lstStyle/>
          <a:p>
            <a:r>
              <a:rPr lang="ru-RU" dirty="0"/>
              <a:t>Общая форма цикла </a:t>
            </a:r>
            <a:r>
              <a:rPr lang="en-US" dirty="0"/>
              <a:t>for</a:t>
            </a:r>
          </a:p>
        </p:txBody>
      </p:sp>
      <p:sp>
        <p:nvSpPr>
          <p:cNvPr id="3" name="Content Placeholder 2">
            <a:extLst>
              <a:ext uri="{FF2B5EF4-FFF2-40B4-BE49-F238E27FC236}">
                <a16:creationId xmlns:a16="http://schemas.microsoft.com/office/drawing/2014/main" id="{84A55703-4B5D-FCE4-6218-CC10D787DF17}"/>
              </a:ext>
            </a:extLst>
          </p:cNvPr>
          <p:cNvSpPr>
            <a:spLocks noGrp="1"/>
          </p:cNvSpPr>
          <p:nvPr>
            <p:ph idx="1"/>
          </p:nvPr>
        </p:nvSpPr>
        <p:spPr/>
        <p:txBody>
          <a:bodyPr/>
          <a:lstStyle/>
          <a:p>
            <a:r>
              <a:rPr lang="ru-RU" dirty="0"/>
              <a:t>Общая форма:</a:t>
            </a:r>
            <a:endParaRPr lang="en-US" dirty="0"/>
          </a:p>
          <a:p>
            <a:pPr lvl="1">
              <a:lnSpc>
                <a:spcPct val="100000"/>
              </a:lnSpc>
              <a:buNone/>
            </a:pPr>
            <a:r>
              <a:rPr lang="en-US" b="0" dirty="0">
                <a:solidFill>
                  <a:srgbClr val="8F08C4"/>
                </a:solidFill>
                <a:effectLst/>
                <a:latin typeface="Consolas" panose="020B0609020204030204" pitchFamily="49" charset="0"/>
              </a:rPr>
              <a:t>for</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init</a:t>
            </a:r>
            <a:r>
              <a:rPr lang="en-US" b="0" dirty="0">
                <a:solidFill>
                  <a:srgbClr val="000000"/>
                </a:solidFill>
                <a:effectLst/>
                <a:latin typeface="Consolas" panose="020B0609020204030204" pitchFamily="49" charset="0"/>
              </a:rPr>
              <a:t>; condition; step) {</a:t>
            </a:r>
          </a:p>
          <a:p>
            <a:pPr lvl="1">
              <a:lnSpc>
                <a:spcPct val="100000"/>
              </a:lnSpc>
              <a:buNone/>
            </a:pP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a:t>
            </a:r>
            <a:r>
              <a:rPr lang="en-US" b="0" dirty="0" err="1">
                <a:solidFill>
                  <a:srgbClr val="008000"/>
                </a:solidFill>
                <a:effectLst/>
                <a:latin typeface="Consolas" panose="020B0609020204030204" pitchFamily="49" charset="0"/>
              </a:rPr>
              <a:t>тело</a:t>
            </a:r>
            <a:r>
              <a:rPr lang="en-US" b="0" dirty="0">
                <a:solidFill>
                  <a:srgbClr val="008000"/>
                </a:solidFill>
                <a:effectLst/>
                <a:latin typeface="Consolas" panose="020B0609020204030204" pitchFamily="49" charset="0"/>
              </a:rPr>
              <a:t> </a:t>
            </a:r>
            <a:r>
              <a:rPr lang="en-US" b="0" dirty="0" err="1">
                <a:solidFill>
                  <a:srgbClr val="008000"/>
                </a:solidFill>
                <a:effectLst/>
                <a:latin typeface="Consolas" panose="020B0609020204030204" pitchFamily="49" charset="0"/>
              </a:rPr>
              <a:t>цикла</a:t>
            </a:r>
            <a:endParaRPr lang="en-US" b="0" dirty="0">
              <a:solidFill>
                <a:srgbClr val="000000"/>
              </a:solidFill>
              <a:effectLst/>
              <a:latin typeface="Consolas" panose="020B0609020204030204" pitchFamily="49" charset="0"/>
            </a:endParaRPr>
          </a:p>
          <a:p>
            <a:pPr lvl="1">
              <a:lnSpc>
                <a:spcPct val="100000"/>
              </a:lnSpc>
              <a:buNone/>
            </a:pPr>
            <a:r>
              <a:rPr lang="en-US" b="0" dirty="0">
                <a:solidFill>
                  <a:srgbClr val="000000"/>
                </a:solidFill>
                <a:effectLst/>
                <a:latin typeface="Consolas" panose="020B0609020204030204" pitchFamily="49" charset="0"/>
              </a:rPr>
              <a:t>}</a:t>
            </a:r>
            <a:endParaRPr lang="ru-RU" dirty="0"/>
          </a:p>
          <a:p>
            <a:r>
              <a:rPr lang="ru-RU" b="1" dirty="0" err="1"/>
              <a:t>init</a:t>
            </a:r>
            <a:r>
              <a:rPr lang="ru-RU" dirty="0"/>
              <a:t> выполняется один раз</a:t>
            </a:r>
          </a:p>
          <a:p>
            <a:r>
              <a:rPr lang="ru-RU" b="1" dirty="0" err="1"/>
              <a:t>condition</a:t>
            </a:r>
            <a:r>
              <a:rPr lang="ru-RU" dirty="0"/>
              <a:t> проверяется перед каждой итерацией</a:t>
            </a:r>
          </a:p>
          <a:p>
            <a:r>
              <a:rPr lang="ru-RU" b="1" dirty="0" err="1"/>
              <a:t>step</a:t>
            </a:r>
            <a:r>
              <a:rPr lang="ru-RU" dirty="0"/>
              <a:t> выполняется после каждой итерации</a:t>
            </a:r>
          </a:p>
          <a:p>
            <a:endParaRPr lang="en-US" dirty="0"/>
          </a:p>
        </p:txBody>
      </p:sp>
    </p:spTree>
    <p:extLst>
      <p:ext uri="{BB962C8B-B14F-4D97-AF65-F5344CB8AC3E}">
        <p14:creationId xmlns:p14="http://schemas.microsoft.com/office/powerpoint/2010/main" val="1295838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C6716-6FBE-36F0-3768-428592CAF2D3}"/>
              </a:ext>
            </a:extLst>
          </p:cNvPr>
          <p:cNvSpPr>
            <a:spLocks noGrp="1"/>
          </p:cNvSpPr>
          <p:nvPr>
            <p:ph type="title"/>
          </p:nvPr>
        </p:nvSpPr>
        <p:spPr/>
        <p:txBody>
          <a:bodyPr/>
          <a:lstStyle/>
          <a:p>
            <a:r>
              <a:rPr lang="ru-RU" dirty="0"/>
              <a:t>Пример </a:t>
            </a:r>
            <a:r>
              <a:rPr lang="en-US" dirty="0"/>
              <a:t>for</a:t>
            </a:r>
          </a:p>
        </p:txBody>
      </p:sp>
      <p:sp>
        <p:nvSpPr>
          <p:cNvPr id="5" name="TextBox 4">
            <a:extLst>
              <a:ext uri="{FF2B5EF4-FFF2-40B4-BE49-F238E27FC236}">
                <a16:creationId xmlns:a16="http://schemas.microsoft.com/office/drawing/2014/main" id="{DDFBDC0A-1617-BDB5-F5CF-A281193664D4}"/>
              </a:ext>
            </a:extLst>
          </p:cNvPr>
          <p:cNvSpPr txBox="1"/>
          <p:nvPr/>
        </p:nvSpPr>
        <p:spPr>
          <a:xfrm>
            <a:off x="838200" y="1783020"/>
            <a:ext cx="6092890" cy="1200329"/>
          </a:xfrm>
          <a:prstGeom prst="rect">
            <a:avLst/>
          </a:prstGeom>
          <a:noFill/>
        </p:spPr>
        <p:txBody>
          <a:bodyPr wrap="square">
            <a:spAutoFit/>
          </a:bodyPr>
          <a:lstStyle/>
          <a:p>
            <a:pPr>
              <a:buNone/>
            </a:pPr>
            <a:r>
              <a:rPr lang="nn-NO" b="0" dirty="0">
                <a:solidFill>
                  <a:srgbClr val="8F08C4"/>
                </a:solidFill>
                <a:effectLst/>
                <a:latin typeface="Consolas" panose="020B0609020204030204" pitchFamily="49" charset="0"/>
              </a:rPr>
              <a:t>for</a:t>
            </a:r>
            <a:r>
              <a:rPr lang="nn-NO" b="0" dirty="0">
                <a:solidFill>
                  <a:srgbClr val="000000"/>
                </a:solidFill>
                <a:effectLst/>
                <a:latin typeface="Consolas" panose="020B0609020204030204" pitchFamily="49" charset="0"/>
              </a:rPr>
              <a:t> (</a:t>
            </a:r>
            <a:r>
              <a:rPr lang="nn-NO" b="0" dirty="0">
                <a:solidFill>
                  <a:srgbClr val="0000FF"/>
                </a:solidFill>
                <a:effectLst/>
                <a:latin typeface="Consolas" panose="020B0609020204030204" pitchFamily="49" charset="0"/>
              </a:rPr>
              <a:t>int</a:t>
            </a:r>
            <a:r>
              <a:rPr lang="nn-NO" b="0" dirty="0">
                <a:solidFill>
                  <a:srgbClr val="000000"/>
                </a:solidFill>
                <a:effectLst/>
                <a:latin typeface="Consolas" panose="020B0609020204030204" pitchFamily="49" charset="0"/>
              </a:rPr>
              <a:t> i = </a:t>
            </a:r>
            <a:r>
              <a:rPr lang="nn-NO" b="0" dirty="0">
                <a:solidFill>
                  <a:srgbClr val="098658"/>
                </a:solidFill>
                <a:effectLst/>
                <a:latin typeface="Consolas" panose="020B0609020204030204" pitchFamily="49" charset="0"/>
              </a:rPr>
              <a:t>0</a:t>
            </a:r>
            <a:r>
              <a:rPr lang="nn-NO" b="0" dirty="0">
                <a:solidFill>
                  <a:srgbClr val="000000"/>
                </a:solidFill>
                <a:effectLst/>
                <a:latin typeface="Consolas" panose="020B0609020204030204" pitchFamily="49" charset="0"/>
              </a:rPr>
              <a:t>; i &lt; </a:t>
            </a:r>
            <a:r>
              <a:rPr lang="nn-NO" b="0" dirty="0">
                <a:solidFill>
                  <a:srgbClr val="098658"/>
                </a:solidFill>
                <a:effectLst/>
                <a:latin typeface="Consolas" panose="020B0609020204030204" pitchFamily="49" charset="0"/>
              </a:rPr>
              <a:t>10</a:t>
            </a:r>
            <a:r>
              <a:rPr lang="nn-NO" b="0" dirty="0">
                <a:solidFill>
                  <a:srgbClr val="000000"/>
                </a:solidFill>
                <a:effectLst/>
                <a:latin typeface="Consolas" panose="020B0609020204030204" pitchFamily="49" charset="0"/>
              </a:rPr>
              <a:t>; i++) {</a:t>
            </a:r>
          </a:p>
          <a:p>
            <a:pPr>
              <a:buNone/>
            </a:pPr>
            <a:r>
              <a:rPr lang="nn-NO" b="0" dirty="0">
                <a:solidFill>
                  <a:srgbClr val="000000"/>
                </a:solidFill>
                <a:effectLst/>
                <a:latin typeface="Consolas" panose="020B0609020204030204" pitchFamily="49" charset="0"/>
              </a:rPr>
              <a:t>    </a:t>
            </a:r>
            <a:r>
              <a:rPr lang="nn-NO" b="0" dirty="0">
                <a:solidFill>
                  <a:srgbClr val="74531F"/>
                </a:solidFill>
                <a:effectLst/>
                <a:latin typeface="Consolas" panose="020B0609020204030204" pitchFamily="49" charset="0"/>
              </a:rPr>
              <a:t>printf</a:t>
            </a:r>
            <a:r>
              <a:rPr lang="nn-NO" b="0" dirty="0">
                <a:solidFill>
                  <a:srgbClr val="000000"/>
                </a:solidFill>
                <a:effectLst/>
                <a:latin typeface="Consolas" panose="020B0609020204030204" pitchFamily="49" charset="0"/>
              </a:rPr>
              <a:t>(</a:t>
            </a:r>
            <a:r>
              <a:rPr lang="nn-NO" b="0" dirty="0">
                <a:solidFill>
                  <a:srgbClr val="E21F1F"/>
                </a:solidFill>
                <a:effectLst/>
                <a:latin typeface="Consolas" panose="020B0609020204030204" pitchFamily="49" charset="0"/>
              </a:rPr>
              <a:t>"</a:t>
            </a:r>
            <a:r>
              <a:rPr lang="nn-NO" b="0" dirty="0">
                <a:solidFill>
                  <a:srgbClr val="1F377F"/>
                </a:solidFill>
                <a:effectLst/>
                <a:latin typeface="Consolas" panose="020B0609020204030204" pitchFamily="49" charset="0"/>
              </a:rPr>
              <a:t>%d</a:t>
            </a:r>
            <a:r>
              <a:rPr lang="nn-NO" b="0" dirty="0">
                <a:solidFill>
                  <a:srgbClr val="B776FB"/>
                </a:solidFill>
                <a:effectLst/>
                <a:latin typeface="Consolas" panose="020B0609020204030204" pitchFamily="49" charset="0"/>
              </a:rPr>
              <a:t>\n</a:t>
            </a:r>
            <a:r>
              <a:rPr lang="nn-NO" b="0" dirty="0">
                <a:solidFill>
                  <a:srgbClr val="E21F1F"/>
                </a:solidFill>
                <a:effectLst/>
                <a:latin typeface="Consolas" panose="020B0609020204030204" pitchFamily="49" charset="0"/>
              </a:rPr>
              <a:t>"</a:t>
            </a:r>
            <a:r>
              <a:rPr lang="nn-NO" b="0" dirty="0">
                <a:solidFill>
                  <a:srgbClr val="000000"/>
                </a:solidFill>
                <a:effectLst/>
                <a:latin typeface="Consolas" panose="020B0609020204030204" pitchFamily="49" charset="0"/>
              </a:rPr>
              <a:t>, i);</a:t>
            </a:r>
          </a:p>
          <a:p>
            <a:pPr>
              <a:buNone/>
            </a:pPr>
            <a:r>
              <a:rPr lang="nn-NO" b="0" dirty="0">
                <a:solidFill>
                  <a:srgbClr val="000000"/>
                </a:solidFill>
                <a:effectLst/>
                <a:latin typeface="Consolas" panose="020B0609020204030204" pitchFamily="49" charset="0"/>
              </a:rPr>
              <a:t>}</a:t>
            </a:r>
          </a:p>
          <a:p>
            <a:r>
              <a:rPr lang="ru-RU" b="0" dirty="0">
                <a:solidFill>
                  <a:srgbClr val="008000"/>
                </a:solidFill>
                <a:effectLst/>
                <a:latin typeface="Consolas" panose="020B0609020204030204" pitchFamily="49" charset="0"/>
              </a:rPr>
              <a:t>// Переменная i видна только внутри цикла</a:t>
            </a:r>
            <a:endParaRPr lang="ru-RU" b="0" dirty="0">
              <a:solidFill>
                <a:srgbClr val="000000"/>
              </a:solidFill>
              <a:effectLst/>
              <a:latin typeface="Consolas" panose="020B0609020204030204" pitchFamily="49" charset="0"/>
            </a:endParaRPr>
          </a:p>
        </p:txBody>
      </p:sp>
      <p:sp>
        <p:nvSpPr>
          <p:cNvPr id="9" name="TextBox 8">
            <a:extLst>
              <a:ext uri="{FF2B5EF4-FFF2-40B4-BE49-F238E27FC236}">
                <a16:creationId xmlns:a16="http://schemas.microsoft.com/office/drawing/2014/main" id="{D017FB7B-968F-4468-390F-CF6858165E61}"/>
              </a:ext>
            </a:extLst>
          </p:cNvPr>
          <p:cNvSpPr txBox="1"/>
          <p:nvPr/>
        </p:nvSpPr>
        <p:spPr>
          <a:xfrm>
            <a:off x="6096000" y="1690688"/>
            <a:ext cx="6096000" cy="2308324"/>
          </a:xfrm>
          <a:prstGeom prst="rect">
            <a:avLst/>
          </a:prstGeom>
          <a:noFill/>
        </p:spPr>
        <p:txBody>
          <a:bodyPr wrap="square">
            <a:spAutoFit/>
          </a:bodyPr>
          <a:lstStyle/>
          <a:p>
            <a:r>
              <a:rPr lang="nn-NO" b="0" dirty="0">
                <a:solidFill>
                  <a:srgbClr val="000000"/>
                </a:solidFill>
                <a:effectLst/>
                <a:latin typeface="Consolas" panose="020B0609020204030204" pitchFamily="49" charset="0"/>
              </a:rPr>
              <a:t>{</a:t>
            </a:r>
            <a:r>
              <a:rPr lang="ru-RU" b="0" dirty="0">
                <a:solidFill>
                  <a:srgbClr val="008000"/>
                </a:solidFill>
                <a:effectLst/>
                <a:latin typeface="Consolas" panose="020B0609020204030204" pitchFamily="49" charset="0"/>
              </a:rPr>
              <a:t>// Бло</a:t>
            </a:r>
            <a:r>
              <a:rPr lang="ru-RU" dirty="0">
                <a:solidFill>
                  <a:srgbClr val="008000"/>
                </a:solidFill>
                <a:latin typeface="Consolas" panose="020B0609020204030204" pitchFamily="49" charset="0"/>
              </a:rPr>
              <a:t>к нужен, чтобы ограничить видимость</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i</a:t>
            </a:r>
            <a:endParaRPr lang="ru-RU" b="0" dirty="0">
              <a:solidFill>
                <a:srgbClr val="000000"/>
              </a:solidFill>
              <a:effectLst/>
              <a:latin typeface="Consolas" panose="020B0609020204030204" pitchFamily="49" charset="0"/>
            </a:endParaRPr>
          </a:p>
          <a:p>
            <a:pPr>
              <a:buNone/>
            </a:pPr>
            <a:endParaRPr lang="nn-NO" b="0" dirty="0">
              <a:solidFill>
                <a:srgbClr val="000000"/>
              </a:solidFill>
              <a:effectLst/>
              <a:latin typeface="Consolas" panose="020B0609020204030204" pitchFamily="49" charset="0"/>
            </a:endParaRPr>
          </a:p>
          <a:p>
            <a:pPr>
              <a:buNone/>
            </a:pPr>
            <a:r>
              <a:rPr lang="nn-NO" b="0" dirty="0">
                <a:solidFill>
                  <a:srgbClr val="000000"/>
                </a:solidFill>
                <a:effectLst/>
                <a:latin typeface="Consolas" panose="020B0609020204030204" pitchFamily="49" charset="0"/>
              </a:rPr>
              <a:t>    </a:t>
            </a:r>
            <a:r>
              <a:rPr lang="nn-NO" b="0" dirty="0">
                <a:solidFill>
                  <a:srgbClr val="0000FF"/>
                </a:solidFill>
                <a:effectLst/>
                <a:latin typeface="Consolas" panose="020B0609020204030204" pitchFamily="49" charset="0"/>
              </a:rPr>
              <a:t>int</a:t>
            </a:r>
            <a:r>
              <a:rPr lang="nn-NO" b="0" dirty="0">
                <a:solidFill>
                  <a:srgbClr val="000000"/>
                </a:solidFill>
                <a:effectLst/>
                <a:latin typeface="Consolas" panose="020B0609020204030204" pitchFamily="49" charset="0"/>
              </a:rPr>
              <a:t> i = </a:t>
            </a:r>
            <a:r>
              <a:rPr lang="nn-NO" b="0" dirty="0">
                <a:solidFill>
                  <a:srgbClr val="098658"/>
                </a:solidFill>
                <a:effectLst/>
                <a:latin typeface="Consolas" panose="020B0609020204030204" pitchFamily="49" charset="0"/>
              </a:rPr>
              <a:t>0</a:t>
            </a:r>
            <a:r>
              <a:rPr lang="nn-NO" b="0" dirty="0">
                <a:solidFill>
                  <a:srgbClr val="000000"/>
                </a:solidFill>
                <a:effectLst/>
                <a:latin typeface="Consolas" panose="020B0609020204030204" pitchFamily="49" charset="0"/>
              </a:rPr>
              <a:t>;</a:t>
            </a:r>
          </a:p>
          <a:p>
            <a:pPr>
              <a:buNone/>
            </a:pPr>
            <a:r>
              <a:rPr lang="nn-NO" b="0" dirty="0">
                <a:solidFill>
                  <a:srgbClr val="000000"/>
                </a:solidFill>
                <a:effectLst/>
                <a:latin typeface="Consolas" panose="020B0609020204030204" pitchFamily="49" charset="0"/>
              </a:rPr>
              <a:t>    </a:t>
            </a:r>
            <a:r>
              <a:rPr lang="nn-NO" b="0" dirty="0">
                <a:solidFill>
                  <a:srgbClr val="8F08C4"/>
                </a:solidFill>
                <a:effectLst/>
                <a:latin typeface="Consolas" panose="020B0609020204030204" pitchFamily="49" charset="0"/>
              </a:rPr>
              <a:t>while</a:t>
            </a:r>
            <a:r>
              <a:rPr lang="nn-NO" b="0" dirty="0">
                <a:solidFill>
                  <a:srgbClr val="000000"/>
                </a:solidFill>
                <a:effectLst/>
                <a:latin typeface="Consolas" panose="020B0609020204030204" pitchFamily="49" charset="0"/>
              </a:rPr>
              <a:t> (i &lt; </a:t>
            </a:r>
            <a:r>
              <a:rPr lang="nn-NO" b="0" dirty="0">
                <a:solidFill>
                  <a:srgbClr val="098658"/>
                </a:solidFill>
                <a:effectLst/>
                <a:latin typeface="Consolas" panose="020B0609020204030204" pitchFamily="49" charset="0"/>
              </a:rPr>
              <a:t>10</a:t>
            </a:r>
            <a:r>
              <a:rPr lang="nn-NO" b="0" dirty="0">
                <a:solidFill>
                  <a:srgbClr val="000000"/>
                </a:solidFill>
                <a:effectLst/>
                <a:latin typeface="Consolas" panose="020B0609020204030204" pitchFamily="49" charset="0"/>
              </a:rPr>
              <a:t>) {</a:t>
            </a:r>
          </a:p>
          <a:p>
            <a:pPr>
              <a:buNone/>
            </a:pPr>
            <a:r>
              <a:rPr lang="nn-NO" b="0" dirty="0">
                <a:solidFill>
                  <a:srgbClr val="000000"/>
                </a:solidFill>
                <a:effectLst/>
                <a:latin typeface="Consolas" panose="020B0609020204030204" pitchFamily="49" charset="0"/>
              </a:rPr>
              <a:t>        </a:t>
            </a:r>
            <a:r>
              <a:rPr lang="nn-NO" b="0" dirty="0">
                <a:solidFill>
                  <a:srgbClr val="74531F"/>
                </a:solidFill>
                <a:effectLst/>
                <a:latin typeface="Consolas" panose="020B0609020204030204" pitchFamily="49" charset="0"/>
              </a:rPr>
              <a:t>printf</a:t>
            </a:r>
            <a:r>
              <a:rPr lang="nn-NO" b="0" dirty="0">
                <a:solidFill>
                  <a:srgbClr val="000000"/>
                </a:solidFill>
                <a:effectLst/>
                <a:latin typeface="Consolas" panose="020B0609020204030204" pitchFamily="49" charset="0"/>
              </a:rPr>
              <a:t>(</a:t>
            </a:r>
            <a:r>
              <a:rPr lang="nn-NO" b="0" dirty="0">
                <a:solidFill>
                  <a:srgbClr val="E21F1F"/>
                </a:solidFill>
                <a:effectLst/>
                <a:latin typeface="Consolas" panose="020B0609020204030204" pitchFamily="49" charset="0"/>
              </a:rPr>
              <a:t>"</a:t>
            </a:r>
            <a:r>
              <a:rPr lang="nn-NO" b="0" dirty="0">
                <a:solidFill>
                  <a:srgbClr val="1F377F"/>
                </a:solidFill>
                <a:effectLst/>
                <a:latin typeface="Consolas" panose="020B0609020204030204" pitchFamily="49" charset="0"/>
              </a:rPr>
              <a:t>%d</a:t>
            </a:r>
            <a:r>
              <a:rPr lang="nn-NO" b="0" dirty="0">
                <a:solidFill>
                  <a:srgbClr val="B776FB"/>
                </a:solidFill>
                <a:effectLst/>
                <a:latin typeface="Consolas" panose="020B0609020204030204" pitchFamily="49" charset="0"/>
              </a:rPr>
              <a:t>\n</a:t>
            </a:r>
            <a:r>
              <a:rPr lang="nn-NO" b="0" dirty="0">
                <a:solidFill>
                  <a:srgbClr val="E21F1F"/>
                </a:solidFill>
                <a:effectLst/>
                <a:latin typeface="Consolas" panose="020B0609020204030204" pitchFamily="49" charset="0"/>
              </a:rPr>
              <a:t>"</a:t>
            </a:r>
            <a:r>
              <a:rPr lang="nn-NO" b="0" dirty="0">
                <a:solidFill>
                  <a:srgbClr val="000000"/>
                </a:solidFill>
                <a:effectLst/>
                <a:latin typeface="Consolas" panose="020B0609020204030204" pitchFamily="49" charset="0"/>
              </a:rPr>
              <a:t>, i);</a:t>
            </a:r>
          </a:p>
          <a:p>
            <a:pPr>
              <a:buNone/>
            </a:pPr>
            <a:r>
              <a:rPr lang="nn-NO" b="0" dirty="0">
                <a:solidFill>
                  <a:srgbClr val="000000"/>
                </a:solidFill>
                <a:effectLst/>
                <a:latin typeface="Consolas" panose="020B0609020204030204" pitchFamily="49" charset="0"/>
              </a:rPr>
              <a:t>        i++;</a:t>
            </a:r>
          </a:p>
          <a:p>
            <a:pPr>
              <a:buNone/>
            </a:pPr>
            <a:r>
              <a:rPr lang="nn-NO" b="0" dirty="0">
                <a:solidFill>
                  <a:srgbClr val="000000"/>
                </a:solidFill>
                <a:effectLst/>
                <a:latin typeface="Consolas" panose="020B0609020204030204" pitchFamily="49" charset="0"/>
              </a:rPr>
              <a:t>    }</a:t>
            </a:r>
          </a:p>
          <a:p>
            <a:pPr>
              <a:buNone/>
            </a:pPr>
            <a:r>
              <a:rPr lang="nn-NO"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1756300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8C4CDD-EDC1-B164-2A82-666F10754253}"/>
              </a:ext>
            </a:extLst>
          </p:cNvPr>
          <p:cNvSpPr>
            <a:spLocks noGrp="1"/>
          </p:cNvSpPr>
          <p:nvPr>
            <p:ph type="title"/>
          </p:nvPr>
        </p:nvSpPr>
        <p:spPr/>
        <p:txBody>
          <a:bodyPr/>
          <a:lstStyle/>
          <a:p>
            <a:r>
              <a:rPr lang="ru-RU" dirty="0"/>
              <a:t>Особенности </a:t>
            </a:r>
            <a:r>
              <a:rPr lang="en-US" dirty="0"/>
              <a:t>for</a:t>
            </a:r>
          </a:p>
        </p:txBody>
      </p:sp>
      <p:sp>
        <p:nvSpPr>
          <p:cNvPr id="4" name="Content Placeholder 3">
            <a:extLst>
              <a:ext uri="{FF2B5EF4-FFF2-40B4-BE49-F238E27FC236}">
                <a16:creationId xmlns:a16="http://schemas.microsoft.com/office/drawing/2014/main" id="{A3DCD1BE-EF62-7C41-6963-8463072E90EA}"/>
              </a:ext>
            </a:extLst>
          </p:cNvPr>
          <p:cNvSpPr>
            <a:spLocks noGrp="1"/>
          </p:cNvSpPr>
          <p:nvPr>
            <p:ph idx="1"/>
          </p:nvPr>
        </p:nvSpPr>
        <p:spPr/>
        <p:txBody>
          <a:bodyPr>
            <a:normAutofit/>
          </a:bodyPr>
          <a:lstStyle/>
          <a:p>
            <a:r>
              <a:rPr lang="ru-RU" dirty="0"/>
              <a:t>Любая из трёх частей может быть опущена</a:t>
            </a:r>
          </a:p>
          <a:p>
            <a:r>
              <a:rPr lang="ru-RU" dirty="0"/>
              <a:t>Пример бесконечного цикла:</a:t>
            </a:r>
          </a:p>
          <a:p>
            <a:pPr lvl="1">
              <a:buNone/>
            </a:pPr>
            <a:r>
              <a:rPr lang="en-US" b="0" dirty="0">
                <a:solidFill>
                  <a:srgbClr val="8F08C4"/>
                </a:solidFill>
                <a:effectLst/>
                <a:latin typeface="Consolas" panose="020B0609020204030204" pitchFamily="49" charset="0"/>
              </a:rPr>
              <a:t>for</a:t>
            </a:r>
            <a:r>
              <a:rPr lang="en-US" b="0" dirty="0">
                <a:solidFill>
                  <a:srgbClr val="000000"/>
                </a:solidFill>
                <a:effectLst/>
                <a:latin typeface="Consolas" panose="020B0609020204030204" pitchFamily="49" charset="0"/>
              </a:rPr>
              <a:t> (;;) {</a:t>
            </a:r>
          </a:p>
          <a:p>
            <a:pPr lvl="1">
              <a:buNone/>
            </a:pP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a:t>
            </a:r>
            <a:r>
              <a:rPr lang="ru-RU" b="0" dirty="0">
                <a:solidFill>
                  <a:srgbClr val="008000"/>
                </a:solidFill>
                <a:effectLst/>
                <a:latin typeface="Consolas" panose="020B0609020204030204" pitchFamily="49" charset="0"/>
              </a:rPr>
              <a:t>бесконечный цикл</a:t>
            </a:r>
            <a:endParaRPr lang="ru-RU" b="0" dirty="0">
              <a:solidFill>
                <a:srgbClr val="000000"/>
              </a:solidFill>
              <a:effectLst/>
              <a:latin typeface="Consolas" panose="020B0609020204030204" pitchFamily="49" charset="0"/>
            </a:endParaRPr>
          </a:p>
          <a:p>
            <a:pPr lvl="1">
              <a:buNone/>
            </a:pPr>
            <a:r>
              <a:rPr lang="ru-RU" b="0" dirty="0">
                <a:solidFill>
                  <a:srgbClr val="000000"/>
                </a:solidFill>
                <a:effectLst/>
                <a:latin typeface="Consolas" panose="020B0609020204030204" pitchFamily="49" charset="0"/>
              </a:rPr>
              <a:t>}</a:t>
            </a:r>
            <a:endParaRPr lang="ru-RU" dirty="0"/>
          </a:p>
          <a:p>
            <a:r>
              <a:rPr lang="ru-RU" dirty="0"/>
              <a:t>Эквивалентно:</a:t>
            </a:r>
          </a:p>
          <a:p>
            <a:pPr lvl="1">
              <a:buNone/>
            </a:pPr>
            <a:r>
              <a:rPr lang="en-US" b="0" dirty="0">
                <a:solidFill>
                  <a:srgbClr val="8F08C4"/>
                </a:solidFill>
                <a:effectLst/>
                <a:latin typeface="Consolas" panose="020B0609020204030204" pitchFamily="49" charset="0"/>
              </a:rPr>
              <a:t>while</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p>
          <a:p>
            <a:pPr lvl="1">
              <a:buNone/>
            </a:pP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a:t>
            </a:r>
            <a:r>
              <a:rPr lang="ru-RU" b="0" dirty="0">
                <a:solidFill>
                  <a:srgbClr val="008000"/>
                </a:solidFill>
                <a:effectLst/>
                <a:latin typeface="Consolas" panose="020B0609020204030204" pitchFamily="49" charset="0"/>
              </a:rPr>
              <a:t>бесконечный цикл</a:t>
            </a:r>
            <a:endParaRPr lang="ru-RU" b="0" dirty="0">
              <a:solidFill>
                <a:srgbClr val="000000"/>
              </a:solidFill>
              <a:effectLst/>
              <a:latin typeface="Consolas" panose="020B0609020204030204" pitchFamily="49" charset="0"/>
            </a:endParaRPr>
          </a:p>
          <a:p>
            <a:pPr lvl="1">
              <a:buNone/>
            </a:pPr>
            <a:r>
              <a:rPr lang="ru-RU" b="0" dirty="0">
                <a:solidFill>
                  <a:srgbClr val="000000"/>
                </a:solidFill>
                <a:effectLst/>
                <a:latin typeface="Consolas" panose="020B0609020204030204" pitchFamily="49" charset="0"/>
              </a:rPr>
              <a:t>}</a:t>
            </a:r>
          </a:p>
          <a:p>
            <a:pPr marL="0" indent="0">
              <a:buNone/>
            </a:pPr>
            <a:endParaRPr lang="ru-RU" dirty="0"/>
          </a:p>
        </p:txBody>
      </p:sp>
    </p:spTree>
    <p:extLst>
      <p:ext uri="{BB962C8B-B14F-4D97-AF65-F5344CB8AC3E}">
        <p14:creationId xmlns:p14="http://schemas.microsoft.com/office/powerpoint/2010/main" val="30353544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270E8-D463-B65B-1FBB-7761CE9B16E5}"/>
              </a:ext>
            </a:extLst>
          </p:cNvPr>
          <p:cNvSpPr>
            <a:spLocks noGrp="1"/>
          </p:cNvSpPr>
          <p:nvPr>
            <p:ph type="title"/>
          </p:nvPr>
        </p:nvSpPr>
        <p:spPr/>
        <p:txBody>
          <a:bodyPr/>
          <a:lstStyle/>
          <a:p>
            <a:r>
              <a:rPr lang="ru-RU" dirty="0"/>
              <a:t>Особенности </a:t>
            </a:r>
            <a:r>
              <a:rPr lang="en-US" dirty="0"/>
              <a:t>for</a:t>
            </a:r>
          </a:p>
        </p:txBody>
      </p:sp>
      <p:sp>
        <p:nvSpPr>
          <p:cNvPr id="3" name="Content Placeholder 2">
            <a:extLst>
              <a:ext uri="{FF2B5EF4-FFF2-40B4-BE49-F238E27FC236}">
                <a16:creationId xmlns:a16="http://schemas.microsoft.com/office/drawing/2014/main" id="{E90B82B9-F33B-F287-3EAE-3130FF7C7B5B}"/>
              </a:ext>
            </a:extLst>
          </p:cNvPr>
          <p:cNvSpPr>
            <a:spLocks noGrp="1"/>
          </p:cNvSpPr>
          <p:nvPr>
            <p:ph idx="1"/>
          </p:nvPr>
        </p:nvSpPr>
        <p:spPr/>
        <p:txBody>
          <a:bodyPr/>
          <a:lstStyle/>
          <a:p>
            <a:r>
              <a:rPr lang="ru-RU" dirty="0"/>
              <a:t>Несколько выражений могут идти через запятую</a:t>
            </a:r>
          </a:p>
          <a:p>
            <a:pPr lvl="1">
              <a:buNone/>
            </a:pPr>
            <a:r>
              <a:rPr lang="en-US" b="0" dirty="0">
                <a:solidFill>
                  <a:srgbClr val="8F08C4"/>
                </a:solidFill>
                <a:effectLst/>
                <a:latin typeface="Consolas" panose="020B0609020204030204" pitchFamily="49" charset="0"/>
              </a:rPr>
              <a:t>for</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j = </a:t>
            </a:r>
            <a:r>
              <a:rPr lang="en-US" b="0" dirty="0">
                <a:solidFill>
                  <a:srgbClr val="098658"/>
                </a:solidFill>
                <a:effectLst/>
                <a:latin typeface="Consolas" panose="020B0609020204030204" pitchFamily="49" charset="0"/>
              </a:rPr>
              <a:t>9</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 &lt; j; </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 j--) {</a:t>
            </a:r>
          </a:p>
          <a:p>
            <a:pPr lvl="1">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en-US" b="0" dirty="0">
                <a:solidFill>
                  <a:srgbClr val="1F377F"/>
                </a:solidFill>
                <a:effectLst/>
                <a:latin typeface="Consolas" panose="020B0609020204030204" pitchFamily="49" charset="0"/>
              </a:rPr>
              <a:t>%d</a:t>
            </a:r>
            <a:r>
              <a:rPr lang="en-US" b="0" dirty="0">
                <a:solidFill>
                  <a:srgbClr val="A31515"/>
                </a:solidFill>
                <a:effectLst/>
                <a:latin typeface="Consolas" panose="020B0609020204030204" pitchFamily="49" charset="0"/>
              </a:rPr>
              <a:t> </a:t>
            </a:r>
            <a:r>
              <a:rPr lang="en-US" b="0" dirty="0">
                <a:solidFill>
                  <a:srgbClr val="1F377F"/>
                </a:solidFill>
                <a:effectLst/>
                <a:latin typeface="Consolas" panose="020B0609020204030204" pitchFamily="49" charset="0"/>
              </a:rPr>
              <a:t>%d</a:t>
            </a:r>
            <a:r>
              <a:rPr lang="en-US" b="0" dirty="0">
                <a:solidFill>
                  <a:srgbClr val="B776FB"/>
                </a:solidFill>
                <a:effectLst/>
                <a:latin typeface="Consolas" panose="020B0609020204030204" pitchFamily="49" charset="0"/>
              </a:rPr>
              <a:t>\n</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 j);</a:t>
            </a:r>
          </a:p>
          <a:p>
            <a:pPr lvl="1">
              <a:buNone/>
            </a:pPr>
            <a:r>
              <a:rPr lang="en-US" b="0" dirty="0">
                <a:solidFill>
                  <a:srgbClr val="000000"/>
                </a:solidFill>
                <a:effectLst/>
                <a:latin typeface="Consolas" panose="020B0609020204030204" pitchFamily="49" charset="0"/>
              </a:rPr>
              <a:t>}</a:t>
            </a:r>
            <a:endParaRPr lang="ru-RU" dirty="0"/>
          </a:p>
          <a:p>
            <a:pPr lvl="1"/>
            <a:r>
              <a:rPr lang="ru-RU" dirty="0"/>
              <a:t>Инициализируются две переменные</a:t>
            </a:r>
          </a:p>
          <a:p>
            <a:pPr lvl="1"/>
            <a:r>
              <a:rPr lang="ru-RU" dirty="0"/>
              <a:t>На каждом шаге изменяются обе</a:t>
            </a:r>
          </a:p>
          <a:p>
            <a:r>
              <a:rPr lang="ru-RU" dirty="0"/>
              <a:t>Запятая здесь – не просто разделитель</a:t>
            </a:r>
          </a:p>
          <a:p>
            <a:pPr lvl="1"/>
            <a:r>
              <a:rPr lang="ru-RU" dirty="0"/>
              <a:t>Это оператор для последовательного выполнения действий</a:t>
            </a:r>
          </a:p>
          <a:p>
            <a:pPr lvl="1"/>
            <a:r>
              <a:rPr lang="ru-RU" dirty="0"/>
              <a:t>Аккуратно его используйте, чтобы код оставался читаемым и понятным</a:t>
            </a:r>
            <a:endParaRPr lang="en-US" dirty="0"/>
          </a:p>
        </p:txBody>
      </p:sp>
    </p:spTree>
    <p:extLst>
      <p:ext uri="{BB962C8B-B14F-4D97-AF65-F5344CB8AC3E}">
        <p14:creationId xmlns:p14="http://schemas.microsoft.com/office/powerpoint/2010/main" val="22790663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726094-0437-5D4D-B813-A986D3D159B0}"/>
              </a:ext>
            </a:extLst>
          </p:cNvPr>
          <p:cNvSpPr>
            <a:spLocks noGrp="1"/>
          </p:cNvSpPr>
          <p:nvPr>
            <p:ph type="title"/>
          </p:nvPr>
        </p:nvSpPr>
        <p:spPr/>
        <p:txBody>
          <a:bodyPr/>
          <a:lstStyle/>
          <a:p>
            <a:r>
              <a:rPr lang="ru-RU" dirty="0"/>
              <a:t>Цикл </a:t>
            </a:r>
            <a:r>
              <a:rPr lang="en-US" dirty="0"/>
              <a:t>for</a:t>
            </a:r>
            <a:r>
              <a:rPr lang="ru-RU" dirty="0"/>
              <a:t> на ассемблере</a:t>
            </a:r>
            <a:endParaRPr lang="en-US" dirty="0"/>
          </a:p>
        </p:txBody>
      </p:sp>
      <p:sp>
        <p:nvSpPr>
          <p:cNvPr id="6" name="TextBox 5">
            <a:extLst>
              <a:ext uri="{FF2B5EF4-FFF2-40B4-BE49-F238E27FC236}">
                <a16:creationId xmlns:a16="http://schemas.microsoft.com/office/drawing/2014/main" id="{D1B9CBAD-8F10-88A1-690E-0E1BAD4CCCE0}"/>
              </a:ext>
            </a:extLst>
          </p:cNvPr>
          <p:cNvSpPr txBox="1"/>
          <p:nvPr/>
        </p:nvSpPr>
        <p:spPr>
          <a:xfrm>
            <a:off x="838200" y="2108738"/>
            <a:ext cx="5257800" cy="2308324"/>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#include</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&lt;</a:t>
            </a:r>
            <a:r>
              <a:rPr lang="en-US" b="0" dirty="0" err="1">
                <a:solidFill>
                  <a:srgbClr val="A31515"/>
                </a:solidFill>
                <a:effectLst/>
                <a:latin typeface="Consolas" panose="020B0609020204030204" pitchFamily="49" charset="0"/>
              </a:rPr>
              <a:t>stdio.h</a:t>
            </a:r>
            <a:r>
              <a:rPr lang="en-US" b="0" dirty="0">
                <a:solidFill>
                  <a:srgbClr val="0000FF"/>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pPr>
              <a:buNone/>
            </a:pP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main()</a:t>
            </a:r>
          </a:p>
          <a:p>
            <a:pPr>
              <a:buNone/>
            </a:pP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for</a:t>
            </a:r>
            <a:r>
              <a:rPr lang="en-US" b="0" dirty="0">
                <a:solidFill>
                  <a:srgbClr val="000000"/>
                </a:solidFill>
                <a:effectLst/>
                <a:latin typeface="Consolas" panose="020B0609020204030204" pitchFamily="49" charset="0"/>
              </a:rPr>
              <a:t> (</a:t>
            </a:r>
            <a:r>
              <a:rPr lang="en-US" b="0" dirty="0">
                <a:solidFill>
                  <a:srgbClr val="0000FF"/>
                </a:solidFill>
                <a:effectLst/>
                <a:highlight>
                  <a:srgbClr val="FFFF00"/>
                </a:highlight>
                <a:latin typeface="Consolas" panose="020B0609020204030204" pitchFamily="49" charset="0"/>
              </a:rPr>
              <a:t>int</a:t>
            </a:r>
            <a:r>
              <a:rPr lang="en-US" b="0" dirty="0">
                <a:solidFill>
                  <a:srgbClr val="000000"/>
                </a:solidFill>
                <a:effectLst/>
                <a:highlight>
                  <a:srgbClr val="FFFF00"/>
                </a:highlight>
                <a:latin typeface="Consolas" panose="020B0609020204030204" pitchFamily="49" charset="0"/>
              </a:rPr>
              <a:t> c = </a:t>
            </a:r>
            <a:r>
              <a:rPr lang="en-US" b="0" dirty="0">
                <a:solidFill>
                  <a:srgbClr val="A31515"/>
                </a:solidFill>
                <a:effectLst/>
                <a:highlight>
                  <a:srgbClr val="FFFF00"/>
                </a:highlight>
                <a:latin typeface="Consolas" panose="020B0609020204030204" pitchFamily="49" charset="0"/>
              </a:rPr>
              <a:t>'A</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000000"/>
                </a:solidFill>
                <a:effectLst/>
                <a:highlight>
                  <a:srgbClr val="00FF00"/>
                </a:highlight>
                <a:latin typeface="Consolas" panose="020B0609020204030204" pitchFamily="49" charset="0"/>
              </a:rPr>
              <a:t>c &lt;= </a:t>
            </a:r>
            <a:r>
              <a:rPr lang="en-US" b="0" dirty="0">
                <a:solidFill>
                  <a:srgbClr val="A31515"/>
                </a:solidFill>
                <a:effectLst/>
                <a:highlight>
                  <a:srgbClr val="00FF00"/>
                </a:highlight>
                <a:latin typeface="Consolas" panose="020B0609020204030204" pitchFamily="49" charset="0"/>
              </a:rPr>
              <a:t>'Z'</a:t>
            </a:r>
            <a:r>
              <a:rPr lang="en-US" b="0" dirty="0">
                <a:solidFill>
                  <a:srgbClr val="000000"/>
                </a:solidFill>
                <a:effectLst/>
                <a:latin typeface="Consolas" panose="020B0609020204030204" pitchFamily="49" charset="0"/>
              </a:rPr>
              <a:t>; </a:t>
            </a:r>
            <a:r>
              <a:rPr lang="en-US" b="0" dirty="0">
                <a:solidFill>
                  <a:srgbClr val="000000"/>
                </a:solidFill>
                <a:effectLst/>
                <a:highlight>
                  <a:srgbClr val="00FFFF"/>
                </a:highlight>
                <a:latin typeface="Consolas" panose="020B0609020204030204" pitchFamily="49" charset="0"/>
              </a:rPr>
              <a:t>++c</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putchar</a:t>
            </a:r>
            <a:r>
              <a:rPr lang="en-US" b="0" dirty="0">
                <a:solidFill>
                  <a:srgbClr val="000000"/>
                </a:solidFill>
                <a:effectLst/>
                <a:latin typeface="Consolas" panose="020B0609020204030204" pitchFamily="49" charset="0"/>
              </a:rPr>
              <a:t>(c);</a:t>
            </a:r>
          </a:p>
          <a:p>
            <a:pPr>
              <a:buNone/>
            </a:pP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6742DBCD-F29E-FC8E-DC7F-88B0F99DF231}"/>
              </a:ext>
            </a:extLst>
          </p:cNvPr>
          <p:cNvSpPr txBox="1"/>
          <p:nvPr/>
        </p:nvSpPr>
        <p:spPr>
          <a:xfrm>
            <a:off x="6591300" y="2155802"/>
            <a:ext cx="4597400" cy="3416320"/>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main</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push</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rbx</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highlight>
                  <a:srgbClr val="FFFF00"/>
                </a:highlight>
                <a:latin typeface="Consolas" panose="020B0609020204030204" pitchFamily="49" charset="0"/>
              </a:rPr>
              <a:t>mov</a:t>
            </a:r>
            <a:r>
              <a:rPr lang="en-US" b="0" dirty="0">
                <a:solidFill>
                  <a:srgbClr val="000000"/>
                </a:solidFill>
                <a:effectLst/>
                <a:highlight>
                  <a:srgbClr val="FFFF00"/>
                </a:highlight>
                <a:latin typeface="Consolas" panose="020B0609020204030204" pitchFamily="49" charset="0"/>
              </a:rPr>
              <a:t>     </a:t>
            </a:r>
            <a:r>
              <a:rPr lang="en-US" b="0" dirty="0" err="1">
                <a:solidFill>
                  <a:srgbClr val="4864AA"/>
                </a:solidFill>
                <a:effectLst/>
                <a:highlight>
                  <a:srgbClr val="FFFF00"/>
                </a:highlight>
                <a:latin typeface="Consolas" panose="020B0609020204030204" pitchFamily="49" charset="0"/>
              </a:rPr>
              <a:t>ebx</a:t>
            </a:r>
            <a:r>
              <a:rPr lang="en-US" b="0" dirty="0">
                <a:solidFill>
                  <a:srgbClr val="000000"/>
                </a:solidFill>
                <a:effectLst/>
                <a:highlight>
                  <a:srgbClr val="FFFF00"/>
                </a:highlight>
                <a:latin typeface="Consolas" panose="020B0609020204030204" pitchFamily="49" charset="0"/>
              </a:rPr>
              <a:t>, </a:t>
            </a:r>
            <a:r>
              <a:rPr lang="en-US" b="0" dirty="0">
                <a:solidFill>
                  <a:srgbClr val="098658"/>
                </a:solidFill>
                <a:effectLst/>
                <a:highlight>
                  <a:srgbClr val="FFFF00"/>
                </a:highlight>
                <a:latin typeface="Consolas" panose="020B0609020204030204" pitchFamily="49" charset="0"/>
              </a:rPr>
              <a:t>65</a:t>
            </a:r>
            <a:r>
              <a:rPr lang="ru-RU" b="0" dirty="0">
                <a:solidFill>
                  <a:srgbClr val="098658"/>
                </a:solidFill>
                <a:effectLst/>
                <a:latin typeface="Consolas" panose="020B0609020204030204" pitchFamily="49" charset="0"/>
              </a:rPr>
              <a:t>  </a:t>
            </a:r>
            <a:r>
              <a:rPr lang="en-US" b="0" dirty="0">
                <a:solidFill>
                  <a:srgbClr val="008000"/>
                </a:solidFill>
                <a:effectLst/>
                <a:latin typeface="Consolas" panose="020B0609020204030204" pitchFamily="49" charset="0"/>
              </a:rPr>
              <a:t># 'A'</a:t>
            </a: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.L2</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mov</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edi</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ebx</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err="1">
                <a:solidFill>
                  <a:srgbClr val="0000FF"/>
                </a:solidFill>
                <a:effectLst/>
                <a:highlight>
                  <a:srgbClr val="00FFFF"/>
                </a:highlight>
                <a:latin typeface="Consolas" panose="020B0609020204030204" pitchFamily="49" charset="0"/>
              </a:rPr>
              <a:t>inc</a:t>
            </a:r>
            <a:r>
              <a:rPr lang="en-US" b="0" dirty="0">
                <a:solidFill>
                  <a:srgbClr val="000000"/>
                </a:solidFill>
                <a:effectLst/>
                <a:highlight>
                  <a:srgbClr val="00FFFF"/>
                </a:highlight>
                <a:latin typeface="Consolas" panose="020B0609020204030204" pitchFamily="49" charset="0"/>
              </a:rPr>
              <a:t>     </a:t>
            </a:r>
            <a:r>
              <a:rPr lang="en-US" b="0" dirty="0" err="1">
                <a:solidFill>
                  <a:srgbClr val="4864AA"/>
                </a:solidFill>
                <a:effectLst/>
                <a:highlight>
                  <a:srgbClr val="00FFFF"/>
                </a:highlight>
                <a:latin typeface="Consolas" panose="020B0609020204030204" pitchFamily="49" charset="0"/>
              </a:rPr>
              <a:t>ebx</a:t>
            </a:r>
            <a:endParaRPr lang="en-US" b="0" dirty="0">
              <a:solidFill>
                <a:srgbClr val="000000"/>
              </a:solidFill>
              <a:effectLst/>
              <a:highlight>
                <a:srgbClr val="00FFFF"/>
              </a:highligh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call</a:t>
            </a:r>
            <a:r>
              <a:rPr lang="en-US" b="0" dirty="0">
                <a:solidFill>
                  <a:srgbClr val="000000"/>
                </a:solidFill>
                <a:effectLst/>
                <a:latin typeface="Consolas" panose="020B0609020204030204" pitchFamily="49" charset="0"/>
              </a:rPr>
              <a:t>    </a:t>
            </a:r>
            <a:r>
              <a:rPr lang="en-US" b="0" dirty="0" err="1">
                <a:solidFill>
                  <a:srgbClr val="008080"/>
                </a:solidFill>
                <a:effectLst/>
                <a:latin typeface="Consolas" panose="020B0609020204030204" pitchFamily="49" charset="0"/>
              </a:rPr>
              <a:t>putchar</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0000FF"/>
                </a:solidFill>
                <a:effectLst/>
                <a:highlight>
                  <a:srgbClr val="00FF00"/>
                </a:highlight>
                <a:latin typeface="Consolas" panose="020B0609020204030204" pitchFamily="49" charset="0"/>
              </a:rPr>
              <a:t>cmp</a:t>
            </a:r>
            <a:r>
              <a:rPr lang="en-US" b="0" dirty="0">
                <a:solidFill>
                  <a:srgbClr val="000000"/>
                </a:solidFill>
                <a:effectLst/>
                <a:highlight>
                  <a:srgbClr val="00FF00"/>
                </a:highlight>
                <a:latin typeface="Consolas" panose="020B0609020204030204" pitchFamily="49" charset="0"/>
              </a:rPr>
              <a:t>     </a:t>
            </a:r>
            <a:r>
              <a:rPr lang="en-US" b="0" dirty="0" err="1">
                <a:solidFill>
                  <a:srgbClr val="4864AA"/>
                </a:solidFill>
                <a:effectLst/>
                <a:highlight>
                  <a:srgbClr val="00FF00"/>
                </a:highlight>
                <a:latin typeface="Consolas" panose="020B0609020204030204" pitchFamily="49" charset="0"/>
              </a:rPr>
              <a:t>ebx</a:t>
            </a:r>
            <a:r>
              <a:rPr lang="en-US" b="0" dirty="0">
                <a:solidFill>
                  <a:srgbClr val="000000"/>
                </a:solidFill>
                <a:effectLst/>
                <a:highlight>
                  <a:srgbClr val="00FF00"/>
                </a:highlight>
                <a:latin typeface="Consolas" panose="020B0609020204030204" pitchFamily="49" charset="0"/>
              </a:rPr>
              <a:t>, </a:t>
            </a:r>
            <a:r>
              <a:rPr lang="en-US" b="0" dirty="0">
                <a:solidFill>
                  <a:srgbClr val="098658"/>
                </a:solidFill>
                <a:effectLst/>
                <a:highlight>
                  <a:srgbClr val="00FF00"/>
                </a:highlight>
                <a:latin typeface="Consolas" panose="020B0609020204030204" pitchFamily="49" charset="0"/>
              </a:rPr>
              <a:t>91</a:t>
            </a:r>
            <a:r>
              <a:rPr lang="en-US" b="0" dirty="0">
                <a:solidFill>
                  <a:srgbClr val="098658"/>
                </a:solidFill>
                <a:effectLst/>
                <a:latin typeface="Consolas" panose="020B0609020204030204" pitchFamily="49" charset="0"/>
              </a:rPr>
              <a:t>  </a:t>
            </a:r>
            <a:r>
              <a:rPr lang="en-US" b="0" dirty="0">
                <a:solidFill>
                  <a:srgbClr val="008000"/>
                </a:solidFill>
                <a:effectLst/>
                <a:latin typeface="Consolas" panose="020B0609020204030204" pitchFamily="49" charset="0"/>
              </a:rPr>
              <a:t># 'Z' + 1</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jne</a:t>
            </a:r>
            <a:r>
              <a:rPr lang="en-US" b="0" dirty="0">
                <a:solidFill>
                  <a:srgbClr val="000000"/>
                </a:solidFill>
                <a:effectLst/>
                <a:latin typeface="Consolas" panose="020B0609020204030204" pitchFamily="49" charset="0"/>
              </a:rPr>
              <a:t>     </a:t>
            </a:r>
            <a:r>
              <a:rPr lang="en-US" b="0" dirty="0">
                <a:solidFill>
                  <a:srgbClr val="008080"/>
                </a:solidFill>
                <a:effectLst/>
                <a:latin typeface="Consolas" panose="020B0609020204030204" pitchFamily="49" charset="0"/>
              </a:rPr>
              <a:t>.L2</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xor</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eax</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eax</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pop</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rbx</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a:t>
            </a:r>
            <a:endParaRPr lang="en-US" b="0" dirty="0">
              <a:solidFill>
                <a:srgbClr val="000000"/>
              </a:solidFill>
              <a:effectLst/>
              <a:latin typeface="Consolas" panose="020B0609020204030204" pitchFamily="49" charset="0"/>
            </a:endParaRPr>
          </a:p>
        </p:txBody>
      </p:sp>
      <p:sp>
        <p:nvSpPr>
          <p:cNvPr id="9" name="Freeform: Shape 8">
            <a:extLst>
              <a:ext uri="{FF2B5EF4-FFF2-40B4-BE49-F238E27FC236}">
                <a16:creationId xmlns:a16="http://schemas.microsoft.com/office/drawing/2014/main" id="{20680602-44BC-FAE4-546C-148F2B85F382}"/>
              </a:ext>
            </a:extLst>
          </p:cNvPr>
          <p:cNvSpPr/>
          <p:nvPr/>
        </p:nvSpPr>
        <p:spPr>
          <a:xfrm>
            <a:off x="9601200" y="3187700"/>
            <a:ext cx="1892796" cy="1371600"/>
          </a:xfrm>
          <a:custGeom>
            <a:avLst/>
            <a:gdLst>
              <a:gd name="csX0" fmla="*/ 0 w 1892796"/>
              <a:gd name="csY0" fmla="*/ 1371600 h 1371600"/>
              <a:gd name="csX1" fmla="*/ 1371600 w 1892796"/>
              <a:gd name="csY1" fmla="*/ 1295400 h 1371600"/>
              <a:gd name="csX2" fmla="*/ 1790700 w 1892796"/>
              <a:gd name="csY2" fmla="*/ 914400 h 1371600"/>
              <a:gd name="csX3" fmla="*/ 1879600 w 1892796"/>
              <a:gd name="csY3" fmla="*/ 444500 h 1371600"/>
              <a:gd name="csX4" fmla="*/ 1574800 w 1892796"/>
              <a:gd name="csY4" fmla="*/ 88900 h 1371600"/>
              <a:gd name="csX5" fmla="*/ 711200 w 1892796"/>
              <a:gd name="csY5" fmla="*/ 0 h 1371600"/>
            </a:gdLst>
            <a:ahLst/>
            <a:cxnLst>
              <a:cxn ang="0">
                <a:pos x="csX0" y="csY0"/>
              </a:cxn>
              <a:cxn ang="0">
                <a:pos x="csX1" y="csY1"/>
              </a:cxn>
              <a:cxn ang="0">
                <a:pos x="csX2" y="csY2"/>
              </a:cxn>
              <a:cxn ang="0">
                <a:pos x="csX3" y="csY3"/>
              </a:cxn>
              <a:cxn ang="0">
                <a:pos x="csX4" y="csY4"/>
              </a:cxn>
              <a:cxn ang="0">
                <a:pos x="csX5" y="csY5"/>
              </a:cxn>
            </a:cxnLst>
            <a:rect l="l" t="t" r="r" b="b"/>
            <a:pathLst>
              <a:path w="1892796" h="1371600">
                <a:moveTo>
                  <a:pt x="0" y="1371600"/>
                </a:moveTo>
                <a:cubicBezTo>
                  <a:pt x="536575" y="1371600"/>
                  <a:pt x="1073150" y="1371600"/>
                  <a:pt x="1371600" y="1295400"/>
                </a:cubicBezTo>
                <a:cubicBezTo>
                  <a:pt x="1670050" y="1219200"/>
                  <a:pt x="1706033" y="1056217"/>
                  <a:pt x="1790700" y="914400"/>
                </a:cubicBezTo>
                <a:cubicBezTo>
                  <a:pt x="1875367" y="772583"/>
                  <a:pt x="1915583" y="582083"/>
                  <a:pt x="1879600" y="444500"/>
                </a:cubicBezTo>
                <a:cubicBezTo>
                  <a:pt x="1843617" y="306917"/>
                  <a:pt x="1769533" y="162983"/>
                  <a:pt x="1574800" y="88900"/>
                </a:cubicBezTo>
                <a:cubicBezTo>
                  <a:pt x="1380067" y="14817"/>
                  <a:pt x="1045633" y="7408"/>
                  <a:pt x="711200" y="0"/>
                </a:cubicBezTo>
              </a:path>
            </a:pathLst>
          </a:custGeom>
          <a:noFill/>
          <a:ln>
            <a:prstDash val="dash"/>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9467C5C-EB0A-E096-1B7B-496CAAA1E784}"/>
              </a:ext>
            </a:extLst>
          </p:cNvPr>
          <p:cNvSpPr txBox="1"/>
          <p:nvPr/>
        </p:nvSpPr>
        <p:spPr>
          <a:xfrm>
            <a:off x="838200" y="6308209"/>
            <a:ext cx="6096000" cy="369332"/>
          </a:xfrm>
          <a:prstGeom prst="rect">
            <a:avLst/>
          </a:prstGeom>
          <a:noFill/>
        </p:spPr>
        <p:txBody>
          <a:bodyPr wrap="square">
            <a:spAutoFit/>
          </a:bodyPr>
          <a:lstStyle/>
          <a:p>
            <a:r>
              <a:rPr lang="en-US" dirty="0">
                <a:hlinkClick r:id="rId3"/>
              </a:rPr>
              <a:t>https://godbolt.org/z/qWYcKbfja</a:t>
            </a:r>
            <a:endParaRPr lang="en-US" dirty="0"/>
          </a:p>
        </p:txBody>
      </p:sp>
      <p:pic>
        <p:nvPicPr>
          <p:cNvPr id="13" name="Picture 12">
            <a:extLst>
              <a:ext uri="{FF2B5EF4-FFF2-40B4-BE49-F238E27FC236}">
                <a16:creationId xmlns:a16="http://schemas.microsoft.com/office/drawing/2014/main" id="{F9A90978-E162-1CB9-BABB-D1B4DB0BA41C}"/>
              </a:ext>
            </a:extLst>
          </p:cNvPr>
          <p:cNvPicPr>
            <a:picLocks noChangeAspect="1"/>
          </p:cNvPicPr>
          <p:nvPr/>
        </p:nvPicPr>
        <p:blipFill>
          <a:blip r:embed="rId4"/>
          <a:stretch>
            <a:fillRect/>
          </a:stretch>
        </p:blipFill>
        <p:spPr>
          <a:xfrm>
            <a:off x="10093812" y="81266"/>
            <a:ext cx="2034687" cy="2027472"/>
          </a:xfrm>
          <a:prstGeom prst="rect">
            <a:avLst/>
          </a:prstGeom>
        </p:spPr>
      </p:pic>
    </p:spTree>
    <p:extLst>
      <p:ext uri="{BB962C8B-B14F-4D97-AF65-F5344CB8AC3E}">
        <p14:creationId xmlns:p14="http://schemas.microsoft.com/office/powerpoint/2010/main" val="4511023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D937E-3404-C809-8E03-DEDC77707D24}"/>
              </a:ext>
            </a:extLst>
          </p:cNvPr>
          <p:cNvSpPr>
            <a:spLocks noGrp="1"/>
          </p:cNvSpPr>
          <p:nvPr>
            <p:ph type="title"/>
          </p:nvPr>
        </p:nvSpPr>
        <p:spPr/>
        <p:txBody>
          <a:bodyPr/>
          <a:lstStyle/>
          <a:p>
            <a:r>
              <a:rPr lang="ru-RU" dirty="0"/>
              <a:t>Цикл </a:t>
            </a:r>
            <a:r>
              <a:rPr lang="en-US" dirty="0"/>
              <a:t>do-while</a:t>
            </a:r>
          </a:p>
        </p:txBody>
      </p:sp>
      <p:sp>
        <p:nvSpPr>
          <p:cNvPr id="4" name="Text Placeholder 3">
            <a:extLst>
              <a:ext uri="{FF2B5EF4-FFF2-40B4-BE49-F238E27FC236}">
                <a16:creationId xmlns:a16="http://schemas.microsoft.com/office/drawing/2014/main" id="{E71E181B-EC07-D3BA-F7DB-5D1E8743AE2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222797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F167E4-857C-53A9-A04D-F957EC2C7EA6}"/>
              </a:ext>
            </a:extLst>
          </p:cNvPr>
          <p:cNvSpPr>
            <a:spLocks noGrp="1"/>
          </p:cNvSpPr>
          <p:nvPr>
            <p:ph type="title"/>
          </p:nvPr>
        </p:nvSpPr>
        <p:spPr/>
        <p:txBody>
          <a:bodyPr/>
          <a:lstStyle/>
          <a:p>
            <a:r>
              <a:rPr lang="ru-RU" dirty="0"/>
              <a:t>Цикл </a:t>
            </a:r>
            <a:r>
              <a:rPr lang="en-US" dirty="0"/>
              <a:t>do-while</a:t>
            </a:r>
          </a:p>
        </p:txBody>
      </p:sp>
      <p:sp>
        <p:nvSpPr>
          <p:cNvPr id="5" name="Content Placeholder 4">
            <a:extLst>
              <a:ext uri="{FF2B5EF4-FFF2-40B4-BE49-F238E27FC236}">
                <a16:creationId xmlns:a16="http://schemas.microsoft.com/office/drawing/2014/main" id="{5781D549-5003-7672-8484-CADAA5AEA0FA}"/>
              </a:ext>
            </a:extLst>
          </p:cNvPr>
          <p:cNvSpPr>
            <a:spLocks noGrp="1"/>
          </p:cNvSpPr>
          <p:nvPr>
            <p:ph idx="1"/>
          </p:nvPr>
        </p:nvSpPr>
        <p:spPr/>
        <p:txBody>
          <a:bodyPr/>
          <a:lstStyle/>
          <a:p>
            <a:r>
              <a:rPr lang="ru-RU" dirty="0"/>
              <a:t>Цикл </a:t>
            </a:r>
            <a:r>
              <a:rPr lang="ru-RU" dirty="0" err="1"/>
              <a:t>do-while</a:t>
            </a:r>
            <a:r>
              <a:rPr lang="ru-RU" dirty="0"/>
              <a:t> проверяет условие после выполнения тела</a:t>
            </a:r>
            <a:r>
              <a:rPr lang="en-US" dirty="0"/>
              <a:t> </a:t>
            </a:r>
            <a:r>
              <a:rPr lang="ru-RU" dirty="0"/>
              <a:t>и повторяет тело только если условие истинно</a:t>
            </a:r>
            <a:endParaRPr lang="en-US" dirty="0"/>
          </a:p>
          <a:p>
            <a:pPr lvl="1">
              <a:buNone/>
            </a:pPr>
            <a:r>
              <a:rPr lang="en-US" b="0" dirty="0">
                <a:solidFill>
                  <a:srgbClr val="8F08C4"/>
                </a:solidFill>
                <a:effectLst/>
                <a:latin typeface="Consolas" panose="020B0609020204030204" pitchFamily="49" charset="0"/>
              </a:rPr>
              <a:t>do</a:t>
            </a:r>
            <a:r>
              <a:rPr lang="en-US" b="0" dirty="0">
                <a:solidFill>
                  <a:srgbClr val="000000"/>
                </a:solidFill>
                <a:effectLst/>
                <a:latin typeface="Consolas" panose="020B0609020204030204" pitchFamily="49" charset="0"/>
              </a:rPr>
              <a:t> {</a:t>
            </a:r>
          </a:p>
          <a:p>
            <a:pPr lvl="1">
              <a:buNone/>
            </a:pP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a:t>
            </a:r>
            <a:r>
              <a:rPr lang="en-US" b="0" dirty="0" err="1">
                <a:solidFill>
                  <a:srgbClr val="008000"/>
                </a:solidFill>
                <a:effectLst/>
                <a:latin typeface="Consolas" panose="020B0609020204030204" pitchFamily="49" charset="0"/>
              </a:rPr>
              <a:t>тело</a:t>
            </a:r>
            <a:r>
              <a:rPr lang="en-US" b="0" dirty="0">
                <a:solidFill>
                  <a:srgbClr val="008000"/>
                </a:solidFill>
                <a:effectLst/>
                <a:latin typeface="Consolas" panose="020B0609020204030204" pitchFamily="49" charset="0"/>
              </a:rPr>
              <a:t> </a:t>
            </a:r>
            <a:r>
              <a:rPr lang="en-US" b="0" dirty="0" err="1">
                <a:solidFill>
                  <a:srgbClr val="008000"/>
                </a:solidFill>
                <a:effectLst/>
                <a:latin typeface="Consolas" panose="020B0609020204030204" pitchFamily="49" charset="0"/>
              </a:rPr>
              <a:t>цикла</a:t>
            </a:r>
            <a:endParaRPr lang="en-US" b="0" dirty="0">
              <a:solidFill>
                <a:srgbClr val="000000"/>
              </a:solidFill>
              <a:effectLst/>
              <a:latin typeface="Consolas" panose="020B0609020204030204" pitchFamily="49" charset="0"/>
            </a:endParaRPr>
          </a:p>
          <a:p>
            <a:pPr lvl="1">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while</a:t>
            </a:r>
            <a:r>
              <a:rPr lang="en-US" b="0" dirty="0">
                <a:solidFill>
                  <a:srgbClr val="000000"/>
                </a:solidFill>
                <a:effectLst/>
                <a:latin typeface="Consolas" panose="020B0609020204030204" pitchFamily="49" charset="0"/>
              </a:rPr>
              <a:t> (condition);</a:t>
            </a:r>
            <a:endParaRPr lang="ru-RU" dirty="0"/>
          </a:p>
          <a:p>
            <a:r>
              <a:rPr lang="ru-RU" dirty="0"/>
              <a:t>тело выполняется минимум один раз</a:t>
            </a:r>
          </a:p>
          <a:p>
            <a:r>
              <a:rPr lang="ru-RU" dirty="0"/>
              <a:t>условие проверяется в конце</a:t>
            </a:r>
          </a:p>
          <a:p>
            <a:endParaRPr lang="en-US" dirty="0"/>
          </a:p>
        </p:txBody>
      </p:sp>
    </p:spTree>
    <p:extLst>
      <p:ext uri="{BB962C8B-B14F-4D97-AF65-F5344CB8AC3E}">
        <p14:creationId xmlns:p14="http://schemas.microsoft.com/office/powerpoint/2010/main" val="33543541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E17CB-2C97-97AA-B856-83E05EF3597F}"/>
              </a:ext>
            </a:extLst>
          </p:cNvPr>
          <p:cNvSpPr>
            <a:spLocks noGrp="1"/>
          </p:cNvSpPr>
          <p:nvPr>
            <p:ph type="title"/>
          </p:nvPr>
        </p:nvSpPr>
        <p:spPr/>
        <p:txBody>
          <a:bodyPr/>
          <a:lstStyle/>
          <a:p>
            <a:r>
              <a:rPr lang="ru-RU" dirty="0"/>
              <a:t>Пример ожидания положительного числа</a:t>
            </a:r>
            <a:endParaRPr lang="en-US" dirty="0"/>
          </a:p>
        </p:txBody>
      </p:sp>
      <p:sp>
        <p:nvSpPr>
          <p:cNvPr id="5" name="TextBox 4">
            <a:extLst>
              <a:ext uri="{FF2B5EF4-FFF2-40B4-BE49-F238E27FC236}">
                <a16:creationId xmlns:a16="http://schemas.microsoft.com/office/drawing/2014/main" id="{6AE10D63-9308-131A-63DC-037DFB73B0D6}"/>
              </a:ext>
            </a:extLst>
          </p:cNvPr>
          <p:cNvSpPr txBox="1"/>
          <p:nvPr/>
        </p:nvSpPr>
        <p:spPr>
          <a:xfrm>
            <a:off x="838200" y="1866122"/>
            <a:ext cx="8301135" cy="1754326"/>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n;</a:t>
            </a:r>
          </a:p>
          <a:p>
            <a:pPr>
              <a:buNone/>
            </a:pPr>
            <a:endParaRPr lang="en-US" b="0" dirty="0">
              <a:solidFill>
                <a:srgbClr val="000000"/>
              </a:solidFill>
              <a:effectLst/>
              <a:latin typeface="Consolas" panose="020B0609020204030204" pitchFamily="49" charset="0"/>
            </a:endParaRPr>
          </a:p>
          <a:p>
            <a:pPr>
              <a:buNone/>
            </a:pPr>
            <a:r>
              <a:rPr lang="en-US" b="0" dirty="0">
                <a:solidFill>
                  <a:srgbClr val="8F08C4"/>
                </a:solidFill>
                <a:effectLst/>
                <a:latin typeface="Consolas" panose="020B0609020204030204" pitchFamily="49" charset="0"/>
              </a:rPr>
              <a:t>do</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ru-RU" b="0" dirty="0">
                <a:solidFill>
                  <a:srgbClr val="A31515"/>
                </a:solidFill>
                <a:effectLst/>
                <a:latin typeface="Consolas" panose="020B0609020204030204" pitchFamily="49" charset="0"/>
              </a:rPr>
              <a:t>Введите положительное число: </a:t>
            </a:r>
            <a:r>
              <a:rPr lang="ru-RU" b="0" dirty="0">
                <a:solidFill>
                  <a:srgbClr val="E21F1F"/>
                </a:solidFill>
                <a:effectLst/>
                <a:latin typeface="Consolas" panose="020B0609020204030204" pitchFamily="49" charset="0"/>
              </a:rPr>
              <a:t>"</a:t>
            </a:r>
            <a:r>
              <a:rPr lang="ru-RU" b="0" dirty="0">
                <a:solidFill>
                  <a:srgbClr val="000000"/>
                </a:solidFill>
                <a:effectLst/>
                <a:latin typeface="Consolas" panose="020B0609020204030204" pitchFamily="49" charset="0"/>
              </a:rPr>
              <a:t>);</a:t>
            </a:r>
          </a:p>
          <a:p>
            <a:pPr>
              <a:buNone/>
            </a:pPr>
            <a:r>
              <a:rPr lang="ru-RU"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scanf</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en-US" b="0" dirty="0">
                <a:solidFill>
                  <a:srgbClr val="1F377F"/>
                </a:solidFill>
                <a:effectLst/>
                <a:latin typeface="Consolas" panose="020B0609020204030204" pitchFamily="49" charset="0"/>
              </a:rPr>
              <a:t>%d</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 &amp;n);</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while</a:t>
            </a:r>
            <a:r>
              <a:rPr lang="en-US" b="0" dirty="0">
                <a:solidFill>
                  <a:srgbClr val="000000"/>
                </a:solidFill>
                <a:effectLst/>
                <a:latin typeface="Consolas" panose="020B0609020204030204" pitchFamily="49" charset="0"/>
              </a:rPr>
              <a:t> (n &lt;=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4213501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ABDD8-F39D-6521-DAD5-CCC5D023409C}"/>
              </a:ext>
            </a:extLst>
          </p:cNvPr>
          <p:cNvSpPr>
            <a:spLocks noGrp="1"/>
          </p:cNvSpPr>
          <p:nvPr>
            <p:ph type="title"/>
          </p:nvPr>
        </p:nvSpPr>
        <p:spPr/>
        <p:txBody>
          <a:bodyPr/>
          <a:lstStyle/>
          <a:p>
            <a:r>
              <a:rPr lang="ru-RU" dirty="0"/>
              <a:t>Цикл </a:t>
            </a:r>
            <a:r>
              <a:rPr lang="en-US" dirty="0"/>
              <a:t>do-while</a:t>
            </a:r>
            <a:r>
              <a:rPr lang="ru-RU" dirty="0"/>
              <a:t> на ассемблере</a:t>
            </a:r>
            <a:endParaRPr lang="en-US" dirty="0"/>
          </a:p>
        </p:txBody>
      </p:sp>
      <p:sp>
        <p:nvSpPr>
          <p:cNvPr id="6" name="TextBox 5">
            <a:extLst>
              <a:ext uri="{FF2B5EF4-FFF2-40B4-BE49-F238E27FC236}">
                <a16:creationId xmlns:a16="http://schemas.microsoft.com/office/drawing/2014/main" id="{8CCB05F5-0B17-2984-1026-7B009B1DB3DE}"/>
              </a:ext>
            </a:extLst>
          </p:cNvPr>
          <p:cNvSpPr txBox="1"/>
          <p:nvPr/>
        </p:nvSpPr>
        <p:spPr>
          <a:xfrm>
            <a:off x="952500" y="1852134"/>
            <a:ext cx="4635500" cy="2862322"/>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#include</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&lt;</a:t>
            </a:r>
            <a:r>
              <a:rPr lang="en-US" b="0" dirty="0" err="1">
                <a:solidFill>
                  <a:srgbClr val="A31515"/>
                </a:solidFill>
                <a:effectLst/>
                <a:latin typeface="Consolas" panose="020B0609020204030204" pitchFamily="49" charset="0"/>
              </a:rPr>
              <a:t>stdio.h</a:t>
            </a:r>
            <a:r>
              <a:rPr lang="en-US" b="0" dirty="0">
                <a:solidFill>
                  <a:srgbClr val="0000FF"/>
                </a:solidFill>
                <a:effectLst/>
                <a:latin typeface="Consolas" panose="020B0609020204030204" pitchFamily="49" charset="0"/>
              </a:rPr>
              <a:t>&gt;</a:t>
            </a:r>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main()</a:t>
            </a:r>
          </a:p>
          <a:p>
            <a:pPr>
              <a:buNone/>
            </a:pP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c;</a:t>
            </a:r>
          </a:p>
          <a:p>
            <a:pPr>
              <a:buNone/>
            </a:pP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do</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c = </a:t>
            </a:r>
            <a:r>
              <a:rPr lang="en-US" b="0" dirty="0" err="1">
                <a:solidFill>
                  <a:srgbClr val="000000"/>
                </a:solidFill>
                <a:effectLst/>
                <a:latin typeface="Consolas" panose="020B0609020204030204" pitchFamily="49" charset="0"/>
              </a:rPr>
              <a:t>getchar</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while</a:t>
            </a:r>
            <a:r>
              <a:rPr lang="en-US" b="0" dirty="0">
                <a:solidFill>
                  <a:srgbClr val="000000"/>
                </a:solidFill>
                <a:effectLst/>
                <a:latin typeface="Consolas" panose="020B0609020204030204" pitchFamily="49" charset="0"/>
              </a:rPr>
              <a:t> (c != EOF &amp;&amp; c != </a:t>
            </a:r>
            <a:r>
              <a:rPr lang="en-US" b="0" dirty="0">
                <a:solidFill>
                  <a:srgbClr val="A31515"/>
                </a:solidFill>
                <a:effectLst/>
                <a:latin typeface="Consolas" panose="020B0609020204030204" pitchFamily="49" charset="0"/>
              </a:rPr>
              <a:t>'A'</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DE25CA60-DC79-477E-B1B4-195FC54C2182}"/>
              </a:ext>
            </a:extLst>
          </p:cNvPr>
          <p:cNvSpPr txBox="1"/>
          <p:nvPr/>
        </p:nvSpPr>
        <p:spPr>
          <a:xfrm>
            <a:off x="6096000" y="1852134"/>
            <a:ext cx="4470400" cy="3416320"/>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main</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push</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rcx</a:t>
            </a: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.L2</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call</a:t>
            </a:r>
            <a:r>
              <a:rPr lang="en-US" b="0" dirty="0">
                <a:solidFill>
                  <a:srgbClr val="000000"/>
                </a:solidFill>
                <a:effectLst/>
                <a:latin typeface="Consolas" panose="020B0609020204030204" pitchFamily="49" charset="0"/>
              </a:rPr>
              <a:t>    </a:t>
            </a:r>
            <a:r>
              <a:rPr lang="en-US" b="0" dirty="0" err="1">
                <a:solidFill>
                  <a:srgbClr val="008080"/>
                </a:solidFill>
                <a:effectLst/>
                <a:latin typeface="Consolas" panose="020B0609020204030204" pitchFamily="49" charset="0"/>
              </a:rPr>
              <a:t>getchar</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cmp</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eax</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je</a:t>
            </a:r>
            <a:r>
              <a:rPr lang="en-US" b="0" dirty="0">
                <a:solidFill>
                  <a:srgbClr val="000000"/>
                </a:solidFill>
                <a:effectLst/>
                <a:latin typeface="Consolas" panose="020B0609020204030204" pitchFamily="49" charset="0"/>
              </a:rPr>
              <a:t>      </a:t>
            </a:r>
            <a:r>
              <a:rPr lang="en-US" b="0" dirty="0">
                <a:solidFill>
                  <a:srgbClr val="008080"/>
                </a:solidFill>
                <a:effectLst/>
                <a:latin typeface="Consolas" panose="020B0609020204030204" pitchFamily="49" charset="0"/>
              </a:rPr>
              <a:t>.L4</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cmp</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eax</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65</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jne</a:t>
            </a:r>
            <a:r>
              <a:rPr lang="en-US" b="0" dirty="0">
                <a:solidFill>
                  <a:srgbClr val="000000"/>
                </a:solidFill>
                <a:effectLst/>
                <a:latin typeface="Consolas" panose="020B0609020204030204" pitchFamily="49" charset="0"/>
              </a:rPr>
              <a:t>     </a:t>
            </a:r>
            <a:r>
              <a:rPr lang="en-US" b="0" dirty="0">
                <a:solidFill>
                  <a:srgbClr val="008080"/>
                </a:solidFill>
                <a:effectLst/>
                <a:latin typeface="Consolas" panose="020B0609020204030204" pitchFamily="49" charset="0"/>
              </a:rPr>
              <a:t>.L2</a:t>
            </a: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.L4</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xor</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eax</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eax</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pop</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rdx</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a:t>
            </a:r>
            <a:endParaRPr lang="en-US" b="0" dirty="0">
              <a:solidFill>
                <a:srgbClr val="000000"/>
              </a:solidFill>
              <a:effectLst/>
              <a:latin typeface="Consolas" panose="020B0609020204030204" pitchFamily="49" charset="0"/>
            </a:endParaRPr>
          </a:p>
        </p:txBody>
      </p:sp>
      <p:sp>
        <p:nvSpPr>
          <p:cNvPr id="11" name="Freeform: Shape 10">
            <a:extLst>
              <a:ext uri="{FF2B5EF4-FFF2-40B4-BE49-F238E27FC236}">
                <a16:creationId xmlns:a16="http://schemas.microsoft.com/office/drawing/2014/main" id="{34869A78-BF2A-4EA5-76BC-B1D66935E014}"/>
              </a:ext>
            </a:extLst>
          </p:cNvPr>
          <p:cNvSpPr/>
          <p:nvPr/>
        </p:nvSpPr>
        <p:spPr>
          <a:xfrm>
            <a:off x="9321800" y="3416300"/>
            <a:ext cx="1191926" cy="889000"/>
          </a:xfrm>
          <a:custGeom>
            <a:avLst/>
            <a:gdLst>
              <a:gd name="csX0" fmla="*/ 0 w 1191926"/>
              <a:gd name="csY0" fmla="*/ 0 h 889000"/>
              <a:gd name="csX1" fmla="*/ 939800 w 1191926"/>
              <a:gd name="csY1" fmla="*/ 88900 h 889000"/>
              <a:gd name="csX2" fmla="*/ 1155700 w 1191926"/>
              <a:gd name="csY2" fmla="*/ 495300 h 889000"/>
              <a:gd name="csX3" fmla="*/ 330200 w 1191926"/>
              <a:gd name="csY3" fmla="*/ 889000 h 889000"/>
            </a:gdLst>
            <a:ahLst/>
            <a:cxnLst>
              <a:cxn ang="0">
                <a:pos x="csX0" y="csY0"/>
              </a:cxn>
              <a:cxn ang="0">
                <a:pos x="csX1" y="csY1"/>
              </a:cxn>
              <a:cxn ang="0">
                <a:pos x="csX2" y="csY2"/>
              </a:cxn>
              <a:cxn ang="0">
                <a:pos x="csX3" y="csY3"/>
              </a:cxn>
            </a:cxnLst>
            <a:rect l="l" t="t" r="r" b="b"/>
            <a:pathLst>
              <a:path w="1191926" h="889000">
                <a:moveTo>
                  <a:pt x="0" y="0"/>
                </a:moveTo>
                <a:cubicBezTo>
                  <a:pt x="373591" y="3175"/>
                  <a:pt x="747183" y="6350"/>
                  <a:pt x="939800" y="88900"/>
                </a:cubicBezTo>
                <a:cubicBezTo>
                  <a:pt x="1132417" y="171450"/>
                  <a:pt x="1257300" y="361950"/>
                  <a:pt x="1155700" y="495300"/>
                </a:cubicBezTo>
                <a:cubicBezTo>
                  <a:pt x="1054100" y="628650"/>
                  <a:pt x="692150" y="758825"/>
                  <a:pt x="330200" y="889000"/>
                </a:cubicBezTo>
              </a:path>
            </a:pathLst>
          </a:custGeom>
          <a:noFill/>
          <a:ln>
            <a:prstDash val="dash"/>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7D1394AF-FEF6-D7F3-40C6-E83C705FA068}"/>
              </a:ext>
            </a:extLst>
          </p:cNvPr>
          <p:cNvSpPr/>
          <p:nvPr/>
        </p:nvSpPr>
        <p:spPr>
          <a:xfrm>
            <a:off x="9156700" y="2565400"/>
            <a:ext cx="1384021" cy="1384300"/>
          </a:xfrm>
          <a:custGeom>
            <a:avLst/>
            <a:gdLst>
              <a:gd name="csX0" fmla="*/ 0 w 1384021"/>
              <a:gd name="csY0" fmla="*/ 1384300 h 1384300"/>
              <a:gd name="csX1" fmla="*/ 965200 w 1384021"/>
              <a:gd name="csY1" fmla="*/ 1231900 h 1384300"/>
              <a:gd name="csX2" fmla="*/ 1371600 w 1384021"/>
              <a:gd name="csY2" fmla="*/ 685800 h 1384300"/>
              <a:gd name="csX3" fmla="*/ 1181100 w 1384021"/>
              <a:gd name="csY3" fmla="*/ 215900 h 1384300"/>
              <a:gd name="csX4" fmla="*/ 228600 w 1384021"/>
              <a:gd name="csY4" fmla="*/ 0 h 1384300"/>
            </a:gdLst>
            <a:ahLst/>
            <a:cxnLst>
              <a:cxn ang="0">
                <a:pos x="csX0" y="csY0"/>
              </a:cxn>
              <a:cxn ang="0">
                <a:pos x="csX1" y="csY1"/>
              </a:cxn>
              <a:cxn ang="0">
                <a:pos x="csX2" y="csY2"/>
              </a:cxn>
              <a:cxn ang="0">
                <a:pos x="csX3" y="csY3"/>
              </a:cxn>
              <a:cxn ang="0">
                <a:pos x="csX4" y="csY4"/>
              </a:cxn>
            </a:cxnLst>
            <a:rect l="l" t="t" r="r" b="b"/>
            <a:pathLst>
              <a:path w="1384021" h="1384300">
                <a:moveTo>
                  <a:pt x="0" y="1384300"/>
                </a:moveTo>
                <a:cubicBezTo>
                  <a:pt x="368300" y="1366308"/>
                  <a:pt x="736600" y="1348317"/>
                  <a:pt x="965200" y="1231900"/>
                </a:cubicBezTo>
                <a:cubicBezTo>
                  <a:pt x="1193800" y="1115483"/>
                  <a:pt x="1335617" y="855133"/>
                  <a:pt x="1371600" y="685800"/>
                </a:cubicBezTo>
                <a:cubicBezTo>
                  <a:pt x="1407583" y="516467"/>
                  <a:pt x="1371600" y="330200"/>
                  <a:pt x="1181100" y="215900"/>
                </a:cubicBezTo>
                <a:cubicBezTo>
                  <a:pt x="990600" y="101600"/>
                  <a:pt x="609600" y="50800"/>
                  <a:pt x="228600" y="0"/>
                </a:cubicBezTo>
              </a:path>
            </a:pathLst>
          </a:custGeom>
          <a:noFill/>
          <a:ln>
            <a:prstDash val="dash"/>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606D4A9-E899-19D5-B177-0DA811D04920}"/>
              </a:ext>
            </a:extLst>
          </p:cNvPr>
          <p:cNvSpPr txBox="1"/>
          <p:nvPr/>
        </p:nvSpPr>
        <p:spPr>
          <a:xfrm>
            <a:off x="838200" y="6148943"/>
            <a:ext cx="3644900" cy="369332"/>
          </a:xfrm>
          <a:prstGeom prst="rect">
            <a:avLst/>
          </a:prstGeom>
          <a:noFill/>
        </p:spPr>
        <p:txBody>
          <a:bodyPr wrap="square">
            <a:spAutoFit/>
          </a:bodyPr>
          <a:lstStyle/>
          <a:p>
            <a:r>
              <a:rPr lang="en-US" dirty="0">
                <a:hlinkClick r:id="rId3"/>
              </a:rPr>
              <a:t>https://godbolt.org/z/axqzsGqcG</a:t>
            </a:r>
            <a:endParaRPr lang="en-US" dirty="0"/>
          </a:p>
        </p:txBody>
      </p:sp>
      <p:pic>
        <p:nvPicPr>
          <p:cNvPr id="16" name="Picture 15">
            <a:extLst>
              <a:ext uri="{FF2B5EF4-FFF2-40B4-BE49-F238E27FC236}">
                <a16:creationId xmlns:a16="http://schemas.microsoft.com/office/drawing/2014/main" id="{41C1A1A7-6B2C-1E48-7287-48CD0A210C37}"/>
              </a:ext>
            </a:extLst>
          </p:cNvPr>
          <p:cNvPicPr>
            <a:picLocks noChangeAspect="1"/>
          </p:cNvPicPr>
          <p:nvPr/>
        </p:nvPicPr>
        <p:blipFill>
          <a:blip r:embed="rId4"/>
          <a:stretch>
            <a:fillRect/>
          </a:stretch>
        </p:blipFill>
        <p:spPr>
          <a:xfrm>
            <a:off x="9944099" y="189176"/>
            <a:ext cx="2010105" cy="2066332"/>
          </a:xfrm>
          <a:prstGeom prst="rect">
            <a:avLst/>
          </a:prstGeom>
        </p:spPr>
      </p:pic>
    </p:spTree>
    <p:extLst>
      <p:ext uri="{BB962C8B-B14F-4D97-AF65-F5344CB8AC3E}">
        <p14:creationId xmlns:p14="http://schemas.microsoft.com/office/powerpoint/2010/main" val="9077628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090378D-BC0A-E043-9B89-7587AAA95F5C}"/>
              </a:ext>
            </a:extLst>
          </p:cNvPr>
          <p:cNvSpPr>
            <a:spLocks noGrp="1"/>
          </p:cNvSpPr>
          <p:nvPr>
            <p:ph type="title"/>
          </p:nvPr>
        </p:nvSpPr>
        <p:spPr/>
        <p:txBody>
          <a:bodyPr/>
          <a:lstStyle/>
          <a:p>
            <a:r>
              <a:rPr lang="ru-RU" dirty="0"/>
              <a:t>Сравнение циклов</a:t>
            </a:r>
            <a:r>
              <a:rPr lang="en-US" dirty="0"/>
              <a:t> while, for </a:t>
            </a:r>
            <a:r>
              <a:rPr lang="ru-RU" dirty="0"/>
              <a:t>и </a:t>
            </a:r>
            <a:r>
              <a:rPr lang="en-US" dirty="0"/>
              <a:t>do-while</a:t>
            </a:r>
          </a:p>
        </p:txBody>
      </p:sp>
      <p:sp>
        <p:nvSpPr>
          <p:cNvPr id="4" name="Content Placeholder 3">
            <a:extLst>
              <a:ext uri="{FF2B5EF4-FFF2-40B4-BE49-F238E27FC236}">
                <a16:creationId xmlns:a16="http://schemas.microsoft.com/office/drawing/2014/main" id="{E2EAD42A-654F-8A00-E442-1177422C7926}"/>
              </a:ext>
            </a:extLst>
          </p:cNvPr>
          <p:cNvSpPr>
            <a:spLocks noGrp="1"/>
          </p:cNvSpPr>
          <p:nvPr>
            <p:ph idx="1"/>
          </p:nvPr>
        </p:nvSpPr>
        <p:spPr/>
        <p:txBody>
          <a:bodyPr/>
          <a:lstStyle/>
          <a:p>
            <a:r>
              <a:rPr lang="ru-RU" dirty="0" err="1"/>
              <a:t>while</a:t>
            </a:r>
            <a:r>
              <a:rPr lang="ru-RU" dirty="0"/>
              <a:t> — когда условие главное</a:t>
            </a:r>
          </a:p>
          <a:p>
            <a:r>
              <a:rPr lang="ru-RU" dirty="0" err="1"/>
              <a:t>for</a:t>
            </a:r>
            <a:r>
              <a:rPr lang="ru-RU" dirty="0"/>
              <a:t> — когда есть счётчик или перебор</a:t>
            </a:r>
          </a:p>
          <a:p>
            <a:r>
              <a:rPr lang="ru-RU" dirty="0" err="1"/>
              <a:t>do-while</a:t>
            </a:r>
            <a:r>
              <a:rPr lang="ru-RU" dirty="0"/>
              <a:t> — когда тело должно выполниться минимум один раз</a:t>
            </a:r>
          </a:p>
          <a:p>
            <a:r>
              <a:rPr lang="ru-RU" dirty="0"/>
              <a:t>Все три конструкции взаимозаменяемы по выразительной силе.</a:t>
            </a:r>
          </a:p>
        </p:txBody>
      </p:sp>
    </p:spTree>
    <p:extLst>
      <p:ext uri="{BB962C8B-B14F-4D97-AF65-F5344CB8AC3E}">
        <p14:creationId xmlns:p14="http://schemas.microsoft.com/office/powerpoint/2010/main" val="41712601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7664B8-DCDB-1E7F-7C54-E0B44F90AB49}"/>
              </a:ext>
            </a:extLst>
          </p:cNvPr>
          <p:cNvSpPr>
            <a:spLocks noGrp="1"/>
          </p:cNvSpPr>
          <p:nvPr>
            <p:ph type="title"/>
          </p:nvPr>
        </p:nvSpPr>
        <p:spPr/>
        <p:txBody>
          <a:bodyPr/>
          <a:lstStyle/>
          <a:p>
            <a:r>
              <a:rPr lang="ru-RU" dirty="0"/>
              <a:t>Массивы</a:t>
            </a:r>
            <a:endParaRPr lang="en-US" dirty="0"/>
          </a:p>
        </p:txBody>
      </p:sp>
      <p:sp>
        <p:nvSpPr>
          <p:cNvPr id="5" name="Text Placeholder 4">
            <a:extLst>
              <a:ext uri="{FF2B5EF4-FFF2-40B4-BE49-F238E27FC236}">
                <a16:creationId xmlns:a16="http://schemas.microsoft.com/office/drawing/2014/main" id="{5A725672-6867-8E55-49D5-027659DC8F5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545385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295AF7-85AC-BC82-F2A7-386642DD04B7}"/>
              </a:ext>
            </a:extLst>
          </p:cNvPr>
          <p:cNvSpPr>
            <a:spLocks noGrp="1"/>
          </p:cNvSpPr>
          <p:nvPr>
            <p:ph type="title"/>
          </p:nvPr>
        </p:nvSpPr>
        <p:spPr/>
        <p:txBody>
          <a:bodyPr/>
          <a:lstStyle/>
          <a:p>
            <a:r>
              <a:rPr lang="ru-RU" dirty="0"/>
              <a:t>Зачем нужны массивы</a:t>
            </a:r>
            <a:endParaRPr lang="en-US" dirty="0"/>
          </a:p>
        </p:txBody>
      </p:sp>
      <p:sp>
        <p:nvSpPr>
          <p:cNvPr id="5" name="Content Placeholder 4">
            <a:extLst>
              <a:ext uri="{FF2B5EF4-FFF2-40B4-BE49-F238E27FC236}">
                <a16:creationId xmlns:a16="http://schemas.microsoft.com/office/drawing/2014/main" id="{86C3FA05-28D1-194E-C00E-C7B8E3A310ED}"/>
              </a:ext>
            </a:extLst>
          </p:cNvPr>
          <p:cNvSpPr>
            <a:spLocks noGrp="1"/>
          </p:cNvSpPr>
          <p:nvPr>
            <p:ph idx="1"/>
          </p:nvPr>
        </p:nvSpPr>
        <p:spPr/>
        <p:txBody>
          <a:bodyPr/>
          <a:lstStyle/>
          <a:p>
            <a:r>
              <a:rPr lang="ru-RU" dirty="0"/>
              <a:t>Иногда нужно хранить много значений одного типа.</a:t>
            </a:r>
          </a:p>
          <a:p>
            <a:r>
              <a:rPr lang="ru-RU" dirty="0"/>
              <a:t>Без массива:</a:t>
            </a:r>
          </a:p>
          <a:p>
            <a:pPr lvl="1"/>
            <a:r>
              <a:rPr lang="ru-RU" dirty="0" err="1"/>
              <a:t>int</a:t>
            </a:r>
            <a:r>
              <a:rPr lang="ru-RU" dirty="0"/>
              <a:t> a0, a1, a2, a3, a4;</a:t>
            </a:r>
          </a:p>
          <a:p>
            <a:r>
              <a:rPr lang="ru-RU" dirty="0"/>
              <a:t>С массивом:</a:t>
            </a:r>
          </a:p>
          <a:p>
            <a:pPr lvl="1"/>
            <a:r>
              <a:rPr lang="ru-RU" dirty="0" err="1"/>
              <a:t>int</a:t>
            </a:r>
            <a:r>
              <a:rPr lang="ru-RU" dirty="0"/>
              <a:t> a[5];</a:t>
            </a:r>
          </a:p>
          <a:p>
            <a:r>
              <a:rPr lang="ru-RU" dirty="0"/>
              <a:t>Массив — это набор элементов одного типа, расположенных подряд в памяти.</a:t>
            </a:r>
          </a:p>
        </p:txBody>
      </p:sp>
    </p:spTree>
    <p:extLst>
      <p:ext uri="{BB962C8B-B14F-4D97-AF65-F5344CB8AC3E}">
        <p14:creationId xmlns:p14="http://schemas.microsoft.com/office/powerpoint/2010/main" val="21573005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8A3AC-067E-59A8-D960-D9AE15D63448}"/>
              </a:ext>
            </a:extLst>
          </p:cNvPr>
          <p:cNvSpPr>
            <a:spLocks noGrp="1"/>
          </p:cNvSpPr>
          <p:nvPr>
            <p:ph type="title"/>
          </p:nvPr>
        </p:nvSpPr>
        <p:spPr/>
        <p:txBody>
          <a:bodyPr/>
          <a:lstStyle/>
          <a:p>
            <a:r>
              <a:rPr lang="ru-RU" dirty="0"/>
              <a:t>Объявление массива</a:t>
            </a:r>
            <a:endParaRPr lang="en-US" dirty="0"/>
          </a:p>
        </p:txBody>
      </p:sp>
      <p:sp>
        <p:nvSpPr>
          <p:cNvPr id="3" name="Content Placeholder 2">
            <a:extLst>
              <a:ext uri="{FF2B5EF4-FFF2-40B4-BE49-F238E27FC236}">
                <a16:creationId xmlns:a16="http://schemas.microsoft.com/office/drawing/2014/main" id="{0BC2E1D1-97ED-54BE-AF86-AE4AC33BF199}"/>
              </a:ext>
            </a:extLst>
          </p:cNvPr>
          <p:cNvSpPr>
            <a:spLocks noGrp="1"/>
          </p:cNvSpPr>
          <p:nvPr>
            <p:ph idx="1"/>
          </p:nvPr>
        </p:nvSpPr>
        <p:spPr/>
        <p:txBody>
          <a:bodyPr/>
          <a:lstStyle/>
          <a:p>
            <a:r>
              <a:rPr lang="ru-RU" dirty="0"/>
              <a:t>Общая форма:</a:t>
            </a:r>
          </a:p>
          <a:p>
            <a:pPr lvl="1"/>
            <a:r>
              <a:rPr lang="ru-RU" dirty="0" err="1"/>
              <a:t>type</a:t>
            </a:r>
            <a:r>
              <a:rPr lang="ru-RU" dirty="0"/>
              <a:t> </a:t>
            </a:r>
            <a:r>
              <a:rPr lang="ru-RU" dirty="0" err="1"/>
              <a:t>name</a:t>
            </a:r>
            <a:r>
              <a:rPr lang="ru-RU" dirty="0"/>
              <a:t>[</a:t>
            </a:r>
            <a:r>
              <a:rPr lang="ru-RU" dirty="0" err="1"/>
              <a:t>size</a:t>
            </a:r>
            <a:r>
              <a:rPr lang="ru-RU" dirty="0"/>
              <a:t>];</a:t>
            </a:r>
          </a:p>
          <a:p>
            <a:r>
              <a:rPr lang="ru-RU" dirty="0"/>
              <a:t>Пример:</a:t>
            </a:r>
          </a:p>
          <a:p>
            <a:pPr lvl="1"/>
            <a:r>
              <a:rPr lang="ru-RU" dirty="0" err="1"/>
              <a:t>int</a:t>
            </a:r>
            <a:r>
              <a:rPr lang="ru-RU" dirty="0"/>
              <a:t> a[10];</a:t>
            </a:r>
          </a:p>
          <a:p>
            <a:r>
              <a:rPr lang="ru-RU" dirty="0" err="1"/>
              <a:t>size</a:t>
            </a:r>
            <a:r>
              <a:rPr lang="ru-RU" dirty="0"/>
              <a:t> — количество элементов</a:t>
            </a:r>
          </a:p>
          <a:p>
            <a:r>
              <a:rPr lang="ru-RU" dirty="0"/>
              <a:t>индексы: от 0 до </a:t>
            </a:r>
            <a:r>
              <a:rPr lang="ru-RU" dirty="0" err="1"/>
              <a:t>size</a:t>
            </a:r>
            <a:r>
              <a:rPr lang="ru-RU" dirty="0"/>
              <a:t> - 1</a:t>
            </a:r>
          </a:p>
          <a:p>
            <a:endParaRPr lang="en-US" dirty="0"/>
          </a:p>
        </p:txBody>
      </p:sp>
    </p:spTree>
    <p:extLst>
      <p:ext uri="{BB962C8B-B14F-4D97-AF65-F5344CB8AC3E}">
        <p14:creationId xmlns:p14="http://schemas.microsoft.com/office/powerpoint/2010/main" val="41593470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0A21F-7F52-DF23-7B48-F496BAD9DAA9}"/>
              </a:ext>
            </a:extLst>
          </p:cNvPr>
          <p:cNvSpPr>
            <a:spLocks noGrp="1"/>
          </p:cNvSpPr>
          <p:nvPr>
            <p:ph type="title"/>
          </p:nvPr>
        </p:nvSpPr>
        <p:spPr/>
        <p:txBody>
          <a:bodyPr/>
          <a:lstStyle/>
          <a:p>
            <a:r>
              <a:rPr lang="ru-RU" dirty="0"/>
              <a:t>Доступ к элементам</a:t>
            </a:r>
            <a:endParaRPr lang="en-US" dirty="0"/>
          </a:p>
        </p:txBody>
      </p:sp>
      <p:sp>
        <p:nvSpPr>
          <p:cNvPr id="3" name="Content Placeholder 2">
            <a:extLst>
              <a:ext uri="{FF2B5EF4-FFF2-40B4-BE49-F238E27FC236}">
                <a16:creationId xmlns:a16="http://schemas.microsoft.com/office/drawing/2014/main" id="{F861A3D8-27DC-B1A6-51BD-468BFCABE448}"/>
              </a:ext>
            </a:extLst>
          </p:cNvPr>
          <p:cNvSpPr>
            <a:spLocks noGrp="1"/>
          </p:cNvSpPr>
          <p:nvPr>
            <p:ph idx="1"/>
          </p:nvPr>
        </p:nvSpPr>
        <p:spPr/>
        <p:txBody>
          <a:bodyPr/>
          <a:lstStyle/>
          <a:p>
            <a:r>
              <a:rPr lang="ru-RU" dirty="0"/>
              <a:t>Обращение по индексу:</a:t>
            </a:r>
          </a:p>
          <a:p>
            <a:pPr lvl="1">
              <a:buNone/>
            </a:pPr>
            <a:r>
              <a:rPr lang="pt-BR" b="0" dirty="0">
                <a:solidFill>
                  <a:srgbClr val="000000"/>
                </a:solidFill>
                <a:effectLst/>
                <a:latin typeface="Consolas" panose="020B0609020204030204" pitchFamily="49" charset="0"/>
              </a:rPr>
              <a:t>a[</a:t>
            </a:r>
            <a:r>
              <a:rPr lang="pt-BR" b="0" dirty="0">
                <a:solidFill>
                  <a:srgbClr val="098658"/>
                </a:solidFill>
                <a:effectLst/>
                <a:latin typeface="Consolas" panose="020B0609020204030204" pitchFamily="49" charset="0"/>
              </a:rPr>
              <a:t>0</a:t>
            </a:r>
            <a:r>
              <a:rPr lang="pt-BR" b="0" dirty="0">
                <a:solidFill>
                  <a:srgbClr val="000000"/>
                </a:solidFill>
                <a:effectLst/>
                <a:latin typeface="Consolas" panose="020B0609020204030204" pitchFamily="49" charset="0"/>
              </a:rPr>
              <a:t>] = </a:t>
            </a:r>
            <a:r>
              <a:rPr lang="pt-BR" b="0" dirty="0">
                <a:solidFill>
                  <a:srgbClr val="098658"/>
                </a:solidFill>
                <a:effectLst/>
                <a:latin typeface="Consolas" panose="020B0609020204030204" pitchFamily="49" charset="0"/>
              </a:rPr>
              <a:t>10</a:t>
            </a:r>
            <a:r>
              <a:rPr lang="pt-BR" b="0" dirty="0">
                <a:solidFill>
                  <a:srgbClr val="000000"/>
                </a:solidFill>
                <a:effectLst/>
                <a:latin typeface="Consolas" panose="020B0609020204030204" pitchFamily="49" charset="0"/>
              </a:rPr>
              <a:t>;</a:t>
            </a:r>
          </a:p>
          <a:p>
            <a:pPr lvl="1">
              <a:buNone/>
            </a:pPr>
            <a:r>
              <a:rPr lang="pt-BR" b="0" dirty="0">
                <a:solidFill>
                  <a:srgbClr val="000000"/>
                </a:solidFill>
                <a:effectLst/>
                <a:latin typeface="Consolas" panose="020B0609020204030204" pitchFamily="49" charset="0"/>
              </a:rPr>
              <a:t>a[</a:t>
            </a:r>
            <a:r>
              <a:rPr lang="pt-BR" b="0" dirty="0">
                <a:solidFill>
                  <a:srgbClr val="098658"/>
                </a:solidFill>
                <a:effectLst/>
                <a:latin typeface="Consolas" panose="020B0609020204030204" pitchFamily="49" charset="0"/>
              </a:rPr>
              <a:t>1</a:t>
            </a:r>
            <a:r>
              <a:rPr lang="pt-BR" b="0" dirty="0">
                <a:solidFill>
                  <a:srgbClr val="000000"/>
                </a:solidFill>
                <a:effectLst/>
                <a:latin typeface="Consolas" panose="020B0609020204030204" pitchFamily="49" charset="0"/>
              </a:rPr>
              <a:t>] = </a:t>
            </a:r>
            <a:r>
              <a:rPr lang="pt-BR" b="0" dirty="0">
                <a:solidFill>
                  <a:srgbClr val="098658"/>
                </a:solidFill>
                <a:effectLst/>
                <a:latin typeface="Consolas" panose="020B0609020204030204" pitchFamily="49" charset="0"/>
              </a:rPr>
              <a:t>20</a:t>
            </a:r>
            <a:r>
              <a:rPr lang="pt-BR" b="0" dirty="0">
                <a:solidFill>
                  <a:srgbClr val="000000"/>
                </a:solidFill>
                <a:effectLst/>
                <a:latin typeface="Consolas" panose="020B0609020204030204" pitchFamily="49" charset="0"/>
              </a:rPr>
              <a:t>;</a:t>
            </a:r>
          </a:p>
          <a:p>
            <a:pPr lvl="1">
              <a:buNone/>
            </a:pPr>
            <a:r>
              <a:rPr lang="pt-BR" b="0" dirty="0">
                <a:solidFill>
                  <a:srgbClr val="74531F"/>
                </a:solidFill>
                <a:effectLst/>
                <a:latin typeface="Consolas" panose="020B0609020204030204" pitchFamily="49" charset="0"/>
              </a:rPr>
              <a:t>printf</a:t>
            </a:r>
            <a:r>
              <a:rPr lang="pt-BR" b="0" dirty="0">
                <a:solidFill>
                  <a:srgbClr val="000000"/>
                </a:solidFill>
                <a:effectLst/>
                <a:latin typeface="Consolas" panose="020B0609020204030204" pitchFamily="49" charset="0"/>
              </a:rPr>
              <a:t>(</a:t>
            </a:r>
            <a:r>
              <a:rPr lang="pt-BR" b="0" dirty="0">
                <a:solidFill>
                  <a:srgbClr val="E21F1F"/>
                </a:solidFill>
                <a:effectLst/>
                <a:latin typeface="Consolas" panose="020B0609020204030204" pitchFamily="49" charset="0"/>
              </a:rPr>
              <a:t>"</a:t>
            </a:r>
            <a:r>
              <a:rPr lang="pt-BR" b="0" dirty="0">
                <a:solidFill>
                  <a:srgbClr val="1F377F"/>
                </a:solidFill>
                <a:effectLst/>
                <a:latin typeface="Consolas" panose="020B0609020204030204" pitchFamily="49" charset="0"/>
              </a:rPr>
              <a:t>%d</a:t>
            </a:r>
            <a:r>
              <a:rPr lang="pt-BR" b="0" dirty="0">
                <a:solidFill>
                  <a:srgbClr val="B776FB"/>
                </a:solidFill>
                <a:effectLst/>
                <a:latin typeface="Consolas" panose="020B0609020204030204" pitchFamily="49" charset="0"/>
              </a:rPr>
              <a:t>\n</a:t>
            </a:r>
            <a:r>
              <a:rPr lang="pt-BR" b="0" dirty="0">
                <a:solidFill>
                  <a:srgbClr val="E21F1F"/>
                </a:solidFill>
                <a:effectLst/>
                <a:latin typeface="Consolas" panose="020B0609020204030204" pitchFamily="49" charset="0"/>
              </a:rPr>
              <a:t>"</a:t>
            </a:r>
            <a:r>
              <a:rPr lang="pt-BR" b="0" dirty="0">
                <a:solidFill>
                  <a:srgbClr val="000000"/>
                </a:solidFill>
                <a:effectLst/>
                <a:latin typeface="Consolas" panose="020B0609020204030204" pitchFamily="49" charset="0"/>
              </a:rPr>
              <a:t>, a[</a:t>
            </a:r>
            <a:r>
              <a:rPr lang="pt-BR" b="0" dirty="0">
                <a:solidFill>
                  <a:srgbClr val="098658"/>
                </a:solidFill>
                <a:effectLst/>
                <a:latin typeface="Consolas" panose="020B0609020204030204" pitchFamily="49" charset="0"/>
              </a:rPr>
              <a:t>1</a:t>
            </a:r>
            <a:r>
              <a:rPr lang="pt-BR" b="0" dirty="0">
                <a:solidFill>
                  <a:srgbClr val="000000"/>
                </a:solidFill>
                <a:effectLst/>
                <a:latin typeface="Consolas" panose="020B0609020204030204" pitchFamily="49" charset="0"/>
              </a:rPr>
              <a:t>]);</a:t>
            </a:r>
            <a:endParaRPr lang="ru-RU" dirty="0"/>
          </a:p>
          <a:p>
            <a:r>
              <a:rPr lang="ru-RU" dirty="0"/>
              <a:t>Индекс — это выражение целого типа:</a:t>
            </a:r>
          </a:p>
          <a:p>
            <a:pPr lvl="1"/>
            <a:r>
              <a:rPr lang="ru-RU" dirty="0"/>
              <a:t>a[i]</a:t>
            </a:r>
          </a:p>
        </p:txBody>
      </p:sp>
    </p:spTree>
    <p:extLst>
      <p:ext uri="{BB962C8B-B14F-4D97-AF65-F5344CB8AC3E}">
        <p14:creationId xmlns:p14="http://schemas.microsoft.com/office/powerpoint/2010/main" val="19129190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1BB36-31E3-6B31-6EAC-87ECABA96B1D}"/>
              </a:ext>
            </a:extLst>
          </p:cNvPr>
          <p:cNvSpPr>
            <a:spLocks noGrp="1"/>
          </p:cNvSpPr>
          <p:nvPr>
            <p:ph type="title"/>
          </p:nvPr>
        </p:nvSpPr>
        <p:spPr/>
        <p:txBody>
          <a:bodyPr/>
          <a:lstStyle/>
          <a:p>
            <a:r>
              <a:rPr lang="ru-RU" dirty="0"/>
              <a:t>Инициализация массива</a:t>
            </a:r>
            <a:endParaRPr lang="en-US" dirty="0"/>
          </a:p>
        </p:txBody>
      </p:sp>
      <p:sp>
        <p:nvSpPr>
          <p:cNvPr id="3" name="Content Placeholder 2">
            <a:extLst>
              <a:ext uri="{FF2B5EF4-FFF2-40B4-BE49-F238E27FC236}">
                <a16:creationId xmlns:a16="http://schemas.microsoft.com/office/drawing/2014/main" id="{FC2D607E-2935-6EBC-3586-7B14A2E31222}"/>
              </a:ext>
            </a:extLst>
          </p:cNvPr>
          <p:cNvSpPr>
            <a:spLocks noGrp="1"/>
          </p:cNvSpPr>
          <p:nvPr>
            <p:ph idx="1"/>
          </p:nvPr>
        </p:nvSpPr>
        <p:spPr/>
        <p:txBody>
          <a:bodyPr/>
          <a:lstStyle/>
          <a:p>
            <a:r>
              <a:rPr lang="ru-RU" dirty="0"/>
              <a:t>Можно задать начальные значения:</a:t>
            </a:r>
          </a:p>
          <a:p>
            <a:pPr lvl="1"/>
            <a:r>
              <a:rPr lang="ru-RU" dirty="0" err="1"/>
              <a:t>int</a:t>
            </a:r>
            <a:r>
              <a:rPr lang="ru-RU" dirty="0"/>
              <a:t> a[5] = {1, 2, 3, 4, 5};</a:t>
            </a:r>
          </a:p>
          <a:p>
            <a:r>
              <a:rPr lang="ru-RU" dirty="0"/>
              <a:t>Если размер не указан, он определится автоматически</a:t>
            </a:r>
          </a:p>
          <a:p>
            <a:pPr lvl="1"/>
            <a:r>
              <a:rPr lang="ru-RU" dirty="0" err="1"/>
              <a:t>int</a:t>
            </a:r>
            <a:r>
              <a:rPr lang="ru-RU" dirty="0"/>
              <a:t> a[] = {1, 2, 3}; </a:t>
            </a:r>
            <a:r>
              <a:rPr lang="en-US" dirty="0"/>
              <a:t>// </a:t>
            </a:r>
            <a:r>
              <a:rPr lang="ru-RU" dirty="0"/>
              <a:t>Размер равен 3</a:t>
            </a:r>
          </a:p>
        </p:txBody>
      </p:sp>
    </p:spTree>
    <p:extLst>
      <p:ext uri="{BB962C8B-B14F-4D97-AF65-F5344CB8AC3E}">
        <p14:creationId xmlns:p14="http://schemas.microsoft.com/office/powerpoint/2010/main" val="38000459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F6D13-7C36-3902-622E-3C5C459BFC94}"/>
              </a:ext>
            </a:extLst>
          </p:cNvPr>
          <p:cNvSpPr>
            <a:spLocks noGrp="1"/>
          </p:cNvSpPr>
          <p:nvPr>
            <p:ph type="title"/>
          </p:nvPr>
        </p:nvSpPr>
        <p:spPr/>
        <p:txBody>
          <a:bodyPr/>
          <a:lstStyle/>
          <a:p>
            <a:r>
              <a:rPr lang="ru-RU" dirty="0"/>
              <a:t>Размер массива и </a:t>
            </a:r>
            <a:r>
              <a:rPr lang="en-US" dirty="0" err="1"/>
              <a:t>sizeof</a:t>
            </a:r>
            <a:endParaRPr lang="en-US" dirty="0"/>
          </a:p>
        </p:txBody>
      </p:sp>
      <p:sp>
        <p:nvSpPr>
          <p:cNvPr id="3" name="Content Placeholder 2">
            <a:extLst>
              <a:ext uri="{FF2B5EF4-FFF2-40B4-BE49-F238E27FC236}">
                <a16:creationId xmlns:a16="http://schemas.microsoft.com/office/drawing/2014/main" id="{AEF1FBEB-7A32-9E60-86BE-EC165E97AB88}"/>
              </a:ext>
            </a:extLst>
          </p:cNvPr>
          <p:cNvSpPr>
            <a:spLocks noGrp="1"/>
          </p:cNvSpPr>
          <p:nvPr>
            <p:ph idx="1"/>
          </p:nvPr>
        </p:nvSpPr>
        <p:spPr/>
        <p:txBody>
          <a:bodyPr/>
          <a:lstStyle/>
          <a:p>
            <a:pPr>
              <a:lnSpc>
                <a:spcPct val="100000"/>
              </a:lnSpc>
              <a:buNone/>
            </a:pP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a:t>
            </a:r>
            <a:r>
              <a:rPr lang="en-US" b="0" dirty="0">
                <a:solidFill>
                  <a:srgbClr val="098658"/>
                </a:solidFill>
                <a:effectLst/>
                <a:latin typeface="Consolas" panose="020B0609020204030204" pitchFamily="49" charset="0"/>
              </a:rPr>
              <a:t>10</a:t>
            </a:r>
            <a:r>
              <a:rPr lang="en-US" b="0" dirty="0">
                <a:solidFill>
                  <a:srgbClr val="000000"/>
                </a:solidFill>
                <a:effectLst/>
                <a:latin typeface="Consolas" panose="020B0609020204030204" pitchFamily="49" charset="0"/>
              </a:rPr>
              <a:t>];</a:t>
            </a:r>
          </a:p>
          <a:p>
            <a:pPr>
              <a:lnSpc>
                <a:spcPct val="100000"/>
              </a:lnSpc>
              <a:buNone/>
            </a:pPr>
            <a:r>
              <a:rPr lang="en-US" b="0" dirty="0" err="1">
                <a:solidFill>
                  <a:srgbClr val="74531F"/>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en-US" b="0" dirty="0">
                <a:solidFill>
                  <a:srgbClr val="1F377F"/>
                </a:solidFill>
                <a:effectLst/>
                <a:latin typeface="Consolas" panose="020B0609020204030204" pitchFamily="49" charset="0"/>
              </a:rPr>
              <a:t>%</a:t>
            </a:r>
            <a:r>
              <a:rPr lang="en-US" b="0" dirty="0" err="1">
                <a:solidFill>
                  <a:srgbClr val="1F377F"/>
                </a:solidFill>
                <a:effectLst/>
                <a:latin typeface="Consolas" panose="020B0609020204030204" pitchFamily="49" charset="0"/>
              </a:rPr>
              <a:t>zu</a:t>
            </a:r>
            <a:r>
              <a:rPr lang="en-US" b="0" dirty="0">
                <a:solidFill>
                  <a:srgbClr val="B776FB"/>
                </a:solidFill>
                <a:effectLst/>
                <a:latin typeface="Consolas" panose="020B0609020204030204" pitchFamily="49" charset="0"/>
              </a:rPr>
              <a:t>\n</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sizeof</a:t>
            </a:r>
            <a:r>
              <a:rPr lang="en-US" b="0" dirty="0">
                <a:solidFill>
                  <a:srgbClr val="000000"/>
                </a:solidFill>
                <a:effectLst/>
                <a:latin typeface="Consolas" panose="020B0609020204030204" pitchFamily="49" charset="0"/>
              </a:rPr>
              <a:t>(a));</a:t>
            </a:r>
            <a:endParaRPr lang="en-US" dirty="0"/>
          </a:p>
          <a:p>
            <a:r>
              <a:rPr lang="en-US" dirty="0" err="1"/>
              <a:t>sizeof</a:t>
            </a:r>
            <a:r>
              <a:rPr lang="en-US" dirty="0"/>
              <a:t>(a) — </a:t>
            </a:r>
            <a:r>
              <a:rPr lang="ru-RU" dirty="0"/>
              <a:t>размер массива в байтах.</a:t>
            </a:r>
          </a:p>
          <a:p>
            <a:r>
              <a:rPr lang="ru-RU" dirty="0"/>
              <a:t>Количество элементов:</a:t>
            </a:r>
          </a:p>
          <a:p>
            <a:pPr lvl="1"/>
            <a:r>
              <a:rPr lang="en-US" dirty="0" err="1"/>
              <a:t>sizeof</a:t>
            </a:r>
            <a:r>
              <a:rPr lang="en-US" dirty="0"/>
              <a:t>(a) / </a:t>
            </a:r>
            <a:r>
              <a:rPr lang="en-US" dirty="0" err="1"/>
              <a:t>sizeof</a:t>
            </a:r>
            <a:r>
              <a:rPr lang="en-US" dirty="0"/>
              <a:t>(a[0])</a:t>
            </a:r>
          </a:p>
          <a:p>
            <a:pPr lvl="1"/>
            <a:r>
              <a:rPr lang="ru-RU" dirty="0"/>
              <a:t>Работает только там, где компилятор “видит” сам массив (не параметр функции)</a:t>
            </a:r>
            <a:endParaRPr lang="en-US" dirty="0"/>
          </a:p>
        </p:txBody>
      </p:sp>
    </p:spTree>
    <p:extLst>
      <p:ext uri="{BB962C8B-B14F-4D97-AF65-F5344CB8AC3E}">
        <p14:creationId xmlns:p14="http://schemas.microsoft.com/office/powerpoint/2010/main" val="25156743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1F556-0D4A-C2BB-548E-86F876CDE06B}"/>
              </a:ext>
            </a:extLst>
          </p:cNvPr>
          <p:cNvSpPr>
            <a:spLocks noGrp="1"/>
          </p:cNvSpPr>
          <p:nvPr>
            <p:ph type="title"/>
          </p:nvPr>
        </p:nvSpPr>
        <p:spPr/>
        <p:txBody>
          <a:bodyPr/>
          <a:lstStyle/>
          <a:p>
            <a:r>
              <a:rPr lang="ru-RU" dirty="0"/>
              <a:t>Ограничения статических массивов</a:t>
            </a:r>
            <a:endParaRPr lang="en-US" dirty="0"/>
          </a:p>
        </p:txBody>
      </p:sp>
      <p:sp>
        <p:nvSpPr>
          <p:cNvPr id="3" name="Content Placeholder 2">
            <a:extLst>
              <a:ext uri="{FF2B5EF4-FFF2-40B4-BE49-F238E27FC236}">
                <a16:creationId xmlns:a16="http://schemas.microsoft.com/office/drawing/2014/main" id="{96BE577D-4C0E-0C58-659F-36081777C244}"/>
              </a:ext>
            </a:extLst>
          </p:cNvPr>
          <p:cNvSpPr>
            <a:spLocks noGrp="1"/>
          </p:cNvSpPr>
          <p:nvPr>
            <p:ph idx="1"/>
          </p:nvPr>
        </p:nvSpPr>
        <p:spPr/>
        <p:txBody>
          <a:bodyPr/>
          <a:lstStyle/>
          <a:p>
            <a:r>
              <a:rPr lang="ru-RU" dirty="0"/>
              <a:t>Размер массива фиксирован – изменить размер после компиляции нельзя</a:t>
            </a:r>
          </a:p>
          <a:p>
            <a:r>
              <a:rPr lang="ru-RU" dirty="0"/>
              <a:t>Индекс элементов должен быть в пределах массива</a:t>
            </a:r>
          </a:p>
          <a:p>
            <a:pPr lvl="1"/>
            <a:r>
              <a:rPr lang="ru-RU" dirty="0"/>
              <a:t>Максимальный индекс – это </a:t>
            </a:r>
            <a:r>
              <a:rPr lang="en-US" dirty="0"/>
              <a:t>size - 1</a:t>
            </a:r>
            <a:endParaRPr lang="ru-RU" dirty="0"/>
          </a:p>
          <a:p>
            <a:r>
              <a:rPr lang="ru-RU" dirty="0"/>
              <a:t>Статический массив — фиксированная область памяти.</a:t>
            </a:r>
          </a:p>
          <a:p>
            <a:endParaRPr lang="en-US" dirty="0"/>
          </a:p>
        </p:txBody>
      </p:sp>
    </p:spTree>
    <p:extLst>
      <p:ext uri="{BB962C8B-B14F-4D97-AF65-F5344CB8AC3E}">
        <p14:creationId xmlns:p14="http://schemas.microsoft.com/office/powerpoint/2010/main" val="8491987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52A63-AACA-73FC-7EE9-164DDEA82B2D}"/>
              </a:ext>
            </a:extLst>
          </p:cNvPr>
          <p:cNvSpPr>
            <a:spLocks noGrp="1"/>
          </p:cNvSpPr>
          <p:nvPr>
            <p:ph type="title"/>
          </p:nvPr>
        </p:nvSpPr>
        <p:spPr/>
        <p:txBody>
          <a:bodyPr/>
          <a:lstStyle/>
          <a:p>
            <a:r>
              <a:rPr lang="ru-RU" dirty="0"/>
              <a:t>Итоги по массивам</a:t>
            </a:r>
            <a:endParaRPr lang="en-US" dirty="0"/>
          </a:p>
        </p:txBody>
      </p:sp>
      <p:sp>
        <p:nvSpPr>
          <p:cNvPr id="3" name="Content Placeholder 2">
            <a:extLst>
              <a:ext uri="{FF2B5EF4-FFF2-40B4-BE49-F238E27FC236}">
                <a16:creationId xmlns:a16="http://schemas.microsoft.com/office/drawing/2014/main" id="{DC6E500B-4202-84EA-696D-9CB19989A783}"/>
              </a:ext>
            </a:extLst>
          </p:cNvPr>
          <p:cNvSpPr>
            <a:spLocks noGrp="1"/>
          </p:cNvSpPr>
          <p:nvPr>
            <p:ph idx="1"/>
          </p:nvPr>
        </p:nvSpPr>
        <p:spPr/>
        <p:txBody>
          <a:bodyPr/>
          <a:lstStyle/>
          <a:p>
            <a:r>
              <a:rPr lang="ru-RU" dirty="0"/>
              <a:t>Массив:</a:t>
            </a:r>
          </a:p>
          <a:p>
            <a:pPr lvl="1"/>
            <a:r>
              <a:rPr lang="ru-RU" dirty="0"/>
              <a:t>хранит элементы одного типа</a:t>
            </a:r>
          </a:p>
          <a:p>
            <a:pPr lvl="1"/>
            <a:r>
              <a:rPr lang="ru-RU" dirty="0"/>
              <a:t>элементы расположены подряд</a:t>
            </a:r>
          </a:p>
          <a:p>
            <a:pPr lvl="1"/>
            <a:r>
              <a:rPr lang="ru-RU" dirty="0"/>
              <a:t>имеет фиксированный размер</a:t>
            </a:r>
          </a:p>
          <a:p>
            <a:pPr lvl="1"/>
            <a:r>
              <a:rPr lang="ru-RU" dirty="0"/>
              <a:t>индексируется с 0</a:t>
            </a:r>
          </a:p>
          <a:p>
            <a:r>
              <a:rPr lang="ru-RU" dirty="0"/>
              <a:t>Основной инструмент работы — цикл </a:t>
            </a:r>
            <a:r>
              <a:rPr lang="ru-RU" dirty="0" err="1"/>
              <a:t>for</a:t>
            </a:r>
            <a:r>
              <a:rPr lang="ru-RU" dirty="0"/>
              <a:t>.</a:t>
            </a:r>
          </a:p>
        </p:txBody>
      </p:sp>
    </p:spTree>
    <p:extLst>
      <p:ext uri="{BB962C8B-B14F-4D97-AF65-F5344CB8AC3E}">
        <p14:creationId xmlns:p14="http://schemas.microsoft.com/office/powerpoint/2010/main" val="17045957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0DE89-7778-8215-EC49-AAEFE0C10D4F}"/>
              </a:ext>
            </a:extLst>
          </p:cNvPr>
          <p:cNvSpPr>
            <a:spLocks noGrp="1"/>
          </p:cNvSpPr>
          <p:nvPr>
            <p:ph type="title"/>
          </p:nvPr>
        </p:nvSpPr>
        <p:spPr/>
        <p:txBody>
          <a:bodyPr/>
          <a:lstStyle/>
          <a:p>
            <a:r>
              <a:rPr lang="ru-RU" dirty="0"/>
              <a:t>Двумерные массивы</a:t>
            </a:r>
            <a:endParaRPr lang="en-US" dirty="0"/>
          </a:p>
        </p:txBody>
      </p:sp>
      <p:sp>
        <p:nvSpPr>
          <p:cNvPr id="3" name="Content Placeholder 2">
            <a:extLst>
              <a:ext uri="{FF2B5EF4-FFF2-40B4-BE49-F238E27FC236}">
                <a16:creationId xmlns:a16="http://schemas.microsoft.com/office/drawing/2014/main" id="{38A24C0C-114D-AEDC-F6E3-45EF00FC2BC9}"/>
              </a:ext>
            </a:extLst>
          </p:cNvPr>
          <p:cNvSpPr>
            <a:spLocks noGrp="1"/>
          </p:cNvSpPr>
          <p:nvPr>
            <p:ph sz="half" idx="1"/>
          </p:nvPr>
        </p:nvSpPr>
        <p:spPr/>
        <p:txBody>
          <a:bodyPr/>
          <a:lstStyle/>
          <a:p>
            <a:r>
              <a:rPr lang="ru-RU" dirty="0"/>
              <a:t>Массив может иметь несколько измерений.</a:t>
            </a:r>
          </a:p>
          <a:p>
            <a:r>
              <a:rPr lang="ru-RU" dirty="0"/>
              <a:t>Объявление двумерного массива:</a:t>
            </a:r>
          </a:p>
          <a:p>
            <a:pPr lvl="1"/>
            <a:r>
              <a:rPr lang="ru-RU" dirty="0" err="1"/>
              <a:t>int</a:t>
            </a:r>
            <a:r>
              <a:rPr lang="ru-RU" dirty="0"/>
              <a:t> a[3][4];</a:t>
            </a:r>
          </a:p>
          <a:p>
            <a:pPr lvl="1"/>
            <a:r>
              <a:rPr lang="ru-RU" dirty="0"/>
              <a:t>3 строки</a:t>
            </a:r>
          </a:p>
          <a:p>
            <a:pPr lvl="1"/>
            <a:r>
              <a:rPr lang="ru-RU" dirty="0"/>
              <a:t>4 столбца</a:t>
            </a:r>
          </a:p>
          <a:p>
            <a:pPr lvl="1"/>
            <a:r>
              <a:rPr lang="ru-RU" dirty="0"/>
              <a:t>всего элементов: 3 * 4 = 12</a:t>
            </a:r>
          </a:p>
          <a:p>
            <a:r>
              <a:rPr lang="ru-RU" dirty="0"/>
              <a:t>Доступ к элементу:</a:t>
            </a:r>
          </a:p>
          <a:p>
            <a:r>
              <a:rPr lang="ru-RU" dirty="0"/>
              <a:t>a[</a:t>
            </a:r>
            <a:r>
              <a:rPr lang="en-US" dirty="0"/>
              <a:t>row</a:t>
            </a:r>
            <a:r>
              <a:rPr lang="ru-RU" dirty="0"/>
              <a:t>][</a:t>
            </a:r>
            <a:r>
              <a:rPr lang="en-US" dirty="0"/>
              <a:t>col</a:t>
            </a:r>
            <a:r>
              <a:rPr lang="ru-RU" dirty="0"/>
              <a:t>]</a:t>
            </a:r>
          </a:p>
          <a:p>
            <a:endParaRPr lang="en-US" dirty="0"/>
          </a:p>
        </p:txBody>
      </p:sp>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7AEFF475-FB0D-6D62-F5D3-EDA9FC144185}"/>
                  </a:ext>
                </a:extLst>
              </p:cNvPr>
              <p:cNvGraphicFramePr>
                <a:graphicFrameLocks noGrp="1"/>
              </p:cNvGraphicFramePr>
              <p:nvPr>
                <p:ph sz="half" idx="2"/>
                <p:extLst>
                  <p:ext uri="{D42A27DB-BD31-4B8C-83A1-F6EECF244321}">
                    <p14:modId xmlns:p14="http://schemas.microsoft.com/office/powerpoint/2010/main" val="3389471877"/>
                  </p:ext>
                </p:extLst>
              </p:nvPr>
            </p:nvGraphicFramePr>
            <p:xfrm>
              <a:off x="6172200" y="1825625"/>
              <a:ext cx="5181600" cy="1133475"/>
            </p:xfrm>
            <a:graphic>
              <a:graphicData uri="http://schemas.openxmlformats.org/drawingml/2006/table">
                <a:tbl>
                  <a:tblPr firstRow="1" bandRow="1">
                    <a:tableStyleId>{2D5ABB26-0587-4C30-8999-92F81FD0307C}</a:tableStyleId>
                  </a:tblPr>
                  <a:tblGrid>
                    <a:gridCol w="1295400">
                      <a:extLst>
                        <a:ext uri="{9D8B030D-6E8A-4147-A177-3AD203B41FA5}">
                          <a16:colId xmlns:a16="http://schemas.microsoft.com/office/drawing/2014/main" val="3477371913"/>
                        </a:ext>
                      </a:extLst>
                    </a:gridCol>
                    <a:gridCol w="1295400">
                      <a:extLst>
                        <a:ext uri="{9D8B030D-6E8A-4147-A177-3AD203B41FA5}">
                          <a16:colId xmlns:a16="http://schemas.microsoft.com/office/drawing/2014/main" val="3721610033"/>
                        </a:ext>
                      </a:extLst>
                    </a:gridCol>
                    <a:gridCol w="1295400">
                      <a:extLst>
                        <a:ext uri="{9D8B030D-6E8A-4147-A177-3AD203B41FA5}">
                          <a16:colId xmlns:a16="http://schemas.microsoft.com/office/drawing/2014/main" val="1504706406"/>
                        </a:ext>
                      </a:extLst>
                    </a:gridCol>
                    <a:gridCol w="1295400">
                      <a:extLst>
                        <a:ext uri="{9D8B030D-6E8A-4147-A177-3AD203B41FA5}">
                          <a16:colId xmlns:a16="http://schemas.microsoft.com/office/drawing/2014/main" val="2346074710"/>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0,0</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0,1</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0,2</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0,3</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5197113"/>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1,0</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1,1</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1,2</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1,3</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911550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2,0</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2,1</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2,2</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2,3</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5456327"/>
                      </a:ext>
                    </a:extLst>
                  </a:tr>
                </a:tbl>
              </a:graphicData>
            </a:graphic>
          </p:graphicFrame>
        </mc:Choice>
        <mc:Fallback xmlns="">
          <p:graphicFrame>
            <p:nvGraphicFramePr>
              <p:cNvPr id="5" name="Content Placeholder 4">
                <a:extLst>
                  <a:ext uri="{FF2B5EF4-FFF2-40B4-BE49-F238E27FC236}">
                    <a16:creationId xmlns:a16="http://schemas.microsoft.com/office/drawing/2014/main" id="{7AEFF475-FB0D-6D62-F5D3-EDA9FC144185}"/>
                  </a:ext>
                </a:extLst>
              </p:cNvPr>
              <p:cNvGraphicFramePr>
                <a:graphicFrameLocks noGrp="1"/>
              </p:cNvGraphicFramePr>
              <p:nvPr>
                <p:ph sz="half" idx="2"/>
                <p:extLst>
                  <p:ext uri="{D42A27DB-BD31-4B8C-83A1-F6EECF244321}">
                    <p14:modId xmlns:p14="http://schemas.microsoft.com/office/powerpoint/2010/main" val="3389471877"/>
                  </p:ext>
                </p:extLst>
              </p:nvPr>
            </p:nvGraphicFramePr>
            <p:xfrm>
              <a:off x="6172200" y="1825625"/>
              <a:ext cx="5181600" cy="1133475"/>
            </p:xfrm>
            <a:graphic>
              <a:graphicData uri="http://schemas.openxmlformats.org/drawingml/2006/table">
                <a:tbl>
                  <a:tblPr firstRow="1" bandRow="1">
                    <a:tableStyleId>{2D5ABB26-0587-4C30-8999-92F81FD0307C}</a:tableStyleId>
                  </a:tblPr>
                  <a:tblGrid>
                    <a:gridCol w="1295400">
                      <a:extLst>
                        <a:ext uri="{9D8B030D-6E8A-4147-A177-3AD203B41FA5}">
                          <a16:colId xmlns:a16="http://schemas.microsoft.com/office/drawing/2014/main" val="3477371913"/>
                        </a:ext>
                      </a:extLst>
                    </a:gridCol>
                    <a:gridCol w="1295400">
                      <a:extLst>
                        <a:ext uri="{9D8B030D-6E8A-4147-A177-3AD203B41FA5}">
                          <a16:colId xmlns:a16="http://schemas.microsoft.com/office/drawing/2014/main" val="3721610033"/>
                        </a:ext>
                      </a:extLst>
                    </a:gridCol>
                    <a:gridCol w="1295400">
                      <a:extLst>
                        <a:ext uri="{9D8B030D-6E8A-4147-A177-3AD203B41FA5}">
                          <a16:colId xmlns:a16="http://schemas.microsoft.com/office/drawing/2014/main" val="1504706406"/>
                        </a:ext>
                      </a:extLst>
                    </a:gridCol>
                    <a:gridCol w="1295400">
                      <a:extLst>
                        <a:ext uri="{9D8B030D-6E8A-4147-A177-3AD203B41FA5}">
                          <a16:colId xmlns:a16="http://schemas.microsoft.com/office/drawing/2014/main" val="2346074710"/>
                        </a:ext>
                      </a:extLst>
                    </a:gridCol>
                  </a:tblGrid>
                  <a:tr h="37782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69" t="-1613" r="-300469" b="-20483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469" t="-1613" r="-200469" b="-20483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1415" t="-1613" r="-101415" b="-20483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000" t="-1613" r="-939" b="-204839"/>
                          </a:stretch>
                        </a:blipFill>
                      </a:tcPr>
                    </a:tc>
                    <a:extLst>
                      <a:ext uri="{0D108BD9-81ED-4DB2-BD59-A6C34878D82A}">
                        <a16:rowId xmlns:a16="http://schemas.microsoft.com/office/drawing/2014/main" val="2305197113"/>
                      </a:ext>
                    </a:extLst>
                  </a:tr>
                  <a:tr h="37782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69" t="-100000" r="-300469" b="-10158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469" t="-100000" r="-200469" b="-10158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1415" t="-100000" r="-101415" b="-10158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000" t="-100000" r="-939" b="-101587"/>
                          </a:stretch>
                        </a:blipFill>
                      </a:tcPr>
                    </a:tc>
                    <a:extLst>
                      <a:ext uri="{0D108BD9-81ED-4DB2-BD59-A6C34878D82A}">
                        <a16:rowId xmlns:a16="http://schemas.microsoft.com/office/drawing/2014/main" val="4049115502"/>
                      </a:ext>
                    </a:extLst>
                  </a:tr>
                  <a:tr h="37782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69" t="-203226" r="-300469" b="-322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469" t="-203226" r="-200469" b="-322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1415" t="-203226" r="-101415" b="-322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000" t="-203226" r="-939" b="-3226"/>
                          </a:stretch>
                        </a:blipFill>
                      </a:tcPr>
                    </a:tc>
                    <a:extLst>
                      <a:ext uri="{0D108BD9-81ED-4DB2-BD59-A6C34878D82A}">
                        <a16:rowId xmlns:a16="http://schemas.microsoft.com/office/drawing/2014/main" val="3475456327"/>
                      </a:ext>
                    </a:extLst>
                  </a:tr>
                </a:tbl>
              </a:graphicData>
            </a:graphic>
          </p:graphicFrame>
        </mc:Fallback>
      </mc:AlternateContent>
    </p:spTree>
    <p:extLst>
      <p:ext uri="{BB962C8B-B14F-4D97-AF65-F5344CB8AC3E}">
        <p14:creationId xmlns:p14="http://schemas.microsoft.com/office/powerpoint/2010/main" val="5771888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AEDC1-60C6-865D-7C7C-5276C7CF9805}"/>
              </a:ext>
            </a:extLst>
          </p:cNvPr>
          <p:cNvSpPr>
            <a:spLocks noGrp="1"/>
          </p:cNvSpPr>
          <p:nvPr>
            <p:ph type="title"/>
          </p:nvPr>
        </p:nvSpPr>
        <p:spPr/>
        <p:txBody>
          <a:bodyPr/>
          <a:lstStyle/>
          <a:p>
            <a:r>
              <a:rPr lang="ru-RU" dirty="0"/>
              <a:t>Инициализация двумерного массива</a:t>
            </a:r>
            <a:endParaRPr lang="en-US" dirty="0"/>
          </a:p>
        </p:txBody>
      </p:sp>
      <p:sp>
        <p:nvSpPr>
          <p:cNvPr id="6" name="TextBox 5">
            <a:extLst>
              <a:ext uri="{FF2B5EF4-FFF2-40B4-BE49-F238E27FC236}">
                <a16:creationId xmlns:a16="http://schemas.microsoft.com/office/drawing/2014/main" id="{6BFD025D-3CD9-2FD4-9E53-81D3D5EBB9E5}"/>
              </a:ext>
            </a:extLst>
          </p:cNvPr>
          <p:cNvSpPr txBox="1"/>
          <p:nvPr/>
        </p:nvSpPr>
        <p:spPr>
          <a:xfrm>
            <a:off x="838200" y="1922579"/>
            <a:ext cx="5118100" cy="1200329"/>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 = {</a:t>
            </a:r>
          </a:p>
          <a:p>
            <a:pPr>
              <a:buNone/>
            </a:pP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6</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BC330A61-CEEE-AC8C-5128-DC1645426784}"/>
              </a:ext>
            </a:extLst>
          </p:cNvPr>
          <p:cNvSpPr txBox="1"/>
          <p:nvPr/>
        </p:nvSpPr>
        <p:spPr>
          <a:xfrm>
            <a:off x="838200" y="4263720"/>
            <a:ext cx="4914900" cy="286360"/>
          </a:xfrm>
          <a:prstGeom prst="rect">
            <a:avLst/>
          </a:prstGeom>
          <a:noFill/>
        </p:spPr>
        <p:txBody>
          <a:bodyPr wrap="square">
            <a:spAutoFit/>
          </a:bodyPr>
          <a:lstStyle/>
          <a:p>
            <a:pPr>
              <a:lnSpc>
                <a:spcPts val="1425"/>
              </a:lnSpc>
              <a:buNone/>
            </a:pP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6</a:t>
            </a: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0837604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13DD8-52B0-205A-693D-27FDFB29D553}"/>
              </a:ext>
            </a:extLst>
          </p:cNvPr>
          <p:cNvSpPr>
            <a:spLocks noGrp="1"/>
          </p:cNvSpPr>
          <p:nvPr>
            <p:ph type="title"/>
          </p:nvPr>
        </p:nvSpPr>
        <p:spPr/>
        <p:txBody>
          <a:bodyPr/>
          <a:lstStyle/>
          <a:p>
            <a:r>
              <a:rPr lang="ru-RU" dirty="0"/>
              <a:t>Перебор элементов двумерного массива</a:t>
            </a:r>
            <a:endParaRPr lang="en-US" dirty="0"/>
          </a:p>
        </p:txBody>
      </p:sp>
      <p:sp>
        <p:nvSpPr>
          <p:cNvPr id="6" name="TextBox 5">
            <a:extLst>
              <a:ext uri="{FF2B5EF4-FFF2-40B4-BE49-F238E27FC236}">
                <a16:creationId xmlns:a16="http://schemas.microsoft.com/office/drawing/2014/main" id="{6E14C79D-C649-90C2-E051-7667FE14C47A}"/>
              </a:ext>
            </a:extLst>
          </p:cNvPr>
          <p:cNvSpPr txBox="1"/>
          <p:nvPr/>
        </p:nvSpPr>
        <p:spPr>
          <a:xfrm>
            <a:off x="838200" y="2108738"/>
            <a:ext cx="6096000" cy="2308324"/>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a:t>
            </a:r>
          </a:p>
          <a:p>
            <a:pPr>
              <a:buNone/>
            </a:pPr>
            <a:endParaRPr lang="en-US" b="0" dirty="0">
              <a:solidFill>
                <a:srgbClr val="000000"/>
              </a:solidFill>
              <a:effectLst/>
              <a:latin typeface="Consolas" panose="020B0609020204030204" pitchFamily="49" charset="0"/>
            </a:endParaRPr>
          </a:p>
          <a:p>
            <a:pPr>
              <a:buNone/>
            </a:pPr>
            <a:r>
              <a:rPr lang="en-US" b="0" dirty="0">
                <a:solidFill>
                  <a:srgbClr val="8F08C4"/>
                </a:solidFill>
                <a:effectLst/>
                <a:latin typeface="Consolas" panose="020B0609020204030204" pitchFamily="49" charset="0"/>
              </a:rPr>
              <a:t>for</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 &lt; </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for</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j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j &lt; </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j++</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en-US" b="0" dirty="0">
                <a:solidFill>
                  <a:srgbClr val="1F377F"/>
                </a:solidFill>
                <a:effectLst/>
                <a:latin typeface="Consolas" panose="020B0609020204030204" pitchFamily="49" charset="0"/>
              </a:rPr>
              <a:t>%d</a:t>
            </a:r>
            <a:r>
              <a:rPr lang="en-US" b="0" dirty="0">
                <a:solidFill>
                  <a:srgbClr val="A31515"/>
                </a:solidFill>
                <a:effectLst/>
                <a:latin typeface="Consolas" panose="020B0609020204030204" pitchFamily="49" charset="0"/>
              </a:rPr>
              <a:t> </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a</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][j]);</a:t>
            </a:r>
          </a:p>
          <a:p>
            <a:pPr>
              <a:buNone/>
            </a:pP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en-US" b="0" dirty="0">
                <a:solidFill>
                  <a:srgbClr val="B776FB"/>
                </a:solidFill>
                <a:effectLst/>
                <a:latin typeface="Consolas" panose="020B0609020204030204" pitchFamily="49" charset="0"/>
              </a:rPr>
              <a:t>\n</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4251445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25936-40BB-7418-0090-DFCD93BDFD5B}"/>
              </a:ext>
            </a:extLst>
          </p:cNvPr>
          <p:cNvSpPr>
            <a:spLocks noGrp="1"/>
          </p:cNvSpPr>
          <p:nvPr>
            <p:ph type="title"/>
          </p:nvPr>
        </p:nvSpPr>
        <p:spPr/>
        <p:txBody>
          <a:bodyPr/>
          <a:lstStyle/>
          <a:p>
            <a:r>
              <a:rPr lang="ru-RU" dirty="0"/>
              <a:t>Подсчёт суммы элементов матрицы</a:t>
            </a:r>
            <a:endParaRPr lang="en-US" dirty="0"/>
          </a:p>
        </p:txBody>
      </p:sp>
      <p:sp>
        <p:nvSpPr>
          <p:cNvPr id="6" name="TextBox 5">
            <a:extLst>
              <a:ext uri="{FF2B5EF4-FFF2-40B4-BE49-F238E27FC236}">
                <a16:creationId xmlns:a16="http://schemas.microsoft.com/office/drawing/2014/main" id="{38D455AB-E5C0-124D-373A-05F697D7E397}"/>
              </a:ext>
            </a:extLst>
          </p:cNvPr>
          <p:cNvSpPr txBox="1"/>
          <p:nvPr/>
        </p:nvSpPr>
        <p:spPr>
          <a:xfrm>
            <a:off x="838200" y="1690688"/>
            <a:ext cx="8407400" cy="5078313"/>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#include</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&lt;</a:t>
            </a:r>
            <a:r>
              <a:rPr lang="en-US" b="0" dirty="0" err="1">
                <a:solidFill>
                  <a:srgbClr val="A31515"/>
                </a:solidFill>
                <a:effectLst/>
                <a:latin typeface="Consolas" panose="020B0609020204030204" pitchFamily="49" charset="0"/>
              </a:rPr>
              <a:t>stdio.h</a:t>
            </a:r>
            <a:r>
              <a:rPr lang="en-US" b="0" dirty="0">
                <a:solidFill>
                  <a:srgbClr val="0000FF"/>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pPr>
              <a:buNone/>
            </a:pP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main() {</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 = {</a:t>
            </a:r>
          </a:p>
          <a:p>
            <a:pPr>
              <a:buNone/>
            </a:pP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6</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7</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8</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9</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12</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p>
          <a:p>
            <a:pPr>
              <a:buNone/>
            </a:pP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sum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pPr>
              <a:buNone/>
            </a:pP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for</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 &lt; </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for</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j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j &lt; </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j++</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sum += a[</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][j];</a:t>
            </a:r>
          </a:p>
          <a:p>
            <a:pPr>
              <a:buNone/>
            </a:pP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"Sum = %d\n"</a:t>
            </a:r>
            <a:r>
              <a:rPr lang="en-US" b="0" dirty="0">
                <a:solidFill>
                  <a:srgbClr val="000000"/>
                </a:solidFill>
                <a:effectLst/>
                <a:latin typeface="Consolas" panose="020B0609020204030204" pitchFamily="49" charset="0"/>
              </a:rPr>
              <a:t>, sum);</a:t>
            </a:r>
          </a:p>
          <a:p>
            <a:pPr>
              <a:buNone/>
            </a:pP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0881002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F754B6-1D3F-B431-DCA0-3415064213B5}"/>
              </a:ext>
            </a:extLst>
          </p:cNvPr>
          <p:cNvSpPr>
            <a:spLocks noGrp="1"/>
          </p:cNvSpPr>
          <p:nvPr>
            <p:ph type="title"/>
          </p:nvPr>
        </p:nvSpPr>
        <p:spPr/>
        <p:txBody>
          <a:bodyPr/>
          <a:lstStyle/>
          <a:p>
            <a:r>
              <a:rPr lang="ru-RU" dirty="0"/>
              <a:t>Как двумерный массив хранится в памяти</a:t>
            </a:r>
            <a:endParaRPr lang="en-US" dirty="0"/>
          </a:p>
        </p:txBody>
      </p:sp>
      <p:sp>
        <p:nvSpPr>
          <p:cNvPr id="4" name="Content Placeholder 3">
            <a:extLst>
              <a:ext uri="{FF2B5EF4-FFF2-40B4-BE49-F238E27FC236}">
                <a16:creationId xmlns:a16="http://schemas.microsoft.com/office/drawing/2014/main" id="{E2D88E57-BB82-1C32-45AA-B44ACB9FF5E4}"/>
              </a:ext>
            </a:extLst>
          </p:cNvPr>
          <p:cNvSpPr>
            <a:spLocks noGrp="1"/>
          </p:cNvSpPr>
          <p:nvPr>
            <p:ph idx="1"/>
          </p:nvPr>
        </p:nvSpPr>
        <p:spPr/>
        <p:txBody>
          <a:bodyPr/>
          <a:lstStyle/>
          <a:p>
            <a:r>
              <a:rPr lang="ru-RU" dirty="0"/>
              <a:t>Двумерный массив хранится </a:t>
            </a:r>
            <a:r>
              <a:rPr lang="ru-RU" b="1" dirty="0"/>
              <a:t>непрерывно</a:t>
            </a:r>
            <a:r>
              <a:rPr lang="ru-RU" dirty="0"/>
              <a:t>.</a:t>
            </a:r>
          </a:p>
          <a:p>
            <a:r>
              <a:rPr lang="ru-RU" dirty="0"/>
              <a:t>Для </a:t>
            </a:r>
            <a:r>
              <a:rPr lang="ru-RU" dirty="0" err="1"/>
              <a:t>int</a:t>
            </a:r>
            <a:r>
              <a:rPr lang="ru-RU" dirty="0"/>
              <a:t> a[3][4]; память выглядит так:</a:t>
            </a:r>
          </a:p>
          <a:p>
            <a:endParaRPr lang="en-US" dirty="0"/>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BF4B2FF4-92CE-115F-5184-FB8904B14700}"/>
                  </a:ext>
                </a:extLst>
              </p:cNvPr>
              <p:cNvGraphicFramePr>
                <a:graphicFrameLocks noGrp="1"/>
              </p:cNvGraphicFramePr>
              <p:nvPr>
                <p:extLst>
                  <p:ext uri="{D42A27DB-BD31-4B8C-83A1-F6EECF244321}">
                    <p14:modId xmlns:p14="http://schemas.microsoft.com/office/powerpoint/2010/main" val="4163323737"/>
                  </p:ext>
                </p:extLst>
              </p:nvPr>
            </p:nvGraphicFramePr>
            <p:xfrm>
              <a:off x="1079500" y="3429000"/>
              <a:ext cx="10731504" cy="365760"/>
            </p:xfrm>
            <a:graphic>
              <a:graphicData uri="http://schemas.openxmlformats.org/drawingml/2006/table">
                <a:tbl>
                  <a:tblPr firstRow="1" bandRow="1">
                    <a:tableStyleId>{2D5ABB26-0587-4C30-8999-92F81FD0307C}</a:tableStyleId>
                  </a:tblPr>
                  <a:tblGrid>
                    <a:gridCol w="894292">
                      <a:extLst>
                        <a:ext uri="{9D8B030D-6E8A-4147-A177-3AD203B41FA5}">
                          <a16:colId xmlns:a16="http://schemas.microsoft.com/office/drawing/2014/main" val="3063480472"/>
                        </a:ext>
                      </a:extLst>
                    </a:gridCol>
                    <a:gridCol w="894292">
                      <a:extLst>
                        <a:ext uri="{9D8B030D-6E8A-4147-A177-3AD203B41FA5}">
                          <a16:colId xmlns:a16="http://schemas.microsoft.com/office/drawing/2014/main" val="2436790002"/>
                        </a:ext>
                      </a:extLst>
                    </a:gridCol>
                    <a:gridCol w="894292">
                      <a:extLst>
                        <a:ext uri="{9D8B030D-6E8A-4147-A177-3AD203B41FA5}">
                          <a16:colId xmlns:a16="http://schemas.microsoft.com/office/drawing/2014/main" val="2787221456"/>
                        </a:ext>
                      </a:extLst>
                    </a:gridCol>
                    <a:gridCol w="894292">
                      <a:extLst>
                        <a:ext uri="{9D8B030D-6E8A-4147-A177-3AD203B41FA5}">
                          <a16:colId xmlns:a16="http://schemas.microsoft.com/office/drawing/2014/main" val="2576912959"/>
                        </a:ext>
                      </a:extLst>
                    </a:gridCol>
                    <a:gridCol w="894292">
                      <a:extLst>
                        <a:ext uri="{9D8B030D-6E8A-4147-A177-3AD203B41FA5}">
                          <a16:colId xmlns:a16="http://schemas.microsoft.com/office/drawing/2014/main" val="3957296038"/>
                        </a:ext>
                      </a:extLst>
                    </a:gridCol>
                    <a:gridCol w="894292">
                      <a:extLst>
                        <a:ext uri="{9D8B030D-6E8A-4147-A177-3AD203B41FA5}">
                          <a16:colId xmlns:a16="http://schemas.microsoft.com/office/drawing/2014/main" val="1242246523"/>
                        </a:ext>
                      </a:extLst>
                    </a:gridCol>
                    <a:gridCol w="894292">
                      <a:extLst>
                        <a:ext uri="{9D8B030D-6E8A-4147-A177-3AD203B41FA5}">
                          <a16:colId xmlns:a16="http://schemas.microsoft.com/office/drawing/2014/main" val="3845388957"/>
                        </a:ext>
                      </a:extLst>
                    </a:gridCol>
                    <a:gridCol w="894292">
                      <a:extLst>
                        <a:ext uri="{9D8B030D-6E8A-4147-A177-3AD203B41FA5}">
                          <a16:colId xmlns:a16="http://schemas.microsoft.com/office/drawing/2014/main" val="4258307894"/>
                        </a:ext>
                      </a:extLst>
                    </a:gridCol>
                    <a:gridCol w="894292">
                      <a:extLst>
                        <a:ext uri="{9D8B030D-6E8A-4147-A177-3AD203B41FA5}">
                          <a16:colId xmlns:a16="http://schemas.microsoft.com/office/drawing/2014/main" val="3845216873"/>
                        </a:ext>
                      </a:extLst>
                    </a:gridCol>
                    <a:gridCol w="894292">
                      <a:extLst>
                        <a:ext uri="{9D8B030D-6E8A-4147-A177-3AD203B41FA5}">
                          <a16:colId xmlns:a16="http://schemas.microsoft.com/office/drawing/2014/main" val="1599148453"/>
                        </a:ext>
                      </a:extLst>
                    </a:gridCol>
                    <a:gridCol w="894292">
                      <a:extLst>
                        <a:ext uri="{9D8B030D-6E8A-4147-A177-3AD203B41FA5}">
                          <a16:colId xmlns:a16="http://schemas.microsoft.com/office/drawing/2014/main" val="3438473019"/>
                        </a:ext>
                      </a:extLst>
                    </a:gridCol>
                    <a:gridCol w="894292">
                      <a:extLst>
                        <a:ext uri="{9D8B030D-6E8A-4147-A177-3AD203B41FA5}">
                          <a16:colId xmlns:a16="http://schemas.microsoft.com/office/drawing/2014/main" val="974848731"/>
                        </a:ext>
                      </a:extLst>
                    </a:gridCol>
                  </a:tblGrid>
                  <a:tr h="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[0]</m:t>
                                </m:r>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14:m>
                            <m:oMath xmlns:m="http://schemas.openxmlformats.org/officeDocument/2006/math">
                              <m:r>
                                <a:rPr lang="en-US" b="0" i="1" smtClean="0">
                                  <a:latin typeface="Cambria Math" panose="02040503050406030204" pitchFamily="18" charset="0"/>
                                </a:rPr>
                                <m:t>𝑎</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oMath>
                          </a14:m>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[2]</m:t>
                                </m:r>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14:m>
                            <m:oMath xmlns:m="http://schemas.openxmlformats.org/officeDocument/2006/math">
                              <m:r>
                                <a:rPr lang="en-US" b="0" i="1" smtClean="0">
                                  <a:latin typeface="Cambria Math" panose="02040503050406030204" pitchFamily="18" charset="0"/>
                                </a:rPr>
                                <m:t>𝑎</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m:t>
                              </m:r>
                            </m:oMath>
                          </a14:m>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[0]</m:t>
                                </m:r>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14:m>
                            <m:oMath xmlns:m="http://schemas.openxmlformats.org/officeDocument/2006/math">
                              <m:r>
                                <a:rPr lang="en-US" b="0" i="1" smtClean="0">
                                  <a:latin typeface="Cambria Math" panose="02040503050406030204" pitchFamily="18" charset="0"/>
                                </a:rPr>
                                <m:t>𝑎</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[1</m:t>
                              </m:r>
                            </m:oMath>
                          </a14:m>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[2]</m:t>
                                </m:r>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14:m>
                            <m:oMath xmlns:m="http://schemas.openxmlformats.org/officeDocument/2006/math">
                              <m:r>
                                <a:rPr lang="en-US" b="0" i="1" smtClean="0">
                                  <a:latin typeface="Cambria Math" panose="02040503050406030204" pitchFamily="18" charset="0"/>
                                </a:rPr>
                                <m:t>𝑎</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m:t>
                              </m:r>
                            </m:oMath>
                          </a14:m>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2</m:t>
                                    </m:r>
                                  </m:e>
                                </m:d>
                                <m:r>
                                  <a:rPr lang="en-US" b="0" i="1" smtClean="0">
                                    <a:latin typeface="Cambria Math" panose="02040503050406030204" pitchFamily="18" charset="0"/>
                                  </a:rPr>
                                  <m:t>[0]</m:t>
                                </m:r>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14:m>
                            <m:oMath xmlns:m="http://schemas.openxmlformats.org/officeDocument/2006/math">
                              <m:r>
                                <a:rPr lang="en-US" b="0" i="1" smtClean="0">
                                  <a:latin typeface="Cambria Math" panose="02040503050406030204" pitchFamily="18" charset="0"/>
                                </a:rPr>
                                <m:t>𝑎</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2</m:t>
                                  </m:r>
                                </m:e>
                              </m:d>
                              <m:r>
                                <a:rPr lang="en-US" b="0" i="1" smtClean="0">
                                  <a:latin typeface="Cambria Math" panose="02040503050406030204" pitchFamily="18" charset="0"/>
                                </a:rPr>
                                <m:t>[1</m:t>
                              </m:r>
                            </m:oMath>
                          </a14:m>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2</m:t>
                                    </m:r>
                                  </m:e>
                                </m:d>
                                <m:r>
                                  <a:rPr lang="en-US" b="0" i="1" smtClean="0">
                                    <a:latin typeface="Cambria Math" panose="02040503050406030204" pitchFamily="18" charset="0"/>
                                  </a:rPr>
                                  <m:t>[2]</m:t>
                                </m:r>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14:m>
                            <m:oMath xmlns:m="http://schemas.openxmlformats.org/officeDocument/2006/math">
                              <m:r>
                                <a:rPr lang="en-US" b="0" i="1" smtClean="0">
                                  <a:latin typeface="Cambria Math" panose="02040503050406030204" pitchFamily="18" charset="0"/>
                                </a:rPr>
                                <m:t>𝑎</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2</m:t>
                                  </m:r>
                                </m:e>
                              </m:d>
                              <m:r>
                                <a:rPr lang="en-US" b="0" i="1" smtClean="0">
                                  <a:latin typeface="Cambria Math" panose="02040503050406030204" pitchFamily="18" charset="0"/>
                                </a:rPr>
                                <m:t>[</m:t>
                              </m:r>
                            </m:oMath>
                          </a14:m>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2681817"/>
                      </a:ext>
                    </a:extLst>
                  </a:tr>
                </a:tbl>
              </a:graphicData>
            </a:graphic>
          </p:graphicFrame>
        </mc:Choice>
        <mc:Fallback xmlns="">
          <p:graphicFrame>
            <p:nvGraphicFramePr>
              <p:cNvPr id="5" name="Table 4">
                <a:extLst>
                  <a:ext uri="{FF2B5EF4-FFF2-40B4-BE49-F238E27FC236}">
                    <a16:creationId xmlns:a16="http://schemas.microsoft.com/office/drawing/2014/main" id="{BF4B2FF4-92CE-115F-5184-FB8904B14700}"/>
                  </a:ext>
                </a:extLst>
              </p:cNvPr>
              <p:cNvGraphicFramePr>
                <a:graphicFrameLocks noGrp="1"/>
              </p:cNvGraphicFramePr>
              <p:nvPr>
                <p:extLst>
                  <p:ext uri="{D42A27DB-BD31-4B8C-83A1-F6EECF244321}">
                    <p14:modId xmlns:p14="http://schemas.microsoft.com/office/powerpoint/2010/main" val="4163323737"/>
                  </p:ext>
                </p:extLst>
              </p:nvPr>
            </p:nvGraphicFramePr>
            <p:xfrm>
              <a:off x="1079500" y="3429000"/>
              <a:ext cx="10731504" cy="365760"/>
            </p:xfrm>
            <a:graphic>
              <a:graphicData uri="http://schemas.openxmlformats.org/drawingml/2006/table">
                <a:tbl>
                  <a:tblPr firstRow="1" bandRow="1">
                    <a:tableStyleId>{2D5ABB26-0587-4C30-8999-92F81FD0307C}</a:tableStyleId>
                  </a:tblPr>
                  <a:tblGrid>
                    <a:gridCol w="894292">
                      <a:extLst>
                        <a:ext uri="{9D8B030D-6E8A-4147-A177-3AD203B41FA5}">
                          <a16:colId xmlns:a16="http://schemas.microsoft.com/office/drawing/2014/main" val="3063480472"/>
                        </a:ext>
                      </a:extLst>
                    </a:gridCol>
                    <a:gridCol w="894292">
                      <a:extLst>
                        <a:ext uri="{9D8B030D-6E8A-4147-A177-3AD203B41FA5}">
                          <a16:colId xmlns:a16="http://schemas.microsoft.com/office/drawing/2014/main" val="2436790002"/>
                        </a:ext>
                      </a:extLst>
                    </a:gridCol>
                    <a:gridCol w="894292">
                      <a:extLst>
                        <a:ext uri="{9D8B030D-6E8A-4147-A177-3AD203B41FA5}">
                          <a16:colId xmlns:a16="http://schemas.microsoft.com/office/drawing/2014/main" val="2787221456"/>
                        </a:ext>
                      </a:extLst>
                    </a:gridCol>
                    <a:gridCol w="894292">
                      <a:extLst>
                        <a:ext uri="{9D8B030D-6E8A-4147-A177-3AD203B41FA5}">
                          <a16:colId xmlns:a16="http://schemas.microsoft.com/office/drawing/2014/main" val="2576912959"/>
                        </a:ext>
                      </a:extLst>
                    </a:gridCol>
                    <a:gridCol w="894292">
                      <a:extLst>
                        <a:ext uri="{9D8B030D-6E8A-4147-A177-3AD203B41FA5}">
                          <a16:colId xmlns:a16="http://schemas.microsoft.com/office/drawing/2014/main" val="3957296038"/>
                        </a:ext>
                      </a:extLst>
                    </a:gridCol>
                    <a:gridCol w="894292">
                      <a:extLst>
                        <a:ext uri="{9D8B030D-6E8A-4147-A177-3AD203B41FA5}">
                          <a16:colId xmlns:a16="http://schemas.microsoft.com/office/drawing/2014/main" val="1242246523"/>
                        </a:ext>
                      </a:extLst>
                    </a:gridCol>
                    <a:gridCol w="894292">
                      <a:extLst>
                        <a:ext uri="{9D8B030D-6E8A-4147-A177-3AD203B41FA5}">
                          <a16:colId xmlns:a16="http://schemas.microsoft.com/office/drawing/2014/main" val="3845388957"/>
                        </a:ext>
                      </a:extLst>
                    </a:gridCol>
                    <a:gridCol w="894292">
                      <a:extLst>
                        <a:ext uri="{9D8B030D-6E8A-4147-A177-3AD203B41FA5}">
                          <a16:colId xmlns:a16="http://schemas.microsoft.com/office/drawing/2014/main" val="4258307894"/>
                        </a:ext>
                      </a:extLst>
                    </a:gridCol>
                    <a:gridCol w="894292">
                      <a:extLst>
                        <a:ext uri="{9D8B030D-6E8A-4147-A177-3AD203B41FA5}">
                          <a16:colId xmlns:a16="http://schemas.microsoft.com/office/drawing/2014/main" val="3845216873"/>
                        </a:ext>
                      </a:extLst>
                    </a:gridCol>
                    <a:gridCol w="894292">
                      <a:extLst>
                        <a:ext uri="{9D8B030D-6E8A-4147-A177-3AD203B41FA5}">
                          <a16:colId xmlns:a16="http://schemas.microsoft.com/office/drawing/2014/main" val="1599148453"/>
                        </a:ext>
                      </a:extLst>
                    </a:gridCol>
                    <a:gridCol w="894292">
                      <a:extLst>
                        <a:ext uri="{9D8B030D-6E8A-4147-A177-3AD203B41FA5}">
                          <a16:colId xmlns:a16="http://schemas.microsoft.com/office/drawing/2014/main" val="3438473019"/>
                        </a:ext>
                      </a:extLst>
                    </a:gridCol>
                    <a:gridCol w="894292">
                      <a:extLst>
                        <a:ext uri="{9D8B030D-6E8A-4147-A177-3AD203B41FA5}">
                          <a16:colId xmlns:a16="http://schemas.microsoft.com/office/drawing/2014/main" val="974848731"/>
                        </a:ext>
                      </a:extLst>
                    </a:gridCol>
                  </a:tblGrid>
                  <a:tr h="36576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80" t="-6557" r="-1099320" b="-262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680" t="-6557" r="-999320" b="-262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2055" t="-6557" r="-906164" b="-262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000" t="-6557" r="-800000" b="-262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000" t="-6557" r="-700000" b="-262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0000" t="-6557" r="-600000" b="-262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4110" t="-6557" r="-504110" b="-262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99320" t="-6557" r="-400680" b="-262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99320" t="-6557" r="-300680" b="-262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99320" t="-6557" r="-200680" b="-262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6164" t="-6557" r="-102055" b="-262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98639" t="-6557" r="-1361" b="-26230"/>
                          </a:stretch>
                        </a:blipFill>
                      </a:tcPr>
                    </a:tc>
                    <a:extLst>
                      <a:ext uri="{0D108BD9-81ED-4DB2-BD59-A6C34878D82A}">
                        <a16:rowId xmlns:a16="http://schemas.microsoft.com/office/drawing/2014/main" val="3772681817"/>
                      </a:ext>
                    </a:extLst>
                  </a:tr>
                </a:tbl>
              </a:graphicData>
            </a:graphic>
          </p:graphicFrame>
        </mc:Fallback>
      </mc:AlternateContent>
    </p:spTree>
    <p:extLst>
      <p:ext uri="{BB962C8B-B14F-4D97-AF65-F5344CB8AC3E}">
        <p14:creationId xmlns:p14="http://schemas.microsoft.com/office/powerpoint/2010/main" val="39699305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4BFA9-0D20-5D15-6963-83E62883A8EB}"/>
              </a:ext>
            </a:extLst>
          </p:cNvPr>
          <p:cNvSpPr>
            <a:spLocks noGrp="1"/>
          </p:cNvSpPr>
          <p:nvPr>
            <p:ph type="title"/>
          </p:nvPr>
        </p:nvSpPr>
        <p:spPr/>
        <p:txBody>
          <a:bodyPr/>
          <a:lstStyle/>
          <a:p>
            <a:r>
              <a:rPr lang="ru-RU" dirty="0"/>
              <a:t>Массивы большей размерности</a:t>
            </a:r>
            <a:endParaRPr lang="en-US" dirty="0"/>
          </a:p>
        </p:txBody>
      </p:sp>
      <p:sp>
        <p:nvSpPr>
          <p:cNvPr id="3" name="Content Placeholder 2">
            <a:extLst>
              <a:ext uri="{FF2B5EF4-FFF2-40B4-BE49-F238E27FC236}">
                <a16:creationId xmlns:a16="http://schemas.microsoft.com/office/drawing/2014/main" id="{B44DCF21-0C09-E445-8A80-92F6D10954E4}"/>
              </a:ext>
            </a:extLst>
          </p:cNvPr>
          <p:cNvSpPr>
            <a:spLocks noGrp="1"/>
          </p:cNvSpPr>
          <p:nvPr>
            <p:ph idx="1"/>
          </p:nvPr>
        </p:nvSpPr>
        <p:spPr/>
        <p:txBody>
          <a:bodyPr/>
          <a:lstStyle/>
          <a:p>
            <a:r>
              <a:rPr lang="ru-RU" dirty="0"/>
              <a:t>Можно объявлять массивы с любым числом измерений:</a:t>
            </a:r>
          </a:p>
          <a:p>
            <a:pPr lvl="1"/>
            <a:r>
              <a:rPr lang="ru-RU" dirty="0" err="1"/>
              <a:t>int</a:t>
            </a:r>
            <a:r>
              <a:rPr lang="ru-RU" dirty="0"/>
              <a:t> a[2][3][4];</a:t>
            </a:r>
          </a:p>
          <a:p>
            <a:r>
              <a:rPr lang="ru-RU" dirty="0"/>
              <a:t>Количество элементов:</a:t>
            </a:r>
          </a:p>
          <a:p>
            <a:pPr lvl="1"/>
            <a:r>
              <a:rPr lang="ru-RU" dirty="0"/>
              <a:t>2 * 3 * 4 = 24</a:t>
            </a:r>
          </a:p>
          <a:p>
            <a:r>
              <a:rPr lang="ru-RU" dirty="0"/>
              <a:t>Принцип хранения тот же — элементы идут подряд.</a:t>
            </a:r>
          </a:p>
        </p:txBody>
      </p:sp>
    </p:spTree>
    <p:extLst>
      <p:ext uri="{BB962C8B-B14F-4D97-AF65-F5344CB8AC3E}">
        <p14:creationId xmlns:p14="http://schemas.microsoft.com/office/powerpoint/2010/main" val="19463492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AFF5E-2604-FBE0-3E2E-A3177D747F1A}"/>
              </a:ext>
            </a:extLst>
          </p:cNvPr>
          <p:cNvSpPr>
            <a:spLocks noGrp="1"/>
          </p:cNvSpPr>
          <p:nvPr>
            <p:ph type="title"/>
          </p:nvPr>
        </p:nvSpPr>
        <p:spPr/>
        <p:txBody>
          <a:bodyPr/>
          <a:lstStyle/>
          <a:p>
            <a:r>
              <a:rPr lang="ru-RU" dirty="0"/>
              <a:t>Итоги по многомерным массивам</a:t>
            </a:r>
            <a:endParaRPr lang="en-US" dirty="0"/>
          </a:p>
        </p:txBody>
      </p:sp>
      <p:sp>
        <p:nvSpPr>
          <p:cNvPr id="3" name="Content Placeholder 2">
            <a:extLst>
              <a:ext uri="{FF2B5EF4-FFF2-40B4-BE49-F238E27FC236}">
                <a16:creationId xmlns:a16="http://schemas.microsoft.com/office/drawing/2014/main" id="{755DDB5F-EDA8-CEAF-A84D-B76DF73D1FEB}"/>
              </a:ext>
            </a:extLst>
          </p:cNvPr>
          <p:cNvSpPr>
            <a:spLocks noGrp="1"/>
          </p:cNvSpPr>
          <p:nvPr>
            <p:ph idx="1"/>
          </p:nvPr>
        </p:nvSpPr>
        <p:spPr/>
        <p:txBody>
          <a:bodyPr/>
          <a:lstStyle/>
          <a:p>
            <a:r>
              <a:rPr lang="ru-RU" dirty="0"/>
              <a:t>Многомерный массив в C:</a:t>
            </a:r>
          </a:p>
          <a:p>
            <a:pPr lvl="1"/>
            <a:r>
              <a:rPr lang="ru-RU" dirty="0"/>
              <a:t>это массив, элементы которого сами являются массивами</a:t>
            </a:r>
          </a:p>
          <a:p>
            <a:pPr lvl="1"/>
            <a:r>
              <a:rPr lang="ru-RU" dirty="0"/>
              <a:t>имеет фиксированные размеры по каждому измерению</a:t>
            </a:r>
          </a:p>
          <a:p>
            <a:pPr lvl="1"/>
            <a:r>
              <a:rPr lang="ru-RU" dirty="0"/>
              <a:t>хранится в </a:t>
            </a:r>
            <a:r>
              <a:rPr lang="ru-RU" b="1" dirty="0"/>
              <a:t>непрерывной области памяти</a:t>
            </a:r>
            <a:endParaRPr lang="ru-RU" dirty="0"/>
          </a:p>
          <a:p>
            <a:pPr lvl="1"/>
            <a:r>
              <a:rPr lang="ru-RU" dirty="0"/>
              <a:t>использует построчный порядок хранения (</a:t>
            </a:r>
            <a:r>
              <a:rPr lang="ru-RU" dirty="0" err="1"/>
              <a:t>row-major</a:t>
            </a:r>
            <a:r>
              <a:rPr lang="ru-RU" dirty="0"/>
              <a:t> </a:t>
            </a:r>
            <a:r>
              <a:rPr lang="ru-RU" dirty="0" err="1"/>
              <a:t>order</a:t>
            </a:r>
            <a:r>
              <a:rPr lang="ru-RU" dirty="0"/>
              <a:t>)</a:t>
            </a:r>
          </a:p>
          <a:p>
            <a:pPr lvl="1"/>
            <a:r>
              <a:rPr lang="ru-RU" dirty="0"/>
              <a:t>доступ осуществляется через несколько индексов</a:t>
            </a:r>
          </a:p>
          <a:p>
            <a:r>
              <a:rPr lang="ru-RU" dirty="0"/>
              <a:t>Количество элементов – произведение всех размеров.</a:t>
            </a:r>
          </a:p>
          <a:p>
            <a:endParaRPr lang="en-US" dirty="0"/>
          </a:p>
        </p:txBody>
      </p:sp>
    </p:spTree>
    <p:extLst>
      <p:ext uri="{BB962C8B-B14F-4D97-AF65-F5344CB8AC3E}">
        <p14:creationId xmlns:p14="http://schemas.microsoft.com/office/powerpoint/2010/main" val="29648920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68BFA-70A9-E336-4C46-5420B9299E9F}"/>
              </a:ext>
            </a:extLst>
          </p:cNvPr>
          <p:cNvSpPr>
            <a:spLocks noGrp="1"/>
          </p:cNvSpPr>
          <p:nvPr>
            <p:ph type="title"/>
          </p:nvPr>
        </p:nvSpPr>
        <p:spPr/>
        <p:txBody>
          <a:bodyPr/>
          <a:lstStyle/>
          <a:p>
            <a:r>
              <a:rPr lang="ru-RU" dirty="0"/>
              <a:t>Заключение</a:t>
            </a:r>
            <a:endParaRPr lang="en-US" dirty="0"/>
          </a:p>
        </p:txBody>
      </p:sp>
      <p:sp>
        <p:nvSpPr>
          <p:cNvPr id="3" name="Content Placeholder 2">
            <a:extLst>
              <a:ext uri="{FF2B5EF4-FFF2-40B4-BE49-F238E27FC236}">
                <a16:creationId xmlns:a16="http://schemas.microsoft.com/office/drawing/2014/main" id="{E2378299-16E3-B9C3-339E-0DE7EBE49530}"/>
              </a:ext>
            </a:extLst>
          </p:cNvPr>
          <p:cNvSpPr>
            <a:spLocks noGrp="1"/>
          </p:cNvSpPr>
          <p:nvPr>
            <p:ph idx="1"/>
          </p:nvPr>
        </p:nvSpPr>
        <p:spPr/>
        <p:txBody>
          <a:bodyPr>
            <a:normAutofit/>
          </a:bodyPr>
          <a:lstStyle/>
          <a:p>
            <a:r>
              <a:rPr lang="ru-RU" dirty="0"/>
              <a:t>Сегодня мы изучили:</a:t>
            </a:r>
          </a:p>
          <a:p>
            <a:pPr lvl="1"/>
            <a:r>
              <a:rPr lang="ru-RU" b="1" dirty="0" err="1"/>
              <a:t>if</a:t>
            </a:r>
            <a:r>
              <a:rPr lang="ru-RU" b="1" dirty="0"/>
              <a:t> / </a:t>
            </a:r>
            <a:r>
              <a:rPr lang="ru-RU" b="1" dirty="0" err="1"/>
              <a:t>if-else</a:t>
            </a:r>
            <a:r>
              <a:rPr lang="ru-RU" b="1" dirty="0"/>
              <a:t> / </a:t>
            </a:r>
            <a:r>
              <a:rPr lang="ru-RU" b="1" dirty="0" err="1"/>
              <a:t>else</a:t>
            </a:r>
            <a:r>
              <a:rPr lang="ru-RU" b="1" dirty="0"/>
              <a:t> </a:t>
            </a:r>
            <a:r>
              <a:rPr lang="ru-RU" b="1" dirty="0" err="1"/>
              <a:t>if</a:t>
            </a:r>
            <a:r>
              <a:rPr lang="ru-RU" dirty="0"/>
              <a:t>: ветвление и управление логикой программы</a:t>
            </a:r>
          </a:p>
          <a:p>
            <a:pPr lvl="1"/>
            <a:r>
              <a:rPr lang="ru-RU" b="1" dirty="0" err="1"/>
              <a:t>switch</a:t>
            </a:r>
            <a:r>
              <a:rPr lang="ru-RU" dirty="0"/>
              <a:t>: множественный выбор по значению, </a:t>
            </a:r>
            <a:r>
              <a:rPr lang="ru-RU" dirty="0" err="1"/>
              <a:t>break</a:t>
            </a:r>
            <a:r>
              <a:rPr lang="ru-RU" dirty="0"/>
              <a:t> и «проваливание» сквозь метки </a:t>
            </a:r>
            <a:r>
              <a:rPr lang="en-US" dirty="0"/>
              <a:t>case</a:t>
            </a:r>
            <a:endParaRPr lang="ru-RU" dirty="0"/>
          </a:p>
          <a:p>
            <a:pPr lvl="1"/>
            <a:r>
              <a:rPr lang="ru-RU" b="1" dirty="0"/>
              <a:t>циклы </a:t>
            </a:r>
            <a:r>
              <a:rPr lang="ru-RU" b="1" dirty="0" err="1"/>
              <a:t>while</a:t>
            </a:r>
            <a:r>
              <a:rPr lang="ru-RU" b="1" dirty="0"/>
              <a:t> / </a:t>
            </a:r>
            <a:r>
              <a:rPr lang="ru-RU" b="1" dirty="0" err="1"/>
              <a:t>for</a:t>
            </a:r>
            <a:r>
              <a:rPr lang="ru-RU" b="1" dirty="0"/>
              <a:t> / </a:t>
            </a:r>
            <a:r>
              <a:rPr lang="ru-RU" b="1" dirty="0" err="1"/>
              <a:t>do-while</a:t>
            </a:r>
            <a:r>
              <a:rPr lang="ru-RU" dirty="0"/>
              <a:t>: повторение действий и типовые шаблоны</a:t>
            </a:r>
          </a:p>
          <a:p>
            <a:pPr lvl="1"/>
            <a:r>
              <a:rPr lang="ru-RU" b="1" dirty="0"/>
              <a:t>статические массивы</a:t>
            </a:r>
            <a:r>
              <a:rPr lang="ru-RU" dirty="0"/>
              <a:t>: хранение данных фиксированного размера</a:t>
            </a:r>
          </a:p>
          <a:p>
            <a:pPr lvl="1"/>
            <a:r>
              <a:rPr lang="ru-RU" b="1" dirty="0"/>
              <a:t>двумерные и многомерные массивы</a:t>
            </a:r>
            <a:r>
              <a:rPr lang="ru-RU" dirty="0"/>
              <a:t>: таблицы, вложенные циклы, построчное хранение</a:t>
            </a:r>
          </a:p>
        </p:txBody>
      </p:sp>
    </p:spTree>
    <p:extLst>
      <p:ext uri="{BB962C8B-B14F-4D97-AF65-F5344CB8AC3E}">
        <p14:creationId xmlns:p14="http://schemas.microsoft.com/office/powerpoint/2010/main" val="11940538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362</TotalTime>
  <Words>7228</Words>
  <Application>Microsoft Office PowerPoint</Application>
  <PresentationFormat>Widescreen</PresentationFormat>
  <Paragraphs>772</Paragraphs>
  <Slides>51</Slides>
  <Notes>51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Aptos</vt:lpstr>
      <vt:lpstr>Aptos Display</vt:lpstr>
      <vt:lpstr>Arial</vt:lpstr>
      <vt:lpstr>Cambria Math</vt:lpstr>
      <vt:lpstr>Consolas</vt:lpstr>
      <vt:lpstr>Office Theme</vt:lpstr>
      <vt:lpstr>Управление выполнением программы</vt:lpstr>
      <vt:lpstr>Условный оператор if</vt:lpstr>
      <vt:lpstr>Условный оператор if</vt:lpstr>
      <vt:lpstr>Что такое условие?</vt:lpstr>
      <vt:lpstr>if – else</vt:lpstr>
      <vt:lpstr>Цепочка условий</vt:lpstr>
      <vt:lpstr>Вложенные if</vt:lpstr>
      <vt:lpstr>Частые ошибки</vt:lpstr>
      <vt:lpstr>if-else на ассемблере</vt:lpstr>
      <vt:lpstr>Итоги по if</vt:lpstr>
      <vt:lpstr>Множественный выбор</vt:lpstr>
      <vt:lpstr>Когда множественный if неудобен</vt:lpstr>
      <vt:lpstr>Общая форма switch</vt:lpstr>
      <vt:lpstr>Пример: обработка команды пользователя</vt:lpstr>
      <vt:lpstr>Как работает break</vt:lpstr>
      <vt:lpstr>Осознанный fallthrough</vt:lpstr>
      <vt:lpstr>Ограничения switch</vt:lpstr>
      <vt:lpstr>switch или if?</vt:lpstr>
      <vt:lpstr>switch на ассемблере</vt:lpstr>
      <vt:lpstr>Итоги по switch</vt:lpstr>
      <vt:lpstr>Цикл while</vt:lpstr>
      <vt:lpstr>Цикл while</vt:lpstr>
      <vt:lpstr>Цикл while на ассемблере</vt:lpstr>
      <vt:lpstr>Когда while неудобен</vt:lpstr>
      <vt:lpstr>Цикл for</vt:lpstr>
      <vt:lpstr>Общая форма цикла for</vt:lpstr>
      <vt:lpstr>Пример for</vt:lpstr>
      <vt:lpstr>Особенности for</vt:lpstr>
      <vt:lpstr>Особенности for</vt:lpstr>
      <vt:lpstr>Цикл for на ассемблере</vt:lpstr>
      <vt:lpstr>Цикл do-while</vt:lpstr>
      <vt:lpstr>Цикл do-while</vt:lpstr>
      <vt:lpstr>Пример ожидания положительного числа</vt:lpstr>
      <vt:lpstr>Цикл do-while на ассемблере</vt:lpstr>
      <vt:lpstr>Сравнение циклов while, for и do-while</vt:lpstr>
      <vt:lpstr>Массивы</vt:lpstr>
      <vt:lpstr>Зачем нужны массивы</vt:lpstr>
      <vt:lpstr>Объявление массива</vt:lpstr>
      <vt:lpstr>Доступ к элементам</vt:lpstr>
      <vt:lpstr>Инициализация массива</vt:lpstr>
      <vt:lpstr>Размер массива и sizeof</vt:lpstr>
      <vt:lpstr>Ограничения статических массивов</vt:lpstr>
      <vt:lpstr>Итоги по массивам</vt:lpstr>
      <vt:lpstr>Двумерные массивы</vt:lpstr>
      <vt:lpstr>Инициализация двумерного массива</vt:lpstr>
      <vt:lpstr>Перебор элементов двумерного массива</vt:lpstr>
      <vt:lpstr>Подсчёт суммы элементов матрицы</vt:lpstr>
      <vt:lpstr>Как двумерный массив хранится в памяти</vt:lpstr>
      <vt:lpstr>Массивы большей размерности</vt:lpstr>
      <vt:lpstr>Итоги по многомерным массивам</vt:lpstr>
      <vt:lpstr>Заключение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Алексей Малов</dc:creator>
  <cp:lastModifiedBy>Алексей Малов</cp:lastModifiedBy>
  <cp:revision>132</cp:revision>
  <dcterms:created xsi:type="dcterms:W3CDTF">2026-02-13T20:53:40Z</dcterms:created>
  <dcterms:modified xsi:type="dcterms:W3CDTF">2026-02-14T09:28:36Z</dcterms:modified>
</cp:coreProperties>
</file>