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2" r:id="rId14"/>
    <p:sldId id="271" r:id="rId15"/>
    <p:sldId id="270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1671" autoAdjust="0"/>
  </p:normalViewPr>
  <p:slideViewPr>
    <p:cSldViewPr snapToGrid="0" showGuides="1">
      <p:cViewPr varScale="1">
        <p:scale>
          <a:sx n="75" d="100"/>
          <a:sy n="75" d="100"/>
        </p:scale>
        <p:origin x="187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BFEAB-032F-451F-BEA8-EF3C36DEA96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EEA18-11E3-42C4-8C85-DE023A8E1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7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6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ситуацию, когда вся программа реализована в одном исходном файле.</a:t>
            </a:r>
          </a:p>
          <a:p>
            <a:r>
              <a:rPr lang="ru-RU" dirty="0"/>
              <a:t>На начальном этапе разработки это не вызывает проблем: программа компактна, структура очевидна, все функции находятся в одном месте. Однако по мере роста функциональности объём кода существенно увеличивается.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одном файле начинают сосредотачиваться:</a:t>
            </a:r>
          </a:p>
          <a:p>
            <a:r>
              <a:rPr lang="ru-RU" dirty="0"/>
              <a:t>— функции ввода-вывода</a:t>
            </a:r>
            <a:br>
              <a:rPr lang="ru-RU" dirty="0"/>
            </a:br>
            <a:r>
              <a:rPr lang="ru-RU" dirty="0"/>
              <a:t>— функции обработки данных</a:t>
            </a:r>
            <a:br>
              <a:rPr lang="ru-RU" dirty="0"/>
            </a:br>
            <a:r>
              <a:rPr lang="ru-RU" dirty="0"/>
              <a:t>— вспомогательные алгоритмы</a:t>
            </a:r>
            <a:br>
              <a:rPr lang="ru-RU" dirty="0"/>
            </a:br>
            <a:r>
              <a:rPr lang="ru-RU" dirty="0"/>
              <a:t>— основная логика программы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приводит к ряду системных проблем.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Во-первых, снижается читаемость кода. Поиск нужной функции или участка программы становится трудоёмким.</a:t>
            </a:r>
          </a:p>
          <a:p>
            <a:endParaRPr lang="en-US" dirty="0"/>
          </a:p>
          <a:p>
            <a:r>
              <a:rPr lang="ru-RU" dirty="0"/>
              <a:t>Во-вторых, возрастает вероятность ошибок. Изменение одной части программы может неявно повлиять на другую, поскольку отсутствует чёткое разделение ответственности.</a:t>
            </a:r>
          </a:p>
          <a:p>
            <a:endParaRPr lang="en-US" dirty="0"/>
          </a:p>
          <a:p>
            <a:r>
              <a:rPr lang="ru-RU" dirty="0"/>
              <a:t>В-третьих, затрудняется коллективная разработка. При работе нескольких разработчиков с одним файлом неизбежно возникают конфликты изменений.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по мере роста программы использование одного файла становится архитектурным ограничением.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93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ещё одну важную проблему — повторное использование кода.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Предположим, что в одной программе реализована полезная функция, например, для вывода содержимого памяти. Возникает естественное желание использовать эту же функциональность в других программах.</a:t>
            </a:r>
          </a:p>
          <a:p>
            <a:endParaRPr lang="en-US" dirty="0"/>
          </a:p>
          <a:p>
            <a:r>
              <a:rPr lang="ru-RU" dirty="0"/>
              <a:t>Наиболее очевидный способ — скопировать соответствующий код в новый файл. Однако такой подход приводит к дублированию.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Дублирование кода имеет несколько негативных последствий.</a:t>
            </a:r>
          </a:p>
          <a:p>
            <a:endParaRPr lang="en-US" dirty="0"/>
          </a:p>
          <a:p>
            <a:r>
              <a:rPr lang="ru-RU" dirty="0"/>
              <a:t>Во-первых, увеличивается объём поддерживаемого кода. Одна и та же логика присутствует в нескольких местах.</a:t>
            </a:r>
          </a:p>
          <a:p>
            <a:endParaRPr lang="en-US" dirty="0"/>
          </a:p>
          <a:p>
            <a:r>
              <a:rPr lang="ru-RU" dirty="0"/>
              <a:t>Во-вторых, усложняется сопровождение. При обнаружении ошибки необходимо внести исправления во все копии. Это требует дополнительных усилий и легко приводит к несогласованности версий.</a:t>
            </a:r>
          </a:p>
          <a:p>
            <a:endParaRPr lang="en-US" dirty="0"/>
          </a:p>
          <a:p>
            <a:r>
              <a:rPr lang="ru-RU" dirty="0"/>
              <a:t>В-третьих, снижается надёжность программного обеспечения, поскольку разные копии одного и того же кода могут вести себя по-разному.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Следовательно, простое копирование кода не является масштабируемым решением.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Необходим механизм, позволяющий выделять функциональность в отдельные компоненты и использовать её повторно без дублирования.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83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Решение описанных проблем в языке C состоит в разбиении программы на модули.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Модуль представляет собой логически завершённую часть программы, которая отвечает за некоторую отдельную задачу. Например, один модуль может содержать функции работы с файлами, другой — функции обработки данных, третий — функции вывода диагностической информации.</a:t>
            </a:r>
          </a:p>
          <a:p>
            <a:endParaRPr lang="ru-RU" dirty="0"/>
          </a:p>
          <a:p>
            <a:r>
              <a:rPr lang="ru-RU" dirty="0"/>
              <a:t>В языке C модуль обычно оформляется в виде двух файлов.</a:t>
            </a:r>
          </a:p>
          <a:p>
            <a:r>
              <a:rPr lang="ru-RU" dirty="0"/>
              <a:t>Первый файл, с расширением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, содержит реализацию, то есть непосредственный программный код функций.</a:t>
            </a:r>
          </a:p>
          <a:p>
            <a:r>
              <a:rPr lang="ru-RU" dirty="0"/>
              <a:t>Второй файл, с расширением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.h</a:t>
            </a:r>
            <a:r>
              <a:rPr lang="ru-RU" dirty="0"/>
              <a:t>, содержит интерфейс модуля: объявления функций, типов данных, констант и других сущностей, которые должны быть доступны из других частей программы.</a:t>
            </a:r>
          </a:p>
          <a:p>
            <a:endParaRPr lang="ru-RU" dirty="0"/>
          </a:p>
          <a:p>
            <a:r>
              <a:rPr lang="ru-RU" dirty="0"/>
              <a:t>Такое разделение даёт несколько важных преимуществ.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Во-первых, код становится более структурированным: разные части программы физически разделены по файлам в соответствии со своей ролью.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Во-вторых, модуль можно повторно использовать в нескольких программах без копирования реализации.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В-третьих, изменение внутреннего устройства модуля не требует изменений в других файлах, если его интерфейс остаётся прежним.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Именно поэтому модульная организация является стандартным способом построения крупных программ на языке 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76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 структуры модуля на языке C.</a:t>
            </a:r>
          </a:p>
          <a:p>
            <a:r>
              <a:rPr lang="ru-RU" dirty="0"/>
              <a:t>Модуль представлен двумя файлами: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point.h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Заголовочный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point.h</a:t>
            </a:r>
            <a:r>
              <a:rPr lang="ru-RU" dirty="0"/>
              <a:t> определяет интерфейс модуля. В нём объявляется структура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, а также функции, которые доступны для использования из других частей программы: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MovePoint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GetDistance</a:t>
            </a:r>
            <a:r>
              <a:rPr lang="ru-RU" dirty="0"/>
              <a:t>.</a:t>
            </a:r>
          </a:p>
          <a:p>
            <a:r>
              <a:rPr lang="ru-RU" dirty="0"/>
              <a:t>Важно отметить, что заголовочный файл содержит только те объявления, которые необходимы пользователю модуля. Он не содержит реализации функций и не включает лишние зависимости.</a:t>
            </a:r>
          </a:p>
          <a:p>
            <a:endParaRPr lang="ru-RU" dirty="0"/>
          </a:p>
          <a:p>
            <a:r>
              <a:rPr lang="ru-RU" dirty="0"/>
              <a:t>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point.c</a:t>
            </a:r>
            <a:r>
              <a:rPr lang="ru-RU" dirty="0"/>
              <a:t> содержит реализацию функций. В начале файла подключается заголовочный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point.h</a:t>
            </a:r>
            <a:r>
              <a:rPr lang="ru-RU" dirty="0"/>
              <a:t>, что позволяет компилятору проверить соответствие между объявлениями и реализациями.</a:t>
            </a:r>
          </a:p>
          <a:p>
            <a:r>
              <a:rPr lang="ru-RU" dirty="0"/>
              <a:t>Также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point.c</a:t>
            </a:r>
            <a:r>
              <a:rPr lang="ru-RU" dirty="0"/>
              <a:t> подключается стандартный заголовочный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, поскольку для реализации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GetDistance</a:t>
            </a:r>
            <a:r>
              <a:rPr lang="ru-RU" dirty="0"/>
              <a:t> используется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sqrt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 на важный принцип: заголовочный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point.h</a:t>
            </a:r>
            <a:r>
              <a:rPr lang="ru-RU" dirty="0"/>
              <a:t> не включает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 Это связано с тем, что заголовочный файл должен содержать только те зависимости, которые необходимы для его собственной компиляции. В данном случае для объявления функций достаточно знать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, а реализация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sqrt</a:t>
            </a:r>
            <a:r>
              <a:rPr lang="ru-RU" dirty="0"/>
              <a:t> требуется только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файле.</a:t>
            </a:r>
          </a:p>
          <a:p>
            <a:endParaRPr lang="ru-RU" dirty="0"/>
          </a:p>
          <a:p>
            <a:r>
              <a:rPr lang="ru-RU" dirty="0"/>
              <a:t>Такой подход позволяет минимизировать зависимости между модулями, ускоряет компиляцию и делает структуру программы более прозрачной.</a:t>
            </a:r>
          </a:p>
          <a:p>
            <a:endParaRPr lang="ru-RU" dirty="0"/>
          </a:p>
          <a:p>
            <a:r>
              <a:rPr lang="ru-RU" dirty="0"/>
              <a:t>Таким образом, другие файлы программы будут подключать только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point.h</a:t>
            </a:r>
            <a:r>
              <a:rPr lang="ru-RU" dirty="0"/>
              <a:t> и использовать объявленные в нём функции, не зная деталей их реализации и не </a:t>
            </a:r>
            <a:r>
              <a:rPr lang="ru-RU" dirty="0" err="1"/>
              <a:t>зависа</a:t>
            </a:r>
            <a:r>
              <a:rPr lang="ru-RU" dirty="0"/>
              <a:t> от внутренних подключений модуля.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28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Рассмотрим, почему одного разделения на несколько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файлов недостаточно.</a:t>
            </a:r>
          </a:p>
          <a:p>
            <a:r>
              <a:rPr lang="ru-RU" dirty="0"/>
              <a:t>Предположим, что мы вынесли реализацию работы с точками в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point.c</a:t>
            </a:r>
            <a:r>
              <a:rPr lang="ru-RU" dirty="0"/>
              <a:t>, а в файле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</a:t>
            </a:r>
            <a:r>
              <a:rPr lang="ru-RU" dirty="0"/>
              <a:t> пытаемся использовать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и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MovePoint</a:t>
            </a:r>
            <a:r>
              <a:rPr lang="ru-RU" dirty="0"/>
              <a:t>.</a:t>
            </a:r>
          </a:p>
          <a:p>
            <a:r>
              <a:rPr lang="ru-RU" dirty="0"/>
              <a:t>При компиляции возникает ошибка. Компилятор сообщает, что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неизвестен, а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MovePoint</a:t>
            </a:r>
            <a:r>
              <a:rPr lang="ru-RU" dirty="0"/>
              <a:t> не объявлена.</a:t>
            </a:r>
          </a:p>
          <a:p>
            <a:r>
              <a:rPr lang="ru-RU" dirty="0"/>
              <a:t>Причина в том, что компилятор обрабатывает каждый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 независимо. При компиляции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</a:t>
            </a:r>
            <a:r>
              <a:rPr lang="ru-RU" dirty="0"/>
              <a:t> он не имеет никакой информации о том, что находится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point.c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18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Теоретически можно было бы продублировать объявления: вручную описать структуру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и сигнатуры функций в каждом файле, где они используются.</a:t>
            </a:r>
          </a:p>
          <a:p>
            <a:r>
              <a:rPr lang="ru-RU" dirty="0"/>
              <a:t>Однако такой подход приводит к дублированию кода. При изменении структуры или сигнатуры функций потребуется вносить изменения во все файлы, что создаёт риск несогласованности и ошибок.</a:t>
            </a:r>
          </a:p>
          <a:p>
            <a:endParaRPr lang="ru-RU" dirty="0"/>
          </a:p>
          <a:p>
            <a:r>
              <a:rPr lang="ru-RU" dirty="0"/>
              <a:t>Поэтому используется другой подход: все объявления, которые должны быть доступны из разных файлов, выносятся в отдельный заголовочный файл.</a:t>
            </a:r>
          </a:p>
          <a:p>
            <a:r>
              <a:rPr lang="ru-RU" dirty="0"/>
              <a:t>Этот файл подключается с помощью директивы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ru-RU" dirty="0"/>
              <a:t> в тех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файлах, где требуется доступ к соответствующему модулю.</a:t>
            </a:r>
          </a:p>
          <a:p>
            <a:r>
              <a:rPr lang="ru-RU" dirty="0"/>
              <a:t>Таким образом, заголовочный файл обеспечивает единое и согласованное описание интерфейса модуля для всей программы.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25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рассмотрим, как на практике собирается многомодульная программа.</a:t>
            </a:r>
          </a:p>
          <a:p>
            <a:r>
              <a:rPr lang="ru-RU" dirty="0"/>
              <a:t>Предположим, что наша программа состоит из файлов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point.c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point.h</a:t>
            </a:r>
            <a:r>
              <a:rPr lang="ru-RU" dirty="0"/>
              <a:t>. Заголовочный файл участвует в компиляции через директиву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ru-RU" dirty="0"/>
              <a:t>, но напрямую не компилируется. Компилируются именно файлы с расширением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Сборка обычно состоит из двух этапов.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Первый этап — компиляция каждого исходного файла в объектный файл.</a:t>
            </a:r>
            <a:br>
              <a:rPr lang="ru-RU" dirty="0"/>
            </a:br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</a:t>
            </a:r>
            <a:r>
              <a:rPr lang="ru-RU" dirty="0"/>
              <a:t> превращается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main.o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main.obj</a:t>
            </a:r>
            <a:r>
              <a:rPr lang="ru-RU" dirty="0"/>
              <a:t>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point.c</a:t>
            </a:r>
            <a:r>
              <a:rPr lang="ru-RU" dirty="0"/>
              <a:t> —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point.o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point.obj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Второй этап — компоновка, то есть объединение объектных файлов в одну исполняемую программу.</a:t>
            </a:r>
          </a:p>
          <a:p>
            <a:r>
              <a:rPr lang="ru-RU" dirty="0"/>
              <a:t>На слайде показаны команды для трёх популярных компиляторов: GCC, </a:t>
            </a:r>
            <a:r>
              <a:rPr lang="ru-RU" dirty="0" err="1"/>
              <a:t>Clang</a:t>
            </a:r>
            <a:r>
              <a:rPr lang="ru-RU" dirty="0"/>
              <a:t> и MSVC.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каждый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 компилируется отдельно. Это и делает возможной модульную организацию программы. После этого компоновщик объединяет полученные части и связывает вызовы функций между модулями.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Также многие компиляторы позволяют выполнить оба этапа одной командой. Это удобно для небольших проектов. Однако раздельная компиляция особенно важна в больших программах, поскольку позволяет пересобирать только те модули, которые были изменены.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50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два ключевых этапа сборки программы: компиляцию и компоновку.</a:t>
            </a:r>
          </a:p>
          <a:p>
            <a:endParaRPr lang="ru-RU" dirty="0"/>
          </a:p>
          <a:p>
            <a:r>
              <a:rPr lang="ru-RU" dirty="0"/>
              <a:t>Компилятор работает с каждым исходным файлом отдельно. Он анализирует код, проверяет корректность синтаксиса и типов, а затем преобразует исходный текст программы в объектный файл.</a:t>
            </a:r>
          </a:p>
          <a:p>
            <a:r>
              <a:rPr lang="ru-RU" dirty="0"/>
              <a:t>Важно подчеркнуть, что на этом этапе компилятор не имеет информации о других модулях программы. Он опирается только на те объявления, которые доступны в текущем файле, например через заголовочные файлы.</a:t>
            </a:r>
          </a:p>
          <a:p>
            <a:r>
              <a:rPr lang="ru-RU" dirty="0"/>
              <a:t>После компиляции мы получаем набор объектных файлов, каждый из которых содержит часть программы.</a:t>
            </a:r>
          </a:p>
          <a:p>
            <a:endParaRPr lang="ru-RU" dirty="0"/>
          </a:p>
          <a:p>
            <a:r>
              <a:rPr lang="ru-RU" dirty="0"/>
              <a:t>Далее в работу вступает линкер, или компоновщик. Его задача — объединить объектные файлы в единую исполняемую программу.</a:t>
            </a:r>
          </a:p>
          <a:p>
            <a:r>
              <a:rPr lang="ru-RU" dirty="0"/>
              <a:t>Линкер сопоставляет имена функций и переменных, используемых в одних модулях, с их реализациями в других. По сути, он «соединяет» части программы между собой.</a:t>
            </a:r>
          </a:p>
          <a:p>
            <a:r>
              <a:rPr lang="ru-RU" dirty="0"/>
              <a:t>Если функция была объявлена, но её реализация не найдена ни в одном из объектных файлов, возникает ошибка линковки. Это принципиально другой тип ошибки, отличающийся от ошибок компиляции.</a:t>
            </a:r>
          </a:p>
          <a:p>
            <a:endParaRPr lang="ru-RU" dirty="0"/>
          </a:p>
          <a:p>
            <a:r>
              <a:rPr lang="ru-RU" dirty="0"/>
              <a:t>Таким образом, компилятор отвечает за корректность отдельных модулей, а линкер — за согласованность всей программы целиком.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47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Рассмотрим, как в языке C регулируется область видимости между файлами.</a:t>
            </a:r>
          </a:p>
          <a:p>
            <a:endParaRPr lang="ru-RU" dirty="0"/>
          </a:p>
          <a:p>
            <a:r>
              <a:rPr lang="ru-RU" dirty="0"/>
              <a:t>Если глобальная переменная или функция объявлена без дополнительных ключевых слов, она имеет внешнюю область видимости. Это означает, что к ней можно обратиться из других файлов, используя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разные модули могут разделять общие данные или вызывать функции друг друга.</a:t>
            </a:r>
          </a:p>
          <a:p>
            <a:endParaRPr lang="en-US" dirty="0"/>
          </a:p>
          <a:p>
            <a:r>
              <a:rPr lang="ru-RU" dirty="0"/>
              <a:t>Однако такой подход не всегда желателен. Если внутренняя переменная или вспомогательная функция используются только внутри одного модуля, нет необходимости делать их доступными извне.</a:t>
            </a:r>
          </a:p>
          <a:p>
            <a:endParaRPr lang="ru-RU" dirty="0"/>
          </a:p>
          <a:p>
            <a:r>
              <a:rPr lang="ru-RU" dirty="0"/>
              <a:t>Для ограничения области видимости используется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ru-RU" dirty="0"/>
              <a:t>. Переменные и функции, объявленные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ru-RU" dirty="0"/>
              <a:t>, видны только внутри текущего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файла и недоступны другим модулям.</a:t>
            </a:r>
          </a:p>
          <a:p>
            <a:r>
              <a:rPr lang="ru-RU" dirty="0"/>
              <a:t>Это позволяет скрыть детали реализации и избежать случайного использования внутренних элементов модуля извне.</a:t>
            </a:r>
          </a:p>
          <a:p>
            <a:r>
              <a:rPr lang="ru-RU" dirty="0"/>
              <a:t>Таким образом, в языке C можно управлять видимостью на уровне файлов: либо делать сущности доступными всему проекту, либо ограничивать их текущим модулем.</a:t>
            </a:r>
          </a:p>
          <a:p>
            <a:endParaRPr lang="ru-RU" dirty="0"/>
          </a:p>
          <a:p>
            <a:r>
              <a:rPr lang="ru-RU" dirty="0"/>
              <a:t>Рекомендуемый подход — делать доступными только те функции и данные, которые входят в интерфейс модуля, и скрывать всё остальное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8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небольшой пример модуля.</a:t>
            </a:r>
          </a:p>
          <a:p>
            <a:r>
              <a:rPr lang="ru-RU" dirty="0"/>
              <a:t>В заголовочном файле объявлена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</a:t>
            </a:r>
            <a:r>
              <a:rPr lang="ru-RU" dirty="0"/>
              <a:t>. Это функция, которая входит в интерфейс модуля и предназначена для использования из других файлов.</a:t>
            </a:r>
          </a:p>
          <a:p>
            <a:r>
              <a:rPr lang="ru-RU" dirty="0"/>
              <a:t>В файле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math_utils.c</a:t>
            </a:r>
            <a:r>
              <a:rPr lang="ru-RU" dirty="0"/>
              <a:t> находится реализация. Здесь, помимо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</a:t>
            </a:r>
            <a:r>
              <a:rPr lang="ru-RU" dirty="0"/>
              <a:t>, определена вспомогательная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внимание, что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</a:t>
            </a:r>
            <a:r>
              <a:rPr lang="ru-RU" dirty="0"/>
              <a:t> объявлена с ключевым словом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ru-RU" dirty="0"/>
              <a:t>. Это означает, что она доступна только внутри текущего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файла и не может быть вызвана из других модулей.</a:t>
            </a:r>
          </a:p>
          <a:p>
            <a:r>
              <a:rPr lang="ru-RU" dirty="0"/>
              <a:t>Такое решение оправдано, поскольку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</a:t>
            </a:r>
            <a:r>
              <a:rPr lang="ru-RU" dirty="0"/>
              <a:t> является внутренней деталью реализации. Пользователю модуля не нужно знать о её существовании — ему достаточно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ru-RU" dirty="0"/>
              <a:t> позволяет явно разделить интерфейс и внутреннюю реализацию: снаружи видна только одна функция, а вспомогательная логика скрыта внутри модуля.</a:t>
            </a:r>
          </a:p>
          <a:p>
            <a:r>
              <a:rPr lang="ru-RU" dirty="0"/>
              <a:t>Кроме того,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ru-RU" dirty="0"/>
              <a:t> есть ещё одно преимущество. Поскольку компилятор знает, что такая функция используется только внутри одного файла, он может более свободно её оптимизировать.</a:t>
            </a:r>
          </a:p>
          <a:p>
            <a:r>
              <a:rPr lang="ru-RU" dirty="0"/>
              <a:t>Например, он может встроить её код непосредственно в место вызова, изменить способ передачи аргументов или даже полностью убрать вызов функции как отдельную сущность.</a:t>
            </a:r>
          </a:p>
          <a:p>
            <a:endParaRPr lang="ru-RU" dirty="0"/>
          </a:p>
          <a:p>
            <a:r>
              <a:rPr lang="ru-RU" dirty="0"/>
              <a:t>Проще говоря, компилятору не нужно учитывать, что эту функцию могут вызывать из других частей программы, и поэтому он может генерировать более эффективный код.</a:t>
            </a:r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ru-RU" dirty="0"/>
              <a:t> одновременно решает две задачи: улучшает структуру программы и даёт компилятору дополнительные возможности для оптимизации.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13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ситуацию с очень короткими функциями.</a:t>
            </a:r>
          </a:p>
          <a:p>
            <a:r>
              <a:rPr lang="ru-RU" dirty="0"/>
              <a:t>Например, функция вычисления модуля числа состоит буквально из одной строки. Однако при её использовании компилятор всё равно генерирует полноценный вызов функции.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означает, что перед выполнением тела функции происходит переход к ней, а затем возврат обратно. Такие операции требуют дополнительных инструкций.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длинных и сложных функций это не имеет существенного значения. Но для коротких функций накладные расходы на вызов могут быть сопоставимы с временем выполнения самой функции.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Кроме того, с точки зрения структуры программы возникает некоторая избыточность: ради очень простой логики приходится создавать отдельный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 и заголовочный файл.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Возникает естественное желание сохранить преимущества модульности, но при этом избежать лишних накладных расходов и упростить код.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84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наивное решение: можно попытаться просто написать реализацию функции прямо в заголовочном файле.</a:t>
            </a:r>
          </a:p>
          <a:p>
            <a:r>
              <a:rPr lang="ru-RU" dirty="0"/>
              <a:t>На первый взгляд это выглядит удобно — мы сразу имеем и объявление, и реализацию в одном месте.</a:t>
            </a:r>
          </a:p>
          <a:p>
            <a:r>
              <a:rPr lang="ru-RU" dirty="0"/>
              <a:t>Однако возникает проблема, связанная с тем, как работает директива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Как мы уже обсуждали,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ru-RU" dirty="0"/>
              <a:t> — это текстовая подстановка. Это означает, что содержимое заголовочного файла буквально вставляется в каждый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файл, который его подключает.</a:t>
            </a:r>
          </a:p>
          <a:p>
            <a:r>
              <a:rPr lang="ru-RU" dirty="0"/>
              <a:t>В результате одна и та же функция оказывается определённой в нескольких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файлах. После компиляции это приводит к тому, что в каждом объектном файле присутствует своя копия этой функции.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этапе компоновки линкер обнаруживает несколько реализаций одной и той же функции с одинаковым именем и выдаёт ошибку.</a:t>
            </a:r>
          </a:p>
          <a:p>
            <a:r>
              <a:rPr lang="ru-RU" dirty="0"/>
              <a:t>Таким образом, обычные функции нельзя просто определять в заголовочных файлах, если этот заголовок используется в нескольких модулях.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эта проблема подводит нас к следующему вопросу: как всё-таки можно размещать реализацию в заголовочном файле, не нарушая правила компоновки.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78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решения этой проблемы в языке C используются </a:t>
            </a:r>
            <a:r>
              <a:rPr lang="ru-RU" dirty="0" err="1"/>
              <a:t>inline</a:t>
            </a:r>
            <a:r>
              <a:rPr lang="ru-RU" dirty="0"/>
              <a:t>-функции.</a:t>
            </a:r>
          </a:p>
          <a:p>
            <a:r>
              <a:rPr lang="ru-RU" dirty="0"/>
              <a:t>Как мы только что увидели, обычную функцию нельзя определять в заголовочном файле, поскольку это приводит к появлению нескольких одинаковых реализаций в разных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файлах и, как следствие, к ошибке компоновки.</a:t>
            </a:r>
          </a:p>
          <a:p>
            <a:endParaRPr lang="ru-RU" dirty="0"/>
          </a:p>
          <a:p>
            <a:r>
              <a:rPr lang="ru-RU" dirty="0"/>
              <a:t>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ru-RU" dirty="0"/>
              <a:t> меняет это поведение. Оно сообщает компилятору, что допустимо иметь несколько одинаковых реализаций этой функции в разных единицах трансляции, то есть в разных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файлах.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Другими словами, если заголовочный файл с </a:t>
            </a:r>
            <a:r>
              <a:rPr lang="ru-RU" dirty="0" err="1"/>
              <a:t>inline</a:t>
            </a:r>
            <a:r>
              <a:rPr lang="ru-RU" dirty="0"/>
              <a:t>-функцией подключён в нескольких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файлах, то каждая из этих единиц компиляции будет содержать свою копию функции. Однако на этапе компоновки такие функции считаются эквивалентными, и линкер может выбрать любую из них.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dirty="0" err="1"/>
              <a:t>inline</a:t>
            </a:r>
            <a:r>
              <a:rPr lang="ru-RU" dirty="0"/>
              <a:t>-функции можно безопасно определять в заголовочных файлах без возникновения ошибки «</a:t>
            </a:r>
            <a:r>
              <a:rPr lang="ru-RU" dirty="0" err="1"/>
              <a:t>multiple</a:t>
            </a:r>
            <a:r>
              <a:rPr lang="ru-RU" dirty="0"/>
              <a:t> </a:t>
            </a:r>
            <a:r>
              <a:rPr lang="ru-RU" dirty="0" err="1"/>
              <a:t>definition</a:t>
            </a:r>
            <a:r>
              <a:rPr lang="ru-RU" dirty="0"/>
              <a:t>».</a:t>
            </a:r>
          </a:p>
          <a:p>
            <a:endParaRPr lang="ru-RU" dirty="0"/>
          </a:p>
          <a:p>
            <a:r>
              <a:rPr lang="ru-RU" dirty="0"/>
              <a:t>Кроме этого, поскольку тело функции находится непосредственно в заголовочном файле, компилятор видит её реализацию в месте вызова. Это даёт ему возможность встроить тело функции прямо в код вызывающей функции и тем самым избежать накладных расходов на вызов.</a:t>
            </a:r>
          </a:p>
          <a:p>
            <a:endParaRPr lang="ru-RU" dirty="0"/>
          </a:p>
          <a:p>
            <a:r>
              <a:rPr lang="ru-RU" dirty="0"/>
              <a:t>Внимание: само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ru-RU" dirty="0"/>
              <a:t> не гарантирует встраивание функции. Оно лишь даёт компилятору дополнительную информацию и разрешает определённую модель использования. Решение о встраивании компилятор принимает самостоятельно.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dirty="0" err="1"/>
              <a:t>inline</a:t>
            </a:r>
            <a:r>
              <a:rPr lang="ru-RU" dirty="0"/>
              <a:t>-функции одновременно решают проблему множественных определений и дают компилятору больше возможностей для оптимизации.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319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объявляли структуры прямо в заголовочных файлах, тем самым делая их полностью доступными пользователю модуля.</a:t>
            </a:r>
          </a:p>
          <a:p>
            <a:r>
              <a:rPr lang="ru-RU" dirty="0"/>
              <a:t>Это означает, что любой код, подключивший заголовочный файл, может напрямую обращаться к полям структуры и изменять их.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Однако такой подход нарушает инкапсуляцию. Пользователь начинает зависеть от внутреннего устройства структуры.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Альтернативный подход заключается в том, чтобы объявить структуру без её определения. Это называется неполным типом или </a:t>
            </a:r>
            <a:r>
              <a:rPr lang="ru-RU" dirty="0" err="1"/>
              <a:t>forward</a:t>
            </a:r>
            <a:r>
              <a:rPr lang="ru-RU" dirty="0"/>
              <a:t> </a:t>
            </a:r>
            <a:r>
              <a:rPr lang="ru-RU" dirty="0" err="1"/>
              <a:t>declaration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этом случае мы сообщаем компилятору, что структура с таким именем существует, но не раскрываем её содержимое.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Этого уже достаточно, чтобы работать с указателями на эту структуру и объявлять функции, которые принимают или возвращают такие указатели.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81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Определение структуры переносится в файл реализации.</a:t>
            </a:r>
          </a:p>
          <a:p>
            <a:r>
              <a:rPr lang="ru-RU" dirty="0"/>
              <a:t>В заголовочном файле остаётся только объявление типа и набор функций, которые образуют интерфейс модуля.</a:t>
            </a:r>
          </a:p>
          <a:p>
            <a:r>
              <a:rPr lang="ru-RU" dirty="0"/>
              <a:t>В файле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структура уже полностью определяется, и только здесь доступна информация о её полях.</a:t>
            </a:r>
          </a:p>
          <a:p>
            <a:r>
              <a:rPr lang="ru-RU" dirty="0"/>
              <a:t>Это означает, что только код внутри модуля может напрямую работать с полями структуры.</a:t>
            </a:r>
          </a:p>
          <a:p>
            <a:r>
              <a:rPr lang="ru-RU" dirty="0"/>
              <a:t>Внешний код может оперировать только указателями и вызывать функции модуля.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717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Использование неполных типов приводит к тому, что пользователь модуля не может создавать объекты этой структуры напрямую.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Попытка объявить переменную такого типа или обратиться к её полям приведёт к ошибке компиляции, поскольку размер структуры неизвестен.</a:t>
            </a:r>
          </a:p>
          <a:p>
            <a:endParaRPr lang="en-US" dirty="0"/>
          </a:p>
          <a:p>
            <a:r>
              <a:rPr lang="ru-RU" dirty="0"/>
              <a:t>Однако пользователь может работать с указателями на эту структуру и вызывать функции модуля.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Обычно такие функции создают объект в динамической памяти, возвращают указатель, позволяют выполнять операции над объектом и затем освобождают память.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Такой подход обеспечивает инкапсуляцию: внутренняя реализация полностью скрыта от пользователя.</a:t>
            </a:r>
          </a:p>
          <a:p>
            <a:r>
              <a:rPr lang="ru-RU" dirty="0"/>
              <a:t>Это даёт важные преимущества. Мы можем изменять структуру, добавлять или удалять поля, не опасаясь, что внешний код зависит от её внутреннего устройства.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Кроме того, мы можем контролировать все операции над данными и гарантировать корректность их использования.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такой подход широко применяется в реальных библиотеках на языке 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00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этой лекции мы рассмотрели, как строятся программы, состоящие из нескольких файлов.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увидели, что по мере роста программы необходимо разделять код на модули, каждый из которых отвечает за свою часть функциональности.</a:t>
            </a:r>
          </a:p>
          <a:p>
            <a:r>
              <a:rPr lang="ru-RU" dirty="0"/>
              <a:t>Мы разобрали структуру модуля, разделение на интерфейс и реализацию, а также то, как файлы взаимодействуют между собой через заголовочные файлы.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Отдельно мы рассмотрели процесс сборки программы и различие между этапами компиляции и компоновки.</a:t>
            </a:r>
          </a:p>
          <a:p>
            <a:endParaRPr lang="en-US" dirty="0"/>
          </a:p>
          <a:p>
            <a:r>
              <a:rPr lang="ru-RU" dirty="0"/>
              <a:t>Также были изучены механизмы управления областью видимости и инкапсуляции, включая 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ru-RU" dirty="0"/>
              <a:t> и подход с неполными типами.</a:t>
            </a:r>
          </a:p>
          <a:p>
            <a:r>
              <a:rPr lang="ru-RU" dirty="0"/>
              <a:t>В результате мы пришли к важному выводу: программа — это не просто набор инструкций, а система модулей с чётко определёнными интерфейсами.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EEA18-11E3-42C4-8C85-DE023A8E1E7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67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12EF-5FDE-AE71-4204-38ABF835E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467FA-A550-5E07-CC6D-BA7F20901E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65FA3-4A19-01C9-3D05-18CD1482C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D024-4CB3-42A3-A180-E0679146193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2DCC2-FAB6-6494-8E6C-57FA6F87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7D6C-60E4-25B4-CAC8-BB201727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0F19-34BA-4E99-A55D-B1E39200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54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46D4E-19F7-A86D-58C2-ADECD086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D5D26-C0BA-FC8E-CD45-65CB7A5A3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C16F8-96A7-6F54-1D20-9537C75D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D024-4CB3-42A3-A180-E0679146193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DCF3F-9FF6-D849-F6B3-836F2711B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7F876-CDD3-C3C8-C743-1189BED1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0F19-34BA-4E99-A55D-B1E39200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91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92A3E-CEB4-73F3-8F05-C4791399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3611E-D5D3-F6E1-AA4D-0B8079B83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F305A-79D2-164C-1F5D-5AEB3C059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D024-4CB3-42A3-A180-E0679146193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3A28D-C125-E84E-FFF7-05F56653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A0872-4001-9F0A-72C7-352B352DD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0F19-34BA-4E99-A55D-B1E39200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81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6400-46EA-5BD5-4CEB-38D803691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6E93C-951D-B313-C37D-44E90BC47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01411-3B82-D83B-5F11-CF5837475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6910-629B-C154-B880-86EA454B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D024-4CB3-42A3-A180-E0679146193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D7BD1-4066-BE12-E20C-DBC8B80E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5C115-6971-457C-820E-0B6B0C46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0F19-34BA-4E99-A55D-B1E39200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8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8619-4FA8-A741-1EA7-99F84A3D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A3569-7A70-37C0-F895-B39B98242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FA250-36E9-65C7-F748-938C6E304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CBE1F0-58F2-5431-8CF5-6857F9544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5F0AA6-F984-4C64-E164-197249FF6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C9CD2-D9CE-92F4-9323-5F48E5995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D024-4CB3-42A3-A180-E0679146193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400D09-396E-8007-3C38-C96B3C841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390A92-53D8-F641-E79C-DD630B8DC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0F19-34BA-4E99-A55D-B1E39200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1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19C7-E5E2-0D4A-C9BF-CDFD5D3A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50A5C-8D8E-5E41-9836-BACEBEED1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D024-4CB3-42A3-A180-E0679146193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0D7EE-37A2-0932-029B-38AC56B1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77FDC-72A4-9152-6317-BD6D46E23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0F19-34BA-4E99-A55D-B1E39200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11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4EAE8A-95BB-DFF9-8377-A005C4118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D024-4CB3-42A3-A180-E0679146193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C87578-AA36-354F-EC0C-35E07414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BE1B7-B864-BD18-71DB-C5DA8AA1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0F19-34BA-4E99-A55D-B1E39200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3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26B42-F957-0013-B4E0-6F1E4C13C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2D374-6C84-BBC6-A6CF-FBAC3C4E6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4A54F-49EA-4259-85E7-7C6FA49B3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75575-447F-CA77-8A06-533B245E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D024-4CB3-42A3-A180-E0679146193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42E25-3645-EEC4-6D16-8356F5515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FC584-3256-6515-195C-A11F59D9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0F19-34BA-4E99-A55D-B1E39200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9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14E65-BBCF-B01F-57FA-C4B542112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D4EEA-313C-228E-52D5-A592425E9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733D7-D956-7FD3-9398-0FB5B1962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83324-7364-BA40-0BF7-B431F9C3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D024-4CB3-42A3-A180-E0679146193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F5DD5-DF54-AA3E-69D9-72D19994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496DB-3D5B-B480-BF73-BEDF60EB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0F19-34BA-4E99-A55D-B1E39200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94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A537-5963-ACF4-E01A-477333B4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BB2FE-CBD5-F337-E540-8A456232A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9C29F-D8AE-7CD5-F4F8-6DEF51D2F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D024-4CB3-42A3-A180-E0679146193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52596-8A14-4566-7BD9-30FA1E4D2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A21C9-B2E8-57DA-F2FF-2AD4A59CC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0F19-34BA-4E99-A55D-B1E39200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51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6E7B2A-7E95-E9F7-BC3E-9BE553A092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05BF4-4B31-B690-C99B-30EB01E85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A36F-04A6-4D3F-2FFE-5F482B42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D024-4CB3-42A3-A180-E0679146193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9D56B-CD2A-5E87-76F0-DC88CE0C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3A24-2C63-DD8F-0520-201D0886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00F19-34BA-4E99-A55D-B1E39200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56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6DA612-0339-68F7-2F9F-E3B05B28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E121F-5E2A-F35B-8692-2EF5C6156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DA2A4-2B03-7A64-8A9A-7CCB3FACA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3AD024-4CB3-42A3-A180-E0679146193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38F5D-AE70-357E-3FC0-1663A2EC2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707B5-96CF-35CF-61DA-1D0B65579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00F19-34BA-4E99-A55D-B1E39200D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81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92BF-0534-2C0B-26DC-C651DECD6A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Многофайловые</a:t>
            </a:r>
            <a:r>
              <a:rPr lang="ru-RU" dirty="0"/>
              <a:t> программы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A2B08-F0FD-1C9A-D80D-8813C9BD7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8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FAE5-E79E-D1D2-491F-29498A0D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Монолитная программа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4C7B-BEB1-435C-E6B3-80A05A82E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7691" cy="4351338"/>
          </a:xfrm>
        </p:spPr>
        <p:txBody>
          <a:bodyPr>
            <a:normAutofit/>
          </a:bodyPr>
          <a:lstStyle/>
          <a:p>
            <a:r>
              <a:rPr lang="ru-RU" dirty="0"/>
              <a:t>Ситуация: код большой (500-800+ строк) размещается в одном файле</a:t>
            </a:r>
            <a:endParaRPr lang="en-US" dirty="0"/>
          </a:p>
          <a:p>
            <a:r>
              <a:rPr lang="ru-RU" dirty="0"/>
              <a:t>Проблемы:</a:t>
            </a:r>
          </a:p>
          <a:p>
            <a:pPr lvl="1"/>
            <a:r>
              <a:rPr lang="ru-RU" dirty="0"/>
              <a:t>сложно найти нужный код </a:t>
            </a:r>
          </a:p>
          <a:p>
            <a:pPr lvl="1"/>
            <a:r>
              <a:rPr lang="ru-RU" dirty="0"/>
              <a:t>легко что-то сломать </a:t>
            </a:r>
          </a:p>
          <a:p>
            <a:pPr lvl="1"/>
            <a:r>
              <a:rPr lang="ru-RU" dirty="0"/>
              <a:t>невозможно работать в команде </a:t>
            </a:r>
          </a:p>
          <a:p>
            <a:pPr lvl="1"/>
            <a:r>
              <a:rPr lang="ru-RU" dirty="0"/>
              <a:t>всё перемешано </a:t>
            </a:r>
          </a:p>
          <a:p>
            <a:r>
              <a:rPr lang="ru-RU" dirty="0"/>
              <a:t>Итог: файл превращается в «спагетти-код»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78155-E20E-4672-F4B6-D284F8EFABCF}"/>
              </a:ext>
            </a:extLst>
          </p:cNvPr>
          <p:cNvSpPr txBox="1"/>
          <p:nvPr/>
        </p:nvSpPr>
        <p:spPr>
          <a:xfrm>
            <a:off x="7715891" y="1915919"/>
            <a:ext cx="39683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tool.c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 (1200 </a:t>
            </a:r>
            <a:r>
              <a:rPr lang="ru-RU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строк)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...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 { ...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WriteFile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 { ...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Dump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 { ...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ncrypt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 { ...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ecrypt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 { ...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arse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 { ...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alidate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 { ...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326359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61727-28BA-A9DB-A37F-38BF3EF9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переиспользования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4E5B8-006B-3963-0021-3E29FAD31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Нужно использовать код повторно</a:t>
            </a:r>
          </a:p>
          <a:p>
            <a:pPr lvl="1"/>
            <a:r>
              <a:rPr lang="en-US" dirty="0"/>
              <a:t>program1.c → </a:t>
            </a:r>
            <a:r>
              <a:rPr lang="ru-RU" dirty="0"/>
              <a:t>есть </a:t>
            </a:r>
            <a:r>
              <a:rPr lang="en-US" dirty="0"/>
              <a:t>Dump()</a:t>
            </a:r>
            <a:endParaRPr lang="ru-RU" dirty="0"/>
          </a:p>
          <a:p>
            <a:pPr lvl="1"/>
            <a:r>
              <a:rPr lang="en-US" dirty="0"/>
              <a:t>program2.c → </a:t>
            </a:r>
            <a:r>
              <a:rPr lang="ru-RU" dirty="0"/>
              <a:t>копируем </a:t>
            </a:r>
            <a:r>
              <a:rPr lang="en-US" dirty="0"/>
              <a:t>Dump()</a:t>
            </a:r>
            <a:endParaRPr lang="ru-RU" dirty="0"/>
          </a:p>
          <a:p>
            <a:pPr lvl="1"/>
            <a:r>
              <a:rPr lang="en-US" dirty="0"/>
              <a:t>program3.c → </a:t>
            </a:r>
            <a:r>
              <a:rPr lang="ru-RU" dirty="0"/>
              <a:t>снова копируем </a:t>
            </a:r>
            <a:r>
              <a:rPr lang="en-US" dirty="0"/>
              <a:t>Dump()</a:t>
            </a:r>
          </a:p>
          <a:p>
            <a:r>
              <a:rPr lang="ru-RU" dirty="0"/>
              <a:t>Что происходит:</a:t>
            </a:r>
          </a:p>
          <a:p>
            <a:pPr lvl="1"/>
            <a:r>
              <a:rPr lang="ru-RU" dirty="0"/>
              <a:t>дублирование кода </a:t>
            </a:r>
          </a:p>
          <a:p>
            <a:pPr lvl="1"/>
            <a:r>
              <a:rPr lang="ru-RU" dirty="0"/>
              <a:t>ошибки копируются </a:t>
            </a:r>
          </a:p>
          <a:p>
            <a:pPr lvl="1"/>
            <a:r>
              <a:rPr lang="ru-RU" dirty="0"/>
              <a:t>сложно обновлять 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/>
              <a:t>нашли баг в </a:t>
            </a:r>
            <a:r>
              <a:rPr lang="en-US" dirty="0"/>
              <a:t>Dump()</a:t>
            </a:r>
            <a:endParaRPr lang="ru-RU" dirty="0"/>
          </a:p>
          <a:p>
            <a:pPr lvl="1"/>
            <a:r>
              <a:rPr lang="ru-RU" dirty="0"/>
              <a:t>исправляем в </a:t>
            </a:r>
            <a:r>
              <a:rPr lang="en-US" dirty="0"/>
              <a:t>program1.c</a:t>
            </a:r>
            <a:endParaRPr lang="ru-RU" dirty="0"/>
          </a:p>
          <a:p>
            <a:pPr lvl="1"/>
            <a:r>
              <a:rPr lang="ru-RU" dirty="0"/>
              <a:t>забыли исправить в </a:t>
            </a:r>
            <a:r>
              <a:rPr lang="en-US" dirty="0"/>
              <a:t>program2.c</a:t>
            </a:r>
            <a:endParaRPr lang="ru-RU" dirty="0"/>
          </a:p>
          <a:p>
            <a:pPr lvl="1"/>
            <a:r>
              <a:rPr lang="ru-RU" dirty="0"/>
              <a:t>программа работает неправильно</a:t>
            </a:r>
          </a:p>
          <a:p>
            <a:r>
              <a:rPr lang="en-US" dirty="0"/>
              <a:t>Copy–paste — </a:t>
            </a:r>
            <a:r>
              <a:rPr lang="ru-RU" dirty="0"/>
              <a:t>не масштабируется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28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3351-823E-C688-5CC9-3DF4C687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Модульная организация программ в </a:t>
            </a:r>
            <a:r>
              <a:rPr lang="en-US" dirty="0"/>
              <a:t>C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F119063-5BDB-2489-A749-97B88E0F2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236" y="1825625"/>
            <a:ext cx="4232563" cy="249284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b="1" dirty="0"/>
              <a:t>Преимущества</a:t>
            </a:r>
          </a:p>
          <a:p>
            <a:r>
              <a:rPr lang="ru-RU" dirty="0"/>
              <a:t>код разделён по назначению </a:t>
            </a:r>
          </a:p>
          <a:p>
            <a:r>
              <a:rPr lang="ru-RU" dirty="0"/>
              <a:t>модуль можно использовать в нескольких программах </a:t>
            </a:r>
          </a:p>
          <a:p>
            <a:r>
              <a:rPr lang="ru-RU" dirty="0"/>
              <a:t>проще сопровождать и расширять программу </a:t>
            </a:r>
          </a:p>
          <a:p>
            <a:r>
              <a:rPr lang="ru-RU" dirty="0"/>
              <a:t>интерфейс отделён от реализации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C85D4-D5DF-FE0A-0253-0FFB551E2339}"/>
              </a:ext>
            </a:extLst>
          </p:cNvPr>
          <p:cNvSpPr txBox="1"/>
          <p:nvPr/>
        </p:nvSpPr>
        <p:spPr>
          <a:xfrm>
            <a:off x="346362" y="1902656"/>
            <a:ext cx="6470073" cy="2167116"/>
          </a:xfrm>
          <a:prstGeom prst="foldedCorner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dump.h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–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Интерфейсная часть модуля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#ifndef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DUMP_H</a:t>
            </a:r>
            <a:r>
              <a:rPr lang="ru-RU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 Защита от повторного включения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DUMP_H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DumpMemory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7583D-BE13-6404-F2F3-96443C2B7698}"/>
              </a:ext>
            </a:extLst>
          </p:cNvPr>
          <p:cNvSpPr txBox="1"/>
          <p:nvPr/>
        </p:nvSpPr>
        <p:spPr>
          <a:xfrm>
            <a:off x="346362" y="4318471"/>
            <a:ext cx="6470073" cy="1873270"/>
          </a:xfrm>
          <a:prstGeom prst="foldedCorner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dump.c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– Реализация модуля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dump.h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DumpMemory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030F1-0393-C95D-6B13-10E47EB1C99F}"/>
              </a:ext>
            </a:extLst>
          </p:cNvPr>
          <p:cNvSpPr txBox="1"/>
          <p:nvPr/>
        </p:nvSpPr>
        <p:spPr>
          <a:xfrm>
            <a:off x="7121237" y="4337883"/>
            <a:ext cx="4724401" cy="2203847"/>
          </a:xfrm>
          <a:prstGeom prst="foldedCorner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main.c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dump.h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DumpMemory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(buffer, size);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5245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F637-89FF-DA8F-F2A7-BDA74CDD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модуля в </a:t>
            </a:r>
            <a:r>
              <a:rPr lang="en-US" dirty="0"/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63025-5609-1130-265C-97CEAC3B4093}"/>
              </a:ext>
            </a:extLst>
          </p:cNvPr>
          <p:cNvSpPr txBox="1"/>
          <p:nvPr/>
        </p:nvSpPr>
        <p:spPr>
          <a:xfrm>
            <a:off x="541868" y="1887821"/>
            <a:ext cx="53678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point.h</a:t>
            </a: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#ifndef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A1BFF"/>
                </a:solidFill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A1BFF"/>
                </a:solidFill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GetDistance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#endif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_H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F2CEC-555F-DE5D-FE9F-9604F97A3D35}"/>
              </a:ext>
            </a:extLst>
          </p:cNvPr>
          <p:cNvSpPr txBox="1"/>
          <p:nvPr/>
        </p:nvSpPr>
        <p:spPr>
          <a:xfrm>
            <a:off x="6096000" y="1887821"/>
            <a:ext cx="55541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point.c</a:t>
            </a: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math.h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-&gt;x +=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-&gt;y +=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GetDistance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 -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 -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8739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1CFC6-133E-98C5-825D-6DF13211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нельзя просто разделить на .c файлы?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A1AE2-67A6-3CA1-49DB-1029B116A7B6}"/>
              </a:ext>
            </a:extLst>
          </p:cNvPr>
          <p:cNvSpPr txBox="1"/>
          <p:nvPr/>
        </p:nvSpPr>
        <p:spPr>
          <a:xfrm>
            <a:off x="838199" y="5015547"/>
            <a:ext cx="113538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main.c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 </a:t>
            </a:r>
            <a:r>
              <a:rPr lang="en-US" dirty="0">
                <a:solidFill>
                  <a:srgbClr val="FF0000"/>
                </a:solidFill>
              </a:rPr>
              <a:t>unknown type name 'Point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 </a:t>
            </a:r>
            <a:r>
              <a:rPr lang="en-US" dirty="0">
                <a:solidFill>
                  <a:srgbClr val="FF0000"/>
                </a:solidFill>
              </a:rPr>
              <a:t>implicit declaration of function '</a:t>
            </a:r>
            <a:r>
              <a:rPr lang="en-US" dirty="0" err="1">
                <a:solidFill>
                  <a:srgbClr val="FF0000"/>
                </a:solidFill>
              </a:rPr>
              <a:t>MovePoint</a:t>
            </a:r>
            <a:r>
              <a:rPr lang="en-US" dirty="0">
                <a:solidFill>
                  <a:srgbClr val="FF0000"/>
                </a:solidFill>
              </a:rPr>
              <a:t>'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43BAD-69B3-0261-F613-E0433BC60A91}"/>
              </a:ext>
            </a:extLst>
          </p:cNvPr>
          <p:cNvSpPr txBox="1"/>
          <p:nvPr/>
        </p:nvSpPr>
        <p:spPr>
          <a:xfrm>
            <a:off x="838199" y="1957331"/>
            <a:ext cx="79163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point.c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...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GetDistance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... }</a:t>
            </a:r>
          </a:p>
        </p:txBody>
      </p:sp>
    </p:spTree>
    <p:extLst>
      <p:ext uri="{BB962C8B-B14F-4D97-AF65-F5344CB8AC3E}">
        <p14:creationId xmlns:p14="http://schemas.microsoft.com/office/powerpoint/2010/main" val="2752490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55EE2-66B7-CB97-B90C-48BFD7C4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надо и как не надо делать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4D7E84-1AF2-CA0B-79C3-43D46EE7A9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822883"/>
            <a:ext cx="5181600" cy="135407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Дублирование кода </a:t>
            </a:r>
          </a:p>
          <a:p>
            <a:r>
              <a:rPr lang="ru-RU" dirty="0"/>
              <a:t>Риск ошибок </a:t>
            </a:r>
          </a:p>
          <a:p>
            <a:r>
              <a:rPr lang="ru-RU" dirty="0"/>
              <a:t>Сложно поддерживать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5E9B9A-5C2C-0C96-4A87-0E7CCE4290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Как надо делать</a:t>
            </a:r>
            <a:endParaRPr lang="en-US" dirty="0"/>
          </a:p>
          <a:p>
            <a:pPr lvl="1"/>
            <a:r>
              <a:rPr lang="ru-RU" dirty="0"/>
              <a:t>Вынести объявления в отдельный файл .h</a:t>
            </a:r>
          </a:p>
          <a:p>
            <a:pPr lvl="2"/>
            <a:r>
              <a:rPr lang="ru-RU" dirty="0"/>
              <a:t>#include "</a:t>
            </a:r>
            <a:r>
              <a:rPr lang="ru-RU" dirty="0" err="1"/>
              <a:t>point.h</a:t>
            </a:r>
            <a:r>
              <a:rPr lang="ru-RU" dirty="0"/>
              <a:t>"</a:t>
            </a:r>
          </a:p>
          <a:p>
            <a:pPr lvl="1"/>
            <a:r>
              <a:rPr lang="ru-RU" dirty="0"/>
              <a:t>Заголовочный файл — это единое место с объявлениями, доступными всем модулям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93B67-C49E-4115-9C91-EC794DF723EC}"/>
              </a:ext>
            </a:extLst>
          </p:cNvPr>
          <p:cNvSpPr txBox="1"/>
          <p:nvPr/>
        </p:nvSpPr>
        <p:spPr>
          <a:xfrm>
            <a:off x="838201" y="1825625"/>
            <a:ext cx="52577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❌</a:t>
            </a:r>
            <a:endParaRPr lang="ru-RU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main.c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 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GetDistance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589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95A6D-1DFE-F73D-520B-3EF4EDAC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многомодульной программы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A0B38-7DBE-4A28-D9D7-1FCAA6F6CD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Исходные файлы</a:t>
            </a:r>
          </a:p>
          <a:p>
            <a:pPr lvl="1"/>
            <a:r>
              <a:rPr lang="en-US" dirty="0" err="1"/>
              <a:t>main.c</a:t>
            </a:r>
            <a:br>
              <a:rPr lang="en-US" dirty="0"/>
            </a:br>
            <a:r>
              <a:rPr lang="en-US" dirty="0" err="1"/>
              <a:t>point.c</a:t>
            </a:r>
            <a:br>
              <a:rPr lang="en-US" dirty="0"/>
            </a:br>
            <a:r>
              <a:rPr lang="en-US" dirty="0" err="1"/>
              <a:t>point.h</a:t>
            </a:r>
            <a:endParaRPr lang="en-US" dirty="0"/>
          </a:p>
          <a:p>
            <a:r>
              <a:rPr lang="ru-RU" dirty="0"/>
              <a:t>Этап 1. Компиляция исходных файлов</a:t>
            </a:r>
          </a:p>
          <a:p>
            <a:pPr lvl="1"/>
            <a:r>
              <a:rPr lang="ru-RU" dirty="0"/>
              <a:t>GCC</a:t>
            </a:r>
          </a:p>
          <a:p>
            <a:pPr lvl="2"/>
            <a:r>
              <a:rPr lang="en-US" dirty="0" err="1"/>
              <a:t>gcc</a:t>
            </a:r>
            <a:r>
              <a:rPr lang="en-US" dirty="0"/>
              <a:t> -c </a:t>
            </a:r>
            <a:r>
              <a:rPr lang="en-US" dirty="0" err="1"/>
              <a:t>main.c</a:t>
            </a:r>
            <a:br>
              <a:rPr lang="ru-RU" dirty="0"/>
            </a:br>
            <a:r>
              <a:rPr lang="en-US" dirty="0" err="1"/>
              <a:t>gcc</a:t>
            </a:r>
            <a:r>
              <a:rPr lang="en-US" dirty="0"/>
              <a:t> -c </a:t>
            </a:r>
            <a:r>
              <a:rPr lang="en-US" dirty="0" err="1"/>
              <a:t>point.c</a:t>
            </a:r>
            <a:endParaRPr lang="ru-RU" dirty="0"/>
          </a:p>
          <a:p>
            <a:pPr lvl="1"/>
            <a:r>
              <a:rPr lang="en-US" dirty="0"/>
              <a:t>Clang</a:t>
            </a:r>
          </a:p>
          <a:p>
            <a:pPr lvl="2"/>
            <a:r>
              <a:rPr lang="en-US" dirty="0"/>
              <a:t>clang -c </a:t>
            </a:r>
            <a:r>
              <a:rPr lang="en-US" dirty="0" err="1"/>
              <a:t>main.c</a:t>
            </a:r>
            <a:br>
              <a:rPr lang="ru-RU" dirty="0"/>
            </a:br>
            <a:r>
              <a:rPr lang="en-US" dirty="0"/>
              <a:t>clang -c </a:t>
            </a:r>
            <a:r>
              <a:rPr lang="en-US" dirty="0" err="1"/>
              <a:t>point.c</a:t>
            </a:r>
            <a:endParaRPr lang="ru-RU" dirty="0"/>
          </a:p>
          <a:p>
            <a:pPr lvl="1"/>
            <a:r>
              <a:rPr lang="en-US" dirty="0"/>
              <a:t>MSVC</a:t>
            </a:r>
            <a:endParaRPr lang="ru-RU" dirty="0"/>
          </a:p>
          <a:p>
            <a:pPr lvl="2"/>
            <a:r>
              <a:rPr lang="fr-FR" dirty="0"/>
              <a:t>cl /c </a:t>
            </a:r>
            <a:r>
              <a:rPr lang="fr-FR" dirty="0" err="1"/>
              <a:t>main.c</a:t>
            </a:r>
            <a:br>
              <a:rPr lang="ru-RU" dirty="0"/>
            </a:br>
            <a:r>
              <a:rPr lang="fr-FR" dirty="0"/>
              <a:t>cl /c </a:t>
            </a:r>
            <a:r>
              <a:rPr lang="fr-FR" dirty="0" err="1"/>
              <a:t>point.c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035EC-999C-1CFC-B75A-9AD4BC08F9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Этап 2. Компоновка объектных файлов</a:t>
            </a:r>
          </a:p>
          <a:p>
            <a:pPr lvl="1"/>
            <a:r>
              <a:rPr lang="en-US" dirty="0"/>
              <a:t>GCC</a:t>
            </a:r>
          </a:p>
          <a:p>
            <a:pPr lvl="2"/>
            <a:r>
              <a:rPr lang="pt-BR" dirty="0"/>
              <a:t>gcc main.o point.o -o program</a:t>
            </a:r>
          </a:p>
          <a:p>
            <a:pPr lvl="1"/>
            <a:r>
              <a:rPr lang="pt-BR" dirty="0"/>
              <a:t>Clang</a:t>
            </a:r>
          </a:p>
          <a:p>
            <a:pPr lvl="2"/>
            <a:r>
              <a:rPr lang="pt-BR" dirty="0"/>
              <a:t>clang main.o point.o -o program</a:t>
            </a:r>
          </a:p>
          <a:p>
            <a:pPr lvl="1"/>
            <a:r>
              <a:rPr lang="pt-BR" dirty="0"/>
              <a:t>MSVC</a:t>
            </a:r>
          </a:p>
          <a:p>
            <a:pPr lvl="2"/>
            <a:r>
              <a:rPr lang="en-US" dirty="0"/>
              <a:t>cl main.obj point.obj /</a:t>
            </a:r>
            <a:r>
              <a:rPr lang="en-US" dirty="0" err="1"/>
              <a:t>Fe:program.exe</a:t>
            </a:r>
            <a:endParaRPr lang="en-US" dirty="0"/>
          </a:p>
          <a:p>
            <a:r>
              <a:rPr lang="ru-RU" dirty="0"/>
              <a:t>Можно выполнить оба этапа одной командой</a:t>
            </a:r>
            <a:endParaRPr lang="en-US" dirty="0"/>
          </a:p>
          <a:p>
            <a:pPr lvl="1"/>
            <a:r>
              <a:rPr lang="en-US" dirty="0"/>
              <a:t>GCC</a:t>
            </a:r>
          </a:p>
          <a:p>
            <a:pPr lvl="2"/>
            <a:r>
              <a:rPr lang="en-US" dirty="0" err="1"/>
              <a:t>gcc</a:t>
            </a:r>
            <a:r>
              <a:rPr lang="en-US" dirty="0"/>
              <a:t> </a:t>
            </a:r>
            <a:r>
              <a:rPr lang="en-US" dirty="0" err="1"/>
              <a:t>main.c</a:t>
            </a:r>
            <a:r>
              <a:rPr lang="en-US" dirty="0"/>
              <a:t> </a:t>
            </a:r>
            <a:r>
              <a:rPr lang="en-US" dirty="0" err="1"/>
              <a:t>point.c</a:t>
            </a:r>
            <a:r>
              <a:rPr lang="en-US" dirty="0"/>
              <a:t> -o program</a:t>
            </a:r>
          </a:p>
          <a:p>
            <a:pPr lvl="1"/>
            <a:r>
              <a:rPr lang="en-US" dirty="0"/>
              <a:t>Clang</a:t>
            </a:r>
          </a:p>
          <a:p>
            <a:pPr lvl="2"/>
            <a:r>
              <a:rPr lang="en-US" dirty="0"/>
              <a:t>clang </a:t>
            </a:r>
            <a:r>
              <a:rPr lang="en-US" dirty="0" err="1"/>
              <a:t>main.c</a:t>
            </a:r>
            <a:r>
              <a:rPr lang="en-US" dirty="0"/>
              <a:t> </a:t>
            </a:r>
            <a:r>
              <a:rPr lang="en-US" dirty="0" err="1"/>
              <a:t>point.c</a:t>
            </a:r>
            <a:r>
              <a:rPr lang="en-US" dirty="0"/>
              <a:t> -o program</a:t>
            </a:r>
          </a:p>
          <a:p>
            <a:pPr lvl="1"/>
            <a:r>
              <a:rPr lang="en-US" dirty="0"/>
              <a:t>MSVC</a:t>
            </a:r>
          </a:p>
          <a:p>
            <a:pPr lvl="2"/>
            <a:r>
              <a:rPr lang="fr-FR" dirty="0"/>
              <a:t>cl </a:t>
            </a:r>
            <a:r>
              <a:rPr lang="fr-FR" dirty="0" err="1"/>
              <a:t>main.c</a:t>
            </a:r>
            <a:r>
              <a:rPr lang="fr-FR" dirty="0"/>
              <a:t> </a:t>
            </a:r>
            <a:r>
              <a:rPr lang="fr-FR" dirty="0" err="1"/>
              <a:t>point.c</a:t>
            </a:r>
            <a:r>
              <a:rPr lang="fr-FR" dirty="0"/>
              <a:t> /</a:t>
            </a:r>
            <a:r>
              <a:rPr lang="fr-FR" dirty="0" err="1"/>
              <a:t>Fe:program.exe</a:t>
            </a:r>
            <a:endParaRPr lang="fr-FR" dirty="0"/>
          </a:p>
          <a:p>
            <a:r>
              <a:rPr lang="ru-RU" dirty="0"/>
              <a:t>Каждый .c файл компилируется отдельно,</a:t>
            </a:r>
            <a:br>
              <a:rPr lang="ru-RU" dirty="0"/>
            </a:br>
            <a:r>
              <a:rPr lang="ru-RU" dirty="0"/>
              <a:t>затем объектные файлы объединяются в одну программу</a:t>
            </a:r>
          </a:p>
        </p:txBody>
      </p:sp>
    </p:spTree>
    <p:extLst>
      <p:ext uri="{BB962C8B-B14F-4D97-AF65-F5344CB8AC3E}">
        <p14:creationId xmlns:p14="http://schemas.microsoft.com/office/powerpoint/2010/main" val="1432575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2AE36-96AC-3C29-CAF8-6C18506D3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Компилятор и линкер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920C-3D42-7A43-E2BC-FCAA6865D5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Компилятор</a:t>
            </a:r>
          </a:p>
          <a:p>
            <a:pPr lvl="1"/>
            <a:r>
              <a:rPr lang="ru-RU" dirty="0"/>
              <a:t>Обрабатывает один .c файл за раз</a:t>
            </a:r>
          </a:p>
          <a:p>
            <a:r>
              <a:rPr lang="ru-RU" dirty="0"/>
              <a:t>Что делает:</a:t>
            </a:r>
          </a:p>
          <a:p>
            <a:pPr lvl="1"/>
            <a:r>
              <a:rPr lang="ru-RU" dirty="0"/>
              <a:t>проверяет синтаксис </a:t>
            </a:r>
          </a:p>
          <a:p>
            <a:pPr lvl="1"/>
            <a:r>
              <a:rPr lang="ru-RU" dirty="0"/>
              <a:t>проверяет типы </a:t>
            </a:r>
          </a:p>
          <a:p>
            <a:pPr lvl="1"/>
            <a:r>
              <a:rPr lang="ru-RU" dirty="0"/>
              <a:t>преобразует код → объектный файл (.o / .</a:t>
            </a:r>
            <a:r>
              <a:rPr lang="ru-RU" dirty="0" err="1"/>
              <a:t>obj</a:t>
            </a:r>
            <a:r>
              <a:rPr lang="ru-RU" dirty="0"/>
              <a:t>)</a:t>
            </a:r>
          </a:p>
          <a:p>
            <a:pPr lvl="1"/>
            <a:r>
              <a:rPr lang="en-US" dirty="0" err="1"/>
              <a:t>main.c</a:t>
            </a:r>
            <a:r>
              <a:rPr lang="en-US" dirty="0"/>
              <a:t> → </a:t>
            </a:r>
            <a:r>
              <a:rPr lang="en-US" dirty="0" err="1"/>
              <a:t>main.o</a:t>
            </a:r>
            <a:br>
              <a:rPr lang="ru-RU" dirty="0"/>
            </a:br>
            <a:r>
              <a:rPr lang="en-US" dirty="0" err="1"/>
              <a:t>point.c</a:t>
            </a:r>
            <a:r>
              <a:rPr lang="en-US" dirty="0"/>
              <a:t> → </a:t>
            </a:r>
            <a:r>
              <a:rPr lang="en-US" dirty="0" err="1"/>
              <a:t>point.o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1740D-10CA-4047-74EA-61B707104F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Линкер (компоновщик)</a:t>
            </a:r>
          </a:p>
          <a:p>
            <a:pPr lvl="1"/>
            <a:r>
              <a:rPr lang="ru-RU" dirty="0"/>
              <a:t>Объединяет объектные файлы в программу</a:t>
            </a:r>
          </a:p>
          <a:p>
            <a:r>
              <a:rPr lang="ru-RU" dirty="0"/>
              <a:t>Что делает:</a:t>
            </a:r>
          </a:p>
          <a:p>
            <a:pPr lvl="1"/>
            <a:r>
              <a:rPr lang="ru-RU" dirty="0"/>
              <a:t>связывает функции между файлами </a:t>
            </a:r>
          </a:p>
          <a:p>
            <a:pPr lvl="1"/>
            <a:r>
              <a:rPr lang="ru-RU" dirty="0"/>
              <a:t>находит реализации по именам </a:t>
            </a:r>
          </a:p>
          <a:p>
            <a:pPr lvl="1"/>
            <a:r>
              <a:rPr lang="ru-RU" dirty="0"/>
              <a:t>формирует исполняемый файл</a:t>
            </a:r>
          </a:p>
          <a:p>
            <a:pPr lvl="1"/>
            <a:r>
              <a:rPr lang="en-US" dirty="0" err="1"/>
              <a:t>main.o</a:t>
            </a:r>
            <a:r>
              <a:rPr lang="en-US" dirty="0"/>
              <a:t> + </a:t>
            </a:r>
            <a:r>
              <a:rPr lang="en-US" dirty="0" err="1"/>
              <a:t>point.o</a:t>
            </a:r>
            <a:r>
              <a:rPr lang="en-US" dirty="0"/>
              <a:t> → program</a:t>
            </a:r>
          </a:p>
        </p:txBody>
      </p:sp>
    </p:spTree>
    <p:extLst>
      <p:ext uri="{BB962C8B-B14F-4D97-AF65-F5344CB8AC3E}">
        <p14:creationId xmlns:p14="http://schemas.microsoft.com/office/powerpoint/2010/main" val="1322586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5406D-F553-B91B-BB44-8E2CB11F2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Область видимости между файлами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6BCDF-4496-850A-5592-7363A058E9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умолчанию</a:t>
            </a:r>
            <a:r>
              <a:rPr lang="en-US" dirty="0"/>
              <a:t> (global)</a:t>
            </a:r>
          </a:p>
          <a:p>
            <a:pPr lvl="1"/>
            <a:r>
              <a:rPr lang="en-US" dirty="0"/>
              <a:t>// </a:t>
            </a:r>
            <a:r>
              <a:rPr lang="en-US" dirty="0" err="1"/>
              <a:t>point.c</a:t>
            </a:r>
            <a:br>
              <a:rPr lang="en-US" dirty="0"/>
            </a:br>
            <a:r>
              <a:rPr lang="en-US" dirty="0"/>
              <a:t>int counter = 0;</a:t>
            </a:r>
          </a:p>
          <a:p>
            <a:r>
              <a:rPr lang="ru-RU" dirty="0"/>
              <a:t>Доступ из другого файла</a:t>
            </a:r>
          </a:p>
          <a:p>
            <a:pPr lvl="1"/>
            <a:r>
              <a:rPr lang="ru-RU" dirty="0"/>
              <a:t>// </a:t>
            </a:r>
            <a:r>
              <a:rPr lang="en-US" dirty="0" err="1"/>
              <a:t>main.c</a:t>
            </a:r>
            <a:br>
              <a:rPr lang="en-US" dirty="0"/>
            </a:br>
            <a:r>
              <a:rPr lang="en-US" dirty="0"/>
              <a:t>extern int counter;</a:t>
            </a:r>
          </a:p>
          <a:p>
            <a:r>
              <a:rPr lang="ru-RU" dirty="0"/>
              <a:t>Ограничение области видимости: </a:t>
            </a:r>
            <a:r>
              <a:rPr lang="ru-RU" dirty="0" err="1"/>
              <a:t>static</a:t>
            </a:r>
            <a:endParaRPr lang="ru-RU" dirty="0"/>
          </a:p>
          <a:p>
            <a:pPr lvl="1"/>
            <a:r>
              <a:rPr lang="ru-RU" dirty="0"/>
              <a:t>// </a:t>
            </a:r>
            <a:r>
              <a:rPr lang="ru-RU" dirty="0" err="1"/>
              <a:t>point.c</a:t>
            </a:r>
            <a:br>
              <a:rPr lang="ru-RU" dirty="0"/>
            </a:br>
            <a:r>
              <a:rPr lang="ru-RU" dirty="0" err="1"/>
              <a:t>static</a:t>
            </a:r>
            <a:r>
              <a:rPr lang="ru-RU" dirty="0"/>
              <a:t> </a:t>
            </a:r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counter</a:t>
            </a:r>
            <a:r>
              <a:rPr lang="ru-RU" dirty="0"/>
              <a:t> = 0;</a:t>
            </a:r>
            <a:br>
              <a:rPr lang="ru-RU" dirty="0"/>
            </a:br>
            <a:r>
              <a:rPr lang="en-US" dirty="0"/>
              <a:t>static void helper() { ... }</a:t>
            </a:r>
            <a:endParaRPr lang="ru-RU" dirty="0"/>
          </a:p>
          <a:p>
            <a:r>
              <a:rPr lang="ru-RU" dirty="0"/>
              <a:t>Скрывайте всё, что не является частью интерфейса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39D5388-5935-2D47-BB17-92228CC7947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81565920"/>
              </p:ext>
            </p:extLst>
          </p:nvPr>
        </p:nvGraphicFramePr>
        <p:xfrm>
          <a:off x="6172200" y="1825625"/>
          <a:ext cx="5181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333">
                  <a:extLst>
                    <a:ext uri="{9D8B030D-6E8A-4147-A177-3AD203B41FA5}">
                      <a16:colId xmlns:a16="http://schemas.microsoft.com/office/drawing/2014/main" val="1520258951"/>
                    </a:ext>
                  </a:extLst>
                </a:gridCol>
                <a:gridCol w="3107267">
                  <a:extLst>
                    <a:ext uri="{9D8B030D-6E8A-4147-A177-3AD203B41FA5}">
                      <a16:colId xmlns:a16="http://schemas.microsoft.com/office/drawing/2014/main" val="779778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Ключевое слово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Область видимости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824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(нет)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Весь проект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564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Один </a:t>
                      </a:r>
                      <a:r>
                        <a:rPr lang="en-US" dirty="0"/>
                        <a:t>.c </a:t>
                      </a:r>
                      <a:r>
                        <a:rPr lang="ru-RU" dirty="0"/>
                        <a:t>файл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1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Доступ из других файлов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828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080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D61E289-AE1E-0A5B-E190-184940CB6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статических функций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C7238F-274F-55CB-DF9A-0AE3EE982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98659"/>
            <a:ext cx="10515600" cy="1178303"/>
          </a:xfrm>
        </p:spPr>
        <p:txBody>
          <a:bodyPr>
            <a:normAutofit/>
          </a:bodyPr>
          <a:lstStyle/>
          <a:p>
            <a:r>
              <a:rPr lang="ru-RU" dirty="0" err="1"/>
              <a:t>Abs</a:t>
            </a:r>
            <a:r>
              <a:rPr lang="ru-RU" dirty="0"/>
              <a:t> — часть интерфейса (доступна извне) </a:t>
            </a:r>
          </a:p>
          <a:p>
            <a:r>
              <a:rPr lang="ru-RU" dirty="0" err="1"/>
              <a:t>Sign</a:t>
            </a:r>
            <a:r>
              <a:rPr lang="ru-RU" dirty="0"/>
              <a:t> — внутренняя деталь реализации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DE3D8-6E6F-099E-27F2-3469CB89C7E9}"/>
              </a:ext>
            </a:extLst>
          </p:cNvPr>
          <p:cNvSpPr txBox="1"/>
          <p:nvPr/>
        </p:nvSpPr>
        <p:spPr>
          <a:xfrm>
            <a:off x="838200" y="1859339"/>
            <a:ext cx="50376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#ifndef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MATH_UTILS_H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MATH_UTILS_H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95110-ED5C-BF60-C163-CE543AB78326}"/>
              </a:ext>
            </a:extLst>
          </p:cNvPr>
          <p:cNvSpPr txBox="1"/>
          <p:nvPr/>
        </p:nvSpPr>
        <p:spPr>
          <a:xfrm>
            <a:off x="6096000" y="185933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math_utils.h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Вспомогательная функция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Sign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(x 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 (x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Публичная функция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*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Sign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2978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4844-00B6-FC3F-9050-F63505DE5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коротких функций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B5688-1571-33C5-10E8-EDA80AFFD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Короткие функции — не всегда эффективны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Abs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x) 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ru-RU" dirty="0" err="1">
                <a:latin typeface="Consolas" panose="020B0609020204030204" pitchFamily="49" charset="0"/>
              </a:rPr>
              <a:t>return</a:t>
            </a:r>
            <a:r>
              <a:rPr lang="ru-RU" dirty="0">
                <a:latin typeface="Consolas" panose="020B0609020204030204" pitchFamily="49" charset="0"/>
              </a:rPr>
              <a:t> (x &lt; 0) ? -x : x;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Проблемы</a:t>
            </a:r>
          </a:p>
          <a:p>
            <a:pPr lvl="1"/>
            <a:r>
              <a:rPr lang="ru-RU" dirty="0"/>
              <a:t>вызов функции → дополнительные инструкции </a:t>
            </a:r>
          </a:p>
          <a:p>
            <a:pPr lvl="1"/>
            <a:r>
              <a:rPr lang="ru-RU" dirty="0"/>
              <a:t>возврат из функции требует дополнительных инструкций </a:t>
            </a:r>
          </a:p>
          <a:p>
            <a:r>
              <a:rPr lang="ru-RU" dirty="0"/>
              <a:t>Для коротких функций:</a:t>
            </a:r>
          </a:p>
          <a:p>
            <a:pPr lvl="1"/>
            <a:r>
              <a:rPr lang="ru-RU" dirty="0"/>
              <a:t>время вызова может быть сопоставимо</a:t>
            </a:r>
            <a:r>
              <a:rPr lang="en-US" dirty="0"/>
              <a:t> </a:t>
            </a:r>
            <a:r>
              <a:rPr lang="ru-RU" dirty="0"/>
              <a:t>с временем выполнения самой функции</a:t>
            </a:r>
          </a:p>
          <a:p>
            <a:r>
              <a:rPr lang="ru-RU" dirty="0"/>
              <a:t>Хотим:</a:t>
            </a:r>
          </a:p>
          <a:p>
            <a:pPr lvl="1"/>
            <a:r>
              <a:rPr lang="ru-RU" dirty="0"/>
              <a:t>сохранить модульность </a:t>
            </a:r>
          </a:p>
          <a:p>
            <a:pPr lvl="1"/>
            <a:r>
              <a:rPr lang="ru-RU" dirty="0"/>
              <a:t>уменьшить накладные расходы </a:t>
            </a:r>
          </a:p>
          <a:p>
            <a:pPr lvl="1"/>
            <a:r>
              <a:rPr lang="ru-RU" dirty="0"/>
              <a:t>упростить код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619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C998-E239-733C-8036-F60DBC911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нельзя просто писать функции в .h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1BFED-21B6-E674-6390-C8004F6A8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23000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Наивное решение: поместить определение функции в </a:t>
            </a:r>
            <a:r>
              <a:rPr lang="en-US" dirty="0"/>
              <a:t>.h</a:t>
            </a:r>
          </a:p>
          <a:p>
            <a:r>
              <a:rPr lang="ru-RU" dirty="0"/>
              <a:t>Проблема</a:t>
            </a:r>
          </a:p>
          <a:p>
            <a:pPr lvl="1"/>
            <a:r>
              <a:rPr lang="en-US" dirty="0" err="1"/>
              <a:t>main.c</a:t>
            </a:r>
            <a:r>
              <a:rPr lang="en-US" dirty="0"/>
              <a:t>  </a:t>
            </a:r>
            <a:r>
              <a:rPr lang="ru-RU" dirty="0"/>
              <a:t>содержит </a:t>
            </a:r>
            <a:r>
              <a:rPr lang="en-US" dirty="0"/>
              <a:t>Abs</a:t>
            </a:r>
            <a:br>
              <a:rPr lang="ru-RU" dirty="0"/>
            </a:br>
            <a:r>
              <a:rPr lang="en-US" dirty="0" err="1"/>
              <a:t>other.c</a:t>
            </a:r>
            <a:r>
              <a:rPr lang="en-US" dirty="0"/>
              <a:t> </a:t>
            </a:r>
            <a:r>
              <a:rPr lang="ru-RU" dirty="0"/>
              <a:t>содержит </a:t>
            </a:r>
            <a:r>
              <a:rPr lang="en-US" dirty="0"/>
              <a:t>Abs</a:t>
            </a:r>
            <a:endParaRPr lang="ru-RU" dirty="0"/>
          </a:p>
          <a:p>
            <a:pPr lvl="1"/>
            <a:r>
              <a:rPr lang="ru-RU" dirty="0"/>
              <a:t>После компиляции:</a:t>
            </a:r>
          </a:p>
          <a:p>
            <a:pPr lvl="2"/>
            <a:r>
              <a:rPr lang="en-US" dirty="0"/>
              <a:t>main.obj </a:t>
            </a:r>
            <a:r>
              <a:rPr lang="ru-RU" dirty="0"/>
              <a:t>содержит </a:t>
            </a:r>
            <a:r>
              <a:rPr lang="en-US" dirty="0"/>
              <a:t>Abs</a:t>
            </a:r>
          </a:p>
          <a:p>
            <a:pPr lvl="2"/>
            <a:r>
              <a:rPr lang="en-US" dirty="0"/>
              <a:t>other.obj </a:t>
            </a:r>
            <a:r>
              <a:rPr lang="ru-RU" dirty="0"/>
              <a:t>содержит </a:t>
            </a:r>
            <a:r>
              <a:rPr lang="en-US" dirty="0"/>
              <a:t>Abs</a:t>
            </a:r>
          </a:p>
          <a:p>
            <a:pPr lvl="1"/>
            <a:r>
              <a:rPr lang="ru-RU" dirty="0"/>
              <a:t>Ошибка компоновки:</a:t>
            </a:r>
          </a:p>
          <a:p>
            <a:pPr lvl="2"/>
            <a:r>
              <a:rPr lang="en-US" dirty="0"/>
              <a:t>Multiple definitions of Abs</a:t>
            </a:r>
          </a:p>
          <a:p>
            <a:r>
              <a:rPr lang="ru-RU" dirty="0"/>
              <a:t>Причина</a:t>
            </a:r>
          </a:p>
          <a:p>
            <a:pPr lvl="1"/>
            <a:r>
              <a:rPr lang="ru-RU" dirty="0"/>
              <a:t>#include копирует код</a:t>
            </a:r>
            <a:endParaRPr lang="en-US" dirty="0"/>
          </a:p>
          <a:p>
            <a:pPr lvl="1"/>
            <a:r>
              <a:rPr lang="ru-RU" dirty="0" err="1"/>
              <a:t>ункция</a:t>
            </a:r>
            <a:r>
              <a:rPr lang="ru-RU" dirty="0"/>
              <a:t> попадает в каждый .c файл</a:t>
            </a:r>
            <a:endParaRPr lang="en-US" dirty="0"/>
          </a:p>
          <a:p>
            <a:pPr lvl="1"/>
            <a:r>
              <a:rPr lang="ru-RU" dirty="0"/>
              <a:t>линкер видит несколько одинаковых реализаций</a:t>
            </a:r>
          </a:p>
          <a:p>
            <a:r>
              <a:rPr lang="ru-RU" dirty="0"/>
              <a:t>Обычные функции нельзя определять в .h</a:t>
            </a:r>
            <a:r>
              <a:rPr lang="en-US" dirty="0"/>
              <a:t> </a:t>
            </a:r>
            <a:r>
              <a:rPr lang="ru-RU" dirty="0"/>
              <a:t>(если заголовок подключается в несколько файлов)</a:t>
            </a:r>
          </a:p>
          <a:p>
            <a:endParaRPr lang="ru-RU" dirty="0"/>
          </a:p>
          <a:p>
            <a:pPr lvl="1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3CF29-8ED7-FA4F-22C2-BCDB0090CDE9}"/>
              </a:ext>
            </a:extLst>
          </p:cNvPr>
          <p:cNvSpPr txBox="1"/>
          <p:nvPr/>
        </p:nvSpPr>
        <p:spPr>
          <a:xfrm>
            <a:off x="7226300" y="1825625"/>
            <a:ext cx="482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math_utils.h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#ifndef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MATH_UTILS_H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MATH_UTILS_H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-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#endif</a:t>
            </a:r>
            <a:endParaRPr lang="ru-RU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main.c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math_utils.h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other.c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math_utils.h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7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BB62-BF2E-F289-F66F-14768E9D2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inline-</a:t>
            </a:r>
            <a:r>
              <a:rPr lang="ru-RU" dirty="0"/>
              <a:t>функции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E4991-6CB2-156D-7C9B-C405D9CB6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78600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Тело функции доступно в месте использования </a:t>
            </a:r>
          </a:p>
          <a:p>
            <a:r>
              <a:rPr lang="ru-RU" dirty="0"/>
              <a:t>Компилятор может встроить функцию</a:t>
            </a:r>
            <a:endParaRPr lang="en-US" dirty="0"/>
          </a:p>
          <a:p>
            <a:pPr lvl="1"/>
            <a:r>
              <a:rPr lang="ru-RU" dirty="0"/>
              <a:t>Вместо</a:t>
            </a:r>
            <a:br>
              <a:rPr lang="ru-RU" dirty="0"/>
            </a:br>
            <a:r>
              <a:rPr lang="en-US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en-US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(n);</a:t>
            </a:r>
            <a:endParaRPr lang="ru-RU" dirty="0"/>
          </a:p>
          <a:p>
            <a:pPr lvl="1"/>
            <a:r>
              <a:rPr lang="ru-RU" dirty="0"/>
              <a:t>Компилятор может встроить тело</a:t>
            </a:r>
            <a:br>
              <a:rPr lang="ru-RU" dirty="0"/>
            </a:br>
            <a:r>
              <a:rPr lang="pt-BR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(n &lt; </a:t>
            </a:r>
            <a:r>
              <a:rPr lang="pt-BR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-n : n;</a:t>
            </a:r>
          </a:p>
          <a:p>
            <a:r>
              <a:rPr lang="ru-RU" dirty="0"/>
              <a:t>Важный момент</a:t>
            </a:r>
          </a:p>
          <a:p>
            <a:pPr lvl="1"/>
            <a:r>
              <a:rPr lang="ru-RU" dirty="0"/>
              <a:t>Встраивание происходит не из-за </a:t>
            </a:r>
            <a:r>
              <a:rPr lang="ru-RU" dirty="0" err="1"/>
              <a:t>inline</a:t>
            </a:r>
            <a:r>
              <a:rPr lang="ru-RU" dirty="0"/>
              <a:t>, а потому что компилятор видит тело функции</a:t>
            </a:r>
          </a:p>
          <a:p>
            <a:r>
              <a:rPr lang="ru-RU" dirty="0"/>
              <a:t>Наблюдение</a:t>
            </a:r>
          </a:p>
          <a:p>
            <a:pPr lvl="1"/>
            <a:r>
              <a:rPr lang="ru-RU" dirty="0"/>
              <a:t>функция в .h → тело видно всем .c </a:t>
            </a:r>
          </a:p>
          <a:p>
            <a:pPr lvl="1"/>
            <a:r>
              <a:rPr lang="ru-RU" dirty="0"/>
              <a:t>функция в том же .c → тоже может быть встроена </a:t>
            </a:r>
          </a:p>
          <a:p>
            <a:r>
              <a:rPr lang="ru-RU" dirty="0" err="1"/>
              <a:t>inline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уменьшает накладные расходы </a:t>
            </a:r>
          </a:p>
          <a:p>
            <a:pPr lvl="1"/>
            <a:r>
              <a:rPr lang="ru-RU" dirty="0"/>
              <a:t>упрощает код для коротких функций </a:t>
            </a:r>
          </a:p>
          <a:p>
            <a:pPr lvl="1"/>
            <a:r>
              <a:rPr lang="ru-RU" dirty="0"/>
              <a:t>даёт компилятору больше возможностей оптимизации</a:t>
            </a:r>
          </a:p>
          <a:p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1210B-F6A5-7AA9-0452-C0CD61CE67BF}"/>
              </a:ext>
            </a:extLst>
          </p:cNvPr>
          <p:cNvSpPr txBox="1"/>
          <p:nvPr/>
        </p:nvSpPr>
        <p:spPr>
          <a:xfrm>
            <a:off x="7988300" y="1825625"/>
            <a:ext cx="38227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math_utils.h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#ifndef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MATH_UTILS_H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MATH_UTILS_H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(x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-x :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267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AD82-F830-DB80-E548-7D9DA53C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Скрытые типы (</a:t>
            </a:r>
            <a:r>
              <a:rPr lang="en-US" dirty="0"/>
              <a:t>opaque types)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BCAC8-9AEE-B43F-90EB-5012FE2006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Мы хотим скрыть от пользователя внутреннее устройство структуры</a:t>
            </a:r>
          </a:p>
          <a:p>
            <a:r>
              <a:rPr lang="ru-RU" dirty="0"/>
              <a:t>Обычный подход позволяет менять свободно поля структуры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3EE89-E226-F918-21A5-393A6C9061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Подход с сокрытием: структура объявлена, но не определена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63A64E-7450-740C-7C85-6B41DDBC775B}"/>
              </a:ext>
            </a:extLst>
          </p:cNvPr>
          <p:cNvSpPr txBox="1"/>
          <p:nvPr/>
        </p:nvSpPr>
        <p:spPr>
          <a:xfrm>
            <a:off x="6444342" y="3139968"/>
            <a:ext cx="55952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point.h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Point*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(Point*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DestroyPoint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(Point*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BEC503-A262-F438-ACBC-3D857720E8E4}"/>
              </a:ext>
            </a:extLst>
          </p:cNvPr>
          <p:cNvSpPr txBox="1"/>
          <p:nvPr/>
        </p:nvSpPr>
        <p:spPr>
          <a:xfrm>
            <a:off x="1132114" y="4550611"/>
            <a:ext cx="47171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point.h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23726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1CD3B-AD6D-0B55-0FE8-19AD35D3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находится определение структуры</a:t>
            </a:r>
            <a:r>
              <a:rPr lang="en-US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67714B-FBFD-12E6-A657-55F0DE7270CA}"/>
              </a:ext>
            </a:extLst>
          </p:cNvPr>
          <p:cNvSpPr txBox="1"/>
          <p:nvPr/>
        </p:nvSpPr>
        <p:spPr>
          <a:xfrm>
            <a:off x="838200" y="1595021"/>
            <a:ext cx="52578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#ifndef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POINT_H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POINT_H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DestroyPoint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#endif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7885EC-7020-71B4-F43E-59C62F0F9A75}"/>
              </a:ext>
            </a:extLst>
          </p:cNvPr>
          <p:cNvSpPr txBox="1"/>
          <p:nvPr/>
        </p:nvSpPr>
        <p:spPr>
          <a:xfrm>
            <a:off x="6096000" y="1595021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point.h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assert.h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-&gt;x =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-&gt;y =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DestroyPoint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4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-&gt;x +=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-&gt;y +=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9301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A377-59E4-C605-3FC9-29B1F814C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это даёт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806C6-E0D9-371C-EDEC-1E6E35187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Пользователь НЕ может:</a:t>
            </a:r>
            <a:endParaRPr lang="en-US" dirty="0"/>
          </a:p>
          <a:p>
            <a:pPr lvl="1"/>
            <a:r>
              <a:rPr lang="ru-RU" dirty="0"/>
              <a:t>Создать </a:t>
            </a:r>
            <a:r>
              <a:rPr lang="en-US" dirty="0"/>
              <a:t>Point </a:t>
            </a:r>
            <a:r>
              <a:rPr lang="ru-RU" dirty="0"/>
              <a:t>напрямую</a:t>
            </a:r>
          </a:p>
          <a:p>
            <a:pPr lvl="1"/>
            <a:r>
              <a:rPr lang="ru-RU" dirty="0"/>
              <a:t>Обращаться к ее полям</a:t>
            </a:r>
          </a:p>
          <a:p>
            <a:r>
              <a:rPr lang="ru-RU" dirty="0"/>
              <a:t>Пользователь может:</a:t>
            </a:r>
          </a:p>
          <a:p>
            <a:pPr lvl="1"/>
            <a:r>
              <a:rPr lang="ru-RU" dirty="0"/>
              <a:t>Вызывать функции, объявленные в модуле</a:t>
            </a:r>
          </a:p>
          <a:p>
            <a:r>
              <a:rPr lang="ru-RU" dirty="0"/>
              <a:t>Преимущества</a:t>
            </a:r>
          </a:p>
          <a:p>
            <a:pPr lvl="1"/>
            <a:r>
              <a:rPr lang="ru-RU" dirty="0"/>
              <a:t>скрыта внутренняя реализация </a:t>
            </a:r>
          </a:p>
          <a:p>
            <a:pPr lvl="1"/>
            <a:r>
              <a:rPr lang="ru-RU" dirty="0"/>
              <a:t>нельзя нарушить инварианты структуры </a:t>
            </a:r>
          </a:p>
          <a:p>
            <a:pPr lvl="1"/>
            <a:r>
              <a:rPr lang="ru-RU" dirty="0"/>
              <a:t>можно менять структуру без изменения интерфейса </a:t>
            </a:r>
          </a:p>
          <a:p>
            <a:pPr lvl="1"/>
            <a:r>
              <a:rPr lang="ru-RU" dirty="0"/>
              <a:t>меньше зависимостей между модулями</a:t>
            </a:r>
          </a:p>
          <a:p>
            <a:r>
              <a:rPr lang="ru-RU" dirty="0"/>
              <a:t>Модуль управляет своими данными пользователь работает через функции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B685E-F07D-E5F3-7CE4-EEFC20DD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6B7D1-685A-17B2-7A54-914BFB6BC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Что мы узнали</a:t>
            </a:r>
          </a:p>
          <a:p>
            <a:pPr lvl="1"/>
            <a:r>
              <a:rPr lang="ru-RU" dirty="0"/>
              <a:t>программа может состоять из нескольких файлов </a:t>
            </a:r>
          </a:p>
          <a:p>
            <a:pPr lvl="1"/>
            <a:r>
              <a:rPr lang="ru-RU" dirty="0"/>
              <a:t>код делится на модули (.c + .h) </a:t>
            </a:r>
          </a:p>
          <a:p>
            <a:pPr lvl="1"/>
            <a:r>
              <a:rPr lang="ru-RU" dirty="0"/>
              <a:t>.h — интерфейс, .c — реализация </a:t>
            </a:r>
          </a:p>
          <a:p>
            <a:pPr lvl="1"/>
            <a:r>
              <a:rPr lang="ru-RU" dirty="0"/>
              <a:t>компилятор работает с файлами отдельно </a:t>
            </a:r>
          </a:p>
          <a:p>
            <a:pPr lvl="1"/>
            <a:r>
              <a:rPr lang="ru-RU" dirty="0"/>
              <a:t>линкер объединяет программу</a:t>
            </a:r>
          </a:p>
          <a:p>
            <a:r>
              <a:rPr lang="ru-RU" dirty="0"/>
              <a:t>Хороший модуль</a:t>
            </a:r>
          </a:p>
          <a:p>
            <a:pPr lvl="1"/>
            <a:r>
              <a:rPr lang="ru-RU" dirty="0"/>
              <a:t>скрывает реализацию </a:t>
            </a:r>
          </a:p>
          <a:p>
            <a:pPr lvl="1"/>
            <a:r>
              <a:rPr lang="ru-RU" dirty="0"/>
              <a:t>предоставляет понятный интерфейс </a:t>
            </a:r>
          </a:p>
          <a:p>
            <a:pPr lvl="1"/>
            <a:r>
              <a:rPr lang="ru-RU" dirty="0"/>
              <a:t>минимизирует зависимости </a:t>
            </a:r>
          </a:p>
          <a:p>
            <a:pPr lvl="1"/>
            <a:r>
              <a:rPr lang="ru-RU" dirty="0"/>
              <a:t>может использоваться повторно </a:t>
            </a:r>
          </a:p>
          <a:p>
            <a:r>
              <a:rPr lang="ru-RU" dirty="0"/>
              <a:t>Инкапсуляция в C</a:t>
            </a:r>
          </a:p>
          <a:p>
            <a:pPr lvl="1"/>
            <a:r>
              <a:rPr lang="ru-RU" dirty="0" err="1"/>
              <a:t>static</a:t>
            </a:r>
            <a:r>
              <a:rPr lang="ru-RU" dirty="0"/>
              <a:t> — скрытие внутри файла </a:t>
            </a:r>
          </a:p>
          <a:p>
            <a:pPr lvl="1"/>
            <a:r>
              <a:rPr lang="ru-RU" dirty="0" err="1"/>
              <a:t>opaque</a:t>
            </a:r>
            <a:r>
              <a:rPr lang="ru-RU" dirty="0"/>
              <a:t> </a:t>
            </a:r>
            <a:r>
              <a:rPr lang="ru-RU" dirty="0" err="1"/>
              <a:t>types</a:t>
            </a:r>
            <a:r>
              <a:rPr lang="ru-RU" dirty="0"/>
              <a:t> — скрытие структуры данных </a:t>
            </a:r>
          </a:p>
          <a:p>
            <a:pPr lvl="1"/>
            <a:r>
              <a:rPr lang="ru-RU" dirty="0"/>
              <a:t>управление доступом через функции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569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4513</Words>
  <Application>Microsoft Office PowerPoint</Application>
  <PresentationFormat>Widescreen</PresentationFormat>
  <Paragraphs>550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Office Theme</vt:lpstr>
      <vt:lpstr>Многофайловые программы</vt:lpstr>
      <vt:lpstr>Монолитная программа</vt:lpstr>
      <vt:lpstr>Проблема переиспользования</vt:lpstr>
      <vt:lpstr>Модульная организация программ в C</vt:lpstr>
      <vt:lpstr>Структура модуля в C</vt:lpstr>
      <vt:lpstr>Почему нельзя просто разделить на .c файлы?</vt:lpstr>
      <vt:lpstr>Как надо и как не надо делать</vt:lpstr>
      <vt:lpstr>Сборка многомодульной программы</vt:lpstr>
      <vt:lpstr>Компилятор и линкер</vt:lpstr>
      <vt:lpstr>Область видимости между файлами</vt:lpstr>
      <vt:lpstr>Применение статических функций</vt:lpstr>
      <vt:lpstr>Проблема коротких функций</vt:lpstr>
      <vt:lpstr>Почему нельзя просто писать функции в .h</vt:lpstr>
      <vt:lpstr>inline-функции</vt:lpstr>
      <vt:lpstr>Скрытые типы (opaque types)</vt:lpstr>
      <vt:lpstr>Где находится определение структуры?</vt:lpstr>
      <vt:lpstr>Что это даёт?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71</cp:revision>
  <dcterms:created xsi:type="dcterms:W3CDTF">2026-04-03T20:46:46Z</dcterms:created>
  <dcterms:modified xsi:type="dcterms:W3CDTF">2026-06-24T20:34:54Z</dcterms:modified>
</cp:coreProperties>
</file>